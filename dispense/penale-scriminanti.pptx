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83" r:id="rId2"/>
  </p:sldMasterIdLst>
  <p:notesMasterIdLst>
    <p:notesMasterId r:id="rId32"/>
  </p:notesMasterIdLst>
  <p:handoutMasterIdLst>
    <p:handoutMasterId r:id="rId33"/>
  </p:handoutMasterIdLst>
  <p:sldIdLst>
    <p:sldId id="782" r:id="rId3"/>
    <p:sldId id="690" r:id="rId4"/>
    <p:sldId id="716" r:id="rId5"/>
    <p:sldId id="718" r:id="rId6"/>
    <p:sldId id="789" r:id="rId7"/>
    <p:sldId id="719" r:id="rId8"/>
    <p:sldId id="783" r:id="rId9"/>
    <p:sldId id="657" r:id="rId10"/>
    <p:sldId id="667" r:id="rId11"/>
    <p:sldId id="731" r:id="rId12"/>
    <p:sldId id="659" r:id="rId13"/>
    <p:sldId id="784" r:id="rId14"/>
    <p:sldId id="785" r:id="rId15"/>
    <p:sldId id="786" r:id="rId16"/>
    <p:sldId id="669" r:id="rId17"/>
    <p:sldId id="729" r:id="rId18"/>
    <p:sldId id="662" r:id="rId19"/>
    <p:sldId id="670" r:id="rId20"/>
    <p:sldId id="671" r:id="rId21"/>
    <p:sldId id="722" r:id="rId22"/>
    <p:sldId id="672" r:id="rId23"/>
    <p:sldId id="757" r:id="rId24"/>
    <p:sldId id="653" r:id="rId25"/>
    <p:sldId id="721" r:id="rId26"/>
    <p:sldId id="736" r:id="rId27"/>
    <p:sldId id="660" r:id="rId28"/>
    <p:sldId id="787" r:id="rId29"/>
    <p:sldId id="788" r:id="rId30"/>
    <p:sldId id="755" r:id="rId31"/>
  </p:sldIdLst>
  <p:sldSz cx="9144000" cy="6858000" type="screen4x3"/>
  <p:notesSz cx="6797675" cy="9926638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1pPr>
    <a:lvl2pPr marL="457200" algn="l" rtl="0" fontAlgn="base">
      <a:spcBef>
        <a:spcPct val="0"/>
      </a:spcBef>
      <a:spcAft>
        <a:spcPct val="0"/>
      </a:spcAft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2pPr>
    <a:lvl3pPr marL="914400" algn="l" rtl="0" fontAlgn="base">
      <a:spcBef>
        <a:spcPct val="0"/>
      </a:spcBef>
      <a:spcAft>
        <a:spcPct val="0"/>
      </a:spcAft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3pPr>
    <a:lvl4pPr marL="1371600" algn="l" rtl="0" fontAlgn="base">
      <a:spcBef>
        <a:spcPct val="0"/>
      </a:spcBef>
      <a:spcAft>
        <a:spcPct val="0"/>
      </a:spcAft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4pPr>
    <a:lvl5pPr marL="1828800" algn="l" rtl="0" fontAlgn="base">
      <a:spcBef>
        <a:spcPct val="0"/>
      </a:spcBef>
      <a:spcAft>
        <a:spcPct val="0"/>
      </a:spcAft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5pPr>
    <a:lvl6pPr marL="2286000" algn="l" defTabSz="914400" rtl="0" eaLnBrk="1" latinLnBrk="0" hangingPunct="1"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6pPr>
    <a:lvl7pPr marL="2743200" algn="l" defTabSz="914400" rtl="0" eaLnBrk="1" latinLnBrk="0" hangingPunct="1"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7pPr>
    <a:lvl8pPr marL="3200400" algn="l" defTabSz="914400" rtl="0" eaLnBrk="1" latinLnBrk="0" hangingPunct="1"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8pPr>
    <a:lvl9pPr marL="3657600" algn="l" defTabSz="914400" rtl="0" eaLnBrk="1" latinLnBrk="0" hangingPunct="1">
      <a:defRPr sz="700" b="1" kern="1200">
        <a:solidFill>
          <a:schemeClr val="tx1"/>
        </a:solidFill>
        <a:latin typeface="Times New Roman" pitchFamily="18" charset="0"/>
        <a:ea typeface="MS PGothic"/>
        <a:cs typeface="MS PGothic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ccardo Alessandro (Ten.)" initials="BA(" lastIdx="0" clrIdx="0">
    <p:extLst>
      <p:ext uri="{19B8F6BF-5375-455C-9EA6-DF929625EA0E}">
        <p15:presenceInfo xmlns:p15="http://schemas.microsoft.com/office/powerpoint/2012/main" userId="S-1-5-21-1409082233-861567501-725345543-4175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92"/>
    <a:srgbClr val="008000"/>
    <a:srgbClr val="FF3300"/>
    <a:srgbClr val="002F8E"/>
    <a:srgbClr val="003300"/>
    <a:srgbClr val="FFCC99"/>
    <a:srgbClr val="EBBBB3"/>
    <a:srgbClr val="6FA3E3"/>
    <a:srgbClr val="D09E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35" autoAdjust="0"/>
    <p:restoredTop sz="91479" autoAdjust="0"/>
  </p:normalViewPr>
  <p:slideViewPr>
    <p:cSldViewPr>
      <p:cViewPr varScale="1">
        <p:scale>
          <a:sx n="105" d="100"/>
          <a:sy n="105" d="100"/>
        </p:scale>
        <p:origin x="225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32" y="-84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8.xml"/><Relationship Id="rId18" Type="http://schemas.openxmlformats.org/officeDocument/2006/relationships/slide" Target="slides/slide23.xml"/><Relationship Id="rId3" Type="http://schemas.openxmlformats.org/officeDocument/2006/relationships/slide" Target="slides/slide3.xml"/><Relationship Id="rId21" Type="http://schemas.openxmlformats.org/officeDocument/2006/relationships/slide" Target="slides/slide26.xml"/><Relationship Id="rId7" Type="http://schemas.openxmlformats.org/officeDocument/2006/relationships/slide" Target="slides/slide9.xml"/><Relationship Id="rId12" Type="http://schemas.openxmlformats.org/officeDocument/2006/relationships/slide" Target="slides/slide17.xml"/><Relationship Id="rId17" Type="http://schemas.openxmlformats.org/officeDocument/2006/relationships/slide" Target="slides/slide22.xml"/><Relationship Id="rId2" Type="http://schemas.openxmlformats.org/officeDocument/2006/relationships/slide" Target="slides/slide2.xml"/><Relationship Id="rId16" Type="http://schemas.openxmlformats.org/officeDocument/2006/relationships/slide" Target="slides/slide21.xml"/><Relationship Id="rId20" Type="http://schemas.openxmlformats.org/officeDocument/2006/relationships/slide" Target="slides/slide25.xml"/><Relationship Id="rId1" Type="http://schemas.openxmlformats.org/officeDocument/2006/relationships/slide" Target="slides/slide1.xml"/><Relationship Id="rId6" Type="http://schemas.openxmlformats.org/officeDocument/2006/relationships/slide" Target="slides/slide8.xml"/><Relationship Id="rId11" Type="http://schemas.openxmlformats.org/officeDocument/2006/relationships/slide" Target="slides/slide16.xml"/><Relationship Id="rId5" Type="http://schemas.openxmlformats.org/officeDocument/2006/relationships/slide" Target="slides/slide6.xml"/><Relationship Id="rId15" Type="http://schemas.openxmlformats.org/officeDocument/2006/relationships/slide" Target="slides/slide20.xml"/><Relationship Id="rId10" Type="http://schemas.openxmlformats.org/officeDocument/2006/relationships/slide" Target="slides/slide15.xml"/><Relationship Id="rId19" Type="http://schemas.openxmlformats.org/officeDocument/2006/relationships/slide" Target="slides/slide24.xml"/><Relationship Id="rId4" Type="http://schemas.openxmlformats.org/officeDocument/2006/relationships/slide" Target="slides/slide4.xml"/><Relationship Id="rId9" Type="http://schemas.openxmlformats.org/officeDocument/2006/relationships/slide" Target="slides/slide11.xml"/><Relationship Id="rId14" Type="http://schemas.openxmlformats.org/officeDocument/2006/relationships/slide" Target="slides/slide1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76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t" anchorCtr="0" compatLnSpc="1">
            <a:prstTxWarp prst="textNoShape">
              <a:avLst/>
            </a:prstTxWarp>
          </a:bodyPr>
          <a:lstStyle>
            <a:lvl1pPr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99" y="1"/>
            <a:ext cx="2944248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t" anchorCtr="0" compatLnSpc="1">
            <a:prstTxWarp prst="textNoShape">
              <a:avLst/>
            </a:prstTxWarp>
          </a:bodyPr>
          <a:lstStyle>
            <a:lvl1pPr algn="r"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7095"/>
            <a:ext cx="2945876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b" anchorCtr="0" compatLnSpc="1">
            <a:prstTxWarp prst="textNoShape">
              <a:avLst/>
            </a:prstTxWarp>
          </a:bodyPr>
          <a:lstStyle>
            <a:lvl1pPr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99" y="9427095"/>
            <a:ext cx="2944248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b" anchorCtr="0" compatLnSpc="1">
            <a:prstTxWarp prst="textNoShape">
              <a:avLst/>
            </a:prstTxWarp>
          </a:bodyPr>
          <a:lstStyle>
            <a:lvl1pPr algn="r"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60640683-224E-4C0D-9AFE-FE3D7ED1CA6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65317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76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t" anchorCtr="0" compatLnSpc="1">
            <a:prstTxWarp prst="textNoShape">
              <a:avLst/>
            </a:prstTxWarp>
          </a:bodyPr>
          <a:lstStyle>
            <a:lvl1pPr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799" y="1"/>
            <a:ext cx="2944248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t" anchorCtr="0" compatLnSpc="1">
            <a:prstTxWarp prst="textNoShape">
              <a:avLst/>
            </a:prstTxWarp>
          </a:bodyPr>
          <a:lstStyle>
            <a:lvl1pPr algn="r"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4538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44" y="4712745"/>
            <a:ext cx="5438792" cy="4468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noProof="0"/>
              <a:t>Fare clic per modificare gli stili del testo dello schema</a:t>
            </a:r>
          </a:p>
          <a:p>
            <a:pPr lvl="1"/>
            <a:r>
              <a:rPr lang="it-IT" altLang="it-IT" noProof="0"/>
              <a:t>Secondo livello</a:t>
            </a:r>
          </a:p>
          <a:p>
            <a:pPr lvl="2"/>
            <a:r>
              <a:rPr lang="it-IT" altLang="it-IT" noProof="0"/>
              <a:t>Terzo livello</a:t>
            </a:r>
          </a:p>
          <a:p>
            <a:pPr lvl="3"/>
            <a:r>
              <a:rPr lang="it-IT" altLang="it-IT" noProof="0"/>
              <a:t>Quarto livello</a:t>
            </a:r>
          </a:p>
          <a:p>
            <a:pPr lvl="4"/>
            <a:r>
              <a:rPr lang="it-IT" altLang="it-IT" noProof="0"/>
              <a:t>Quinto livello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095"/>
            <a:ext cx="2945876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b" anchorCtr="0" compatLnSpc="1">
            <a:prstTxWarp prst="textNoShape">
              <a:avLst/>
            </a:prstTxWarp>
          </a:bodyPr>
          <a:lstStyle>
            <a:lvl1pPr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799" y="9427095"/>
            <a:ext cx="2944248" cy="49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10" tIns="45656" rIns="91310" bIns="45656" numCol="1" anchor="b" anchorCtr="0" compatLnSpc="1">
            <a:prstTxWarp prst="textNoShape">
              <a:avLst/>
            </a:prstTxWarp>
          </a:bodyPr>
          <a:lstStyle>
            <a:lvl1pPr algn="r" defTabSz="91263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F29D3820-41D9-484D-A403-5902ED0108E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45525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MS PGothi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423F3C95-54CC-46FE-BF99-6AB91978F79C}" type="slidenum">
              <a:rPr lang="it-IT" altLang="it-IT" smtClean="0">
                <a:latin typeface="Times New Roman" pitchFamily="18" charset="0"/>
              </a:rPr>
              <a:pPr defTabSz="904553"/>
              <a:t>2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871538"/>
            <a:ext cx="4600575" cy="3451225"/>
          </a:xfrm>
          <a:ln w="12700" cap="flat">
            <a:solidFill>
              <a:schemeClr val="tx1"/>
            </a:solidFill>
          </a:ln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0991" tIns="45498" rIns="90991" bIns="45498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360100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423F3C95-54CC-46FE-BF99-6AB91978F79C}" type="slidenum">
              <a:rPr lang="it-IT" altLang="it-IT" smtClean="0">
                <a:latin typeface="Times New Roman" pitchFamily="18" charset="0"/>
              </a:rPr>
              <a:pPr defTabSz="904553"/>
              <a:t>3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871538"/>
            <a:ext cx="4600575" cy="3451225"/>
          </a:xfrm>
          <a:ln w="12700" cap="flat">
            <a:solidFill>
              <a:schemeClr val="tx1"/>
            </a:solidFill>
          </a:ln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0991" tIns="45498" rIns="90991" bIns="45498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971294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4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74881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6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849485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8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9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10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r>
              <a:rPr lang="it-IT" altLang="it-IT" dirty="0">
                <a:latin typeface="Times New Roman" pitchFamily="18" charset="0"/>
                <a:ea typeface="MS PGothic"/>
              </a:rPr>
              <a:t>La</a:t>
            </a:r>
            <a:r>
              <a:rPr lang="it-IT" altLang="it-IT" baseline="0" dirty="0">
                <a:latin typeface="Times New Roman" pitchFamily="18" charset="0"/>
                <a:ea typeface="MS PGothic"/>
              </a:rPr>
              <a:t> parte sottolineata è stata aggiunta con la </a:t>
            </a:r>
            <a:r>
              <a:rPr lang="it-IT" altLang="it-IT" dirty="0">
                <a:latin typeface="Times New Roman" pitchFamily="18" charset="0"/>
                <a:ea typeface="MS PGothic"/>
              </a:rPr>
              <a:t>Legge</a:t>
            </a:r>
            <a:r>
              <a:rPr lang="it-IT" altLang="it-IT" baseline="0" dirty="0">
                <a:latin typeface="Times New Roman" pitchFamily="18" charset="0"/>
                <a:ea typeface="MS PGothic"/>
              </a:rPr>
              <a:t> 36/2019.</a:t>
            </a:r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790251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11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r>
              <a:rPr lang="it-IT" altLang="it-IT" dirty="0">
                <a:latin typeface="Times New Roman" pitchFamily="18" charset="0"/>
                <a:ea typeface="MS PGothic"/>
              </a:rPr>
              <a:t>La</a:t>
            </a:r>
            <a:r>
              <a:rPr lang="it-IT" altLang="it-IT" baseline="0" dirty="0">
                <a:latin typeface="Times New Roman" pitchFamily="18" charset="0"/>
                <a:ea typeface="MS PGothic"/>
              </a:rPr>
              <a:t> parte sottolineata è stata aggiunta con la </a:t>
            </a:r>
            <a:r>
              <a:rPr lang="it-IT" altLang="it-IT" dirty="0">
                <a:latin typeface="Times New Roman" pitchFamily="18" charset="0"/>
                <a:ea typeface="MS PGothic"/>
              </a:rPr>
              <a:t>Legge</a:t>
            </a:r>
            <a:r>
              <a:rPr lang="it-IT" altLang="it-IT" baseline="0" dirty="0">
                <a:latin typeface="Times New Roman" pitchFamily="18" charset="0"/>
                <a:ea typeface="MS PGothic"/>
              </a:rPr>
              <a:t> 36/2019.</a:t>
            </a:r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15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16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1154228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17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554536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18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794467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19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773489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20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826518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21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033237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22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23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0091491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24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711692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25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4054433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4553"/>
            <a:fld id="{A361183A-F181-45A1-931D-B189314995B9}" type="slidenum">
              <a:rPr lang="it-IT" altLang="it-IT" smtClean="0">
                <a:latin typeface="Times New Roman" pitchFamily="18" charset="0"/>
              </a:rPr>
              <a:pPr defTabSz="904553"/>
              <a:t>26</a:t>
            </a:fld>
            <a:endParaRPr lang="it-IT" altLang="it-IT" dirty="0"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874713"/>
            <a:ext cx="4597400" cy="3448050"/>
          </a:xfrm>
          <a:ln w="12700" cap="flat">
            <a:solidFill>
              <a:schemeClr val="tx1"/>
            </a:solidFill>
          </a:ln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406" y="4727200"/>
            <a:ext cx="4998866" cy="4484656"/>
          </a:xfrm>
          <a:noFill/>
          <a:ln/>
        </p:spPr>
        <p:txBody>
          <a:bodyPr lIns="93898" tIns="46941" rIns="93898" bIns="46941"/>
          <a:lstStyle/>
          <a:p>
            <a:pPr eaLnBrk="1" hangingPunct="1"/>
            <a:endParaRPr lang="it-IT" altLang="it-IT" dirty="0">
              <a:latin typeface="Times New Roman" pitchFamily="18" charset="0"/>
              <a:ea typeface="MS P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209925"/>
            <a:ext cx="7772400" cy="2019300"/>
          </a:xfrm>
          <a:noFill/>
        </p:spPr>
        <p:txBody>
          <a:bodyPr anchor="t"/>
          <a:lstStyle>
            <a:lvl1pPr>
              <a:defRPr sz="3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it-IT" altLang="it-IT" noProof="0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E0741-82B4-4208-86CA-47FCD86694CE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D3A86-3A7D-4385-B7A8-AF224592A4FB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42CFA-3CA2-4B7D-9733-59968813803E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1D1E1-FD16-418C-B169-0F5888F9EF04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4523C-4D5C-487C-AB34-F3E0A4DF967C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6B1BF-FB1A-4277-89C0-26790622C7F2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3307E-1FAC-492F-9B4F-493682787E85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481D0-BDAC-4E6F-8D28-5C6450E24D6A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40027-811E-4DD8-87BF-38FDAA92B09F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4AF16-3EE1-4122-B141-7556D2EF04E5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A402F-0082-44A6-B558-6004EA0E625B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15B9C-BB9A-4945-916C-84325ED48EA2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6B67C-5662-4294-99BE-AAFA18AFF861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C669D-5D25-4B11-89A4-B37551C93A53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78D8C1-6ED7-4DF3-9A6D-7E021D826ED5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85973-4D66-4C76-89BE-434C39E953D3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646C8-255F-475F-8867-83782DCE8B62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CE04B-8316-4C43-B7AA-8E549B12A719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84E06-4238-428B-82B6-0E12797D27EA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F49D-4197-4133-A602-6215F2E7E967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A0ED2-08D6-4717-B1DC-68FB36C161B9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07CF7-18C3-4413-B26F-A85EF2E0E8C2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SmartArt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it-IT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8B3B2C-2751-4784-8C07-8E6CC5B3CB26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D7423-5D80-4672-9BCC-4D07565AD611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it-IT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18A04-14A3-41B0-935C-613DF0D97B4F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28F78-2661-47D7-BCA2-D74E8AC975EB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76A72-EB4A-4FF6-BE0B-A0D32F0DE013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71665-1C79-4B02-A900-48681B4ECA14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0" y="0"/>
            <a:ext cx="9144000" cy="83661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2913A-9BE9-40E4-96A6-17A9562B9C4B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16FFB-D2DD-46DF-874A-FB9B6A165B52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88858D-9A84-45DA-8181-53E4642C1094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BB76D8-1BE3-48B5-8A94-A7EA48C09EB6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407189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2310E8-82A3-4324-A474-28F19E8C193C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31D1E1-FD16-418C-B169-0F5888F9EF04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28777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611A85-5006-4CAB-9E8D-9A147453C42F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46B1BF-FB1A-4277-89C0-26790622C7F2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10041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58A214-25A2-411B-95F8-FE7419AAC06E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4481D0-BDAC-4E6F-8D28-5C6450E24D6A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223184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36D84A-B8F3-4C97-8F90-482DEEA9A48D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F4AF16-3EE1-4122-B141-7556D2EF04E5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422132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95625E-3DE5-404A-9E89-F17935B16FFC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B15B9C-BB9A-4945-916C-84325ED48EA2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07323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7D62FF-F31B-4797-88C3-2F0D6BCB7B69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FC669D-5D25-4B11-89A4-B37551C93A53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251668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E75643-EF15-44F6-A061-B984C271CA9B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B85973-4D66-4C76-89BE-434C39E953D3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50540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4F7BE0-6329-47DF-9F7A-60C2F50A410A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CE04B-8316-4C43-B7AA-8E549B12A719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60249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74AB1D-01CC-4F4D-AE10-6A237F6009D1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C2F49D-4197-4133-A602-6215F2E7E967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15468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05C1EF-2329-4351-8967-0346F3CCE676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507CF7-18C3-4413-B26F-A85EF2E0E8C2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42771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836613"/>
          </a:xfrm>
          <a:prstGeom prst="rect">
            <a:avLst/>
          </a:prstGeom>
          <a:solidFill>
            <a:schemeClr val="accent2">
              <a:alpha val="60001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pPr>
              <a:defRPr/>
            </a:pPr>
            <a:fld id="{FC331747-C4C5-46A1-B8C8-F408A8A78023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pitchFamily="34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13BB76D8-1BE3-48B5-8A94-A7EA48C09EB6}" type="slidenum">
              <a:rPr lang="it-IT" altLang="it-IT"/>
              <a:pPr>
                <a:defRPr/>
              </a:pPr>
              <a:t>‹N›</a:t>
            </a:fld>
            <a:endParaRPr lang="it-IT" altLang="it-IT" dirty="0"/>
          </a:p>
        </p:txBody>
      </p:sp>
      <p:sp>
        <p:nvSpPr>
          <p:cNvPr id="1030" name="Rectangle 9"/>
          <p:cNvSpPr>
            <a:spLocks noChangeArrowheads="1"/>
          </p:cNvSpPr>
          <p:nvPr userDrawn="1"/>
        </p:nvSpPr>
        <p:spPr bwMode="auto">
          <a:xfrm>
            <a:off x="0" y="836613"/>
            <a:ext cx="9144000" cy="71437"/>
          </a:xfrm>
          <a:prstGeom prst="rect">
            <a:avLst/>
          </a:prstGeom>
          <a:gradFill rotWithShape="1">
            <a:gsLst>
              <a:gs pos="0">
                <a:srgbClr val="333399">
                  <a:alpha val="79999"/>
                </a:srgbClr>
              </a:gs>
              <a:gs pos="100000">
                <a:srgbClr val="181847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 b="1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it-IT" altLang="it-IT" dirty="0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MS PGothic" pitchFamily="34" charset="-128"/>
          <a:cs typeface="MS PGothi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  <a:cs typeface="MS PGothic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  <a:cs typeface="MS PGothic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  <a:cs typeface="MS PGothic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MS PGothic" pitchFamily="34" charset="-128"/>
          <a:cs typeface="MS PGothic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MS PGothi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MS PGothi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MS PGothi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MS PGothi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MS PGothic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010625-B4BC-4691-8906-CD7225EF2757}" type="datetime1">
              <a:rPr lang="it-IT" smtClean="0"/>
              <a:t>01/08/2024</a:t>
            </a:fld>
            <a:endParaRPr lang="it-IT" alt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 alt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3BB76D8-1BE3-48B5-8A94-A7EA48C09EB6}" type="slidenum">
              <a:rPr lang="it-IT" altLang="it-IT" smtClean="0"/>
              <a:pPr>
                <a:defRPr/>
              </a:pPr>
              <a:t>‹N›</a:t>
            </a:fld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1116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hyperlink" Target="https://www.brocardi.it/codice-penale/libro-primo/titolo-iii/capo-i/art51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brocardi.it/codice-penale/libro-primo/titolo-iii/capo-i/art52.html" TargetMode="Externa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AE799C69-BB48-42BB-B90B-62AD973AF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723587"/>
            <a:ext cx="9144000" cy="1057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  <a:spcBef>
                <a:spcPct val="50000"/>
              </a:spcBef>
            </a:pPr>
            <a:r>
              <a:rPr lang="it-IT" altLang="it-IT" sz="7200" i="1" dirty="0">
                <a:solidFill>
                  <a:srgbClr val="C00000"/>
                </a:solidFill>
                <a:latin typeface="Book Antiqua" panose="02040602050305030304" pitchFamily="18" charset="0"/>
              </a:rPr>
              <a:t>Diritto Penale</a:t>
            </a:r>
            <a:endParaRPr lang="it-IT" altLang="it-IT" sz="4400" i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06180D79-6F65-475E-9BBA-48F3AEFA0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156" y="6303648"/>
            <a:ext cx="4874892" cy="332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it-IT" altLang="it-IT" sz="1800" b="0" dirty="0">
                <a:latin typeface="Book Antiqua" panose="02040602050305030304" pitchFamily="18" charset="0"/>
              </a:rPr>
              <a:t>143°Corso Formativo per Allievi Carabinieri</a:t>
            </a:r>
            <a:endParaRPr lang="it-IT" altLang="it-IT" sz="1600" b="0" i="1" dirty="0">
              <a:latin typeface="Book Antiqua" panose="02040602050305030304" pitchFamily="18" charset="0"/>
            </a:endParaRP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071DCC04-EBAC-4572-B57E-C231FEEB5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3165"/>
            <a:ext cx="9144000" cy="48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lnSpc>
                <a:spcPct val="85000"/>
              </a:lnSpc>
              <a:spcBef>
                <a:spcPct val="50000"/>
              </a:spcBef>
            </a:pPr>
            <a:r>
              <a:rPr lang="it-IT" altLang="it-IT" sz="3000" cap="small" dirty="0">
                <a:solidFill>
                  <a:schemeClr val="bg1"/>
                </a:solidFill>
                <a:latin typeface="Book Antiqua" panose="02040602050305030304" pitchFamily="18" charset="0"/>
              </a:rPr>
              <a:t>Scuola Allievi Carabinieri</a:t>
            </a:r>
            <a:endParaRPr lang="it-IT" altLang="it-IT" sz="3200" i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D5C2AF6-3562-433F-BF03-D01A690A7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068960"/>
            <a:ext cx="9144000" cy="1626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  <a:spcBef>
                <a:spcPct val="50000"/>
              </a:spcBef>
            </a:pPr>
            <a:r>
              <a:rPr lang="it-IT" altLang="it-IT" sz="4000" cap="small" dirty="0">
                <a:solidFill>
                  <a:srgbClr val="002F8E"/>
                </a:solidFill>
                <a:latin typeface="Book Antiqua" panose="02040602050305030304" pitchFamily="18" charset="0"/>
              </a:rPr>
              <a:t>II Tesi</a:t>
            </a:r>
          </a:p>
          <a:p>
            <a:pPr algn="ctr">
              <a:lnSpc>
                <a:spcPct val="85000"/>
              </a:lnSpc>
              <a:spcBef>
                <a:spcPct val="50000"/>
              </a:spcBef>
            </a:pPr>
            <a:r>
              <a:rPr lang="it-IT" altLang="it-IT" sz="4800" cap="small" dirty="0">
                <a:solidFill>
                  <a:srgbClr val="002F8E"/>
                </a:solidFill>
                <a:latin typeface="Book Antiqua" panose="02040602050305030304" pitchFamily="18" charset="0"/>
              </a:rPr>
              <a:t> </a:t>
            </a:r>
            <a:r>
              <a:rPr lang="it-IT" altLang="it-IT" sz="4800" i="1" dirty="0">
                <a:solidFill>
                  <a:srgbClr val="002F8E"/>
                </a:solidFill>
                <a:latin typeface="Book Antiqua" panose="02040602050305030304" pitchFamily="18" charset="0"/>
              </a:rPr>
              <a:t>Le cause di esclusione del reato</a:t>
            </a:r>
          </a:p>
        </p:txBody>
      </p:sp>
    </p:spTree>
    <p:extLst>
      <p:ext uri="{BB962C8B-B14F-4D97-AF65-F5344CB8AC3E}">
        <p14:creationId xmlns:p14="http://schemas.microsoft.com/office/powerpoint/2010/main" val="224155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2555776" y="2024844"/>
            <a:ext cx="8225976" cy="2808312"/>
          </a:xfrm>
          <a:noFill/>
          <a:ln>
            <a:miter lim="800000"/>
            <a:headEnd/>
            <a:tailEnd/>
          </a:ln>
        </p:spPr>
        <p:txBody>
          <a:bodyPr vert="horz" wrap="square" lIns="88366" tIns="44180" rIns="88366" bIns="44180" numCol="2" rtlCol="0" anchor="t" anchorCtr="0" compatLnSpc="1">
            <a:prstTxWarp prst="textNoShape">
              <a:avLst/>
            </a:prstTxWarp>
            <a:noAutofit/>
          </a:bodyPr>
          <a:lstStyle/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Le cause di esclusione del reato: generalità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L’adempimento di un dovere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La legittima difesa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L’uso legittimo delle armi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Lo stato di necessità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000" dirty="0">
                <a:latin typeface="Book Antiqua" panose="02040602050305030304" pitchFamily="18" charset="0"/>
                <a:ea typeface="MS PGothic"/>
              </a:rPr>
              <a:t>L’eccesso colposo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81175" y="130395"/>
            <a:ext cx="822597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TESI II – Le cause di esclusione del reato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3563888" y="1196752"/>
            <a:ext cx="20162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000" i="1" dirty="0">
                <a:solidFill>
                  <a:srgbClr val="002F8E"/>
                </a:solidFill>
                <a:latin typeface="Book Antiqua" panose="02040602050305030304" pitchFamily="18" charset="0"/>
              </a:rPr>
              <a:t>Indice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EFC5EDF-7B64-4763-B968-519D40F447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55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B2AB8B7-134C-4307-B508-6D603B9ADD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DE02FF12-940B-4DB2-B327-71A62601B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34794"/>
            <a:ext cx="8568952" cy="54005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4000"/>
              </a:lnSpc>
              <a:buNone/>
            </a:pPr>
            <a:r>
              <a:rPr lang="it-IT" sz="2400" dirty="0">
                <a:latin typeface="Book Antiqua" panose="02040602050305030304" pitchFamily="18" charset="0"/>
              </a:rPr>
              <a:t>Il reato è un </a:t>
            </a:r>
            <a:r>
              <a:rPr lang="it-IT" sz="2400" b="1" i="1" dirty="0">
                <a:latin typeface="Book Antiqua" panose="02040602050305030304" pitchFamily="18" charset="0"/>
              </a:rPr>
              <a:t>fatto umano tipico, antigiuridico e colpevole:</a:t>
            </a:r>
            <a:endParaRPr lang="it-IT" sz="2400" i="1" dirty="0">
              <a:latin typeface="Book Antiqua" panose="02040602050305030304" pitchFamily="18" charset="0"/>
            </a:endParaRPr>
          </a:p>
          <a:p>
            <a:pPr marL="450850" lvl="1" algn="just">
              <a:lnSpc>
                <a:spcPct val="114000"/>
              </a:lnSpc>
            </a:pPr>
            <a:r>
              <a:rPr lang="it-IT" sz="2400" b="1" dirty="0">
                <a:solidFill>
                  <a:srgbClr val="002F8E"/>
                </a:solidFill>
                <a:latin typeface="Book Antiqua" panose="02040602050305030304" pitchFamily="18" charset="0"/>
              </a:rPr>
              <a:t>TIPICITA’: </a:t>
            </a:r>
            <a:r>
              <a:rPr lang="it-IT" sz="2400" dirty="0">
                <a:latin typeface="Book Antiqua" panose="02040602050305030304" pitchFamily="18" charset="0"/>
              </a:rPr>
              <a:t>(</a:t>
            </a:r>
            <a:r>
              <a:rPr lang="it-IT" sz="2400" b="1" dirty="0">
                <a:solidFill>
                  <a:srgbClr val="002F8E"/>
                </a:solidFill>
                <a:latin typeface="Book Antiqua" panose="02040602050305030304" pitchFamily="18" charset="0"/>
              </a:rPr>
              <a:t>EL. OGGETTIVO</a:t>
            </a:r>
            <a:r>
              <a:rPr lang="it-IT" sz="2400" dirty="0">
                <a:latin typeface="Book Antiqua" panose="02040602050305030304" pitchFamily="18" charset="0"/>
              </a:rPr>
              <a:t>) </a:t>
            </a:r>
          </a:p>
          <a:p>
            <a:pPr marL="450850" lvl="1" algn="just">
              <a:lnSpc>
                <a:spcPct val="114000"/>
              </a:lnSpc>
            </a:pPr>
            <a:r>
              <a:rPr lang="it-IT" sz="2400" b="1" dirty="0">
                <a:solidFill>
                  <a:srgbClr val="002F8E"/>
                </a:solidFill>
                <a:latin typeface="Book Antiqua" panose="02040602050305030304" pitchFamily="18" charset="0"/>
              </a:rPr>
              <a:t>COLPEVOLEZZA:</a:t>
            </a:r>
            <a:r>
              <a:rPr lang="it-IT" sz="2400" dirty="0">
                <a:latin typeface="Book Antiqua" panose="02040602050305030304" pitchFamily="18" charset="0"/>
              </a:rPr>
              <a:t> (</a:t>
            </a:r>
            <a:r>
              <a:rPr lang="it-IT" sz="2400" b="1" dirty="0">
                <a:solidFill>
                  <a:srgbClr val="002F8E"/>
                </a:solidFill>
                <a:latin typeface="Book Antiqua" panose="02040602050305030304" pitchFamily="18" charset="0"/>
              </a:rPr>
              <a:t>EL. SOGGETTIVO</a:t>
            </a:r>
            <a:r>
              <a:rPr lang="it-IT" sz="2400" dirty="0">
                <a:latin typeface="Book Antiqua" panose="02040602050305030304" pitchFamily="18" charset="0"/>
              </a:rPr>
              <a:t>) </a:t>
            </a:r>
          </a:p>
          <a:p>
            <a:pPr marL="165100" lvl="1" indent="0" algn="just">
              <a:lnSpc>
                <a:spcPct val="114000"/>
              </a:lnSpc>
              <a:buNone/>
            </a:pPr>
            <a:endParaRPr lang="it-IT" sz="800" dirty="0">
              <a:latin typeface="Book Antiqua" panose="02040602050305030304" pitchFamily="18" charset="0"/>
            </a:endParaRPr>
          </a:p>
          <a:p>
            <a:pPr marL="450850" lvl="1" algn="just">
              <a:lnSpc>
                <a:spcPct val="114000"/>
              </a:lnSpc>
            </a:pPr>
            <a:r>
              <a:rPr lang="it-IT" sz="2400" b="1" dirty="0">
                <a:solidFill>
                  <a:srgbClr val="C00000"/>
                </a:solidFill>
                <a:latin typeface="Book Antiqua" panose="02040602050305030304" pitchFamily="18" charset="0"/>
              </a:rPr>
              <a:t>ANTIGIURIDICITA’:</a:t>
            </a:r>
            <a:r>
              <a:rPr lang="it-IT" sz="2400" b="1" dirty="0">
                <a:solidFill>
                  <a:srgbClr val="002F8E"/>
                </a:solidFill>
                <a:latin typeface="Book Antiqua" panose="02040602050305030304" pitchFamily="18" charset="0"/>
              </a:rPr>
              <a:t> </a:t>
            </a:r>
            <a:r>
              <a:rPr lang="it-IT" sz="2400" i="1" dirty="0">
                <a:latin typeface="Book Antiqua" panose="02040602050305030304" pitchFamily="18" charset="0"/>
              </a:rPr>
              <a:t>contra ius, </a:t>
            </a:r>
            <a:r>
              <a:rPr lang="it-IT" sz="2400" dirty="0">
                <a:latin typeface="Book Antiqua" panose="02040602050305030304" pitchFamily="18" charset="0"/>
              </a:rPr>
              <a:t>in contrasto con l’ordinamento. </a:t>
            </a:r>
          </a:p>
          <a:p>
            <a:pPr marL="450850" lvl="1" indent="0" algn="just">
              <a:lnSpc>
                <a:spcPct val="114000"/>
              </a:lnSpc>
              <a:buNone/>
            </a:pPr>
            <a:r>
              <a:rPr lang="it-IT" sz="2400" dirty="0">
                <a:latin typeface="Book Antiqua" panose="02040602050305030304" pitchFamily="18" charset="0"/>
              </a:rPr>
              <a:t>Assenza di </a:t>
            </a:r>
            <a:r>
              <a:rPr lang="it-IT" sz="2400" b="1" u="sng" dirty="0">
                <a:solidFill>
                  <a:srgbClr val="C00000"/>
                </a:solidFill>
                <a:latin typeface="Book Antiqua" panose="02040602050305030304" pitchFamily="18" charset="0"/>
              </a:rPr>
              <a:t>cause di giustificazione</a:t>
            </a:r>
            <a:r>
              <a:rPr lang="it-IT" sz="2400" dirty="0">
                <a:latin typeface="Book Antiqua" panose="02040602050305030304" pitchFamily="18" charset="0"/>
              </a:rPr>
              <a:t>, cioè particolari situazioni previste dalla legge in presenza delle quali un fatto anche se tipico non può essere considerato reato.</a:t>
            </a:r>
            <a:endParaRPr lang="it-IT" sz="2400" b="1" dirty="0">
              <a:latin typeface="Book Antiqua" panose="020406020503050303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28ACFE0-D4EF-40DF-91E6-F902EBADD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L’antigiuridicità</a:t>
            </a:r>
          </a:p>
        </p:txBody>
      </p:sp>
    </p:spTree>
    <p:extLst>
      <p:ext uri="{BB962C8B-B14F-4D97-AF65-F5344CB8AC3E}">
        <p14:creationId xmlns:p14="http://schemas.microsoft.com/office/powerpoint/2010/main" val="1741927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/>
              <p:cNvSpPr txBox="1"/>
              <p:nvPr/>
            </p:nvSpPr>
            <p:spPr>
              <a:xfrm>
                <a:off x="323527" y="2573921"/>
                <a:ext cx="8503343" cy="573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2400" b="0" dirty="0"/>
                  <a:t>Cause di giustificazione </a:t>
                </a:r>
                <a14:m>
                  <m:oMath xmlns:m="http://schemas.openxmlformats.org/officeDocument/2006/math">
                    <m:r>
                      <a:rPr lang="it-IT" sz="32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it-IT" sz="2400" b="0" dirty="0"/>
                  <a:t> cause di </a:t>
                </a:r>
                <a:r>
                  <a:rPr lang="it-IT" sz="2400" dirty="0">
                    <a:solidFill>
                      <a:srgbClr val="C00000"/>
                    </a:solidFill>
                  </a:rPr>
                  <a:t>esclusione dell’antigiuridicità</a:t>
                </a:r>
              </a:p>
            </p:txBody>
          </p:sp>
        </mc:Choice>
        <mc:Fallback xmlns="">
          <p:sp>
            <p:nvSpPr>
              <p:cNvPr id="2" name="CasellaDiTes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7" y="2573921"/>
                <a:ext cx="8503343" cy="573427"/>
              </a:xfrm>
              <a:prstGeom prst="rect">
                <a:avLst/>
              </a:prstGeom>
              <a:blipFill>
                <a:blip r:embed="rId3"/>
                <a:stretch>
                  <a:fillRect l="-1075" r="-430" b="-202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8"/>
          <p:cNvSpPr/>
          <p:nvPr/>
        </p:nvSpPr>
        <p:spPr>
          <a:xfrm>
            <a:off x="179512" y="1116138"/>
            <a:ext cx="8827639" cy="1219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4000"/>
              </a:lnSpc>
            </a:pPr>
            <a:r>
              <a:rPr lang="it-IT" altLang="it-IT" sz="2200" b="0" dirty="0"/>
              <a:t>Le cause di giustificazione del reato (scriminanti/esimenti) fanno sì che un fatto tipico, normalmente costituente reato, </a:t>
            </a:r>
            <a:r>
              <a:rPr lang="it-IT" altLang="it-IT" sz="2200" u="sng" dirty="0">
                <a:solidFill>
                  <a:srgbClr val="003192"/>
                </a:solidFill>
              </a:rPr>
              <a:t>divenga lecito </a:t>
            </a:r>
            <a:r>
              <a:rPr lang="it-IT" altLang="it-IT" sz="2200" i="1" u="sng" dirty="0">
                <a:solidFill>
                  <a:srgbClr val="003192"/>
                </a:solidFill>
              </a:rPr>
              <a:t>ab origine </a:t>
            </a:r>
            <a:r>
              <a:rPr lang="it-IT" altLang="it-IT" sz="2200" u="sng" dirty="0">
                <a:solidFill>
                  <a:srgbClr val="003192"/>
                </a:solidFill>
              </a:rPr>
              <a:t>e vada esente da pena</a:t>
            </a:r>
            <a:r>
              <a:rPr lang="it-IT" altLang="it-IT" sz="2200" b="0" dirty="0"/>
              <a:t>. </a:t>
            </a:r>
          </a:p>
        </p:txBody>
      </p:sp>
      <p:sp>
        <p:nvSpPr>
          <p:cNvPr id="10" name="Freccia in giù 9"/>
          <p:cNvSpPr/>
          <p:nvPr/>
        </p:nvSpPr>
        <p:spPr bwMode="auto">
          <a:xfrm>
            <a:off x="1547664" y="2375164"/>
            <a:ext cx="144016" cy="282265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CasellaDiTesto 12"/>
          <p:cNvSpPr txBox="1"/>
          <p:nvPr/>
        </p:nvSpPr>
        <p:spPr>
          <a:xfrm>
            <a:off x="1619672" y="2275529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0" dirty="0">
                <a:solidFill>
                  <a:srgbClr val="FF0000"/>
                </a:solidFill>
              </a:rPr>
              <a:t>ergo</a:t>
            </a:r>
          </a:p>
          <a:p>
            <a:endParaRPr lang="it-IT" sz="2000" b="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B439604C-4DA1-4E73-8139-B45B96DC34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EC3750B-2500-45F4-9A8F-37C271429D2C}"/>
              </a:ext>
            </a:extLst>
          </p:cNvPr>
          <p:cNvSpPr txBox="1"/>
          <p:nvPr/>
        </p:nvSpPr>
        <p:spPr>
          <a:xfrm>
            <a:off x="1979712" y="3573016"/>
            <a:ext cx="443515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dirty="0">
                <a:solidFill>
                  <a:srgbClr val="C00000"/>
                </a:solidFill>
                <a:latin typeface="Book Antiqua" panose="02040602050305030304" pitchFamily="18" charset="0"/>
              </a:rPr>
              <a:t>≠ CAUSE DI NON PUNIBILITA’</a:t>
            </a:r>
          </a:p>
          <a:p>
            <a:pPr algn="just"/>
            <a:endParaRPr lang="it-IT" sz="800" b="0" dirty="0">
              <a:latin typeface="Book Antiqua" panose="02040602050305030304" pitchFamily="18" charset="0"/>
            </a:endParaRPr>
          </a:p>
          <a:p>
            <a:pPr algn="just"/>
            <a:r>
              <a:rPr lang="it-IT" sz="2200" b="0" dirty="0">
                <a:latin typeface="Book Antiqua" panose="02040602050305030304" pitchFamily="18" charset="0"/>
              </a:rPr>
              <a:t>Incidono sulla punibilità. Il fatto tipico antigiuridico e colpevole comunque COSTITUISCE REATO, ma non andrà incontro a pena per ragioni di </a:t>
            </a:r>
            <a:r>
              <a:rPr lang="it-IT" sz="2200" u="sng" dirty="0">
                <a:latin typeface="Book Antiqua" panose="02040602050305030304" pitchFamily="18" charset="0"/>
              </a:rPr>
              <a:t>opportunità</a:t>
            </a:r>
            <a:r>
              <a:rPr lang="it-IT" sz="2200" b="0" dirty="0">
                <a:latin typeface="Book Antiqua" panose="02040602050305030304" pitchFamily="18" charset="0"/>
              </a:rPr>
              <a:t>. </a:t>
            </a:r>
            <a:r>
              <a:rPr lang="it-IT" sz="2000" b="0" dirty="0">
                <a:latin typeface="Book Antiqua" panose="02040602050305030304" pitchFamily="18" charset="0"/>
              </a:rPr>
              <a:t>(es. furto commesso da un coniuge in danno dell’altro)</a:t>
            </a:r>
            <a:endParaRPr lang="it-IT" sz="2200" b="0" dirty="0">
              <a:latin typeface="Book Antiqua" panose="02040602050305030304" pitchFamily="18" charset="0"/>
            </a:endParaRP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E5F39F5A-C96D-4208-8D36-6F65A7402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 cause di esclusione del reato: generalità</a:t>
            </a:r>
          </a:p>
        </p:txBody>
      </p:sp>
    </p:spTree>
    <p:extLst>
      <p:ext uri="{BB962C8B-B14F-4D97-AF65-F5344CB8AC3E}">
        <p14:creationId xmlns:p14="http://schemas.microsoft.com/office/powerpoint/2010/main" val="186632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279CCF-3C63-49CC-BA33-59E12F460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9756" y="129077"/>
            <a:ext cx="10523512" cy="922114"/>
          </a:xfrm>
        </p:spPr>
        <p:txBody>
          <a:bodyPr>
            <a:noAutofit/>
          </a:bodyPr>
          <a:lstStyle/>
          <a:p>
            <a:r>
              <a:rPr lang="it-IT" sz="3200" dirty="0">
                <a:solidFill>
                  <a:schemeClr val="bg1"/>
                </a:solidFill>
                <a:latin typeface="Book Antiqua" panose="02040602050305030304" pitchFamily="18" charset="0"/>
              </a:rPr>
              <a:t>Le cause di esclusione del reato: generalità</a:t>
            </a:r>
            <a:br>
              <a:rPr lang="it-IT" sz="32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24AA8B-E82C-4BA7-81DE-AC924114F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685" y="907616"/>
            <a:ext cx="8229600" cy="5832648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endParaRPr lang="it-IT" sz="3600" dirty="0">
              <a:solidFill>
                <a:srgbClr val="C00000"/>
              </a:solidFill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endParaRPr lang="it-IT" sz="3600" dirty="0">
              <a:solidFill>
                <a:srgbClr val="C00000"/>
              </a:solidFill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endParaRPr lang="it-IT" sz="3600" dirty="0">
              <a:solidFill>
                <a:srgbClr val="C00000"/>
              </a:solidFill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r>
              <a:rPr lang="it-IT" sz="3800" dirty="0">
                <a:solidFill>
                  <a:srgbClr val="C00000"/>
                </a:solidFill>
                <a:latin typeface="Book Antiqua" panose="02040602050305030304" pitchFamily="18" charset="0"/>
              </a:rPr>
              <a:t>≠ CAUSE DI ESCLUSIONE DELLA COLPEVOLEZZA (SCUSANTI)</a:t>
            </a:r>
          </a:p>
          <a:p>
            <a:pPr marL="0" indent="0" algn="ctr">
              <a:buNone/>
            </a:pPr>
            <a:endParaRPr lang="it-IT" sz="3800" dirty="0">
              <a:solidFill>
                <a:srgbClr val="C00000"/>
              </a:solidFill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endParaRPr lang="it-IT" sz="13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3400" b="1" dirty="0">
                <a:latin typeface="Book Antiqua" panose="02040602050305030304" pitchFamily="18" charset="0"/>
              </a:rPr>
              <a:t>Incidono solo sull’elemento soggettivo, facendo venir meno la colpevolezza</a:t>
            </a:r>
            <a:r>
              <a:rPr lang="it-IT" sz="3400" dirty="0">
                <a:latin typeface="Book Antiqua" panose="0204060205030503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it-IT" sz="3400" dirty="0">
                <a:latin typeface="Book Antiqua" panose="02040602050305030304" pitchFamily="18" charset="0"/>
              </a:rPr>
              <a:t>A differenza delle scriminanti dove il fatto diviene lecito ab origine nel caso delle scusanti il reato sussiste, ma non può essere punibile in considerazione dell’anormalità della situazione.</a:t>
            </a:r>
          </a:p>
          <a:p>
            <a:pPr marL="0" indent="0" algn="just">
              <a:buNone/>
            </a:pPr>
            <a:endParaRPr lang="it-IT" sz="3400" dirty="0">
              <a:latin typeface="Book Antiqua" panose="02040602050305030304" pitchFamily="18" charset="0"/>
            </a:endParaRPr>
          </a:p>
          <a:p>
            <a:pPr marL="0" indent="0" algn="just">
              <a:buNone/>
            </a:pPr>
            <a:r>
              <a:rPr lang="it-IT" sz="3400" b="1" i="1" dirty="0">
                <a:solidFill>
                  <a:srgbClr val="FF0000"/>
                </a:solidFill>
                <a:latin typeface="Book Antiqua" panose="02040602050305030304" pitchFamily="18" charset="0"/>
              </a:rPr>
              <a:t>es. </a:t>
            </a:r>
            <a:r>
              <a:rPr lang="it-IT" sz="3400" b="1" i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caso fortuito </a:t>
            </a:r>
            <a:r>
              <a:rPr lang="it-IT" sz="3400" b="1" i="1" dirty="0">
                <a:solidFill>
                  <a:srgbClr val="FF0000"/>
                </a:solidFill>
                <a:latin typeface="Book Antiqua" panose="02040602050305030304" pitchFamily="18" charset="0"/>
              </a:rPr>
              <a:t>o </a:t>
            </a:r>
            <a:r>
              <a:rPr lang="it-IT" sz="3400" b="1" i="1" u="sng" dirty="0">
                <a:solidFill>
                  <a:srgbClr val="FF0000"/>
                </a:solidFill>
                <a:latin typeface="Book Antiqua" panose="02040602050305030304" pitchFamily="18" charset="0"/>
              </a:rPr>
              <a:t>forza maggiore </a:t>
            </a:r>
          </a:p>
          <a:p>
            <a:pPr marL="0" indent="0" algn="just">
              <a:buNone/>
            </a:pPr>
            <a:r>
              <a:rPr lang="it-IT" sz="3400" dirty="0">
                <a:latin typeface="Book Antiqua" panose="02040602050305030304" pitchFamily="18" charset="0"/>
              </a:rPr>
              <a:t>(art. 45 </a:t>
            </a:r>
            <a:r>
              <a:rPr lang="it-IT" sz="3400" dirty="0" err="1">
                <a:latin typeface="Book Antiqua" panose="02040602050305030304" pitchFamily="18" charset="0"/>
              </a:rPr>
              <a:t>cp</a:t>
            </a:r>
            <a:r>
              <a:rPr lang="it-IT" sz="3400" dirty="0">
                <a:latin typeface="Book Antiqua" panose="02040602050305030304" pitchFamily="18" charset="0"/>
              </a:rPr>
              <a:t>.-non è punibile chi ha commesso il fatto per caso fortuito o forza maggiore)</a:t>
            </a:r>
          </a:p>
          <a:p>
            <a:pPr marL="0" indent="0" algn="just">
              <a:buNone/>
            </a:pPr>
            <a:endParaRPr lang="it-IT" sz="3800" dirty="0">
              <a:latin typeface="Book Antiqua" panose="02040602050305030304" pitchFamily="18" charset="0"/>
            </a:endParaRPr>
          </a:p>
          <a:p>
            <a:pPr algn="just"/>
            <a:r>
              <a:rPr lang="it-IT" sz="4200" u="sng" dirty="0">
                <a:solidFill>
                  <a:srgbClr val="FF0000"/>
                </a:solidFill>
                <a:latin typeface="Book Antiqua" panose="02040602050305030304" pitchFamily="18" charset="0"/>
              </a:rPr>
              <a:t>Caso fortuito</a:t>
            </a:r>
            <a:r>
              <a:rPr lang="it-IT" sz="4200" dirty="0">
                <a:latin typeface="Book Antiqua" panose="02040602050305030304" pitchFamily="18" charset="0"/>
              </a:rPr>
              <a:t>= fattore per sua natura imprevedibile od inevitabile per il quale non è possibile incolpare il soggetto agente. </a:t>
            </a:r>
          </a:p>
          <a:p>
            <a:pPr marL="0" indent="0" algn="just">
              <a:buNone/>
            </a:pPr>
            <a:r>
              <a:rPr lang="it-IT" sz="4200" i="1" dirty="0">
                <a:latin typeface="Book Antiqua" panose="02040602050305030304" pitchFamily="18" charset="0"/>
              </a:rPr>
              <a:t>Es. malore improvviso durante la guida.</a:t>
            </a:r>
          </a:p>
          <a:p>
            <a:pPr algn="just"/>
            <a:endParaRPr lang="it-IT" sz="4200" dirty="0">
              <a:latin typeface="Book Antiqua" panose="02040602050305030304" pitchFamily="18" charset="0"/>
            </a:endParaRPr>
          </a:p>
          <a:p>
            <a:pPr algn="just"/>
            <a:r>
              <a:rPr lang="it-IT" sz="4200" u="sng" dirty="0">
                <a:solidFill>
                  <a:srgbClr val="FF0000"/>
                </a:solidFill>
                <a:latin typeface="Book Antiqua" panose="02040602050305030304" pitchFamily="18" charset="0"/>
              </a:rPr>
              <a:t>Forza maggiore</a:t>
            </a:r>
            <a:r>
              <a:rPr lang="it-IT" sz="4200" dirty="0">
                <a:latin typeface="Book Antiqua" panose="02040602050305030304" pitchFamily="18" charset="0"/>
              </a:rPr>
              <a:t>= forza esterna che determina la persona a compiere un’azione cui questa non può opporsi. </a:t>
            </a:r>
          </a:p>
          <a:p>
            <a:pPr marL="0" indent="0" algn="just">
              <a:buNone/>
            </a:pPr>
            <a:r>
              <a:rPr lang="it-IT" sz="4200" i="1" dirty="0">
                <a:latin typeface="Book Antiqua" panose="02040602050305030304" pitchFamily="18" charset="0"/>
              </a:rPr>
              <a:t>Es. muratore che cade dall’impalcatura a causa di un forte colpo di vento e finisce per colpire mortalmente un passante.</a:t>
            </a:r>
          </a:p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7F8A0AE-555F-4FCD-A7F3-F052AC22CECE}"/>
                  </a:ext>
                </a:extLst>
              </p:cNvPr>
              <p:cNvSpPr txBox="1"/>
              <p:nvPr/>
            </p:nvSpPr>
            <p:spPr>
              <a:xfrm>
                <a:off x="354685" y="932704"/>
                <a:ext cx="8503343" cy="573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it-IT" sz="2400" b="0" dirty="0"/>
                  <a:t>Cause di giustificazione </a:t>
                </a:r>
                <a14:m>
                  <m:oMath xmlns:m="http://schemas.openxmlformats.org/officeDocument/2006/math">
                    <m:r>
                      <a:rPr lang="it-IT" sz="32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it-IT" sz="2400" b="0" dirty="0"/>
                  <a:t> cause di </a:t>
                </a:r>
                <a:r>
                  <a:rPr lang="it-IT" sz="2400" dirty="0">
                    <a:solidFill>
                      <a:srgbClr val="C00000"/>
                    </a:solidFill>
                  </a:rPr>
                  <a:t>esclusione dell’antigiuridicità</a:t>
                </a: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7F8A0AE-555F-4FCD-A7F3-F052AC22C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685" y="932704"/>
                <a:ext cx="8503343" cy="573427"/>
              </a:xfrm>
              <a:prstGeom prst="rect">
                <a:avLst/>
              </a:prstGeom>
              <a:blipFill>
                <a:blip r:embed="rId2"/>
                <a:stretch>
                  <a:fillRect l="-1075" r="-430" b="-2021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D5E030BD-F6EF-4732-85AA-4B918B4BC5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253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B439604C-4DA1-4E73-8139-B45B96DC34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49FA022E-45D4-44CC-8598-00023C5C47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8354" y="1484784"/>
            <a:ext cx="6281760" cy="4492624"/>
          </a:xfrm>
          <a:noFill/>
          <a:ln>
            <a:miter lim="800000"/>
            <a:headEnd/>
            <a:tailEnd/>
          </a:ln>
        </p:spPr>
        <p:txBody>
          <a:bodyPr vert="horz" wrap="square" lIns="88366" tIns="44180" rIns="88366" bIns="4418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 algn="just" defTabSz="730250">
              <a:buNone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Le cause di giustificazione:</a:t>
            </a:r>
          </a:p>
          <a:p>
            <a:pPr marL="0" indent="0" algn="just" defTabSz="730250">
              <a:buNone/>
            </a:pPr>
            <a:endParaRPr lang="it-IT" altLang="it-IT" sz="800" dirty="0">
              <a:latin typeface="Book Antiqua" panose="02040602050305030304" pitchFamily="18" charset="0"/>
              <a:ea typeface="MS PGothic"/>
            </a:endParaRP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Il consenso dell’avente diritto</a:t>
            </a:r>
          </a:p>
          <a:p>
            <a:pPr marL="354013" indent="-354013" defTabSz="730250">
              <a:buFont typeface="Times New Roman" pitchFamily="18" charset="0"/>
              <a:buAutoNum type="arabicPeriod"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L’esercizio di un diritto o L’adempimento di un dovere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L’uso legittimo delle armi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La legittima difesa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r>
              <a:rPr lang="it-IT" altLang="it-IT" sz="2800" dirty="0">
                <a:latin typeface="Book Antiqua" panose="02040602050305030304" pitchFamily="18" charset="0"/>
                <a:ea typeface="MS PGothic"/>
              </a:rPr>
              <a:t>Lo stato di necessità</a:t>
            </a: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endParaRPr lang="it-IT" altLang="it-IT" sz="2800" dirty="0">
              <a:latin typeface="Book Antiqua" panose="02040602050305030304" pitchFamily="18" charset="0"/>
              <a:ea typeface="MS PGothic"/>
            </a:endParaRPr>
          </a:p>
          <a:p>
            <a:pPr marL="354013" indent="-354013" algn="just" defTabSz="730250">
              <a:buFont typeface="Times New Roman" pitchFamily="18" charset="0"/>
              <a:buAutoNum type="arabicPeriod"/>
            </a:pPr>
            <a:endParaRPr lang="it-IT" altLang="it-IT" sz="2800" dirty="0">
              <a:latin typeface="Book Antiqua" panose="02040602050305030304" pitchFamily="18" charset="0"/>
              <a:ea typeface="MS PGothic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2EDE399-DC9E-4AB0-A0EB-B415860D1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 cause di esclusione del reato: generalità</a:t>
            </a:r>
          </a:p>
        </p:txBody>
      </p:sp>
    </p:spTree>
    <p:extLst>
      <p:ext uri="{BB962C8B-B14F-4D97-AF65-F5344CB8AC3E}">
        <p14:creationId xmlns:p14="http://schemas.microsoft.com/office/powerpoint/2010/main" val="180645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69D796-0F5D-4D9B-B80D-3A02B798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>
            <a:normAutofit fontScale="90000"/>
          </a:bodyPr>
          <a:lstStyle/>
          <a:p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Consenso dell’avente diritto </a:t>
            </a:r>
            <a:br>
              <a:rPr lang="it-IT" dirty="0"/>
            </a:b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(art.50 c.p.)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EF6981-3BDB-42C5-B601-9E88BD3C3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it-IT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è punibile chi lede o pone in pericolo un </a:t>
            </a:r>
            <a:r>
              <a:rPr lang="it-IT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diritto</a:t>
            </a:r>
            <a:r>
              <a:rPr lang="it-IT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col </a:t>
            </a:r>
            <a:r>
              <a:rPr lang="it-IT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consenso</a:t>
            </a:r>
            <a:r>
              <a:rPr lang="it-IT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della persona che può validamente disporne.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Perché il fatto </a:t>
            </a:r>
            <a:r>
              <a:rPr lang="it-IT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sia punibile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occorrono </a:t>
            </a:r>
            <a:r>
              <a:rPr lang="it-IT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 presupposti: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 il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abbia ad oggetto un </a:t>
            </a: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diritto disponibile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 sia validamente prestato dal titolare;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 sussista al momento del fatto.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Sono </a:t>
            </a:r>
            <a:r>
              <a:rPr lang="it-IT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diritti indisponibili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gli interessi che fanno capo allo Stato, alla collettività non personificata.</a:t>
            </a:r>
          </a:p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Sono, invece, </a:t>
            </a:r>
            <a:r>
              <a:rPr lang="it-IT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disponibili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es. diritti patrimoniali (salvi i casi in cui la legge ne limita la disponibilità) e  alcuni diritti inerenti alla personalità morale (es.: l’onore)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Consenso: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permesso col quale si attribuisce al destinatario un potere di agire che non crea alcun vincolo obbligatorio ed è sempre revocabile.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4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354685" y="1196752"/>
            <a:ext cx="83529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200" dirty="0">
                <a:solidFill>
                  <a:srgbClr val="003192"/>
                </a:solidFill>
              </a:rPr>
              <a:t>Art. 51 c.p. «Esercizio di un diritto o adempimento di un dovere»</a:t>
            </a:r>
          </a:p>
          <a:p>
            <a:pPr algn="just"/>
            <a:endParaRPr lang="it-IT" sz="2200" b="0" dirty="0">
              <a:solidFill>
                <a:srgbClr val="FF0000"/>
              </a:solidFill>
            </a:endParaRPr>
          </a:p>
          <a:p>
            <a:pPr algn="just"/>
            <a:r>
              <a:rPr lang="it-IT" sz="2200" b="0" dirty="0"/>
              <a:t>c.1 «</a:t>
            </a:r>
            <a:r>
              <a:rPr lang="it-IT" sz="2200" i="1" dirty="0"/>
              <a:t>L’esercizio di un diritto o l’adempimento di un dovere </a:t>
            </a:r>
            <a:r>
              <a:rPr lang="it-IT" sz="2200" b="0" i="1" dirty="0"/>
              <a:t>imposto da una </a:t>
            </a:r>
            <a:r>
              <a:rPr lang="it-IT" sz="2200" b="0" i="1" u="sng" dirty="0"/>
              <a:t>norma giuridica </a:t>
            </a:r>
            <a:r>
              <a:rPr lang="it-IT" sz="2200" b="0" i="1" dirty="0"/>
              <a:t>o da un </a:t>
            </a:r>
            <a:r>
              <a:rPr lang="it-IT" sz="2200" b="0" i="1" u="sng" dirty="0"/>
              <a:t>ordine legittimo della pubblica autorità</a:t>
            </a:r>
            <a:r>
              <a:rPr lang="it-IT" sz="2200" b="0" i="1" dirty="0"/>
              <a:t>, </a:t>
            </a:r>
            <a:r>
              <a:rPr lang="it-IT" sz="2200" i="1" dirty="0"/>
              <a:t>esclude la punibilità</a:t>
            </a:r>
            <a:r>
              <a:rPr lang="it-IT" sz="2200" b="0" i="1" dirty="0"/>
              <a:t>.</a:t>
            </a:r>
            <a:r>
              <a:rPr lang="it-IT" sz="2200" b="0" dirty="0"/>
              <a:t>»</a:t>
            </a:r>
          </a:p>
          <a:p>
            <a:pPr algn="just"/>
            <a:endParaRPr lang="it-IT" sz="2200" b="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2000" b="0" dirty="0">
                <a:solidFill>
                  <a:srgbClr val="003192"/>
                </a:solidFill>
              </a:rPr>
              <a:t>NORMA GIURIDICA</a:t>
            </a:r>
            <a:r>
              <a:rPr lang="it-IT" sz="2000" b="0" dirty="0"/>
              <a:t>: qualsiasi regola di diritto, scritta o consuetudinaria, posta sia dal potere legislativo che da quello esecutivo (legge statale, legge regionale, regolamenti, direttive, sentenze, consuetudine)</a:t>
            </a:r>
          </a:p>
          <a:p>
            <a:pPr algn="just"/>
            <a:r>
              <a:rPr lang="it-IT" sz="2200" b="0" dirty="0"/>
              <a:t>Es.</a:t>
            </a:r>
            <a:r>
              <a:rPr lang="it-IT" sz="1600" b="0" dirty="0"/>
              <a:t> un caso tipico può essere quello delineato </a:t>
            </a:r>
            <a:r>
              <a:rPr lang="it-IT" sz="1600" b="0" dirty="0" err="1"/>
              <a:t>dall</a:t>
            </a:r>
            <a:r>
              <a:rPr lang="ar-SA" sz="1600" b="0" dirty="0"/>
              <a:t>’</a:t>
            </a:r>
            <a:r>
              <a:rPr lang="it-IT" sz="1600" b="0" dirty="0"/>
              <a:t>art. 380 c.p.p. che disciplina l</a:t>
            </a:r>
            <a:r>
              <a:rPr lang="ar-SA" sz="1600" b="0" dirty="0"/>
              <a:t>’</a:t>
            </a:r>
            <a:r>
              <a:rPr lang="it-IT" sz="1600" b="0" dirty="0"/>
              <a:t>arresto obbligatorio in flagranza. L</a:t>
            </a:r>
            <a:r>
              <a:rPr lang="ar-SA" sz="1600" b="0" dirty="0"/>
              <a:t>’</a:t>
            </a:r>
            <a:r>
              <a:rPr lang="it-IT" sz="1600" b="0" dirty="0"/>
              <a:t>ufficiale o l</a:t>
            </a:r>
            <a:r>
              <a:rPr lang="ar-SA" sz="1600" b="0" dirty="0"/>
              <a:t>’</a:t>
            </a:r>
            <a:r>
              <a:rPr lang="it-IT" sz="1600" b="0" dirty="0"/>
              <a:t>agente di polizia giudiziaria che limita la libertà personale di un individuo, al ricorrere dei presupposti indicati dalla norma, non commette il reato di sequestro di persona.</a:t>
            </a:r>
            <a:endParaRPr lang="it-IT" sz="5400" b="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it-IT" sz="1000" b="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2200" b="0" dirty="0">
                <a:solidFill>
                  <a:srgbClr val="003192"/>
                </a:solidFill>
              </a:rPr>
              <a:t>ORDINE LEGITTIMO DELLA PUBBLICA AUTORITA’: </a:t>
            </a:r>
            <a:r>
              <a:rPr lang="it-IT" sz="2200" b="0" dirty="0"/>
              <a:t>atto della pubblica autorità avente come contenuto l’imposizione di una determinata condotta. (es. ordinanza di custodia cautelare emessa dal GIP)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056A5F0-18F7-44D1-8791-E051755145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8661CCD5-2890-4A02-A6E4-EC2150501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30395"/>
            <a:ext cx="8928992" cy="490120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26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Esercizio di un diritto e adempimento di un dovere</a:t>
            </a:r>
          </a:p>
        </p:txBody>
      </p:sp>
    </p:spTree>
    <p:extLst>
      <p:ext uri="{BB962C8B-B14F-4D97-AF65-F5344CB8AC3E}">
        <p14:creationId xmlns:p14="http://schemas.microsoft.com/office/powerpoint/2010/main" val="273655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/>
              <p:cNvSpPr txBox="1"/>
              <p:nvPr/>
            </p:nvSpPr>
            <p:spPr>
              <a:xfrm>
                <a:off x="395536" y="1052736"/>
                <a:ext cx="8352928" cy="6063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800" dirty="0">
                    <a:solidFill>
                      <a:srgbClr val="003192"/>
                    </a:solidFill>
                  </a:rPr>
                  <a:t>ADEMPIMENTO DI UN DOVERE</a:t>
                </a:r>
              </a:p>
              <a:p>
                <a:pPr algn="just"/>
                <a:endParaRPr lang="it-IT" sz="800" b="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it-IT" sz="2200" dirty="0">
                    <a:solidFill>
                      <a:srgbClr val="C00000"/>
                    </a:solidFill>
                  </a:rPr>
                  <a:t>DOVERE</a:t>
                </a:r>
                <a:r>
                  <a:rPr lang="it-IT" sz="2200" b="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dirty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it-IT" sz="2200" b="0" dirty="0">
                    <a:solidFill>
                      <a:srgbClr val="C00000"/>
                    </a:solidFill>
                  </a:rPr>
                  <a:t> </a:t>
                </a:r>
                <a:r>
                  <a:rPr lang="it-IT" sz="2200" b="0" dirty="0"/>
                  <a:t>comportamento reso obbligatorio da una norma giuridica o da un ordine dell’</a:t>
                </a:r>
                <a:r>
                  <a:rPr lang="it-IT" sz="2200" dirty="0">
                    <a:solidFill>
                      <a:srgbClr val="002F8E"/>
                    </a:solidFill>
                  </a:rPr>
                  <a:t>autorità </a:t>
                </a:r>
                <a:r>
                  <a:rPr lang="it-IT" sz="2200" u="sng" dirty="0">
                    <a:solidFill>
                      <a:srgbClr val="002F8E"/>
                    </a:solidFill>
                  </a:rPr>
                  <a:t>pubblica</a:t>
                </a:r>
                <a:r>
                  <a:rPr lang="it-IT" sz="2200" dirty="0">
                    <a:solidFill>
                      <a:srgbClr val="002F8E"/>
                    </a:solidFill>
                  </a:rPr>
                  <a:t> </a:t>
                </a:r>
                <a:r>
                  <a:rPr lang="it-IT" sz="2200" b="0" dirty="0"/>
                  <a:t>(NO autorità privata)</a:t>
                </a:r>
              </a:p>
              <a:p>
                <a:pPr algn="just"/>
                <a:r>
                  <a:rPr lang="it-IT" sz="2200" b="0" dirty="0"/>
                  <a:t> 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it-IT" sz="2200" b="0" dirty="0"/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it-IT" sz="2200" b="0" dirty="0"/>
                  <a:t>L’ordine deve essere </a:t>
                </a:r>
                <a:r>
                  <a:rPr lang="it-IT" sz="2200" u="sng" dirty="0">
                    <a:solidFill>
                      <a:srgbClr val="002F8E"/>
                    </a:solidFill>
                  </a:rPr>
                  <a:t>legittimo</a:t>
                </a:r>
                <a:r>
                  <a:rPr lang="it-IT" sz="2200" b="0" dirty="0"/>
                  <a:t>. In </a:t>
                </a:r>
                <a:r>
                  <a:rPr lang="it-IT" sz="2200" b="0" u="sng" dirty="0">
                    <a:solidFill>
                      <a:srgbClr val="FF0000"/>
                    </a:solidFill>
                  </a:rPr>
                  <a:t>caso di ordine illegittimo</a:t>
                </a:r>
                <a:r>
                  <a:rPr lang="it-IT" sz="2200" b="0" dirty="0"/>
                  <a:t>, se la sua esecuzione costituisce reato, risponderanno dello stesso sia l’autorità che lo ha impartito (in qualità di concorrente morale) che l’esecutore materiale. </a:t>
                </a:r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endParaRPr lang="it-IT" sz="2200" b="0" dirty="0"/>
              </a:p>
              <a:p>
                <a:pPr marL="342900" indent="-342900" algn="just">
                  <a:buFont typeface="Courier New" panose="02070309020205020404" pitchFamily="49" charset="0"/>
                  <a:buChar char="o"/>
                </a:pPr>
                <a:r>
                  <a:rPr lang="it-IT" sz="2200" b="0" dirty="0"/>
                  <a:t>Eccezione: </a:t>
                </a:r>
                <a:r>
                  <a:rPr lang="it-IT" sz="2200" b="0" dirty="0">
                    <a:solidFill>
                      <a:srgbClr val="C00000"/>
                    </a:solidFill>
                  </a:rPr>
                  <a:t>art. 25, co. 2 TUROM. </a:t>
                </a:r>
                <a:r>
                  <a:rPr lang="it-IT" sz="2200" b="0" dirty="0"/>
                  <a:t>Militari ed appartenenti alle forze dell’ordine in caso di ricezione di un ordine illegittimo, ma che non costituisce palesemente reato, devono farlo presente e, se l’ordine è ribadito, </a:t>
                </a:r>
                <a:r>
                  <a:rPr lang="it-IT" sz="2200" b="0" dirty="0">
                    <a:solidFill>
                      <a:srgbClr val="002F8E"/>
                    </a:solidFill>
                  </a:rPr>
                  <a:t>devono eseguirlo.</a:t>
                </a:r>
                <a:endParaRPr lang="it-IT" sz="2200" b="0" dirty="0">
                  <a:solidFill>
                    <a:srgbClr val="FF0000"/>
                  </a:solidFill>
                </a:endParaRPr>
              </a:p>
              <a:p>
                <a:pPr algn="just"/>
                <a:r>
                  <a:rPr lang="it-IT" sz="2200" b="0" u="sng" dirty="0">
                    <a:solidFill>
                      <a:srgbClr val="0070C0"/>
                    </a:solidFill>
                  </a:rPr>
                  <a:t>Art.1349 del COM </a:t>
                </a:r>
                <a:r>
                  <a:rPr lang="it-IT" sz="2200" b="0" dirty="0"/>
                  <a:t>impone al militare che abbia ricevuto un ordine manifestamente criminoso di non eseguirlo.</a:t>
                </a:r>
              </a:p>
              <a:p>
                <a:pPr algn="just"/>
                <a:endParaRPr lang="it-IT" sz="2200" b="0" dirty="0"/>
              </a:p>
            </p:txBody>
          </p:sp>
        </mc:Choice>
        <mc:Fallback xmlns="">
          <p:sp>
            <p:nvSpPr>
              <p:cNvPr id="7" name="CasellaDiTes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52736"/>
                <a:ext cx="8352928" cy="6063198"/>
              </a:xfrm>
              <a:prstGeom prst="rect">
                <a:avLst/>
              </a:prstGeom>
              <a:blipFill>
                <a:blip r:embed="rId3"/>
                <a:stretch>
                  <a:fillRect l="-949" t="-1107" r="-9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ccia in giù 2"/>
          <p:cNvSpPr/>
          <p:nvPr/>
        </p:nvSpPr>
        <p:spPr bwMode="auto">
          <a:xfrm>
            <a:off x="3419872" y="2348880"/>
            <a:ext cx="144016" cy="540000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Freccia in giù 7"/>
          <p:cNvSpPr/>
          <p:nvPr/>
        </p:nvSpPr>
        <p:spPr bwMode="auto">
          <a:xfrm>
            <a:off x="2771800" y="4149080"/>
            <a:ext cx="144016" cy="396000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389347E-6ABE-4721-96B4-8CE7D4E2A3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98C5B968-3C79-4DB3-B600-6F9688273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30395"/>
            <a:ext cx="8928992" cy="490120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26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Esercizio di un diritto e adempimento di un dovere</a:t>
            </a:r>
          </a:p>
        </p:txBody>
      </p:sp>
    </p:spTree>
    <p:extLst>
      <p:ext uri="{BB962C8B-B14F-4D97-AF65-F5344CB8AC3E}">
        <p14:creationId xmlns:p14="http://schemas.microsoft.com/office/powerpoint/2010/main" val="62352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323528" y="1019626"/>
            <a:ext cx="864096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rgbClr val="003192"/>
                </a:solidFill>
              </a:rPr>
              <a:t>Art. 52 c.p.</a:t>
            </a:r>
            <a:r>
              <a:rPr lang="it-IT" sz="2200" dirty="0">
                <a:solidFill>
                  <a:srgbClr val="003192"/>
                </a:solidFill>
                <a:sym typeface="Wingdings" panose="05000000000000000000" pitchFamily="2" charset="2"/>
              </a:rPr>
              <a:t> «Difesa legittima»</a:t>
            </a:r>
            <a:br>
              <a:rPr lang="it-IT" sz="2200" b="0" dirty="0">
                <a:solidFill>
                  <a:srgbClr val="003192"/>
                </a:solidFill>
              </a:rPr>
            </a:br>
            <a:endParaRPr lang="it-IT" sz="2200" b="0" dirty="0">
              <a:solidFill>
                <a:srgbClr val="003192"/>
              </a:solidFill>
            </a:endParaRPr>
          </a:p>
          <a:p>
            <a:r>
              <a:rPr lang="it-IT" sz="2200" b="0" u="sng" dirty="0">
                <a:solidFill>
                  <a:srgbClr val="003192"/>
                </a:solidFill>
              </a:rPr>
              <a:t>RIFORMA DELLA LEGITTIMA DIFESA</a:t>
            </a:r>
          </a:p>
          <a:p>
            <a:endParaRPr lang="it-IT" sz="2200" b="0" u="sng" dirty="0">
              <a:solidFill>
                <a:srgbClr val="003192"/>
              </a:solidFill>
            </a:endParaRPr>
          </a:p>
          <a:p>
            <a:r>
              <a:rPr lang="it-IT" sz="2200" b="0" dirty="0"/>
              <a:t>La legittima difesa è stata modificata recentemente con la riforma ex </a:t>
            </a:r>
            <a:r>
              <a:rPr lang="it-IT" sz="2200" b="0" u="sng" dirty="0">
                <a:solidFill>
                  <a:srgbClr val="FF0000"/>
                </a:solidFill>
              </a:rPr>
              <a:t>L. n.  36 del 26 aprile 2019.</a:t>
            </a:r>
            <a:r>
              <a:rPr lang="it-IT" sz="2200" b="0" dirty="0"/>
              <a:t> </a:t>
            </a:r>
          </a:p>
          <a:p>
            <a:endParaRPr lang="it-IT" sz="2200" b="0" dirty="0"/>
          </a:p>
          <a:p>
            <a:r>
              <a:rPr lang="it-IT" sz="2200" b="0" dirty="0"/>
              <a:t>Ha avuto come obiettivo quello di ridurre la discrezionalità dell’organo giudicante chiamato a valutare, di volta in volta, la proporzionalità tra offesa e difesa,  mediante l’introduzione di una </a:t>
            </a:r>
            <a:r>
              <a:rPr lang="it-IT" sz="2200" dirty="0"/>
              <a:t>presunzione assoluta di legittimità della difesa </a:t>
            </a:r>
            <a:r>
              <a:rPr lang="it-IT" sz="2200" b="0" dirty="0"/>
              <a:t>in determinate circostanze.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64F798-F974-4E4C-A15B-8A5A237A9B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B6A130F1-E5EE-4E2C-8877-D4703D7C9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Legittima difesa</a:t>
            </a:r>
          </a:p>
        </p:txBody>
      </p:sp>
    </p:spTree>
    <p:extLst>
      <p:ext uri="{BB962C8B-B14F-4D97-AF65-F5344CB8AC3E}">
        <p14:creationId xmlns:p14="http://schemas.microsoft.com/office/powerpoint/2010/main" val="180954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323528" y="1019626"/>
            <a:ext cx="864096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rgbClr val="003192"/>
                </a:solidFill>
                <a:highlight>
                  <a:srgbClr val="FFFF00"/>
                </a:highlight>
              </a:rPr>
              <a:t>Art. 52 c.p.</a:t>
            </a:r>
            <a:r>
              <a:rPr lang="it-IT" sz="2200" dirty="0">
                <a:solidFill>
                  <a:srgbClr val="003192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 </a:t>
            </a:r>
            <a:r>
              <a:rPr lang="it-IT" sz="2200" dirty="0">
                <a:solidFill>
                  <a:srgbClr val="003192"/>
                </a:solidFill>
                <a:sym typeface="Wingdings" panose="05000000000000000000" pitchFamily="2" charset="2"/>
              </a:rPr>
              <a:t>«Difesa legittima»</a:t>
            </a:r>
            <a:br>
              <a:rPr lang="it-IT" sz="2200" dirty="0">
                <a:solidFill>
                  <a:srgbClr val="003192"/>
                </a:solidFill>
              </a:rPr>
            </a:br>
            <a:r>
              <a:rPr lang="it-IT" sz="2200" dirty="0"/>
              <a:t>c.1 </a:t>
            </a:r>
            <a:r>
              <a:rPr lang="it-IT" sz="2200" b="0" dirty="0"/>
              <a:t>«</a:t>
            </a:r>
            <a:r>
              <a:rPr lang="it-IT" sz="1900" b="0" i="1" dirty="0"/>
              <a:t>Non è punibile chi ha commesso il fatto, per esservi stato costretto dalla necessità di </a:t>
            </a:r>
            <a:r>
              <a:rPr lang="it-IT" sz="1900" i="1" u="sng" dirty="0">
                <a:solidFill>
                  <a:srgbClr val="C00000"/>
                </a:solidFill>
              </a:rPr>
              <a:t>difendere un diritto proprio od altrui </a:t>
            </a:r>
            <a:r>
              <a:rPr lang="it-IT" sz="1900" b="0" i="1" dirty="0"/>
              <a:t>contro il </a:t>
            </a:r>
            <a:r>
              <a:rPr lang="it-IT" sz="1900" i="1" u="sng" dirty="0">
                <a:solidFill>
                  <a:srgbClr val="C00000"/>
                </a:solidFill>
              </a:rPr>
              <a:t>pericolo attuale di una offesa ingiusta</a:t>
            </a:r>
            <a:r>
              <a:rPr lang="it-IT" sz="1900" b="0" i="1" dirty="0"/>
              <a:t>, sempre che la </a:t>
            </a:r>
            <a:r>
              <a:rPr lang="it-IT" sz="1900" i="1" u="sng" dirty="0">
                <a:solidFill>
                  <a:srgbClr val="C00000"/>
                </a:solidFill>
              </a:rPr>
              <a:t>difesa sia proporzionata all'offesa</a:t>
            </a:r>
            <a:r>
              <a:rPr lang="it-IT" sz="1900" b="0" i="1" dirty="0"/>
              <a:t>. </a:t>
            </a:r>
          </a:p>
          <a:p>
            <a:pPr algn="just"/>
            <a:endParaRPr lang="it-IT" sz="1900" b="0" i="1" dirty="0"/>
          </a:p>
          <a:p>
            <a:pPr algn="just"/>
            <a:r>
              <a:rPr lang="it-IT" sz="2400" dirty="0"/>
              <a:t>c.2 </a:t>
            </a:r>
            <a:r>
              <a:rPr lang="it-IT" sz="1900" b="0" i="1" dirty="0"/>
              <a:t>Nei casi previsti dall’</a:t>
            </a:r>
            <a:r>
              <a:rPr lang="it-IT" sz="1900" i="1" u="sng" dirty="0">
                <a:solidFill>
                  <a:srgbClr val="003192"/>
                </a:solidFill>
              </a:rPr>
              <a:t>art. 614, co. 1 e 2</a:t>
            </a:r>
            <a:r>
              <a:rPr lang="it-IT" sz="1900" b="0" i="1" dirty="0"/>
              <a:t>, sussiste </a:t>
            </a:r>
            <a:r>
              <a:rPr lang="it-IT" sz="1900" i="1" u="sng" dirty="0">
                <a:solidFill>
                  <a:srgbClr val="003192"/>
                </a:solidFill>
              </a:rPr>
              <a:t>sempre</a:t>
            </a:r>
            <a:r>
              <a:rPr lang="it-IT" sz="1900" b="0" i="1" dirty="0"/>
              <a:t> il </a:t>
            </a:r>
            <a:r>
              <a:rPr lang="it-IT" sz="1900" i="1" u="sng" dirty="0">
                <a:solidFill>
                  <a:srgbClr val="003192"/>
                </a:solidFill>
              </a:rPr>
              <a:t>rapporto di proporzione </a:t>
            </a:r>
            <a:r>
              <a:rPr lang="it-IT" sz="1900" b="0" i="1" dirty="0"/>
              <a:t>di cui al co. 1 se taluno legittimamente presente in uno dei luoghi ivi indicati usa un'arma legittimamente detenuta o altro mezzo idoneo al fine di difendere: </a:t>
            </a:r>
          </a:p>
          <a:p>
            <a:pPr algn="just"/>
            <a:r>
              <a:rPr lang="it-IT" sz="1900" i="1" u="sng" dirty="0">
                <a:solidFill>
                  <a:srgbClr val="003192"/>
                </a:solidFill>
              </a:rPr>
              <a:t>a) la propria o la altrui incolumità; </a:t>
            </a:r>
          </a:p>
          <a:p>
            <a:pPr algn="just"/>
            <a:r>
              <a:rPr lang="it-IT" sz="1900" i="1" u="sng" dirty="0">
                <a:solidFill>
                  <a:srgbClr val="003192"/>
                </a:solidFill>
              </a:rPr>
              <a:t>b) i beni propri o altrui, quando non vi è desistenza e vi è pericolo d'aggressione.</a:t>
            </a:r>
          </a:p>
          <a:p>
            <a:pPr algn="just"/>
            <a:endParaRPr lang="it-IT" sz="1900" b="0" i="1" dirty="0"/>
          </a:p>
          <a:p>
            <a:pPr algn="just"/>
            <a:r>
              <a:rPr lang="it-IT" sz="2400" dirty="0"/>
              <a:t>c.3 </a:t>
            </a:r>
            <a:r>
              <a:rPr lang="it-IT" sz="1900" b="0" i="1" dirty="0"/>
              <a:t>Le disposizioni di cui al co. 2 e 4 si applicano anche nel caso in cui il fatto sia avvenuto all'interno di ogni altro luogo ove venga esercitata </a:t>
            </a:r>
            <a:r>
              <a:rPr lang="it-IT" sz="1900" i="1" u="sng" dirty="0"/>
              <a:t>un'attività commerciale, professionale o imprenditoriale</a:t>
            </a:r>
            <a:r>
              <a:rPr lang="it-IT" sz="1900" b="0" i="1" dirty="0"/>
              <a:t>.</a:t>
            </a:r>
          </a:p>
          <a:p>
            <a:pPr algn="just"/>
            <a:endParaRPr lang="it-IT" sz="1900" i="1" u="sng" dirty="0"/>
          </a:p>
          <a:p>
            <a:pPr algn="just"/>
            <a:r>
              <a:rPr lang="it-IT" sz="2400" dirty="0"/>
              <a:t>c.4 </a:t>
            </a:r>
            <a:r>
              <a:rPr lang="it-IT" sz="1900" b="0" i="1" dirty="0"/>
              <a:t>Nei casi di cui al co. 2 e 3 agisce </a:t>
            </a:r>
            <a:r>
              <a:rPr lang="it-IT" sz="1900" i="1" u="sng" dirty="0">
                <a:solidFill>
                  <a:srgbClr val="008000"/>
                </a:solidFill>
              </a:rPr>
              <a:t>sempre</a:t>
            </a:r>
            <a:r>
              <a:rPr lang="it-IT" sz="1900" b="0" i="1" dirty="0"/>
              <a:t> in stato di legittima difesa colui che compie un </a:t>
            </a:r>
            <a:r>
              <a:rPr lang="it-IT" sz="1900" i="1" u="sng" dirty="0">
                <a:solidFill>
                  <a:srgbClr val="008000"/>
                </a:solidFill>
              </a:rPr>
              <a:t>atto per respingere l'intrusione</a:t>
            </a:r>
            <a:r>
              <a:rPr lang="it-IT" sz="1900" b="0" i="1" dirty="0"/>
              <a:t> posta in essere, con </a:t>
            </a:r>
            <a:r>
              <a:rPr lang="it-IT" sz="1900" i="1" u="sng" dirty="0">
                <a:solidFill>
                  <a:srgbClr val="008000"/>
                </a:solidFill>
              </a:rPr>
              <a:t>violenza o minaccia di uso di armi o di altri mezzi di coazione fisica</a:t>
            </a:r>
            <a:r>
              <a:rPr lang="it-IT" sz="1900" b="0" i="1" dirty="0"/>
              <a:t>, da parte di una o più persone.</a:t>
            </a:r>
            <a:r>
              <a:rPr lang="it-IT" sz="1900" b="0" dirty="0"/>
              <a:t>»</a:t>
            </a:r>
            <a:r>
              <a:rPr lang="it-IT" sz="2200" b="0" dirty="0"/>
              <a:t>		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D64F798-F974-4E4C-A15B-8A5A237A9B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FA318D6A-C7F7-47B1-A1B0-25271567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Legittima difesa</a:t>
            </a:r>
          </a:p>
        </p:txBody>
      </p:sp>
    </p:spTree>
    <p:extLst>
      <p:ext uri="{BB962C8B-B14F-4D97-AF65-F5344CB8AC3E}">
        <p14:creationId xmlns:p14="http://schemas.microsoft.com/office/powerpoint/2010/main" val="180641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1ADAC8-477A-4C66-ACE6-4970CE20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71918"/>
            <a:ext cx="8229600" cy="45719"/>
          </a:xfrm>
        </p:spPr>
        <p:txBody>
          <a:bodyPr>
            <a:normAutofit fontScale="90000"/>
          </a:bodyPr>
          <a:lstStyle/>
          <a:p>
            <a:r>
              <a:rPr lang="it-IT" b="1" dirty="0">
                <a:solidFill>
                  <a:srgbClr val="003192"/>
                </a:solidFill>
              </a:rPr>
              <a:t>Quando opera la legittima difesa?</a:t>
            </a:r>
            <a:br>
              <a:rPr lang="it-IT" b="1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A6A39F-DEFA-4CE6-8298-F8CA5CA78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7"/>
            <a:ext cx="8229600" cy="53500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presupposti necessari perché possa essere invocata la causa di giustificazione della legittima difesa possono essere così riassunti: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offesa ingiusta;</a:t>
            </a:r>
          </a:p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reazione legittima.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382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26FB9-B515-4DE6-872B-AF7ADBDE1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576064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it-IT" b="1" u="sng" dirty="0">
                <a:solidFill>
                  <a:srgbClr val="0031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l’AGGRESSIONE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 presentare le seguenti caratteristiche: </a:t>
            </a:r>
          </a:p>
          <a:p>
            <a:pPr marL="0" indent="0" algn="just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Oggetto dell’offesa deve essere un </a:t>
            </a:r>
            <a:r>
              <a:rPr lang="it-IT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diritto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dell’aggredito o di altri. ( es. diritto alla vita- incolumità della persona – patrimoniali – morali);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it-IT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attualità del pericolo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vale a dire l’esistenza di una situazione per la quale, sulla base di leggi di esperienza, appaia probabile il verificarsi di un certo evento lesivo, come risultato di una condotta umana;</a:t>
            </a: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it-IT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ingiustizia dell’offesa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che la persona aggredita rischia di subire;</a:t>
            </a:r>
            <a:r>
              <a:rPr lang="it-IT" dirty="0"/>
              <a:t> offesa ingiusta: ovvero contraria al diritto, non prevista dall’ordinamento giuridico.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pericolo non deve essere stato determinato volontariamente dall’agente.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2444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B1B5DB-5E90-4172-B438-05F7D74E1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25658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la </a:t>
            </a:r>
            <a:r>
              <a:rPr lang="it-IT" sz="3000" b="1" u="sng" dirty="0">
                <a:solidFill>
                  <a:srgbClr val="0031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REAZIONE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compone dei seguenti elementi: </a:t>
            </a:r>
          </a:p>
          <a:p>
            <a:pPr marL="0" indent="0" algn="just">
              <a:buNone/>
            </a:pPr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 </a:t>
            </a:r>
            <a:r>
              <a:rPr lang="it-IT" sz="3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costrizione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ovvero il condizionamento psicologico di chi subisce l’offesa che si vede costretto a porre in essere una reazione difensiva;</a:t>
            </a:r>
          </a:p>
          <a:p>
            <a:pPr algn="just"/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 </a:t>
            </a:r>
            <a:r>
              <a:rPr lang="it-IT" sz="3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stato di necessità</a:t>
            </a:r>
            <a:r>
              <a:rPr lang="it-IT" sz="30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(necessità di difendersi) in cui viene a trovarsi la vittima dell’offesa;</a:t>
            </a:r>
            <a:r>
              <a:rPr lang="it-IT" dirty="0"/>
              <a:t>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(es. se vi è possibilità di fuga, l’eventuale contro-aggressione dell’iniziale vittima non è più scriminata)</a:t>
            </a:r>
          </a:p>
          <a:p>
            <a:pPr marL="0" indent="0" algn="just">
              <a:buNone/>
            </a:pPr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 </a:t>
            </a:r>
            <a:r>
              <a:rPr lang="it-IT" sz="3000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proporzionalità</a:t>
            </a:r>
            <a:r>
              <a:rPr lang="it-I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 offesa e reazione difesa.                       Intesa come il bilanciamento degli interessi.                                 La reazione deve essere inferiore, uguale o tollerabilmente superiore a quello subito</a:t>
            </a:r>
            <a:r>
              <a:rPr lang="it-IT" sz="3000" dirty="0"/>
              <a:t>. </a:t>
            </a:r>
            <a:r>
              <a:rPr lang="it-I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non vi è proporzione tra offesa e difesa si ricade nell’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eccesso colposo, ex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art. 55 c.p.)</a:t>
            </a:r>
          </a:p>
          <a:p>
            <a:pPr algn="just"/>
            <a:endParaRPr lang="it-IT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867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323528" y="908720"/>
            <a:ext cx="849694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0" dirty="0">
                <a:solidFill>
                  <a:srgbClr val="003192"/>
                </a:solidFill>
              </a:rPr>
              <a:t>Art. 52 c.p. </a:t>
            </a:r>
            <a:r>
              <a:rPr lang="it-IT" sz="2200" b="0" u="sng" dirty="0">
                <a:solidFill>
                  <a:srgbClr val="003192"/>
                </a:solidFill>
              </a:rPr>
              <a:t>co. 2</a:t>
            </a:r>
            <a:r>
              <a:rPr lang="it-IT" sz="2200" b="0" u="sng" dirty="0">
                <a:solidFill>
                  <a:srgbClr val="003192"/>
                </a:solidFill>
                <a:sym typeface="Wingdings" panose="05000000000000000000" pitchFamily="2" charset="2"/>
              </a:rPr>
              <a:t> </a:t>
            </a:r>
            <a:r>
              <a:rPr lang="it-IT" sz="2200" b="0" dirty="0">
                <a:solidFill>
                  <a:srgbClr val="003192"/>
                </a:solidFill>
                <a:sym typeface="Wingdings" panose="05000000000000000000" pitchFamily="2" charset="2"/>
              </a:rPr>
              <a:t>«Legittima difesa domiciliare» </a:t>
            </a:r>
            <a:r>
              <a:rPr lang="it-IT" sz="1800" b="0" dirty="0">
                <a:sym typeface="Wingdings" panose="05000000000000000000" pitchFamily="2" charset="2"/>
              </a:rPr>
              <a:t>introdotta dalla </a:t>
            </a:r>
            <a:r>
              <a:rPr lang="it-IT" sz="1800" b="0" dirty="0">
                <a:solidFill>
                  <a:srgbClr val="FF0000"/>
                </a:solidFill>
                <a:sym typeface="Wingdings" panose="05000000000000000000" pitchFamily="2" charset="2"/>
              </a:rPr>
              <a:t>L. n. 36/2019</a:t>
            </a:r>
            <a:br>
              <a:rPr lang="it-IT" sz="2200" b="0" dirty="0"/>
            </a:br>
            <a:endParaRPr lang="it-IT" sz="2200" b="0" dirty="0"/>
          </a:p>
          <a:p>
            <a:pPr lvl="0" algn="just"/>
            <a:r>
              <a:rPr lang="it-IT" sz="1900" b="0" dirty="0"/>
              <a:t>«</a:t>
            </a:r>
            <a:r>
              <a:rPr lang="it-IT" sz="1900" b="0" i="1" dirty="0">
                <a:solidFill>
                  <a:prstClr val="black"/>
                </a:solidFill>
              </a:rPr>
              <a:t>Nei casi previsti dall’</a:t>
            </a:r>
            <a:r>
              <a:rPr lang="it-IT" sz="1900" i="1" u="sng" dirty="0">
                <a:solidFill>
                  <a:srgbClr val="003192"/>
                </a:solidFill>
              </a:rPr>
              <a:t>art. 614, co. 1 e 2</a:t>
            </a:r>
            <a:r>
              <a:rPr lang="it-IT" sz="1900" b="0" i="1" dirty="0">
                <a:solidFill>
                  <a:prstClr val="black"/>
                </a:solidFill>
              </a:rPr>
              <a:t>, sussiste </a:t>
            </a:r>
            <a:r>
              <a:rPr lang="it-IT" sz="1900" i="1" u="sng" dirty="0"/>
              <a:t>sempre</a:t>
            </a:r>
            <a:r>
              <a:rPr lang="it-IT" sz="1900" b="0" i="1" dirty="0"/>
              <a:t> il </a:t>
            </a:r>
            <a:r>
              <a:rPr lang="it-IT" sz="1900" i="1" u="sng" dirty="0"/>
              <a:t>rapporto di proporzione </a:t>
            </a:r>
            <a:r>
              <a:rPr lang="it-IT" sz="1900" b="0" i="1" dirty="0"/>
              <a:t>di cui al co. 1 se taluno legittimamente presente in uno dei luoghi ivi indicati usa </a:t>
            </a:r>
            <a:r>
              <a:rPr lang="it-IT" sz="1900" i="1" u="sng" dirty="0"/>
              <a:t>un'arma legittimamente detenuta o altro mezzo idoneo al fine di difendere</a:t>
            </a:r>
            <a:r>
              <a:rPr lang="it-IT" sz="1900" b="0" i="1" dirty="0"/>
              <a:t>: </a:t>
            </a:r>
          </a:p>
          <a:p>
            <a:pPr lvl="0" algn="just"/>
            <a:r>
              <a:rPr lang="it-IT" sz="1900" i="1" u="sng" dirty="0"/>
              <a:t>a) la propria o la altrui incolumità; </a:t>
            </a:r>
          </a:p>
          <a:p>
            <a:pPr lvl="0" algn="just"/>
            <a:r>
              <a:rPr lang="it-IT" sz="1900" i="1" u="sng" dirty="0"/>
              <a:t>b) i beni propri o altrui, quando non vi è desistenza e vi è pericolo d'aggressione.</a:t>
            </a:r>
            <a:r>
              <a:rPr lang="it-IT" sz="2200" b="0" dirty="0"/>
              <a:t>»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323528" y="3382139"/>
            <a:ext cx="8280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u="sng" dirty="0">
                <a:solidFill>
                  <a:schemeClr val="tx2"/>
                </a:solidFill>
              </a:rPr>
              <a:t>Quando si è aggrediti nel proprio domicilio la legittima difesa è sempre proporzionata all’offesa. </a:t>
            </a:r>
          </a:p>
          <a:p>
            <a:pPr algn="just"/>
            <a:endParaRPr lang="it-IT" sz="2000" b="0" dirty="0"/>
          </a:p>
          <a:p>
            <a:pPr algn="just"/>
            <a:r>
              <a:rPr lang="it-IT" sz="2400" i="1" u="sng" dirty="0">
                <a:solidFill>
                  <a:srgbClr val="C00000"/>
                </a:solidFill>
              </a:rPr>
              <a:t>Art. 614. «Violazione di domicilio».</a:t>
            </a:r>
          </a:p>
          <a:p>
            <a:pPr algn="just"/>
            <a:r>
              <a:rPr lang="it-IT" sz="2000" i="1" dirty="0"/>
              <a:t>c.1 </a:t>
            </a:r>
            <a:r>
              <a:rPr lang="it-IT" sz="2000" b="0" i="1" dirty="0"/>
              <a:t>Chiunque s'introduce </a:t>
            </a:r>
            <a:r>
              <a:rPr lang="it-IT" sz="2000" i="1" u="sng" dirty="0">
                <a:solidFill>
                  <a:srgbClr val="C00000"/>
                </a:solidFill>
              </a:rPr>
              <a:t>nell'abitazione altrui, o in un altro luogo di privata dimora, o nelle appartenenze di essi</a:t>
            </a:r>
            <a:r>
              <a:rPr lang="it-IT" sz="2000" b="0" i="1" dirty="0"/>
              <a:t>, contro la volontà espressa o tacita di chi ha il diritto di escluderlo, ovvero vi s'introduce clandestinamente o con inganno, è punito con la reclusione da uno a quattro anni (1). </a:t>
            </a:r>
          </a:p>
          <a:p>
            <a:pPr algn="just"/>
            <a:r>
              <a:rPr lang="it-IT" sz="2000" i="1" dirty="0"/>
              <a:t>c.2 </a:t>
            </a:r>
            <a:r>
              <a:rPr lang="it-IT" sz="2000" b="0" i="1" dirty="0"/>
              <a:t>Alla stessa pena soggiace chi si trattiene nei detti luoghi contro l'espressa volontà di chi ha il diritto di escluderlo, ovvero vi si trattiene clandestinamente o con inganno.[…]	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64BD296-1321-47EC-8EA1-F374B47BF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3AA6CC6B-9A45-4916-9F6C-4CAC9B59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Legittima difesa</a:t>
            </a:r>
          </a:p>
        </p:txBody>
      </p:sp>
    </p:spTree>
    <p:extLst>
      <p:ext uri="{BB962C8B-B14F-4D97-AF65-F5344CB8AC3E}">
        <p14:creationId xmlns:p14="http://schemas.microsoft.com/office/powerpoint/2010/main" val="340483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323528" y="1124744"/>
            <a:ext cx="86409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b="0" dirty="0">
                <a:solidFill>
                  <a:srgbClr val="003192"/>
                </a:solidFill>
              </a:rPr>
              <a:t>Art. 52 c.p. </a:t>
            </a:r>
            <a:r>
              <a:rPr lang="it-IT" sz="2200" b="0" u="sng" dirty="0">
                <a:solidFill>
                  <a:srgbClr val="003192"/>
                </a:solidFill>
              </a:rPr>
              <a:t>co. 3</a:t>
            </a:r>
            <a:r>
              <a:rPr lang="it-IT" sz="2200" b="0" u="sng" dirty="0">
                <a:solidFill>
                  <a:srgbClr val="003192"/>
                </a:solidFill>
                <a:sym typeface="Wingdings" panose="05000000000000000000" pitchFamily="2" charset="2"/>
              </a:rPr>
              <a:t> </a:t>
            </a:r>
            <a:r>
              <a:rPr lang="it-IT" sz="2200" b="0" dirty="0">
                <a:solidFill>
                  <a:srgbClr val="003192"/>
                </a:solidFill>
                <a:sym typeface="Wingdings" panose="05000000000000000000" pitchFamily="2" charset="2"/>
              </a:rPr>
              <a:t>«Legittima difesa domiciliare»</a:t>
            </a:r>
            <a:br>
              <a:rPr lang="it-IT" sz="2200" b="0" dirty="0">
                <a:solidFill>
                  <a:srgbClr val="003192"/>
                </a:solidFill>
              </a:rPr>
            </a:br>
            <a:endParaRPr lang="it-IT" sz="2200" b="0" dirty="0">
              <a:solidFill>
                <a:srgbClr val="003192"/>
              </a:solidFill>
            </a:endParaRPr>
          </a:p>
          <a:p>
            <a:pPr algn="just"/>
            <a:r>
              <a:rPr lang="it-IT" sz="1900" b="0" i="1" dirty="0"/>
              <a:t>«Le disposizioni di cui al co. 2 e 4 si applicano anche nel caso in cui il fatto sia avvenuto all'interno di ogni altro luogo ove venga esercitata </a:t>
            </a:r>
            <a:r>
              <a:rPr lang="it-IT" sz="1900" i="1" u="sng" dirty="0">
                <a:solidFill>
                  <a:srgbClr val="C00000"/>
                </a:solidFill>
              </a:rPr>
              <a:t>un'attività commerciale, professionale o imprenditoriale</a:t>
            </a:r>
            <a:r>
              <a:rPr lang="it-IT" sz="1900" b="0" i="1" dirty="0"/>
              <a:t>.»</a:t>
            </a:r>
            <a:r>
              <a:rPr lang="it-IT" sz="2200" b="0" dirty="0"/>
              <a:t>	</a:t>
            </a:r>
          </a:p>
        </p:txBody>
      </p:sp>
      <p:sp>
        <p:nvSpPr>
          <p:cNvPr id="8" name="Freccia in giù 7"/>
          <p:cNvSpPr/>
          <p:nvPr/>
        </p:nvSpPr>
        <p:spPr bwMode="auto">
          <a:xfrm>
            <a:off x="3995936" y="2817515"/>
            <a:ext cx="288032" cy="382769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251520" y="3279179"/>
            <a:ext cx="86409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200" b="0" dirty="0"/>
              <a:t>Le stesse disposizioni che abbiamo visto al comma 2 e quelle del comma 4 si applicano non solo in caso di violazione del domicilio privato, ma anche nel caso in cui si violi il </a:t>
            </a:r>
            <a:r>
              <a:rPr lang="it-IT" sz="2200" u="sng" dirty="0"/>
              <a:t>luogo in cui si svolgono attività lavorative.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64BD296-1321-47EC-8EA1-F374B47BF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DC29AD29-F13C-4E2C-8667-ABCB70BC9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Legittima difesa</a:t>
            </a:r>
          </a:p>
        </p:txBody>
      </p:sp>
    </p:spTree>
    <p:extLst>
      <p:ext uri="{BB962C8B-B14F-4D97-AF65-F5344CB8AC3E}">
        <p14:creationId xmlns:p14="http://schemas.microsoft.com/office/powerpoint/2010/main" val="92920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140266" y="908720"/>
            <a:ext cx="8909691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003192"/>
                </a:solidFill>
              </a:rPr>
              <a:t>Art. 53 c.p.</a:t>
            </a:r>
            <a:r>
              <a:rPr lang="it-IT" sz="2400" dirty="0">
                <a:solidFill>
                  <a:srgbClr val="003192"/>
                </a:solidFill>
                <a:sym typeface="Wingdings" panose="05000000000000000000" pitchFamily="2" charset="2"/>
              </a:rPr>
              <a:t> «Uso legittimo delle armi»</a:t>
            </a:r>
            <a:br>
              <a:rPr lang="it-IT" sz="2400" dirty="0">
                <a:solidFill>
                  <a:srgbClr val="003192"/>
                </a:solidFill>
              </a:rPr>
            </a:br>
            <a:endParaRPr lang="it-IT" sz="2400" dirty="0">
              <a:solidFill>
                <a:srgbClr val="003192"/>
              </a:solidFill>
            </a:endParaRPr>
          </a:p>
          <a:p>
            <a:pPr algn="just"/>
            <a:r>
              <a:rPr lang="it-IT" sz="2000" dirty="0"/>
              <a:t>c.1 </a:t>
            </a:r>
            <a:r>
              <a:rPr lang="it-IT" sz="2000" b="0" dirty="0"/>
              <a:t>«</a:t>
            </a:r>
            <a:r>
              <a:rPr lang="it-IT" sz="2000" b="0" i="1" dirty="0">
                <a:solidFill>
                  <a:schemeClr val="accent4"/>
                </a:solidFill>
              </a:rPr>
              <a:t>Ferme le disposizioni contenute nei due articoli precedenti</a:t>
            </a:r>
            <a:r>
              <a:rPr lang="it-IT" sz="2000" b="0" i="1" dirty="0"/>
              <a:t>, non è punibile il </a:t>
            </a:r>
            <a:r>
              <a:rPr lang="it-IT" sz="2000" i="1" u="sng" dirty="0">
                <a:solidFill>
                  <a:srgbClr val="C00000"/>
                </a:solidFill>
              </a:rPr>
              <a:t>pubblico ufficiale </a:t>
            </a:r>
            <a:r>
              <a:rPr lang="it-IT" sz="2000" b="0" i="1" dirty="0"/>
              <a:t>che, </a:t>
            </a:r>
            <a:r>
              <a:rPr lang="it-IT" sz="2000" i="1" u="sng" dirty="0"/>
              <a:t>al fine di adempiere un dovere del proprio ufficio</a:t>
            </a:r>
            <a:r>
              <a:rPr lang="it-IT" sz="2000" b="0" i="1" dirty="0"/>
              <a:t>, fa uso ovvero ordina di far uso delle armi o di un altro </a:t>
            </a:r>
            <a:r>
              <a:rPr lang="it-IT" sz="2000" i="1" dirty="0">
                <a:solidFill>
                  <a:srgbClr val="003192"/>
                </a:solidFill>
              </a:rPr>
              <a:t>mezzo di coazione fisica</a:t>
            </a:r>
            <a:r>
              <a:rPr lang="it-IT" sz="2000" b="0" i="1" dirty="0"/>
              <a:t>, quando vi è costretto dalla </a:t>
            </a:r>
            <a:r>
              <a:rPr lang="it-IT" sz="2000" i="1" u="sng" dirty="0"/>
              <a:t>necessità di respingere una violenza o di vincere una resistenza all'autorità e comunque di impedire la consumazione dei delitti di strage, di naufragio, sommersione, disastro aviatorio, disastro ferroviario, omicidio volontario, rapina a mano armata e sequestro di persona</a:t>
            </a:r>
            <a:r>
              <a:rPr lang="it-IT" sz="2000" b="0" i="1" dirty="0">
                <a:solidFill>
                  <a:srgbClr val="003300"/>
                </a:solidFill>
              </a:rPr>
              <a:t>. </a:t>
            </a:r>
          </a:p>
          <a:p>
            <a:pPr algn="just"/>
            <a:endParaRPr lang="it-IT" sz="2000" b="0" i="1" dirty="0"/>
          </a:p>
          <a:p>
            <a:pPr algn="just"/>
            <a:r>
              <a:rPr lang="it-IT" sz="2000" dirty="0"/>
              <a:t>c.2 </a:t>
            </a:r>
            <a:r>
              <a:rPr lang="it-IT" sz="2000" b="0" i="1" dirty="0"/>
              <a:t>La stessa disposizione si applica a qualsiasi persona che, </a:t>
            </a:r>
            <a:r>
              <a:rPr lang="it-IT" sz="2000" i="1" u="sng" dirty="0"/>
              <a:t>legalmente richiesta </a:t>
            </a:r>
            <a:r>
              <a:rPr lang="it-IT" sz="2000" b="0" i="1" dirty="0"/>
              <a:t>dal pubblico ufficiale, gli presti </a:t>
            </a:r>
            <a:r>
              <a:rPr lang="it-IT" sz="2000" i="1" dirty="0">
                <a:solidFill>
                  <a:srgbClr val="C00000"/>
                </a:solidFill>
              </a:rPr>
              <a:t>assistenza</a:t>
            </a:r>
            <a:r>
              <a:rPr lang="it-IT" sz="2000" b="0" i="1" dirty="0"/>
              <a:t>. </a:t>
            </a:r>
          </a:p>
          <a:p>
            <a:pPr algn="just"/>
            <a:endParaRPr lang="it-IT" sz="2000" b="0" i="1" dirty="0"/>
          </a:p>
          <a:p>
            <a:pPr algn="just"/>
            <a:r>
              <a:rPr lang="it-IT" sz="2000" dirty="0"/>
              <a:t>c.3 </a:t>
            </a:r>
            <a:r>
              <a:rPr lang="it-IT" sz="2000" b="0" i="1" dirty="0"/>
              <a:t>La legge determina gli altri casi, nei quali </a:t>
            </a:r>
          </a:p>
          <a:p>
            <a:pPr algn="just"/>
            <a:r>
              <a:rPr lang="it-IT" sz="2000" b="0" i="1" dirty="0"/>
              <a:t>è autorizzato l'uso delle armi o di un altro </a:t>
            </a:r>
          </a:p>
          <a:p>
            <a:pPr algn="just"/>
            <a:r>
              <a:rPr lang="it-IT" sz="2000" b="0" i="1" dirty="0"/>
              <a:t>mezzo di coazione fisica.</a:t>
            </a:r>
            <a:r>
              <a:rPr lang="it-IT" sz="2000" b="0" dirty="0"/>
              <a:t>»</a:t>
            </a:r>
            <a:endParaRPr lang="it-IT" sz="2000" b="0" dirty="0">
              <a:effectLst/>
            </a:endParaRPr>
          </a:p>
        </p:txBody>
      </p:sp>
      <p:pic>
        <p:nvPicPr>
          <p:cNvPr id="2050" name="Picture 2" descr="F:\arm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642" y="4869160"/>
            <a:ext cx="2721177" cy="181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29DA619-28BA-4B41-ACE9-F0C672095D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6C43A9FC-41B2-4408-96BA-E9F16C2D1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Uso legittimo delle armi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D7ECDE-2A6A-459D-8610-030F8167542E}"/>
              </a:ext>
            </a:extLst>
          </p:cNvPr>
          <p:cNvSpPr txBox="1"/>
          <p:nvPr/>
        </p:nvSpPr>
        <p:spPr>
          <a:xfrm>
            <a:off x="5220072" y="842015"/>
            <a:ext cx="41179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0" i="1" dirty="0">
                <a:solidFill>
                  <a:srgbClr val="FF0000"/>
                </a:solidFill>
              </a:rPr>
              <a:t> </a:t>
            </a:r>
            <a:r>
              <a:rPr lang="it-IT" sz="1200" b="0" i="1" dirty="0">
                <a:solidFill>
                  <a:srgbClr val="FF0000"/>
                </a:solidFill>
              </a:rPr>
              <a:t>L'istituto dell'uso legittimo delle armi è una disposizione autonoma, ma sussidiaria ed aggiuntiva, in quanto opera solo qualora difettino i presupposti della legittima difesa (v. </a:t>
            </a:r>
            <a:r>
              <a:rPr lang="it-IT" sz="1200" b="0" i="1" u="sng" dirty="0">
                <a:solidFill>
                  <a:srgbClr val="FF0000"/>
                </a:solidFill>
                <a:hlinkClick r:id="rId6" tooltip="Difesa legittim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52</a:t>
            </a:r>
            <a:r>
              <a:rPr lang="it-IT" sz="1200" b="0" i="1" dirty="0">
                <a:solidFill>
                  <a:srgbClr val="FF0000"/>
                </a:solidFill>
              </a:rPr>
              <a:t>) e dell'adempimento del dovere (v. </a:t>
            </a:r>
            <a:r>
              <a:rPr lang="it-IT" sz="1200" b="0" i="1" u="sng" dirty="0">
                <a:solidFill>
                  <a:srgbClr val="FF0000"/>
                </a:solidFill>
                <a:hlinkClick r:id="rId7" tooltip="Esercizio di un diritto o adempimento di un dove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51</a:t>
            </a:r>
            <a:r>
              <a:rPr lang="it-IT" sz="1200" b="0" i="1" dirty="0">
                <a:solidFill>
                  <a:srgbClr val="FF0000"/>
                </a:solidFill>
              </a:rPr>
              <a:t>), come si evince dalla clausola d'apertura.</a:t>
            </a:r>
            <a:endParaRPr lang="it-IT" sz="1200" dirty="0">
              <a:solidFill>
                <a:srgbClr val="FF0000"/>
              </a:solidFill>
            </a:endParaRPr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EE05EEF4-0867-4345-9B71-40409FA79BDC}"/>
              </a:ext>
            </a:extLst>
          </p:cNvPr>
          <p:cNvSpPr/>
          <p:nvPr/>
        </p:nvSpPr>
        <p:spPr bwMode="auto">
          <a:xfrm rot="19370588">
            <a:off x="4788387" y="1597802"/>
            <a:ext cx="432048" cy="144016"/>
          </a:xfrm>
          <a:prstGeom prst="rightArrow">
            <a:avLst/>
          </a:prstGeom>
          <a:solidFill>
            <a:schemeClr val="accent4"/>
          </a:solidFill>
          <a:ln w="9525">
            <a:noFill/>
            <a:miter lim="800000"/>
            <a:headEnd/>
            <a:tailEnd/>
          </a:ln>
        </p:spPr>
        <p:txBody>
          <a:bodyPr wrap="square" lIns="84345" tIns="42171" rIns="84345" bIns="42171" rtlCol="0" anchor="ctr">
            <a:spAutoFit/>
          </a:bodyPr>
          <a:lstStyle/>
          <a:p>
            <a:pPr algn="ctr"/>
            <a:endParaRPr lang="it-IT" sz="3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07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251520" y="1124744"/>
            <a:ext cx="8503343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it-IT" sz="2200" b="0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it-IT" sz="2200" dirty="0"/>
              <a:t>SCRIMINANTE </a:t>
            </a:r>
            <a:r>
              <a:rPr lang="it-IT" sz="2200" dirty="0">
                <a:solidFill>
                  <a:srgbClr val="C00000"/>
                </a:solidFill>
              </a:rPr>
              <a:t>PROPRIA</a:t>
            </a:r>
            <a:r>
              <a:rPr lang="it-IT" sz="2200" b="0" dirty="0"/>
              <a:t>, applicabile </a:t>
            </a:r>
            <a:r>
              <a:rPr lang="it-IT" sz="2200" dirty="0">
                <a:solidFill>
                  <a:srgbClr val="003192"/>
                </a:solidFill>
              </a:rPr>
              <a:t>solo ai pubblici ufficiali </a:t>
            </a:r>
            <a:r>
              <a:rPr lang="it-IT" sz="2200" b="0" dirty="0"/>
              <a:t>con poteri di coazione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it-IT" sz="2200" b="0" dirty="0"/>
          </a:p>
          <a:p>
            <a:pPr marL="342900" indent="-342900" algn="just">
              <a:buFont typeface="Courier New" panose="02070309020205020404" pitchFamily="49" charset="0"/>
              <a:buChar char="o"/>
            </a:pPr>
            <a:r>
              <a:rPr lang="it-IT" sz="2200" b="0" dirty="0"/>
              <a:t>La norma non fa menzione del requisito della </a:t>
            </a:r>
            <a:r>
              <a:rPr lang="it-IT" sz="2200" dirty="0">
                <a:solidFill>
                  <a:srgbClr val="003192"/>
                </a:solidFill>
              </a:rPr>
              <a:t>proporzionalità</a:t>
            </a:r>
            <a:r>
              <a:rPr lang="it-IT" sz="2200" b="0" dirty="0"/>
              <a:t>, che tuttavia deve darsi per </a:t>
            </a:r>
            <a:r>
              <a:rPr lang="it-IT" sz="2200" u="sng" dirty="0">
                <a:solidFill>
                  <a:srgbClr val="003192"/>
                </a:solidFill>
              </a:rPr>
              <a:t>implicito</a:t>
            </a:r>
            <a:r>
              <a:rPr lang="it-IT" sz="2200" b="0" dirty="0"/>
              <a:t> (è ormai pacifico che il nostro ordinamento concepisca la coazione fisica come </a:t>
            </a:r>
            <a:r>
              <a:rPr lang="it-IT" sz="2200" b="0" i="1" dirty="0">
                <a:solidFill>
                  <a:srgbClr val="002F8E"/>
                </a:solidFill>
              </a:rPr>
              <a:t>extrema ratio</a:t>
            </a:r>
            <a:r>
              <a:rPr lang="it-IT" sz="2200" b="0" i="1" dirty="0"/>
              <a:t>)</a:t>
            </a:r>
            <a:r>
              <a:rPr lang="it-IT" sz="2200" b="0" dirty="0"/>
              <a:t>».</a:t>
            </a:r>
            <a:br>
              <a:rPr lang="it-IT" sz="2400" b="0" dirty="0"/>
            </a:br>
            <a:endParaRPr lang="it-IT" sz="2400" b="0" dirty="0"/>
          </a:p>
        </p:txBody>
      </p:sp>
      <p:sp>
        <p:nvSpPr>
          <p:cNvPr id="7" name="Freccia a destra 6"/>
          <p:cNvSpPr/>
          <p:nvPr/>
        </p:nvSpPr>
        <p:spPr bwMode="auto">
          <a:xfrm rot="2158860">
            <a:off x="1043550" y="2542712"/>
            <a:ext cx="792088" cy="288032"/>
          </a:xfrm>
          <a:prstGeom prst="right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1844689" y="2337507"/>
            <a:ext cx="69101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0" u="sng" dirty="0">
                <a:solidFill>
                  <a:srgbClr val="C00000"/>
                </a:solidFill>
              </a:rPr>
              <a:t>PUBBLICO UFFICIALE </a:t>
            </a:r>
            <a:r>
              <a:rPr lang="it-IT" sz="2000" b="0" dirty="0"/>
              <a:t>(ex art. 357 c.p.): </a:t>
            </a:r>
            <a:r>
              <a:rPr lang="it-IT" sz="1800" b="0" dirty="0"/>
              <a:t>E' tale colui che esercita una funzione legislativa, amministrativa o giudiziaria con o senza rapporto di impiego con lo Stato, temporaneamente o permanentemente;</a:t>
            </a:r>
          </a:p>
          <a:p>
            <a:pPr algn="just"/>
            <a:endParaRPr lang="it-IT" sz="1800" b="0" dirty="0"/>
          </a:p>
          <a:p>
            <a:pPr algn="just"/>
            <a:r>
              <a:rPr lang="it-IT" sz="2000" b="0" dirty="0"/>
              <a:t>I soggetti non qualificati possono avvalersi di detta scriminante solo se il P.U. chiede loro assistenza.</a:t>
            </a:r>
            <a:endParaRPr lang="it-IT" sz="20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E9C36CC-9135-4250-A776-C1D4131928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4D71FEFF-F66B-423B-B8CE-29C8A770E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Uso legittimo delle armi</a:t>
            </a:r>
          </a:p>
        </p:txBody>
      </p:sp>
    </p:spTree>
    <p:extLst>
      <p:ext uri="{BB962C8B-B14F-4D97-AF65-F5344CB8AC3E}">
        <p14:creationId xmlns:p14="http://schemas.microsoft.com/office/powerpoint/2010/main" val="44981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251520" y="1006852"/>
            <a:ext cx="8503343" cy="497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800" dirty="0"/>
              <a:t>PRESUPPOSTI affinché operi la scriminante:</a:t>
            </a:r>
            <a:endParaRPr lang="it-IT" sz="280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it-IT" sz="800" b="0" dirty="0"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1800" dirty="0">
                <a:solidFill>
                  <a:srgbClr val="C00000"/>
                </a:solidFill>
                <a:sym typeface="Wingdings" panose="05000000000000000000" pitchFamily="2" charset="2"/>
              </a:rPr>
              <a:t>CONDIZIONI PER L’APPLICAZIONE</a:t>
            </a:r>
            <a:r>
              <a:rPr lang="it-IT" sz="1800" b="0" dirty="0">
                <a:sym typeface="Wingdings" panose="05000000000000000000" pitchFamily="2" charset="2"/>
              </a:rPr>
              <a:t>:</a:t>
            </a:r>
          </a:p>
          <a:p>
            <a:pPr marL="714375" indent="-342900" algn="just">
              <a:buFont typeface="Arial" panose="020B0604020202020204" pitchFamily="34" charset="0"/>
              <a:buChar char="•"/>
            </a:pPr>
            <a:endParaRPr lang="it-IT" sz="1800" b="0" dirty="0"/>
          </a:p>
          <a:p>
            <a:pPr marL="714375" indent="-342900" algn="just">
              <a:buFont typeface="Arial" panose="020B0604020202020204" pitchFamily="34" charset="0"/>
              <a:buChar char="•"/>
            </a:pPr>
            <a:r>
              <a:rPr lang="it-IT" sz="2100" b="0" dirty="0"/>
              <a:t>Fine di adempiere ad un </a:t>
            </a:r>
            <a:r>
              <a:rPr lang="it-IT" sz="2100" u="sng" dirty="0">
                <a:solidFill>
                  <a:srgbClr val="003192"/>
                </a:solidFill>
              </a:rPr>
              <a:t>dovere del proprio ufficio </a:t>
            </a:r>
            <a:r>
              <a:rPr lang="it-IT" sz="2100" b="0" dirty="0"/>
              <a:t>(quindi non per finalità private)</a:t>
            </a:r>
          </a:p>
          <a:p>
            <a:pPr marL="714375" indent="-342900" algn="just">
              <a:buFont typeface="Arial" panose="020B0604020202020204" pitchFamily="34" charset="0"/>
              <a:buChar char="•"/>
            </a:pPr>
            <a:endParaRPr lang="it-IT" sz="1800" u="sng" dirty="0">
              <a:solidFill>
                <a:srgbClr val="003192"/>
              </a:solidFill>
            </a:endParaRPr>
          </a:p>
          <a:p>
            <a:pPr marL="714375" indent="-342900" algn="just">
              <a:buFont typeface="Arial" panose="020B0604020202020204" pitchFamily="34" charset="0"/>
              <a:buChar char="•"/>
            </a:pPr>
            <a:r>
              <a:rPr lang="it-IT" sz="2100" u="sng" dirty="0">
                <a:solidFill>
                  <a:srgbClr val="003192"/>
                </a:solidFill>
              </a:rPr>
              <a:t>Necessità di </a:t>
            </a:r>
            <a:r>
              <a:rPr lang="it-IT" sz="2100" b="0" dirty="0"/>
              <a:t>(il fine non può essere raggiunto in altro modo):</a:t>
            </a:r>
          </a:p>
          <a:p>
            <a:pPr marL="900113" indent="-179388" algn="just">
              <a:buFont typeface="Wingdings" panose="05000000000000000000" pitchFamily="2" charset="2"/>
              <a:buChar char="§"/>
            </a:pPr>
            <a:endParaRPr lang="it-IT" sz="1800" u="sng" dirty="0">
              <a:solidFill>
                <a:srgbClr val="C00000"/>
              </a:solidFill>
            </a:endParaRPr>
          </a:p>
          <a:p>
            <a:pPr marL="900113" indent="-179388" algn="just">
              <a:buFont typeface="Wingdings" panose="05000000000000000000" pitchFamily="2" charset="2"/>
              <a:buChar char="§"/>
            </a:pPr>
            <a:r>
              <a:rPr lang="it-IT" sz="1800" u="sng" dirty="0">
                <a:solidFill>
                  <a:srgbClr val="C00000"/>
                </a:solidFill>
              </a:rPr>
              <a:t>Respingere una violenza</a:t>
            </a:r>
            <a:r>
              <a:rPr lang="it-IT" sz="1800" b="0" dirty="0"/>
              <a:t> (comportamento attivo teso a costringere il P.U. a compiere un atto contrario ai suoi doveri o ad omettere il compimento di un atto);</a:t>
            </a:r>
          </a:p>
          <a:p>
            <a:pPr marL="900113" indent="-179388" algn="just">
              <a:buFont typeface="Wingdings" panose="05000000000000000000" pitchFamily="2" charset="2"/>
              <a:buChar char="§"/>
            </a:pPr>
            <a:r>
              <a:rPr lang="it-IT" sz="1800" u="sng" dirty="0">
                <a:solidFill>
                  <a:srgbClr val="C00000"/>
                </a:solidFill>
              </a:rPr>
              <a:t>Vincere una resistenza </a:t>
            </a:r>
            <a:r>
              <a:rPr lang="it-IT" sz="1800" b="0" dirty="0"/>
              <a:t>atteggiamento diretto ad ostacolare il P.U. nell’adempimento dei suoi doveri. </a:t>
            </a:r>
          </a:p>
          <a:p>
            <a:pPr marL="720725" algn="just"/>
            <a:r>
              <a:rPr lang="it-IT" sz="1800" b="0" dirty="0"/>
              <a:t>         </a:t>
            </a:r>
            <a:r>
              <a:rPr lang="it-IT" sz="2000" dirty="0"/>
              <a:t>La scriminante non opera in caso di </a:t>
            </a:r>
            <a:r>
              <a:rPr lang="it-IT" sz="2000" u="sng" dirty="0"/>
              <a:t>resistenza passiva </a:t>
            </a:r>
            <a:r>
              <a:rPr lang="it-IT" sz="2000" dirty="0"/>
              <a:t>o </a:t>
            </a:r>
            <a:r>
              <a:rPr lang="it-IT" sz="2000" u="sng" dirty="0"/>
              <a:t>fuga </a:t>
            </a:r>
            <a:r>
              <a:rPr lang="it-IT" sz="2000" dirty="0"/>
              <a:t>.</a:t>
            </a:r>
          </a:p>
          <a:p>
            <a:pPr marL="900113" indent="-179388" algn="just">
              <a:buFont typeface="Wingdings" panose="05000000000000000000" pitchFamily="2" charset="2"/>
              <a:buChar char="§"/>
            </a:pPr>
            <a:r>
              <a:rPr lang="it-IT" sz="1800" u="sng" dirty="0">
                <a:solidFill>
                  <a:srgbClr val="C00000"/>
                </a:solidFill>
              </a:rPr>
              <a:t>Impedire la consumazione di particolari reati: strage; disastro ferroviario; rapina a mano armata..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6EF1A0B-79A1-45F6-A568-17D3DB746E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7D523265-623C-49B2-A566-FCBF7092B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Uso legittimo delle armi</a:t>
            </a:r>
          </a:p>
        </p:txBody>
      </p:sp>
    </p:spTree>
    <p:extLst>
      <p:ext uri="{BB962C8B-B14F-4D97-AF65-F5344CB8AC3E}">
        <p14:creationId xmlns:p14="http://schemas.microsoft.com/office/powerpoint/2010/main" val="138297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251520" y="1006852"/>
            <a:ext cx="8503343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000" b="0" u="sng" dirty="0"/>
              <a:t>MEZZI UTILIZZABILI:</a:t>
            </a:r>
          </a:p>
          <a:p>
            <a:endParaRPr lang="it-IT" sz="2000" b="0" u="sng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2000" u="sng" dirty="0">
                <a:solidFill>
                  <a:srgbClr val="003192"/>
                </a:solidFill>
              </a:rPr>
              <a:t>ARMI</a:t>
            </a:r>
            <a:r>
              <a:rPr lang="it-IT" sz="2000" b="0" dirty="0"/>
              <a:t>: ogni strumento che abbia come destinazione sua naturale l'offesa ad un essere vivente, animale o persona che esso sia. (in tal caso non soltanto le armi da fuoco ma tutti gli strumenti di cui i pubblici ufficiali sono dotati al fine di esercitare la coazione fisica (ad esempio manganelli, gas lacrimogeni).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it-IT" sz="2000" b="0" dirty="0"/>
          </a:p>
          <a:p>
            <a:pPr algn="just"/>
            <a:r>
              <a:rPr lang="it-IT" sz="2000" b="0" dirty="0"/>
              <a:t>Perché possa applicarsi la scriminante prevista dall’art.53 </a:t>
            </a:r>
            <a:r>
              <a:rPr lang="it-IT" sz="2000" b="0" dirty="0" err="1"/>
              <a:t>cp</a:t>
            </a:r>
            <a:r>
              <a:rPr lang="it-IT" sz="2000" b="0" dirty="0"/>
              <a:t>, il ricorso all’uso delle armi deve </a:t>
            </a:r>
            <a:r>
              <a:rPr lang="it-IT" sz="2000" b="0" u="sng" dirty="0"/>
              <a:t>costituire </a:t>
            </a:r>
            <a:r>
              <a:rPr lang="it-IT" sz="2000" u="sng" dirty="0">
                <a:solidFill>
                  <a:srgbClr val="FF0000"/>
                </a:solidFill>
              </a:rPr>
              <a:t>l’</a:t>
            </a:r>
            <a:r>
              <a:rPr lang="it-IT" sz="2000" u="sng" dirty="0" err="1">
                <a:solidFill>
                  <a:srgbClr val="FF0000"/>
                </a:solidFill>
              </a:rPr>
              <a:t>extrema</a:t>
            </a:r>
            <a:r>
              <a:rPr lang="it-IT" sz="2000" u="sng" dirty="0">
                <a:solidFill>
                  <a:srgbClr val="FF0000"/>
                </a:solidFill>
              </a:rPr>
              <a:t> ratio </a:t>
            </a:r>
            <a:r>
              <a:rPr lang="it-IT" sz="2000" b="0" dirty="0"/>
              <a:t>nella scelta dei mezzi necessari per l’adempimento del dovere.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it-IT" sz="2000" u="sng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it-IT" sz="2000" u="sng" dirty="0">
                <a:solidFill>
                  <a:srgbClr val="003192"/>
                </a:solidFill>
              </a:rPr>
              <a:t>ALTRO MEZZO DI COAZIONE FISICA</a:t>
            </a:r>
            <a:r>
              <a:rPr lang="it-IT" sz="2000" b="0" dirty="0"/>
              <a:t>: ogni strumento adatto ad offendere.</a:t>
            </a:r>
          </a:p>
          <a:p>
            <a:pPr algn="just"/>
            <a:r>
              <a:rPr lang="it-IT" sz="2000" b="0" dirty="0"/>
              <a:t>Bisogna rispettare i requisiti di </a:t>
            </a:r>
            <a:r>
              <a:rPr lang="it-IT" sz="2000" u="sng" dirty="0">
                <a:solidFill>
                  <a:srgbClr val="C00000"/>
                </a:solidFill>
              </a:rPr>
              <a:t>PROPORZIONALITÀ</a:t>
            </a:r>
            <a:r>
              <a:rPr lang="it-IT" sz="2000" b="0" dirty="0"/>
              <a:t> tra l’offesa e l’uso legittimo di un’arma; tra il mezzo e il fine. </a:t>
            </a:r>
          </a:p>
          <a:p>
            <a:pPr algn="just"/>
            <a:r>
              <a:rPr lang="it-IT" sz="2000" b="0" dirty="0"/>
              <a:t>(Non è scriminato chi spara a chi sta fuggendo; è invece scriminato chi spara alle gomme dell’auto con cui i malviventi si mettono in fuga)</a:t>
            </a:r>
          </a:p>
          <a:p>
            <a:pPr algn="just"/>
            <a:endParaRPr lang="it-IT" sz="2000" b="0" dirty="0"/>
          </a:p>
          <a:p>
            <a:pPr algn="just"/>
            <a:r>
              <a:rPr lang="it-IT" sz="2000" b="0" dirty="0"/>
              <a:t>PRINCIPIO DELLA SCELTA DEL MEZZO MENO OFFENSIVO</a:t>
            </a:r>
            <a:endParaRPr lang="it-IT" sz="2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6EF1A0B-79A1-45F6-A568-17D3DB746E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40160000-CDBC-4CB8-9332-F7F6E846C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Uso legittimo delle armi</a:t>
            </a:r>
          </a:p>
        </p:txBody>
      </p:sp>
    </p:spTree>
    <p:extLst>
      <p:ext uri="{BB962C8B-B14F-4D97-AF65-F5344CB8AC3E}">
        <p14:creationId xmlns:p14="http://schemas.microsoft.com/office/powerpoint/2010/main" val="297309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/>
          <p:cNvSpPr/>
          <p:nvPr/>
        </p:nvSpPr>
        <p:spPr>
          <a:xfrm>
            <a:off x="320328" y="1124744"/>
            <a:ext cx="850334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2400" dirty="0">
                <a:solidFill>
                  <a:srgbClr val="003192"/>
                </a:solidFill>
              </a:rPr>
              <a:t>Art. 54 c.p.</a:t>
            </a:r>
            <a:r>
              <a:rPr lang="it-IT" sz="2400" dirty="0">
                <a:solidFill>
                  <a:srgbClr val="003192"/>
                </a:solidFill>
                <a:sym typeface="Wingdings" panose="05000000000000000000" pitchFamily="2" charset="2"/>
              </a:rPr>
              <a:t> «Stato di necessità»</a:t>
            </a:r>
          </a:p>
          <a:p>
            <a:endParaRPr lang="it-IT" sz="2400" b="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algn="just"/>
            <a:r>
              <a:rPr lang="it-IT" sz="2000" b="0" dirty="0"/>
              <a:t>«</a:t>
            </a:r>
            <a:r>
              <a:rPr lang="it-IT" sz="2000" b="0" i="1" dirty="0"/>
              <a:t>Non è punibile chi ha commesso il fatto per esservi stato costretto dalla necessità di </a:t>
            </a:r>
            <a:r>
              <a:rPr lang="it-IT" sz="2000" i="1" u="sng" dirty="0">
                <a:solidFill>
                  <a:srgbClr val="C00000"/>
                </a:solidFill>
              </a:rPr>
              <a:t>salvare sé od altri </a:t>
            </a:r>
            <a:r>
              <a:rPr lang="it-IT" sz="2000" b="0" i="1" dirty="0"/>
              <a:t>dal </a:t>
            </a:r>
            <a:r>
              <a:rPr lang="it-IT" sz="2000" i="1" u="sng" dirty="0">
                <a:solidFill>
                  <a:srgbClr val="C00000"/>
                </a:solidFill>
              </a:rPr>
              <a:t>pericolo attuale</a:t>
            </a:r>
            <a:r>
              <a:rPr lang="it-IT" sz="2000" b="0" i="1" dirty="0">
                <a:solidFill>
                  <a:srgbClr val="FF0000"/>
                </a:solidFill>
              </a:rPr>
              <a:t> </a:t>
            </a:r>
            <a:r>
              <a:rPr lang="it-IT" sz="2000" b="0" i="1" dirty="0"/>
              <a:t>di </a:t>
            </a:r>
            <a:r>
              <a:rPr lang="it-IT" sz="2000" i="1" u="sng" dirty="0">
                <a:solidFill>
                  <a:srgbClr val="C00000"/>
                </a:solidFill>
              </a:rPr>
              <a:t>un danno grave alla persona</a:t>
            </a:r>
            <a:r>
              <a:rPr lang="it-IT" sz="2000" b="0" i="1" dirty="0"/>
              <a:t>, pericolo da lui </a:t>
            </a:r>
            <a:r>
              <a:rPr lang="it-IT" sz="2000" i="1" u="sng" dirty="0">
                <a:solidFill>
                  <a:srgbClr val="C00000"/>
                </a:solidFill>
              </a:rPr>
              <a:t>non volontariamente causato</a:t>
            </a:r>
            <a:r>
              <a:rPr lang="it-IT" sz="2000" b="0" i="1" dirty="0"/>
              <a:t>, né altrimenti evitabile, sempre che il fatto sia </a:t>
            </a:r>
            <a:r>
              <a:rPr lang="it-IT" sz="2000" i="1" u="sng" dirty="0">
                <a:solidFill>
                  <a:srgbClr val="C00000"/>
                </a:solidFill>
              </a:rPr>
              <a:t>proporzionato</a:t>
            </a:r>
            <a:r>
              <a:rPr lang="it-IT" sz="2000" b="0" i="1" dirty="0"/>
              <a:t> al pericolo. </a:t>
            </a:r>
          </a:p>
          <a:p>
            <a:pPr algn="just"/>
            <a:endParaRPr lang="it-IT" sz="2000" b="0" i="1" dirty="0"/>
          </a:p>
          <a:p>
            <a:pPr algn="just"/>
            <a:r>
              <a:rPr lang="it-IT" sz="2000" b="0" i="1" dirty="0">
                <a:highlight>
                  <a:srgbClr val="FFFF00"/>
                </a:highlight>
              </a:rPr>
              <a:t>Questa disposizione non si applica a chi ha un particolare dovere giuridico di esporsi al pericolo. ( es. vigili del fuoco)</a:t>
            </a:r>
          </a:p>
          <a:p>
            <a:pPr algn="just"/>
            <a:endParaRPr lang="it-IT" sz="2000" b="0" i="1" dirty="0"/>
          </a:p>
          <a:p>
            <a:pPr algn="just"/>
            <a:endParaRPr lang="it-IT" sz="2000" b="0" i="1" dirty="0"/>
          </a:p>
          <a:p>
            <a:pPr algn="just"/>
            <a:r>
              <a:rPr lang="it-IT" sz="2400" b="0" i="1" dirty="0"/>
              <a:t>La disposizione della prima parte di questo articolo si applica anche se lo </a:t>
            </a:r>
            <a:r>
              <a:rPr lang="it-IT" sz="2400" b="0" i="1" u="sng" dirty="0"/>
              <a:t>stato di necessità è determinato dall'altrui minaccia; </a:t>
            </a:r>
            <a:r>
              <a:rPr lang="it-IT" sz="2400" b="0" i="1" u="sng" dirty="0">
                <a:solidFill>
                  <a:srgbClr val="7030A0"/>
                </a:solidFill>
              </a:rPr>
              <a:t>ma, in tal caso, del fatto commesso dalla persona minacciata risponde chi l'ha costretta a commetterlo</a:t>
            </a:r>
            <a:r>
              <a:rPr lang="it-IT" sz="2400" b="0" dirty="0"/>
              <a:t>». </a:t>
            </a:r>
          </a:p>
        </p:txBody>
      </p:sp>
      <p:sp>
        <p:nvSpPr>
          <p:cNvPr id="3" name="Ovale 2"/>
          <p:cNvSpPr/>
          <p:nvPr/>
        </p:nvSpPr>
        <p:spPr bwMode="auto">
          <a:xfrm>
            <a:off x="2483768" y="3356992"/>
            <a:ext cx="576064" cy="47106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4214645-9178-4509-8F8A-292D7FD4B1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9D281E4A-B296-4FB9-8712-809B4D9EE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Stato di necessità</a:t>
            </a:r>
          </a:p>
        </p:txBody>
      </p:sp>
    </p:spTree>
    <p:extLst>
      <p:ext uri="{BB962C8B-B14F-4D97-AF65-F5344CB8AC3E}">
        <p14:creationId xmlns:p14="http://schemas.microsoft.com/office/powerpoint/2010/main" val="160624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/>
          <p:nvPr/>
        </p:nvSpPr>
        <p:spPr>
          <a:xfrm>
            <a:off x="317127" y="1052736"/>
            <a:ext cx="8503343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2200" b="0" u="sng" dirty="0">
                <a:latin typeface="Book Antiqua" panose="02040602050305030304" pitchFamily="18" charset="0"/>
              </a:rPr>
              <a:t>L’aggressione scriminata è perpetrata contro un </a:t>
            </a:r>
            <a:r>
              <a:rPr lang="it-IT" sz="2200" u="sng" dirty="0">
                <a:solidFill>
                  <a:srgbClr val="C00000"/>
                </a:solidFill>
                <a:latin typeface="Book Antiqua" panose="02040602050305030304" pitchFamily="18" charset="0"/>
              </a:rPr>
              <a:t>TERZO INNOCENTE </a:t>
            </a:r>
            <a:r>
              <a:rPr lang="it-IT" sz="2200" b="0" u="sng" dirty="0">
                <a:latin typeface="Book Antiqua" panose="02040602050305030304" pitchFamily="18" charset="0"/>
              </a:rPr>
              <a:t>e non contro l’originaria fonte della minaccia, come nel caso della legittima difesa. </a:t>
            </a:r>
          </a:p>
          <a:p>
            <a:pPr algn="just"/>
            <a:r>
              <a:rPr lang="it-IT" sz="2200" b="0" dirty="0">
                <a:latin typeface="Book Antiqua" panose="02040602050305030304" pitchFamily="18" charset="0"/>
              </a:rPr>
              <a:t>(</a:t>
            </a:r>
            <a:r>
              <a:rPr lang="it-IT" sz="2200" i="1" dirty="0">
                <a:latin typeface="Book Antiqua" panose="02040602050305030304" pitchFamily="18" charset="0"/>
              </a:rPr>
              <a:t>es</a:t>
            </a:r>
            <a:r>
              <a:rPr lang="it-IT" sz="2200" b="0" i="1" dirty="0">
                <a:latin typeface="Book Antiqua" panose="02040602050305030304" pitchFamily="18" charset="0"/>
              </a:rPr>
              <a:t>. il naufrago che, per salvare se stesso, respinge in mare un compagno che si è aggrappato alla stessa zattera, capace però di sostenere solo una persona  </a:t>
            </a:r>
            <a:r>
              <a:rPr lang="it-IT" sz="2000" b="0" i="1" dirty="0">
                <a:latin typeface="Book Antiqua" panose="02040602050305030304" pitchFamily="18" charset="0"/>
              </a:rPr>
              <a:t>….. </a:t>
            </a:r>
          </a:p>
          <a:p>
            <a:pPr algn="just"/>
            <a:r>
              <a:rPr lang="it-IT" sz="2000" b="0" i="1" dirty="0">
                <a:latin typeface="Book Antiqua" panose="02040602050305030304" pitchFamily="18" charset="0"/>
              </a:rPr>
              <a:t>Oppure  </a:t>
            </a:r>
            <a:r>
              <a:rPr lang="it-IT" sz="2000" b="0" i="1" dirty="0">
                <a:latin typeface="Book Antiqua" panose="02040602050305030304" pitchFamily="18" charset="0"/>
                <a:cs typeface="Times New Roman" panose="02020603050405020304" pitchFamily="18" charset="0"/>
              </a:rPr>
              <a:t>l’alpinista che taglia la corda del compagno che ha perso la presa e che rischia di trascinarlo con sé)</a:t>
            </a:r>
          </a:p>
          <a:p>
            <a:pPr marL="342900" indent="-342900" algn="just">
              <a:buFont typeface="Courier New" panose="02070309020205020404" pitchFamily="49" charset="0"/>
              <a:buChar char="o"/>
            </a:pPr>
            <a:endParaRPr lang="it-IT" sz="2200" b="0" dirty="0">
              <a:latin typeface="Book Antiqua" panose="02040602050305030304" pitchFamily="18" charset="0"/>
            </a:endParaRPr>
          </a:p>
        </p:txBody>
      </p:sp>
      <p:sp>
        <p:nvSpPr>
          <p:cNvPr id="9" name="Freccia in giù 8"/>
          <p:cNvSpPr/>
          <p:nvPr/>
        </p:nvSpPr>
        <p:spPr bwMode="auto">
          <a:xfrm>
            <a:off x="4370484" y="3467869"/>
            <a:ext cx="396626" cy="630822"/>
          </a:xfrm>
          <a:prstGeom prst="downArrow">
            <a:avLst/>
          </a:prstGeom>
          <a:solidFill>
            <a:srgbClr val="FF000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1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7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473319" y="4149080"/>
            <a:ext cx="81909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200" dirty="0">
                <a:solidFill>
                  <a:srgbClr val="002F8E"/>
                </a:solidFill>
                <a:latin typeface="Book Antiqua" panose="02040602050305030304" pitchFamily="18" charset="0"/>
              </a:rPr>
              <a:t>Segue corresponsione di un equo indennizzo </a:t>
            </a:r>
            <a:r>
              <a:rPr lang="it-IT" sz="2200" b="0" dirty="0">
                <a:latin typeface="Book Antiqua" panose="02040602050305030304" pitchFamily="18" charset="0"/>
              </a:rPr>
              <a:t>(NO risarcimento vero e proprio in quanto l’azione non è illecita, perché scriminata)</a:t>
            </a:r>
          </a:p>
          <a:p>
            <a:pPr algn="just"/>
            <a:endParaRPr lang="it-IT" sz="2200" b="0" dirty="0">
              <a:latin typeface="Book Antiqua" panose="02040602050305030304" pitchFamily="18" charset="0"/>
            </a:endParaRPr>
          </a:p>
          <a:p>
            <a:endParaRPr lang="it-IT" sz="220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3F713B8-97E2-40E8-9D92-75F2134909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E9572AF4-0908-4ED4-8318-838252EFE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Stato di necessità</a:t>
            </a:r>
          </a:p>
        </p:txBody>
      </p:sp>
    </p:spTree>
    <p:extLst>
      <p:ext uri="{BB962C8B-B14F-4D97-AF65-F5344CB8AC3E}">
        <p14:creationId xmlns:p14="http://schemas.microsoft.com/office/powerpoint/2010/main" val="115811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/>
          <p:cNvSpPr/>
          <p:nvPr/>
        </p:nvSpPr>
        <p:spPr>
          <a:xfrm>
            <a:off x="356493" y="1124744"/>
            <a:ext cx="8431013" cy="42480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it-IT" sz="2200" b="0" dirty="0"/>
              <a:t>PRESUPPOSTI riguardanti la </a:t>
            </a:r>
            <a:r>
              <a:rPr lang="it-IT" sz="2200" dirty="0">
                <a:solidFill>
                  <a:srgbClr val="003192"/>
                </a:solidFill>
              </a:rPr>
              <a:t>SITUAZIONE DI PERICOLO</a:t>
            </a:r>
            <a:r>
              <a:rPr lang="it-IT" sz="2200" b="0" dirty="0"/>
              <a:t>:</a:t>
            </a:r>
          </a:p>
          <a:p>
            <a:pPr algn="just">
              <a:lnSpc>
                <a:spcPct val="114000"/>
              </a:lnSpc>
            </a:pPr>
            <a:endParaRPr lang="it-IT" sz="800" b="0" dirty="0"/>
          </a:p>
          <a:p>
            <a:pPr marL="342900" lvl="0" indent="-34290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attuale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, ossia sussistente al momento del fatto, il che non comporta necessariamente che il danno sia incombente, ma è sufficiente che sia </a:t>
            </a:r>
            <a:r>
              <a:rPr lang="it-IT" sz="2400" u="sng" dirty="0">
                <a:ea typeface="Calibri" panose="020F0502020204030204" pitchFamily="34" charset="0"/>
                <a:cs typeface="Times New Roman" panose="02020603050405020304" pitchFamily="18" charset="0"/>
              </a:rPr>
              <a:t>probabile che si verifichi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lvl="0" algn="just">
              <a:lnSpc>
                <a:spcPct val="114000"/>
              </a:lnSpc>
              <a:spcAft>
                <a:spcPts val="0"/>
              </a:spcAft>
            </a:pPr>
            <a:endParaRPr lang="it-IT" sz="8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idonea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 a minacciare un </a:t>
            </a:r>
            <a:r>
              <a:rPr lang="it-IT" sz="2400" u="sng" dirty="0">
                <a:ea typeface="Calibri" panose="020F0502020204030204" pitchFamily="34" charset="0"/>
                <a:cs typeface="Times New Roman" panose="02020603050405020304" pitchFamily="18" charset="0"/>
              </a:rPr>
              <a:t>danno grave alla persona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, ossia alla vita, all’integrità fisica, alla libertà personale, alla libertà sessuale;</a:t>
            </a:r>
          </a:p>
          <a:p>
            <a:pPr lvl="0" algn="just">
              <a:lnSpc>
                <a:spcPct val="114000"/>
              </a:lnSpc>
              <a:spcAft>
                <a:spcPts val="0"/>
              </a:spcAft>
            </a:pPr>
            <a:endParaRPr lang="it-IT" sz="8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 causata </a:t>
            </a: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volontariamente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 dall’agente e se l’agente non abbia un particolare dovere di soccorso o di esporsi al pericolo.</a:t>
            </a:r>
            <a:endParaRPr lang="it-IT" sz="20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3DDA293-6806-4D8C-9BB2-C2B81F0AF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316D44CC-E0A1-4C7D-8AD4-DF0956A22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Stato di necessità</a:t>
            </a:r>
          </a:p>
        </p:txBody>
      </p:sp>
    </p:spTree>
    <p:extLst>
      <p:ext uri="{BB962C8B-B14F-4D97-AF65-F5344CB8AC3E}">
        <p14:creationId xmlns:p14="http://schemas.microsoft.com/office/powerpoint/2010/main" val="1573770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/>
          <p:cNvSpPr/>
          <p:nvPr/>
        </p:nvSpPr>
        <p:spPr>
          <a:xfrm>
            <a:off x="356493" y="1308112"/>
            <a:ext cx="8431013" cy="298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it-IT" sz="2200" b="0" dirty="0"/>
              <a:t>PRESUPPOSTI riguardanti l’</a:t>
            </a:r>
            <a:r>
              <a:rPr lang="it-IT" sz="2200" dirty="0">
                <a:solidFill>
                  <a:srgbClr val="003192"/>
                </a:solidFill>
              </a:rPr>
              <a:t>AZIONE LESIVA</a:t>
            </a:r>
            <a:r>
              <a:rPr lang="it-IT" sz="2200" b="0" dirty="0"/>
              <a:t>:</a:t>
            </a:r>
          </a:p>
          <a:p>
            <a:pPr algn="just">
              <a:lnSpc>
                <a:spcPct val="114000"/>
              </a:lnSpc>
            </a:pPr>
            <a:endParaRPr lang="it-IT" sz="800" b="0" dirty="0"/>
          </a:p>
          <a:p>
            <a:pPr marL="342900" lvl="0" indent="-34290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Costretta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: agire o subire il danno = inevitabile</a:t>
            </a:r>
          </a:p>
          <a:p>
            <a:pPr lvl="0" algn="just">
              <a:lnSpc>
                <a:spcPct val="114000"/>
              </a:lnSpc>
              <a:spcAft>
                <a:spcPts val="0"/>
              </a:spcAft>
            </a:pPr>
            <a:endParaRPr lang="it-IT" sz="8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Assolutamente necessaria per salvarsi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: non vi era altro modo se non ledere il diritto di un terzo.</a:t>
            </a:r>
          </a:p>
          <a:p>
            <a:pPr lvl="0" algn="just">
              <a:lnSpc>
                <a:spcPct val="114000"/>
              </a:lnSpc>
              <a:spcAft>
                <a:spcPts val="0"/>
              </a:spcAft>
            </a:pPr>
            <a:endParaRPr lang="it-IT" sz="8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it-IT" sz="2400" u="sng" dirty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Proporzionata al pericolo</a:t>
            </a:r>
            <a:r>
              <a:rPr lang="it-IT" sz="2400" b="0" dirty="0">
                <a:ea typeface="Calibri" panose="020F0502020204030204" pitchFamily="34" charset="0"/>
                <a:cs typeface="Times New Roman" panose="02020603050405020304" pitchFamily="18" charset="0"/>
              </a:rPr>
              <a:t> in quanto il danno recato potrà essere solo minore o equivalente, mai maggiore.</a:t>
            </a:r>
            <a:endParaRPr lang="it-IT" sz="2000" b="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3DDA293-6806-4D8C-9BB2-C2B81F0AF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0F2A344B-A1DB-422F-B685-B87FE358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Stato di necessità</a:t>
            </a:r>
          </a:p>
        </p:txBody>
      </p:sp>
    </p:spTree>
    <p:extLst>
      <p:ext uri="{BB962C8B-B14F-4D97-AF65-F5344CB8AC3E}">
        <p14:creationId xmlns:p14="http://schemas.microsoft.com/office/powerpoint/2010/main" val="766992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C3DDA293-6806-4D8C-9BB2-C2B81F0AF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6E8EF7AA-F7BC-41D6-8799-93B4CF602F76}"/>
              </a:ext>
            </a:extLst>
          </p:cNvPr>
          <p:cNvSpPr/>
          <p:nvPr/>
        </p:nvSpPr>
        <p:spPr>
          <a:xfrm>
            <a:off x="395536" y="1052736"/>
            <a:ext cx="8568952" cy="8854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it-IT" sz="24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DIFFERENZE CON LA LEGITTIMA DIFESA: requisiti più restrittivi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it-IT" sz="2400" b="0" dirty="0"/>
              <a:t>La scriminante dello stato di necessità presenta molte affinità con quella della legittima difesa, </a:t>
            </a:r>
            <a:r>
              <a:rPr lang="it-IT" sz="2400" b="0" u="sng" dirty="0">
                <a:solidFill>
                  <a:srgbClr val="FF0000"/>
                </a:solidFill>
              </a:rPr>
              <a:t>ma se ne differenzia per alcuni aspetti:</a:t>
            </a:r>
          </a:p>
          <a:p>
            <a:endParaRPr lang="it-IT" sz="2400" b="0" u="sng" dirty="0">
              <a:solidFill>
                <a:srgbClr val="FF0000"/>
              </a:solidFill>
            </a:endParaRPr>
          </a:p>
          <a:p>
            <a:r>
              <a:rPr lang="it-IT" sz="2400" b="0" dirty="0"/>
              <a:t>- </a:t>
            </a:r>
            <a:r>
              <a:rPr lang="it-IT" sz="2400" b="0" i="1" dirty="0"/>
              <a:t>qui non viene leso il diritto dell'aggressore, ma di un estraneo del tutto innocente al fatto;</a:t>
            </a:r>
          </a:p>
          <a:p>
            <a:endParaRPr lang="it-IT" sz="2400" b="0" i="1" dirty="0"/>
          </a:p>
          <a:p>
            <a:r>
              <a:rPr lang="it-IT" sz="2400" b="0" i="1" dirty="0"/>
              <a:t>- lo stato di necessità è invocabile non per difendere qualunque diritto ma solo in caso di “danno grave alla persona”;</a:t>
            </a:r>
          </a:p>
          <a:p>
            <a:endParaRPr lang="it-IT" sz="2400" b="0" i="1" dirty="0"/>
          </a:p>
          <a:p>
            <a:r>
              <a:rPr lang="it-IT" sz="2400" b="0" i="1" dirty="0"/>
              <a:t>- il soggetto pregiudicato ha diritto a un equo indennizzo.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i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endParaRPr lang="it-IT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D8F4905-A0C8-463F-8E7C-201E441BB7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Stato di necessità</a:t>
            </a:r>
          </a:p>
        </p:txBody>
      </p:sp>
    </p:spTree>
    <p:extLst>
      <p:ext uri="{BB962C8B-B14F-4D97-AF65-F5344CB8AC3E}">
        <p14:creationId xmlns:p14="http://schemas.microsoft.com/office/powerpoint/2010/main" val="165295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136850" y="836712"/>
            <a:ext cx="8899646" cy="4739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800" dirty="0">
                <a:solidFill>
                  <a:srgbClr val="003192"/>
                </a:solidFill>
              </a:rPr>
              <a:t>Art. 55 c.p.</a:t>
            </a:r>
            <a:r>
              <a:rPr lang="it-IT" sz="2800" dirty="0">
                <a:solidFill>
                  <a:srgbClr val="003192"/>
                </a:solidFill>
                <a:sym typeface="Wingdings" panose="05000000000000000000" pitchFamily="2" charset="2"/>
              </a:rPr>
              <a:t> «Eccesso colposo»</a:t>
            </a:r>
            <a:br>
              <a:rPr lang="it-IT" sz="2200" b="0" dirty="0">
                <a:solidFill>
                  <a:srgbClr val="003192"/>
                </a:solidFill>
              </a:rPr>
            </a:br>
            <a:r>
              <a:rPr lang="it-IT" sz="800" b="0" dirty="0">
                <a:solidFill>
                  <a:srgbClr val="003192"/>
                </a:solidFill>
              </a:rPr>
              <a:t> </a:t>
            </a:r>
            <a:endParaRPr lang="it-IT" sz="2200" b="0" dirty="0">
              <a:solidFill>
                <a:srgbClr val="003192"/>
              </a:solidFill>
            </a:endParaRPr>
          </a:p>
          <a:p>
            <a:pPr algn="just">
              <a:spcAft>
                <a:spcPts val="0"/>
              </a:spcAft>
            </a:pPr>
            <a:r>
              <a:rPr lang="it-IT" sz="2200" b="0" i="1" dirty="0">
                <a:cs typeface="Times New Roman" panose="02020603050405020304" pitchFamily="18" charset="0"/>
              </a:rPr>
              <a:t>«</a:t>
            </a:r>
            <a:r>
              <a:rPr lang="it-IT" sz="2400" b="0" i="1" dirty="0">
                <a:cs typeface="Times New Roman" panose="02020603050405020304" pitchFamily="18" charset="0"/>
              </a:rPr>
              <a:t>Quando, nel commettere alcuno dei fatti preveduti dagli artt. 51, 52, 53 e 54, si </a:t>
            </a:r>
            <a:r>
              <a:rPr lang="it-IT" sz="2400" i="1" dirty="0">
                <a:solidFill>
                  <a:srgbClr val="C00000"/>
                </a:solidFill>
                <a:cs typeface="Times New Roman" panose="02020603050405020304" pitchFamily="18" charset="0"/>
              </a:rPr>
              <a:t>eccedono colposamente </a:t>
            </a:r>
            <a:r>
              <a:rPr lang="it-IT" sz="2400" b="0" i="1" dirty="0">
                <a:cs typeface="Times New Roman" panose="02020603050405020304" pitchFamily="18" charset="0"/>
              </a:rPr>
              <a:t>i limiti stabiliti dalla legge o dall'ordine dell'autorità ovvero imposti dalla necessità, si applicano le disposizioni concernenti i delitti colposi, </a:t>
            </a:r>
            <a:r>
              <a:rPr lang="it-IT" sz="2400" i="1" dirty="0">
                <a:solidFill>
                  <a:srgbClr val="002F8E"/>
                </a:solidFill>
                <a:cs typeface="Times New Roman" panose="02020603050405020304" pitchFamily="18" charset="0"/>
              </a:rPr>
              <a:t>se il fatto è preveduto dalla legge come delitto colposo.</a:t>
            </a:r>
            <a:r>
              <a:rPr lang="it-IT" sz="2400" b="0" i="1" dirty="0">
                <a:cs typeface="Times New Roman" panose="02020603050405020304" pitchFamily="18" charset="0"/>
              </a:rPr>
              <a:t>»</a:t>
            </a:r>
          </a:p>
          <a:p>
            <a:pPr algn="just">
              <a:spcAft>
                <a:spcPts val="0"/>
              </a:spcAft>
            </a:pPr>
            <a:endParaRPr lang="it-IT" sz="2200" b="0" i="1" dirty="0"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it-IT" sz="2200" b="0" i="1" dirty="0"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it-IT" sz="2200" b="0" i="1" dirty="0">
              <a:cs typeface="Times New Roman" panose="02020603050405020304" pitchFamily="18" charset="0"/>
            </a:endParaRPr>
          </a:p>
          <a:p>
            <a:pPr algn="just"/>
            <a:r>
              <a:rPr lang="it-IT" sz="2400" b="0" dirty="0"/>
              <a:t>Si parla di eccesso colposo quando sussistono i presupposti di fatto di una causa di giustificazione, ma l’agente </a:t>
            </a:r>
            <a:r>
              <a:rPr lang="it-IT" sz="2400" u="sng" dirty="0">
                <a:solidFill>
                  <a:srgbClr val="C00000"/>
                </a:solidFill>
              </a:rPr>
              <a:t>per colpa ne travalica i limiti</a:t>
            </a:r>
            <a:r>
              <a:rPr lang="it-IT" sz="2400" b="0" dirty="0"/>
              <a:t>. </a:t>
            </a:r>
          </a:p>
          <a:p>
            <a:pPr algn="just"/>
            <a:endParaRPr lang="it-IT" sz="800" b="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FA30FA7-910E-4B98-AC91-DA9FE870DB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7AEC2A49-06C3-407A-B239-47892A28B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5" y="130395"/>
            <a:ext cx="8179566" cy="582453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</p:spPr>
        <p:txBody>
          <a:bodyPr wrap="square" lIns="89141" tIns="44570" rIns="89141" bIns="44570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145000"/>
              </a:lnSpc>
              <a:spcBef>
                <a:spcPct val="10000"/>
              </a:spcBef>
              <a:spcAft>
                <a:spcPct val="30000"/>
              </a:spcAft>
              <a:defRPr sz="1600" b="1">
                <a:solidFill>
                  <a:srgbClr val="FFFFFF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it-IT" sz="3200" b="0" dirty="0">
                <a:solidFill>
                  <a:schemeClr val="bg1"/>
                </a:solidFill>
                <a:latin typeface="Book Antiqua" panose="02040602050305030304" pitchFamily="18" charset="0"/>
                <a:cs typeface="+mn-cs"/>
              </a:rPr>
              <a:t>Eccesso colposo</a:t>
            </a:r>
          </a:p>
        </p:txBody>
      </p:sp>
    </p:spTree>
    <p:extLst>
      <p:ext uri="{BB962C8B-B14F-4D97-AF65-F5344CB8AC3E}">
        <p14:creationId xmlns:p14="http://schemas.microsoft.com/office/powerpoint/2010/main" val="158020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414CDD-5137-48B8-A37A-7F74C659B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it-IT" dirty="0"/>
              <a:t>La volontà dell’agente deve essere sempre tesa a realizzare quel fine che nella situazione concreta giustificherebbe il comportamento, ma che per un errore sull’uso dei mezzi o sull’estensione dei limiti della situazione ingenera un comportamento sproporzionato rispetto a quello che sarebbe stato sufficiente produrre.</a:t>
            </a:r>
          </a:p>
          <a:p>
            <a:pPr marL="0" indent="0" algn="just">
              <a:buNone/>
            </a:pPr>
            <a:r>
              <a:rPr lang="it-IT" sz="1900" dirty="0">
                <a:solidFill>
                  <a:schemeClr val="tx2"/>
                </a:solidFill>
              </a:rPr>
              <a:t>(</a:t>
            </a:r>
            <a:r>
              <a:rPr lang="it-IT" i="1" u="sng" dirty="0">
                <a:solidFill>
                  <a:schemeClr val="tx2"/>
                </a:solidFill>
              </a:rPr>
              <a:t>es. </a:t>
            </a:r>
            <a:r>
              <a:rPr lang="it-IT" sz="2100" i="1" u="sng" dirty="0">
                <a:solidFill>
                  <a:schemeClr val="tx2"/>
                </a:solidFill>
              </a:rPr>
              <a:t>Tizio, difendendosi contro Caio che lo sta percuotendo con un frustino, scambiando erroneamente il frustino per un’arma da punta, reagisce con una pugnalata e uccide </a:t>
            </a:r>
            <a:r>
              <a:rPr lang="it-IT" sz="2100" i="1" u="sng" dirty="0">
                <a:solidFill>
                  <a:schemeClr val="tx2"/>
                </a:solidFill>
                <a:cs typeface="Times New Roman" panose="02020603050405020304" pitchFamily="18" charset="0"/>
              </a:rPr>
              <a:t>l’aggressore</a:t>
            </a:r>
            <a:r>
              <a:rPr lang="it-IT" sz="2100" u="sng" dirty="0">
                <a:solidFill>
                  <a:schemeClr val="tx2"/>
                </a:solidFill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None/>
            </a:pPr>
            <a:r>
              <a:rPr lang="it-IT" sz="2800" dirty="0">
                <a:cs typeface="Times New Roman" panose="02020603050405020304" pitchFamily="18" charset="0"/>
              </a:rPr>
              <a:t>Quindi a causa di un errore di valutazione fa uso di mezzi eccessivi di difesa in rapporto all’entità del pericolo</a:t>
            </a:r>
          </a:p>
          <a:p>
            <a:pPr algn="just"/>
            <a:endParaRPr lang="it-IT" sz="2100" dirty="0">
              <a:cs typeface="Times New Roman" panose="02020603050405020304" pitchFamily="18" charset="0"/>
            </a:endParaRPr>
          </a:p>
          <a:p>
            <a:pPr algn="just"/>
            <a:r>
              <a:rPr lang="it-IT" sz="3300" dirty="0">
                <a:cs typeface="Times New Roman" panose="02020603050405020304" pitchFamily="18" charset="0"/>
              </a:rPr>
              <a:t>Esclude pertanto </a:t>
            </a:r>
            <a:r>
              <a:rPr lang="it-IT" dirty="0">
                <a:cs typeface="Times New Roman" panose="02020603050405020304" pitchFamily="18" charset="0"/>
              </a:rPr>
              <a:t>il dolo, e fonda, ove previsto dalla legge una responsabilità per colpa.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058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FC04D8-9345-4EBA-BC69-2E164992A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Sintesi, le </a:t>
            </a:r>
            <a:r>
              <a:rPr lang="it-IT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condizioni per l’applicazione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dell’art.55 c.p. </a:t>
            </a:r>
            <a:r>
              <a:rPr lang="it-IT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sono tre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L’attività è iniziata in 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presenza di una causa di giustificazione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prevista dagli artt. 51, 52, 53 e 54 c.p.;</a:t>
            </a:r>
          </a:p>
          <a:p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colpa 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negligenza, imprudenza, imperizia ecc.. ) si presenta un superamento dei limiti dell’agire consentito dalla causa di giustificazione;</a:t>
            </a:r>
          </a:p>
          <a:p>
            <a:endParaRPr lang="it-IT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reato concretamente commesso è </a:t>
            </a:r>
            <a:r>
              <a:rPr lang="it-IT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perseguibile a titolo di colpa.</a:t>
            </a:r>
          </a:p>
        </p:txBody>
      </p:sp>
    </p:spTree>
    <p:extLst>
      <p:ext uri="{BB962C8B-B14F-4D97-AF65-F5344CB8AC3E}">
        <p14:creationId xmlns:p14="http://schemas.microsoft.com/office/powerpoint/2010/main" val="2208681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411760" y="980728"/>
            <a:ext cx="4717504" cy="12961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endParaRPr lang="it-IT" dirty="0">
              <a:latin typeface="Book Antiqua" panose="02040602050305030304" pitchFamily="18" charset="0"/>
            </a:endParaRPr>
          </a:p>
          <a:p>
            <a:pPr marL="0" indent="0" algn="ctr">
              <a:buNone/>
            </a:pPr>
            <a:r>
              <a:rPr lang="it-IT" sz="5400" b="1" dirty="0">
                <a:solidFill>
                  <a:srgbClr val="002F8E"/>
                </a:solidFill>
                <a:latin typeface="Book Antiqua" panose="02040602050305030304" pitchFamily="18" charset="0"/>
              </a:rPr>
              <a:t>DOMANDE?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566" y="3916716"/>
            <a:ext cx="4879268" cy="2439634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BAF25B5-6735-41A5-981C-7BD9CC1A79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44" b="95082" l="9717" r="89879">
                        <a14:foregroundMark x1="36032" y1="67916" x2="36032" y2="67916"/>
                        <a14:foregroundMark x1="66397" y1="73536" x2="66397" y2="73536"/>
                        <a14:foregroundMark x1="46964" y1="95316" x2="46964" y2="95316"/>
                        <a14:foregroundMark x1="62753" y1="69321" x2="62753" y2="69321"/>
                        <a14:foregroundMark x1="32389" y1="54801" x2="32389" y2="54801"/>
                        <a14:foregroundMark x1="32389" y1="52693" x2="32389" y2="52693"/>
                        <a14:foregroundMark x1="29555" y1="49883" x2="29555" y2="49883"/>
                        <a14:foregroundMark x1="29555" y1="48712" x2="29555" y2="48712"/>
                        <a14:foregroundMark x1="38057" y1="57845" x2="38057" y2="57845"/>
                        <a14:foregroundMark x1="35628" y1="54098" x2="35628" y2="54098"/>
                        <a14:foregroundMark x1="48178" y1="14286" x2="48178" y2="14286"/>
                        <a14:foregroundMark x1="50202" y1="3044" x2="50202" y2="3044"/>
                        <a14:foregroundMark x1="50607" y1="61124" x2="50607" y2="61124"/>
                        <a14:foregroundMark x1="50607" y1="52693" x2="50607" y2="52693"/>
                        <a14:foregroundMark x1="50607" y1="52693" x2="50607" y2="52693"/>
                        <a14:foregroundMark x1="50607" y1="52693" x2="50607" y2="52693"/>
                        <a14:foregroundMark x1="50607" y1="52693" x2="50607" y2="786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0" y="67099"/>
            <a:ext cx="435671" cy="7531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331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Personalizza struttura">
  <a:themeElements>
    <a:clrScheme name="1_Personalizza struttur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Personalizza struttu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7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1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7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Personalizza struttur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za struttur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za struttur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za struttur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za struttur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ersonalizza struttur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ersonalizza struttur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fondo istituziona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>
          <a:noFill/>
          <a:miter lim="800000"/>
          <a:headEnd/>
          <a:tailEnd/>
        </a:ln>
      </a:spPr>
      <a:bodyPr wrap="square" lIns="84345" tIns="42171" rIns="84345" bIns="42171">
        <a:spAutoFit/>
      </a:bodyPr>
      <a:lstStyle>
        <a:defPPr>
          <a:defRPr sz="3000" b="0" dirty="0">
            <a:solidFill>
              <a:schemeClr val="bg1"/>
            </a:solidFill>
          </a:defRPr>
        </a:defPPr>
      </a:lstStyle>
    </a:sp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14694</TotalTime>
  <Words>3189</Words>
  <Application>Microsoft Office PowerPoint</Application>
  <PresentationFormat>Presentazione su schermo (4:3)</PresentationFormat>
  <Paragraphs>282</Paragraphs>
  <Slides>29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29</vt:i4>
      </vt:variant>
    </vt:vector>
  </HeadingPairs>
  <TitlesOfParts>
    <vt:vector size="40" baseType="lpstr">
      <vt:lpstr>MS PGothic</vt:lpstr>
      <vt:lpstr>MS PGothic</vt:lpstr>
      <vt:lpstr>Arial</vt:lpstr>
      <vt:lpstr>Book Antiqua</vt:lpstr>
      <vt:lpstr>Calibri</vt:lpstr>
      <vt:lpstr>Cambria Math</vt:lpstr>
      <vt:lpstr>Courier New</vt:lpstr>
      <vt:lpstr>Times New Roman</vt:lpstr>
      <vt:lpstr>Wingdings</vt:lpstr>
      <vt:lpstr>1_Personalizza struttura</vt:lpstr>
      <vt:lpstr>Sfondo istituzionale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Le cause di esclusione del reato: generalità </vt:lpstr>
      <vt:lpstr>Presentazione standard di PowerPoint</vt:lpstr>
      <vt:lpstr>Consenso dell’avente diritto  (art.50 c.p.)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Quando opera la legittima difesa?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SF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fazzinos</dc:creator>
  <cp:lastModifiedBy>Boccardo Alessandro (Ten.)</cp:lastModifiedBy>
  <cp:revision>1139</cp:revision>
  <cp:lastPrinted>2019-02-18T13:33:32Z</cp:lastPrinted>
  <dcterms:created xsi:type="dcterms:W3CDTF">2003-08-26T08:17:08Z</dcterms:created>
  <dcterms:modified xsi:type="dcterms:W3CDTF">2024-08-01T16:05:09Z</dcterms:modified>
</cp:coreProperties>
</file>