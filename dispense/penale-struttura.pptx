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700" b="1" i="0" u="none" strike="noStrike" cap="none" spc="0" normalizeH="0" baseline="0">
        <a:ln>
          <a:noFill/>
        </a:ln>
        <a:solidFill>
          <a:srgbClr val="000000"/>
        </a:solidFill>
        <a:effectLst/>
        <a:uFillTx/>
        <a:latin typeface="+mn-lt"/>
        <a:ea typeface="+mn-ea"/>
        <a:cs typeface="+mn-cs"/>
        <a:sym typeface="Helvetica"/>
      </a:defRPr>
    </a:lvl1pPr>
    <a:lvl2pPr marL="0" marR="0" indent="0" algn="l" defTabSz="914400" rtl="0" fontAlgn="auto" latinLnBrk="0" hangingPunct="0">
      <a:lnSpc>
        <a:spcPct val="100000"/>
      </a:lnSpc>
      <a:spcBef>
        <a:spcPts val="0"/>
      </a:spcBef>
      <a:spcAft>
        <a:spcPts val="0"/>
      </a:spcAft>
      <a:buClrTx/>
      <a:buSzTx/>
      <a:buFontTx/>
      <a:buNone/>
      <a:tabLst/>
      <a:defRPr kumimoji="0" sz="700" b="1" i="0" u="none" strike="noStrike" cap="none" spc="0" normalizeH="0" baseline="0">
        <a:ln>
          <a:noFill/>
        </a:ln>
        <a:solidFill>
          <a:srgbClr val="000000"/>
        </a:solidFill>
        <a:effectLst/>
        <a:uFillTx/>
        <a:latin typeface="+mn-lt"/>
        <a:ea typeface="+mn-ea"/>
        <a:cs typeface="+mn-cs"/>
        <a:sym typeface="Helvetica"/>
      </a:defRPr>
    </a:lvl2pPr>
    <a:lvl3pPr marL="0" marR="0" indent="0" algn="l" defTabSz="914400" rtl="0" fontAlgn="auto" latinLnBrk="0" hangingPunct="0">
      <a:lnSpc>
        <a:spcPct val="100000"/>
      </a:lnSpc>
      <a:spcBef>
        <a:spcPts val="0"/>
      </a:spcBef>
      <a:spcAft>
        <a:spcPts val="0"/>
      </a:spcAft>
      <a:buClrTx/>
      <a:buSzTx/>
      <a:buFontTx/>
      <a:buNone/>
      <a:tabLst/>
      <a:defRPr kumimoji="0" sz="700" b="1" i="0" u="none" strike="noStrike" cap="none" spc="0" normalizeH="0" baseline="0">
        <a:ln>
          <a:noFill/>
        </a:ln>
        <a:solidFill>
          <a:srgbClr val="000000"/>
        </a:solidFill>
        <a:effectLst/>
        <a:uFillTx/>
        <a:latin typeface="+mn-lt"/>
        <a:ea typeface="+mn-ea"/>
        <a:cs typeface="+mn-cs"/>
        <a:sym typeface="Helvetica"/>
      </a:defRPr>
    </a:lvl3pPr>
    <a:lvl4pPr marL="0" marR="0" indent="0" algn="l" defTabSz="914400" rtl="0" fontAlgn="auto" latinLnBrk="0" hangingPunct="0">
      <a:lnSpc>
        <a:spcPct val="100000"/>
      </a:lnSpc>
      <a:spcBef>
        <a:spcPts val="0"/>
      </a:spcBef>
      <a:spcAft>
        <a:spcPts val="0"/>
      </a:spcAft>
      <a:buClrTx/>
      <a:buSzTx/>
      <a:buFontTx/>
      <a:buNone/>
      <a:tabLst/>
      <a:defRPr kumimoji="0" sz="700" b="1" i="0" u="none" strike="noStrike" cap="none" spc="0" normalizeH="0" baseline="0">
        <a:ln>
          <a:noFill/>
        </a:ln>
        <a:solidFill>
          <a:srgbClr val="000000"/>
        </a:solidFill>
        <a:effectLst/>
        <a:uFillTx/>
        <a:latin typeface="+mn-lt"/>
        <a:ea typeface="+mn-ea"/>
        <a:cs typeface="+mn-cs"/>
        <a:sym typeface="Helvetica"/>
      </a:defRPr>
    </a:lvl4pPr>
    <a:lvl5pPr marL="0" marR="0" indent="0" algn="l" defTabSz="914400" rtl="0" fontAlgn="auto" latinLnBrk="0" hangingPunct="0">
      <a:lnSpc>
        <a:spcPct val="100000"/>
      </a:lnSpc>
      <a:spcBef>
        <a:spcPts val="0"/>
      </a:spcBef>
      <a:spcAft>
        <a:spcPts val="0"/>
      </a:spcAft>
      <a:buClrTx/>
      <a:buSzTx/>
      <a:buFontTx/>
      <a:buNone/>
      <a:tabLst/>
      <a:defRPr kumimoji="0" sz="700" b="1" i="0" u="none" strike="noStrike" cap="none" spc="0" normalizeH="0" baseline="0">
        <a:ln>
          <a:noFill/>
        </a:ln>
        <a:solidFill>
          <a:srgbClr val="000000"/>
        </a:solidFill>
        <a:effectLst/>
        <a:uFillTx/>
        <a:latin typeface="+mn-lt"/>
        <a:ea typeface="+mn-ea"/>
        <a:cs typeface="+mn-cs"/>
        <a:sym typeface="Helvetica"/>
      </a:defRPr>
    </a:lvl5pPr>
    <a:lvl6pPr marL="0" marR="0" indent="0" algn="l" defTabSz="914400" rtl="0" fontAlgn="auto" latinLnBrk="0" hangingPunct="0">
      <a:lnSpc>
        <a:spcPct val="100000"/>
      </a:lnSpc>
      <a:spcBef>
        <a:spcPts val="0"/>
      </a:spcBef>
      <a:spcAft>
        <a:spcPts val="0"/>
      </a:spcAft>
      <a:buClrTx/>
      <a:buSzTx/>
      <a:buFontTx/>
      <a:buNone/>
      <a:tabLst/>
      <a:defRPr kumimoji="0" sz="700" b="1" i="0" u="none" strike="noStrike" cap="none" spc="0" normalizeH="0" baseline="0">
        <a:ln>
          <a:noFill/>
        </a:ln>
        <a:solidFill>
          <a:srgbClr val="000000"/>
        </a:solidFill>
        <a:effectLst/>
        <a:uFillTx/>
        <a:latin typeface="+mn-lt"/>
        <a:ea typeface="+mn-ea"/>
        <a:cs typeface="+mn-cs"/>
        <a:sym typeface="Helvetica"/>
      </a:defRPr>
    </a:lvl6pPr>
    <a:lvl7pPr marL="0" marR="0" indent="0" algn="l" defTabSz="914400" rtl="0" fontAlgn="auto" latinLnBrk="0" hangingPunct="0">
      <a:lnSpc>
        <a:spcPct val="100000"/>
      </a:lnSpc>
      <a:spcBef>
        <a:spcPts val="0"/>
      </a:spcBef>
      <a:spcAft>
        <a:spcPts val="0"/>
      </a:spcAft>
      <a:buClrTx/>
      <a:buSzTx/>
      <a:buFontTx/>
      <a:buNone/>
      <a:tabLst/>
      <a:defRPr kumimoji="0" sz="700" b="1" i="0" u="none" strike="noStrike" cap="none" spc="0" normalizeH="0" baseline="0">
        <a:ln>
          <a:noFill/>
        </a:ln>
        <a:solidFill>
          <a:srgbClr val="000000"/>
        </a:solidFill>
        <a:effectLst/>
        <a:uFillTx/>
        <a:latin typeface="+mn-lt"/>
        <a:ea typeface="+mn-ea"/>
        <a:cs typeface="+mn-cs"/>
        <a:sym typeface="Helvetica"/>
      </a:defRPr>
    </a:lvl7pPr>
    <a:lvl8pPr marL="0" marR="0" indent="0" algn="l" defTabSz="914400" rtl="0" fontAlgn="auto" latinLnBrk="0" hangingPunct="0">
      <a:lnSpc>
        <a:spcPct val="100000"/>
      </a:lnSpc>
      <a:spcBef>
        <a:spcPts val="0"/>
      </a:spcBef>
      <a:spcAft>
        <a:spcPts val="0"/>
      </a:spcAft>
      <a:buClrTx/>
      <a:buSzTx/>
      <a:buFontTx/>
      <a:buNone/>
      <a:tabLst/>
      <a:defRPr kumimoji="0" sz="700" b="1" i="0" u="none" strike="noStrike" cap="none" spc="0" normalizeH="0" baseline="0">
        <a:ln>
          <a:noFill/>
        </a:ln>
        <a:solidFill>
          <a:srgbClr val="000000"/>
        </a:solidFill>
        <a:effectLst/>
        <a:uFillTx/>
        <a:latin typeface="+mn-lt"/>
        <a:ea typeface="+mn-ea"/>
        <a:cs typeface="+mn-cs"/>
        <a:sym typeface="Helvetica"/>
      </a:defRPr>
    </a:lvl8pPr>
    <a:lvl9pPr marL="0" marR="0" indent="0" algn="l" defTabSz="914400" rtl="0" fontAlgn="auto" latinLnBrk="0" hangingPunct="0">
      <a:lnSpc>
        <a:spcPct val="100000"/>
      </a:lnSpc>
      <a:spcBef>
        <a:spcPts val="0"/>
      </a:spcBef>
      <a:spcAft>
        <a:spcPts val="0"/>
      </a:spcAft>
      <a:buClrTx/>
      <a:buSzTx/>
      <a:buFontTx/>
      <a:buNone/>
      <a:tabLst/>
      <a:defRPr kumimoji="0" sz="700" b="1" i="0" u="none" strike="noStrike" cap="none" spc="0" normalizeH="0" baseline="0">
        <a:ln>
          <a:noFill/>
        </a:ln>
        <a:solidFill>
          <a:srgbClr val="000000"/>
        </a:solidFill>
        <a:effectLst/>
        <a:uFillTx/>
        <a:latin typeface="+mn-lt"/>
        <a:ea typeface="+mn-ea"/>
        <a:cs typeface="+mn-cs"/>
        <a:sym typeface="Helvetica"/>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n"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7F3F4"/>
          </a:solidFill>
        </a:fill>
      </a:tcStyle>
    </a:wholeTbl>
    <a:band2H>
      <a:tcTxStyle/>
      <a:tcStyle>
        <a:tcBdr/>
        <a:fill>
          <a:solidFill>
            <a:srgbClr val="F3F9FA"/>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n"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BDBDB"/>
          </a:solidFill>
        </a:fill>
      </a:tcStyle>
    </a:wholeTbl>
    <a:band2H>
      <a:tcTxStyle/>
      <a:tcStyle>
        <a:tcBdr/>
        <a:fill>
          <a:solidFill>
            <a:srgbClr val="EEEEEE"/>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n"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CCCD9"/>
          </a:solidFill>
        </a:fill>
      </a:tcStyle>
    </a:wholeTbl>
    <a:band2H>
      <a:tcTxStyle/>
      <a:tcStyle>
        <a:tcBdr/>
        <a:fill>
          <a:solidFill>
            <a:srgbClr val="E7E7ED"/>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n"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n"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173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43" name="Shape 243"/>
          <p:cNvSpPr>
            <a:spLocks noGrp="1" noRot="1" noChangeAspect="1"/>
          </p:cNvSpPr>
          <p:nvPr>
            <p:ph type="sldImg"/>
          </p:nvPr>
        </p:nvSpPr>
        <p:spPr>
          <a:xfrm>
            <a:off x="1143000" y="685800"/>
            <a:ext cx="4572000" cy="3429000"/>
          </a:xfrm>
          <a:prstGeom prst="rect">
            <a:avLst/>
          </a:prstGeom>
        </p:spPr>
        <p:txBody>
          <a:bodyPr/>
          <a:lstStyle/>
          <a:p>
            <a:endParaRPr/>
          </a:p>
        </p:txBody>
      </p:sp>
      <p:sp>
        <p:nvSpPr>
          <p:cNvPr id="244" name="Shape 244"/>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spcBef>
        <a:spcPts val="400"/>
      </a:spcBef>
      <a:defRPr sz="1200">
        <a:latin typeface="+mj-lt"/>
        <a:ea typeface="+mj-ea"/>
        <a:cs typeface="+mj-cs"/>
        <a:sym typeface="Arial"/>
      </a:defRPr>
    </a:lvl1pPr>
    <a:lvl2pPr indent="228600" latinLnBrk="0">
      <a:spcBef>
        <a:spcPts val="400"/>
      </a:spcBef>
      <a:defRPr sz="1200">
        <a:latin typeface="+mj-lt"/>
        <a:ea typeface="+mj-ea"/>
        <a:cs typeface="+mj-cs"/>
        <a:sym typeface="Arial"/>
      </a:defRPr>
    </a:lvl2pPr>
    <a:lvl3pPr indent="457200" latinLnBrk="0">
      <a:spcBef>
        <a:spcPts val="400"/>
      </a:spcBef>
      <a:defRPr sz="1200">
        <a:latin typeface="+mj-lt"/>
        <a:ea typeface="+mj-ea"/>
        <a:cs typeface="+mj-cs"/>
        <a:sym typeface="Arial"/>
      </a:defRPr>
    </a:lvl3pPr>
    <a:lvl4pPr indent="685800" latinLnBrk="0">
      <a:spcBef>
        <a:spcPts val="400"/>
      </a:spcBef>
      <a:defRPr sz="1200">
        <a:latin typeface="+mj-lt"/>
        <a:ea typeface="+mj-ea"/>
        <a:cs typeface="+mj-cs"/>
        <a:sym typeface="Arial"/>
      </a:defRPr>
    </a:lvl4pPr>
    <a:lvl5pPr indent="914400" latinLnBrk="0">
      <a:spcBef>
        <a:spcPts val="400"/>
      </a:spcBef>
      <a:defRPr sz="1200">
        <a:latin typeface="+mj-lt"/>
        <a:ea typeface="+mj-ea"/>
        <a:cs typeface="+mj-cs"/>
        <a:sym typeface="Arial"/>
      </a:defRPr>
    </a:lvl5pPr>
    <a:lvl6pPr indent="1143000" latinLnBrk="0">
      <a:spcBef>
        <a:spcPts val="400"/>
      </a:spcBef>
      <a:defRPr sz="1200">
        <a:latin typeface="+mj-lt"/>
        <a:ea typeface="+mj-ea"/>
        <a:cs typeface="+mj-cs"/>
        <a:sym typeface="Arial"/>
      </a:defRPr>
    </a:lvl6pPr>
    <a:lvl7pPr indent="1371600" latinLnBrk="0">
      <a:spcBef>
        <a:spcPts val="400"/>
      </a:spcBef>
      <a:defRPr sz="1200">
        <a:latin typeface="+mj-lt"/>
        <a:ea typeface="+mj-ea"/>
        <a:cs typeface="+mj-cs"/>
        <a:sym typeface="Arial"/>
      </a:defRPr>
    </a:lvl7pPr>
    <a:lvl8pPr indent="1600200" latinLnBrk="0">
      <a:spcBef>
        <a:spcPts val="400"/>
      </a:spcBef>
      <a:defRPr sz="1200">
        <a:latin typeface="+mj-lt"/>
        <a:ea typeface="+mj-ea"/>
        <a:cs typeface="+mj-cs"/>
        <a:sym typeface="Arial"/>
      </a:defRPr>
    </a:lvl8pPr>
    <a:lvl9pPr indent="1828800" latinLnBrk="0">
      <a:spcBef>
        <a:spcPts val="400"/>
      </a:spcBef>
      <a:defRPr sz="1200">
        <a:latin typeface="+mj-lt"/>
        <a:ea typeface="+mj-ea"/>
        <a:cs typeface="+mj-cs"/>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 name="Shape 302"/>
          <p:cNvSpPr>
            <a:spLocks noGrp="1" noRot="1" noChangeAspect="1"/>
          </p:cNvSpPr>
          <p:nvPr>
            <p:ph type="sldImg"/>
          </p:nvPr>
        </p:nvSpPr>
        <p:spPr>
          <a:prstGeom prst="rect">
            <a:avLst/>
          </a:prstGeom>
        </p:spPr>
        <p:txBody>
          <a:bodyPr/>
          <a:lstStyle/>
          <a:p>
            <a:endParaRPr/>
          </a:p>
        </p:txBody>
      </p:sp>
      <p:sp>
        <p:nvSpPr>
          <p:cNvPr id="303" name="Shape 303"/>
          <p:cNvSpPr>
            <a:spLocks noGrp="1"/>
          </p:cNvSpPr>
          <p:nvPr>
            <p:ph type="body" sz="quarter" idx="1"/>
          </p:nvPr>
        </p:nvSpPr>
        <p:spPr>
          <a:prstGeom prst="rect">
            <a:avLst/>
          </a:prstGeom>
        </p:spPr>
        <p:txBody>
          <a:bodyPr/>
          <a:lstStyle/>
          <a:p>
            <a:r>
              <a:t>La SPADA viene considerata comunemente lo strumento per infliggere i meritati castighi ed evoca pertanto, almeno in prima battuta, l’idea della </a:t>
            </a:r>
            <a:r>
              <a:rPr b="1"/>
              <a:t>responsabilità penale</a:t>
            </a:r>
            <a:r>
              <a:t>. Oltre ad alludere alla funzione retributiva della pena, tuttavia, il suo valore simbolico rimanda anche all’attività ‘decisionale’ che pone fine ai dubbi su ciò che spetta a ciascuno. Ciò può avvenire, da un lato, fissando regole di condotta ben determinate per soppesare responsabilità e meriti; e, dall’altro, applicando tali regole senza</a:t>
            </a:r>
          </a:p>
          <a:p>
            <a:r>
              <a:t>discriminazioni arbitrarie nella prassi dei tribunali.</a:t>
            </a:r>
          </a:p>
          <a:p>
            <a:r>
              <a:t>Il significato con cui intendere la BILANCIA è invece piuttosto chiaro e indiscusso: essa serve a pesare ciò che è giusto, tenendo conto dei contrapposti interessi. </a:t>
            </a:r>
          </a:p>
          <a:p>
            <a:r>
              <a:t>Con la spada e con la bilancia, pertanto, </a:t>
            </a:r>
            <a:r>
              <a:rPr b="1"/>
              <a:t>la Giustizia è chiamata non solo a infliggere le pene, ma più in generale a esercitare la funzione di attribuire esattamente a ciascuno – nel bene e nel male – quanto gli spetta.</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Diapositiva titolo">
    <p:bg>
      <p:bgPr>
        <a:solidFill>
          <a:srgbClr val="FFFFFF"/>
        </a:solidFill>
        <a:effectLst/>
      </p:bgPr>
    </p:bg>
    <p:spTree>
      <p:nvGrpSpPr>
        <p:cNvPr id="1" name=""/>
        <p:cNvGrpSpPr/>
        <p:nvPr/>
      </p:nvGrpSpPr>
      <p:grpSpPr>
        <a:xfrm>
          <a:off x="0" y="0"/>
          <a:ext cx="0" cy="0"/>
          <a:chOff x="0" y="0"/>
          <a:chExt cx="0" cy="0"/>
        </a:xfrm>
      </p:grpSpPr>
      <p:sp>
        <p:nvSpPr>
          <p:cNvPr id="11" name="Titolo Testo"/>
          <p:cNvSpPr>
            <a:spLocks noGrp="1"/>
          </p:cNvSpPr>
          <p:nvPr>
            <p:ph type="title"/>
          </p:nvPr>
        </p:nvSpPr>
        <p:spPr>
          <a:xfrm>
            <a:off x="685800" y="3209925"/>
            <a:ext cx="7772400" cy="2019300"/>
          </a:xfrm>
          <a:prstGeom prst="rect">
            <a:avLst/>
          </a:prstGeom>
        </p:spPr>
        <p:txBody>
          <a:bodyPr anchor="t"/>
          <a:lstStyle>
            <a:lvl1pPr algn="ctr">
              <a:lnSpc>
                <a:spcPct val="100000"/>
              </a:lnSpc>
              <a:defRPr sz="3200" b="1">
                <a:solidFill>
                  <a:srgbClr val="FFFFFF"/>
                </a:solidFill>
                <a:effectLst>
                  <a:outerShdw blurRad="38100" dist="38100" dir="2700000" rotWithShape="0">
                    <a:srgbClr val="C0C0C0"/>
                  </a:outerShdw>
                </a:effectLst>
                <a:latin typeface="+mj-lt"/>
                <a:ea typeface="+mj-ea"/>
                <a:cs typeface="+mj-cs"/>
                <a:sym typeface="Arial"/>
              </a:defRPr>
            </a:lvl1pPr>
          </a:lstStyle>
          <a:p>
            <a:r>
              <a:t>Titolo Testo</a:t>
            </a:r>
          </a:p>
        </p:txBody>
      </p:sp>
      <p:sp>
        <p:nvSpPr>
          <p:cNvPr id="12" name="Numero diapositiva"/>
          <p:cNvSpPr>
            <a:spLocks noGrp="1"/>
          </p:cNvSpPr>
          <p:nvPr>
            <p:ph type="sldNum" sz="quarter" idx="2"/>
          </p:nvPr>
        </p:nvSpPr>
        <p:spPr>
          <a:xfrm>
            <a:off x="8384897" y="6245225"/>
            <a:ext cx="301904" cy="288820"/>
          </a:xfrm>
          <a:prstGeom prst="rect">
            <a:avLst/>
          </a:prstGeom>
        </p:spPr>
        <p:txBody>
          <a:bodyPr anchor="t"/>
          <a:lstStyle>
            <a:lvl1pPr>
              <a:defRPr sz="1400" b="0">
                <a:solidFill>
                  <a:srgbClr val="000000"/>
                </a:solidFill>
                <a:latin typeface="+mj-lt"/>
                <a:ea typeface="+mj-ea"/>
                <a:cs typeface="+mj-cs"/>
                <a:sym typeface="Arial"/>
              </a:defRPr>
            </a:lvl1pPr>
          </a:lstStyle>
          <a:p>
            <a:fld id="{86CB4B4D-7CA3-9044-876B-883B54F8677D}" type="slidenum">
              <a:t>‹N›</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Intestazione sezione">
    <p:bg>
      <p:bgPr>
        <a:solidFill>
          <a:srgbClr val="FFFFFF"/>
        </a:solidFill>
        <a:effectLst/>
      </p:bgPr>
    </p:bg>
    <p:spTree>
      <p:nvGrpSpPr>
        <p:cNvPr id="1" name=""/>
        <p:cNvGrpSpPr/>
        <p:nvPr/>
      </p:nvGrpSpPr>
      <p:grpSpPr>
        <a:xfrm>
          <a:off x="0" y="0"/>
          <a:ext cx="0" cy="0"/>
          <a:chOff x="0" y="0"/>
          <a:chExt cx="0" cy="0"/>
        </a:xfrm>
      </p:grpSpPr>
      <p:sp>
        <p:nvSpPr>
          <p:cNvPr id="19" name="Titolo Testo"/>
          <p:cNvSpPr>
            <a:spLocks noGrp="1"/>
          </p:cNvSpPr>
          <p:nvPr>
            <p:ph type="title"/>
          </p:nvPr>
        </p:nvSpPr>
        <p:spPr>
          <a:xfrm>
            <a:off x="722312" y="4406900"/>
            <a:ext cx="7772401" cy="1362075"/>
          </a:xfrm>
          <a:prstGeom prst="rect">
            <a:avLst/>
          </a:prstGeom>
          <a:solidFill>
            <a:schemeClr val="accent2">
              <a:alpha val="60000"/>
            </a:schemeClr>
          </a:solidFill>
        </p:spPr>
        <p:txBody>
          <a:bodyPr anchor="t"/>
          <a:lstStyle>
            <a:lvl1pPr>
              <a:lnSpc>
                <a:spcPct val="100000"/>
              </a:lnSpc>
              <a:defRPr sz="4000" b="1" cap="all">
                <a:solidFill>
                  <a:srgbClr val="FFFFFF"/>
                </a:solidFill>
                <a:effectLst>
                  <a:outerShdw blurRad="38100" dist="38100" dir="2700000" rotWithShape="0">
                    <a:srgbClr val="000000"/>
                  </a:outerShdw>
                </a:effectLst>
                <a:latin typeface="+mj-lt"/>
                <a:ea typeface="+mj-ea"/>
                <a:cs typeface="+mj-cs"/>
                <a:sym typeface="Arial"/>
              </a:defRPr>
            </a:lvl1pPr>
          </a:lstStyle>
          <a:p>
            <a:r>
              <a:t>Titolo Testo</a:t>
            </a:r>
          </a:p>
        </p:txBody>
      </p:sp>
      <p:sp>
        <p:nvSpPr>
          <p:cNvPr id="20" name="Corpo livello uno…"/>
          <p:cNvSpPr>
            <a:spLocks noGrp="1"/>
          </p:cNvSpPr>
          <p:nvPr>
            <p:ph type="body" sz="quarter" idx="1"/>
          </p:nvPr>
        </p:nvSpPr>
        <p:spPr>
          <a:xfrm>
            <a:off x="722312" y="2906713"/>
            <a:ext cx="7772401" cy="1500190"/>
          </a:xfrm>
          <a:prstGeom prst="rect">
            <a:avLst/>
          </a:prstGeom>
        </p:spPr>
        <p:txBody>
          <a:bodyPr anchor="b"/>
          <a:lstStyle>
            <a:lvl1pPr marL="0" indent="0">
              <a:lnSpc>
                <a:spcPct val="100000"/>
              </a:lnSpc>
              <a:spcBef>
                <a:spcPts val="400"/>
              </a:spcBef>
              <a:buSzTx/>
              <a:buFontTx/>
              <a:buNone/>
              <a:defRPr sz="2000">
                <a:latin typeface="+mj-lt"/>
                <a:ea typeface="+mj-ea"/>
                <a:cs typeface="+mj-cs"/>
                <a:sym typeface="Arial"/>
              </a:defRPr>
            </a:lvl1pPr>
            <a:lvl2pPr marL="0" indent="0">
              <a:lnSpc>
                <a:spcPct val="100000"/>
              </a:lnSpc>
              <a:spcBef>
                <a:spcPts val="400"/>
              </a:spcBef>
              <a:buSzTx/>
              <a:buFontTx/>
              <a:buNone/>
              <a:defRPr sz="2000">
                <a:latin typeface="+mj-lt"/>
                <a:ea typeface="+mj-ea"/>
                <a:cs typeface="+mj-cs"/>
                <a:sym typeface="Arial"/>
              </a:defRPr>
            </a:lvl2pPr>
            <a:lvl3pPr marL="0" indent="0">
              <a:lnSpc>
                <a:spcPct val="100000"/>
              </a:lnSpc>
              <a:spcBef>
                <a:spcPts val="400"/>
              </a:spcBef>
              <a:buSzTx/>
              <a:buFontTx/>
              <a:buNone/>
              <a:defRPr sz="2000">
                <a:latin typeface="+mj-lt"/>
                <a:ea typeface="+mj-ea"/>
                <a:cs typeface="+mj-cs"/>
                <a:sym typeface="Arial"/>
              </a:defRPr>
            </a:lvl3pPr>
            <a:lvl4pPr marL="0" indent="0">
              <a:lnSpc>
                <a:spcPct val="100000"/>
              </a:lnSpc>
              <a:spcBef>
                <a:spcPts val="400"/>
              </a:spcBef>
              <a:buSzTx/>
              <a:buFontTx/>
              <a:buNone/>
              <a:defRPr sz="2000">
                <a:latin typeface="+mj-lt"/>
                <a:ea typeface="+mj-ea"/>
                <a:cs typeface="+mj-cs"/>
                <a:sym typeface="Arial"/>
              </a:defRPr>
            </a:lvl4pPr>
            <a:lvl5pPr marL="0" indent="0">
              <a:lnSpc>
                <a:spcPct val="100000"/>
              </a:lnSpc>
              <a:spcBef>
                <a:spcPts val="400"/>
              </a:spcBef>
              <a:buSzTx/>
              <a:buFontTx/>
              <a:buNone/>
              <a:defRPr sz="2000">
                <a:latin typeface="+mj-lt"/>
                <a:ea typeface="+mj-ea"/>
                <a:cs typeface="+mj-cs"/>
                <a:sym typeface="Arial"/>
              </a:defRPr>
            </a:lvl5pPr>
          </a:lstStyle>
          <a:p>
            <a:r>
              <a:t>Corpo livello uno</a:t>
            </a:r>
          </a:p>
          <a:p>
            <a:pPr lvl="1"/>
            <a:r>
              <a:t>Corpo livello due</a:t>
            </a:r>
          </a:p>
          <a:p>
            <a:pPr lvl="2"/>
            <a:r>
              <a:t>Corpo livello tre</a:t>
            </a:r>
          </a:p>
          <a:p>
            <a:pPr lvl="3"/>
            <a:r>
              <a:t>Corpo livello quattro</a:t>
            </a:r>
          </a:p>
          <a:p>
            <a:pPr lvl="4"/>
            <a:r>
              <a:t>Corpo livello cinque</a:t>
            </a:r>
          </a:p>
        </p:txBody>
      </p:sp>
      <p:sp>
        <p:nvSpPr>
          <p:cNvPr id="21" name="Numero diapositiva"/>
          <p:cNvSpPr>
            <a:spLocks noGrp="1"/>
          </p:cNvSpPr>
          <p:nvPr>
            <p:ph type="sldNum" sz="quarter" idx="2"/>
          </p:nvPr>
        </p:nvSpPr>
        <p:spPr>
          <a:xfrm>
            <a:off x="8384897" y="6245225"/>
            <a:ext cx="301904" cy="288820"/>
          </a:xfrm>
          <a:prstGeom prst="rect">
            <a:avLst/>
          </a:prstGeom>
        </p:spPr>
        <p:txBody>
          <a:bodyPr anchor="t"/>
          <a:lstStyle>
            <a:lvl1pPr>
              <a:defRPr sz="1400" b="0">
                <a:solidFill>
                  <a:srgbClr val="000000"/>
                </a:solidFill>
                <a:latin typeface="+mj-lt"/>
                <a:ea typeface="+mj-ea"/>
                <a:cs typeface="+mj-cs"/>
                <a:sym typeface="Arial"/>
              </a:defRPr>
            </a:lvl1pPr>
          </a:lstStyle>
          <a:p>
            <a:fld id="{86CB4B4D-7CA3-9044-876B-883B54F8677D}" type="slidenum">
              <a:t>‹N›</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Due contenuti">
    <p:bg>
      <p:bgPr>
        <a:solidFill>
          <a:srgbClr val="FFFFFF"/>
        </a:solidFill>
        <a:effectLst/>
      </p:bgPr>
    </p:bg>
    <p:spTree>
      <p:nvGrpSpPr>
        <p:cNvPr id="1" name=""/>
        <p:cNvGrpSpPr/>
        <p:nvPr/>
      </p:nvGrpSpPr>
      <p:grpSpPr>
        <a:xfrm>
          <a:off x="0" y="0"/>
          <a:ext cx="0" cy="0"/>
          <a:chOff x="0" y="0"/>
          <a:chExt cx="0" cy="0"/>
        </a:xfrm>
      </p:grpSpPr>
      <p:sp>
        <p:nvSpPr>
          <p:cNvPr id="28" name="Titolo Testo"/>
          <p:cNvSpPr>
            <a:spLocks noGrp="1"/>
          </p:cNvSpPr>
          <p:nvPr>
            <p:ph type="title"/>
          </p:nvPr>
        </p:nvSpPr>
        <p:spPr>
          <a:xfrm>
            <a:off x="0" y="0"/>
            <a:ext cx="9144000" cy="836613"/>
          </a:xfrm>
          <a:prstGeom prst="rect">
            <a:avLst/>
          </a:prstGeom>
          <a:solidFill>
            <a:schemeClr val="accent2">
              <a:alpha val="60000"/>
            </a:schemeClr>
          </a:solidFill>
        </p:spPr>
        <p:txBody>
          <a:bodyPr/>
          <a:lstStyle>
            <a:lvl1pPr algn="ctr">
              <a:lnSpc>
                <a:spcPct val="100000"/>
              </a:lnSpc>
              <a:defRPr sz="2400" b="1">
                <a:solidFill>
                  <a:srgbClr val="FFFFFF"/>
                </a:solidFill>
                <a:effectLst>
                  <a:outerShdw blurRad="38100" dist="38100" dir="2700000" rotWithShape="0">
                    <a:srgbClr val="000000"/>
                  </a:outerShdw>
                </a:effectLst>
                <a:latin typeface="+mj-lt"/>
                <a:ea typeface="+mj-ea"/>
                <a:cs typeface="+mj-cs"/>
                <a:sym typeface="Arial"/>
              </a:defRPr>
            </a:lvl1pPr>
          </a:lstStyle>
          <a:p>
            <a:r>
              <a:t>Titolo Testo</a:t>
            </a:r>
          </a:p>
        </p:txBody>
      </p:sp>
      <p:sp>
        <p:nvSpPr>
          <p:cNvPr id="29" name="Corpo livello uno…"/>
          <p:cNvSpPr>
            <a:spLocks noGrp="1"/>
          </p:cNvSpPr>
          <p:nvPr>
            <p:ph type="body" sz="half" idx="1"/>
          </p:nvPr>
        </p:nvSpPr>
        <p:spPr>
          <a:xfrm>
            <a:off x="457200" y="1600200"/>
            <a:ext cx="4038600" cy="4525963"/>
          </a:xfrm>
          <a:prstGeom prst="rect">
            <a:avLst/>
          </a:prstGeom>
        </p:spPr>
        <p:txBody>
          <a:bodyPr/>
          <a:lstStyle>
            <a:lvl1pPr marL="342900" indent="-342900">
              <a:lnSpc>
                <a:spcPct val="100000"/>
              </a:lnSpc>
              <a:spcBef>
                <a:spcPts val="600"/>
              </a:spcBef>
              <a:buFontTx/>
              <a:defRPr>
                <a:latin typeface="+mj-lt"/>
                <a:ea typeface="+mj-ea"/>
                <a:cs typeface="+mj-cs"/>
                <a:sym typeface="Arial"/>
              </a:defRPr>
            </a:lvl1pPr>
            <a:lvl2pPr marL="790575" indent="-333375">
              <a:lnSpc>
                <a:spcPct val="100000"/>
              </a:lnSpc>
              <a:spcBef>
                <a:spcPts val="600"/>
              </a:spcBef>
              <a:buFontTx/>
              <a:buChar char="–"/>
              <a:defRPr>
                <a:latin typeface="+mj-lt"/>
                <a:ea typeface="+mj-ea"/>
                <a:cs typeface="+mj-cs"/>
                <a:sym typeface="Arial"/>
              </a:defRPr>
            </a:lvl2pPr>
            <a:lvl3pPr>
              <a:lnSpc>
                <a:spcPct val="100000"/>
              </a:lnSpc>
              <a:spcBef>
                <a:spcPts val="600"/>
              </a:spcBef>
              <a:buFontTx/>
              <a:defRPr>
                <a:latin typeface="+mj-lt"/>
                <a:ea typeface="+mj-ea"/>
                <a:cs typeface="+mj-cs"/>
                <a:sym typeface="Arial"/>
              </a:defRPr>
            </a:lvl3pPr>
            <a:lvl4pPr>
              <a:lnSpc>
                <a:spcPct val="100000"/>
              </a:lnSpc>
              <a:spcBef>
                <a:spcPts val="600"/>
              </a:spcBef>
              <a:buFontTx/>
              <a:buChar char="–"/>
              <a:defRPr>
                <a:latin typeface="+mj-lt"/>
                <a:ea typeface="+mj-ea"/>
                <a:cs typeface="+mj-cs"/>
                <a:sym typeface="Arial"/>
              </a:defRPr>
            </a:lvl4pPr>
            <a:lvl5pPr>
              <a:lnSpc>
                <a:spcPct val="100000"/>
              </a:lnSpc>
              <a:spcBef>
                <a:spcPts val="600"/>
              </a:spcBef>
              <a:buFontTx/>
              <a:buChar char="»"/>
              <a:defRPr>
                <a:latin typeface="+mj-lt"/>
                <a:ea typeface="+mj-ea"/>
                <a:cs typeface="+mj-cs"/>
                <a:sym typeface="Arial"/>
              </a:defRPr>
            </a:lvl5pPr>
          </a:lstStyle>
          <a:p>
            <a:r>
              <a:t>Corpo livello uno</a:t>
            </a:r>
          </a:p>
          <a:p>
            <a:pPr lvl="1"/>
            <a:r>
              <a:t>Corpo livello due</a:t>
            </a:r>
          </a:p>
          <a:p>
            <a:pPr lvl="2"/>
            <a:r>
              <a:t>Corpo livello tre</a:t>
            </a:r>
          </a:p>
          <a:p>
            <a:pPr lvl="3"/>
            <a:r>
              <a:t>Corpo livello quattro</a:t>
            </a:r>
          </a:p>
          <a:p>
            <a:pPr lvl="4"/>
            <a:r>
              <a:t>Corpo livello cinque</a:t>
            </a:r>
          </a:p>
        </p:txBody>
      </p:sp>
      <p:sp>
        <p:nvSpPr>
          <p:cNvPr id="30" name="Numero diapositiva"/>
          <p:cNvSpPr>
            <a:spLocks noGrp="1"/>
          </p:cNvSpPr>
          <p:nvPr>
            <p:ph type="sldNum" sz="quarter" idx="2"/>
          </p:nvPr>
        </p:nvSpPr>
        <p:spPr>
          <a:xfrm>
            <a:off x="8384897" y="6245225"/>
            <a:ext cx="301904" cy="288820"/>
          </a:xfrm>
          <a:prstGeom prst="rect">
            <a:avLst/>
          </a:prstGeom>
        </p:spPr>
        <p:txBody>
          <a:bodyPr anchor="t"/>
          <a:lstStyle>
            <a:lvl1pPr>
              <a:defRPr sz="1400" b="0">
                <a:solidFill>
                  <a:srgbClr val="000000"/>
                </a:solidFill>
                <a:latin typeface="+mj-lt"/>
                <a:ea typeface="+mj-ea"/>
                <a:cs typeface="+mj-cs"/>
                <a:sym typeface="Arial"/>
              </a:defRPr>
            </a:lvl1pPr>
          </a:lstStyle>
          <a:p>
            <a:fld id="{86CB4B4D-7CA3-9044-876B-883B54F8677D}" type="slidenum">
              <a:t>‹N›</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Confronto">
    <p:bg>
      <p:bgPr>
        <a:solidFill>
          <a:srgbClr val="FFFFFF"/>
        </a:solidFill>
        <a:effectLst/>
      </p:bgPr>
    </p:bg>
    <p:spTree>
      <p:nvGrpSpPr>
        <p:cNvPr id="1" name=""/>
        <p:cNvGrpSpPr/>
        <p:nvPr/>
      </p:nvGrpSpPr>
      <p:grpSpPr>
        <a:xfrm>
          <a:off x="0" y="0"/>
          <a:ext cx="0" cy="0"/>
          <a:chOff x="0" y="0"/>
          <a:chExt cx="0" cy="0"/>
        </a:xfrm>
      </p:grpSpPr>
      <p:sp>
        <p:nvSpPr>
          <p:cNvPr id="37" name="Titolo Testo"/>
          <p:cNvSpPr>
            <a:spLocks noGrp="1"/>
          </p:cNvSpPr>
          <p:nvPr>
            <p:ph type="title"/>
          </p:nvPr>
        </p:nvSpPr>
        <p:spPr>
          <a:xfrm>
            <a:off x="457200" y="274638"/>
            <a:ext cx="8229600" cy="1143001"/>
          </a:xfrm>
          <a:prstGeom prst="rect">
            <a:avLst/>
          </a:prstGeom>
          <a:solidFill>
            <a:schemeClr val="accent2">
              <a:alpha val="60000"/>
            </a:schemeClr>
          </a:solidFill>
        </p:spPr>
        <p:txBody>
          <a:bodyPr/>
          <a:lstStyle>
            <a:lvl1pPr algn="ctr">
              <a:lnSpc>
                <a:spcPct val="100000"/>
              </a:lnSpc>
              <a:defRPr sz="2400" b="1">
                <a:solidFill>
                  <a:srgbClr val="FFFFFF"/>
                </a:solidFill>
                <a:effectLst>
                  <a:outerShdw blurRad="38100" dist="38100" dir="2700000" rotWithShape="0">
                    <a:srgbClr val="000000"/>
                  </a:outerShdw>
                </a:effectLst>
                <a:latin typeface="+mj-lt"/>
                <a:ea typeface="+mj-ea"/>
                <a:cs typeface="+mj-cs"/>
                <a:sym typeface="Arial"/>
              </a:defRPr>
            </a:lvl1pPr>
          </a:lstStyle>
          <a:p>
            <a:r>
              <a:t>Titolo Testo</a:t>
            </a:r>
          </a:p>
        </p:txBody>
      </p:sp>
      <p:sp>
        <p:nvSpPr>
          <p:cNvPr id="38" name="Corpo livello uno…"/>
          <p:cNvSpPr>
            <a:spLocks noGrp="1"/>
          </p:cNvSpPr>
          <p:nvPr>
            <p:ph type="body" sz="quarter" idx="1"/>
          </p:nvPr>
        </p:nvSpPr>
        <p:spPr>
          <a:xfrm>
            <a:off x="457200" y="1535112"/>
            <a:ext cx="4040188" cy="639763"/>
          </a:xfrm>
          <a:prstGeom prst="rect">
            <a:avLst/>
          </a:prstGeom>
        </p:spPr>
        <p:txBody>
          <a:bodyPr anchor="b"/>
          <a:lstStyle>
            <a:lvl1pPr marL="0" indent="0">
              <a:lnSpc>
                <a:spcPct val="100000"/>
              </a:lnSpc>
              <a:spcBef>
                <a:spcPts val="500"/>
              </a:spcBef>
              <a:buSzTx/>
              <a:buFontTx/>
              <a:buNone/>
              <a:defRPr sz="2400" b="1">
                <a:latin typeface="+mj-lt"/>
                <a:ea typeface="+mj-ea"/>
                <a:cs typeface="+mj-cs"/>
                <a:sym typeface="Arial"/>
              </a:defRPr>
            </a:lvl1pPr>
            <a:lvl2pPr marL="0" indent="0">
              <a:lnSpc>
                <a:spcPct val="100000"/>
              </a:lnSpc>
              <a:spcBef>
                <a:spcPts val="500"/>
              </a:spcBef>
              <a:buSzTx/>
              <a:buFontTx/>
              <a:buNone/>
              <a:defRPr sz="2400" b="1">
                <a:latin typeface="+mj-lt"/>
                <a:ea typeface="+mj-ea"/>
                <a:cs typeface="+mj-cs"/>
                <a:sym typeface="Arial"/>
              </a:defRPr>
            </a:lvl2pPr>
            <a:lvl3pPr marL="0" indent="0">
              <a:lnSpc>
                <a:spcPct val="100000"/>
              </a:lnSpc>
              <a:spcBef>
                <a:spcPts val="500"/>
              </a:spcBef>
              <a:buSzTx/>
              <a:buFontTx/>
              <a:buNone/>
              <a:defRPr sz="2400" b="1">
                <a:latin typeface="+mj-lt"/>
                <a:ea typeface="+mj-ea"/>
                <a:cs typeface="+mj-cs"/>
                <a:sym typeface="Arial"/>
              </a:defRPr>
            </a:lvl3pPr>
            <a:lvl4pPr marL="0" indent="0">
              <a:lnSpc>
                <a:spcPct val="100000"/>
              </a:lnSpc>
              <a:spcBef>
                <a:spcPts val="500"/>
              </a:spcBef>
              <a:buSzTx/>
              <a:buFontTx/>
              <a:buNone/>
              <a:defRPr sz="2400" b="1">
                <a:latin typeface="+mj-lt"/>
                <a:ea typeface="+mj-ea"/>
                <a:cs typeface="+mj-cs"/>
                <a:sym typeface="Arial"/>
              </a:defRPr>
            </a:lvl4pPr>
            <a:lvl5pPr marL="0" indent="0">
              <a:lnSpc>
                <a:spcPct val="100000"/>
              </a:lnSpc>
              <a:spcBef>
                <a:spcPts val="500"/>
              </a:spcBef>
              <a:buSzTx/>
              <a:buFontTx/>
              <a:buNone/>
              <a:defRPr sz="2400" b="1">
                <a:latin typeface="+mj-lt"/>
                <a:ea typeface="+mj-ea"/>
                <a:cs typeface="+mj-cs"/>
                <a:sym typeface="Arial"/>
              </a:defRPr>
            </a:lvl5pPr>
          </a:lstStyle>
          <a:p>
            <a:r>
              <a:t>Corpo livello uno</a:t>
            </a:r>
          </a:p>
          <a:p>
            <a:pPr lvl="1"/>
            <a:r>
              <a:t>Corpo livello due</a:t>
            </a:r>
          </a:p>
          <a:p>
            <a:pPr lvl="2"/>
            <a:r>
              <a:t>Corpo livello tre</a:t>
            </a:r>
          </a:p>
          <a:p>
            <a:pPr lvl="3"/>
            <a:r>
              <a:t>Corpo livello quattro</a:t>
            </a:r>
          </a:p>
          <a:p>
            <a:pPr lvl="4"/>
            <a:r>
              <a:t>Corpo livello cinque</a:t>
            </a:r>
          </a:p>
        </p:txBody>
      </p:sp>
      <p:sp>
        <p:nvSpPr>
          <p:cNvPr id="39" name="Segnaposto testo 4"/>
          <p:cNvSpPr>
            <a:spLocks noGrp="1"/>
          </p:cNvSpPr>
          <p:nvPr>
            <p:ph type="body" sz="quarter" idx="13"/>
          </p:nvPr>
        </p:nvSpPr>
        <p:spPr>
          <a:xfrm>
            <a:off x="4645025" y="1535112"/>
            <a:ext cx="4041775" cy="639765"/>
          </a:xfrm>
          <a:prstGeom prst="rect">
            <a:avLst/>
          </a:prstGeom>
        </p:spPr>
        <p:txBody>
          <a:bodyPr anchor="b"/>
          <a:lstStyle/>
          <a:p>
            <a:endParaRPr/>
          </a:p>
        </p:txBody>
      </p:sp>
      <p:sp>
        <p:nvSpPr>
          <p:cNvPr id="40" name="Numero diapositiva"/>
          <p:cNvSpPr>
            <a:spLocks noGrp="1"/>
          </p:cNvSpPr>
          <p:nvPr>
            <p:ph type="sldNum" sz="quarter" idx="2"/>
          </p:nvPr>
        </p:nvSpPr>
        <p:spPr>
          <a:xfrm>
            <a:off x="8384897" y="6245225"/>
            <a:ext cx="301904" cy="288820"/>
          </a:xfrm>
          <a:prstGeom prst="rect">
            <a:avLst/>
          </a:prstGeom>
        </p:spPr>
        <p:txBody>
          <a:bodyPr anchor="t"/>
          <a:lstStyle>
            <a:lvl1pPr>
              <a:defRPr sz="1400" b="0">
                <a:solidFill>
                  <a:srgbClr val="000000"/>
                </a:solidFill>
                <a:latin typeface="+mj-lt"/>
                <a:ea typeface="+mj-ea"/>
                <a:cs typeface="+mj-cs"/>
                <a:sym typeface="Arial"/>
              </a:defRPr>
            </a:lvl1pPr>
          </a:lstStyle>
          <a:p>
            <a:fld id="{86CB4B4D-7CA3-9044-876B-883B54F8677D}" type="slidenum">
              <a:t>‹N›</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Solo titolo">
    <p:bg>
      <p:bgPr>
        <a:solidFill>
          <a:srgbClr val="FFFFFF"/>
        </a:solidFill>
        <a:effectLst/>
      </p:bgPr>
    </p:bg>
    <p:spTree>
      <p:nvGrpSpPr>
        <p:cNvPr id="1" name=""/>
        <p:cNvGrpSpPr/>
        <p:nvPr/>
      </p:nvGrpSpPr>
      <p:grpSpPr>
        <a:xfrm>
          <a:off x="0" y="0"/>
          <a:ext cx="0" cy="0"/>
          <a:chOff x="0" y="0"/>
          <a:chExt cx="0" cy="0"/>
        </a:xfrm>
      </p:grpSpPr>
      <p:sp>
        <p:nvSpPr>
          <p:cNvPr id="47" name="Titolo Testo"/>
          <p:cNvSpPr>
            <a:spLocks noGrp="1"/>
          </p:cNvSpPr>
          <p:nvPr>
            <p:ph type="title"/>
          </p:nvPr>
        </p:nvSpPr>
        <p:spPr>
          <a:xfrm>
            <a:off x="0" y="0"/>
            <a:ext cx="9144000" cy="836613"/>
          </a:xfrm>
          <a:prstGeom prst="rect">
            <a:avLst/>
          </a:prstGeom>
          <a:solidFill>
            <a:schemeClr val="accent2">
              <a:alpha val="60000"/>
            </a:schemeClr>
          </a:solidFill>
        </p:spPr>
        <p:txBody>
          <a:bodyPr/>
          <a:lstStyle>
            <a:lvl1pPr algn="ctr">
              <a:lnSpc>
                <a:spcPct val="100000"/>
              </a:lnSpc>
              <a:defRPr sz="2400" b="1">
                <a:solidFill>
                  <a:srgbClr val="FFFFFF"/>
                </a:solidFill>
                <a:effectLst>
                  <a:outerShdw blurRad="38100" dist="38100" dir="2700000" rotWithShape="0">
                    <a:srgbClr val="000000"/>
                  </a:outerShdw>
                </a:effectLst>
                <a:latin typeface="+mj-lt"/>
                <a:ea typeface="+mj-ea"/>
                <a:cs typeface="+mj-cs"/>
                <a:sym typeface="Arial"/>
              </a:defRPr>
            </a:lvl1pPr>
          </a:lstStyle>
          <a:p>
            <a:r>
              <a:t>Titolo Testo</a:t>
            </a:r>
          </a:p>
        </p:txBody>
      </p:sp>
      <p:sp>
        <p:nvSpPr>
          <p:cNvPr id="48" name="Numero diapositiva"/>
          <p:cNvSpPr>
            <a:spLocks noGrp="1"/>
          </p:cNvSpPr>
          <p:nvPr>
            <p:ph type="sldNum" sz="quarter" idx="2"/>
          </p:nvPr>
        </p:nvSpPr>
        <p:spPr>
          <a:xfrm>
            <a:off x="8384897" y="6245225"/>
            <a:ext cx="301904" cy="288820"/>
          </a:xfrm>
          <a:prstGeom prst="rect">
            <a:avLst/>
          </a:prstGeom>
        </p:spPr>
        <p:txBody>
          <a:bodyPr anchor="t"/>
          <a:lstStyle>
            <a:lvl1pPr>
              <a:defRPr sz="1400" b="0">
                <a:solidFill>
                  <a:srgbClr val="000000"/>
                </a:solidFill>
                <a:latin typeface="+mj-lt"/>
                <a:ea typeface="+mj-ea"/>
                <a:cs typeface="+mj-cs"/>
                <a:sym typeface="Arial"/>
              </a:defRPr>
            </a:lvl1pPr>
          </a:lstStyle>
          <a:p>
            <a:fld id="{86CB4B4D-7CA3-9044-876B-883B54F8677D}" type="slidenum">
              <a:t>‹N›</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Vuota">
    <p:bg>
      <p:bgPr>
        <a:solidFill>
          <a:srgbClr val="FFFFFF"/>
        </a:solidFill>
        <a:effectLst/>
      </p:bgPr>
    </p:bg>
    <p:spTree>
      <p:nvGrpSpPr>
        <p:cNvPr id="1" name=""/>
        <p:cNvGrpSpPr/>
        <p:nvPr/>
      </p:nvGrpSpPr>
      <p:grpSpPr>
        <a:xfrm>
          <a:off x="0" y="0"/>
          <a:ext cx="0" cy="0"/>
          <a:chOff x="0" y="0"/>
          <a:chExt cx="0" cy="0"/>
        </a:xfrm>
      </p:grpSpPr>
      <p:sp>
        <p:nvSpPr>
          <p:cNvPr id="55" name="Numero diapositiva"/>
          <p:cNvSpPr>
            <a:spLocks noGrp="1"/>
          </p:cNvSpPr>
          <p:nvPr>
            <p:ph type="sldNum" sz="quarter" idx="2"/>
          </p:nvPr>
        </p:nvSpPr>
        <p:spPr>
          <a:xfrm>
            <a:off x="8384897" y="6245225"/>
            <a:ext cx="301904" cy="288820"/>
          </a:xfrm>
          <a:prstGeom prst="rect">
            <a:avLst/>
          </a:prstGeom>
        </p:spPr>
        <p:txBody>
          <a:bodyPr anchor="t"/>
          <a:lstStyle>
            <a:lvl1pPr>
              <a:defRPr sz="1400" b="0">
                <a:solidFill>
                  <a:srgbClr val="000000"/>
                </a:solidFill>
                <a:latin typeface="+mj-lt"/>
                <a:ea typeface="+mj-ea"/>
                <a:cs typeface="+mj-cs"/>
                <a:sym typeface="Arial"/>
              </a:defRPr>
            </a:lvl1pPr>
          </a:lstStyle>
          <a:p>
            <a:fld id="{86CB4B4D-7CA3-9044-876B-883B54F8677D}" type="slidenum">
              <a:t>‹N›</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Contenuto con didascalia">
    <p:bg>
      <p:bgPr>
        <a:solidFill>
          <a:srgbClr val="FFFFFF"/>
        </a:solidFill>
        <a:effectLst/>
      </p:bgPr>
    </p:bg>
    <p:spTree>
      <p:nvGrpSpPr>
        <p:cNvPr id="1" name=""/>
        <p:cNvGrpSpPr/>
        <p:nvPr/>
      </p:nvGrpSpPr>
      <p:grpSpPr>
        <a:xfrm>
          <a:off x="0" y="0"/>
          <a:ext cx="0" cy="0"/>
          <a:chOff x="0" y="0"/>
          <a:chExt cx="0" cy="0"/>
        </a:xfrm>
      </p:grpSpPr>
      <p:sp>
        <p:nvSpPr>
          <p:cNvPr id="62" name="Titolo Testo"/>
          <p:cNvSpPr>
            <a:spLocks noGrp="1"/>
          </p:cNvSpPr>
          <p:nvPr>
            <p:ph type="title"/>
          </p:nvPr>
        </p:nvSpPr>
        <p:spPr>
          <a:xfrm>
            <a:off x="457200" y="273050"/>
            <a:ext cx="3008316" cy="1162050"/>
          </a:xfrm>
          <a:prstGeom prst="rect">
            <a:avLst/>
          </a:prstGeom>
          <a:solidFill>
            <a:schemeClr val="accent2">
              <a:alpha val="60000"/>
            </a:schemeClr>
          </a:solidFill>
        </p:spPr>
        <p:txBody>
          <a:bodyPr anchor="b"/>
          <a:lstStyle>
            <a:lvl1pPr>
              <a:lnSpc>
                <a:spcPct val="100000"/>
              </a:lnSpc>
              <a:defRPr sz="2000" b="1">
                <a:solidFill>
                  <a:srgbClr val="FFFFFF"/>
                </a:solidFill>
                <a:effectLst>
                  <a:outerShdw blurRad="38100" dist="38100" dir="2700000" rotWithShape="0">
                    <a:srgbClr val="000000"/>
                  </a:outerShdw>
                </a:effectLst>
                <a:latin typeface="+mj-lt"/>
                <a:ea typeface="+mj-ea"/>
                <a:cs typeface="+mj-cs"/>
                <a:sym typeface="Arial"/>
              </a:defRPr>
            </a:lvl1pPr>
          </a:lstStyle>
          <a:p>
            <a:r>
              <a:t>Titolo Testo</a:t>
            </a:r>
          </a:p>
        </p:txBody>
      </p:sp>
      <p:sp>
        <p:nvSpPr>
          <p:cNvPr id="63" name="Corpo livello uno…"/>
          <p:cNvSpPr>
            <a:spLocks noGrp="1"/>
          </p:cNvSpPr>
          <p:nvPr>
            <p:ph type="body" idx="1"/>
          </p:nvPr>
        </p:nvSpPr>
        <p:spPr>
          <a:xfrm>
            <a:off x="3575050" y="273050"/>
            <a:ext cx="5111750" cy="5853113"/>
          </a:xfrm>
          <a:prstGeom prst="rect">
            <a:avLst/>
          </a:prstGeom>
        </p:spPr>
        <p:txBody>
          <a:bodyPr/>
          <a:lstStyle>
            <a:lvl1pPr marL="342900" indent="-342900">
              <a:lnSpc>
                <a:spcPct val="100000"/>
              </a:lnSpc>
              <a:spcBef>
                <a:spcPts val="700"/>
              </a:spcBef>
              <a:buFontTx/>
              <a:defRPr sz="3200">
                <a:latin typeface="+mj-lt"/>
                <a:ea typeface="+mj-ea"/>
                <a:cs typeface="+mj-cs"/>
                <a:sym typeface="Arial"/>
              </a:defRPr>
            </a:lvl1pPr>
            <a:lvl2pPr marL="783771" indent="-326571">
              <a:lnSpc>
                <a:spcPct val="100000"/>
              </a:lnSpc>
              <a:spcBef>
                <a:spcPts val="700"/>
              </a:spcBef>
              <a:buFontTx/>
              <a:buChar char="–"/>
              <a:defRPr sz="3200">
                <a:latin typeface="+mj-lt"/>
                <a:ea typeface="+mj-ea"/>
                <a:cs typeface="+mj-cs"/>
                <a:sym typeface="Arial"/>
              </a:defRPr>
            </a:lvl2pPr>
            <a:lvl3pPr marL="1219200" indent="-304800">
              <a:lnSpc>
                <a:spcPct val="100000"/>
              </a:lnSpc>
              <a:spcBef>
                <a:spcPts val="700"/>
              </a:spcBef>
              <a:buFontTx/>
              <a:defRPr sz="3200">
                <a:latin typeface="+mj-lt"/>
                <a:ea typeface="+mj-ea"/>
                <a:cs typeface="+mj-cs"/>
                <a:sym typeface="Arial"/>
              </a:defRPr>
            </a:lvl3pPr>
            <a:lvl4pPr marL="1737360" indent="-365760">
              <a:lnSpc>
                <a:spcPct val="100000"/>
              </a:lnSpc>
              <a:spcBef>
                <a:spcPts val="700"/>
              </a:spcBef>
              <a:buFontTx/>
              <a:buChar char="–"/>
              <a:defRPr sz="3200">
                <a:latin typeface="+mj-lt"/>
                <a:ea typeface="+mj-ea"/>
                <a:cs typeface="+mj-cs"/>
                <a:sym typeface="Arial"/>
              </a:defRPr>
            </a:lvl4pPr>
            <a:lvl5pPr marL="2194560" indent="-365760">
              <a:lnSpc>
                <a:spcPct val="100000"/>
              </a:lnSpc>
              <a:spcBef>
                <a:spcPts val="700"/>
              </a:spcBef>
              <a:buFontTx/>
              <a:buChar char="»"/>
              <a:defRPr sz="3200">
                <a:latin typeface="+mj-lt"/>
                <a:ea typeface="+mj-ea"/>
                <a:cs typeface="+mj-cs"/>
                <a:sym typeface="Arial"/>
              </a:defRPr>
            </a:lvl5pPr>
          </a:lstStyle>
          <a:p>
            <a:r>
              <a:t>Corpo livello uno</a:t>
            </a:r>
          </a:p>
          <a:p>
            <a:pPr lvl="1"/>
            <a:r>
              <a:t>Corpo livello due</a:t>
            </a:r>
          </a:p>
          <a:p>
            <a:pPr lvl="2"/>
            <a:r>
              <a:t>Corpo livello tre</a:t>
            </a:r>
          </a:p>
          <a:p>
            <a:pPr lvl="3"/>
            <a:r>
              <a:t>Corpo livello quattro</a:t>
            </a:r>
          </a:p>
          <a:p>
            <a:pPr lvl="4"/>
            <a:r>
              <a:t>Corpo livello cinque</a:t>
            </a:r>
          </a:p>
        </p:txBody>
      </p:sp>
      <p:sp>
        <p:nvSpPr>
          <p:cNvPr id="64" name="Segnaposto testo 3"/>
          <p:cNvSpPr>
            <a:spLocks noGrp="1"/>
          </p:cNvSpPr>
          <p:nvPr>
            <p:ph type="body" sz="half" idx="13"/>
          </p:nvPr>
        </p:nvSpPr>
        <p:spPr>
          <a:xfrm>
            <a:off x="457198" y="1435100"/>
            <a:ext cx="3008317" cy="4691063"/>
          </a:xfrm>
          <a:prstGeom prst="rect">
            <a:avLst/>
          </a:prstGeom>
        </p:spPr>
        <p:txBody>
          <a:bodyPr/>
          <a:lstStyle/>
          <a:p>
            <a:endParaRPr/>
          </a:p>
        </p:txBody>
      </p:sp>
      <p:sp>
        <p:nvSpPr>
          <p:cNvPr id="65" name="Numero diapositiva"/>
          <p:cNvSpPr>
            <a:spLocks noGrp="1"/>
          </p:cNvSpPr>
          <p:nvPr>
            <p:ph type="sldNum" sz="quarter" idx="2"/>
          </p:nvPr>
        </p:nvSpPr>
        <p:spPr>
          <a:xfrm>
            <a:off x="8384897" y="6245225"/>
            <a:ext cx="301904" cy="288820"/>
          </a:xfrm>
          <a:prstGeom prst="rect">
            <a:avLst/>
          </a:prstGeom>
        </p:spPr>
        <p:txBody>
          <a:bodyPr anchor="t"/>
          <a:lstStyle>
            <a:lvl1pPr>
              <a:defRPr sz="1400" b="0">
                <a:solidFill>
                  <a:srgbClr val="000000"/>
                </a:solidFill>
                <a:latin typeface="+mj-lt"/>
                <a:ea typeface="+mj-ea"/>
                <a:cs typeface="+mj-cs"/>
                <a:sym typeface="Arial"/>
              </a:defRPr>
            </a:lvl1pPr>
          </a:lstStyle>
          <a:p>
            <a:fld id="{86CB4B4D-7CA3-9044-876B-883B54F8677D}" type="slidenum">
              <a:t>‹N›</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Immagine con didascalia">
    <p:bg>
      <p:bgPr>
        <a:solidFill>
          <a:srgbClr val="FFFFFF"/>
        </a:solidFill>
        <a:effectLst/>
      </p:bgPr>
    </p:bg>
    <p:spTree>
      <p:nvGrpSpPr>
        <p:cNvPr id="1" name=""/>
        <p:cNvGrpSpPr/>
        <p:nvPr/>
      </p:nvGrpSpPr>
      <p:grpSpPr>
        <a:xfrm>
          <a:off x="0" y="0"/>
          <a:ext cx="0" cy="0"/>
          <a:chOff x="0" y="0"/>
          <a:chExt cx="0" cy="0"/>
        </a:xfrm>
      </p:grpSpPr>
      <p:sp>
        <p:nvSpPr>
          <p:cNvPr id="72" name="Titolo Testo"/>
          <p:cNvSpPr>
            <a:spLocks noGrp="1"/>
          </p:cNvSpPr>
          <p:nvPr>
            <p:ph type="title"/>
          </p:nvPr>
        </p:nvSpPr>
        <p:spPr>
          <a:xfrm>
            <a:off x="1792288" y="4800600"/>
            <a:ext cx="5486403" cy="566738"/>
          </a:xfrm>
          <a:prstGeom prst="rect">
            <a:avLst/>
          </a:prstGeom>
          <a:solidFill>
            <a:schemeClr val="accent2">
              <a:alpha val="60000"/>
            </a:schemeClr>
          </a:solidFill>
        </p:spPr>
        <p:txBody>
          <a:bodyPr anchor="b"/>
          <a:lstStyle>
            <a:lvl1pPr>
              <a:lnSpc>
                <a:spcPct val="100000"/>
              </a:lnSpc>
              <a:defRPr sz="2000" b="1">
                <a:solidFill>
                  <a:srgbClr val="FFFFFF"/>
                </a:solidFill>
                <a:effectLst>
                  <a:outerShdw blurRad="38100" dist="38100" dir="2700000" rotWithShape="0">
                    <a:srgbClr val="000000"/>
                  </a:outerShdw>
                </a:effectLst>
                <a:latin typeface="+mj-lt"/>
                <a:ea typeface="+mj-ea"/>
                <a:cs typeface="+mj-cs"/>
                <a:sym typeface="Arial"/>
              </a:defRPr>
            </a:lvl1pPr>
          </a:lstStyle>
          <a:p>
            <a:r>
              <a:t>Titolo Testo</a:t>
            </a:r>
          </a:p>
        </p:txBody>
      </p:sp>
      <p:sp>
        <p:nvSpPr>
          <p:cNvPr id="73" name="Segnaposto immagine 2"/>
          <p:cNvSpPr>
            <a:spLocks noGrp="1"/>
          </p:cNvSpPr>
          <p:nvPr>
            <p:ph type="pic" sz="half" idx="13"/>
          </p:nvPr>
        </p:nvSpPr>
        <p:spPr>
          <a:xfrm>
            <a:off x="1792288" y="612775"/>
            <a:ext cx="5486403" cy="4114800"/>
          </a:xfrm>
          <a:prstGeom prst="rect">
            <a:avLst/>
          </a:prstGeom>
        </p:spPr>
        <p:txBody>
          <a:bodyPr lIns="91439" tIns="45719" rIns="91439" bIns="45719">
            <a:noAutofit/>
          </a:bodyPr>
          <a:lstStyle/>
          <a:p>
            <a:endParaRPr/>
          </a:p>
        </p:txBody>
      </p:sp>
      <p:sp>
        <p:nvSpPr>
          <p:cNvPr id="74" name="Corpo livello uno…"/>
          <p:cNvSpPr>
            <a:spLocks noGrp="1"/>
          </p:cNvSpPr>
          <p:nvPr>
            <p:ph type="body" sz="quarter" idx="1"/>
          </p:nvPr>
        </p:nvSpPr>
        <p:spPr>
          <a:xfrm>
            <a:off x="1792288" y="5367337"/>
            <a:ext cx="5486403" cy="804865"/>
          </a:xfrm>
          <a:prstGeom prst="rect">
            <a:avLst/>
          </a:prstGeom>
        </p:spPr>
        <p:txBody>
          <a:bodyPr/>
          <a:lstStyle>
            <a:lvl1pPr marL="0" indent="0">
              <a:lnSpc>
                <a:spcPct val="100000"/>
              </a:lnSpc>
              <a:spcBef>
                <a:spcPts val="300"/>
              </a:spcBef>
              <a:buSzTx/>
              <a:buFontTx/>
              <a:buNone/>
              <a:defRPr sz="1400">
                <a:latin typeface="+mj-lt"/>
                <a:ea typeface="+mj-ea"/>
                <a:cs typeface="+mj-cs"/>
                <a:sym typeface="Arial"/>
              </a:defRPr>
            </a:lvl1pPr>
            <a:lvl2pPr marL="0" indent="0">
              <a:lnSpc>
                <a:spcPct val="100000"/>
              </a:lnSpc>
              <a:spcBef>
                <a:spcPts val="300"/>
              </a:spcBef>
              <a:buSzTx/>
              <a:buFontTx/>
              <a:buNone/>
              <a:defRPr sz="1400">
                <a:latin typeface="+mj-lt"/>
                <a:ea typeface="+mj-ea"/>
                <a:cs typeface="+mj-cs"/>
                <a:sym typeface="Arial"/>
              </a:defRPr>
            </a:lvl2pPr>
            <a:lvl3pPr marL="0" indent="0">
              <a:lnSpc>
                <a:spcPct val="100000"/>
              </a:lnSpc>
              <a:spcBef>
                <a:spcPts val="300"/>
              </a:spcBef>
              <a:buSzTx/>
              <a:buFontTx/>
              <a:buNone/>
              <a:defRPr sz="1400">
                <a:latin typeface="+mj-lt"/>
                <a:ea typeface="+mj-ea"/>
                <a:cs typeface="+mj-cs"/>
                <a:sym typeface="Arial"/>
              </a:defRPr>
            </a:lvl3pPr>
            <a:lvl4pPr marL="0" indent="0">
              <a:lnSpc>
                <a:spcPct val="100000"/>
              </a:lnSpc>
              <a:spcBef>
                <a:spcPts val="300"/>
              </a:spcBef>
              <a:buSzTx/>
              <a:buFontTx/>
              <a:buNone/>
              <a:defRPr sz="1400">
                <a:latin typeface="+mj-lt"/>
                <a:ea typeface="+mj-ea"/>
                <a:cs typeface="+mj-cs"/>
                <a:sym typeface="Arial"/>
              </a:defRPr>
            </a:lvl4pPr>
            <a:lvl5pPr marL="0" indent="0">
              <a:lnSpc>
                <a:spcPct val="100000"/>
              </a:lnSpc>
              <a:spcBef>
                <a:spcPts val="300"/>
              </a:spcBef>
              <a:buSzTx/>
              <a:buFontTx/>
              <a:buNone/>
              <a:defRPr sz="1400">
                <a:latin typeface="+mj-lt"/>
                <a:ea typeface="+mj-ea"/>
                <a:cs typeface="+mj-cs"/>
                <a:sym typeface="Arial"/>
              </a:defRPr>
            </a:lvl5pPr>
          </a:lstStyle>
          <a:p>
            <a:r>
              <a:t>Corpo livello uno</a:t>
            </a:r>
          </a:p>
          <a:p>
            <a:pPr lvl="1"/>
            <a:r>
              <a:t>Corpo livello due</a:t>
            </a:r>
          </a:p>
          <a:p>
            <a:pPr lvl="2"/>
            <a:r>
              <a:t>Corpo livello tre</a:t>
            </a:r>
          </a:p>
          <a:p>
            <a:pPr lvl="3"/>
            <a:r>
              <a:t>Corpo livello quattro</a:t>
            </a:r>
          </a:p>
          <a:p>
            <a:pPr lvl="4"/>
            <a:r>
              <a:t>Corpo livello cinque</a:t>
            </a:r>
          </a:p>
        </p:txBody>
      </p:sp>
      <p:sp>
        <p:nvSpPr>
          <p:cNvPr id="75" name="Numero diapositiva"/>
          <p:cNvSpPr>
            <a:spLocks noGrp="1"/>
          </p:cNvSpPr>
          <p:nvPr>
            <p:ph type="sldNum" sz="quarter" idx="2"/>
          </p:nvPr>
        </p:nvSpPr>
        <p:spPr>
          <a:xfrm>
            <a:off x="8384897" y="6245225"/>
            <a:ext cx="301904" cy="288820"/>
          </a:xfrm>
          <a:prstGeom prst="rect">
            <a:avLst/>
          </a:prstGeom>
        </p:spPr>
        <p:txBody>
          <a:bodyPr anchor="t"/>
          <a:lstStyle>
            <a:lvl1pPr>
              <a:defRPr sz="1400" b="0">
                <a:solidFill>
                  <a:srgbClr val="000000"/>
                </a:solidFill>
                <a:latin typeface="+mj-lt"/>
                <a:ea typeface="+mj-ea"/>
                <a:cs typeface="+mj-cs"/>
                <a:sym typeface="Arial"/>
              </a:defRPr>
            </a:lvl1pPr>
          </a:lstStyle>
          <a:p>
            <a:fld id="{86CB4B4D-7CA3-9044-876B-883B54F8677D}" type="slidenum">
              <a:t>‹N›</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Titolo, diagramma o organigramma">
    <p:bg>
      <p:bgPr>
        <a:solidFill>
          <a:srgbClr val="FFFFFF"/>
        </a:solidFill>
        <a:effectLst/>
      </p:bgPr>
    </p:bg>
    <p:spTree>
      <p:nvGrpSpPr>
        <p:cNvPr id="1" name=""/>
        <p:cNvGrpSpPr/>
        <p:nvPr/>
      </p:nvGrpSpPr>
      <p:grpSpPr>
        <a:xfrm>
          <a:off x="0" y="0"/>
          <a:ext cx="0" cy="0"/>
          <a:chOff x="0" y="0"/>
          <a:chExt cx="0" cy="0"/>
        </a:xfrm>
      </p:grpSpPr>
      <p:sp>
        <p:nvSpPr>
          <p:cNvPr id="82" name="Titolo Testo"/>
          <p:cNvSpPr>
            <a:spLocks noGrp="1"/>
          </p:cNvSpPr>
          <p:nvPr>
            <p:ph type="title"/>
          </p:nvPr>
        </p:nvSpPr>
        <p:spPr>
          <a:xfrm>
            <a:off x="0" y="0"/>
            <a:ext cx="9144000" cy="836613"/>
          </a:xfrm>
          <a:prstGeom prst="rect">
            <a:avLst/>
          </a:prstGeom>
          <a:solidFill>
            <a:schemeClr val="accent2">
              <a:alpha val="60000"/>
            </a:schemeClr>
          </a:solidFill>
        </p:spPr>
        <p:txBody>
          <a:bodyPr/>
          <a:lstStyle>
            <a:lvl1pPr algn="ctr">
              <a:lnSpc>
                <a:spcPct val="100000"/>
              </a:lnSpc>
              <a:defRPr sz="2400" b="1">
                <a:solidFill>
                  <a:srgbClr val="FFFFFF"/>
                </a:solidFill>
                <a:effectLst>
                  <a:outerShdw blurRad="38100" dist="38100" dir="2700000" rotWithShape="0">
                    <a:srgbClr val="000000"/>
                  </a:outerShdw>
                </a:effectLst>
                <a:latin typeface="+mj-lt"/>
                <a:ea typeface="+mj-ea"/>
                <a:cs typeface="+mj-cs"/>
                <a:sym typeface="Arial"/>
              </a:defRPr>
            </a:lvl1pPr>
          </a:lstStyle>
          <a:p>
            <a:r>
              <a:t>Titolo Testo</a:t>
            </a:r>
          </a:p>
        </p:txBody>
      </p:sp>
      <p:sp>
        <p:nvSpPr>
          <p:cNvPr id="83" name="Numero diapositiva"/>
          <p:cNvSpPr>
            <a:spLocks noGrp="1"/>
          </p:cNvSpPr>
          <p:nvPr>
            <p:ph type="sldNum" sz="quarter" idx="2"/>
          </p:nvPr>
        </p:nvSpPr>
        <p:spPr>
          <a:xfrm>
            <a:off x="8384897" y="6245225"/>
            <a:ext cx="301904" cy="288820"/>
          </a:xfrm>
          <a:prstGeom prst="rect">
            <a:avLst/>
          </a:prstGeom>
        </p:spPr>
        <p:txBody>
          <a:bodyPr anchor="t"/>
          <a:lstStyle>
            <a:lvl1pPr>
              <a:defRPr sz="1400" b="0">
                <a:solidFill>
                  <a:srgbClr val="000000"/>
                </a:solidFill>
                <a:latin typeface="+mj-lt"/>
                <a:ea typeface="+mj-ea"/>
                <a:cs typeface="+mj-cs"/>
                <a:sym typeface="Arial"/>
              </a:defRPr>
            </a:lvl1pPr>
          </a:lstStyle>
          <a:p>
            <a:fld id="{86CB4B4D-7CA3-9044-876B-883B54F8677D}" type="slidenum">
              <a:t>‹N›</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Titolo e tabella">
    <p:bg>
      <p:bgPr>
        <a:solidFill>
          <a:srgbClr val="FFFFFF"/>
        </a:solidFill>
        <a:effectLst/>
      </p:bgPr>
    </p:bg>
    <p:spTree>
      <p:nvGrpSpPr>
        <p:cNvPr id="1" name=""/>
        <p:cNvGrpSpPr/>
        <p:nvPr/>
      </p:nvGrpSpPr>
      <p:grpSpPr>
        <a:xfrm>
          <a:off x="0" y="0"/>
          <a:ext cx="0" cy="0"/>
          <a:chOff x="0" y="0"/>
          <a:chExt cx="0" cy="0"/>
        </a:xfrm>
      </p:grpSpPr>
      <p:sp>
        <p:nvSpPr>
          <p:cNvPr id="90" name="Titolo Testo"/>
          <p:cNvSpPr>
            <a:spLocks noGrp="1"/>
          </p:cNvSpPr>
          <p:nvPr>
            <p:ph type="title"/>
          </p:nvPr>
        </p:nvSpPr>
        <p:spPr>
          <a:xfrm>
            <a:off x="0" y="0"/>
            <a:ext cx="9144000" cy="836613"/>
          </a:xfrm>
          <a:prstGeom prst="rect">
            <a:avLst/>
          </a:prstGeom>
          <a:solidFill>
            <a:schemeClr val="accent2">
              <a:alpha val="60000"/>
            </a:schemeClr>
          </a:solidFill>
        </p:spPr>
        <p:txBody>
          <a:bodyPr/>
          <a:lstStyle>
            <a:lvl1pPr algn="ctr">
              <a:lnSpc>
                <a:spcPct val="100000"/>
              </a:lnSpc>
              <a:defRPr sz="2400" b="1">
                <a:solidFill>
                  <a:srgbClr val="FFFFFF"/>
                </a:solidFill>
                <a:effectLst>
                  <a:outerShdw blurRad="38100" dist="38100" dir="2700000" rotWithShape="0">
                    <a:srgbClr val="000000"/>
                  </a:outerShdw>
                </a:effectLst>
                <a:latin typeface="+mj-lt"/>
                <a:ea typeface="+mj-ea"/>
                <a:cs typeface="+mj-cs"/>
                <a:sym typeface="Arial"/>
              </a:defRPr>
            </a:lvl1pPr>
          </a:lstStyle>
          <a:p>
            <a:r>
              <a:t>Titolo Testo</a:t>
            </a:r>
          </a:p>
        </p:txBody>
      </p:sp>
      <p:sp>
        <p:nvSpPr>
          <p:cNvPr id="91" name="Numero diapositiva"/>
          <p:cNvSpPr>
            <a:spLocks noGrp="1"/>
          </p:cNvSpPr>
          <p:nvPr>
            <p:ph type="sldNum" sz="quarter" idx="2"/>
          </p:nvPr>
        </p:nvSpPr>
        <p:spPr>
          <a:xfrm>
            <a:off x="8384897" y="6245225"/>
            <a:ext cx="301904" cy="288820"/>
          </a:xfrm>
          <a:prstGeom prst="rect">
            <a:avLst/>
          </a:prstGeom>
        </p:spPr>
        <p:txBody>
          <a:bodyPr anchor="t"/>
          <a:lstStyle>
            <a:lvl1pPr>
              <a:defRPr sz="1400" b="0">
                <a:solidFill>
                  <a:srgbClr val="000000"/>
                </a:solidFill>
                <a:latin typeface="+mj-lt"/>
                <a:ea typeface="+mj-ea"/>
                <a:cs typeface="+mj-cs"/>
                <a:sym typeface="Arial"/>
              </a:defRPr>
            </a:lvl1pPr>
          </a:lstStyle>
          <a:p>
            <a:fld id="{86CB4B4D-7CA3-9044-876B-883B54F8677D}" type="slidenum">
              <a:t>‹N›</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Titolo, contenuto e contenuto 2">
    <p:bg>
      <p:bgPr>
        <a:solidFill>
          <a:srgbClr val="FFFFFF"/>
        </a:solidFill>
        <a:effectLst/>
      </p:bgPr>
    </p:bg>
    <p:spTree>
      <p:nvGrpSpPr>
        <p:cNvPr id="1" name=""/>
        <p:cNvGrpSpPr/>
        <p:nvPr/>
      </p:nvGrpSpPr>
      <p:grpSpPr>
        <a:xfrm>
          <a:off x="0" y="0"/>
          <a:ext cx="0" cy="0"/>
          <a:chOff x="0" y="0"/>
          <a:chExt cx="0" cy="0"/>
        </a:xfrm>
      </p:grpSpPr>
      <p:sp>
        <p:nvSpPr>
          <p:cNvPr id="98" name="Titolo Testo"/>
          <p:cNvSpPr>
            <a:spLocks noGrp="1"/>
          </p:cNvSpPr>
          <p:nvPr>
            <p:ph type="title"/>
          </p:nvPr>
        </p:nvSpPr>
        <p:spPr>
          <a:xfrm>
            <a:off x="0" y="0"/>
            <a:ext cx="9144000" cy="836613"/>
          </a:xfrm>
          <a:prstGeom prst="rect">
            <a:avLst/>
          </a:prstGeom>
          <a:solidFill>
            <a:schemeClr val="accent2">
              <a:alpha val="60000"/>
            </a:schemeClr>
          </a:solidFill>
        </p:spPr>
        <p:txBody>
          <a:bodyPr/>
          <a:lstStyle>
            <a:lvl1pPr algn="ctr">
              <a:lnSpc>
                <a:spcPct val="100000"/>
              </a:lnSpc>
              <a:defRPr sz="2400" b="1">
                <a:solidFill>
                  <a:srgbClr val="FFFFFF"/>
                </a:solidFill>
                <a:effectLst>
                  <a:outerShdw blurRad="38100" dist="38100" dir="2700000" rotWithShape="0">
                    <a:srgbClr val="000000"/>
                  </a:outerShdw>
                </a:effectLst>
                <a:latin typeface="+mj-lt"/>
                <a:ea typeface="+mj-ea"/>
                <a:cs typeface="+mj-cs"/>
                <a:sym typeface="Arial"/>
              </a:defRPr>
            </a:lvl1pPr>
          </a:lstStyle>
          <a:p>
            <a:r>
              <a:t>Titolo Testo</a:t>
            </a:r>
          </a:p>
        </p:txBody>
      </p:sp>
      <p:sp>
        <p:nvSpPr>
          <p:cNvPr id="99" name="Corpo livello uno…"/>
          <p:cNvSpPr>
            <a:spLocks noGrp="1"/>
          </p:cNvSpPr>
          <p:nvPr>
            <p:ph type="body" sz="half" idx="1"/>
          </p:nvPr>
        </p:nvSpPr>
        <p:spPr>
          <a:xfrm>
            <a:off x="457200" y="1600200"/>
            <a:ext cx="4038600" cy="4525963"/>
          </a:xfrm>
          <a:prstGeom prst="rect">
            <a:avLst/>
          </a:prstGeom>
        </p:spPr>
        <p:txBody>
          <a:bodyPr/>
          <a:lstStyle>
            <a:lvl1pPr marL="342900" indent="-342900">
              <a:lnSpc>
                <a:spcPct val="100000"/>
              </a:lnSpc>
              <a:spcBef>
                <a:spcPts val="700"/>
              </a:spcBef>
              <a:buFontTx/>
              <a:defRPr sz="3200">
                <a:latin typeface="+mj-lt"/>
                <a:ea typeface="+mj-ea"/>
                <a:cs typeface="+mj-cs"/>
                <a:sym typeface="Arial"/>
              </a:defRPr>
            </a:lvl1pPr>
            <a:lvl2pPr marL="783771" indent="-326571">
              <a:lnSpc>
                <a:spcPct val="100000"/>
              </a:lnSpc>
              <a:spcBef>
                <a:spcPts val="700"/>
              </a:spcBef>
              <a:buFontTx/>
              <a:buChar char="–"/>
              <a:defRPr sz="3200">
                <a:latin typeface="+mj-lt"/>
                <a:ea typeface="+mj-ea"/>
                <a:cs typeface="+mj-cs"/>
                <a:sym typeface="Arial"/>
              </a:defRPr>
            </a:lvl2pPr>
            <a:lvl3pPr marL="1219200" indent="-304800">
              <a:lnSpc>
                <a:spcPct val="100000"/>
              </a:lnSpc>
              <a:spcBef>
                <a:spcPts val="700"/>
              </a:spcBef>
              <a:buFontTx/>
              <a:defRPr sz="3200">
                <a:latin typeface="+mj-lt"/>
                <a:ea typeface="+mj-ea"/>
                <a:cs typeface="+mj-cs"/>
                <a:sym typeface="Arial"/>
              </a:defRPr>
            </a:lvl3pPr>
            <a:lvl4pPr marL="1737360" indent="-365760">
              <a:lnSpc>
                <a:spcPct val="100000"/>
              </a:lnSpc>
              <a:spcBef>
                <a:spcPts val="700"/>
              </a:spcBef>
              <a:buFontTx/>
              <a:buChar char="–"/>
              <a:defRPr sz="3200">
                <a:latin typeface="+mj-lt"/>
                <a:ea typeface="+mj-ea"/>
                <a:cs typeface="+mj-cs"/>
                <a:sym typeface="Arial"/>
              </a:defRPr>
            </a:lvl4pPr>
            <a:lvl5pPr marL="2194560" indent="-365760">
              <a:lnSpc>
                <a:spcPct val="100000"/>
              </a:lnSpc>
              <a:spcBef>
                <a:spcPts val="700"/>
              </a:spcBef>
              <a:buFontTx/>
              <a:buChar char="»"/>
              <a:defRPr sz="3200">
                <a:latin typeface="+mj-lt"/>
                <a:ea typeface="+mj-ea"/>
                <a:cs typeface="+mj-cs"/>
                <a:sym typeface="Arial"/>
              </a:defRPr>
            </a:lvl5pPr>
          </a:lstStyle>
          <a:p>
            <a:r>
              <a:t>Corpo livello uno</a:t>
            </a:r>
          </a:p>
          <a:p>
            <a:pPr lvl="1"/>
            <a:r>
              <a:t>Corpo livello due</a:t>
            </a:r>
          </a:p>
          <a:p>
            <a:pPr lvl="2"/>
            <a:r>
              <a:t>Corpo livello tre</a:t>
            </a:r>
          </a:p>
          <a:p>
            <a:pPr lvl="3"/>
            <a:r>
              <a:t>Corpo livello quattro</a:t>
            </a:r>
          </a:p>
          <a:p>
            <a:pPr lvl="4"/>
            <a:r>
              <a:t>Corpo livello cinque</a:t>
            </a:r>
          </a:p>
        </p:txBody>
      </p:sp>
      <p:sp>
        <p:nvSpPr>
          <p:cNvPr id="100" name="Numero diapositiva"/>
          <p:cNvSpPr>
            <a:spLocks noGrp="1"/>
          </p:cNvSpPr>
          <p:nvPr>
            <p:ph type="sldNum" sz="quarter" idx="2"/>
          </p:nvPr>
        </p:nvSpPr>
        <p:spPr>
          <a:xfrm>
            <a:off x="8384897" y="6245225"/>
            <a:ext cx="301904" cy="288820"/>
          </a:xfrm>
          <a:prstGeom prst="rect">
            <a:avLst/>
          </a:prstGeom>
        </p:spPr>
        <p:txBody>
          <a:bodyPr anchor="t"/>
          <a:lstStyle>
            <a:lvl1pPr>
              <a:defRPr sz="1400" b="0">
                <a:solidFill>
                  <a:srgbClr val="000000"/>
                </a:solidFill>
                <a:latin typeface="+mj-lt"/>
                <a:ea typeface="+mj-ea"/>
                <a:cs typeface="+mj-cs"/>
                <a:sym typeface="Arial"/>
              </a:defRPr>
            </a:lvl1pPr>
          </a:lstStyle>
          <a:p>
            <a:fld id="{86CB4B4D-7CA3-9044-876B-883B54F8677D}" type="slidenum">
              <a:t>‹N›</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olo e  contenuto 4">
    <p:bg>
      <p:bgPr>
        <a:solidFill>
          <a:srgbClr val="FFFFFF"/>
        </a:solidFill>
        <a:effectLst/>
      </p:bgPr>
    </p:bg>
    <p:spTree>
      <p:nvGrpSpPr>
        <p:cNvPr id="1" name=""/>
        <p:cNvGrpSpPr/>
        <p:nvPr/>
      </p:nvGrpSpPr>
      <p:grpSpPr>
        <a:xfrm>
          <a:off x="0" y="0"/>
          <a:ext cx="0" cy="0"/>
          <a:chOff x="0" y="0"/>
          <a:chExt cx="0" cy="0"/>
        </a:xfrm>
      </p:grpSpPr>
      <p:sp>
        <p:nvSpPr>
          <p:cNvPr id="107" name="Titolo Testo"/>
          <p:cNvSpPr>
            <a:spLocks noGrp="1"/>
          </p:cNvSpPr>
          <p:nvPr>
            <p:ph type="title"/>
          </p:nvPr>
        </p:nvSpPr>
        <p:spPr>
          <a:xfrm>
            <a:off x="0" y="0"/>
            <a:ext cx="9144000" cy="836613"/>
          </a:xfrm>
          <a:prstGeom prst="rect">
            <a:avLst/>
          </a:prstGeom>
          <a:solidFill>
            <a:schemeClr val="accent2">
              <a:alpha val="60000"/>
            </a:schemeClr>
          </a:solidFill>
        </p:spPr>
        <p:txBody>
          <a:bodyPr/>
          <a:lstStyle>
            <a:lvl1pPr algn="ctr">
              <a:lnSpc>
                <a:spcPct val="100000"/>
              </a:lnSpc>
              <a:defRPr sz="2400" b="1">
                <a:solidFill>
                  <a:srgbClr val="FFFFFF"/>
                </a:solidFill>
                <a:effectLst>
                  <a:outerShdw blurRad="38100" dist="38100" dir="2700000" rotWithShape="0">
                    <a:srgbClr val="000000"/>
                  </a:outerShdw>
                </a:effectLst>
                <a:latin typeface="+mj-lt"/>
                <a:ea typeface="+mj-ea"/>
                <a:cs typeface="+mj-cs"/>
                <a:sym typeface="Arial"/>
              </a:defRPr>
            </a:lvl1pPr>
          </a:lstStyle>
          <a:p>
            <a:r>
              <a:t>Titolo Testo</a:t>
            </a:r>
          </a:p>
        </p:txBody>
      </p:sp>
      <p:sp>
        <p:nvSpPr>
          <p:cNvPr id="108" name="Corpo livello uno…"/>
          <p:cNvSpPr>
            <a:spLocks noGrp="1"/>
          </p:cNvSpPr>
          <p:nvPr>
            <p:ph type="body" sz="quarter" idx="1"/>
          </p:nvPr>
        </p:nvSpPr>
        <p:spPr>
          <a:xfrm>
            <a:off x="457200" y="1600200"/>
            <a:ext cx="4038600" cy="2185991"/>
          </a:xfrm>
          <a:prstGeom prst="rect">
            <a:avLst/>
          </a:prstGeom>
        </p:spPr>
        <p:txBody>
          <a:bodyPr/>
          <a:lstStyle>
            <a:lvl1pPr marL="342900" indent="-342900">
              <a:lnSpc>
                <a:spcPct val="100000"/>
              </a:lnSpc>
              <a:spcBef>
                <a:spcPts val="700"/>
              </a:spcBef>
              <a:buFontTx/>
              <a:defRPr sz="3200">
                <a:latin typeface="+mj-lt"/>
                <a:ea typeface="+mj-ea"/>
                <a:cs typeface="+mj-cs"/>
                <a:sym typeface="Arial"/>
              </a:defRPr>
            </a:lvl1pPr>
            <a:lvl2pPr marL="783771" indent="-326571">
              <a:lnSpc>
                <a:spcPct val="100000"/>
              </a:lnSpc>
              <a:spcBef>
                <a:spcPts val="700"/>
              </a:spcBef>
              <a:buFontTx/>
              <a:buChar char="–"/>
              <a:defRPr sz="3200">
                <a:latin typeface="+mj-lt"/>
                <a:ea typeface="+mj-ea"/>
                <a:cs typeface="+mj-cs"/>
                <a:sym typeface="Arial"/>
              </a:defRPr>
            </a:lvl2pPr>
            <a:lvl3pPr marL="1219200" indent="-304800">
              <a:lnSpc>
                <a:spcPct val="100000"/>
              </a:lnSpc>
              <a:spcBef>
                <a:spcPts val="700"/>
              </a:spcBef>
              <a:buFontTx/>
              <a:defRPr sz="3200">
                <a:latin typeface="+mj-lt"/>
                <a:ea typeface="+mj-ea"/>
                <a:cs typeface="+mj-cs"/>
                <a:sym typeface="Arial"/>
              </a:defRPr>
            </a:lvl3pPr>
            <a:lvl4pPr marL="1737360" indent="-365760">
              <a:lnSpc>
                <a:spcPct val="100000"/>
              </a:lnSpc>
              <a:spcBef>
                <a:spcPts val="700"/>
              </a:spcBef>
              <a:buFontTx/>
              <a:buChar char="–"/>
              <a:defRPr sz="3200">
                <a:latin typeface="+mj-lt"/>
                <a:ea typeface="+mj-ea"/>
                <a:cs typeface="+mj-cs"/>
                <a:sym typeface="Arial"/>
              </a:defRPr>
            </a:lvl4pPr>
            <a:lvl5pPr marL="2194560" indent="-365760">
              <a:lnSpc>
                <a:spcPct val="100000"/>
              </a:lnSpc>
              <a:spcBef>
                <a:spcPts val="700"/>
              </a:spcBef>
              <a:buFontTx/>
              <a:buChar char="»"/>
              <a:defRPr sz="3200">
                <a:latin typeface="+mj-lt"/>
                <a:ea typeface="+mj-ea"/>
                <a:cs typeface="+mj-cs"/>
                <a:sym typeface="Arial"/>
              </a:defRPr>
            </a:lvl5pPr>
          </a:lstStyle>
          <a:p>
            <a:r>
              <a:t>Corpo livello uno</a:t>
            </a:r>
          </a:p>
          <a:p>
            <a:pPr lvl="1"/>
            <a:r>
              <a:t>Corpo livello due</a:t>
            </a:r>
          </a:p>
          <a:p>
            <a:pPr lvl="2"/>
            <a:r>
              <a:t>Corpo livello tre</a:t>
            </a:r>
          </a:p>
          <a:p>
            <a:pPr lvl="3"/>
            <a:r>
              <a:t>Corpo livello quattro</a:t>
            </a:r>
          </a:p>
          <a:p>
            <a:pPr lvl="4"/>
            <a:r>
              <a:t>Corpo livello cinque</a:t>
            </a:r>
          </a:p>
        </p:txBody>
      </p:sp>
      <p:sp>
        <p:nvSpPr>
          <p:cNvPr id="109" name="Numero diapositiva"/>
          <p:cNvSpPr>
            <a:spLocks noGrp="1"/>
          </p:cNvSpPr>
          <p:nvPr>
            <p:ph type="sldNum" sz="quarter" idx="2"/>
          </p:nvPr>
        </p:nvSpPr>
        <p:spPr>
          <a:xfrm>
            <a:off x="8384897" y="6245225"/>
            <a:ext cx="301904" cy="288820"/>
          </a:xfrm>
          <a:prstGeom prst="rect">
            <a:avLst/>
          </a:prstGeom>
        </p:spPr>
        <p:txBody>
          <a:bodyPr anchor="t"/>
          <a:lstStyle>
            <a:lvl1pPr>
              <a:defRPr sz="1400" b="0">
                <a:solidFill>
                  <a:srgbClr val="000000"/>
                </a:solidFill>
                <a:latin typeface="+mj-lt"/>
                <a:ea typeface="+mj-ea"/>
                <a:cs typeface="+mj-cs"/>
                <a:sym typeface="Arial"/>
              </a:defRPr>
            </a:lvl1pPr>
          </a:lstStyle>
          <a:p>
            <a:fld id="{86CB4B4D-7CA3-9044-876B-883B54F8677D}" type="slidenum">
              <a:t>‹N›</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1_Diapositiva titolo">
    <p:bg>
      <p:bgPr>
        <a:solidFill>
          <a:srgbClr val="FFFFFF"/>
        </a:solidFill>
        <a:effectLst/>
      </p:bgPr>
    </p:bg>
    <p:spTree>
      <p:nvGrpSpPr>
        <p:cNvPr id="1" name=""/>
        <p:cNvGrpSpPr/>
        <p:nvPr/>
      </p:nvGrpSpPr>
      <p:grpSpPr>
        <a:xfrm>
          <a:off x="0" y="0"/>
          <a:ext cx="0" cy="0"/>
          <a:chOff x="0" y="0"/>
          <a:chExt cx="0" cy="0"/>
        </a:xfrm>
      </p:grpSpPr>
      <p:sp>
        <p:nvSpPr>
          <p:cNvPr id="116" name="Titolo Testo"/>
          <p:cNvSpPr>
            <a:spLocks noGrp="1"/>
          </p:cNvSpPr>
          <p:nvPr>
            <p:ph type="title"/>
          </p:nvPr>
        </p:nvSpPr>
        <p:spPr>
          <a:xfrm>
            <a:off x="685800" y="2130431"/>
            <a:ext cx="7772400" cy="1470026"/>
          </a:xfrm>
          <a:prstGeom prst="rect">
            <a:avLst/>
          </a:prstGeom>
          <a:solidFill>
            <a:schemeClr val="accent2">
              <a:alpha val="60000"/>
            </a:schemeClr>
          </a:solidFill>
        </p:spPr>
        <p:txBody>
          <a:bodyPr/>
          <a:lstStyle>
            <a:lvl1pPr algn="ctr">
              <a:lnSpc>
                <a:spcPct val="100000"/>
              </a:lnSpc>
              <a:defRPr sz="2400" b="1">
                <a:solidFill>
                  <a:srgbClr val="FFFFFF"/>
                </a:solidFill>
                <a:effectLst>
                  <a:outerShdw blurRad="38100" dist="38100" dir="2700000" rotWithShape="0">
                    <a:srgbClr val="000000"/>
                  </a:outerShdw>
                </a:effectLst>
                <a:latin typeface="+mj-lt"/>
                <a:ea typeface="+mj-ea"/>
                <a:cs typeface="+mj-cs"/>
                <a:sym typeface="Arial"/>
              </a:defRPr>
            </a:lvl1pPr>
          </a:lstStyle>
          <a:p>
            <a:r>
              <a:t>Titolo Testo</a:t>
            </a:r>
          </a:p>
        </p:txBody>
      </p:sp>
      <p:sp>
        <p:nvSpPr>
          <p:cNvPr id="117" name="Corpo livello uno…"/>
          <p:cNvSpPr>
            <a:spLocks noGrp="1"/>
          </p:cNvSpPr>
          <p:nvPr>
            <p:ph type="body" sz="quarter" idx="1"/>
          </p:nvPr>
        </p:nvSpPr>
        <p:spPr>
          <a:xfrm>
            <a:off x="1371600" y="3886200"/>
            <a:ext cx="6400800" cy="1752600"/>
          </a:xfrm>
          <a:prstGeom prst="rect">
            <a:avLst/>
          </a:prstGeom>
        </p:spPr>
        <p:txBody>
          <a:bodyPr/>
          <a:lstStyle>
            <a:lvl1pPr marL="0" indent="0" algn="ctr">
              <a:lnSpc>
                <a:spcPct val="100000"/>
              </a:lnSpc>
              <a:spcBef>
                <a:spcPts val="700"/>
              </a:spcBef>
              <a:buSzTx/>
              <a:buFontTx/>
              <a:buNone/>
              <a:defRPr sz="3200">
                <a:latin typeface="+mj-lt"/>
                <a:ea typeface="+mj-ea"/>
                <a:cs typeface="+mj-cs"/>
                <a:sym typeface="Arial"/>
              </a:defRPr>
            </a:lvl1pPr>
            <a:lvl2pPr marL="0" indent="0" algn="ctr">
              <a:lnSpc>
                <a:spcPct val="100000"/>
              </a:lnSpc>
              <a:spcBef>
                <a:spcPts val="700"/>
              </a:spcBef>
              <a:buSzTx/>
              <a:buFontTx/>
              <a:buNone/>
              <a:defRPr sz="3200">
                <a:latin typeface="+mj-lt"/>
                <a:ea typeface="+mj-ea"/>
                <a:cs typeface="+mj-cs"/>
                <a:sym typeface="Arial"/>
              </a:defRPr>
            </a:lvl2pPr>
            <a:lvl3pPr marL="0" indent="0" algn="ctr">
              <a:lnSpc>
                <a:spcPct val="100000"/>
              </a:lnSpc>
              <a:spcBef>
                <a:spcPts val="700"/>
              </a:spcBef>
              <a:buSzTx/>
              <a:buFontTx/>
              <a:buNone/>
              <a:defRPr sz="3200">
                <a:latin typeface="+mj-lt"/>
                <a:ea typeface="+mj-ea"/>
                <a:cs typeface="+mj-cs"/>
                <a:sym typeface="Arial"/>
              </a:defRPr>
            </a:lvl3pPr>
            <a:lvl4pPr marL="0" indent="0" algn="ctr">
              <a:lnSpc>
                <a:spcPct val="100000"/>
              </a:lnSpc>
              <a:spcBef>
                <a:spcPts val="700"/>
              </a:spcBef>
              <a:buSzTx/>
              <a:buFontTx/>
              <a:buNone/>
              <a:defRPr sz="3200">
                <a:latin typeface="+mj-lt"/>
                <a:ea typeface="+mj-ea"/>
                <a:cs typeface="+mj-cs"/>
                <a:sym typeface="Arial"/>
              </a:defRPr>
            </a:lvl4pPr>
            <a:lvl5pPr marL="0" indent="0" algn="ctr">
              <a:lnSpc>
                <a:spcPct val="100000"/>
              </a:lnSpc>
              <a:spcBef>
                <a:spcPts val="700"/>
              </a:spcBef>
              <a:buSzTx/>
              <a:buFontTx/>
              <a:buNone/>
              <a:defRPr sz="3200">
                <a:latin typeface="+mj-lt"/>
                <a:ea typeface="+mj-ea"/>
                <a:cs typeface="+mj-cs"/>
                <a:sym typeface="Arial"/>
              </a:defRPr>
            </a:lvl5pPr>
          </a:lstStyle>
          <a:p>
            <a:r>
              <a:t>Corpo livello uno</a:t>
            </a:r>
          </a:p>
          <a:p>
            <a:pPr lvl="1"/>
            <a:r>
              <a:t>Corpo livello due</a:t>
            </a:r>
          </a:p>
          <a:p>
            <a:pPr lvl="2"/>
            <a:r>
              <a:t>Corpo livello tre</a:t>
            </a:r>
          </a:p>
          <a:p>
            <a:pPr lvl="3"/>
            <a:r>
              <a:t>Corpo livello quattro</a:t>
            </a:r>
          </a:p>
          <a:p>
            <a:pPr lvl="4"/>
            <a:r>
              <a:t>Corpo livello cinque</a:t>
            </a:r>
          </a:p>
        </p:txBody>
      </p:sp>
      <p:sp>
        <p:nvSpPr>
          <p:cNvPr id="118" name="Numero diapositiva"/>
          <p:cNvSpPr>
            <a:spLocks noGrp="1"/>
          </p:cNvSpPr>
          <p:nvPr>
            <p:ph type="sldNum" sz="quarter" idx="2"/>
          </p:nvPr>
        </p:nvSpPr>
        <p:spPr>
          <a:xfrm>
            <a:off x="8384897" y="6245225"/>
            <a:ext cx="301904" cy="288820"/>
          </a:xfrm>
          <a:prstGeom prst="rect">
            <a:avLst/>
          </a:prstGeom>
        </p:spPr>
        <p:txBody>
          <a:bodyPr anchor="t"/>
          <a:lstStyle>
            <a:lvl1pPr>
              <a:defRPr sz="1400" b="0">
                <a:solidFill>
                  <a:srgbClr val="000000"/>
                </a:solidFill>
                <a:latin typeface="+mj-lt"/>
                <a:ea typeface="+mj-ea"/>
                <a:cs typeface="+mj-cs"/>
                <a:sym typeface="Arial"/>
              </a:defRPr>
            </a:lvl1pPr>
          </a:lstStyle>
          <a:p>
            <a:fld id="{86CB4B4D-7CA3-9044-876B-883B54F8677D}" type="slidenum">
              <a:t>‹N›</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1_Vuota">
    <p:bg>
      <p:bgPr>
        <a:solidFill>
          <a:srgbClr val="FFFFFF"/>
        </a:solidFill>
        <a:effectLst/>
      </p:bgPr>
    </p:bg>
    <p:spTree>
      <p:nvGrpSpPr>
        <p:cNvPr id="1" name=""/>
        <p:cNvGrpSpPr/>
        <p:nvPr/>
      </p:nvGrpSpPr>
      <p:grpSpPr>
        <a:xfrm>
          <a:off x="0" y="0"/>
          <a:ext cx="0" cy="0"/>
          <a:chOff x="0" y="0"/>
          <a:chExt cx="0" cy="0"/>
        </a:xfrm>
      </p:grpSpPr>
      <p:sp>
        <p:nvSpPr>
          <p:cNvPr id="125" name="Numero diapositiva"/>
          <p:cNvSpPr>
            <a:spLocks noGrp="1"/>
          </p:cNvSpPr>
          <p:nvPr>
            <p:ph type="sldNum" sz="quarter" idx="2"/>
          </p:nvPr>
        </p:nvSpPr>
        <p:spPr>
          <a:xfrm>
            <a:off x="8476334" y="6245225"/>
            <a:ext cx="210469" cy="197384"/>
          </a:xfrm>
          <a:prstGeom prst="rect">
            <a:avLst/>
          </a:prstGeom>
        </p:spPr>
        <p:txBody>
          <a:bodyPr lIns="0" tIns="0" rIns="0" bIns="0" anchor="t"/>
          <a:lstStyle>
            <a:lvl1pPr>
              <a:defRPr sz="1400" b="0">
                <a:latin typeface="+mj-lt"/>
                <a:ea typeface="+mj-ea"/>
                <a:cs typeface="+mj-cs"/>
                <a:sym typeface="Arial"/>
              </a:defRPr>
            </a:lvl1pPr>
          </a:lstStyle>
          <a:p>
            <a:fld id="{86CB4B4D-7CA3-9044-876B-883B54F8677D}" type="slidenum">
              <a:t>‹N›</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1_Solo titolo">
    <p:bg>
      <p:bgPr>
        <a:solidFill>
          <a:srgbClr val="FFFFFF"/>
        </a:solidFill>
        <a:effectLst/>
      </p:bgPr>
    </p:bg>
    <p:spTree>
      <p:nvGrpSpPr>
        <p:cNvPr id="1" name=""/>
        <p:cNvGrpSpPr/>
        <p:nvPr/>
      </p:nvGrpSpPr>
      <p:grpSpPr>
        <a:xfrm>
          <a:off x="0" y="0"/>
          <a:ext cx="0" cy="0"/>
          <a:chOff x="0" y="0"/>
          <a:chExt cx="0" cy="0"/>
        </a:xfrm>
      </p:grpSpPr>
      <p:sp>
        <p:nvSpPr>
          <p:cNvPr id="132" name="Titolo Testo"/>
          <p:cNvSpPr>
            <a:spLocks noGrp="1"/>
          </p:cNvSpPr>
          <p:nvPr>
            <p:ph type="title"/>
          </p:nvPr>
        </p:nvSpPr>
        <p:spPr>
          <a:xfrm>
            <a:off x="0" y="0"/>
            <a:ext cx="9144000" cy="836613"/>
          </a:xfrm>
          <a:prstGeom prst="rect">
            <a:avLst/>
          </a:prstGeom>
          <a:solidFill>
            <a:schemeClr val="accent2">
              <a:alpha val="60000"/>
            </a:schemeClr>
          </a:solidFill>
        </p:spPr>
        <p:txBody>
          <a:bodyPr lIns="0" tIns="0" rIns="0" bIns="0"/>
          <a:lstStyle>
            <a:lvl1pPr algn="ctr">
              <a:lnSpc>
                <a:spcPct val="100000"/>
              </a:lnSpc>
              <a:defRPr sz="2400" i="1">
                <a:solidFill>
                  <a:srgbClr val="FFFFFF"/>
                </a:solidFill>
                <a:effectLst>
                  <a:outerShdw blurRad="38100" dist="38100" dir="2700000" rotWithShape="0">
                    <a:srgbClr val="000000"/>
                  </a:outerShdw>
                </a:effectLst>
                <a:latin typeface="Times New Roman"/>
                <a:ea typeface="Times New Roman"/>
                <a:cs typeface="Times New Roman"/>
                <a:sym typeface="Times New Roman"/>
              </a:defRPr>
            </a:lvl1pPr>
          </a:lstStyle>
          <a:p>
            <a:r>
              <a:t>Titolo Testo</a:t>
            </a:r>
          </a:p>
        </p:txBody>
      </p:sp>
      <p:sp>
        <p:nvSpPr>
          <p:cNvPr id="133" name="Numero diapositiva"/>
          <p:cNvSpPr>
            <a:spLocks noGrp="1"/>
          </p:cNvSpPr>
          <p:nvPr>
            <p:ph type="sldNum" sz="quarter" idx="2"/>
          </p:nvPr>
        </p:nvSpPr>
        <p:spPr>
          <a:xfrm>
            <a:off x="8476334" y="6245225"/>
            <a:ext cx="210469" cy="197384"/>
          </a:xfrm>
          <a:prstGeom prst="rect">
            <a:avLst/>
          </a:prstGeom>
        </p:spPr>
        <p:txBody>
          <a:bodyPr lIns="0" tIns="0" rIns="0" bIns="0" anchor="t"/>
          <a:lstStyle>
            <a:lvl1pPr>
              <a:defRPr sz="1400" b="0">
                <a:latin typeface="+mj-lt"/>
                <a:ea typeface="+mj-ea"/>
                <a:cs typeface="+mj-cs"/>
                <a:sym typeface="Arial"/>
              </a:defRPr>
            </a:lvl1pPr>
          </a:lstStyle>
          <a:p>
            <a:fld id="{86CB4B4D-7CA3-9044-876B-883B54F8677D}" type="slidenum">
              <a:t>‹N›</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2_Diapositiva titolo">
    <p:bg>
      <p:bgPr>
        <a:solidFill>
          <a:srgbClr val="FFFFFF"/>
        </a:solidFill>
        <a:effectLst/>
      </p:bgPr>
    </p:bg>
    <p:spTree>
      <p:nvGrpSpPr>
        <p:cNvPr id="1" name=""/>
        <p:cNvGrpSpPr/>
        <p:nvPr/>
      </p:nvGrpSpPr>
      <p:grpSpPr>
        <a:xfrm>
          <a:off x="0" y="0"/>
          <a:ext cx="0" cy="0"/>
          <a:chOff x="0" y="0"/>
          <a:chExt cx="0" cy="0"/>
        </a:xfrm>
      </p:grpSpPr>
      <p:sp>
        <p:nvSpPr>
          <p:cNvPr id="140" name="Corpo livello uno…"/>
          <p:cNvSpPr>
            <a:spLocks noGrp="1"/>
          </p:cNvSpPr>
          <p:nvPr>
            <p:ph type="body" sz="quarter" idx="1"/>
          </p:nvPr>
        </p:nvSpPr>
        <p:spPr>
          <a:xfrm>
            <a:off x="1371600" y="3886200"/>
            <a:ext cx="6400800" cy="1752600"/>
          </a:xfrm>
          <a:prstGeom prst="rect">
            <a:avLst/>
          </a:prstGeom>
        </p:spPr>
        <p:txBody>
          <a:bodyPr/>
          <a:lstStyle>
            <a:lvl1pPr marL="0" indent="0" algn="ctr">
              <a:lnSpc>
                <a:spcPct val="100000"/>
              </a:lnSpc>
              <a:spcBef>
                <a:spcPts val="700"/>
              </a:spcBef>
              <a:buSzTx/>
              <a:buFontTx/>
              <a:buNone/>
              <a:defRPr sz="3200">
                <a:solidFill>
                  <a:srgbClr val="888888"/>
                </a:solidFill>
                <a:latin typeface="+mj-lt"/>
                <a:ea typeface="+mj-ea"/>
                <a:cs typeface="+mj-cs"/>
                <a:sym typeface="Arial"/>
              </a:defRPr>
            </a:lvl1pPr>
            <a:lvl2pPr marL="0" indent="0" algn="ctr">
              <a:lnSpc>
                <a:spcPct val="100000"/>
              </a:lnSpc>
              <a:spcBef>
                <a:spcPts val="700"/>
              </a:spcBef>
              <a:buSzTx/>
              <a:buFontTx/>
              <a:buNone/>
              <a:defRPr sz="3200">
                <a:solidFill>
                  <a:srgbClr val="888888"/>
                </a:solidFill>
                <a:latin typeface="+mj-lt"/>
                <a:ea typeface="+mj-ea"/>
                <a:cs typeface="+mj-cs"/>
                <a:sym typeface="Arial"/>
              </a:defRPr>
            </a:lvl2pPr>
            <a:lvl3pPr marL="0" indent="0" algn="ctr">
              <a:lnSpc>
                <a:spcPct val="100000"/>
              </a:lnSpc>
              <a:spcBef>
                <a:spcPts val="700"/>
              </a:spcBef>
              <a:buSzTx/>
              <a:buFontTx/>
              <a:buNone/>
              <a:defRPr sz="3200">
                <a:solidFill>
                  <a:srgbClr val="888888"/>
                </a:solidFill>
                <a:latin typeface="+mj-lt"/>
                <a:ea typeface="+mj-ea"/>
                <a:cs typeface="+mj-cs"/>
                <a:sym typeface="Arial"/>
              </a:defRPr>
            </a:lvl3pPr>
            <a:lvl4pPr marL="0" indent="0" algn="ctr">
              <a:lnSpc>
                <a:spcPct val="100000"/>
              </a:lnSpc>
              <a:spcBef>
                <a:spcPts val="700"/>
              </a:spcBef>
              <a:buSzTx/>
              <a:buFontTx/>
              <a:buNone/>
              <a:defRPr sz="3200">
                <a:solidFill>
                  <a:srgbClr val="888888"/>
                </a:solidFill>
                <a:latin typeface="+mj-lt"/>
                <a:ea typeface="+mj-ea"/>
                <a:cs typeface="+mj-cs"/>
                <a:sym typeface="Arial"/>
              </a:defRPr>
            </a:lvl4pPr>
            <a:lvl5pPr marL="0" indent="0" algn="ctr">
              <a:lnSpc>
                <a:spcPct val="100000"/>
              </a:lnSpc>
              <a:spcBef>
                <a:spcPts val="700"/>
              </a:spcBef>
              <a:buSzTx/>
              <a:buFontTx/>
              <a:buNone/>
              <a:defRPr sz="3200">
                <a:solidFill>
                  <a:srgbClr val="888888"/>
                </a:solidFill>
                <a:latin typeface="+mj-lt"/>
                <a:ea typeface="+mj-ea"/>
                <a:cs typeface="+mj-cs"/>
                <a:sym typeface="Arial"/>
              </a:defRPr>
            </a:lvl5pPr>
          </a:lstStyle>
          <a:p>
            <a:r>
              <a:t>Corpo livello uno</a:t>
            </a:r>
          </a:p>
          <a:p>
            <a:pPr lvl="1"/>
            <a:r>
              <a:t>Corpo livello due</a:t>
            </a:r>
          </a:p>
          <a:p>
            <a:pPr lvl="2"/>
            <a:r>
              <a:t>Corpo livello tre</a:t>
            </a:r>
          </a:p>
          <a:p>
            <a:pPr lvl="3"/>
            <a:r>
              <a:t>Corpo livello quattro</a:t>
            </a:r>
          </a:p>
          <a:p>
            <a:pPr lvl="4"/>
            <a:r>
              <a:t>Corpo livello cinque</a:t>
            </a:r>
          </a:p>
        </p:txBody>
      </p:sp>
      <p:sp>
        <p:nvSpPr>
          <p:cNvPr id="141" name="Numero diapositiva"/>
          <p:cNvSpPr>
            <a:spLocks noGrp="1"/>
          </p:cNvSpPr>
          <p:nvPr>
            <p:ph type="sldNum" sz="quarter" idx="2"/>
          </p:nvPr>
        </p:nvSpPr>
        <p:spPr>
          <a:xfrm>
            <a:off x="8384897" y="6356351"/>
            <a:ext cx="301904" cy="288820"/>
          </a:xfrm>
          <a:prstGeom prst="rect">
            <a:avLst/>
          </a:prstGeom>
        </p:spPr>
        <p:txBody>
          <a:bodyPr anchor="t"/>
          <a:lstStyle>
            <a:lvl1pPr>
              <a:defRPr sz="1400" b="0">
                <a:solidFill>
                  <a:srgbClr val="000000"/>
                </a:solidFill>
                <a:latin typeface="+mj-lt"/>
                <a:ea typeface="+mj-ea"/>
                <a:cs typeface="+mj-cs"/>
                <a:sym typeface="Arial"/>
              </a:defRPr>
            </a:lvl1pPr>
          </a:lstStyle>
          <a:p>
            <a:fld id="{86CB4B4D-7CA3-9044-876B-883B54F8677D}" type="slidenum">
              <a:t>‹N›</a:t>
            </a:fld>
            <a:endParaRPr/>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2_Vuota">
    <p:bg>
      <p:bgPr>
        <a:solidFill>
          <a:srgbClr val="FFFFFF"/>
        </a:solidFill>
        <a:effectLst/>
      </p:bgPr>
    </p:bg>
    <p:spTree>
      <p:nvGrpSpPr>
        <p:cNvPr id="1" name=""/>
        <p:cNvGrpSpPr/>
        <p:nvPr/>
      </p:nvGrpSpPr>
      <p:grpSpPr>
        <a:xfrm>
          <a:off x="0" y="0"/>
          <a:ext cx="0" cy="0"/>
          <a:chOff x="0" y="0"/>
          <a:chExt cx="0" cy="0"/>
        </a:xfrm>
      </p:grpSpPr>
      <p:sp>
        <p:nvSpPr>
          <p:cNvPr id="148" name="Numero diapositiva"/>
          <p:cNvSpPr>
            <a:spLocks noGrp="1"/>
          </p:cNvSpPr>
          <p:nvPr>
            <p:ph type="sldNum" sz="quarter" idx="2"/>
          </p:nvPr>
        </p:nvSpPr>
        <p:spPr>
          <a:xfrm>
            <a:off x="8384897" y="6356351"/>
            <a:ext cx="301904" cy="288820"/>
          </a:xfrm>
          <a:prstGeom prst="rect">
            <a:avLst/>
          </a:prstGeom>
        </p:spPr>
        <p:txBody>
          <a:bodyPr anchor="t"/>
          <a:lstStyle>
            <a:lvl1pPr>
              <a:defRPr sz="1400" b="0">
                <a:solidFill>
                  <a:srgbClr val="000000"/>
                </a:solidFill>
                <a:latin typeface="+mj-lt"/>
                <a:ea typeface="+mj-ea"/>
                <a:cs typeface="+mj-cs"/>
                <a:sym typeface="Arial"/>
              </a:defRPr>
            </a:lvl1pPr>
          </a:lstStyle>
          <a:p>
            <a:fld id="{86CB4B4D-7CA3-9044-876B-883B54F8677D}" type="slidenum">
              <a:t>‹N›</a:t>
            </a:fld>
            <a:endParaRPr/>
          </a:p>
        </p:txBody>
      </p:sp>
    </p:spTree>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type="tx">
  <p:cSld name="3_Diapositiva titolo">
    <p:bg>
      <p:bgPr>
        <a:solidFill>
          <a:srgbClr val="FFFFFF"/>
        </a:solidFill>
        <a:effectLst/>
      </p:bgPr>
    </p:bg>
    <p:spTree>
      <p:nvGrpSpPr>
        <p:cNvPr id="1" name=""/>
        <p:cNvGrpSpPr/>
        <p:nvPr/>
      </p:nvGrpSpPr>
      <p:grpSpPr>
        <a:xfrm>
          <a:off x="0" y="0"/>
          <a:ext cx="0" cy="0"/>
          <a:chOff x="0" y="0"/>
          <a:chExt cx="0" cy="0"/>
        </a:xfrm>
      </p:grpSpPr>
      <p:sp>
        <p:nvSpPr>
          <p:cNvPr id="155" name="Titolo Testo"/>
          <p:cNvSpPr>
            <a:spLocks noGrp="1"/>
          </p:cNvSpPr>
          <p:nvPr>
            <p:ph type="title"/>
          </p:nvPr>
        </p:nvSpPr>
        <p:spPr>
          <a:xfrm>
            <a:off x="685800" y="3209925"/>
            <a:ext cx="7772400" cy="2019300"/>
          </a:xfrm>
          <a:prstGeom prst="rect">
            <a:avLst/>
          </a:prstGeom>
        </p:spPr>
        <p:txBody>
          <a:bodyPr anchor="t"/>
          <a:lstStyle>
            <a:lvl1pPr algn="ctr">
              <a:lnSpc>
                <a:spcPct val="100000"/>
              </a:lnSpc>
              <a:defRPr sz="3200" b="1">
                <a:solidFill>
                  <a:srgbClr val="FFFFFF"/>
                </a:solidFill>
                <a:effectLst>
                  <a:outerShdw blurRad="38100" dist="38100" dir="2700000" rotWithShape="0">
                    <a:srgbClr val="C0C0C0"/>
                  </a:outerShdw>
                </a:effectLst>
                <a:latin typeface="+mj-lt"/>
                <a:ea typeface="+mj-ea"/>
                <a:cs typeface="+mj-cs"/>
                <a:sym typeface="Arial"/>
              </a:defRPr>
            </a:lvl1pPr>
          </a:lstStyle>
          <a:p>
            <a:r>
              <a:t>Titolo Testo</a:t>
            </a:r>
          </a:p>
        </p:txBody>
      </p:sp>
      <p:sp>
        <p:nvSpPr>
          <p:cNvPr id="156" name="Numero diapositiva"/>
          <p:cNvSpPr>
            <a:spLocks noGrp="1"/>
          </p:cNvSpPr>
          <p:nvPr>
            <p:ph type="sldNum" sz="quarter" idx="2"/>
          </p:nvPr>
        </p:nvSpPr>
        <p:spPr>
          <a:xfrm>
            <a:off x="8384897" y="6245225"/>
            <a:ext cx="301904" cy="288820"/>
          </a:xfrm>
          <a:prstGeom prst="rect">
            <a:avLst/>
          </a:prstGeom>
        </p:spPr>
        <p:txBody>
          <a:bodyPr anchor="t"/>
          <a:lstStyle>
            <a:lvl1pPr>
              <a:defRPr sz="1400" b="0">
                <a:solidFill>
                  <a:srgbClr val="000000"/>
                </a:solidFill>
                <a:latin typeface="+mj-lt"/>
                <a:ea typeface="+mj-ea"/>
                <a:cs typeface="+mj-cs"/>
                <a:sym typeface="Arial"/>
              </a:defRPr>
            </a:lvl1pPr>
          </a:lstStyle>
          <a:p>
            <a:fld id="{86CB4B4D-7CA3-9044-876B-883B54F8677D}" type="slidenum">
              <a:t>‹N›</a:t>
            </a:fld>
            <a:endParaRPr/>
          </a:p>
        </p:txBody>
      </p:sp>
    </p:spTree>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type="tx">
  <p:cSld name="Diapositiva titolo">
    <p:spTree>
      <p:nvGrpSpPr>
        <p:cNvPr id="1" name=""/>
        <p:cNvGrpSpPr/>
        <p:nvPr/>
      </p:nvGrpSpPr>
      <p:grpSpPr>
        <a:xfrm>
          <a:off x="0" y="0"/>
          <a:ext cx="0" cy="0"/>
          <a:chOff x="0" y="0"/>
          <a:chExt cx="0" cy="0"/>
        </a:xfrm>
      </p:grpSpPr>
      <p:sp>
        <p:nvSpPr>
          <p:cNvPr id="163" name="Titolo Testo"/>
          <p:cNvSpPr>
            <a:spLocks noGrp="1"/>
          </p:cNvSpPr>
          <p:nvPr>
            <p:ph type="title"/>
          </p:nvPr>
        </p:nvSpPr>
        <p:spPr>
          <a:xfrm>
            <a:off x="685800" y="1122362"/>
            <a:ext cx="7772400" cy="2387601"/>
          </a:xfrm>
          <a:prstGeom prst="rect">
            <a:avLst/>
          </a:prstGeom>
        </p:spPr>
        <p:txBody>
          <a:bodyPr anchor="b"/>
          <a:lstStyle>
            <a:lvl1pPr algn="ctr">
              <a:defRPr sz="6000"/>
            </a:lvl1pPr>
          </a:lstStyle>
          <a:p>
            <a:r>
              <a:t>Titolo Testo</a:t>
            </a:r>
          </a:p>
        </p:txBody>
      </p:sp>
      <p:sp>
        <p:nvSpPr>
          <p:cNvPr id="164" name="Corpo livello uno…"/>
          <p:cNvSpPr>
            <a:spLocks noGrp="1"/>
          </p:cNvSpPr>
          <p:nvPr>
            <p:ph type="body" sz="quarter" idx="1"/>
          </p:nvPr>
        </p:nvSpPr>
        <p:spPr>
          <a:xfrm>
            <a:off x="1143000" y="3602037"/>
            <a:ext cx="6858000" cy="1655765"/>
          </a:xfrm>
          <a:prstGeom prst="rect">
            <a:avLst/>
          </a:prstGeom>
        </p:spPr>
        <p:txBody>
          <a:bodyPr/>
          <a:lstStyle>
            <a:lvl1pPr marL="0" indent="0" algn="ctr">
              <a:buSzTx/>
              <a:buFontTx/>
              <a:buNone/>
              <a:defRPr sz="2400"/>
            </a:lvl1pPr>
            <a:lvl2pPr marL="0" indent="0" algn="ctr">
              <a:buSzTx/>
              <a:buFontTx/>
              <a:buNone/>
              <a:defRPr sz="2400"/>
            </a:lvl2pPr>
            <a:lvl3pPr marL="0" indent="0" algn="ctr">
              <a:buSzTx/>
              <a:buFontTx/>
              <a:buNone/>
              <a:defRPr sz="2400"/>
            </a:lvl3pPr>
            <a:lvl4pPr marL="0" indent="0" algn="ctr">
              <a:buSzTx/>
              <a:buFontTx/>
              <a:buNone/>
              <a:defRPr sz="2400"/>
            </a:lvl4pPr>
            <a:lvl5pPr marL="0" indent="0" algn="ctr">
              <a:buSzTx/>
              <a:buFontTx/>
              <a:buNone/>
              <a:defRPr sz="2400"/>
            </a:lvl5pPr>
          </a:lstStyle>
          <a:p>
            <a:r>
              <a:t>Corpo livello uno</a:t>
            </a:r>
          </a:p>
          <a:p>
            <a:pPr lvl="1"/>
            <a:r>
              <a:t>Corpo livello due</a:t>
            </a:r>
          </a:p>
          <a:p>
            <a:pPr lvl="2"/>
            <a:r>
              <a:t>Corpo livello tre</a:t>
            </a:r>
          </a:p>
          <a:p>
            <a:pPr lvl="3"/>
            <a:r>
              <a:t>Corpo livello quattro</a:t>
            </a:r>
          </a:p>
          <a:p>
            <a:pPr lvl="4"/>
            <a:r>
              <a:t>Corpo livello cinque</a:t>
            </a:r>
          </a:p>
        </p:txBody>
      </p:sp>
      <p:sp>
        <p:nvSpPr>
          <p:cNvPr id="165" name="Numero diapositiva"/>
          <p:cNvSpPr>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type="tx">
  <p:cSld name="Titolo e contenuto">
    <p:spTree>
      <p:nvGrpSpPr>
        <p:cNvPr id="1" name=""/>
        <p:cNvGrpSpPr/>
        <p:nvPr/>
      </p:nvGrpSpPr>
      <p:grpSpPr>
        <a:xfrm>
          <a:off x="0" y="0"/>
          <a:ext cx="0" cy="0"/>
          <a:chOff x="0" y="0"/>
          <a:chExt cx="0" cy="0"/>
        </a:xfrm>
      </p:grpSpPr>
      <p:sp>
        <p:nvSpPr>
          <p:cNvPr id="172" name="Corpo livello uno…"/>
          <p:cNvSpPr>
            <a:spLocks noGrp="1"/>
          </p:cNvSpPr>
          <p:nvPr>
            <p:ph type="body" idx="1"/>
          </p:nvPr>
        </p:nvSpPr>
        <p:spPr>
          <a:prstGeom prst="rect">
            <a:avLst/>
          </a:prstGeom>
        </p:spPr>
        <p:txBody>
          <a:bodyPr/>
          <a:lstStyle/>
          <a:p>
            <a:r>
              <a:t>Corpo livello uno</a:t>
            </a:r>
          </a:p>
          <a:p>
            <a:pPr lvl="1"/>
            <a:r>
              <a:t>Corpo livello due</a:t>
            </a:r>
          </a:p>
          <a:p>
            <a:pPr lvl="2"/>
            <a:r>
              <a:t>Corpo livello tre</a:t>
            </a:r>
          </a:p>
          <a:p>
            <a:pPr lvl="3"/>
            <a:r>
              <a:t>Corpo livello quattro</a:t>
            </a:r>
          </a:p>
          <a:p>
            <a:pPr lvl="4"/>
            <a:r>
              <a:t>Corpo livello cinque</a:t>
            </a:r>
          </a:p>
        </p:txBody>
      </p:sp>
      <p:sp>
        <p:nvSpPr>
          <p:cNvPr id="173" name="Titolo Testo"/>
          <p:cNvSpPr>
            <a:spLocks noGrp="1"/>
          </p:cNvSpPr>
          <p:nvPr>
            <p:ph type="title"/>
          </p:nvPr>
        </p:nvSpPr>
        <p:spPr>
          <a:prstGeom prst="rect">
            <a:avLst/>
          </a:prstGeom>
        </p:spPr>
        <p:txBody>
          <a:bodyPr/>
          <a:lstStyle/>
          <a:p>
            <a:r>
              <a:t>Titolo Testo</a:t>
            </a:r>
          </a:p>
        </p:txBody>
      </p:sp>
      <p:sp>
        <p:nvSpPr>
          <p:cNvPr id="174" name="Numero diapositiva"/>
          <p:cNvSpPr>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type="tx">
  <p:cSld name="Intestazione sezione">
    <p:spTree>
      <p:nvGrpSpPr>
        <p:cNvPr id="1" name=""/>
        <p:cNvGrpSpPr/>
        <p:nvPr/>
      </p:nvGrpSpPr>
      <p:grpSpPr>
        <a:xfrm>
          <a:off x="0" y="0"/>
          <a:ext cx="0" cy="0"/>
          <a:chOff x="0" y="0"/>
          <a:chExt cx="0" cy="0"/>
        </a:xfrm>
      </p:grpSpPr>
      <p:sp>
        <p:nvSpPr>
          <p:cNvPr id="181" name="Titolo Testo"/>
          <p:cNvSpPr>
            <a:spLocks noGrp="1"/>
          </p:cNvSpPr>
          <p:nvPr>
            <p:ph type="title"/>
          </p:nvPr>
        </p:nvSpPr>
        <p:spPr>
          <a:xfrm>
            <a:off x="623887" y="1709739"/>
            <a:ext cx="7886701" cy="2852737"/>
          </a:xfrm>
          <a:prstGeom prst="rect">
            <a:avLst/>
          </a:prstGeom>
        </p:spPr>
        <p:txBody>
          <a:bodyPr anchor="b"/>
          <a:lstStyle>
            <a:lvl1pPr>
              <a:defRPr sz="6000"/>
            </a:lvl1pPr>
          </a:lstStyle>
          <a:p>
            <a:r>
              <a:t>Titolo Testo</a:t>
            </a:r>
          </a:p>
        </p:txBody>
      </p:sp>
      <p:sp>
        <p:nvSpPr>
          <p:cNvPr id="182" name="Corpo livello uno…"/>
          <p:cNvSpPr>
            <a:spLocks noGrp="1"/>
          </p:cNvSpPr>
          <p:nvPr>
            <p:ph type="body" sz="quarter" idx="1"/>
          </p:nvPr>
        </p:nvSpPr>
        <p:spPr>
          <a:xfrm>
            <a:off x="623887" y="4589464"/>
            <a:ext cx="7886701" cy="1500190"/>
          </a:xfrm>
          <a:prstGeom prst="rect">
            <a:avLst/>
          </a:prstGeom>
        </p:spPr>
        <p:txBody>
          <a:bodyPr/>
          <a:lstStyle>
            <a:lvl1pPr marL="0" indent="0">
              <a:buSzTx/>
              <a:buFontTx/>
              <a:buNone/>
              <a:defRPr sz="2400"/>
            </a:lvl1pPr>
            <a:lvl2pPr marL="0" indent="0">
              <a:buSzTx/>
              <a:buFontTx/>
              <a:buNone/>
              <a:defRPr sz="2400"/>
            </a:lvl2pPr>
            <a:lvl3pPr marL="0" indent="0">
              <a:buSzTx/>
              <a:buFontTx/>
              <a:buNone/>
              <a:defRPr sz="2400"/>
            </a:lvl3pPr>
            <a:lvl4pPr marL="0" indent="0">
              <a:buSzTx/>
              <a:buFontTx/>
              <a:buNone/>
              <a:defRPr sz="2400"/>
            </a:lvl4pPr>
            <a:lvl5pPr marL="0" indent="0">
              <a:buSzTx/>
              <a:buFontTx/>
              <a:buNone/>
              <a:defRPr sz="2400"/>
            </a:lvl5pPr>
          </a:lstStyle>
          <a:p>
            <a:r>
              <a:t>Corpo livello uno</a:t>
            </a:r>
          </a:p>
          <a:p>
            <a:pPr lvl="1"/>
            <a:r>
              <a:t>Corpo livello due</a:t>
            </a:r>
          </a:p>
          <a:p>
            <a:pPr lvl="2"/>
            <a:r>
              <a:t>Corpo livello tre</a:t>
            </a:r>
          </a:p>
          <a:p>
            <a:pPr lvl="3"/>
            <a:r>
              <a:t>Corpo livello quattro</a:t>
            </a:r>
          </a:p>
          <a:p>
            <a:pPr lvl="4"/>
            <a:r>
              <a:t>Corpo livello cinque</a:t>
            </a:r>
          </a:p>
        </p:txBody>
      </p:sp>
      <p:sp>
        <p:nvSpPr>
          <p:cNvPr id="183" name="Numero diapositiva"/>
          <p:cNvSpPr>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type="tx">
  <p:cSld name="Due contenuti">
    <p:spTree>
      <p:nvGrpSpPr>
        <p:cNvPr id="1" name=""/>
        <p:cNvGrpSpPr/>
        <p:nvPr/>
      </p:nvGrpSpPr>
      <p:grpSpPr>
        <a:xfrm>
          <a:off x="0" y="0"/>
          <a:ext cx="0" cy="0"/>
          <a:chOff x="0" y="0"/>
          <a:chExt cx="0" cy="0"/>
        </a:xfrm>
      </p:grpSpPr>
      <p:sp>
        <p:nvSpPr>
          <p:cNvPr id="190" name="Titolo Testo"/>
          <p:cNvSpPr>
            <a:spLocks noGrp="1"/>
          </p:cNvSpPr>
          <p:nvPr>
            <p:ph type="title"/>
          </p:nvPr>
        </p:nvSpPr>
        <p:spPr>
          <a:prstGeom prst="rect">
            <a:avLst/>
          </a:prstGeom>
        </p:spPr>
        <p:txBody>
          <a:bodyPr/>
          <a:lstStyle/>
          <a:p>
            <a:r>
              <a:t>Titolo Testo</a:t>
            </a:r>
          </a:p>
        </p:txBody>
      </p:sp>
      <p:sp>
        <p:nvSpPr>
          <p:cNvPr id="191" name="Corpo livello uno…"/>
          <p:cNvSpPr>
            <a:spLocks noGrp="1"/>
          </p:cNvSpPr>
          <p:nvPr>
            <p:ph type="body" sz="half" idx="1"/>
          </p:nvPr>
        </p:nvSpPr>
        <p:spPr>
          <a:xfrm>
            <a:off x="628650" y="1825625"/>
            <a:ext cx="3886200" cy="4351338"/>
          </a:xfrm>
          <a:prstGeom prst="rect">
            <a:avLst/>
          </a:prstGeom>
        </p:spPr>
        <p:txBody>
          <a:bodyPr/>
          <a:lstStyle/>
          <a:p>
            <a:r>
              <a:t>Corpo livello uno</a:t>
            </a:r>
          </a:p>
          <a:p>
            <a:pPr lvl="1"/>
            <a:r>
              <a:t>Corpo livello due</a:t>
            </a:r>
          </a:p>
          <a:p>
            <a:pPr lvl="2"/>
            <a:r>
              <a:t>Corpo livello tre</a:t>
            </a:r>
          </a:p>
          <a:p>
            <a:pPr lvl="3"/>
            <a:r>
              <a:t>Corpo livello quattro</a:t>
            </a:r>
          </a:p>
          <a:p>
            <a:pPr lvl="4"/>
            <a:r>
              <a:t>Corpo livello cinque</a:t>
            </a:r>
          </a:p>
        </p:txBody>
      </p:sp>
      <p:sp>
        <p:nvSpPr>
          <p:cNvPr id="192" name="Numero diapositiva"/>
          <p:cNvSpPr>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type="tx">
  <p:cSld name="Confronto">
    <p:spTree>
      <p:nvGrpSpPr>
        <p:cNvPr id="1" name=""/>
        <p:cNvGrpSpPr/>
        <p:nvPr/>
      </p:nvGrpSpPr>
      <p:grpSpPr>
        <a:xfrm>
          <a:off x="0" y="0"/>
          <a:ext cx="0" cy="0"/>
          <a:chOff x="0" y="0"/>
          <a:chExt cx="0" cy="0"/>
        </a:xfrm>
      </p:grpSpPr>
      <p:sp>
        <p:nvSpPr>
          <p:cNvPr id="199" name="Titolo Testo"/>
          <p:cNvSpPr>
            <a:spLocks noGrp="1"/>
          </p:cNvSpPr>
          <p:nvPr>
            <p:ph type="title"/>
          </p:nvPr>
        </p:nvSpPr>
        <p:spPr>
          <a:xfrm>
            <a:off x="629841" y="365125"/>
            <a:ext cx="7886701" cy="1325564"/>
          </a:xfrm>
          <a:prstGeom prst="rect">
            <a:avLst/>
          </a:prstGeom>
        </p:spPr>
        <p:txBody>
          <a:bodyPr/>
          <a:lstStyle/>
          <a:p>
            <a:r>
              <a:t>Titolo Testo</a:t>
            </a:r>
          </a:p>
        </p:txBody>
      </p:sp>
      <p:sp>
        <p:nvSpPr>
          <p:cNvPr id="200" name="Corpo livello uno…"/>
          <p:cNvSpPr>
            <a:spLocks noGrp="1"/>
          </p:cNvSpPr>
          <p:nvPr>
            <p:ph type="body" sz="quarter" idx="1"/>
          </p:nvPr>
        </p:nvSpPr>
        <p:spPr>
          <a:xfrm>
            <a:off x="629841" y="1681163"/>
            <a:ext cx="3868343" cy="823915"/>
          </a:xfrm>
          <a:prstGeom prst="rect">
            <a:avLst/>
          </a:prstGeom>
        </p:spPr>
        <p:txBody>
          <a:bodyPr anchor="b"/>
          <a:lstStyle>
            <a:lvl1pPr marL="0" indent="0">
              <a:buSzTx/>
              <a:buFontTx/>
              <a:buNone/>
              <a:defRPr sz="2400" b="1"/>
            </a:lvl1pPr>
            <a:lvl2pPr marL="0" indent="0">
              <a:buSzTx/>
              <a:buFontTx/>
              <a:buNone/>
              <a:defRPr sz="2400" b="1"/>
            </a:lvl2pPr>
            <a:lvl3pPr marL="0" indent="0">
              <a:buSzTx/>
              <a:buFontTx/>
              <a:buNone/>
              <a:defRPr sz="2400" b="1"/>
            </a:lvl3pPr>
            <a:lvl4pPr marL="0" indent="0">
              <a:buSzTx/>
              <a:buFontTx/>
              <a:buNone/>
              <a:defRPr sz="2400" b="1"/>
            </a:lvl4pPr>
            <a:lvl5pPr marL="0" indent="0">
              <a:buSzTx/>
              <a:buFontTx/>
              <a:buNone/>
              <a:defRPr sz="2400" b="1"/>
            </a:lvl5pPr>
          </a:lstStyle>
          <a:p>
            <a:r>
              <a:t>Corpo livello uno</a:t>
            </a:r>
          </a:p>
          <a:p>
            <a:pPr lvl="1"/>
            <a:r>
              <a:t>Corpo livello due</a:t>
            </a:r>
          </a:p>
          <a:p>
            <a:pPr lvl="2"/>
            <a:r>
              <a:t>Corpo livello tre</a:t>
            </a:r>
          </a:p>
          <a:p>
            <a:pPr lvl="3"/>
            <a:r>
              <a:t>Corpo livello quattro</a:t>
            </a:r>
          </a:p>
          <a:p>
            <a:pPr lvl="4"/>
            <a:r>
              <a:t>Corpo livello cinque</a:t>
            </a:r>
          </a:p>
        </p:txBody>
      </p:sp>
      <p:sp>
        <p:nvSpPr>
          <p:cNvPr id="201" name="Text Placeholder 4"/>
          <p:cNvSpPr>
            <a:spLocks noGrp="1"/>
          </p:cNvSpPr>
          <p:nvPr>
            <p:ph type="body" sz="quarter" idx="13"/>
          </p:nvPr>
        </p:nvSpPr>
        <p:spPr>
          <a:xfrm>
            <a:off x="4629150" y="1681163"/>
            <a:ext cx="3887393" cy="823914"/>
          </a:xfrm>
          <a:prstGeom prst="rect">
            <a:avLst/>
          </a:prstGeom>
        </p:spPr>
        <p:txBody>
          <a:bodyPr anchor="b"/>
          <a:lstStyle/>
          <a:p>
            <a:endParaRPr/>
          </a:p>
        </p:txBody>
      </p:sp>
      <p:sp>
        <p:nvSpPr>
          <p:cNvPr id="202" name="Numero diapositiva"/>
          <p:cNvSpPr>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type="tx">
  <p:cSld name="Solo titolo">
    <p:spTree>
      <p:nvGrpSpPr>
        <p:cNvPr id="1" name=""/>
        <p:cNvGrpSpPr/>
        <p:nvPr/>
      </p:nvGrpSpPr>
      <p:grpSpPr>
        <a:xfrm>
          <a:off x="0" y="0"/>
          <a:ext cx="0" cy="0"/>
          <a:chOff x="0" y="0"/>
          <a:chExt cx="0" cy="0"/>
        </a:xfrm>
      </p:grpSpPr>
      <p:sp>
        <p:nvSpPr>
          <p:cNvPr id="209" name="Titolo Testo"/>
          <p:cNvSpPr>
            <a:spLocks noGrp="1"/>
          </p:cNvSpPr>
          <p:nvPr>
            <p:ph type="title"/>
          </p:nvPr>
        </p:nvSpPr>
        <p:spPr>
          <a:prstGeom prst="rect">
            <a:avLst/>
          </a:prstGeom>
        </p:spPr>
        <p:txBody>
          <a:bodyPr/>
          <a:lstStyle/>
          <a:p>
            <a:r>
              <a:t>Titolo Testo</a:t>
            </a:r>
          </a:p>
        </p:txBody>
      </p:sp>
      <p:sp>
        <p:nvSpPr>
          <p:cNvPr id="210" name="Numero diapositiva"/>
          <p:cNvSpPr>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type="tx">
  <p:cSld name="Vuota">
    <p:spTree>
      <p:nvGrpSpPr>
        <p:cNvPr id="1" name=""/>
        <p:cNvGrpSpPr/>
        <p:nvPr/>
      </p:nvGrpSpPr>
      <p:grpSpPr>
        <a:xfrm>
          <a:off x="0" y="0"/>
          <a:ext cx="0" cy="0"/>
          <a:chOff x="0" y="0"/>
          <a:chExt cx="0" cy="0"/>
        </a:xfrm>
      </p:grpSpPr>
      <p:sp>
        <p:nvSpPr>
          <p:cNvPr id="217" name="Numero diapositiva"/>
          <p:cNvSpPr>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type="tx">
  <p:cSld name="Contenuto con didascalia">
    <p:spTree>
      <p:nvGrpSpPr>
        <p:cNvPr id="1" name=""/>
        <p:cNvGrpSpPr/>
        <p:nvPr/>
      </p:nvGrpSpPr>
      <p:grpSpPr>
        <a:xfrm>
          <a:off x="0" y="0"/>
          <a:ext cx="0" cy="0"/>
          <a:chOff x="0" y="0"/>
          <a:chExt cx="0" cy="0"/>
        </a:xfrm>
      </p:grpSpPr>
      <p:sp>
        <p:nvSpPr>
          <p:cNvPr id="224" name="Titolo Testo"/>
          <p:cNvSpPr>
            <a:spLocks noGrp="1"/>
          </p:cNvSpPr>
          <p:nvPr>
            <p:ph type="title"/>
          </p:nvPr>
        </p:nvSpPr>
        <p:spPr>
          <a:xfrm>
            <a:off x="629841" y="457200"/>
            <a:ext cx="2949178" cy="1600200"/>
          </a:xfrm>
          <a:prstGeom prst="rect">
            <a:avLst/>
          </a:prstGeom>
        </p:spPr>
        <p:txBody>
          <a:bodyPr anchor="b"/>
          <a:lstStyle>
            <a:lvl1pPr>
              <a:defRPr sz="3200"/>
            </a:lvl1pPr>
          </a:lstStyle>
          <a:p>
            <a:r>
              <a:t>Titolo Testo</a:t>
            </a:r>
          </a:p>
        </p:txBody>
      </p:sp>
      <p:sp>
        <p:nvSpPr>
          <p:cNvPr id="225" name="Corpo livello uno…"/>
          <p:cNvSpPr>
            <a:spLocks noGrp="1"/>
          </p:cNvSpPr>
          <p:nvPr>
            <p:ph type="body" sz="half" idx="1"/>
          </p:nvPr>
        </p:nvSpPr>
        <p:spPr>
          <a:xfrm>
            <a:off x="3887391" y="987425"/>
            <a:ext cx="4629152" cy="4873627"/>
          </a:xfrm>
          <a:prstGeom prst="rect">
            <a:avLst/>
          </a:prstGeom>
        </p:spPr>
        <p:txBody>
          <a:bodyPr/>
          <a:lstStyle>
            <a:lvl1pPr>
              <a:defRPr sz="3200"/>
            </a:lvl1pPr>
            <a:lvl2pPr marL="718457" indent="-261257">
              <a:defRPr sz="3200"/>
            </a:lvl2pPr>
            <a:lvl3pPr marL="1219200" indent="-304800">
              <a:defRPr sz="3200"/>
            </a:lvl3pPr>
            <a:lvl4pPr marL="1737360" indent="-365760">
              <a:defRPr sz="3200"/>
            </a:lvl4pPr>
            <a:lvl5pPr marL="2194560" indent="-365760">
              <a:defRPr sz="3200"/>
            </a:lvl5pPr>
          </a:lstStyle>
          <a:p>
            <a:r>
              <a:t>Corpo livello uno</a:t>
            </a:r>
          </a:p>
          <a:p>
            <a:pPr lvl="1"/>
            <a:r>
              <a:t>Corpo livello due</a:t>
            </a:r>
          </a:p>
          <a:p>
            <a:pPr lvl="2"/>
            <a:r>
              <a:t>Corpo livello tre</a:t>
            </a:r>
          </a:p>
          <a:p>
            <a:pPr lvl="3"/>
            <a:r>
              <a:t>Corpo livello quattro</a:t>
            </a:r>
          </a:p>
          <a:p>
            <a:pPr lvl="4"/>
            <a:r>
              <a:t>Corpo livello cinque</a:t>
            </a:r>
          </a:p>
        </p:txBody>
      </p:sp>
      <p:sp>
        <p:nvSpPr>
          <p:cNvPr id="226" name="Text Placeholder 3"/>
          <p:cNvSpPr>
            <a:spLocks noGrp="1"/>
          </p:cNvSpPr>
          <p:nvPr>
            <p:ph type="body" sz="quarter" idx="13"/>
          </p:nvPr>
        </p:nvSpPr>
        <p:spPr>
          <a:xfrm>
            <a:off x="629838" y="2057400"/>
            <a:ext cx="2949183" cy="3811588"/>
          </a:xfrm>
          <a:prstGeom prst="rect">
            <a:avLst/>
          </a:prstGeom>
        </p:spPr>
        <p:txBody>
          <a:bodyPr/>
          <a:lstStyle/>
          <a:p>
            <a:endParaRPr/>
          </a:p>
        </p:txBody>
      </p:sp>
      <p:sp>
        <p:nvSpPr>
          <p:cNvPr id="227" name="Numero diapositiva"/>
          <p:cNvSpPr>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type="tx">
  <p:cSld name="Immagine con didascalia">
    <p:spTree>
      <p:nvGrpSpPr>
        <p:cNvPr id="1" name=""/>
        <p:cNvGrpSpPr/>
        <p:nvPr/>
      </p:nvGrpSpPr>
      <p:grpSpPr>
        <a:xfrm>
          <a:off x="0" y="0"/>
          <a:ext cx="0" cy="0"/>
          <a:chOff x="0" y="0"/>
          <a:chExt cx="0" cy="0"/>
        </a:xfrm>
      </p:grpSpPr>
      <p:sp>
        <p:nvSpPr>
          <p:cNvPr id="234" name="Titolo Testo"/>
          <p:cNvSpPr>
            <a:spLocks noGrp="1"/>
          </p:cNvSpPr>
          <p:nvPr>
            <p:ph type="title"/>
          </p:nvPr>
        </p:nvSpPr>
        <p:spPr>
          <a:xfrm>
            <a:off x="629841" y="457200"/>
            <a:ext cx="2949178" cy="1600200"/>
          </a:xfrm>
          <a:prstGeom prst="rect">
            <a:avLst/>
          </a:prstGeom>
        </p:spPr>
        <p:txBody>
          <a:bodyPr anchor="b"/>
          <a:lstStyle>
            <a:lvl1pPr>
              <a:defRPr sz="3200"/>
            </a:lvl1pPr>
          </a:lstStyle>
          <a:p>
            <a:r>
              <a:t>Titolo Testo</a:t>
            </a:r>
          </a:p>
        </p:txBody>
      </p:sp>
      <p:sp>
        <p:nvSpPr>
          <p:cNvPr id="235" name="Picture Placeholder 2"/>
          <p:cNvSpPr>
            <a:spLocks noGrp="1"/>
          </p:cNvSpPr>
          <p:nvPr>
            <p:ph type="pic" sz="half" idx="13"/>
          </p:nvPr>
        </p:nvSpPr>
        <p:spPr>
          <a:xfrm>
            <a:off x="3887391" y="987425"/>
            <a:ext cx="4629152" cy="4873627"/>
          </a:xfrm>
          <a:prstGeom prst="rect">
            <a:avLst/>
          </a:prstGeom>
        </p:spPr>
        <p:txBody>
          <a:bodyPr lIns="91439" tIns="45719" rIns="91439" bIns="45719">
            <a:noAutofit/>
          </a:bodyPr>
          <a:lstStyle/>
          <a:p>
            <a:endParaRPr/>
          </a:p>
        </p:txBody>
      </p:sp>
      <p:sp>
        <p:nvSpPr>
          <p:cNvPr id="236" name="Corpo livello uno…"/>
          <p:cNvSpPr>
            <a:spLocks noGrp="1"/>
          </p:cNvSpPr>
          <p:nvPr>
            <p:ph type="body" sz="quarter" idx="1"/>
          </p:nvPr>
        </p:nvSpPr>
        <p:spPr>
          <a:xfrm>
            <a:off x="629841" y="2057400"/>
            <a:ext cx="2949178" cy="3811588"/>
          </a:xfrm>
          <a:prstGeom prst="rect">
            <a:avLst/>
          </a:prstGeom>
        </p:spPr>
        <p:txBody>
          <a:bodyPr/>
          <a:lstStyle>
            <a:lvl1pPr marL="0" indent="0">
              <a:buSzTx/>
              <a:buFontTx/>
              <a:buNone/>
              <a:defRPr sz="1600"/>
            </a:lvl1pPr>
            <a:lvl2pPr marL="0" indent="0">
              <a:buSzTx/>
              <a:buFontTx/>
              <a:buNone/>
              <a:defRPr sz="1600"/>
            </a:lvl2pPr>
            <a:lvl3pPr marL="0" indent="0">
              <a:buSzTx/>
              <a:buFontTx/>
              <a:buNone/>
              <a:defRPr sz="1600"/>
            </a:lvl3pPr>
            <a:lvl4pPr marL="0" indent="0">
              <a:buSzTx/>
              <a:buFontTx/>
              <a:buNone/>
              <a:defRPr sz="1600"/>
            </a:lvl4pPr>
            <a:lvl5pPr marL="0" indent="0">
              <a:buSzTx/>
              <a:buFontTx/>
              <a:buNone/>
              <a:defRPr sz="1600"/>
            </a:lvl5pPr>
          </a:lstStyle>
          <a:p>
            <a:r>
              <a:t>Corpo livello uno</a:t>
            </a:r>
          </a:p>
          <a:p>
            <a:pPr lvl="1"/>
            <a:r>
              <a:t>Corpo livello due</a:t>
            </a:r>
          </a:p>
          <a:p>
            <a:pPr lvl="2"/>
            <a:r>
              <a:t>Corpo livello tre</a:t>
            </a:r>
          </a:p>
          <a:p>
            <a:pPr lvl="3"/>
            <a:r>
              <a:t>Corpo livello quattro</a:t>
            </a:r>
          </a:p>
          <a:p>
            <a:pPr lvl="4"/>
            <a:r>
              <a:t>Corpo livello cinque</a:t>
            </a:r>
          </a:p>
        </p:txBody>
      </p:sp>
      <p:sp>
        <p:nvSpPr>
          <p:cNvPr id="237" name="Numero diapositiva"/>
          <p:cNvSpPr>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29"/>
          <a:srcRect/>
          <a:stretch>
            <a:fillRect/>
          </a:stretch>
        </a:blipFill>
        <a:effectLst/>
      </p:bgPr>
    </p:bg>
    <p:spTree>
      <p:nvGrpSpPr>
        <p:cNvPr id="1" name=""/>
        <p:cNvGrpSpPr/>
        <p:nvPr/>
      </p:nvGrpSpPr>
      <p:grpSpPr>
        <a:xfrm>
          <a:off x="0" y="0"/>
          <a:ext cx="0" cy="0"/>
          <a:chOff x="0" y="0"/>
          <a:chExt cx="0" cy="0"/>
        </a:xfrm>
      </p:grpSpPr>
      <p:sp>
        <p:nvSpPr>
          <p:cNvPr id="2" name="Corpo livello uno…"/>
          <p:cNvSpPr>
            <a:spLocks noGrp="1"/>
          </p:cNvSpPr>
          <p:nvPr>
            <p:ph type="body" idx="1"/>
          </p:nvPr>
        </p:nvSpPr>
        <p:spPr>
          <a:xfrm>
            <a:off x="628650" y="1825625"/>
            <a:ext cx="7886700" cy="4351338"/>
          </a:xfrm>
          <a:prstGeom prst="rect">
            <a:avLst/>
          </a:prstGeom>
          <a:ln w="12700">
            <a:miter lim="400000"/>
          </a:ln>
          <a:extLst>
            <a:ext uri="{C572A759-6A51-4108-AA02-DFA0A04FC94B}">
              <ma14:wrappingTextBoxFlag xmlns="" xmlns:ma14="http://schemas.microsoft.com/office/mac/drawingml/2011/main" val="1"/>
            </a:ext>
          </a:extLst>
        </p:spPr>
        <p:txBody>
          <a:bodyPr lIns="45718" tIns="45718" rIns="45718" bIns="45718">
            <a:normAutofit/>
          </a:bodyPr>
          <a:lstStyle/>
          <a:p>
            <a:r>
              <a:t>Corpo livello uno</a:t>
            </a:r>
          </a:p>
          <a:p>
            <a:pPr lvl="1"/>
            <a:r>
              <a:t>Corpo livello due</a:t>
            </a:r>
          </a:p>
          <a:p>
            <a:pPr lvl="2"/>
            <a:r>
              <a:t>Corpo livello tre</a:t>
            </a:r>
          </a:p>
          <a:p>
            <a:pPr lvl="3"/>
            <a:r>
              <a:t>Corpo livello quattro</a:t>
            </a:r>
          </a:p>
          <a:p>
            <a:pPr lvl="4"/>
            <a:r>
              <a:t>Corpo livello cinque</a:t>
            </a:r>
          </a:p>
        </p:txBody>
      </p:sp>
      <p:sp>
        <p:nvSpPr>
          <p:cNvPr id="3" name="Titolo Testo"/>
          <p:cNvSpPr>
            <a:spLocks noGrp="1"/>
          </p:cNvSpPr>
          <p:nvPr>
            <p:ph type="title"/>
          </p:nvPr>
        </p:nvSpPr>
        <p:spPr>
          <a:xfrm>
            <a:off x="628650" y="365125"/>
            <a:ext cx="7886700" cy="1325564"/>
          </a:xfrm>
          <a:prstGeom prst="rect">
            <a:avLst/>
          </a:prstGeom>
          <a:ln w="12700">
            <a:miter lim="400000"/>
          </a:ln>
          <a:extLst>
            <a:ext uri="{C572A759-6A51-4108-AA02-DFA0A04FC94B}">
              <ma14:wrappingTextBoxFlag xmlns="" xmlns:ma14="http://schemas.microsoft.com/office/mac/drawingml/2011/main" val="1"/>
            </a:ext>
          </a:extLst>
        </p:spPr>
        <p:txBody>
          <a:bodyPr lIns="45718" tIns="45718" rIns="45718" bIns="45718" anchor="ctr">
            <a:normAutofit/>
          </a:bodyPr>
          <a:lstStyle/>
          <a:p>
            <a:r>
              <a:t>Titolo Testo</a:t>
            </a:r>
          </a:p>
        </p:txBody>
      </p:sp>
      <p:sp>
        <p:nvSpPr>
          <p:cNvPr id="4" name="Numero diapositiva"/>
          <p:cNvSpPr>
            <a:spLocks noGrp="1"/>
          </p:cNvSpPr>
          <p:nvPr>
            <p:ph type="sldNum" sz="quarter" idx="2"/>
          </p:nvPr>
        </p:nvSpPr>
        <p:spPr>
          <a:xfrm>
            <a:off x="8258815" y="6401183"/>
            <a:ext cx="256537" cy="275463"/>
          </a:xfrm>
          <a:prstGeom prst="rect">
            <a:avLst/>
          </a:prstGeom>
          <a:ln w="12700">
            <a:miter lim="400000"/>
          </a:ln>
        </p:spPr>
        <p:txBody>
          <a:bodyPr wrap="none" lIns="45718" tIns="45718" rIns="45718" bIns="45718" anchor="ctr">
            <a:spAutoFit/>
          </a:bodyPr>
          <a:lstStyle>
            <a:lvl1pPr algn="r">
              <a:defRPr sz="1200">
                <a:solidFill>
                  <a:srgbClr val="888888"/>
                </a:solidFill>
                <a:latin typeface="Times New Roman"/>
                <a:ea typeface="Times New Roman"/>
                <a:cs typeface="Times New Roman"/>
                <a:sym typeface="Times New Roman"/>
              </a:defRPr>
            </a:lvl1pPr>
          </a:lstStyle>
          <a:p>
            <a:fld id="{86CB4B4D-7CA3-9044-876B-883B54F8677D}" type="slidenum">
              <a:t>‹N›</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Lst>
  <p:transition spd="med"/>
  <p:txStyles>
    <p:titleStyle>
      <a:lvl1pPr marL="0" marR="0" indent="0" algn="l" defTabSz="914400" rtl="0" latinLnBrk="0">
        <a:lnSpc>
          <a:spcPct val="90000"/>
        </a:lnSpc>
        <a:spcBef>
          <a:spcPts val="0"/>
        </a:spcBef>
        <a:spcAft>
          <a:spcPts val="0"/>
        </a:spcAft>
        <a:buClrTx/>
        <a:buSzTx/>
        <a:buFontTx/>
        <a:buNone/>
        <a:tabLst/>
        <a:defRPr sz="4400" b="0" i="0" u="none" strike="noStrike" cap="none" spc="0" baseline="0">
          <a:ln>
            <a:noFill/>
          </a:ln>
          <a:solidFill>
            <a:srgbClr val="000000"/>
          </a:solidFill>
          <a:uFillTx/>
          <a:latin typeface="Calibri Light"/>
          <a:ea typeface="Calibri Light"/>
          <a:cs typeface="Calibri Light"/>
          <a:sym typeface="Calibri Light"/>
        </a:defRPr>
      </a:lvl1pPr>
      <a:lvl2pPr marL="0" marR="0" indent="0" algn="l" defTabSz="914400" rtl="0" latinLnBrk="0">
        <a:lnSpc>
          <a:spcPct val="90000"/>
        </a:lnSpc>
        <a:spcBef>
          <a:spcPts val="0"/>
        </a:spcBef>
        <a:spcAft>
          <a:spcPts val="0"/>
        </a:spcAft>
        <a:buClrTx/>
        <a:buSzTx/>
        <a:buFontTx/>
        <a:buNone/>
        <a:tabLst/>
        <a:defRPr sz="4400" b="0" i="0" u="none" strike="noStrike" cap="none" spc="0" baseline="0">
          <a:ln>
            <a:noFill/>
          </a:ln>
          <a:solidFill>
            <a:srgbClr val="000000"/>
          </a:solidFill>
          <a:uFillTx/>
          <a:latin typeface="Calibri Light"/>
          <a:ea typeface="Calibri Light"/>
          <a:cs typeface="Calibri Light"/>
          <a:sym typeface="Calibri Light"/>
        </a:defRPr>
      </a:lvl2pPr>
      <a:lvl3pPr marL="0" marR="0" indent="0" algn="l" defTabSz="914400" rtl="0" latinLnBrk="0">
        <a:lnSpc>
          <a:spcPct val="90000"/>
        </a:lnSpc>
        <a:spcBef>
          <a:spcPts val="0"/>
        </a:spcBef>
        <a:spcAft>
          <a:spcPts val="0"/>
        </a:spcAft>
        <a:buClrTx/>
        <a:buSzTx/>
        <a:buFontTx/>
        <a:buNone/>
        <a:tabLst/>
        <a:defRPr sz="4400" b="0" i="0" u="none" strike="noStrike" cap="none" spc="0" baseline="0">
          <a:ln>
            <a:noFill/>
          </a:ln>
          <a:solidFill>
            <a:srgbClr val="000000"/>
          </a:solidFill>
          <a:uFillTx/>
          <a:latin typeface="Calibri Light"/>
          <a:ea typeface="Calibri Light"/>
          <a:cs typeface="Calibri Light"/>
          <a:sym typeface="Calibri Light"/>
        </a:defRPr>
      </a:lvl3pPr>
      <a:lvl4pPr marL="0" marR="0" indent="0" algn="l" defTabSz="914400" rtl="0" latinLnBrk="0">
        <a:lnSpc>
          <a:spcPct val="90000"/>
        </a:lnSpc>
        <a:spcBef>
          <a:spcPts val="0"/>
        </a:spcBef>
        <a:spcAft>
          <a:spcPts val="0"/>
        </a:spcAft>
        <a:buClrTx/>
        <a:buSzTx/>
        <a:buFontTx/>
        <a:buNone/>
        <a:tabLst/>
        <a:defRPr sz="4400" b="0" i="0" u="none" strike="noStrike" cap="none" spc="0" baseline="0">
          <a:ln>
            <a:noFill/>
          </a:ln>
          <a:solidFill>
            <a:srgbClr val="000000"/>
          </a:solidFill>
          <a:uFillTx/>
          <a:latin typeface="Calibri Light"/>
          <a:ea typeface="Calibri Light"/>
          <a:cs typeface="Calibri Light"/>
          <a:sym typeface="Calibri Light"/>
        </a:defRPr>
      </a:lvl4pPr>
      <a:lvl5pPr marL="0" marR="0" indent="0" algn="l" defTabSz="914400" rtl="0" latinLnBrk="0">
        <a:lnSpc>
          <a:spcPct val="90000"/>
        </a:lnSpc>
        <a:spcBef>
          <a:spcPts val="0"/>
        </a:spcBef>
        <a:spcAft>
          <a:spcPts val="0"/>
        </a:spcAft>
        <a:buClrTx/>
        <a:buSzTx/>
        <a:buFontTx/>
        <a:buNone/>
        <a:tabLst/>
        <a:defRPr sz="4400" b="0" i="0" u="none" strike="noStrike" cap="none" spc="0" baseline="0">
          <a:ln>
            <a:noFill/>
          </a:ln>
          <a:solidFill>
            <a:srgbClr val="000000"/>
          </a:solidFill>
          <a:uFillTx/>
          <a:latin typeface="Calibri Light"/>
          <a:ea typeface="Calibri Light"/>
          <a:cs typeface="Calibri Light"/>
          <a:sym typeface="Calibri Light"/>
        </a:defRPr>
      </a:lvl5pPr>
      <a:lvl6pPr marL="0" marR="0" indent="0" algn="l" defTabSz="914400" rtl="0" latinLnBrk="0">
        <a:lnSpc>
          <a:spcPct val="90000"/>
        </a:lnSpc>
        <a:spcBef>
          <a:spcPts val="0"/>
        </a:spcBef>
        <a:spcAft>
          <a:spcPts val="0"/>
        </a:spcAft>
        <a:buClrTx/>
        <a:buSzTx/>
        <a:buFontTx/>
        <a:buNone/>
        <a:tabLst/>
        <a:defRPr sz="4400" b="0" i="0" u="none" strike="noStrike" cap="none" spc="0" baseline="0">
          <a:ln>
            <a:noFill/>
          </a:ln>
          <a:solidFill>
            <a:srgbClr val="000000"/>
          </a:solidFill>
          <a:uFillTx/>
          <a:latin typeface="Calibri Light"/>
          <a:ea typeface="Calibri Light"/>
          <a:cs typeface="Calibri Light"/>
          <a:sym typeface="Calibri Light"/>
        </a:defRPr>
      </a:lvl6pPr>
      <a:lvl7pPr marL="0" marR="0" indent="0" algn="l" defTabSz="914400" rtl="0" latinLnBrk="0">
        <a:lnSpc>
          <a:spcPct val="90000"/>
        </a:lnSpc>
        <a:spcBef>
          <a:spcPts val="0"/>
        </a:spcBef>
        <a:spcAft>
          <a:spcPts val="0"/>
        </a:spcAft>
        <a:buClrTx/>
        <a:buSzTx/>
        <a:buFontTx/>
        <a:buNone/>
        <a:tabLst/>
        <a:defRPr sz="4400" b="0" i="0" u="none" strike="noStrike" cap="none" spc="0" baseline="0">
          <a:ln>
            <a:noFill/>
          </a:ln>
          <a:solidFill>
            <a:srgbClr val="000000"/>
          </a:solidFill>
          <a:uFillTx/>
          <a:latin typeface="Calibri Light"/>
          <a:ea typeface="Calibri Light"/>
          <a:cs typeface="Calibri Light"/>
          <a:sym typeface="Calibri Light"/>
        </a:defRPr>
      </a:lvl7pPr>
      <a:lvl8pPr marL="0" marR="0" indent="0" algn="l" defTabSz="914400" rtl="0" latinLnBrk="0">
        <a:lnSpc>
          <a:spcPct val="90000"/>
        </a:lnSpc>
        <a:spcBef>
          <a:spcPts val="0"/>
        </a:spcBef>
        <a:spcAft>
          <a:spcPts val="0"/>
        </a:spcAft>
        <a:buClrTx/>
        <a:buSzTx/>
        <a:buFontTx/>
        <a:buNone/>
        <a:tabLst/>
        <a:defRPr sz="4400" b="0" i="0" u="none" strike="noStrike" cap="none" spc="0" baseline="0">
          <a:ln>
            <a:noFill/>
          </a:ln>
          <a:solidFill>
            <a:srgbClr val="000000"/>
          </a:solidFill>
          <a:uFillTx/>
          <a:latin typeface="Calibri Light"/>
          <a:ea typeface="Calibri Light"/>
          <a:cs typeface="Calibri Light"/>
          <a:sym typeface="Calibri Light"/>
        </a:defRPr>
      </a:lvl8pPr>
      <a:lvl9pPr marL="0" marR="0" indent="0" algn="l" defTabSz="914400" rtl="0" latinLnBrk="0">
        <a:lnSpc>
          <a:spcPct val="90000"/>
        </a:lnSpc>
        <a:spcBef>
          <a:spcPts val="0"/>
        </a:spcBef>
        <a:spcAft>
          <a:spcPts val="0"/>
        </a:spcAft>
        <a:buClrTx/>
        <a:buSzTx/>
        <a:buFontTx/>
        <a:buNone/>
        <a:tabLst/>
        <a:defRPr sz="4400" b="0" i="0" u="none" strike="noStrike" cap="none" spc="0" baseline="0">
          <a:ln>
            <a:noFill/>
          </a:ln>
          <a:solidFill>
            <a:srgbClr val="000000"/>
          </a:solidFill>
          <a:uFillTx/>
          <a:latin typeface="Calibri Light"/>
          <a:ea typeface="Calibri Light"/>
          <a:cs typeface="Calibri Light"/>
          <a:sym typeface="Calibri Light"/>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ln>
            <a:noFill/>
          </a:ln>
          <a:solidFill>
            <a:srgbClr val="000000"/>
          </a:solidFill>
          <a:uFillTx/>
          <a:latin typeface="Calibri"/>
          <a:ea typeface="Calibri"/>
          <a:cs typeface="Calibri"/>
          <a:sym typeface="Calibr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ln>
            <a:noFill/>
          </a:ln>
          <a:solidFill>
            <a:srgbClr val="000000"/>
          </a:solidFill>
          <a:uFillTx/>
          <a:latin typeface="Calibri"/>
          <a:ea typeface="Calibri"/>
          <a:cs typeface="Calibri"/>
          <a:sym typeface="Calibri"/>
        </a:defRPr>
      </a:lvl2pPr>
      <a:lvl3pPr marL="1234438" marR="0" indent="-320038" algn="l" defTabSz="914400" rtl="0" latinLnBrk="0">
        <a:lnSpc>
          <a:spcPct val="90000"/>
        </a:lnSpc>
        <a:spcBef>
          <a:spcPts val="1000"/>
        </a:spcBef>
        <a:spcAft>
          <a:spcPts val="0"/>
        </a:spcAft>
        <a:buClrTx/>
        <a:buSzPct val="100000"/>
        <a:buFont typeface="Arial"/>
        <a:buChar char="•"/>
        <a:tabLst/>
        <a:defRPr sz="2800" b="0" i="0" u="none" strike="noStrike" cap="none" spc="0" baseline="0">
          <a:ln>
            <a:noFill/>
          </a:ln>
          <a:solidFill>
            <a:srgbClr val="000000"/>
          </a:solidFill>
          <a:uFillTx/>
          <a:latin typeface="Calibri"/>
          <a:ea typeface="Calibri"/>
          <a:cs typeface="Calibri"/>
          <a:sym typeface="Calibr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ln>
            <a:noFill/>
          </a:ln>
          <a:solidFill>
            <a:srgbClr val="000000"/>
          </a:solidFill>
          <a:uFillTx/>
          <a:latin typeface="Calibri"/>
          <a:ea typeface="Calibri"/>
          <a:cs typeface="Calibri"/>
          <a:sym typeface="Calibr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ln>
            <a:noFill/>
          </a:ln>
          <a:solidFill>
            <a:srgbClr val="000000"/>
          </a:solidFill>
          <a:uFillTx/>
          <a:latin typeface="Calibri"/>
          <a:ea typeface="Calibri"/>
          <a:cs typeface="Calibri"/>
          <a:sym typeface="Calibri"/>
        </a:defRPr>
      </a:lvl5pPr>
      <a:lvl6pPr marL="2606038" marR="0" indent="-320038" algn="l" defTabSz="914400" rtl="0" latinLnBrk="0">
        <a:lnSpc>
          <a:spcPct val="90000"/>
        </a:lnSpc>
        <a:spcBef>
          <a:spcPts val="1000"/>
        </a:spcBef>
        <a:spcAft>
          <a:spcPts val="0"/>
        </a:spcAft>
        <a:buClrTx/>
        <a:buSzPct val="100000"/>
        <a:buFont typeface="Arial"/>
        <a:buChar char="»"/>
        <a:tabLst/>
        <a:defRPr sz="2800" b="0" i="0" u="none" strike="noStrike" cap="none" spc="0" baseline="0">
          <a:ln>
            <a:noFill/>
          </a:ln>
          <a:solidFill>
            <a:srgbClr val="000000"/>
          </a:solidFill>
          <a:uFillTx/>
          <a:latin typeface="Calibri"/>
          <a:ea typeface="Calibri"/>
          <a:cs typeface="Calibri"/>
          <a:sym typeface="Calibri"/>
        </a:defRPr>
      </a:lvl6pPr>
      <a:lvl7pPr marL="3063238" marR="0" indent="-320038" algn="l" defTabSz="914400" rtl="0" latinLnBrk="0">
        <a:lnSpc>
          <a:spcPct val="90000"/>
        </a:lnSpc>
        <a:spcBef>
          <a:spcPts val="1000"/>
        </a:spcBef>
        <a:spcAft>
          <a:spcPts val="0"/>
        </a:spcAft>
        <a:buClrTx/>
        <a:buSzPct val="100000"/>
        <a:buFont typeface="Arial"/>
        <a:buChar char="»"/>
        <a:tabLst/>
        <a:defRPr sz="2800" b="0" i="0" u="none" strike="noStrike" cap="none" spc="0" baseline="0">
          <a:ln>
            <a:noFill/>
          </a:ln>
          <a:solidFill>
            <a:srgbClr val="000000"/>
          </a:solidFill>
          <a:uFillTx/>
          <a:latin typeface="Calibri"/>
          <a:ea typeface="Calibri"/>
          <a:cs typeface="Calibri"/>
          <a:sym typeface="Calibri"/>
        </a:defRPr>
      </a:lvl7pPr>
      <a:lvl8pPr marL="3520438" marR="0" indent="-320038" algn="l" defTabSz="914400" rtl="0" latinLnBrk="0">
        <a:lnSpc>
          <a:spcPct val="90000"/>
        </a:lnSpc>
        <a:spcBef>
          <a:spcPts val="1000"/>
        </a:spcBef>
        <a:spcAft>
          <a:spcPts val="0"/>
        </a:spcAft>
        <a:buClrTx/>
        <a:buSzPct val="100000"/>
        <a:buFont typeface="Arial"/>
        <a:buChar char="»"/>
        <a:tabLst/>
        <a:defRPr sz="2800" b="0" i="0" u="none" strike="noStrike" cap="none" spc="0" baseline="0">
          <a:ln>
            <a:noFill/>
          </a:ln>
          <a:solidFill>
            <a:srgbClr val="000000"/>
          </a:solidFill>
          <a:uFillTx/>
          <a:latin typeface="Calibri"/>
          <a:ea typeface="Calibri"/>
          <a:cs typeface="Calibri"/>
          <a:sym typeface="Calibri"/>
        </a:defRPr>
      </a:lvl8pPr>
      <a:lvl9pPr marL="3977638" marR="0" indent="-320038" algn="l" defTabSz="914400" rtl="0" latinLnBrk="0">
        <a:lnSpc>
          <a:spcPct val="90000"/>
        </a:lnSpc>
        <a:spcBef>
          <a:spcPts val="1000"/>
        </a:spcBef>
        <a:spcAft>
          <a:spcPts val="0"/>
        </a:spcAft>
        <a:buClrTx/>
        <a:buSzPct val="100000"/>
        <a:buFont typeface="Arial"/>
        <a:buChar char="»"/>
        <a:tabLst/>
        <a:defRPr sz="2800" b="0" i="0" u="none" strike="noStrike" cap="none" spc="0" baseline="0">
          <a:ln>
            <a:noFill/>
          </a:ln>
          <a:solidFill>
            <a:srgbClr val="000000"/>
          </a:solidFill>
          <a:uFillTx/>
          <a:latin typeface="Calibri"/>
          <a:ea typeface="Calibri"/>
          <a:cs typeface="Calibri"/>
          <a:sym typeface="Calibri"/>
        </a:defRPr>
      </a:lvl9pPr>
    </p:bodyStyle>
    <p:otherStyle>
      <a:lvl1pPr marL="0" marR="0" indent="0" algn="r" defTabSz="914400" rtl="0" latinLnBrk="0">
        <a:lnSpc>
          <a:spcPct val="100000"/>
        </a:lnSpc>
        <a:spcBef>
          <a:spcPts val="0"/>
        </a:spcBef>
        <a:spcAft>
          <a:spcPts val="0"/>
        </a:spcAft>
        <a:buClrTx/>
        <a:buSzTx/>
        <a:buFontTx/>
        <a:buNone/>
        <a:tabLst/>
        <a:defRPr sz="1200" b="1" i="0" u="none" strike="noStrike" cap="none" spc="0" baseline="0">
          <a:ln>
            <a:noFill/>
          </a:ln>
          <a:solidFill>
            <a:schemeClr val="tx1"/>
          </a:solidFill>
          <a:uFillTx/>
          <a:latin typeface="+mn-lt"/>
          <a:ea typeface="+mn-ea"/>
          <a:cs typeface="+mn-cs"/>
          <a:sym typeface="Times New Roman"/>
        </a:defRPr>
      </a:lvl1pPr>
      <a:lvl2pPr marL="0" marR="0" indent="0" algn="r" defTabSz="914400" rtl="0" latinLnBrk="0">
        <a:lnSpc>
          <a:spcPct val="100000"/>
        </a:lnSpc>
        <a:spcBef>
          <a:spcPts val="0"/>
        </a:spcBef>
        <a:spcAft>
          <a:spcPts val="0"/>
        </a:spcAft>
        <a:buClrTx/>
        <a:buSzTx/>
        <a:buFontTx/>
        <a:buNone/>
        <a:tabLst/>
        <a:defRPr sz="1200" b="1" i="0" u="none" strike="noStrike" cap="none" spc="0" baseline="0">
          <a:ln>
            <a:noFill/>
          </a:ln>
          <a:solidFill>
            <a:schemeClr val="tx1"/>
          </a:solidFill>
          <a:uFillTx/>
          <a:latin typeface="+mn-lt"/>
          <a:ea typeface="+mn-ea"/>
          <a:cs typeface="+mn-cs"/>
          <a:sym typeface="Times New Roman"/>
        </a:defRPr>
      </a:lvl2pPr>
      <a:lvl3pPr marL="0" marR="0" indent="0" algn="r" defTabSz="914400" rtl="0" latinLnBrk="0">
        <a:lnSpc>
          <a:spcPct val="100000"/>
        </a:lnSpc>
        <a:spcBef>
          <a:spcPts val="0"/>
        </a:spcBef>
        <a:spcAft>
          <a:spcPts val="0"/>
        </a:spcAft>
        <a:buClrTx/>
        <a:buSzTx/>
        <a:buFontTx/>
        <a:buNone/>
        <a:tabLst/>
        <a:defRPr sz="1200" b="1" i="0" u="none" strike="noStrike" cap="none" spc="0" baseline="0">
          <a:ln>
            <a:noFill/>
          </a:ln>
          <a:solidFill>
            <a:schemeClr val="tx1"/>
          </a:solidFill>
          <a:uFillTx/>
          <a:latin typeface="+mn-lt"/>
          <a:ea typeface="+mn-ea"/>
          <a:cs typeface="+mn-cs"/>
          <a:sym typeface="Times New Roman"/>
        </a:defRPr>
      </a:lvl3pPr>
      <a:lvl4pPr marL="0" marR="0" indent="0" algn="r" defTabSz="914400" rtl="0" latinLnBrk="0">
        <a:lnSpc>
          <a:spcPct val="100000"/>
        </a:lnSpc>
        <a:spcBef>
          <a:spcPts val="0"/>
        </a:spcBef>
        <a:spcAft>
          <a:spcPts val="0"/>
        </a:spcAft>
        <a:buClrTx/>
        <a:buSzTx/>
        <a:buFontTx/>
        <a:buNone/>
        <a:tabLst/>
        <a:defRPr sz="1200" b="1" i="0" u="none" strike="noStrike" cap="none" spc="0" baseline="0">
          <a:ln>
            <a:noFill/>
          </a:ln>
          <a:solidFill>
            <a:schemeClr val="tx1"/>
          </a:solidFill>
          <a:uFillTx/>
          <a:latin typeface="+mn-lt"/>
          <a:ea typeface="+mn-ea"/>
          <a:cs typeface="+mn-cs"/>
          <a:sym typeface="Times New Roman"/>
        </a:defRPr>
      </a:lvl4pPr>
      <a:lvl5pPr marL="0" marR="0" indent="0" algn="r" defTabSz="914400" rtl="0" latinLnBrk="0">
        <a:lnSpc>
          <a:spcPct val="100000"/>
        </a:lnSpc>
        <a:spcBef>
          <a:spcPts val="0"/>
        </a:spcBef>
        <a:spcAft>
          <a:spcPts val="0"/>
        </a:spcAft>
        <a:buClrTx/>
        <a:buSzTx/>
        <a:buFontTx/>
        <a:buNone/>
        <a:tabLst/>
        <a:defRPr sz="1200" b="1" i="0" u="none" strike="noStrike" cap="none" spc="0" baseline="0">
          <a:ln>
            <a:noFill/>
          </a:ln>
          <a:solidFill>
            <a:schemeClr val="tx1"/>
          </a:solidFill>
          <a:uFillTx/>
          <a:latin typeface="+mn-lt"/>
          <a:ea typeface="+mn-ea"/>
          <a:cs typeface="+mn-cs"/>
          <a:sym typeface="Times New Roman"/>
        </a:defRPr>
      </a:lvl5pPr>
      <a:lvl6pPr marL="0" marR="0" indent="0" algn="r" defTabSz="914400" rtl="0" latinLnBrk="0">
        <a:lnSpc>
          <a:spcPct val="100000"/>
        </a:lnSpc>
        <a:spcBef>
          <a:spcPts val="0"/>
        </a:spcBef>
        <a:spcAft>
          <a:spcPts val="0"/>
        </a:spcAft>
        <a:buClrTx/>
        <a:buSzTx/>
        <a:buFontTx/>
        <a:buNone/>
        <a:tabLst/>
        <a:defRPr sz="1200" b="1" i="0" u="none" strike="noStrike" cap="none" spc="0" baseline="0">
          <a:ln>
            <a:noFill/>
          </a:ln>
          <a:solidFill>
            <a:schemeClr val="tx1"/>
          </a:solidFill>
          <a:uFillTx/>
          <a:latin typeface="+mn-lt"/>
          <a:ea typeface="+mn-ea"/>
          <a:cs typeface="+mn-cs"/>
          <a:sym typeface="Times New Roman"/>
        </a:defRPr>
      </a:lvl6pPr>
      <a:lvl7pPr marL="0" marR="0" indent="0" algn="r" defTabSz="914400" rtl="0" latinLnBrk="0">
        <a:lnSpc>
          <a:spcPct val="100000"/>
        </a:lnSpc>
        <a:spcBef>
          <a:spcPts val="0"/>
        </a:spcBef>
        <a:spcAft>
          <a:spcPts val="0"/>
        </a:spcAft>
        <a:buClrTx/>
        <a:buSzTx/>
        <a:buFontTx/>
        <a:buNone/>
        <a:tabLst/>
        <a:defRPr sz="1200" b="1" i="0" u="none" strike="noStrike" cap="none" spc="0" baseline="0">
          <a:ln>
            <a:noFill/>
          </a:ln>
          <a:solidFill>
            <a:schemeClr val="tx1"/>
          </a:solidFill>
          <a:uFillTx/>
          <a:latin typeface="+mn-lt"/>
          <a:ea typeface="+mn-ea"/>
          <a:cs typeface="+mn-cs"/>
          <a:sym typeface="Times New Roman"/>
        </a:defRPr>
      </a:lvl7pPr>
      <a:lvl8pPr marL="0" marR="0" indent="0" algn="r" defTabSz="914400" rtl="0" latinLnBrk="0">
        <a:lnSpc>
          <a:spcPct val="100000"/>
        </a:lnSpc>
        <a:spcBef>
          <a:spcPts val="0"/>
        </a:spcBef>
        <a:spcAft>
          <a:spcPts val="0"/>
        </a:spcAft>
        <a:buClrTx/>
        <a:buSzTx/>
        <a:buFontTx/>
        <a:buNone/>
        <a:tabLst/>
        <a:defRPr sz="1200" b="1" i="0" u="none" strike="noStrike" cap="none" spc="0" baseline="0">
          <a:ln>
            <a:noFill/>
          </a:ln>
          <a:solidFill>
            <a:schemeClr val="tx1"/>
          </a:solidFill>
          <a:uFillTx/>
          <a:latin typeface="+mn-lt"/>
          <a:ea typeface="+mn-ea"/>
          <a:cs typeface="+mn-cs"/>
          <a:sym typeface="Times New Roman"/>
        </a:defRPr>
      </a:lvl8pPr>
      <a:lvl9pPr marL="0" marR="0" indent="0" algn="r" defTabSz="914400" rtl="0" latinLnBrk="0">
        <a:lnSpc>
          <a:spcPct val="100000"/>
        </a:lnSpc>
        <a:spcBef>
          <a:spcPts val="0"/>
        </a:spcBef>
        <a:spcAft>
          <a:spcPts val="0"/>
        </a:spcAft>
        <a:buClrTx/>
        <a:buSzTx/>
        <a:buFontTx/>
        <a:buNone/>
        <a:tabLst/>
        <a:defRPr sz="1200" b="1" i="0" u="none" strike="noStrike" cap="none" spc="0" baseline="0">
          <a:ln>
            <a:noFill/>
          </a:ln>
          <a:solidFill>
            <a:schemeClr val="tx1"/>
          </a:solidFill>
          <a:uFillTx/>
          <a:latin typeface="+mn-lt"/>
          <a:ea typeface="+mn-ea"/>
          <a:cs typeface="+mn-cs"/>
          <a:sym typeface="Times New Roman"/>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 name="Text Box 4"/>
          <p:cNvSpPr/>
          <p:nvPr/>
        </p:nvSpPr>
        <p:spPr>
          <a:xfrm>
            <a:off x="45719" y="53166"/>
            <a:ext cx="9052561" cy="548637"/>
          </a:xfrm>
          <a:prstGeom prst="rect">
            <a:avLst/>
          </a:prstGeom>
          <a:ln w="12700">
            <a:miter lim="400000"/>
          </a:ln>
          <a:extLst>
            <a:ext uri="{C572A759-6A51-4108-AA02-DFA0A04FC94B}">
              <ma14:wrappingTextBoxFlag xmlns="" xmlns:ma14="http://schemas.microsoft.com/office/mac/drawingml/2011/main" val="1"/>
            </a:ext>
          </a:extLst>
        </p:spPr>
        <p:txBody>
          <a:bodyPr lIns="45718" tIns="45718" rIns="45718" bIns="45718">
            <a:spAutoFit/>
          </a:bodyPr>
          <a:lstStyle>
            <a:lvl1pPr algn="r">
              <a:lnSpc>
                <a:spcPct val="85000"/>
              </a:lnSpc>
              <a:spcBef>
                <a:spcPts val="1800"/>
              </a:spcBef>
              <a:defRPr sz="3000" cap="small">
                <a:solidFill>
                  <a:srgbClr val="FFFFFF"/>
                </a:solidFill>
                <a:latin typeface="Book Antiqua"/>
                <a:ea typeface="Book Antiqua"/>
                <a:cs typeface="Book Antiqua"/>
                <a:sym typeface="Book Antiqua"/>
              </a:defRPr>
            </a:lvl1pPr>
          </a:lstStyle>
          <a:p>
            <a:r>
              <a:t>Scuola Allievi Carabinieri</a:t>
            </a:r>
          </a:p>
        </p:txBody>
      </p:sp>
      <p:sp>
        <p:nvSpPr>
          <p:cNvPr id="247" name="Text Box 4"/>
          <p:cNvSpPr/>
          <p:nvPr/>
        </p:nvSpPr>
        <p:spPr>
          <a:xfrm>
            <a:off x="174876" y="6303648"/>
            <a:ext cx="4783452" cy="331818"/>
          </a:xfrm>
          <a:prstGeom prst="rect">
            <a:avLst/>
          </a:prstGeom>
          <a:ln w="12700">
            <a:miter lim="400000"/>
          </a:ln>
          <a:extLst>
            <a:ext uri="{C572A759-6A51-4108-AA02-DFA0A04FC94B}">
              <ma14:wrappingTextBoxFlag xmlns="" xmlns:ma14="http://schemas.microsoft.com/office/mac/drawingml/2011/main" val="1"/>
            </a:ext>
          </a:extLst>
        </p:spPr>
        <p:txBody>
          <a:bodyPr lIns="45718" tIns="45718" rIns="45718" bIns="45718">
            <a:spAutoFit/>
          </a:bodyPr>
          <a:lstStyle>
            <a:lvl1pPr>
              <a:lnSpc>
                <a:spcPct val="85000"/>
              </a:lnSpc>
              <a:spcBef>
                <a:spcPts val="1000"/>
              </a:spcBef>
              <a:defRPr sz="1800" b="0">
                <a:latin typeface="Book Antiqua"/>
                <a:ea typeface="Book Antiqua"/>
                <a:cs typeface="Book Antiqua"/>
                <a:sym typeface="Book Antiqua"/>
              </a:defRPr>
            </a:lvl1pPr>
          </a:lstStyle>
          <a:p>
            <a:r>
              <a:rPr dirty="0"/>
              <a:t>14</a:t>
            </a:r>
            <a:r>
              <a:rPr lang="it-IT" dirty="0"/>
              <a:t>5</a:t>
            </a:r>
            <a:r>
              <a:rPr dirty="0"/>
              <a:t>°Corso </a:t>
            </a:r>
            <a:r>
              <a:rPr dirty="0" err="1"/>
              <a:t>Formativo</a:t>
            </a:r>
            <a:r>
              <a:rPr dirty="0"/>
              <a:t> per </a:t>
            </a:r>
            <a:r>
              <a:rPr dirty="0" err="1"/>
              <a:t>Allievi</a:t>
            </a:r>
            <a:r>
              <a:rPr dirty="0"/>
              <a:t> Carabinieri</a:t>
            </a:r>
          </a:p>
        </p:txBody>
      </p:sp>
      <p:sp>
        <p:nvSpPr>
          <p:cNvPr id="248" name="Text Box 4"/>
          <p:cNvSpPr/>
          <p:nvPr/>
        </p:nvSpPr>
        <p:spPr>
          <a:xfrm>
            <a:off x="45719" y="1988841"/>
            <a:ext cx="9052561" cy="2816857"/>
          </a:xfrm>
          <a:prstGeom prst="rect">
            <a:avLst/>
          </a:prstGeom>
          <a:ln w="12700">
            <a:miter lim="400000"/>
          </a:ln>
          <a:extLst>
            <a:ext uri="{C572A759-6A51-4108-AA02-DFA0A04FC94B}">
              <ma14:wrappingTextBoxFlag xmlns="" xmlns:ma14="http://schemas.microsoft.com/office/mac/drawingml/2011/main" val="1"/>
            </a:ext>
          </a:extLst>
        </p:spPr>
        <p:txBody>
          <a:bodyPr lIns="45718" tIns="45718" rIns="45718" bIns="45718">
            <a:spAutoFit/>
          </a:bodyPr>
          <a:lstStyle/>
          <a:p>
            <a:pPr algn="ctr">
              <a:lnSpc>
                <a:spcPct val="60000"/>
              </a:lnSpc>
              <a:defRPr sz="7200" i="1">
                <a:solidFill>
                  <a:srgbClr val="C00000"/>
                </a:solidFill>
                <a:latin typeface="Book Antiqua"/>
                <a:ea typeface="Book Antiqua"/>
                <a:cs typeface="Book Antiqua"/>
                <a:sym typeface="Book Antiqua"/>
              </a:defRPr>
            </a:pPr>
            <a:r>
              <a:t>Diritto Penale </a:t>
            </a:r>
          </a:p>
          <a:p>
            <a:pPr algn="ctr">
              <a:defRPr sz="7200" i="1">
                <a:solidFill>
                  <a:srgbClr val="C00000"/>
                </a:solidFill>
                <a:latin typeface="Book Antiqua"/>
                <a:ea typeface="Book Antiqua"/>
                <a:cs typeface="Book Antiqua"/>
                <a:sym typeface="Book Antiqua"/>
              </a:defRPr>
            </a:pPr>
            <a:r>
              <a:rPr sz="3600"/>
              <a:t>e </a:t>
            </a:r>
            <a:br/>
            <a:r>
              <a:rPr sz="6400"/>
              <a:t>Diritto Penale Militare</a:t>
            </a:r>
          </a:p>
        </p:txBody>
      </p:sp>
      <p:sp>
        <p:nvSpPr>
          <p:cNvPr id="2" name="CasellaDiTesto 1">
            <a:extLst>
              <a:ext uri="{FF2B5EF4-FFF2-40B4-BE49-F238E27FC236}">
                <a16:creationId xmlns:a16="http://schemas.microsoft.com/office/drawing/2014/main" id="{395DF6BD-2F1F-37CB-6620-804CFC7BC87D}"/>
              </a:ext>
            </a:extLst>
          </p:cNvPr>
          <p:cNvSpPr txBox="1"/>
          <p:nvPr/>
        </p:nvSpPr>
        <p:spPr>
          <a:xfrm>
            <a:off x="6630927" y="6158507"/>
            <a:ext cx="2848132" cy="64632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it-IT" sz="1800" b="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a:endParaRPr>
          </a:p>
          <a:p>
            <a:pPr marL="0" marR="0" indent="0" algn="l" defTabSz="914400" rtl="0" fontAlgn="auto" latinLnBrk="0" hangingPunct="0">
              <a:lnSpc>
                <a:spcPct val="100000"/>
              </a:lnSpc>
              <a:spcBef>
                <a:spcPts val="0"/>
              </a:spcBef>
              <a:spcAft>
                <a:spcPts val="0"/>
              </a:spcAft>
              <a:buClrTx/>
              <a:buSzTx/>
              <a:buFontTx/>
              <a:buNone/>
              <a:tabLst/>
            </a:pPr>
            <a:endParaRPr kumimoji="0" lang="it-IT" sz="1800" b="1" i="0" u="none" strike="noStrike" cap="none" spc="0" normalizeH="0" baseline="0" dirty="0">
              <a:ln>
                <a:noFill/>
              </a:ln>
              <a:solidFill>
                <a:srgbClr val="000000"/>
              </a:solidFill>
              <a:effectLst/>
              <a:uFillTx/>
              <a:latin typeface="+mn-lt"/>
              <a:ea typeface="+mn-ea"/>
              <a:cs typeface="+mn-cs"/>
              <a:sym typeface="Helvetica"/>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0" name="Immagine 1" descr="Immagine 1"/>
          <p:cNvPicPr>
            <a:picLocks noChangeAspect="1"/>
          </p:cNvPicPr>
          <p:nvPr/>
        </p:nvPicPr>
        <p:blipFill>
          <a:blip r:embed="rId2"/>
          <a:stretch>
            <a:fillRect/>
          </a:stretch>
        </p:blipFill>
        <p:spPr>
          <a:xfrm>
            <a:off x="136850" y="67097"/>
            <a:ext cx="435671" cy="753168"/>
          </a:xfrm>
          <a:prstGeom prst="rect">
            <a:avLst/>
          </a:prstGeom>
          <a:ln w="12700">
            <a:miter lim="400000"/>
          </a:ln>
        </p:spPr>
      </p:pic>
      <p:sp>
        <p:nvSpPr>
          <p:cNvPr id="251" name="Text Box 4"/>
          <p:cNvSpPr/>
          <p:nvPr/>
        </p:nvSpPr>
        <p:spPr>
          <a:xfrm>
            <a:off x="33019" y="1325197"/>
            <a:ext cx="9052561" cy="916937"/>
          </a:xfrm>
          <a:prstGeom prst="rect">
            <a:avLst/>
          </a:prstGeom>
          <a:ln w="12700">
            <a:miter lim="400000"/>
          </a:ln>
          <a:extLst>
            <a:ext uri="{C572A759-6A51-4108-AA02-DFA0A04FC94B}">
              <ma14:wrappingTextBoxFlag xmlns="" xmlns:ma14="http://schemas.microsoft.com/office/mac/drawingml/2011/main" val="1"/>
            </a:ext>
          </a:extLst>
        </p:spPr>
        <p:txBody>
          <a:bodyPr lIns="45718" tIns="45718" rIns="45718" bIns="45718">
            <a:spAutoFit/>
          </a:bodyPr>
          <a:lstStyle>
            <a:lvl1pPr algn="ctr">
              <a:lnSpc>
                <a:spcPct val="85000"/>
              </a:lnSpc>
              <a:spcBef>
                <a:spcPts val="3200"/>
              </a:spcBef>
              <a:defRPr sz="5400" i="1">
                <a:solidFill>
                  <a:srgbClr val="C00000"/>
                </a:solidFill>
                <a:latin typeface="Book Antiqua"/>
                <a:ea typeface="Book Antiqua"/>
                <a:cs typeface="Book Antiqua"/>
                <a:sym typeface="Book Antiqua"/>
              </a:defRPr>
            </a:lvl1pPr>
          </a:lstStyle>
          <a:p>
            <a:r>
              <a:t>Diritto Penale</a:t>
            </a:r>
          </a:p>
        </p:txBody>
      </p:sp>
      <p:sp>
        <p:nvSpPr>
          <p:cNvPr id="252" name="Text Box 4"/>
          <p:cNvSpPr/>
          <p:nvPr/>
        </p:nvSpPr>
        <p:spPr>
          <a:xfrm>
            <a:off x="33019" y="2695688"/>
            <a:ext cx="9052561" cy="1831337"/>
          </a:xfrm>
          <a:prstGeom prst="rect">
            <a:avLst/>
          </a:prstGeom>
          <a:ln w="12700">
            <a:miter lim="400000"/>
          </a:ln>
          <a:extLst>
            <a:ext uri="{C572A759-6A51-4108-AA02-DFA0A04FC94B}">
              <ma14:wrappingTextBoxFlag xmlns="" xmlns:ma14="http://schemas.microsoft.com/office/mac/drawingml/2011/main" val="1"/>
            </a:ext>
          </a:extLst>
        </p:spPr>
        <p:txBody>
          <a:bodyPr lIns="45718" tIns="45718" rIns="45718" bIns="45718">
            <a:spAutoFit/>
          </a:bodyPr>
          <a:lstStyle/>
          <a:p>
            <a:pPr algn="ctr">
              <a:lnSpc>
                <a:spcPct val="85000"/>
              </a:lnSpc>
              <a:spcBef>
                <a:spcPts val="2400"/>
              </a:spcBef>
              <a:defRPr sz="4000" cap="small">
                <a:solidFill>
                  <a:srgbClr val="002F8E"/>
                </a:solidFill>
                <a:latin typeface="Book Antiqua"/>
                <a:ea typeface="Book Antiqua"/>
                <a:cs typeface="Book Antiqua"/>
                <a:sym typeface="Book Antiqua"/>
              </a:defRPr>
            </a:pPr>
            <a:r>
              <a:t>I Tesi</a:t>
            </a:r>
            <a:endParaRPr>
              <a:latin typeface="Times New Roman"/>
              <a:ea typeface="Times New Roman"/>
              <a:cs typeface="Times New Roman"/>
              <a:sym typeface="Times New Roman"/>
            </a:endParaRPr>
          </a:p>
          <a:p>
            <a:pPr algn="ctr">
              <a:lnSpc>
                <a:spcPct val="85000"/>
              </a:lnSpc>
              <a:spcBef>
                <a:spcPts val="2800"/>
              </a:spcBef>
              <a:defRPr sz="1000" cap="small">
                <a:solidFill>
                  <a:srgbClr val="002F8E"/>
                </a:solidFill>
                <a:latin typeface="Book Antiqua"/>
                <a:ea typeface="Book Antiqua"/>
                <a:cs typeface="Book Antiqua"/>
                <a:sym typeface="Book Antiqua"/>
              </a:defRPr>
            </a:pPr>
            <a:r>
              <a:t> </a:t>
            </a:r>
            <a:br/>
            <a:r>
              <a:rPr sz="4800" i="1" cap="none"/>
              <a:t>La struttura del reato</a:t>
            </a:r>
          </a:p>
        </p:txBody>
      </p:sp>
      <p:sp>
        <p:nvSpPr>
          <p:cNvPr id="253" name="Text Box 4"/>
          <p:cNvSpPr/>
          <p:nvPr/>
        </p:nvSpPr>
        <p:spPr>
          <a:xfrm>
            <a:off x="174876" y="6303648"/>
            <a:ext cx="4783452" cy="331818"/>
          </a:xfrm>
          <a:prstGeom prst="rect">
            <a:avLst/>
          </a:prstGeom>
          <a:ln w="12700">
            <a:miter lim="400000"/>
          </a:ln>
          <a:extLst>
            <a:ext uri="{C572A759-6A51-4108-AA02-DFA0A04FC94B}">
              <ma14:wrappingTextBoxFlag xmlns="" xmlns:ma14="http://schemas.microsoft.com/office/mac/drawingml/2011/main" val="1"/>
            </a:ext>
          </a:extLst>
        </p:spPr>
        <p:txBody>
          <a:bodyPr lIns="45718" tIns="45718" rIns="45718" bIns="45718">
            <a:spAutoFit/>
          </a:bodyPr>
          <a:lstStyle>
            <a:lvl1pPr>
              <a:lnSpc>
                <a:spcPct val="85000"/>
              </a:lnSpc>
              <a:spcBef>
                <a:spcPts val="1000"/>
              </a:spcBef>
              <a:defRPr sz="1800" b="0">
                <a:latin typeface="Book Antiqua"/>
                <a:ea typeface="Book Antiqua"/>
                <a:cs typeface="Book Antiqua"/>
                <a:sym typeface="Book Antiqua"/>
              </a:defRPr>
            </a:lvl1pPr>
          </a:lstStyle>
          <a:p>
            <a:r>
              <a:rPr dirty="0"/>
              <a:t>14</a:t>
            </a:r>
            <a:r>
              <a:rPr lang="it-IT" dirty="0"/>
              <a:t>5</a:t>
            </a:r>
            <a:r>
              <a:rPr dirty="0"/>
              <a:t>°Corso </a:t>
            </a:r>
            <a:r>
              <a:rPr dirty="0" err="1"/>
              <a:t>Formativo</a:t>
            </a:r>
            <a:r>
              <a:rPr dirty="0"/>
              <a:t> per </a:t>
            </a:r>
            <a:r>
              <a:rPr dirty="0" err="1"/>
              <a:t>Allievi</a:t>
            </a:r>
            <a:r>
              <a:rPr dirty="0"/>
              <a:t> Carabinieri</a:t>
            </a:r>
          </a:p>
        </p:txBody>
      </p:sp>
      <p:sp>
        <p:nvSpPr>
          <p:cNvPr id="254" name="Text Box 4"/>
          <p:cNvSpPr/>
          <p:nvPr/>
        </p:nvSpPr>
        <p:spPr>
          <a:xfrm>
            <a:off x="45719" y="53166"/>
            <a:ext cx="9052561" cy="548637"/>
          </a:xfrm>
          <a:prstGeom prst="rect">
            <a:avLst/>
          </a:prstGeom>
          <a:ln w="12700">
            <a:miter lim="400000"/>
          </a:ln>
          <a:extLst>
            <a:ext uri="{C572A759-6A51-4108-AA02-DFA0A04FC94B}">
              <ma14:wrappingTextBoxFlag xmlns="" xmlns:ma14="http://schemas.microsoft.com/office/mac/drawingml/2011/main" val="1"/>
            </a:ext>
          </a:extLst>
        </p:spPr>
        <p:txBody>
          <a:bodyPr lIns="45718" tIns="45718" rIns="45718" bIns="45718">
            <a:spAutoFit/>
          </a:bodyPr>
          <a:lstStyle>
            <a:lvl1pPr algn="r">
              <a:lnSpc>
                <a:spcPct val="85000"/>
              </a:lnSpc>
              <a:spcBef>
                <a:spcPts val="1800"/>
              </a:spcBef>
              <a:defRPr sz="3000" cap="small">
                <a:solidFill>
                  <a:srgbClr val="FFFFFF"/>
                </a:solidFill>
                <a:latin typeface="Book Antiqua"/>
                <a:ea typeface="Book Antiqua"/>
                <a:cs typeface="Book Antiqua"/>
                <a:sym typeface="Book Antiqua"/>
              </a:defRPr>
            </a:lvl1pPr>
          </a:lstStyle>
          <a:p>
            <a:r>
              <a:t>Scuola Allievi Carabinieri</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 name="Rectangle 2"/>
          <p:cNvSpPr>
            <a:spLocks noGrp="1"/>
          </p:cNvSpPr>
          <p:nvPr>
            <p:ph type="body" idx="1"/>
          </p:nvPr>
        </p:nvSpPr>
        <p:spPr>
          <a:xfrm>
            <a:off x="837289" y="1401144"/>
            <a:ext cx="7186615" cy="5275885"/>
          </a:xfrm>
          <a:prstGeom prst="rect">
            <a:avLst/>
          </a:prstGeom>
        </p:spPr>
        <p:txBody>
          <a:bodyPr lIns="44180" tIns="44180" rIns="44180" bIns="44180"/>
          <a:lstStyle/>
          <a:p>
            <a:pPr marL="354013" indent="-354013" algn="just" defTabSz="730250">
              <a:buFontTx/>
              <a:buAutoNum type="arabicPeriod"/>
              <a:defRPr sz="1600">
                <a:latin typeface="Book Antiqua"/>
                <a:ea typeface="Book Antiqua"/>
                <a:cs typeface="Book Antiqua"/>
                <a:sym typeface="Book Antiqua"/>
              </a:defRPr>
            </a:pPr>
            <a:r>
              <a:t>Introduzione</a:t>
            </a:r>
          </a:p>
          <a:p>
            <a:pPr marL="354013" indent="-354013" algn="just" defTabSz="730250">
              <a:buFontTx/>
              <a:buAutoNum type="arabicPeriod"/>
              <a:defRPr sz="1600">
                <a:latin typeface="Book Antiqua"/>
                <a:ea typeface="Book Antiqua"/>
                <a:cs typeface="Book Antiqua"/>
                <a:sym typeface="Book Antiqua"/>
              </a:defRPr>
            </a:pPr>
            <a:r>
              <a:t>Elementi costitutivi e i caratteri della norma penale</a:t>
            </a:r>
          </a:p>
          <a:p>
            <a:pPr marL="354013" indent="-354013" algn="just" defTabSz="730250">
              <a:buFontTx/>
              <a:buAutoNum type="arabicPeriod"/>
              <a:defRPr sz="1600">
                <a:latin typeface="Book Antiqua"/>
                <a:ea typeface="Book Antiqua"/>
                <a:cs typeface="Book Antiqua"/>
                <a:sym typeface="Book Antiqua"/>
              </a:defRPr>
            </a:pPr>
            <a:r>
              <a:t>Obbligatorietà della legge penale</a:t>
            </a:r>
          </a:p>
          <a:p>
            <a:pPr marL="354013" indent="-354013" algn="just" defTabSz="730250">
              <a:buFontTx/>
              <a:buAutoNum type="arabicPeriod"/>
              <a:defRPr sz="1600">
                <a:latin typeface="Book Antiqua"/>
                <a:ea typeface="Book Antiqua"/>
                <a:cs typeface="Book Antiqua"/>
                <a:sym typeface="Book Antiqua"/>
              </a:defRPr>
            </a:pPr>
            <a:r>
              <a:t>Delitti e contravvenzioni</a:t>
            </a:r>
          </a:p>
          <a:p>
            <a:pPr marL="354013" indent="-354013" algn="just" defTabSz="730250">
              <a:buFontTx/>
              <a:buAutoNum type="arabicPeriod"/>
              <a:defRPr sz="1600">
                <a:latin typeface="Book Antiqua"/>
                <a:ea typeface="Book Antiqua"/>
                <a:cs typeface="Book Antiqua"/>
                <a:sym typeface="Book Antiqua"/>
              </a:defRPr>
            </a:pPr>
            <a:r>
              <a:t>Il soggetto attivo del reato</a:t>
            </a:r>
          </a:p>
          <a:p>
            <a:pPr marL="354013" indent="-354013" algn="just" defTabSz="730250">
              <a:buFontTx/>
              <a:buAutoNum type="arabicPeriod"/>
              <a:defRPr sz="1600">
                <a:latin typeface="Book Antiqua"/>
                <a:ea typeface="Book Antiqua"/>
                <a:cs typeface="Book Antiqua"/>
                <a:sym typeface="Book Antiqua"/>
              </a:defRPr>
            </a:pPr>
            <a:r>
              <a:t>Il soggetto passivo del reato</a:t>
            </a:r>
          </a:p>
          <a:p>
            <a:pPr marL="354013" indent="-354013" algn="just" defTabSz="730250">
              <a:buFontTx/>
              <a:buAutoNum type="arabicPeriod"/>
              <a:defRPr sz="1600">
                <a:latin typeface="Book Antiqua"/>
                <a:ea typeface="Book Antiqua"/>
                <a:cs typeface="Book Antiqua"/>
                <a:sym typeface="Book Antiqua"/>
              </a:defRPr>
            </a:pPr>
            <a:r>
              <a:t>L’oggetto giuridico</a:t>
            </a:r>
          </a:p>
          <a:p>
            <a:pPr marL="354013" indent="-354013" algn="just" defTabSz="730250">
              <a:buFontTx/>
              <a:buAutoNum type="arabicPeriod"/>
              <a:defRPr sz="1600">
                <a:latin typeface="Book Antiqua"/>
                <a:ea typeface="Book Antiqua"/>
                <a:cs typeface="Book Antiqua"/>
                <a:sym typeface="Book Antiqua"/>
              </a:defRPr>
            </a:pPr>
            <a:r>
              <a:t>La struttura del reato</a:t>
            </a:r>
          </a:p>
          <a:p>
            <a:pPr marL="354013" indent="-354013" algn="just" defTabSz="730250">
              <a:buFontTx/>
              <a:buAutoNum type="arabicPeriod"/>
              <a:defRPr sz="1600">
                <a:latin typeface="Book Antiqua"/>
                <a:ea typeface="Book Antiqua"/>
                <a:cs typeface="Book Antiqua"/>
                <a:sym typeface="Book Antiqua"/>
              </a:defRPr>
            </a:pPr>
            <a:r>
              <a:t>Elemento oggettivo del reato</a:t>
            </a:r>
          </a:p>
          <a:p>
            <a:pPr marL="685800" lvl="1" indent="-228600" algn="just" defTabSz="730250">
              <a:spcBef>
                <a:spcPts val="500"/>
              </a:spcBef>
              <a:defRPr sz="1100">
                <a:latin typeface="Book Antiqua"/>
                <a:ea typeface="Book Antiqua"/>
                <a:cs typeface="Book Antiqua"/>
                <a:sym typeface="Book Antiqua"/>
              </a:defRPr>
            </a:pPr>
            <a:r>
              <a:t>La condotta</a:t>
            </a:r>
            <a:endParaRPr sz="2400"/>
          </a:p>
          <a:p>
            <a:pPr marL="685800" lvl="1" indent="-228600" algn="just" defTabSz="730250">
              <a:spcBef>
                <a:spcPts val="500"/>
              </a:spcBef>
              <a:defRPr sz="1100">
                <a:latin typeface="Book Antiqua"/>
                <a:ea typeface="Book Antiqua"/>
                <a:cs typeface="Book Antiqua"/>
                <a:sym typeface="Book Antiqua"/>
              </a:defRPr>
            </a:pPr>
            <a:r>
              <a:t>L’evento</a:t>
            </a:r>
            <a:endParaRPr sz="2400"/>
          </a:p>
          <a:p>
            <a:pPr marL="457200" indent="-457200" algn="just" defTabSz="730250">
              <a:buFontTx/>
              <a:buAutoNum type="arabicPeriod"/>
              <a:defRPr sz="1600">
                <a:latin typeface="Book Antiqua"/>
                <a:ea typeface="Book Antiqua"/>
                <a:cs typeface="Book Antiqua"/>
                <a:sym typeface="Book Antiqua"/>
              </a:defRPr>
            </a:pPr>
            <a:r>
              <a:t>Il nesso di causalità</a:t>
            </a:r>
          </a:p>
          <a:p>
            <a:pPr marL="457200" indent="-457200" algn="just" defTabSz="730250">
              <a:buFontTx/>
              <a:buAutoNum type="arabicPeriod"/>
              <a:defRPr sz="1600">
                <a:latin typeface="Book Antiqua"/>
                <a:ea typeface="Book Antiqua"/>
                <a:cs typeface="Book Antiqua"/>
                <a:sym typeface="Book Antiqua"/>
              </a:defRPr>
            </a:pPr>
            <a:r>
              <a:t>Elemento soggettivo del reato</a:t>
            </a:r>
          </a:p>
          <a:p>
            <a:pPr marL="685800" lvl="1" indent="-228600" algn="just" defTabSz="730250">
              <a:spcBef>
                <a:spcPts val="500"/>
              </a:spcBef>
              <a:defRPr sz="1100">
                <a:latin typeface="Book Antiqua"/>
                <a:ea typeface="Book Antiqua"/>
                <a:cs typeface="Book Antiqua"/>
                <a:sym typeface="Book Antiqua"/>
              </a:defRPr>
            </a:pPr>
            <a:r>
              <a:t>Il dolo</a:t>
            </a:r>
            <a:endParaRPr sz="2400"/>
          </a:p>
          <a:p>
            <a:pPr marL="685800" lvl="1" indent="-228600" algn="just" defTabSz="730250">
              <a:spcBef>
                <a:spcPts val="500"/>
              </a:spcBef>
              <a:defRPr sz="1100">
                <a:latin typeface="Book Antiqua"/>
                <a:ea typeface="Book Antiqua"/>
                <a:cs typeface="Book Antiqua"/>
                <a:sym typeface="Book Antiqua"/>
              </a:defRPr>
            </a:pPr>
            <a:r>
              <a:t>La colpa</a:t>
            </a:r>
            <a:endParaRPr sz="2400"/>
          </a:p>
          <a:p>
            <a:pPr marL="685800" lvl="1" indent="-228600" algn="just" defTabSz="730250">
              <a:spcBef>
                <a:spcPts val="500"/>
              </a:spcBef>
              <a:defRPr sz="1100">
                <a:latin typeface="Book Antiqua"/>
                <a:ea typeface="Book Antiqua"/>
                <a:cs typeface="Book Antiqua"/>
                <a:sym typeface="Book Antiqua"/>
              </a:defRPr>
            </a:pPr>
            <a:r>
              <a:t>La preterintenzione</a:t>
            </a:r>
            <a:endParaRPr sz="2400"/>
          </a:p>
          <a:p>
            <a:pPr marL="685800" lvl="1" indent="-228600" algn="just" defTabSz="730250">
              <a:spcBef>
                <a:spcPts val="500"/>
              </a:spcBef>
              <a:defRPr sz="1100">
                <a:latin typeface="Book Antiqua"/>
                <a:ea typeface="Book Antiqua"/>
                <a:cs typeface="Book Antiqua"/>
                <a:sym typeface="Book Antiqua"/>
              </a:defRPr>
            </a:pPr>
            <a:r>
              <a:t>La responsabilità oggettiva</a:t>
            </a:r>
          </a:p>
        </p:txBody>
      </p:sp>
      <p:sp>
        <p:nvSpPr>
          <p:cNvPr id="257" name="Text Box 5"/>
          <p:cNvSpPr/>
          <p:nvPr/>
        </p:nvSpPr>
        <p:spPr>
          <a:xfrm>
            <a:off x="881860" y="116630"/>
            <a:ext cx="8217569" cy="584439"/>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a14="http://schemas.microsoft.com/office/mac/drawingml/2011/main"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TESI I – La struttura del reato</a:t>
            </a:r>
          </a:p>
        </p:txBody>
      </p:sp>
      <p:sp>
        <p:nvSpPr>
          <p:cNvPr id="258" name="CasellaDiTesto 9"/>
          <p:cNvSpPr/>
          <p:nvPr/>
        </p:nvSpPr>
        <p:spPr>
          <a:xfrm>
            <a:off x="3609607" y="847148"/>
            <a:ext cx="1924788" cy="548637"/>
          </a:xfrm>
          <a:prstGeom prst="rect">
            <a:avLst/>
          </a:prstGeom>
          <a:ln w="12700">
            <a:miter lim="400000"/>
          </a:ln>
          <a:extLst>
            <a:ext uri="{C572A759-6A51-4108-AA02-DFA0A04FC94B}">
              <ma14:wrappingTextBoxFlag xmlns="" xmlns:ma14="http://schemas.microsoft.com/office/mac/drawingml/2011/main" val="1"/>
            </a:ext>
          </a:extLst>
        </p:spPr>
        <p:txBody>
          <a:bodyPr lIns="45718" tIns="45718" rIns="45718" bIns="45718">
            <a:spAutoFit/>
          </a:bodyPr>
          <a:lstStyle>
            <a:lvl1pPr algn="ctr">
              <a:defRPr sz="3000" i="1">
                <a:solidFill>
                  <a:srgbClr val="002F8E"/>
                </a:solidFill>
                <a:latin typeface="Book Antiqua"/>
                <a:ea typeface="Book Antiqua"/>
                <a:cs typeface="Book Antiqua"/>
                <a:sym typeface="Book Antiqua"/>
              </a:defRPr>
            </a:lvl1pPr>
          </a:lstStyle>
          <a:p>
            <a:r>
              <a:t>Indice</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 name="Segnaposto contenuto 2"/>
          <p:cNvSpPr>
            <a:spLocks noGrp="1"/>
          </p:cNvSpPr>
          <p:nvPr>
            <p:ph type="body" idx="1"/>
          </p:nvPr>
        </p:nvSpPr>
        <p:spPr>
          <a:xfrm>
            <a:off x="457200" y="1124741"/>
            <a:ext cx="8229600" cy="5112573"/>
          </a:xfrm>
          <a:prstGeom prst="rect">
            <a:avLst/>
          </a:prstGeom>
        </p:spPr>
        <p:txBody>
          <a:bodyPr/>
          <a:lstStyle/>
          <a:p>
            <a:pPr marL="0" indent="0" algn="ctr">
              <a:lnSpc>
                <a:spcPct val="135000"/>
              </a:lnSpc>
              <a:buSzTx/>
              <a:buNone/>
              <a:defRPr sz="3600" b="1">
                <a:solidFill>
                  <a:srgbClr val="C00000"/>
                </a:solidFill>
                <a:latin typeface="Book Antiqua"/>
                <a:ea typeface="Book Antiqua"/>
                <a:cs typeface="Book Antiqua"/>
                <a:sym typeface="Book Antiqua"/>
              </a:defRPr>
            </a:pPr>
            <a:r>
              <a:t>DIRITTO</a:t>
            </a:r>
          </a:p>
          <a:p>
            <a:pPr marL="0" indent="0" algn="just">
              <a:lnSpc>
                <a:spcPct val="81000"/>
              </a:lnSpc>
              <a:buSzTx/>
              <a:buNone/>
              <a:defRPr sz="2200">
                <a:latin typeface="Book Antiqua"/>
                <a:ea typeface="Book Antiqua"/>
                <a:cs typeface="Book Antiqua"/>
                <a:sym typeface="Book Antiqua"/>
              </a:defRPr>
            </a:pPr>
            <a:r>
              <a:t>è l'insieme delle </a:t>
            </a:r>
            <a:r>
              <a:rPr u="sng"/>
              <a:t>norme giuridiche</a:t>
            </a:r>
            <a:r>
              <a:t> presenti in un ordinamento giuridico e/o che regolamentino una determinata disciplina.</a:t>
            </a:r>
          </a:p>
          <a:p>
            <a:pPr marL="0" indent="0" algn="just">
              <a:lnSpc>
                <a:spcPct val="81000"/>
              </a:lnSpc>
              <a:buSzTx/>
              <a:buNone/>
              <a:defRPr sz="2200">
                <a:latin typeface="Book Antiqua"/>
                <a:ea typeface="Book Antiqua"/>
                <a:cs typeface="Book Antiqua"/>
                <a:sym typeface="Book Antiqua"/>
              </a:defRPr>
            </a:pPr>
            <a:endParaRPr/>
          </a:p>
          <a:p>
            <a:pPr marL="0" indent="0" algn="ctr">
              <a:lnSpc>
                <a:spcPct val="81000"/>
              </a:lnSpc>
              <a:buSzTx/>
              <a:buNone/>
              <a:defRPr sz="2400" b="1">
                <a:solidFill>
                  <a:srgbClr val="C00000"/>
                </a:solidFill>
                <a:latin typeface="Book Antiqua"/>
                <a:ea typeface="Book Antiqua"/>
                <a:cs typeface="Book Antiqua"/>
                <a:sym typeface="Book Antiqua"/>
              </a:defRPr>
            </a:pPr>
            <a:r>
              <a:t>NORMA GIURIDICA </a:t>
            </a:r>
          </a:p>
          <a:p>
            <a:pPr marL="0" indent="0" algn="just">
              <a:lnSpc>
                <a:spcPct val="81000"/>
              </a:lnSpc>
              <a:buSzTx/>
              <a:buNone/>
              <a:defRPr sz="2200">
                <a:latin typeface="Book Antiqua"/>
                <a:ea typeface="Book Antiqua"/>
                <a:cs typeface="Book Antiqua"/>
                <a:sym typeface="Book Antiqua"/>
              </a:defRPr>
            </a:pPr>
            <a:r>
              <a:t>ogni regola che disciplina la vita organizzata di una società e rientra nel sistema di norme che costituiscono l'ordinamento giuridico.</a:t>
            </a:r>
          </a:p>
          <a:p>
            <a:pPr marL="0" indent="0" algn="just">
              <a:lnSpc>
                <a:spcPct val="81000"/>
              </a:lnSpc>
              <a:buSzTx/>
              <a:buNone/>
              <a:defRPr sz="2200">
                <a:latin typeface="Book Antiqua"/>
                <a:ea typeface="Book Antiqua"/>
                <a:cs typeface="Book Antiqua"/>
                <a:sym typeface="Book Antiqua"/>
              </a:defRPr>
            </a:pPr>
            <a:endParaRPr/>
          </a:p>
          <a:p>
            <a:pPr algn="ctr">
              <a:lnSpc>
                <a:spcPct val="81000"/>
              </a:lnSpc>
              <a:buFontTx/>
              <a:buChar char="-"/>
              <a:defRPr sz="2200" b="1">
                <a:solidFill>
                  <a:srgbClr val="FF0000"/>
                </a:solidFill>
                <a:latin typeface="Book Antiqua"/>
                <a:ea typeface="Book Antiqua"/>
                <a:cs typeface="Book Antiqua"/>
                <a:sym typeface="Book Antiqua"/>
              </a:defRPr>
            </a:pPr>
            <a:r>
              <a:t>Generalità-</a:t>
            </a:r>
            <a:r>
              <a:rPr b="0">
                <a:solidFill>
                  <a:srgbClr val="000000"/>
                </a:solidFill>
              </a:rPr>
              <a:t> </a:t>
            </a:r>
            <a:r>
              <a:rPr sz="1900" b="0">
                <a:solidFill>
                  <a:srgbClr val="000000"/>
                </a:solidFill>
              </a:rPr>
              <a:t>rivolta ad un numero indeterminato di individui</a:t>
            </a:r>
          </a:p>
          <a:p>
            <a:pPr algn="ctr">
              <a:lnSpc>
                <a:spcPct val="81000"/>
              </a:lnSpc>
              <a:buFontTx/>
              <a:buChar char="-"/>
              <a:defRPr sz="2200" b="1">
                <a:solidFill>
                  <a:srgbClr val="FF0000"/>
                </a:solidFill>
                <a:latin typeface="Book Antiqua"/>
                <a:ea typeface="Book Antiqua"/>
                <a:cs typeface="Book Antiqua"/>
                <a:sym typeface="Book Antiqua"/>
              </a:defRPr>
            </a:pPr>
            <a:r>
              <a:t>Astrattezza-</a:t>
            </a:r>
            <a:r>
              <a:rPr b="0">
                <a:solidFill>
                  <a:srgbClr val="000000"/>
                </a:solidFill>
              </a:rPr>
              <a:t> </a:t>
            </a:r>
            <a:r>
              <a:rPr sz="1900" b="0">
                <a:solidFill>
                  <a:srgbClr val="000000"/>
                </a:solidFill>
              </a:rPr>
              <a:t>la fattispecie descritta dalla norma è del tutto ipotetica</a:t>
            </a:r>
          </a:p>
          <a:p>
            <a:pPr algn="ctr">
              <a:lnSpc>
                <a:spcPct val="81000"/>
              </a:lnSpc>
              <a:buFontTx/>
              <a:buChar char="-"/>
              <a:defRPr sz="2200" b="1">
                <a:solidFill>
                  <a:srgbClr val="FF0000"/>
                </a:solidFill>
                <a:latin typeface="Book Antiqua"/>
                <a:ea typeface="Book Antiqua"/>
                <a:cs typeface="Book Antiqua"/>
                <a:sym typeface="Book Antiqua"/>
              </a:defRPr>
            </a:pPr>
            <a:r>
              <a:t>Imperatività</a:t>
            </a:r>
            <a:r>
              <a:rPr b="0">
                <a:solidFill>
                  <a:srgbClr val="000000"/>
                </a:solidFill>
              </a:rPr>
              <a:t> – </a:t>
            </a:r>
            <a:r>
              <a:rPr sz="1800" b="0">
                <a:solidFill>
                  <a:srgbClr val="000000"/>
                </a:solidFill>
              </a:rPr>
              <a:t>obbligatoria; tassativa</a:t>
            </a:r>
          </a:p>
        </p:txBody>
      </p:sp>
      <p:sp>
        <p:nvSpPr>
          <p:cNvPr id="261" name="Text Box 5"/>
          <p:cNvSpPr/>
          <p:nvPr/>
        </p:nvSpPr>
        <p:spPr>
          <a:xfrm>
            <a:off x="872155" y="110241"/>
            <a:ext cx="8227274" cy="584439"/>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a14="http://schemas.microsoft.com/office/mac/drawingml/2011/main"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Introduzione</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9" presetClass="entr" fill="hold" grpId="1" nodeType="clickEffect">
                                  <p:stCondLst>
                                    <p:cond delay="0"/>
                                  </p:stCondLst>
                                  <p:iterate>
                                    <p:tmAbs val="0"/>
                                  </p:iterate>
                                  <p:childTnLst>
                                    <p:set>
                                      <p:cBhvr>
                                        <p:cTn id="6" fill="hold"/>
                                        <p:tgtEl>
                                          <p:spTgt spid="260">
                                            <p:txEl>
                                              <p:pRg st="1" end="1"/>
                                            </p:txEl>
                                          </p:spTgt>
                                        </p:tgtEl>
                                        <p:attrNameLst>
                                          <p:attrName>style.visibility</p:attrName>
                                        </p:attrNameLst>
                                      </p:cBhvr>
                                      <p:to>
                                        <p:strVal val="visible"/>
                                      </p:to>
                                    </p:set>
                                    <p:animEffect transition="in" filter="dissolve">
                                      <p:cBhvr>
                                        <p:cTn id="7" dur="500"/>
                                        <p:tgtEl>
                                          <p:spTgt spid="260">
                                            <p:txEl>
                                              <p:pRg st="1" end="1"/>
                                            </p:txEl>
                                          </p:spTgt>
                                        </p:tgtEl>
                                      </p:cBhvr>
                                    </p:animEffect>
                                  </p:childTnLst>
                                </p:cTn>
                              </p:par>
                            </p:childTnLst>
                          </p:cTn>
                        </p:par>
                        <p:par>
                          <p:cTn id="8" fill="hold">
                            <p:stCondLst>
                              <p:cond delay="500"/>
                            </p:stCondLst>
                            <p:childTnLst>
                              <p:par>
                                <p:cTn id="9" presetID="9" presetClass="entr" fill="hold" grpId="1" nodeType="afterEffect">
                                  <p:stCondLst>
                                    <p:cond delay="0"/>
                                  </p:stCondLst>
                                  <p:iterate>
                                    <p:tmAbs val="0"/>
                                  </p:iterate>
                                  <p:childTnLst>
                                    <p:set>
                                      <p:cBhvr>
                                        <p:cTn id="10" fill="hold"/>
                                        <p:tgtEl>
                                          <p:spTgt spid="260">
                                            <p:txEl>
                                              <p:pRg st="2" end="2"/>
                                            </p:txEl>
                                          </p:spTgt>
                                        </p:tgtEl>
                                        <p:attrNameLst>
                                          <p:attrName>style.visibility</p:attrName>
                                        </p:attrNameLst>
                                      </p:cBhvr>
                                      <p:to>
                                        <p:strVal val="visible"/>
                                      </p:to>
                                    </p:set>
                                    <p:animEffect transition="in" filter="dissolve">
                                      <p:cBhvr>
                                        <p:cTn id="11" dur="500"/>
                                        <p:tgtEl>
                                          <p:spTgt spid="260">
                                            <p:txEl>
                                              <p:pRg st="2" end="2"/>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fill="hold" grpId="1" nodeType="clickEffect">
                                  <p:stCondLst>
                                    <p:cond delay="0"/>
                                  </p:stCondLst>
                                  <p:iterate>
                                    <p:tmAbs val="0"/>
                                  </p:iterate>
                                  <p:childTnLst>
                                    <p:set>
                                      <p:cBhvr>
                                        <p:cTn id="15" fill="hold"/>
                                        <p:tgtEl>
                                          <p:spTgt spid="260">
                                            <p:txEl>
                                              <p:pRg st="3" end="3"/>
                                            </p:txEl>
                                          </p:spTgt>
                                        </p:tgtEl>
                                        <p:attrNameLst>
                                          <p:attrName>style.visibility</p:attrName>
                                        </p:attrNameLst>
                                      </p:cBhvr>
                                      <p:to>
                                        <p:strVal val="visible"/>
                                      </p:to>
                                    </p:set>
                                    <p:animEffect transition="in" filter="dissolve">
                                      <p:cBhvr>
                                        <p:cTn id="16" dur="500"/>
                                        <p:tgtEl>
                                          <p:spTgt spid="260">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fill="hold" grpId="1" nodeType="clickEffect">
                                  <p:stCondLst>
                                    <p:cond delay="0"/>
                                  </p:stCondLst>
                                  <p:iterate>
                                    <p:tmAbs val="0"/>
                                  </p:iterate>
                                  <p:childTnLst>
                                    <p:set>
                                      <p:cBhvr>
                                        <p:cTn id="20" fill="hold"/>
                                        <p:tgtEl>
                                          <p:spTgt spid="260">
                                            <p:txEl>
                                              <p:pRg st="4" end="4"/>
                                            </p:txEl>
                                          </p:spTgt>
                                        </p:tgtEl>
                                        <p:attrNameLst>
                                          <p:attrName>style.visibility</p:attrName>
                                        </p:attrNameLst>
                                      </p:cBhvr>
                                      <p:to>
                                        <p:strVal val="visible"/>
                                      </p:to>
                                    </p:set>
                                    <p:animEffect transition="in" filter="dissolve">
                                      <p:cBhvr>
                                        <p:cTn id="21" dur="500"/>
                                        <p:tgtEl>
                                          <p:spTgt spid="260">
                                            <p:txEl>
                                              <p:pRg st="4" end="4"/>
                                            </p:txEl>
                                          </p:spTgt>
                                        </p:tgtEl>
                                      </p:cBhvr>
                                    </p:animEffect>
                                  </p:childTnLst>
                                </p:cTn>
                              </p:par>
                            </p:childTnLst>
                          </p:cTn>
                        </p:par>
                        <p:par>
                          <p:cTn id="22" fill="hold">
                            <p:stCondLst>
                              <p:cond delay="500"/>
                            </p:stCondLst>
                            <p:childTnLst>
                              <p:par>
                                <p:cTn id="23" presetID="9" presetClass="entr" fill="hold" grpId="1" nodeType="afterEffect">
                                  <p:stCondLst>
                                    <p:cond delay="0"/>
                                  </p:stCondLst>
                                  <p:iterate>
                                    <p:tmAbs val="0"/>
                                  </p:iterate>
                                  <p:childTnLst>
                                    <p:set>
                                      <p:cBhvr>
                                        <p:cTn id="24" fill="hold"/>
                                        <p:tgtEl>
                                          <p:spTgt spid="260">
                                            <p:txEl>
                                              <p:pRg st="5" end="5"/>
                                            </p:txEl>
                                          </p:spTgt>
                                        </p:tgtEl>
                                        <p:attrNameLst>
                                          <p:attrName>style.visibility</p:attrName>
                                        </p:attrNameLst>
                                      </p:cBhvr>
                                      <p:to>
                                        <p:strVal val="visible"/>
                                      </p:to>
                                    </p:set>
                                    <p:animEffect transition="in" filter="dissolve">
                                      <p:cBhvr>
                                        <p:cTn id="25" dur="500"/>
                                        <p:tgtEl>
                                          <p:spTgt spid="260">
                                            <p:txEl>
                                              <p:pRg st="5" end="5"/>
                                            </p:txEl>
                                          </p:spTgt>
                                        </p:tgtEl>
                                      </p:cBhvr>
                                    </p:animEffect>
                                  </p:childTnLst>
                                </p:cTn>
                              </p:par>
                            </p:childTnLst>
                          </p:cTn>
                        </p:par>
                        <p:par>
                          <p:cTn id="26" fill="hold">
                            <p:stCondLst>
                              <p:cond delay="1000"/>
                            </p:stCondLst>
                            <p:childTnLst>
                              <p:par>
                                <p:cTn id="27" presetID="9" presetClass="entr" fill="hold" grpId="1" nodeType="afterEffect">
                                  <p:stCondLst>
                                    <p:cond delay="0"/>
                                  </p:stCondLst>
                                  <p:iterate>
                                    <p:tmAbs val="0"/>
                                  </p:iterate>
                                  <p:childTnLst>
                                    <p:set>
                                      <p:cBhvr>
                                        <p:cTn id="28" fill="hold"/>
                                        <p:tgtEl>
                                          <p:spTgt spid="260">
                                            <p:txEl>
                                              <p:pRg st="6" end="6"/>
                                            </p:txEl>
                                          </p:spTgt>
                                        </p:tgtEl>
                                        <p:attrNameLst>
                                          <p:attrName>style.visibility</p:attrName>
                                        </p:attrNameLst>
                                      </p:cBhvr>
                                      <p:to>
                                        <p:strVal val="visible"/>
                                      </p:to>
                                    </p:set>
                                    <p:animEffect transition="in" filter="dissolve">
                                      <p:cBhvr>
                                        <p:cTn id="29" dur="500"/>
                                        <p:tgtEl>
                                          <p:spTgt spid="260">
                                            <p:txEl>
                                              <p:pRg st="6" end="6"/>
                                            </p:txEl>
                                          </p:spTgt>
                                        </p:tgtEl>
                                      </p:cBhvr>
                                    </p:animEffect>
                                  </p:childTnLst>
                                </p:cTn>
                              </p:par>
                            </p:childTnLst>
                          </p:cTn>
                        </p:par>
                        <p:par>
                          <p:cTn id="30" fill="hold">
                            <p:stCondLst>
                              <p:cond delay="1500"/>
                            </p:stCondLst>
                            <p:childTnLst>
                              <p:par>
                                <p:cTn id="31" presetID="9" presetClass="entr" fill="hold" grpId="1" nodeType="afterEffect">
                                  <p:stCondLst>
                                    <p:cond delay="0"/>
                                  </p:stCondLst>
                                  <p:iterate>
                                    <p:tmAbs val="0"/>
                                  </p:iterate>
                                  <p:childTnLst>
                                    <p:set>
                                      <p:cBhvr>
                                        <p:cTn id="32" fill="hold"/>
                                        <p:tgtEl>
                                          <p:spTgt spid="260">
                                            <p:txEl>
                                              <p:pRg st="7" end="7"/>
                                            </p:txEl>
                                          </p:spTgt>
                                        </p:tgtEl>
                                        <p:attrNameLst>
                                          <p:attrName>style.visibility</p:attrName>
                                        </p:attrNameLst>
                                      </p:cBhvr>
                                      <p:to>
                                        <p:strVal val="visible"/>
                                      </p:to>
                                    </p:set>
                                    <p:animEffect transition="in" filter="dissolve">
                                      <p:cBhvr>
                                        <p:cTn id="33" dur="500"/>
                                        <p:tgtEl>
                                          <p:spTgt spid="260">
                                            <p:txEl>
                                              <p:pRg st="7" end="7"/>
                                            </p:txEl>
                                          </p:spTgt>
                                        </p:tgtEl>
                                      </p:cBhvr>
                                    </p:animEffect>
                                  </p:childTnLst>
                                </p:cTn>
                              </p:par>
                            </p:childTnLst>
                          </p:cTn>
                        </p:par>
                        <p:par>
                          <p:cTn id="34" fill="hold">
                            <p:stCondLst>
                              <p:cond delay="2000"/>
                            </p:stCondLst>
                            <p:childTnLst>
                              <p:par>
                                <p:cTn id="35" presetID="9" presetClass="entr" fill="hold" grpId="1" nodeType="afterEffect">
                                  <p:stCondLst>
                                    <p:cond delay="0"/>
                                  </p:stCondLst>
                                  <p:iterate>
                                    <p:tmAbs val="0"/>
                                  </p:iterate>
                                  <p:childTnLst>
                                    <p:set>
                                      <p:cBhvr>
                                        <p:cTn id="36" fill="hold"/>
                                        <p:tgtEl>
                                          <p:spTgt spid="260">
                                            <p:txEl>
                                              <p:pRg st="8" end="8"/>
                                            </p:txEl>
                                          </p:spTgt>
                                        </p:tgtEl>
                                        <p:attrNameLst>
                                          <p:attrName>style.visibility</p:attrName>
                                        </p:attrNameLst>
                                      </p:cBhvr>
                                      <p:to>
                                        <p:strVal val="visible"/>
                                      </p:to>
                                    </p:set>
                                    <p:animEffect transition="in" filter="dissolve">
                                      <p:cBhvr>
                                        <p:cTn id="37" dur="500"/>
                                        <p:tgtEl>
                                          <p:spTgt spid="260">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0" grpId="1" build="p" bldLvl="5" animBg="1" advAuto="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 name="Segnaposto contenuto 2"/>
          <p:cNvSpPr>
            <a:spLocks noGrp="1"/>
          </p:cNvSpPr>
          <p:nvPr>
            <p:ph type="body" idx="1"/>
          </p:nvPr>
        </p:nvSpPr>
        <p:spPr>
          <a:xfrm>
            <a:off x="457200" y="919261"/>
            <a:ext cx="8229600" cy="4525965"/>
          </a:xfrm>
          <a:prstGeom prst="rect">
            <a:avLst/>
          </a:prstGeom>
        </p:spPr>
        <p:txBody>
          <a:bodyPr/>
          <a:lstStyle>
            <a:lvl1pPr marL="0" indent="0" algn="ctr">
              <a:lnSpc>
                <a:spcPct val="150000"/>
              </a:lnSpc>
              <a:buSzTx/>
              <a:buNone/>
              <a:defRPr sz="3600" b="1">
                <a:solidFill>
                  <a:srgbClr val="C00000"/>
                </a:solidFill>
                <a:latin typeface="Book Antiqua"/>
                <a:ea typeface="Book Antiqua"/>
                <a:cs typeface="Book Antiqua"/>
                <a:sym typeface="Book Antiqua"/>
              </a:defRPr>
            </a:lvl1pPr>
          </a:lstStyle>
          <a:p>
            <a:r>
              <a:t>DIRITTO</a:t>
            </a:r>
          </a:p>
        </p:txBody>
      </p:sp>
      <p:grpSp>
        <p:nvGrpSpPr>
          <p:cNvPr id="266" name="Rettangolo 1"/>
          <p:cNvGrpSpPr/>
          <p:nvPr/>
        </p:nvGrpSpPr>
        <p:grpSpPr>
          <a:xfrm>
            <a:off x="827580" y="1988840"/>
            <a:ext cx="2952336" cy="792092"/>
            <a:chOff x="-1" y="0"/>
            <a:chExt cx="2952334" cy="792090"/>
          </a:xfrm>
        </p:grpSpPr>
        <p:sp>
          <p:nvSpPr>
            <p:cNvPr id="264" name="Rettangolo"/>
            <p:cNvSpPr/>
            <p:nvPr/>
          </p:nvSpPr>
          <p:spPr>
            <a:xfrm>
              <a:off x="-2" y="0"/>
              <a:ext cx="2952336" cy="792092"/>
            </a:xfrm>
            <a:prstGeom prst="rect">
              <a:avLst/>
            </a:prstGeom>
            <a:solidFill>
              <a:srgbClr val="FFFFFF"/>
            </a:solidFill>
            <a:ln w="12700" cap="flat">
              <a:solidFill>
                <a:srgbClr val="70AD47"/>
              </a:solidFill>
              <a:prstDash val="solid"/>
              <a:miter lim="800000"/>
            </a:ln>
            <a:effectLst/>
          </p:spPr>
          <p:txBody>
            <a:bodyPr wrap="square" lIns="45718" tIns="45718" rIns="45718" bIns="45718" numCol="1" anchor="ctr">
              <a:noAutofit/>
            </a:bodyPr>
            <a:lstStyle/>
            <a:p>
              <a:pPr algn="ctr">
                <a:defRPr>
                  <a:latin typeface="Calibri"/>
                  <a:ea typeface="Calibri"/>
                  <a:cs typeface="Calibri"/>
                  <a:sym typeface="Calibri"/>
                </a:defRPr>
              </a:pPr>
              <a:endParaRPr/>
            </a:p>
          </p:txBody>
        </p:sp>
        <p:sp>
          <p:nvSpPr>
            <p:cNvPr id="265" name="DIRITTO PUBBLICO"/>
            <p:cNvSpPr/>
            <p:nvPr/>
          </p:nvSpPr>
          <p:spPr>
            <a:xfrm>
              <a:off x="52069" y="209669"/>
              <a:ext cx="2848193" cy="372747"/>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45718" tIns="45718" rIns="45718" bIns="45718" numCol="1" anchor="ctr">
              <a:spAutoFit/>
            </a:bodyPr>
            <a:lstStyle>
              <a:lvl1pPr algn="ctr">
                <a:defRPr sz="2000">
                  <a:latin typeface="Times New Roman"/>
                  <a:ea typeface="Times New Roman"/>
                  <a:cs typeface="Times New Roman"/>
                  <a:sym typeface="Times New Roman"/>
                </a:defRPr>
              </a:lvl1pPr>
            </a:lstStyle>
            <a:p>
              <a:r>
                <a:t>DIRITTO PUBBLICO</a:t>
              </a:r>
            </a:p>
          </p:txBody>
        </p:sp>
      </p:grpSp>
      <p:grpSp>
        <p:nvGrpSpPr>
          <p:cNvPr id="269" name="Rettangolo 5"/>
          <p:cNvGrpSpPr/>
          <p:nvPr/>
        </p:nvGrpSpPr>
        <p:grpSpPr>
          <a:xfrm>
            <a:off x="5580109" y="1988840"/>
            <a:ext cx="2952334" cy="792092"/>
            <a:chOff x="-1" y="0"/>
            <a:chExt cx="2952332" cy="792090"/>
          </a:xfrm>
        </p:grpSpPr>
        <p:sp>
          <p:nvSpPr>
            <p:cNvPr id="267" name="Rettangolo"/>
            <p:cNvSpPr/>
            <p:nvPr/>
          </p:nvSpPr>
          <p:spPr>
            <a:xfrm>
              <a:off x="-2" y="0"/>
              <a:ext cx="2952334" cy="792092"/>
            </a:xfrm>
            <a:prstGeom prst="rect">
              <a:avLst/>
            </a:prstGeom>
            <a:solidFill>
              <a:srgbClr val="FFFFFF"/>
            </a:solidFill>
            <a:ln w="12700" cap="flat">
              <a:solidFill>
                <a:srgbClr val="FFC000"/>
              </a:solidFill>
              <a:prstDash val="solid"/>
              <a:miter lim="800000"/>
            </a:ln>
            <a:effectLst/>
          </p:spPr>
          <p:txBody>
            <a:bodyPr wrap="square" lIns="45718" tIns="45718" rIns="45718" bIns="45718" numCol="1" anchor="ctr">
              <a:noAutofit/>
            </a:bodyPr>
            <a:lstStyle/>
            <a:p>
              <a:pPr algn="ctr">
                <a:defRPr>
                  <a:latin typeface="Calibri"/>
                  <a:ea typeface="Calibri"/>
                  <a:cs typeface="Calibri"/>
                  <a:sym typeface="Calibri"/>
                </a:defRPr>
              </a:pPr>
              <a:endParaRPr/>
            </a:p>
          </p:txBody>
        </p:sp>
        <p:sp>
          <p:nvSpPr>
            <p:cNvPr id="268" name="DIRITTO PRIVATO"/>
            <p:cNvSpPr/>
            <p:nvPr/>
          </p:nvSpPr>
          <p:spPr>
            <a:xfrm>
              <a:off x="52068" y="209669"/>
              <a:ext cx="2848195" cy="372747"/>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45718" tIns="45718" rIns="45718" bIns="45718" numCol="1" anchor="ctr">
              <a:spAutoFit/>
            </a:bodyPr>
            <a:lstStyle>
              <a:lvl1pPr algn="ctr">
                <a:defRPr sz="2000">
                  <a:latin typeface="Times New Roman"/>
                  <a:ea typeface="Times New Roman"/>
                  <a:cs typeface="Times New Roman"/>
                  <a:sym typeface="Times New Roman"/>
                </a:defRPr>
              </a:lvl1pPr>
            </a:lstStyle>
            <a:p>
              <a:r>
                <a:t>DIRITTO PRIVATO</a:t>
              </a:r>
            </a:p>
          </p:txBody>
        </p:sp>
      </p:grpSp>
      <p:grpSp>
        <p:nvGrpSpPr>
          <p:cNvPr id="272" name="Rettangolo 6"/>
          <p:cNvGrpSpPr/>
          <p:nvPr/>
        </p:nvGrpSpPr>
        <p:grpSpPr>
          <a:xfrm>
            <a:off x="87760" y="4032320"/>
            <a:ext cx="2048931" cy="792092"/>
            <a:chOff x="0" y="0"/>
            <a:chExt cx="2048930" cy="792090"/>
          </a:xfrm>
        </p:grpSpPr>
        <p:sp>
          <p:nvSpPr>
            <p:cNvPr id="270" name="Rettangolo"/>
            <p:cNvSpPr/>
            <p:nvPr/>
          </p:nvSpPr>
          <p:spPr>
            <a:xfrm>
              <a:off x="0" y="0"/>
              <a:ext cx="2048931" cy="792092"/>
            </a:xfrm>
            <a:prstGeom prst="rect">
              <a:avLst/>
            </a:prstGeom>
            <a:solidFill>
              <a:srgbClr val="FFFFFF"/>
            </a:solidFill>
            <a:ln w="12700" cap="flat">
              <a:solidFill>
                <a:srgbClr val="70AD47"/>
              </a:solidFill>
              <a:prstDash val="solid"/>
              <a:miter lim="800000"/>
            </a:ln>
            <a:effectLst/>
          </p:spPr>
          <p:txBody>
            <a:bodyPr wrap="square" lIns="45718" tIns="45718" rIns="45718" bIns="45718" numCol="1" anchor="ctr">
              <a:noAutofit/>
            </a:bodyPr>
            <a:lstStyle/>
            <a:p>
              <a:pPr algn="ctr">
                <a:defRPr>
                  <a:latin typeface="Calibri"/>
                  <a:ea typeface="Calibri"/>
                  <a:cs typeface="Calibri"/>
                  <a:sym typeface="Calibri"/>
                </a:defRPr>
              </a:pPr>
              <a:endParaRPr/>
            </a:p>
          </p:txBody>
        </p:sp>
        <p:sp>
          <p:nvSpPr>
            <p:cNvPr id="271" name="DIRITTO AMMINISTRATIVO"/>
            <p:cNvSpPr/>
            <p:nvPr/>
          </p:nvSpPr>
          <p:spPr>
            <a:xfrm>
              <a:off x="52070" y="150900"/>
              <a:ext cx="1944792" cy="490284"/>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45718" tIns="45718" rIns="45718" bIns="45718" numCol="1" anchor="ctr">
              <a:spAutoFit/>
            </a:bodyPr>
            <a:lstStyle>
              <a:lvl1pPr algn="ctr">
                <a:defRPr sz="1400">
                  <a:latin typeface="Times New Roman"/>
                  <a:ea typeface="Times New Roman"/>
                  <a:cs typeface="Times New Roman"/>
                  <a:sym typeface="Times New Roman"/>
                </a:defRPr>
              </a:lvl1pPr>
            </a:lstStyle>
            <a:p>
              <a:r>
                <a:t>DIRITTO AMMINISTRATIVO</a:t>
              </a:r>
            </a:p>
          </p:txBody>
        </p:sp>
      </p:grpSp>
      <p:grpSp>
        <p:nvGrpSpPr>
          <p:cNvPr id="275" name="Rettangolo 7"/>
          <p:cNvGrpSpPr/>
          <p:nvPr/>
        </p:nvGrpSpPr>
        <p:grpSpPr>
          <a:xfrm>
            <a:off x="87760" y="3016979"/>
            <a:ext cx="2048931" cy="792094"/>
            <a:chOff x="0" y="0"/>
            <a:chExt cx="2048930" cy="792093"/>
          </a:xfrm>
        </p:grpSpPr>
        <p:sp>
          <p:nvSpPr>
            <p:cNvPr id="273" name="Rettangolo"/>
            <p:cNvSpPr/>
            <p:nvPr/>
          </p:nvSpPr>
          <p:spPr>
            <a:xfrm>
              <a:off x="0" y="0"/>
              <a:ext cx="2048931" cy="792094"/>
            </a:xfrm>
            <a:prstGeom prst="rect">
              <a:avLst/>
            </a:prstGeom>
            <a:solidFill>
              <a:srgbClr val="FFFFFF"/>
            </a:solidFill>
            <a:ln w="12700" cap="flat">
              <a:solidFill>
                <a:srgbClr val="70AD47"/>
              </a:solidFill>
              <a:prstDash val="solid"/>
              <a:miter lim="800000"/>
            </a:ln>
            <a:effectLst/>
          </p:spPr>
          <p:txBody>
            <a:bodyPr wrap="square" lIns="45718" tIns="45718" rIns="45718" bIns="45718" numCol="1" anchor="ctr">
              <a:noAutofit/>
            </a:bodyPr>
            <a:lstStyle/>
            <a:p>
              <a:pPr algn="ctr">
                <a:defRPr>
                  <a:latin typeface="Calibri"/>
                  <a:ea typeface="Calibri"/>
                  <a:cs typeface="Calibri"/>
                  <a:sym typeface="Calibri"/>
                </a:defRPr>
              </a:pPr>
              <a:endParaRPr/>
            </a:p>
          </p:txBody>
        </p:sp>
        <p:sp>
          <p:nvSpPr>
            <p:cNvPr id="274" name="DIRITTO COSTITUZIONALE"/>
            <p:cNvSpPr/>
            <p:nvPr/>
          </p:nvSpPr>
          <p:spPr>
            <a:xfrm>
              <a:off x="52070" y="150900"/>
              <a:ext cx="1944792" cy="490284"/>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45718" tIns="45718" rIns="45718" bIns="45718" numCol="1" anchor="ctr">
              <a:spAutoFit/>
            </a:bodyPr>
            <a:lstStyle>
              <a:lvl1pPr algn="ctr">
                <a:defRPr sz="1400">
                  <a:latin typeface="Times New Roman"/>
                  <a:ea typeface="Times New Roman"/>
                  <a:cs typeface="Times New Roman"/>
                  <a:sym typeface="Times New Roman"/>
                </a:defRPr>
              </a:lvl1pPr>
            </a:lstStyle>
            <a:p>
              <a:r>
                <a:t>DIRITTO COSTITUZIONALE</a:t>
              </a:r>
            </a:p>
          </p:txBody>
        </p:sp>
      </p:grpSp>
      <p:grpSp>
        <p:nvGrpSpPr>
          <p:cNvPr id="278" name="Rettangolo 8"/>
          <p:cNvGrpSpPr/>
          <p:nvPr/>
        </p:nvGrpSpPr>
        <p:grpSpPr>
          <a:xfrm>
            <a:off x="2235198" y="3027683"/>
            <a:ext cx="2048934" cy="792094"/>
            <a:chOff x="0" y="0"/>
            <a:chExt cx="2048932" cy="792093"/>
          </a:xfrm>
        </p:grpSpPr>
        <p:sp>
          <p:nvSpPr>
            <p:cNvPr id="276" name="Rettangolo"/>
            <p:cNvSpPr/>
            <p:nvPr/>
          </p:nvSpPr>
          <p:spPr>
            <a:xfrm>
              <a:off x="-1" y="0"/>
              <a:ext cx="2048934" cy="792094"/>
            </a:xfrm>
            <a:prstGeom prst="rect">
              <a:avLst/>
            </a:prstGeom>
            <a:solidFill>
              <a:srgbClr val="FFFFFF"/>
            </a:solidFill>
            <a:ln w="12700" cap="flat">
              <a:solidFill>
                <a:srgbClr val="70AD47"/>
              </a:solidFill>
              <a:prstDash val="solid"/>
              <a:miter lim="800000"/>
            </a:ln>
            <a:effectLst/>
          </p:spPr>
          <p:txBody>
            <a:bodyPr wrap="square" lIns="45718" tIns="45718" rIns="45718" bIns="45718" numCol="1" anchor="ctr">
              <a:noAutofit/>
            </a:bodyPr>
            <a:lstStyle/>
            <a:p>
              <a:pPr algn="ctr">
                <a:defRPr>
                  <a:latin typeface="Calibri"/>
                  <a:ea typeface="Calibri"/>
                  <a:cs typeface="Calibri"/>
                  <a:sym typeface="Calibri"/>
                </a:defRPr>
              </a:pPr>
              <a:endParaRPr/>
            </a:p>
          </p:txBody>
        </p:sp>
        <p:sp>
          <p:nvSpPr>
            <p:cNvPr id="277" name="DIRITTO PENALE"/>
            <p:cNvSpPr/>
            <p:nvPr/>
          </p:nvSpPr>
          <p:spPr>
            <a:xfrm>
              <a:off x="52069" y="252500"/>
              <a:ext cx="1944795" cy="287084"/>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45718" tIns="45718" rIns="45718" bIns="45718" numCol="1" anchor="ctr">
              <a:spAutoFit/>
            </a:bodyPr>
            <a:lstStyle>
              <a:lvl1pPr algn="ctr">
                <a:defRPr sz="1400">
                  <a:latin typeface="Times New Roman"/>
                  <a:ea typeface="Times New Roman"/>
                  <a:cs typeface="Times New Roman"/>
                  <a:sym typeface="Times New Roman"/>
                </a:defRPr>
              </a:lvl1pPr>
            </a:lstStyle>
            <a:p>
              <a:r>
                <a:t>DIRITTO PENALE</a:t>
              </a:r>
            </a:p>
          </p:txBody>
        </p:sp>
      </p:grpSp>
      <p:grpSp>
        <p:nvGrpSpPr>
          <p:cNvPr id="281" name="Rettangolo 9"/>
          <p:cNvGrpSpPr/>
          <p:nvPr/>
        </p:nvGrpSpPr>
        <p:grpSpPr>
          <a:xfrm>
            <a:off x="2237483" y="4032320"/>
            <a:ext cx="2048931" cy="792092"/>
            <a:chOff x="0" y="0"/>
            <a:chExt cx="2048930" cy="792090"/>
          </a:xfrm>
        </p:grpSpPr>
        <p:sp>
          <p:nvSpPr>
            <p:cNvPr id="279" name="Rettangolo"/>
            <p:cNvSpPr/>
            <p:nvPr/>
          </p:nvSpPr>
          <p:spPr>
            <a:xfrm>
              <a:off x="0" y="0"/>
              <a:ext cx="2048931" cy="792092"/>
            </a:xfrm>
            <a:prstGeom prst="rect">
              <a:avLst/>
            </a:prstGeom>
            <a:solidFill>
              <a:srgbClr val="FFFFFF"/>
            </a:solidFill>
            <a:ln w="12700" cap="flat">
              <a:solidFill>
                <a:srgbClr val="70AD47"/>
              </a:solidFill>
              <a:prstDash val="solid"/>
              <a:miter lim="800000"/>
            </a:ln>
            <a:effectLst/>
          </p:spPr>
          <p:txBody>
            <a:bodyPr wrap="square" lIns="45718" tIns="45718" rIns="45718" bIns="45718" numCol="1" anchor="ctr">
              <a:noAutofit/>
            </a:bodyPr>
            <a:lstStyle/>
            <a:p>
              <a:pPr algn="ctr">
                <a:defRPr>
                  <a:latin typeface="Calibri"/>
                  <a:ea typeface="Calibri"/>
                  <a:cs typeface="Calibri"/>
                  <a:sym typeface="Calibri"/>
                </a:defRPr>
              </a:pPr>
              <a:endParaRPr/>
            </a:p>
          </p:txBody>
        </p:sp>
        <p:sp>
          <p:nvSpPr>
            <p:cNvPr id="280" name="DIRITTO PROCESSUALE"/>
            <p:cNvSpPr/>
            <p:nvPr/>
          </p:nvSpPr>
          <p:spPr>
            <a:xfrm>
              <a:off x="52070" y="150900"/>
              <a:ext cx="1944792" cy="490284"/>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45718" tIns="45718" rIns="45718" bIns="45718" numCol="1" anchor="ctr">
              <a:spAutoFit/>
            </a:bodyPr>
            <a:lstStyle>
              <a:lvl1pPr algn="ctr">
                <a:defRPr sz="1400">
                  <a:latin typeface="Times New Roman"/>
                  <a:ea typeface="Times New Roman"/>
                  <a:cs typeface="Times New Roman"/>
                  <a:sym typeface="Times New Roman"/>
                </a:defRPr>
              </a:lvl1pPr>
            </a:lstStyle>
            <a:p>
              <a:r>
                <a:t>DIRITTO PROCESSUALE</a:t>
              </a:r>
            </a:p>
          </p:txBody>
        </p:sp>
      </p:grpSp>
      <p:grpSp>
        <p:nvGrpSpPr>
          <p:cNvPr id="284" name="Rettangolo 10"/>
          <p:cNvGrpSpPr/>
          <p:nvPr/>
        </p:nvGrpSpPr>
        <p:grpSpPr>
          <a:xfrm>
            <a:off x="4926565" y="3054306"/>
            <a:ext cx="2048933" cy="792092"/>
            <a:chOff x="0" y="0"/>
            <a:chExt cx="2048932" cy="792090"/>
          </a:xfrm>
        </p:grpSpPr>
        <p:sp>
          <p:nvSpPr>
            <p:cNvPr id="282" name="Rettangolo"/>
            <p:cNvSpPr/>
            <p:nvPr/>
          </p:nvSpPr>
          <p:spPr>
            <a:xfrm>
              <a:off x="-1" y="0"/>
              <a:ext cx="2048934" cy="792092"/>
            </a:xfrm>
            <a:prstGeom prst="rect">
              <a:avLst/>
            </a:prstGeom>
            <a:solidFill>
              <a:srgbClr val="FFFFFF"/>
            </a:solidFill>
            <a:ln w="12700" cap="flat">
              <a:solidFill>
                <a:srgbClr val="FFC000"/>
              </a:solidFill>
              <a:prstDash val="solid"/>
              <a:miter lim="800000"/>
            </a:ln>
            <a:effectLst/>
          </p:spPr>
          <p:txBody>
            <a:bodyPr wrap="square" lIns="45718" tIns="45718" rIns="45718" bIns="45718" numCol="1" anchor="ctr">
              <a:noAutofit/>
            </a:bodyPr>
            <a:lstStyle/>
            <a:p>
              <a:pPr algn="ctr">
                <a:defRPr>
                  <a:latin typeface="Calibri"/>
                  <a:ea typeface="Calibri"/>
                  <a:cs typeface="Calibri"/>
                  <a:sym typeface="Calibri"/>
                </a:defRPr>
              </a:pPr>
              <a:endParaRPr/>
            </a:p>
          </p:txBody>
        </p:sp>
        <p:sp>
          <p:nvSpPr>
            <p:cNvPr id="283" name="DIRITTO CIVILE"/>
            <p:cNvSpPr/>
            <p:nvPr/>
          </p:nvSpPr>
          <p:spPr>
            <a:xfrm>
              <a:off x="52069" y="252500"/>
              <a:ext cx="1944795" cy="287084"/>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45718" tIns="45718" rIns="45718" bIns="45718" numCol="1" anchor="ctr">
              <a:spAutoFit/>
            </a:bodyPr>
            <a:lstStyle>
              <a:lvl1pPr algn="ctr">
                <a:defRPr sz="1400">
                  <a:latin typeface="Times New Roman"/>
                  <a:ea typeface="Times New Roman"/>
                  <a:cs typeface="Times New Roman"/>
                  <a:sym typeface="Times New Roman"/>
                </a:defRPr>
              </a:lvl1pPr>
            </a:lstStyle>
            <a:p>
              <a:r>
                <a:t>DIRITTO CIVILE</a:t>
              </a:r>
            </a:p>
          </p:txBody>
        </p:sp>
      </p:grpSp>
      <p:grpSp>
        <p:nvGrpSpPr>
          <p:cNvPr id="287" name="Rettangolo 12"/>
          <p:cNvGrpSpPr/>
          <p:nvPr/>
        </p:nvGrpSpPr>
        <p:grpSpPr>
          <a:xfrm>
            <a:off x="4932040" y="4119774"/>
            <a:ext cx="2048933" cy="792092"/>
            <a:chOff x="0" y="0"/>
            <a:chExt cx="2048932" cy="792090"/>
          </a:xfrm>
        </p:grpSpPr>
        <p:sp>
          <p:nvSpPr>
            <p:cNvPr id="285" name="Rettangolo"/>
            <p:cNvSpPr/>
            <p:nvPr/>
          </p:nvSpPr>
          <p:spPr>
            <a:xfrm>
              <a:off x="-1" y="0"/>
              <a:ext cx="2048934" cy="792092"/>
            </a:xfrm>
            <a:prstGeom prst="rect">
              <a:avLst/>
            </a:prstGeom>
            <a:solidFill>
              <a:srgbClr val="FFFFFF"/>
            </a:solidFill>
            <a:ln w="12700" cap="flat">
              <a:solidFill>
                <a:srgbClr val="FFC000"/>
              </a:solidFill>
              <a:prstDash val="solid"/>
              <a:miter lim="800000"/>
            </a:ln>
            <a:effectLst/>
          </p:spPr>
          <p:txBody>
            <a:bodyPr wrap="square" lIns="45718" tIns="45718" rIns="45718" bIns="45718" numCol="1" anchor="ctr">
              <a:noAutofit/>
            </a:bodyPr>
            <a:lstStyle/>
            <a:p>
              <a:pPr algn="ctr">
                <a:defRPr>
                  <a:latin typeface="Calibri"/>
                  <a:ea typeface="Calibri"/>
                  <a:cs typeface="Calibri"/>
                  <a:sym typeface="Calibri"/>
                </a:defRPr>
              </a:pPr>
              <a:endParaRPr/>
            </a:p>
          </p:txBody>
        </p:sp>
        <p:sp>
          <p:nvSpPr>
            <p:cNvPr id="286" name="DIRITTO COMMERCIALE"/>
            <p:cNvSpPr/>
            <p:nvPr/>
          </p:nvSpPr>
          <p:spPr>
            <a:xfrm>
              <a:off x="52069" y="150900"/>
              <a:ext cx="1944795" cy="490284"/>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45718" tIns="45718" rIns="45718" bIns="45718" numCol="1" anchor="ctr">
              <a:spAutoFit/>
            </a:bodyPr>
            <a:lstStyle>
              <a:lvl1pPr algn="ctr">
                <a:defRPr sz="1400">
                  <a:latin typeface="Times New Roman"/>
                  <a:ea typeface="Times New Roman"/>
                  <a:cs typeface="Times New Roman"/>
                  <a:sym typeface="Times New Roman"/>
                </a:defRPr>
              </a:lvl1pPr>
            </a:lstStyle>
            <a:p>
              <a:r>
                <a:t>DIRITTO COMMERCIALE</a:t>
              </a:r>
            </a:p>
          </p:txBody>
        </p:sp>
      </p:grpSp>
      <p:grpSp>
        <p:nvGrpSpPr>
          <p:cNvPr id="290" name="Rettangolo 13"/>
          <p:cNvGrpSpPr/>
          <p:nvPr/>
        </p:nvGrpSpPr>
        <p:grpSpPr>
          <a:xfrm>
            <a:off x="7059573" y="3041557"/>
            <a:ext cx="2048931" cy="792091"/>
            <a:chOff x="0" y="0"/>
            <a:chExt cx="2048930" cy="792090"/>
          </a:xfrm>
        </p:grpSpPr>
        <p:sp>
          <p:nvSpPr>
            <p:cNvPr id="288" name="Rettangolo"/>
            <p:cNvSpPr/>
            <p:nvPr/>
          </p:nvSpPr>
          <p:spPr>
            <a:xfrm>
              <a:off x="0" y="0"/>
              <a:ext cx="2048931" cy="792092"/>
            </a:xfrm>
            <a:prstGeom prst="rect">
              <a:avLst/>
            </a:prstGeom>
            <a:solidFill>
              <a:srgbClr val="FFFFFF"/>
            </a:solidFill>
            <a:ln w="12700" cap="flat">
              <a:solidFill>
                <a:srgbClr val="FFC000"/>
              </a:solidFill>
              <a:prstDash val="solid"/>
              <a:miter lim="800000"/>
            </a:ln>
            <a:effectLst/>
          </p:spPr>
          <p:txBody>
            <a:bodyPr wrap="square" lIns="45718" tIns="45718" rIns="45718" bIns="45718" numCol="1" anchor="ctr">
              <a:noAutofit/>
            </a:bodyPr>
            <a:lstStyle/>
            <a:p>
              <a:pPr algn="ctr">
                <a:defRPr>
                  <a:latin typeface="Calibri"/>
                  <a:ea typeface="Calibri"/>
                  <a:cs typeface="Calibri"/>
                  <a:sym typeface="Calibri"/>
                </a:defRPr>
              </a:pPr>
              <a:endParaRPr/>
            </a:p>
          </p:txBody>
        </p:sp>
        <p:sp>
          <p:nvSpPr>
            <p:cNvPr id="289" name="DIRITTO DEL LAVORO"/>
            <p:cNvSpPr/>
            <p:nvPr/>
          </p:nvSpPr>
          <p:spPr>
            <a:xfrm>
              <a:off x="52070" y="150900"/>
              <a:ext cx="1944792" cy="490284"/>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45718" tIns="45718" rIns="45718" bIns="45718" numCol="1" anchor="ctr">
              <a:spAutoFit/>
            </a:bodyPr>
            <a:lstStyle>
              <a:lvl1pPr algn="ctr">
                <a:defRPr sz="1400">
                  <a:latin typeface="Times New Roman"/>
                  <a:ea typeface="Times New Roman"/>
                  <a:cs typeface="Times New Roman"/>
                  <a:sym typeface="Times New Roman"/>
                </a:defRPr>
              </a:lvl1pPr>
            </a:lstStyle>
            <a:p>
              <a:r>
                <a:t>DIRITTO DEL LAVORO</a:t>
              </a:r>
            </a:p>
          </p:txBody>
        </p:sp>
      </p:grpSp>
      <p:grpSp>
        <p:nvGrpSpPr>
          <p:cNvPr id="293" name="Rettangolo 14"/>
          <p:cNvGrpSpPr/>
          <p:nvPr/>
        </p:nvGrpSpPr>
        <p:grpSpPr>
          <a:xfrm>
            <a:off x="7051392" y="4149080"/>
            <a:ext cx="2048933" cy="792092"/>
            <a:chOff x="0" y="0"/>
            <a:chExt cx="2048932" cy="792090"/>
          </a:xfrm>
        </p:grpSpPr>
        <p:sp>
          <p:nvSpPr>
            <p:cNvPr id="291" name="Rettangolo"/>
            <p:cNvSpPr/>
            <p:nvPr/>
          </p:nvSpPr>
          <p:spPr>
            <a:xfrm>
              <a:off x="-1" y="0"/>
              <a:ext cx="2048934" cy="792092"/>
            </a:xfrm>
            <a:prstGeom prst="rect">
              <a:avLst/>
            </a:prstGeom>
            <a:solidFill>
              <a:srgbClr val="FFFFFF"/>
            </a:solidFill>
            <a:ln w="12700" cap="flat">
              <a:solidFill>
                <a:srgbClr val="FFC000"/>
              </a:solidFill>
              <a:prstDash val="solid"/>
              <a:miter lim="800000"/>
            </a:ln>
            <a:effectLst/>
          </p:spPr>
          <p:txBody>
            <a:bodyPr wrap="square" lIns="45718" tIns="45718" rIns="45718" bIns="45718" numCol="1" anchor="ctr">
              <a:noAutofit/>
            </a:bodyPr>
            <a:lstStyle/>
            <a:p>
              <a:pPr algn="ctr">
                <a:defRPr>
                  <a:latin typeface="Calibri"/>
                  <a:ea typeface="Calibri"/>
                  <a:cs typeface="Calibri"/>
                  <a:sym typeface="Calibri"/>
                </a:defRPr>
              </a:pPr>
              <a:endParaRPr/>
            </a:p>
          </p:txBody>
        </p:sp>
        <p:sp>
          <p:nvSpPr>
            <p:cNvPr id="292" name="DIRITTO PRIVATO DELLA NAVIGAZIONE"/>
            <p:cNvSpPr/>
            <p:nvPr/>
          </p:nvSpPr>
          <p:spPr>
            <a:xfrm>
              <a:off x="52069" y="49300"/>
              <a:ext cx="1944795" cy="693484"/>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45718" tIns="45718" rIns="45718" bIns="45718" numCol="1" anchor="ctr">
              <a:spAutoFit/>
            </a:bodyPr>
            <a:lstStyle>
              <a:lvl1pPr algn="ctr">
                <a:defRPr sz="1400">
                  <a:latin typeface="Times New Roman"/>
                  <a:ea typeface="Times New Roman"/>
                  <a:cs typeface="Times New Roman"/>
                  <a:sym typeface="Times New Roman"/>
                </a:defRPr>
              </a:lvl1pPr>
            </a:lstStyle>
            <a:p>
              <a:r>
                <a:t>DIRITTO PRIVATO DELLA NAVIGAZIONE</a:t>
              </a:r>
            </a:p>
          </p:txBody>
        </p:sp>
      </p:grpSp>
      <p:sp>
        <p:nvSpPr>
          <p:cNvPr id="294" name="Rettangolo 3"/>
          <p:cNvSpPr/>
          <p:nvPr/>
        </p:nvSpPr>
        <p:spPr>
          <a:xfrm>
            <a:off x="-5083" y="4970984"/>
            <a:ext cx="4480563" cy="1541147"/>
          </a:xfrm>
          <a:prstGeom prst="rect">
            <a:avLst/>
          </a:prstGeom>
          <a:ln w="12700">
            <a:miter lim="400000"/>
          </a:ln>
          <a:extLst>
            <a:ext uri="{C572A759-6A51-4108-AA02-DFA0A04FC94B}">
              <ma14:wrappingTextBoxFlag xmlns="" xmlns:ma14="http://schemas.microsoft.com/office/mac/drawingml/2011/main" val="1"/>
            </a:ext>
          </a:extLst>
        </p:spPr>
        <p:txBody>
          <a:bodyPr lIns="45718" tIns="45718" rIns="45718" bIns="45718">
            <a:spAutoFit/>
          </a:bodyPr>
          <a:lstStyle/>
          <a:p>
            <a:pPr algn="ctr">
              <a:defRPr sz="2000">
                <a:latin typeface="Times New Roman"/>
                <a:ea typeface="Times New Roman"/>
                <a:cs typeface="Times New Roman"/>
                <a:sym typeface="Times New Roman"/>
              </a:defRPr>
            </a:pPr>
            <a:r>
              <a:t>Si occupa dell’organizzazione dei poteri pubblici ed è caratterizzato dal rapporto di prevalenza dell’interesse pubblico su quello privato</a:t>
            </a:r>
          </a:p>
          <a:p>
            <a:pPr algn="ctr">
              <a:defRPr sz="2000">
                <a:latin typeface="Times New Roman"/>
                <a:ea typeface="Times New Roman"/>
                <a:cs typeface="Times New Roman"/>
                <a:sym typeface="Times New Roman"/>
              </a:defRPr>
            </a:pPr>
            <a:r>
              <a:t>(P.A. – privato)</a:t>
            </a:r>
          </a:p>
        </p:txBody>
      </p:sp>
      <p:sp>
        <p:nvSpPr>
          <p:cNvPr id="295" name="Rettangolo 11"/>
          <p:cNvSpPr/>
          <p:nvPr/>
        </p:nvSpPr>
        <p:spPr>
          <a:xfrm>
            <a:off x="4735214" y="5045269"/>
            <a:ext cx="4480563" cy="956947"/>
          </a:xfrm>
          <a:prstGeom prst="rect">
            <a:avLst/>
          </a:prstGeom>
          <a:ln w="12700">
            <a:miter lim="400000"/>
          </a:ln>
          <a:extLst>
            <a:ext uri="{C572A759-6A51-4108-AA02-DFA0A04FC94B}">
              <ma14:wrappingTextBoxFlag xmlns="" xmlns:ma14="http://schemas.microsoft.com/office/mac/drawingml/2011/main" val="1"/>
            </a:ext>
          </a:extLst>
        </p:spPr>
        <p:txBody>
          <a:bodyPr lIns="45718" tIns="45718" rIns="45718" bIns="45718">
            <a:spAutoFit/>
          </a:bodyPr>
          <a:lstStyle/>
          <a:p>
            <a:pPr algn="ctr">
              <a:defRPr sz="2000">
                <a:latin typeface="Times New Roman"/>
                <a:ea typeface="Times New Roman"/>
                <a:cs typeface="Times New Roman"/>
                <a:sym typeface="Times New Roman"/>
              </a:defRPr>
            </a:pPr>
            <a:r>
              <a:t>Tratta dei rapporti tra soggetti privati (consociati) in posizione di parità</a:t>
            </a:r>
          </a:p>
          <a:p>
            <a:pPr algn="ctr">
              <a:defRPr sz="2000">
                <a:latin typeface="Times New Roman"/>
                <a:ea typeface="Times New Roman"/>
                <a:cs typeface="Times New Roman"/>
                <a:sym typeface="Times New Roman"/>
              </a:defRPr>
            </a:pPr>
            <a:r>
              <a:t>(privato – privato)</a:t>
            </a:r>
          </a:p>
        </p:txBody>
      </p:sp>
      <p:sp>
        <p:nvSpPr>
          <p:cNvPr id="296" name="Text Box 5"/>
          <p:cNvSpPr/>
          <p:nvPr/>
        </p:nvSpPr>
        <p:spPr>
          <a:xfrm>
            <a:off x="872155" y="110241"/>
            <a:ext cx="8227274" cy="584439"/>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a14="http://schemas.microsoft.com/office/mac/drawingml/2011/main"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Introduzione</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9" presetClass="entr" fill="hold" grpId="1" nodeType="clickEffect">
                                  <p:stCondLst>
                                    <p:cond delay="0"/>
                                  </p:stCondLst>
                                  <p:iterate>
                                    <p:tmAbs val="0"/>
                                  </p:iterate>
                                  <p:childTnLst>
                                    <p:set>
                                      <p:cBhvr>
                                        <p:cTn id="6" fill="hold"/>
                                        <p:tgtEl>
                                          <p:spTgt spid="294"/>
                                        </p:tgtEl>
                                        <p:attrNameLst>
                                          <p:attrName>style.visibility</p:attrName>
                                        </p:attrNameLst>
                                      </p:cBhvr>
                                      <p:to>
                                        <p:strVal val="visible"/>
                                      </p:to>
                                    </p:set>
                                    <p:animEffect transition="in" filter="dissolve">
                                      <p:cBhvr>
                                        <p:cTn id="7" dur="500"/>
                                        <p:tgtEl>
                                          <p:spTgt spid="29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fill="hold" grpId="2" nodeType="clickEffect">
                                  <p:stCondLst>
                                    <p:cond delay="0"/>
                                  </p:stCondLst>
                                  <p:iterate>
                                    <p:tmAbs val="0"/>
                                  </p:iterate>
                                  <p:childTnLst>
                                    <p:set>
                                      <p:cBhvr>
                                        <p:cTn id="11" fill="hold"/>
                                        <p:tgtEl>
                                          <p:spTgt spid="295"/>
                                        </p:tgtEl>
                                        <p:attrNameLst>
                                          <p:attrName>style.visibility</p:attrName>
                                        </p:attrNameLst>
                                      </p:cBhvr>
                                      <p:to>
                                        <p:strVal val="visible"/>
                                      </p:to>
                                    </p:set>
                                    <p:animEffect transition="in" filter="dissolve">
                                      <p:cBhvr>
                                        <p:cTn id="12" dur="500"/>
                                        <p:tgtEl>
                                          <p:spTgt spid="295"/>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mph" presetSubtype="0" fill="hold" grpId="3" nodeType="clickEffect">
                                  <p:stCondLst>
                                    <p:cond delay="0"/>
                                  </p:stCondLst>
                                  <p:childTnLst>
                                    <p:animScale>
                                      <p:cBhvr>
                                        <p:cTn id="16" dur="2000" fill="hold"/>
                                        <p:tgtEl>
                                          <p:spTgt spid="278"/>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8" grpId="3" animBg="1" advAuto="0"/>
      <p:bldP spid="294" grpId="1" animBg="1" advAuto="0"/>
      <p:bldP spid="295" grpId="2" animBg="1" advAuto="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8" name="Segnaposto contenuto 2"/>
          <p:cNvSpPr>
            <a:spLocks noGrp="1"/>
          </p:cNvSpPr>
          <p:nvPr>
            <p:ph type="body" idx="1"/>
          </p:nvPr>
        </p:nvSpPr>
        <p:spPr>
          <a:xfrm>
            <a:off x="457200" y="1052736"/>
            <a:ext cx="8229600" cy="4525965"/>
          </a:xfrm>
          <a:prstGeom prst="rect">
            <a:avLst/>
          </a:prstGeom>
        </p:spPr>
        <p:txBody>
          <a:bodyPr/>
          <a:lstStyle/>
          <a:p>
            <a:pPr marL="0" indent="0" algn="ctr">
              <a:lnSpc>
                <a:spcPct val="120000"/>
              </a:lnSpc>
              <a:buSzTx/>
              <a:buNone/>
              <a:defRPr sz="3300" b="1">
                <a:solidFill>
                  <a:srgbClr val="002F8E"/>
                </a:solidFill>
                <a:latin typeface="Book Antiqua"/>
                <a:ea typeface="Book Antiqua"/>
                <a:cs typeface="Book Antiqua"/>
                <a:sym typeface="Book Antiqua"/>
              </a:defRPr>
            </a:pPr>
            <a:r>
              <a:t>DIRITTO PENALE SOSTANZIALE</a:t>
            </a:r>
            <a:endParaRPr sz="2300"/>
          </a:p>
          <a:p>
            <a:pPr algn="just">
              <a:lnSpc>
                <a:spcPct val="120000"/>
              </a:lnSpc>
              <a:defRPr sz="2300">
                <a:latin typeface="Book Antiqua"/>
                <a:ea typeface="Book Antiqua"/>
                <a:cs typeface="Book Antiqua"/>
                <a:sym typeface="Book Antiqua"/>
              </a:defRPr>
            </a:pPr>
            <a:r>
              <a:t>È una branca del diritto pubblico che disciplina i </a:t>
            </a:r>
            <a:r>
              <a:rPr b="1">
                <a:solidFill>
                  <a:srgbClr val="C00000"/>
                </a:solidFill>
              </a:rPr>
              <a:t>fatti costituenti reato</a:t>
            </a:r>
            <a:r>
              <a:t>. </a:t>
            </a:r>
          </a:p>
          <a:p>
            <a:pPr algn="just">
              <a:lnSpc>
                <a:spcPct val="120000"/>
              </a:lnSpc>
              <a:defRPr sz="2300">
                <a:latin typeface="Book Antiqua"/>
                <a:ea typeface="Book Antiqua"/>
                <a:cs typeface="Book Antiqua"/>
                <a:sym typeface="Book Antiqua"/>
              </a:defRPr>
            </a:pPr>
            <a:r>
              <a:t>È quel complesso di norme giuridiche con cui lo Stato, mediante la </a:t>
            </a:r>
            <a:r>
              <a:rPr b="1"/>
              <a:t>minaccia di una sanzione </a:t>
            </a:r>
            <a:r>
              <a:t>(pena), proibisce determinati comportamenti umani che sono idonei a </a:t>
            </a:r>
            <a:r>
              <a:rPr b="1"/>
              <a:t>ledere o mettere in pericolo </a:t>
            </a:r>
            <a:r>
              <a:t>uno specifico </a:t>
            </a:r>
            <a:r>
              <a:rPr b="1"/>
              <a:t>bene giuridico </a:t>
            </a:r>
            <a:r>
              <a:t>che lo stesso tutela.</a:t>
            </a:r>
          </a:p>
        </p:txBody>
      </p:sp>
      <p:sp>
        <p:nvSpPr>
          <p:cNvPr id="299" name="Rettangolo 1"/>
          <p:cNvSpPr/>
          <p:nvPr/>
        </p:nvSpPr>
        <p:spPr>
          <a:xfrm>
            <a:off x="1449368" y="5578700"/>
            <a:ext cx="3293441" cy="955037"/>
          </a:xfrm>
          <a:prstGeom prst="rect">
            <a:avLst/>
          </a:prstGeom>
          <a:ln w="12700">
            <a:miter lim="400000"/>
          </a:ln>
          <a:extLst>
            <a:ext uri="{C572A759-6A51-4108-AA02-DFA0A04FC94B}">
              <ma14:wrappingTextBoxFlag xmlns="" xmlns:ma14="http://schemas.microsoft.com/office/mac/drawingml/2011/main" val="1"/>
            </a:ext>
          </a:extLst>
        </p:spPr>
        <p:txBody>
          <a:bodyPr lIns="45718" tIns="45718" rIns="45718" bIns="45718">
            <a:spAutoFit/>
          </a:bodyPr>
          <a:lstStyle>
            <a:lvl1pPr algn="ctr">
              <a:defRPr sz="2800" i="1">
                <a:solidFill>
                  <a:srgbClr val="002F8E"/>
                </a:solidFill>
                <a:latin typeface="Book Antiqua"/>
                <a:ea typeface="Book Antiqua"/>
                <a:cs typeface="Book Antiqua"/>
                <a:sym typeface="Book Antiqua"/>
              </a:defRPr>
            </a:lvl1pPr>
          </a:lstStyle>
          <a:p>
            <a:r>
              <a:t>La spada della giustizia</a:t>
            </a:r>
          </a:p>
        </p:txBody>
      </p:sp>
      <p:pic>
        <p:nvPicPr>
          <p:cNvPr id="300" name="Picture 2" descr="Picture 2"/>
          <p:cNvPicPr>
            <a:picLocks noChangeAspect="1"/>
          </p:cNvPicPr>
          <p:nvPr/>
        </p:nvPicPr>
        <p:blipFill>
          <a:blip r:embed="rId3"/>
          <a:stretch>
            <a:fillRect/>
          </a:stretch>
        </p:blipFill>
        <p:spPr>
          <a:xfrm>
            <a:off x="5803905" y="4869160"/>
            <a:ext cx="1432391" cy="1962079"/>
          </a:xfrm>
          <a:prstGeom prst="rect">
            <a:avLst/>
          </a:prstGeom>
          <a:ln w="12700">
            <a:miter lim="400000"/>
          </a:ln>
        </p:spPr>
      </p:pic>
      <p:sp>
        <p:nvSpPr>
          <p:cNvPr id="301" name="Text Box 5"/>
          <p:cNvSpPr/>
          <p:nvPr/>
        </p:nvSpPr>
        <p:spPr>
          <a:xfrm>
            <a:off x="872155" y="110241"/>
            <a:ext cx="8227274" cy="584439"/>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a14="http://schemas.microsoft.com/office/mac/drawingml/2011/main"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Introduzione</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 name="Segnaposto contenuto 2"/>
          <p:cNvSpPr>
            <a:spLocks noGrp="1"/>
          </p:cNvSpPr>
          <p:nvPr>
            <p:ph type="body" idx="1"/>
          </p:nvPr>
        </p:nvSpPr>
        <p:spPr>
          <a:xfrm>
            <a:off x="449407" y="1749499"/>
            <a:ext cx="8229601" cy="4525967"/>
          </a:xfrm>
          <a:prstGeom prst="rect">
            <a:avLst/>
          </a:prstGeom>
        </p:spPr>
        <p:txBody>
          <a:bodyPr/>
          <a:lstStyle/>
          <a:p>
            <a:pPr marL="0" indent="0" algn="ctr">
              <a:lnSpc>
                <a:spcPct val="135000"/>
              </a:lnSpc>
              <a:buSzTx/>
              <a:buNone/>
              <a:defRPr b="1">
                <a:solidFill>
                  <a:srgbClr val="002F8E"/>
                </a:solidFill>
                <a:latin typeface="Book Antiqua"/>
                <a:ea typeface="Book Antiqua"/>
                <a:cs typeface="Book Antiqua"/>
                <a:sym typeface="Book Antiqua"/>
              </a:defRPr>
            </a:pPr>
            <a:r>
              <a:t>DIRITTO PENALE PROCESSUALE</a:t>
            </a:r>
          </a:p>
          <a:p>
            <a:pPr algn="just">
              <a:lnSpc>
                <a:spcPct val="135000"/>
              </a:lnSpc>
              <a:defRPr sz="2400">
                <a:latin typeface="Book Antiqua"/>
                <a:ea typeface="Book Antiqua"/>
                <a:cs typeface="Book Antiqua"/>
                <a:sym typeface="Book Antiqua"/>
              </a:defRPr>
            </a:pPr>
            <a:r>
              <a:t>disciplina gli aspetti riguardanti il </a:t>
            </a:r>
            <a:r>
              <a:rPr b="1">
                <a:solidFill>
                  <a:srgbClr val="C00000"/>
                </a:solidFill>
              </a:rPr>
              <a:t>processo penale</a:t>
            </a:r>
            <a:r>
              <a:t>. </a:t>
            </a:r>
          </a:p>
          <a:p>
            <a:pPr algn="just">
              <a:lnSpc>
                <a:spcPct val="135000"/>
              </a:lnSpc>
              <a:defRPr sz="2400">
                <a:latin typeface="Book Antiqua"/>
                <a:ea typeface="Book Antiqua"/>
                <a:cs typeface="Book Antiqua"/>
                <a:sym typeface="Book Antiqua"/>
              </a:defRPr>
            </a:pPr>
            <a:r>
              <a:t>È quel complesso di norme giuridiche create dal legislatore al fine di </a:t>
            </a:r>
            <a:r>
              <a:rPr b="1">
                <a:solidFill>
                  <a:srgbClr val="C00000"/>
                </a:solidFill>
              </a:rPr>
              <a:t>regolare e disciplinare </a:t>
            </a:r>
            <a:r>
              <a:t>le varie fasi del </a:t>
            </a:r>
            <a:r>
              <a:rPr b="1">
                <a:solidFill>
                  <a:srgbClr val="C00000"/>
                </a:solidFill>
              </a:rPr>
              <a:t>procedimento penale </a:t>
            </a:r>
            <a:r>
              <a:t>che vede coinvolto un determinato soggetto in ordine a un reato a questi ascritto e con l'osservanza di </a:t>
            </a:r>
            <a:r>
              <a:rPr b="1">
                <a:solidFill>
                  <a:srgbClr val="C00000"/>
                </a:solidFill>
              </a:rPr>
              <a:t>determinate modalità e garanzie di legge.</a:t>
            </a:r>
          </a:p>
        </p:txBody>
      </p:sp>
      <p:sp>
        <p:nvSpPr>
          <p:cNvPr id="306" name="Rettangolo 1"/>
          <p:cNvSpPr/>
          <p:nvPr/>
        </p:nvSpPr>
        <p:spPr>
          <a:xfrm>
            <a:off x="189733" y="870695"/>
            <a:ext cx="6352773" cy="523237"/>
          </a:xfrm>
          <a:prstGeom prst="rect">
            <a:avLst/>
          </a:prstGeom>
          <a:ln w="12700">
            <a:miter lim="400000"/>
          </a:ln>
          <a:extLst>
            <a:ext uri="{C572A759-6A51-4108-AA02-DFA0A04FC94B}">
              <ma14:wrappingTextBoxFlag xmlns="" xmlns:ma14="http://schemas.microsoft.com/office/mac/drawingml/2011/main" val="1"/>
            </a:ext>
          </a:extLst>
        </p:spPr>
        <p:txBody>
          <a:bodyPr lIns="45718" tIns="45718" rIns="45718" bIns="45718">
            <a:spAutoFit/>
          </a:bodyPr>
          <a:lstStyle>
            <a:lvl1pPr>
              <a:lnSpc>
                <a:spcPct val="150000"/>
              </a:lnSpc>
              <a:defRPr sz="2800">
                <a:solidFill>
                  <a:srgbClr val="002F8E"/>
                </a:solidFill>
                <a:latin typeface="Book Antiqua"/>
                <a:ea typeface="Book Antiqua"/>
                <a:cs typeface="Book Antiqua"/>
                <a:sym typeface="Book Antiqua"/>
              </a:defRPr>
            </a:lvl1pPr>
          </a:lstStyle>
          <a:p>
            <a:r>
              <a:t>DIRITTO PENALE sostanziale    ≠</a:t>
            </a:r>
          </a:p>
        </p:txBody>
      </p:sp>
      <p:sp>
        <p:nvSpPr>
          <p:cNvPr id="307" name="Text Box 5"/>
          <p:cNvSpPr/>
          <p:nvPr/>
        </p:nvSpPr>
        <p:spPr>
          <a:xfrm>
            <a:off x="872155" y="110241"/>
            <a:ext cx="8227274" cy="584439"/>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a14="http://schemas.microsoft.com/office/mac/drawingml/2011/main"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Introduzione</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 name="Segnaposto contenuto 2"/>
          <p:cNvSpPr>
            <a:spLocks noGrp="1"/>
          </p:cNvSpPr>
          <p:nvPr>
            <p:ph type="body" idx="1"/>
          </p:nvPr>
        </p:nvSpPr>
        <p:spPr>
          <a:xfrm>
            <a:off x="457200" y="1052736"/>
            <a:ext cx="8229600" cy="4525965"/>
          </a:xfrm>
          <a:prstGeom prst="rect">
            <a:avLst/>
          </a:prstGeom>
        </p:spPr>
        <p:txBody>
          <a:bodyPr/>
          <a:lstStyle>
            <a:lvl1pPr marL="0" indent="0" algn="ctr">
              <a:lnSpc>
                <a:spcPct val="150000"/>
              </a:lnSpc>
              <a:buSzTx/>
              <a:buNone/>
              <a:defRPr b="1">
                <a:solidFill>
                  <a:srgbClr val="002F8E"/>
                </a:solidFill>
                <a:latin typeface="Book Antiqua"/>
                <a:ea typeface="Book Antiqua"/>
                <a:cs typeface="Book Antiqua"/>
                <a:sym typeface="Book Antiqua"/>
              </a:defRPr>
            </a:lvl1pPr>
          </a:lstStyle>
          <a:p>
            <a:r>
              <a:t>LE FONTI</a:t>
            </a:r>
          </a:p>
        </p:txBody>
      </p:sp>
      <p:grpSp>
        <p:nvGrpSpPr>
          <p:cNvPr id="312" name="Rettangolo 6"/>
          <p:cNvGrpSpPr/>
          <p:nvPr/>
        </p:nvGrpSpPr>
        <p:grpSpPr>
          <a:xfrm>
            <a:off x="3553223" y="1844824"/>
            <a:ext cx="2248605" cy="864100"/>
            <a:chOff x="0" y="0"/>
            <a:chExt cx="2248604" cy="864099"/>
          </a:xfrm>
        </p:grpSpPr>
        <p:sp>
          <p:nvSpPr>
            <p:cNvPr id="310" name="Rettangolo"/>
            <p:cNvSpPr/>
            <p:nvPr/>
          </p:nvSpPr>
          <p:spPr>
            <a:xfrm>
              <a:off x="0" y="0"/>
              <a:ext cx="2248605" cy="864100"/>
            </a:xfrm>
            <a:prstGeom prst="rect">
              <a:avLst/>
            </a:prstGeom>
            <a:solidFill>
              <a:srgbClr val="FFFFFF"/>
            </a:solidFill>
            <a:ln w="12700" cap="flat">
              <a:solidFill>
                <a:srgbClr val="70AD47"/>
              </a:solidFill>
              <a:prstDash val="solid"/>
              <a:miter lim="800000"/>
            </a:ln>
            <a:effectLst/>
          </p:spPr>
          <p:txBody>
            <a:bodyPr wrap="square" lIns="45718" tIns="45718" rIns="45718" bIns="45718" numCol="1" anchor="ctr">
              <a:noAutofit/>
            </a:bodyPr>
            <a:lstStyle/>
            <a:p>
              <a:pPr algn="ctr">
                <a:defRPr>
                  <a:latin typeface="Calibri"/>
                  <a:ea typeface="Calibri"/>
                  <a:cs typeface="Calibri"/>
                  <a:sym typeface="Calibri"/>
                </a:defRPr>
              </a:pPr>
              <a:endParaRPr/>
            </a:p>
          </p:txBody>
        </p:sp>
        <p:sp>
          <p:nvSpPr>
            <p:cNvPr id="311" name="COSTITUZIONE"/>
            <p:cNvSpPr/>
            <p:nvPr/>
          </p:nvSpPr>
          <p:spPr>
            <a:xfrm>
              <a:off x="52069" y="257833"/>
              <a:ext cx="2144466" cy="348426"/>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45718" tIns="45718" rIns="45718" bIns="45718" numCol="1" anchor="ctr">
              <a:spAutoFit/>
            </a:bodyPr>
            <a:lstStyle>
              <a:lvl1pPr algn="ctr">
                <a:defRPr sz="1800">
                  <a:latin typeface="Times New Roman"/>
                  <a:ea typeface="Times New Roman"/>
                  <a:cs typeface="Times New Roman"/>
                  <a:sym typeface="Times New Roman"/>
                </a:defRPr>
              </a:lvl1pPr>
            </a:lstStyle>
            <a:p>
              <a:r>
                <a:t>COSTITUZIONE</a:t>
              </a:r>
            </a:p>
          </p:txBody>
        </p:sp>
      </p:grpSp>
      <p:grpSp>
        <p:nvGrpSpPr>
          <p:cNvPr id="315" name="Rettangolo 7"/>
          <p:cNvGrpSpPr/>
          <p:nvPr/>
        </p:nvGrpSpPr>
        <p:grpSpPr>
          <a:xfrm>
            <a:off x="1187624" y="2744922"/>
            <a:ext cx="2248604" cy="864100"/>
            <a:chOff x="0" y="0"/>
            <a:chExt cx="2248603" cy="864099"/>
          </a:xfrm>
        </p:grpSpPr>
        <p:sp>
          <p:nvSpPr>
            <p:cNvPr id="313" name="Rettangolo"/>
            <p:cNvSpPr/>
            <p:nvPr/>
          </p:nvSpPr>
          <p:spPr>
            <a:xfrm>
              <a:off x="-1" y="0"/>
              <a:ext cx="2248605" cy="864100"/>
            </a:xfrm>
            <a:prstGeom prst="rect">
              <a:avLst/>
            </a:prstGeom>
            <a:solidFill>
              <a:srgbClr val="FFFFFF"/>
            </a:solidFill>
            <a:ln w="12700" cap="flat">
              <a:solidFill>
                <a:srgbClr val="70AD47"/>
              </a:solidFill>
              <a:prstDash val="solid"/>
              <a:miter lim="800000"/>
            </a:ln>
            <a:effectLst/>
          </p:spPr>
          <p:txBody>
            <a:bodyPr wrap="square" lIns="45718" tIns="45718" rIns="45718" bIns="45718" numCol="1" anchor="ctr">
              <a:noAutofit/>
            </a:bodyPr>
            <a:lstStyle/>
            <a:p>
              <a:pPr algn="ctr">
                <a:defRPr>
                  <a:latin typeface="Calibri"/>
                  <a:ea typeface="Calibri"/>
                  <a:cs typeface="Calibri"/>
                  <a:sym typeface="Calibri"/>
                </a:defRPr>
              </a:pPr>
              <a:endParaRPr/>
            </a:p>
          </p:txBody>
        </p:sp>
        <p:sp>
          <p:nvSpPr>
            <p:cNvPr id="314" name="CODICE PENALE"/>
            <p:cNvSpPr/>
            <p:nvPr/>
          </p:nvSpPr>
          <p:spPr>
            <a:xfrm>
              <a:off x="52069" y="257833"/>
              <a:ext cx="2144465" cy="348426"/>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45718" tIns="45718" rIns="45718" bIns="45718" numCol="1" anchor="ctr">
              <a:spAutoFit/>
            </a:bodyPr>
            <a:lstStyle>
              <a:lvl1pPr algn="ctr">
                <a:defRPr sz="1800">
                  <a:latin typeface="Times New Roman"/>
                  <a:ea typeface="Times New Roman"/>
                  <a:cs typeface="Times New Roman"/>
                  <a:sym typeface="Times New Roman"/>
                </a:defRPr>
              </a:lvl1pPr>
            </a:lstStyle>
            <a:p>
              <a:r>
                <a:t>CODICE PENALE</a:t>
              </a:r>
            </a:p>
          </p:txBody>
        </p:sp>
      </p:grpSp>
      <p:grpSp>
        <p:nvGrpSpPr>
          <p:cNvPr id="318" name="Rettangolo 8"/>
          <p:cNvGrpSpPr/>
          <p:nvPr/>
        </p:nvGrpSpPr>
        <p:grpSpPr>
          <a:xfrm>
            <a:off x="6156175" y="2780926"/>
            <a:ext cx="2248606" cy="864100"/>
            <a:chOff x="0" y="0"/>
            <a:chExt cx="2248605" cy="864099"/>
          </a:xfrm>
        </p:grpSpPr>
        <p:sp>
          <p:nvSpPr>
            <p:cNvPr id="316" name="Rettangolo"/>
            <p:cNvSpPr/>
            <p:nvPr/>
          </p:nvSpPr>
          <p:spPr>
            <a:xfrm>
              <a:off x="-1" y="0"/>
              <a:ext cx="2248606" cy="864100"/>
            </a:xfrm>
            <a:prstGeom prst="rect">
              <a:avLst/>
            </a:prstGeom>
            <a:solidFill>
              <a:srgbClr val="FFFFFF"/>
            </a:solidFill>
            <a:ln w="12700" cap="flat">
              <a:solidFill>
                <a:srgbClr val="70AD47"/>
              </a:solidFill>
              <a:prstDash val="solid"/>
              <a:miter lim="800000"/>
            </a:ln>
            <a:effectLst/>
          </p:spPr>
          <p:txBody>
            <a:bodyPr wrap="square" lIns="45718" tIns="45718" rIns="45718" bIns="45718" numCol="1" anchor="ctr">
              <a:noAutofit/>
            </a:bodyPr>
            <a:lstStyle/>
            <a:p>
              <a:pPr algn="ctr">
                <a:defRPr>
                  <a:latin typeface="Calibri"/>
                  <a:ea typeface="Calibri"/>
                  <a:cs typeface="Calibri"/>
                  <a:sym typeface="Calibri"/>
                </a:defRPr>
              </a:pPr>
              <a:endParaRPr/>
            </a:p>
          </p:txBody>
        </p:sp>
        <p:sp>
          <p:nvSpPr>
            <p:cNvPr id="317" name="LEGGI PENALI SPECIALI"/>
            <p:cNvSpPr/>
            <p:nvPr/>
          </p:nvSpPr>
          <p:spPr>
            <a:xfrm>
              <a:off x="52069" y="124483"/>
              <a:ext cx="2144467" cy="615126"/>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45718" tIns="45718" rIns="45718" bIns="45718" numCol="1" anchor="ctr">
              <a:spAutoFit/>
            </a:bodyPr>
            <a:lstStyle>
              <a:lvl1pPr algn="ctr">
                <a:defRPr sz="1800">
                  <a:latin typeface="Times New Roman"/>
                  <a:ea typeface="Times New Roman"/>
                  <a:cs typeface="Times New Roman"/>
                  <a:sym typeface="Times New Roman"/>
                </a:defRPr>
              </a:lvl1pPr>
            </a:lstStyle>
            <a:p>
              <a:r>
                <a:t>LEGGI PENALI SPECIALI</a:t>
              </a:r>
            </a:p>
          </p:txBody>
        </p:sp>
      </p:grpSp>
      <p:sp>
        <p:nvSpPr>
          <p:cNvPr id="319" name="CasellaDiTesto 9"/>
          <p:cNvSpPr/>
          <p:nvPr/>
        </p:nvSpPr>
        <p:spPr>
          <a:xfrm>
            <a:off x="153543" y="3753613"/>
            <a:ext cx="4815453" cy="2504437"/>
          </a:xfrm>
          <a:prstGeom prst="rect">
            <a:avLst/>
          </a:prstGeom>
          <a:ln w="12700">
            <a:miter lim="400000"/>
          </a:ln>
          <a:extLst>
            <a:ext uri="{C572A759-6A51-4108-AA02-DFA0A04FC94B}">
              <ma14:wrappingTextBoxFlag xmlns="" xmlns:ma14="http://schemas.microsoft.com/office/mac/drawingml/2011/main" val="1"/>
            </a:ext>
          </a:extLst>
        </p:spPr>
        <p:txBody>
          <a:bodyPr lIns="45718" tIns="45718" rIns="45718" bIns="45718">
            <a:spAutoFit/>
          </a:bodyPr>
          <a:lstStyle/>
          <a:p>
            <a:pPr algn="ctr">
              <a:defRPr sz="2000" b="0">
                <a:latin typeface="Book Antiqua"/>
                <a:ea typeface="Book Antiqua"/>
                <a:cs typeface="Book Antiqua"/>
                <a:sym typeface="Book Antiqua"/>
              </a:defRPr>
            </a:pPr>
            <a:r>
              <a:t>CODICE ROCCO </a:t>
            </a:r>
            <a:endParaRPr>
              <a:latin typeface="Times New Roman"/>
              <a:ea typeface="Times New Roman"/>
              <a:cs typeface="Times New Roman"/>
              <a:sym typeface="Times New Roman"/>
            </a:endParaRPr>
          </a:p>
          <a:p>
            <a:pPr algn="just">
              <a:defRPr sz="2000" b="0">
                <a:latin typeface="Book Antiqua"/>
                <a:ea typeface="Book Antiqua"/>
                <a:cs typeface="Book Antiqua"/>
                <a:sym typeface="Book Antiqua"/>
              </a:defRPr>
            </a:pPr>
            <a:r>
              <a:t>(R.D. n. 1398 del 19 ottobre 1930, entrato in vigore dal 1°luglio 1931)</a:t>
            </a:r>
            <a:endParaRPr>
              <a:latin typeface="Times New Roman"/>
              <a:ea typeface="Times New Roman"/>
              <a:cs typeface="Times New Roman"/>
              <a:sym typeface="Times New Roman"/>
            </a:endParaRPr>
          </a:p>
          <a:p>
            <a:pPr algn="just">
              <a:defRPr sz="2000" b="0">
                <a:latin typeface="Times New Roman"/>
                <a:ea typeface="Times New Roman"/>
                <a:cs typeface="Times New Roman"/>
                <a:sym typeface="Times New Roman"/>
              </a:defRPr>
            </a:pPr>
            <a:endParaRPr>
              <a:latin typeface="Times New Roman"/>
              <a:ea typeface="Times New Roman"/>
              <a:cs typeface="Times New Roman"/>
              <a:sym typeface="Times New Roman"/>
            </a:endParaRPr>
          </a:p>
          <a:p>
            <a:pPr algn="just">
              <a:defRPr sz="2000" b="0">
                <a:latin typeface="Book Antiqua"/>
                <a:ea typeface="Book Antiqua"/>
                <a:cs typeface="Book Antiqua"/>
                <a:sym typeface="Book Antiqua"/>
              </a:defRPr>
            </a:pPr>
            <a:r>
              <a:t>CODICE: raccolta di disposizioni di legge disciplinanti una certa materia giuridica.</a:t>
            </a:r>
            <a:endParaRPr>
              <a:latin typeface="Times New Roman"/>
              <a:ea typeface="Times New Roman"/>
              <a:cs typeface="Times New Roman"/>
              <a:sym typeface="Times New Roman"/>
            </a:endParaRPr>
          </a:p>
          <a:p>
            <a:pPr algn="just">
              <a:defRPr sz="2000" b="0">
                <a:latin typeface="Times New Roman"/>
                <a:ea typeface="Times New Roman"/>
                <a:cs typeface="Times New Roman"/>
                <a:sym typeface="Times New Roman"/>
              </a:defRPr>
            </a:pPr>
            <a:endParaRPr>
              <a:latin typeface="Times New Roman"/>
              <a:ea typeface="Times New Roman"/>
              <a:cs typeface="Times New Roman"/>
              <a:sym typeface="Times New Roman"/>
            </a:endParaRPr>
          </a:p>
          <a:p>
            <a:pPr algn="just">
              <a:defRPr sz="2000" b="0">
                <a:latin typeface="Book Antiqua"/>
                <a:ea typeface="Book Antiqua"/>
                <a:cs typeface="Book Antiqua"/>
                <a:sym typeface="Book Antiqua"/>
              </a:defRPr>
            </a:pPr>
            <a:r>
              <a:t>PARTE GENERALE E PARTE SPECIALE</a:t>
            </a:r>
          </a:p>
        </p:txBody>
      </p:sp>
      <p:sp>
        <p:nvSpPr>
          <p:cNvPr id="320" name="CasellaDiTesto 11"/>
          <p:cNvSpPr/>
          <p:nvPr/>
        </p:nvSpPr>
        <p:spPr>
          <a:xfrm>
            <a:off x="5409808" y="3753613"/>
            <a:ext cx="3580648" cy="1005837"/>
          </a:xfrm>
          <a:prstGeom prst="rect">
            <a:avLst/>
          </a:prstGeom>
          <a:ln w="12700">
            <a:miter lim="400000"/>
          </a:ln>
          <a:extLst>
            <a:ext uri="{C572A759-6A51-4108-AA02-DFA0A04FC94B}">
              <ma14:wrappingTextBoxFlag xmlns="" xmlns:ma14="http://schemas.microsoft.com/office/mac/drawingml/2011/main" val="1"/>
            </a:ext>
          </a:extLst>
        </p:spPr>
        <p:txBody>
          <a:bodyPr lIns="45718" tIns="45718" rIns="45718" bIns="45718">
            <a:spAutoFit/>
          </a:bodyPr>
          <a:lstStyle>
            <a:lvl1pPr algn="ctr">
              <a:defRPr sz="2000" b="0">
                <a:latin typeface="Book Antiqua"/>
                <a:ea typeface="Book Antiqua"/>
                <a:cs typeface="Book Antiqua"/>
                <a:sym typeface="Book Antiqua"/>
              </a:defRPr>
            </a:lvl1pPr>
          </a:lstStyle>
          <a:p>
            <a:r>
              <a:t>Prevedono autonome figure di reato. (es. Testo Unico delle Leggi di Pubblica Sicurezza)</a:t>
            </a:r>
          </a:p>
        </p:txBody>
      </p:sp>
      <p:sp>
        <p:nvSpPr>
          <p:cNvPr id="321" name="Text Box 5"/>
          <p:cNvSpPr/>
          <p:nvPr/>
        </p:nvSpPr>
        <p:spPr>
          <a:xfrm>
            <a:off x="872155" y="110241"/>
            <a:ext cx="8227274" cy="584439"/>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a14="http://schemas.microsoft.com/office/mac/drawingml/2011/main"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Le fonti</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6" presetClass="emph" presetSubtype="0" fill="hold" grpId="1" nodeType="clickEffect">
                                  <p:stCondLst>
                                    <p:cond delay="0"/>
                                  </p:stCondLst>
                                  <p:childTnLst>
                                    <p:animScale>
                                      <p:cBhvr>
                                        <p:cTn id="6" dur="2000" fill="hold"/>
                                        <p:tgtEl>
                                          <p:spTgt spid="315"/>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5" grpId="1" animBg="1" advAuto="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 name="Segnaposto testo 1"/>
          <p:cNvSpPr>
            <a:spLocks noGrp="1"/>
          </p:cNvSpPr>
          <p:nvPr>
            <p:ph type="body" idx="1"/>
          </p:nvPr>
        </p:nvSpPr>
        <p:spPr>
          <a:xfrm>
            <a:off x="628650" y="887767"/>
            <a:ext cx="7886700" cy="5970235"/>
          </a:xfrm>
          <a:prstGeom prst="rect">
            <a:avLst/>
          </a:prstGeom>
        </p:spPr>
        <p:txBody>
          <a:bodyPr/>
          <a:lstStyle/>
          <a:p>
            <a:pPr marL="0" indent="0" defTabSz="832103">
              <a:lnSpc>
                <a:spcPct val="72000"/>
              </a:lnSpc>
              <a:spcBef>
                <a:spcPts val="900"/>
              </a:spcBef>
              <a:buSzTx/>
              <a:buNone/>
              <a:defRPr sz="2200"/>
            </a:pPr>
            <a:r>
              <a:t>Il </a:t>
            </a:r>
            <a:r>
              <a:rPr b="1"/>
              <a:t>22 settembre 1988 </a:t>
            </a:r>
            <a:r>
              <a:t>il Governo ha approvato il </a:t>
            </a:r>
            <a:r>
              <a:rPr b="1" u="sng">
                <a:solidFill>
                  <a:srgbClr val="3C8C93"/>
                </a:solidFill>
              </a:rPr>
              <a:t>TESTO DEL NUOVO CODICE DI PROCEDURA PENALE</a:t>
            </a:r>
            <a:r>
              <a:t>, ed entrato in vigore il 24 ottobre 1989.</a:t>
            </a:r>
          </a:p>
          <a:p>
            <a:pPr marL="0" indent="0" defTabSz="832103">
              <a:lnSpc>
                <a:spcPct val="72000"/>
              </a:lnSpc>
              <a:spcBef>
                <a:spcPts val="900"/>
              </a:spcBef>
              <a:buSzTx/>
              <a:buNone/>
              <a:defRPr sz="2200"/>
            </a:pPr>
            <a:r>
              <a:t>Ciò ha segnato il passaggio dal </a:t>
            </a:r>
            <a:r>
              <a:rPr b="1" u="sng"/>
              <a:t>sistema misto </a:t>
            </a:r>
            <a:r>
              <a:t>a quello </a:t>
            </a:r>
            <a:r>
              <a:rPr b="1" u="sng"/>
              <a:t>tendenzialmente accusatorio.</a:t>
            </a:r>
          </a:p>
          <a:p>
            <a:pPr marL="0" indent="0" defTabSz="832103">
              <a:lnSpc>
                <a:spcPct val="72000"/>
              </a:lnSpc>
              <a:spcBef>
                <a:spcPts val="900"/>
              </a:spcBef>
              <a:buSzTx/>
              <a:buNone/>
              <a:defRPr sz="2200"/>
            </a:pPr>
            <a:endParaRPr b="1" u="sng"/>
          </a:p>
          <a:p>
            <a:pPr marL="208025" indent="-208025" algn="just" defTabSz="832103">
              <a:lnSpc>
                <a:spcPct val="64000"/>
              </a:lnSpc>
              <a:spcBef>
                <a:spcPts val="400"/>
              </a:spcBef>
              <a:defRPr sz="2000">
                <a:latin typeface="Times New Roman"/>
                <a:ea typeface="Times New Roman"/>
                <a:cs typeface="Times New Roman"/>
                <a:sym typeface="Times New Roman"/>
              </a:defRPr>
            </a:pPr>
            <a:r>
              <a:t>Vi sono </a:t>
            </a:r>
            <a:r>
              <a:rPr b="1" u="sng">
                <a:solidFill>
                  <a:srgbClr val="1F497D"/>
                </a:solidFill>
              </a:rPr>
              <a:t>due modelli </a:t>
            </a:r>
            <a:r>
              <a:t>fondamentali: </a:t>
            </a:r>
          </a:p>
          <a:p>
            <a:pPr marL="0" indent="0" algn="just" defTabSz="832103">
              <a:lnSpc>
                <a:spcPct val="64000"/>
              </a:lnSpc>
              <a:spcBef>
                <a:spcPts val="400"/>
              </a:spcBef>
              <a:buSzTx/>
              <a:buNone/>
              <a:defRPr sz="3100" u="sng">
                <a:solidFill>
                  <a:srgbClr val="FF0000"/>
                </a:solidFill>
                <a:latin typeface="Times New Roman"/>
                <a:ea typeface="Times New Roman"/>
                <a:cs typeface="Times New Roman"/>
                <a:sym typeface="Times New Roman"/>
              </a:defRPr>
            </a:pPr>
            <a:endParaRPr/>
          </a:p>
          <a:p>
            <a:pPr marL="0" indent="0" algn="just" defTabSz="832103">
              <a:lnSpc>
                <a:spcPct val="100000"/>
              </a:lnSpc>
              <a:spcBef>
                <a:spcPts val="300"/>
              </a:spcBef>
              <a:buSzTx/>
              <a:buNone/>
              <a:defRPr sz="2100" u="sng">
                <a:solidFill>
                  <a:srgbClr val="FF0000"/>
                </a:solidFill>
                <a:latin typeface="Times New Roman"/>
                <a:ea typeface="Times New Roman"/>
                <a:cs typeface="Times New Roman"/>
                <a:sym typeface="Times New Roman"/>
              </a:defRPr>
            </a:pPr>
            <a:r>
              <a:t>SISTEMA INQUISITORIO – </a:t>
            </a:r>
            <a:r>
              <a:rPr>
                <a:solidFill>
                  <a:srgbClr val="000000"/>
                </a:solidFill>
              </a:rPr>
              <a:t>è un processo </a:t>
            </a:r>
            <a:r>
              <a:t>scritto e segreto</a:t>
            </a:r>
            <a:r>
              <a:rPr>
                <a:solidFill>
                  <a:srgbClr val="000000"/>
                </a:solidFill>
              </a:rPr>
              <a:t>, in cui è limitato il contraddittorio con l’imputato. I diversi ruoli di difensore, pubblica accusa e giudice finiscono con l’essere attribuiti al medesimo soggetto inquirente. </a:t>
            </a:r>
            <a:endParaRPr sz="3500"/>
          </a:p>
          <a:p>
            <a:pPr marL="0" indent="0" algn="just" defTabSz="832103">
              <a:lnSpc>
                <a:spcPct val="64000"/>
              </a:lnSpc>
              <a:spcBef>
                <a:spcPts val="400"/>
              </a:spcBef>
              <a:buSzTx/>
              <a:buNone/>
              <a:defRPr sz="3500">
                <a:latin typeface="Times New Roman"/>
                <a:ea typeface="Times New Roman"/>
                <a:cs typeface="Times New Roman"/>
                <a:sym typeface="Times New Roman"/>
              </a:defRPr>
            </a:pPr>
            <a:endParaRPr sz="3500"/>
          </a:p>
          <a:p>
            <a:pPr marL="0" indent="0" algn="just" defTabSz="832103">
              <a:lnSpc>
                <a:spcPct val="100000"/>
              </a:lnSpc>
              <a:spcBef>
                <a:spcPts val="300"/>
              </a:spcBef>
              <a:buSzTx/>
              <a:buNone/>
              <a:defRPr sz="2100" u="sng">
                <a:solidFill>
                  <a:srgbClr val="FF0000"/>
                </a:solidFill>
                <a:latin typeface="Times New Roman"/>
                <a:ea typeface="Times New Roman"/>
                <a:cs typeface="Times New Roman"/>
                <a:sym typeface="Times New Roman"/>
              </a:defRPr>
            </a:pPr>
            <a:r>
              <a:t>SISTEMA ACCUSATORIO </a:t>
            </a:r>
            <a:r>
              <a:rPr>
                <a:solidFill>
                  <a:srgbClr val="000000"/>
                </a:solidFill>
              </a:rPr>
              <a:t>– è un processo di parti che interpreta il giudice come un soggetto terzo ed imparziale. La pubblica </a:t>
            </a:r>
            <a:r>
              <a:t>accusa e la difesa </a:t>
            </a:r>
            <a:r>
              <a:rPr>
                <a:solidFill>
                  <a:srgbClr val="000000"/>
                </a:solidFill>
              </a:rPr>
              <a:t>sono inquadrate come parti contrapposte, operanti su di un </a:t>
            </a:r>
            <a:r>
              <a:t>piano paritario</a:t>
            </a:r>
            <a:r>
              <a:rPr>
                <a:solidFill>
                  <a:srgbClr val="000000"/>
                </a:solidFill>
              </a:rPr>
              <a:t>. Questo tipo di processo è caratterizzato da dalla oralità e pubblicità del giudizio. </a:t>
            </a:r>
          </a:p>
        </p:txBody>
      </p:sp>
      <p:sp>
        <p:nvSpPr>
          <p:cNvPr id="324" name="Titolo 2"/>
          <p:cNvSpPr>
            <a:spLocks noGrp="1"/>
          </p:cNvSpPr>
          <p:nvPr>
            <p:ph type="title"/>
          </p:nvPr>
        </p:nvSpPr>
        <p:spPr>
          <a:xfrm>
            <a:off x="933450" y="139837"/>
            <a:ext cx="7886700" cy="416756"/>
          </a:xfrm>
          <a:prstGeom prst="rect">
            <a:avLst/>
          </a:prstGeom>
        </p:spPr>
        <p:txBody>
          <a:bodyPr/>
          <a:lstStyle>
            <a:lvl1pPr defTabSz="557783">
              <a:defRPr sz="2300" b="1">
                <a:solidFill>
                  <a:srgbClr val="FFFFFF"/>
                </a:solidFill>
                <a:latin typeface="Times New Roman"/>
                <a:ea typeface="Times New Roman"/>
                <a:cs typeface="Times New Roman"/>
                <a:sym typeface="Times New Roman"/>
              </a:defRPr>
            </a:lvl1pPr>
          </a:lstStyle>
          <a:p>
            <a:r>
              <a:t>Tappe storiche</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Segnaposto testo 1"/>
          <p:cNvSpPr>
            <a:spLocks noGrp="1"/>
          </p:cNvSpPr>
          <p:nvPr>
            <p:ph type="body" idx="1"/>
          </p:nvPr>
        </p:nvSpPr>
        <p:spPr>
          <a:prstGeom prst="rect">
            <a:avLst/>
          </a:prstGeom>
        </p:spPr>
        <p:txBody>
          <a:bodyPr/>
          <a:lstStyle/>
          <a:p>
            <a:endParaRPr/>
          </a:p>
          <a:p>
            <a:pPr marL="0" indent="0" algn="just">
              <a:spcBef>
                <a:spcPts val="500"/>
              </a:spcBef>
              <a:buSzTx/>
              <a:buNone/>
              <a:defRPr sz="2400">
                <a:latin typeface="Times New Roman"/>
                <a:ea typeface="Times New Roman"/>
                <a:cs typeface="Times New Roman"/>
                <a:sym typeface="Times New Roman"/>
              </a:defRPr>
            </a:pPr>
            <a:r>
              <a:t>In ragione del fatto che la fase del processo è marcatamente accusatoria, mentre quella prodromica cd. procedimentale (fase delle indagini preliminari) conserva tuttora la caratteristica tipicamente inquisitoria della segretezza delle indagini.</a:t>
            </a:r>
          </a:p>
        </p:txBody>
      </p:sp>
      <p:sp>
        <p:nvSpPr>
          <p:cNvPr id="327" name="Titolo 2"/>
          <p:cNvSpPr>
            <a:spLocks noGrp="1"/>
          </p:cNvSpPr>
          <p:nvPr>
            <p:ph type="title"/>
          </p:nvPr>
        </p:nvSpPr>
        <p:spPr>
          <a:xfrm>
            <a:off x="504361" y="1377179"/>
            <a:ext cx="7886701" cy="761312"/>
          </a:xfrm>
          <a:prstGeom prst="rect">
            <a:avLst/>
          </a:prstGeom>
        </p:spPr>
        <p:txBody>
          <a:bodyPr/>
          <a:lstStyle/>
          <a:p>
            <a:pPr defTabSz="585215">
              <a:defRPr sz="2400" b="1">
                <a:solidFill>
                  <a:srgbClr val="FF0000"/>
                </a:solidFill>
                <a:latin typeface="Times New Roman"/>
                <a:ea typeface="Times New Roman"/>
                <a:cs typeface="Times New Roman"/>
                <a:sym typeface="Times New Roman"/>
              </a:defRPr>
            </a:pPr>
            <a:r>
              <a:t>«tendenzialmente accusatorio»</a:t>
            </a:r>
            <a:br/>
            <a:endParaRPr/>
          </a:p>
        </p:txBody>
      </p:sp>
      <p:sp>
        <p:nvSpPr>
          <p:cNvPr id="328" name="Rettangolo 3"/>
          <p:cNvSpPr/>
          <p:nvPr/>
        </p:nvSpPr>
        <p:spPr>
          <a:xfrm>
            <a:off x="803591" y="219372"/>
            <a:ext cx="2976966" cy="544074"/>
          </a:xfrm>
          <a:prstGeom prst="rect">
            <a:avLst/>
          </a:prstGeom>
          <a:ln w="12700">
            <a:miter lim="400000"/>
          </a:ln>
          <a:extLst>
            <a:ext uri="{C572A759-6A51-4108-AA02-DFA0A04FC94B}">
              <ma14:wrappingTextBoxFlag xmlns="" xmlns:ma14="http://schemas.microsoft.com/office/mac/drawingml/2011/main" val="1"/>
            </a:ext>
          </a:extLst>
        </p:spPr>
        <p:txBody>
          <a:bodyPr lIns="45718" tIns="45718" rIns="45718" bIns="45718">
            <a:spAutoFit/>
          </a:bodyPr>
          <a:lstStyle>
            <a:lvl1pPr>
              <a:defRPr sz="3200">
                <a:solidFill>
                  <a:srgbClr val="FFFFFF"/>
                </a:solidFill>
                <a:latin typeface="Times New Roman"/>
                <a:ea typeface="Times New Roman"/>
                <a:cs typeface="Times New Roman"/>
                <a:sym typeface="Times New Roman"/>
              </a:defRPr>
            </a:lvl1pPr>
          </a:lstStyle>
          <a:p>
            <a:r>
              <a:t>Tappe storiche</a:t>
            </a: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 name="Segnaposto testo 1"/>
          <p:cNvSpPr>
            <a:spLocks noGrp="1"/>
          </p:cNvSpPr>
          <p:nvPr>
            <p:ph type="body" idx="1"/>
          </p:nvPr>
        </p:nvSpPr>
        <p:spPr>
          <a:prstGeom prst="rect">
            <a:avLst/>
          </a:prstGeom>
        </p:spPr>
        <p:txBody>
          <a:bodyPr/>
          <a:lstStyle/>
          <a:p>
            <a:pPr marL="0" indent="0">
              <a:buSzTx/>
              <a:buNone/>
            </a:pPr>
            <a:r>
              <a:t>Il </a:t>
            </a:r>
            <a:r>
              <a:rPr>
                <a:solidFill>
                  <a:srgbClr val="FF0000"/>
                </a:solidFill>
              </a:rPr>
              <a:t>NUOVO CODICE DI PROCEDURA PENALE </a:t>
            </a:r>
            <a:r>
              <a:t>ha delineato un nuovo tipo di processo penale fondato su </a:t>
            </a:r>
            <a:r>
              <a:rPr b="1" u="sng">
                <a:solidFill>
                  <a:srgbClr val="FF0000"/>
                </a:solidFill>
              </a:rPr>
              <a:t>tre principi</a:t>
            </a:r>
            <a:r>
              <a:t>:</a:t>
            </a:r>
          </a:p>
          <a:p>
            <a:pPr marL="0" indent="0">
              <a:buSzTx/>
              <a:buNone/>
            </a:pPr>
            <a:endParaRPr/>
          </a:p>
          <a:p>
            <a:r>
              <a:t>il </a:t>
            </a:r>
            <a:r>
              <a:rPr b="1"/>
              <a:t>principio della separazione delle funzioni</a:t>
            </a:r>
            <a:r>
              <a:t> ;</a:t>
            </a:r>
          </a:p>
          <a:p>
            <a:r>
              <a:t>il </a:t>
            </a:r>
            <a:r>
              <a:rPr b="1"/>
              <a:t>principio della separazione delle fasi processuali</a:t>
            </a:r>
            <a:r>
              <a:t>;</a:t>
            </a:r>
          </a:p>
          <a:p>
            <a:r>
              <a:t>il </a:t>
            </a:r>
            <a:r>
              <a:rPr b="1"/>
              <a:t>principio della semplificazione del procedimento</a:t>
            </a:r>
            <a:r>
              <a:t>.</a:t>
            </a:r>
          </a:p>
        </p:txBody>
      </p:sp>
      <p:sp>
        <p:nvSpPr>
          <p:cNvPr id="331" name="Titolo 3"/>
          <p:cNvSpPr>
            <a:spLocks noGrp="1"/>
          </p:cNvSpPr>
          <p:nvPr>
            <p:ph type="title"/>
          </p:nvPr>
        </p:nvSpPr>
        <p:spPr>
          <a:xfrm>
            <a:off x="628650" y="-211925"/>
            <a:ext cx="7886700" cy="1325564"/>
          </a:xfrm>
          <a:prstGeom prst="rect">
            <a:avLst/>
          </a:prstGeom>
        </p:spPr>
        <p:txBody>
          <a:bodyPr/>
          <a:lstStyle>
            <a:lvl1pPr>
              <a:defRPr sz="3200">
                <a:solidFill>
                  <a:srgbClr val="FFFFFF"/>
                </a:solidFill>
                <a:latin typeface="Times New Roman"/>
                <a:ea typeface="Times New Roman"/>
                <a:cs typeface="Times New Roman"/>
                <a:sym typeface="Times New Roman"/>
              </a:defRPr>
            </a:lvl1pPr>
          </a:lstStyle>
          <a:p>
            <a:r>
              <a:t>Tappe storiche</a:t>
            </a: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 name="Segnaposto testo 1"/>
          <p:cNvSpPr>
            <a:spLocks noGrp="1"/>
          </p:cNvSpPr>
          <p:nvPr>
            <p:ph type="body" idx="1"/>
          </p:nvPr>
        </p:nvSpPr>
        <p:spPr>
          <a:xfrm>
            <a:off x="225286" y="901147"/>
            <a:ext cx="8680175" cy="5956854"/>
          </a:xfrm>
          <a:prstGeom prst="rect">
            <a:avLst/>
          </a:prstGeom>
        </p:spPr>
        <p:txBody>
          <a:bodyPr/>
          <a:lstStyle/>
          <a:p>
            <a:pPr algn="just">
              <a:lnSpc>
                <a:spcPct val="72000"/>
              </a:lnSpc>
              <a:defRPr sz="2100">
                <a:solidFill>
                  <a:srgbClr val="FF0000"/>
                </a:solidFill>
              </a:defRPr>
            </a:pPr>
            <a:r>
              <a:t>Il</a:t>
            </a:r>
            <a:r>
              <a:rPr b="1"/>
              <a:t> principio di separazione delle funzioni</a:t>
            </a:r>
            <a:r>
              <a:t> </a:t>
            </a:r>
            <a:r>
              <a:rPr>
                <a:solidFill>
                  <a:srgbClr val="000000"/>
                </a:solidFill>
              </a:rPr>
              <a:t>adempie ad un ruolo di garanzia, ogni soggetto del procedimento svolga le proprie funzioni e compiti senza interferire nelle altre. Il </a:t>
            </a:r>
            <a:r>
              <a:rPr b="1">
                <a:solidFill>
                  <a:srgbClr val="000000"/>
                </a:solidFill>
              </a:rPr>
              <a:t>giudice</a:t>
            </a:r>
            <a:r>
              <a:rPr>
                <a:solidFill>
                  <a:srgbClr val="000000"/>
                </a:solidFill>
              </a:rPr>
              <a:t> imparziale ha il compito di valutare le prove, </a:t>
            </a:r>
            <a:r>
              <a:rPr b="1">
                <a:solidFill>
                  <a:srgbClr val="000000"/>
                </a:solidFill>
              </a:rPr>
              <a:t>il pubblico ministero</a:t>
            </a:r>
            <a:r>
              <a:rPr>
                <a:solidFill>
                  <a:srgbClr val="000000"/>
                </a:solidFill>
              </a:rPr>
              <a:t> di ricercale, assicurando la dialettica processuale paritaria tra le parti, </a:t>
            </a:r>
            <a:r>
              <a:rPr b="1">
                <a:solidFill>
                  <a:srgbClr val="000000"/>
                </a:solidFill>
              </a:rPr>
              <a:t>accusa e difesa</a:t>
            </a:r>
            <a:r>
              <a:rPr>
                <a:solidFill>
                  <a:srgbClr val="000000"/>
                </a:solidFill>
              </a:rPr>
              <a:t>, che avviene sotto il controllo </a:t>
            </a:r>
            <a:r>
              <a:rPr i="1">
                <a:solidFill>
                  <a:srgbClr val="000000"/>
                </a:solidFill>
              </a:rPr>
              <a:t>super partes</a:t>
            </a:r>
            <a:r>
              <a:rPr>
                <a:solidFill>
                  <a:srgbClr val="000000"/>
                </a:solidFill>
              </a:rPr>
              <a:t> del giudice.</a:t>
            </a:r>
          </a:p>
          <a:p>
            <a:pPr marL="0" indent="0" algn="just">
              <a:lnSpc>
                <a:spcPct val="72000"/>
              </a:lnSpc>
              <a:buSzTx/>
              <a:buNone/>
              <a:defRPr sz="2100"/>
            </a:pPr>
            <a:endParaRPr>
              <a:solidFill>
                <a:srgbClr val="000000"/>
              </a:solidFill>
            </a:endParaRPr>
          </a:p>
          <a:p>
            <a:pPr algn="just">
              <a:lnSpc>
                <a:spcPct val="72000"/>
              </a:lnSpc>
              <a:defRPr sz="2100">
                <a:solidFill>
                  <a:srgbClr val="FF0000"/>
                </a:solidFill>
              </a:defRPr>
            </a:pPr>
            <a:r>
              <a:t>Il </a:t>
            </a:r>
            <a:r>
              <a:rPr b="1"/>
              <a:t>principio della separazione delle fasi processuali</a:t>
            </a:r>
            <a:r>
              <a:t> </a:t>
            </a:r>
            <a:r>
              <a:rPr>
                <a:solidFill>
                  <a:srgbClr val="000000"/>
                </a:solidFill>
              </a:rPr>
              <a:t>si esprime nella netta ripartizione di quest’ultime. Il procedimento penale si sviluppa nelle </a:t>
            </a:r>
            <a:r>
              <a:rPr b="1">
                <a:solidFill>
                  <a:srgbClr val="000000"/>
                </a:solidFill>
              </a:rPr>
              <a:t>indagini preliminari</a:t>
            </a:r>
            <a:r>
              <a:rPr>
                <a:solidFill>
                  <a:srgbClr val="000000"/>
                </a:solidFill>
              </a:rPr>
              <a:t>, nell’</a:t>
            </a:r>
            <a:r>
              <a:rPr b="1">
                <a:solidFill>
                  <a:srgbClr val="000000"/>
                </a:solidFill>
              </a:rPr>
              <a:t>udienza preliminare </a:t>
            </a:r>
            <a:r>
              <a:rPr>
                <a:solidFill>
                  <a:srgbClr val="000000"/>
                </a:solidFill>
              </a:rPr>
              <a:t>e nel </a:t>
            </a:r>
            <a:r>
              <a:rPr b="1">
                <a:solidFill>
                  <a:srgbClr val="000000"/>
                </a:solidFill>
              </a:rPr>
              <a:t>dibattimento</a:t>
            </a:r>
            <a:r>
              <a:rPr>
                <a:solidFill>
                  <a:srgbClr val="000000"/>
                </a:solidFill>
              </a:rPr>
              <a:t>. </a:t>
            </a:r>
          </a:p>
          <a:p>
            <a:pPr marL="0" indent="0" algn="just">
              <a:lnSpc>
                <a:spcPct val="72000"/>
              </a:lnSpc>
              <a:buSzTx/>
              <a:buNone/>
              <a:defRPr sz="2100"/>
            </a:pPr>
            <a:endParaRPr>
              <a:solidFill>
                <a:srgbClr val="000000"/>
              </a:solidFill>
            </a:endParaRPr>
          </a:p>
          <a:p>
            <a:pPr algn="just">
              <a:lnSpc>
                <a:spcPct val="72000"/>
              </a:lnSpc>
              <a:defRPr sz="2100">
                <a:solidFill>
                  <a:srgbClr val="FF0000"/>
                </a:solidFill>
              </a:defRPr>
            </a:pPr>
            <a:r>
              <a:t>Il</a:t>
            </a:r>
            <a:r>
              <a:rPr b="1"/>
              <a:t> principio della semplificazione del procedimento</a:t>
            </a:r>
            <a:r>
              <a:rPr>
                <a:solidFill>
                  <a:srgbClr val="000000"/>
                </a:solidFill>
              </a:rPr>
              <a:t>:</a:t>
            </a:r>
            <a:r>
              <a:rPr b="1">
                <a:solidFill>
                  <a:srgbClr val="000000"/>
                </a:solidFill>
              </a:rPr>
              <a:t> </a:t>
            </a:r>
            <a:r>
              <a:rPr>
                <a:solidFill>
                  <a:srgbClr val="000000"/>
                </a:solidFill>
              </a:rPr>
              <a:t>lo svolgimento ordinario, secondo le fasi appena delineate, impone ampie garanzie e richiede tempi molto lunghi, comportando di conseguenza un grosso dispendio di risorse e di mezzi. Per tale motivo, l’ordinamento prevede meccanismi di semplificazione che riservano la </a:t>
            </a:r>
            <a:r>
              <a:rPr b="1" u="sng"/>
              <a:t>procedura ordinaria solo ai casi più gravi</a:t>
            </a:r>
            <a:r>
              <a:rPr>
                <a:solidFill>
                  <a:srgbClr val="000000"/>
                </a:solidFill>
              </a:rPr>
              <a:t>. Sono previsti, infatti, riti semplificati, che possono omettere il dibattimento, terminando il procedimento nell’udienza preliminare sulla base degli atti assunti nelle indagini preliminari (giudizio abbreviato); oppure riti che possono omettere l’udienza preliminare, passando direttamente al dibattimento (giudizio immediato e direttissimo).</a:t>
            </a:r>
          </a:p>
        </p:txBody>
      </p:sp>
      <p:sp>
        <p:nvSpPr>
          <p:cNvPr id="334" name="Titolo 3"/>
          <p:cNvSpPr>
            <a:spLocks noGrp="1"/>
          </p:cNvSpPr>
          <p:nvPr>
            <p:ph type="title"/>
          </p:nvPr>
        </p:nvSpPr>
        <p:spPr>
          <a:xfrm>
            <a:off x="713004" y="140224"/>
            <a:ext cx="8104187" cy="469794"/>
          </a:xfrm>
          <a:prstGeom prst="rect">
            <a:avLst/>
          </a:prstGeom>
        </p:spPr>
        <p:txBody>
          <a:bodyPr/>
          <a:lstStyle>
            <a:lvl1pPr defTabSz="777240">
              <a:defRPr sz="2700">
                <a:solidFill>
                  <a:srgbClr val="FFFFFF"/>
                </a:solidFill>
                <a:latin typeface="Times New Roman"/>
                <a:ea typeface="Times New Roman"/>
                <a:cs typeface="Times New Roman"/>
                <a:sym typeface="Times New Roman"/>
              </a:defRPr>
            </a:lvl1pPr>
          </a:lstStyle>
          <a:p>
            <a:r>
              <a:t>Tappe storiche</a:t>
            </a: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 name="Segnaposto testo 1"/>
          <p:cNvSpPr>
            <a:spLocks noGrp="1"/>
          </p:cNvSpPr>
          <p:nvPr>
            <p:ph type="body" idx="1"/>
          </p:nvPr>
        </p:nvSpPr>
        <p:spPr>
          <a:xfrm>
            <a:off x="628650" y="1356594"/>
            <a:ext cx="7886700" cy="4820370"/>
          </a:xfrm>
          <a:prstGeom prst="rect">
            <a:avLst/>
          </a:prstGeom>
        </p:spPr>
        <p:txBody>
          <a:bodyPr/>
          <a:lstStyle/>
          <a:p>
            <a:pPr marL="0" indent="0" algn="just">
              <a:buSzTx/>
              <a:buNone/>
              <a:defRPr b="1"/>
            </a:pPr>
            <a:r>
              <a:t>Nel 1999  --riforma costituzionale </a:t>
            </a:r>
          </a:p>
          <a:p>
            <a:pPr marL="0" indent="0" algn="just">
              <a:buSzTx/>
              <a:buNone/>
              <a:defRPr b="1"/>
            </a:pPr>
            <a:endParaRPr/>
          </a:p>
          <a:p>
            <a:pPr marL="0" indent="0" algn="just">
              <a:buSzTx/>
              <a:buNone/>
            </a:pPr>
            <a:r>
              <a:t>ha modificato </a:t>
            </a:r>
            <a:r>
              <a:rPr u="sng">
                <a:solidFill>
                  <a:srgbClr val="FF0000"/>
                </a:solidFill>
              </a:rPr>
              <a:t>l’art. 111 della Cost</a:t>
            </a:r>
            <a:r>
              <a:t>. rendendo espliciti tutta una serie di principi affermando, tra l’altro, il </a:t>
            </a:r>
            <a:r>
              <a:rPr b="1">
                <a:solidFill>
                  <a:srgbClr val="FF0000"/>
                </a:solidFill>
              </a:rPr>
              <a:t>principio del contraddittorio</a:t>
            </a:r>
            <a:r>
              <a:rPr>
                <a:solidFill>
                  <a:srgbClr val="FF0000"/>
                </a:solidFill>
              </a:rPr>
              <a:t> </a:t>
            </a:r>
            <a:r>
              <a:t>nella formazione della prova. </a:t>
            </a:r>
          </a:p>
          <a:p>
            <a:pPr marL="0" indent="0" algn="just">
              <a:buSzTx/>
              <a:buNone/>
            </a:pPr>
            <a:r>
              <a:t>Il legislatore ha introdotto due nuovi commi che consacrano i principi cardine a cui deve ispirarsi la procedura penale e che sono sintetizzati nell’espressione “giusto processo”. </a:t>
            </a:r>
          </a:p>
        </p:txBody>
      </p:sp>
      <p:sp>
        <p:nvSpPr>
          <p:cNvPr id="337" name="Titolo 3"/>
          <p:cNvSpPr>
            <a:spLocks noGrp="1"/>
          </p:cNvSpPr>
          <p:nvPr>
            <p:ph type="title"/>
          </p:nvPr>
        </p:nvSpPr>
        <p:spPr>
          <a:xfrm>
            <a:off x="557628" y="-238557"/>
            <a:ext cx="7886701" cy="1325563"/>
          </a:xfrm>
          <a:prstGeom prst="rect">
            <a:avLst/>
          </a:prstGeom>
        </p:spPr>
        <p:txBody>
          <a:bodyPr/>
          <a:lstStyle>
            <a:lvl1pPr>
              <a:defRPr sz="3200">
                <a:solidFill>
                  <a:srgbClr val="FFFFFF"/>
                </a:solidFill>
                <a:latin typeface="Times New Roman"/>
                <a:ea typeface="Times New Roman"/>
                <a:cs typeface="Times New Roman"/>
                <a:sym typeface="Times New Roman"/>
              </a:defRPr>
            </a:lvl1pPr>
          </a:lstStyle>
          <a:p>
            <a:r>
              <a:t>Tappe storiche</a:t>
            </a: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 name="Segnaposto testo 1"/>
          <p:cNvSpPr>
            <a:spLocks noGrp="1"/>
          </p:cNvSpPr>
          <p:nvPr>
            <p:ph type="body" idx="1"/>
          </p:nvPr>
        </p:nvSpPr>
        <p:spPr>
          <a:xfrm>
            <a:off x="628650" y="1086676"/>
            <a:ext cx="7886700" cy="5592420"/>
          </a:xfrm>
          <a:prstGeom prst="rect">
            <a:avLst/>
          </a:prstGeom>
        </p:spPr>
        <p:txBody>
          <a:bodyPr/>
          <a:lstStyle/>
          <a:p>
            <a:pPr algn="just">
              <a:lnSpc>
                <a:spcPct val="72000"/>
              </a:lnSpc>
              <a:defRPr sz="2500"/>
            </a:pPr>
            <a:r>
              <a:t>la </a:t>
            </a:r>
            <a:r>
              <a:rPr b="1"/>
              <a:t>riserva di legge</a:t>
            </a:r>
            <a:r>
              <a:t> in materia processuale: solo il legislatore può regolare lo svolgimento del processo penale;</a:t>
            </a:r>
          </a:p>
          <a:p>
            <a:pPr algn="just">
              <a:lnSpc>
                <a:spcPct val="72000"/>
              </a:lnSpc>
              <a:defRPr sz="2500"/>
            </a:pPr>
            <a:endParaRPr/>
          </a:p>
          <a:p>
            <a:pPr algn="just">
              <a:lnSpc>
                <a:spcPct val="72000"/>
              </a:lnSpc>
              <a:defRPr sz="2500"/>
            </a:pPr>
            <a:r>
              <a:t>il </a:t>
            </a:r>
            <a:r>
              <a:rPr b="1"/>
              <a:t>principio del contraddittorio</a:t>
            </a:r>
            <a:r>
              <a:t>: la decisione del giudice deve essere emanata “</a:t>
            </a:r>
            <a:r>
              <a:rPr i="1"/>
              <a:t>audita altera parte” (Udita l’altra parte). </a:t>
            </a:r>
            <a:r>
              <a:t>Una prova che sia attendibile non si forma unilateralmente, ma con metodo dialettico attraverso </a:t>
            </a:r>
            <a:r>
              <a:rPr u="sng"/>
              <a:t>l’esame incrociato</a:t>
            </a:r>
            <a:r>
              <a:t>. (Esame diretto – controesame – Riesame)</a:t>
            </a:r>
          </a:p>
          <a:p>
            <a:pPr algn="just">
              <a:lnSpc>
                <a:spcPct val="72000"/>
              </a:lnSpc>
              <a:defRPr sz="2500"/>
            </a:pPr>
            <a:endParaRPr/>
          </a:p>
          <a:p>
            <a:pPr algn="just">
              <a:lnSpc>
                <a:spcPct val="72000"/>
              </a:lnSpc>
              <a:defRPr sz="2500"/>
            </a:pPr>
            <a:r>
              <a:t>la </a:t>
            </a:r>
            <a:r>
              <a:rPr b="1"/>
              <a:t>parità delle parti</a:t>
            </a:r>
            <a:r>
              <a:t> che non significa identità, ma equilibrio dei poteri, nel senso che eventuali asimmetrie, che ci possono essere, devono essere giustificate dal principio di ragionevolezza considerando la posizione istituzionale degli attori coinvolti;  </a:t>
            </a:r>
          </a:p>
        </p:txBody>
      </p:sp>
      <p:sp>
        <p:nvSpPr>
          <p:cNvPr id="340" name="Titolo 3"/>
          <p:cNvSpPr>
            <a:spLocks noGrp="1"/>
          </p:cNvSpPr>
          <p:nvPr>
            <p:ph type="title"/>
          </p:nvPr>
        </p:nvSpPr>
        <p:spPr>
          <a:xfrm>
            <a:off x="779570" y="166822"/>
            <a:ext cx="7886701" cy="544440"/>
          </a:xfrm>
          <a:prstGeom prst="rect">
            <a:avLst/>
          </a:prstGeom>
        </p:spPr>
        <p:txBody>
          <a:bodyPr/>
          <a:lstStyle>
            <a:lvl1pPr>
              <a:defRPr sz="3200">
                <a:solidFill>
                  <a:srgbClr val="FFFFFF"/>
                </a:solidFill>
                <a:latin typeface="Times New Roman"/>
                <a:ea typeface="Times New Roman"/>
                <a:cs typeface="Times New Roman"/>
                <a:sym typeface="Times New Roman"/>
              </a:defRPr>
            </a:lvl1pPr>
          </a:lstStyle>
          <a:p>
            <a:r>
              <a:t>Tappe storiche</a:t>
            </a: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 name="Segnaposto testo 1"/>
          <p:cNvSpPr>
            <a:spLocks noGrp="1"/>
          </p:cNvSpPr>
          <p:nvPr>
            <p:ph type="body" idx="1"/>
          </p:nvPr>
        </p:nvSpPr>
        <p:spPr>
          <a:xfrm>
            <a:off x="628650" y="927652"/>
            <a:ext cx="7886700" cy="5249311"/>
          </a:xfrm>
          <a:prstGeom prst="rect">
            <a:avLst/>
          </a:prstGeom>
        </p:spPr>
        <p:txBody>
          <a:bodyPr/>
          <a:lstStyle/>
          <a:p>
            <a:pPr algn="just">
              <a:lnSpc>
                <a:spcPct val="81000"/>
              </a:lnSpc>
              <a:defRPr sz="2500"/>
            </a:pPr>
            <a:r>
              <a:t>il</a:t>
            </a:r>
            <a:r>
              <a:rPr b="1"/>
              <a:t> giudice imparziale</a:t>
            </a:r>
            <a:r>
              <a:t>: il processo si deve svolgere davanti a un giudice terzo e imparziale che non abbia legami con le parti coinvolte. La terzietà implica, inoltre, che il giudice non deve cumulare su di esso altre funzioni processuali (ribandendo il principio della separazione delle funzioni processuali tra giudice, accusa e difesa);</a:t>
            </a:r>
          </a:p>
          <a:p>
            <a:pPr algn="just">
              <a:lnSpc>
                <a:spcPct val="81000"/>
              </a:lnSpc>
              <a:defRPr sz="2500"/>
            </a:pPr>
            <a:endParaRPr/>
          </a:p>
          <a:p>
            <a:pPr algn="just">
              <a:lnSpc>
                <a:spcPct val="81000"/>
              </a:lnSpc>
              <a:defRPr sz="2500"/>
            </a:pPr>
            <a:r>
              <a:t>la </a:t>
            </a:r>
            <a:r>
              <a:rPr b="1"/>
              <a:t>ragionevole durata del processo</a:t>
            </a:r>
            <a:r>
              <a:t>: questo principio, la cui attuazione è rimessa al legislatore, deve essere concretizzato </a:t>
            </a:r>
            <a:r>
              <a:rPr u="sng">
                <a:solidFill>
                  <a:srgbClr val="FF0000"/>
                </a:solidFill>
              </a:rPr>
              <a:t>senza compromettere le garanzie dell’imputato e la qualità dell’accertamento</a:t>
            </a:r>
            <a:r>
              <a:t>, anzi va, con esse, contemperato. Il bilanciamento tra le due opposte istanze è proprio implicito nel termine ragionevole che si riferisce alla durata del processo.</a:t>
            </a:r>
          </a:p>
        </p:txBody>
      </p:sp>
      <p:sp>
        <p:nvSpPr>
          <p:cNvPr id="343" name="Titolo 3"/>
          <p:cNvSpPr>
            <a:spLocks noGrp="1"/>
          </p:cNvSpPr>
          <p:nvPr>
            <p:ph type="title"/>
          </p:nvPr>
        </p:nvSpPr>
        <p:spPr>
          <a:xfrm>
            <a:off x="770692" y="148538"/>
            <a:ext cx="7886701" cy="535678"/>
          </a:xfrm>
          <a:prstGeom prst="rect">
            <a:avLst/>
          </a:prstGeom>
        </p:spPr>
        <p:txBody>
          <a:bodyPr/>
          <a:lstStyle>
            <a:lvl1pPr defTabSz="557783">
              <a:defRPr sz="3100">
                <a:solidFill>
                  <a:srgbClr val="FFFFFF"/>
                </a:solidFill>
                <a:latin typeface="Times New Roman"/>
                <a:ea typeface="Times New Roman"/>
                <a:cs typeface="Times New Roman"/>
                <a:sym typeface="Times New Roman"/>
              </a:defRPr>
            </a:lvl1pPr>
          </a:lstStyle>
          <a:p>
            <a:r>
              <a:t>Tappe storiche</a:t>
            </a: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 name="Sancito dal comma 4 dell’art.111 Cost.…"/>
          <p:cNvSpPr>
            <a:spLocks noGrp="1"/>
          </p:cNvSpPr>
          <p:nvPr>
            <p:ph type="body" idx="1"/>
          </p:nvPr>
        </p:nvSpPr>
        <p:spPr>
          <a:xfrm>
            <a:off x="628650" y="1155368"/>
            <a:ext cx="7886700" cy="5021596"/>
          </a:xfrm>
          <a:prstGeom prst="rect">
            <a:avLst/>
          </a:prstGeom>
        </p:spPr>
        <p:txBody>
          <a:bodyPr/>
          <a:lstStyle/>
          <a:p>
            <a:r>
              <a:t>Sancito dal comma 4 dell’art.111 Cost.</a:t>
            </a:r>
          </a:p>
          <a:p>
            <a:endParaRPr/>
          </a:p>
          <a:p>
            <a:pPr marL="0" indent="0" algn="ctr">
              <a:buSzTx/>
              <a:buNone/>
              <a:defRPr b="1" u="sng">
                <a:solidFill>
                  <a:srgbClr val="FF0000"/>
                </a:solidFill>
              </a:defRPr>
            </a:pPr>
            <a:r>
              <a:t>RIGUARDA LA FORMAZIONE DELLA PROVA</a:t>
            </a:r>
            <a:r>
              <a:rPr>
                <a:solidFill>
                  <a:srgbClr val="000000"/>
                </a:solidFill>
              </a:rPr>
              <a:t> </a:t>
            </a:r>
          </a:p>
          <a:p>
            <a:endParaRPr b="1" u="sng"/>
          </a:p>
          <a:p>
            <a:endParaRPr b="1" u="sng"/>
          </a:p>
          <a:p>
            <a:pPr algn="just"/>
            <a:r>
              <a:t>Una prova che sia attendibile non si forma unilateralmente, ma con metodo dialettico attraverso</a:t>
            </a:r>
            <a:r>
              <a:rPr b="1" u="sng">
                <a:solidFill>
                  <a:srgbClr val="FF0000"/>
                </a:solidFill>
              </a:rPr>
              <a:t> l’esame incrociato </a:t>
            </a:r>
            <a:r>
              <a:rPr sz="2000"/>
              <a:t>(ESAME DIRETTO- CONTROESAME- RIESAME)</a:t>
            </a:r>
          </a:p>
        </p:txBody>
      </p:sp>
      <p:sp>
        <p:nvSpPr>
          <p:cNvPr id="346" name="Il Principio del Contraddittorio"/>
          <p:cNvSpPr>
            <a:spLocks noGrp="1"/>
          </p:cNvSpPr>
          <p:nvPr>
            <p:ph type="title"/>
          </p:nvPr>
        </p:nvSpPr>
        <p:spPr>
          <a:xfrm>
            <a:off x="628650" y="69376"/>
            <a:ext cx="7886700" cy="853898"/>
          </a:xfrm>
          <a:prstGeom prst="rect">
            <a:avLst/>
          </a:prstGeom>
        </p:spPr>
        <p:txBody>
          <a:bodyPr/>
          <a:lstStyle>
            <a:lvl1pPr>
              <a:defRPr>
                <a:solidFill>
                  <a:srgbClr val="FFFFFF"/>
                </a:solidFill>
              </a:defRPr>
            </a:lvl1pPr>
          </a:lstStyle>
          <a:p>
            <a:r>
              <a:t>Il Principio del Contraddittorio</a:t>
            </a: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 name="Segnaposto testo 1"/>
          <p:cNvSpPr>
            <a:spLocks noGrp="1"/>
          </p:cNvSpPr>
          <p:nvPr>
            <p:ph type="body" idx="1"/>
          </p:nvPr>
        </p:nvSpPr>
        <p:spPr>
          <a:xfrm>
            <a:off x="628650" y="970691"/>
            <a:ext cx="7886700" cy="5691810"/>
          </a:xfrm>
          <a:prstGeom prst="rect">
            <a:avLst/>
          </a:prstGeom>
        </p:spPr>
        <p:txBody>
          <a:bodyPr/>
          <a:lstStyle/>
          <a:p>
            <a:pPr marL="0" indent="0" algn="just" defTabSz="822958">
              <a:lnSpc>
                <a:spcPct val="72000"/>
              </a:lnSpc>
              <a:spcBef>
                <a:spcPts val="900"/>
              </a:spcBef>
              <a:buSzTx/>
              <a:buNone/>
              <a:defRPr sz="1700">
                <a:latin typeface="Times New Roman"/>
                <a:ea typeface="Times New Roman"/>
                <a:cs typeface="Times New Roman"/>
                <a:sym typeface="Times New Roman"/>
              </a:defRPr>
            </a:pPr>
            <a:r>
              <a:t>la </a:t>
            </a:r>
            <a:r>
              <a:rPr b="1"/>
              <a:t>PROVA</a:t>
            </a:r>
            <a:r>
              <a:t> è utilizzabile, anche se si è formata fuori dal contraddittorio, per:</a:t>
            </a:r>
          </a:p>
          <a:p>
            <a:pPr marL="0" indent="0" algn="just" defTabSz="822958">
              <a:lnSpc>
                <a:spcPct val="72000"/>
              </a:lnSpc>
              <a:spcBef>
                <a:spcPts val="900"/>
              </a:spcBef>
              <a:buSzTx/>
              <a:buNone/>
              <a:defRPr sz="1700">
                <a:latin typeface="Times New Roman"/>
                <a:ea typeface="Times New Roman"/>
                <a:cs typeface="Times New Roman"/>
                <a:sym typeface="Times New Roman"/>
              </a:defRPr>
            </a:pPr>
            <a:endParaRPr/>
          </a:p>
          <a:p>
            <a:pPr marL="205738" indent="-205738" algn="just" defTabSz="822958">
              <a:lnSpc>
                <a:spcPct val="100000"/>
              </a:lnSpc>
              <a:spcBef>
                <a:spcPts val="900"/>
              </a:spcBef>
              <a:defRPr sz="1800">
                <a:latin typeface="Times New Roman"/>
                <a:ea typeface="Times New Roman"/>
                <a:cs typeface="Times New Roman"/>
                <a:sym typeface="Times New Roman"/>
              </a:defRPr>
            </a:pPr>
            <a:r>
              <a:t>il </a:t>
            </a:r>
            <a:r>
              <a:rPr b="1"/>
              <a:t>consenso dell’imputato: </a:t>
            </a:r>
            <a:r>
              <a:t>il legislatore può prevedere ipotesi ove il consenso dell’imputato, unitamente ad altri presupposti, determini un’acquisizione di elementi di prova formati unilateralmente.  </a:t>
            </a:r>
            <a:r>
              <a:rPr sz="1700" i="1"/>
              <a:t>Ad esempio, ciò avviene nel </a:t>
            </a:r>
            <a:r>
              <a:rPr sz="1700" i="1" u="sng"/>
              <a:t>giudizio abbreviato</a:t>
            </a:r>
            <a:r>
              <a:rPr sz="1700" i="1"/>
              <a:t>, in cui il consenso rende utilizzabili le prove acquisite in maniera unilaterale.</a:t>
            </a:r>
          </a:p>
          <a:p>
            <a:pPr marL="205738" indent="-205738" algn="just" defTabSz="822958">
              <a:lnSpc>
                <a:spcPct val="100000"/>
              </a:lnSpc>
              <a:spcBef>
                <a:spcPts val="900"/>
              </a:spcBef>
              <a:defRPr sz="1800">
                <a:latin typeface="Times New Roman"/>
                <a:ea typeface="Times New Roman"/>
                <a:cs typeface="Times New Roman"/>
                <a:sym typeface="Times New Roman"/>
              </a:defRPr>
            </a:pPr>
            <a:endParaRPr sz="1700" i="1"/>
          </a:p>
          <a:p>
            <a:pPr marL="205738" indent="-205738" algn="just" defTabSz="822958">
              <a:lnSpc>
                <a:spcPct val="100000"/>
              </a:lnSpc>
              <a:spcBef>
                <a:spcPts val="900"/>
              </a:spcBef>
              <a:defRPr sz="1800">
                <a:latin typeface="Times New Roman"/>
                <a:ea typeface="Times New Roman"/>
                <a:cs typeface="Times New Roman"/>
                <a:sym typeface="Times New Roman"/>
              </a:defRPr>
            </a:pPr>
            <a:r>
              <a:t>l’</a:t>
            </a:r>
            <a:r>
              <a:rPr b="1"/>
              <a:t>accertata impossibilità di natura oggettiva: </a:t>
            </a:r>
            <a:r>
              <a:t> </a:t>
            </a:r>
            <a:r>
              <a:rPr b="1" u="sng">
                <a:solidFill>
                  <a:srgbClr val="FF0000"/>
                </a:solidFill>
              </a:rPr>
              <a:t>situazioni di non ripetibilità originaria o sopravvenuta.</a:t>
            </a:r>
            <a:r>
              <a:rPr b="1">
                <a:solidFill>
                  <a:srgbClr val="FF0000"/>
                </a:solidFill>
              </a:rPr>
              <a:t> </a:t>
            </a:r>
            <a:r>
              <a:t>Si pensi alle cose soggette a modificazioni non evitabili, oppure alla </a:t>
            </a:r>
            <a:r>
              <a:rPr u="sng"/>
              <a:t>morte o alla grave infermità del dichiarante</a:t>
            </a:r>
            <a:r>
              <a:t>. Occorre che non sia più possibile assumere quel determinato elemento.</a:t>
            </a:r>
          </a:p>
          <a:p>
            <a:pPr marL="205738" indent="-205738" algn="just" defTabSz="822958">
              <a:lnSpc>
                <a:spcPct val="100000"/>
              </a:lnSpc>
              <a:spcBef>
                <a:spcPts val="900"/>
              </a:spcBef>
              <a:defRPr sz="1800">
                <a:latin typeface="Times New Roman"/>
                <a:ea typeface="Times New Roman"/>
                <a:cs typeface="Times New Roman"/>
                <a:sym typeface="Times New Roman"/>
              </a:defRPr>
            </a:pPr>
            <a:endParaRPr/>
          </a:p>
          <a:p>
            <a:pPr marL="205738" indent="-205738" algn="just" defTabSz="822958">
              <a:lnSpc>
                <a:spcPct val="100000"/>
              </a:lnSpc>
              <a:spcBef>
                <a:spcPts val="900"/>
              </a:spcBef>
              <a:defRPr sz="1800">
                <a:latin typeface="Times New Roman"/>
                <a:ea typeface="Times New Roman"/>
                <a:cs typeface="Times New Roman"/>
                <a:sym typeface="Times New Roman"/>
              </a:defRPr>
            </a:pPr>
            <a:r>
              <a:t>la </a:t>
            </a:r>
            <a:r>
              <a:rPr b="1"/>
              <a:t>provata condotta illecita</a:t>
            </a:r>
            <a:r>
              <a:t> si riferisce a quei </a:t>
            </a:r>
            <a:r>
              <a:rPr u="sng">
                <a:solidFill>
                  <a:srgbClr val="FF0000"/>
                </a:solidFill>
              </a:rPr>
              <a:t>comportamenti contrari al diritto finalizzati a indurre il dichiarante a sottrarsi al contraddittorio</a:t>
            </a:r>
            <a:r>
              <a:t>. Per evitare che qualcuno inquini il contraddittorio, il processo deve poter utilizzare le precedenti dichiarazioni poiché l’esigenza di accertamento dei fatti ha un indubbio valore costituzionale.</a:t>
            </a:r>
          </a:p>
        </p:txBody>
      </p:sp>
      <p:sp>
        <p:nvSpPr>
          <p:cNvPr id="349" name="Titolo 3"/>
          <p:cNvSpPr>
            <a:spLocks noGrp="1"/>
          </p:cNvSpPr>
          <p:nvPr>
            <p:ph type="title"/>
          </p:nvPr>
        </p:nvSpPr>
        <p:spPr>
          <a:xfrm>
            <a:off x="628649" y="150396"/>
            <a:ext cx="8257900" cy="978731"/>
          </a:xfrm>
          <a:prstGeom prst="rect">
            <a:avLst/>
          </a:prstGeom>
        </p:spPr>
        <p:txBody>
          <a:bodyPr/>
          <a:lstStyle/>
          <a:p>
            <a:pPr>
              <a:defRPr sz="3200" b="1" u="sng">
                <a:solidFill>
                  <a:srgbClr val="FF0000"/>
                </a:solidFill>
                <a:latin typeface="Times New Roman"/>
                <a:ea typeface="Times New Roman"/>
                <a:cs typeface="Times New Roman"/>
                <a:sym typeface="Times New Roman"/>
              </a:defRPr>
            </a:pPr>
            <a:r>
              <a:t>ECCEZIONI</a:t>
            </a:r>
            <a:r>
              <a:rPr u="none"/>
              <a:t> </a:t>
            </a:r>
            <a:r>
              <a:rPr u="none">
                <a:solidFill>
                  <a:srgbClr val="FFFFFF"/>
                </a:solidFill>
              </a:rPr>
              <a:t>al principio del contraddittorio</a:t>
            </a:r>
            <a:r>
              <a:rPr b="0" u="none">
                <a:solidFill>
                  <a:srgbClr val="FFFFFF"/>
                </a:solidFill>
              </a:rPr>
              <a:t>:</a:t>
            </a:r>
            <a:br>
              <a:rPr b="0" u="none">
                <a:solidFill>
                  <a:srgbClr val="FFFFFF"/>
                </a:solidFill>
              </a:rPr>
            </a:br>
            <a:endParaRPr b="0" u="none">
              <a:solidFill>
                <a:srgbClr val="FFFFFF"/>
              </a:solidFill>
            </a:endParaRP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 name="Segnaposto testo 1"/>
          <p:cNvSpPr>
            <a:spLocks noGrp="1"/>
          </p:cNvSpPr>
          <p:nvPr>
            <p:ph type="body" idx="1"/>
          </p:nvPr>
        </p:nvSpPr>
        <p:spPr>
          <a:xfrm>
            <a:off x="628650" y="1109708"/>
            <a:ext cx="7886700" cy="5539669"/>
          </a:xfrm>
          <a:prstGeom prst="rect">
            <a:avLst/>
          </a:prstGeom>
        </p:spPr>
        <p:txBody>
          <a:bodyPr/>
          <a:lstStyle/>
          <a:p>
            <a:pPr marL="0" indent="0" algn="just" defTabSz="896111">
              <a:lnSpc>
                <a:spcPct val="81000"/>
              </a:lnSpc>
              <a:spcBef>
                <a:spcPts val="900"/>
              </a:spcBef>
              <a:buSzTx/>
              <a:buNone/>
              <a:defRPr sz="2700"/>
            </a:pPr>
            <a:r>
              <a:rPr dirty="0" err="1"/>
              <a:t>L’obiettivo</a:t>
            </a:r>
            <a:r>
              <a:rPr dirty="0"/>
              <a:t> della </a:t>
            </a:r>
            <a:r>
              <a:rPr dirty="0" err="1"/>
              <a:t>riforma</a:t>
            </a:r>
            <a:r>
              <a:rPr dirty="0"/>
              <a:t>, è </a:t>
            </a:r>
            <a:r>
              <a:rPr dirty="0" err="1"/>
              <a:t>quello</a:t>
            </a:r>
            <a:r>
              <a:rPr dirty="0"/>
              <a:t> di </a:t>
            </a:r>
            <a:r>
              <a:rPr b="1" u="sng" dirty="0" err="1"/>
              <a:t>diminuire</a:t>
            </a:r>
            <a:r>
              <a:rPr lang="it-IT" b="1" u="sng" dirty="0"/>
              <a:t> </a:t>
            </a:r>
            <a:r>
              <a:rPr b="1" u="sng" dirty="0" err="1"/>
              <a:t>i</a:t>
            </a:r>
            <a:r>
              <a:rPr b="1" u="sng" dirty="0"/>
              <a:t> </a:t>
            </a:r>
            <a:r>
              <a:rPr b="1" u="sng" dirty="0" err="1"/>
              <a:t>processi</a:t>
            </a:r>
            <a:r>
              <a:rPr b="1" u="sng" dirty="0"/>
              <a:t> “</a:t>
            </a:r>
            <a:r>
              <a:rPr b="1" u="sng" dirty="0" err="1"/>
              <a:t>inutili</a:t>
            </a:r>
            <a:r>
              <a:rPr b="1" u="sng" dirty="0"/>
              <a:t>”, </a:t>
            </a:r>
            <a:r>
              <a:rPr dirty="0"/>
              <a:t>al fine di </a:t>
            </a:r>
            <a:r>
              <a:rPr dirty="0" err="1"/>
              <a:t>poter</a:t>
            </a:r>
            <a:r>
              <a:rPr dirty="0"/>
              <a:t> </a:t>
            </a:r>
            <a:r>
              <a:rPr dirty="0" err="1"/>
              <a:t>fornire</a:t>
            </a:r>
            <a:r>
              <a:rPr dirty="0"/>
              <a:t> alla </a:t>
            </a:r>
            <a:r>
              <a:rPr dirty="0" err="1"/>
              <a:t>collettività</a:t>
            </a:r>
            <a:r>
              <a:rPr dirty="0"/>
              <a:t> </a:t>
            </a:r>
            <a:r>
              <a:rPr dirty="0" err="1"/>
              <a:t>una</a:t>
            </a:r>
            <a:r>
              <a:rPr dirty="0"/>
              <a:t> </a:t>
            </a:r>
            <a:r>
              <a:rPr dirty="0" err="1"/>
              <a:t>risposta</a:t>
            </a:r>
            <a:r>
              <a:rPr dirty="0"/>
              <a:t> in tempi </a:t>
            </a:r>
            <a:r>
              <a:rPr dirty="0" err="1"/>
              <a:t>maggiormente</a:t>
            </a:r>
            <a:r>
              <a:rPr dirty="0"/>
              <a:t> </a:t>
            </a:r>
            <a:r>
              <a:rPr dirty="0" err="1"/>
              <a:t>accettabili</a:t>
            </a:r>
            <a:r>
              <a:rPr dirty="0"/>
              <a:t>.</a:t>
            </a:r>
          </a:p>
          <a:p>
            <a:pPr marL="0" indent="0" algn="just" defTabSz="896111">
              <a:lnSpc>
                <a:spcPct val="81000"/>
              </a:lnSpc>
              <a:spcBef>
                <a:spcPts val="900"/>
              </a:spcBef>
              <a:buSzTx/>
              <a:buNone/>
              <a:defRPr sz="2700"/>
            </a:pPr>
            <a:endParaRPr dirty="0"/>
          </a:p>
          <a:p>
            <a:pPr marL="224026" indent="-224026" algn="just" defTabSz="896111">
              <a:lnSpc>
                <a:spcPct val="81000"/>
              </a:lnSpc>
              <a:spcBef>
                <a:spcPts val="900"/>
              </a:spcBef>
              <a:defRPr sz="2700"/>
            </a:pPr>
            <a:r>
              <a:rPr dirty="0" err="1"/>
              <a:t>Risposta</a:t>
            </a:r>
            <a:r>
              <a:rPr dirty="0"/>
              <a:t> </a:t>
            </a:r>
            <a:r>
              <a:rPr dirty="0" err="1"/>
              <a:t>sia</a:t>
            </a:r>
            <a:r>
              <a:rPr dirty="0"/>
              <a:t> </a:t>
            </a:r>
            <a:r>
              <a:rPr dirty="0">
                <a:solidFill>
                  <a:srgbClr val="FF0000"/>
                </a:solidFill>
              </a:rPr>
              <a:t>per la </a:t>
            </a:r>
            <a:r>
              <a:rPr dirty="0" err="1">
                <a:solidFill>
                  <a:srgbClr val="FF0000"/>
                </a:solidFill>
              </a:rPr>
              <a:t>collettività</a:t>
            </a:r>
            <a:r>
              <a:rPr dirty="0"/>
              <a:t>, </a:t>
            </a:r>
            <a:r>
              <a:rPr dirty="0" err="1"/>
              <a:t>che</a:t>
            </a:r>
            <a:r>
              <a:rPr dirty="0"/>
              <a:t> </a:t>
            </a:r>
            <a:r>
              <a:rPr dirty="0" err="1"/>
              <a:t>vede</a:t>
            </a:r>
            <a:r>
              <a:rPr dirty="0"/>
              <a:t> </a:t>
            </a:r>
            <a:r>
              <a:rPr dirty="0" err="1"/>
              <a:t>nel</a:t>
            </a:r>
            <a:r>
              <a:rPr dirty="0"/>
              <a:t> </a:t>
            </a:r>
            <a:r>
              <a:rPr dirty="0" err="1"/>
              <a:t>funzionamento</a:t>
            </a:r>
            <a:r>
              <a:rPr dirty="0"/>
              <a:t> </a:t>
            </a:r>
            <a:r>
              <a:rPr dirty="0" err="1"/>
              <a:t>dell’apparato</a:t>
            </a:r>
            <a:r>
              <a:rPr dirty="0"/>
              <a:t>, </a:t>
            </a:r>
            <a:r>
              <a:rPr dirty="0" err="1"/>
              <a:t>soprattutto</a:t>
            </a:r>
            <a:r>
              <a:rPr dirty="0"/>
              <a:t> </a:t>
            </a:r>
            <a:r>
              <a:rPr dirty="0" err="1"/>
              <a:t>quello</a:t>
            </a:r>
            <a:r>
              <a:rPr dirty="0"/>
              <a:t> </a:t>
            </a:r>
            <a:r>
              <a:rPr dirty="0" err="1"/>
              <a:t>penale</a:t>
            </a:r>
            <a:r>
              <a:rPr dirty="0"/>
              <a:t>, </a:t>
            </a:r>
            <a:r>
              <a:rPr dirty="0" err="1"/>
              <a:t>un’esigenza</a:t>
            </a:r>
            <a:r>
              <a:rPr dirty="0"/>
              <a:t> di </a:t>
            </a:r>
            <a:r>
              <a:rPr dirty="0" err="1"/>
              <a:t>tranquillità</a:t>
            </a:r>
            <a:r>
              <a:rPr dirty="0"/>
              <a:t> e di </a:t>
            </a:r>
            <a:r>
              <a:rPr dirty="0" err="1"/>
              <a:t>efficienza</a:t>
            </a:r>
            <a:r>
              <a:rPr dirty="0"/>
              <a:t> della </a:t>
            </a:r>
            <a:r>
              <a:rPr dirty="0" err="1"/>
              <a:t>macchina</a:t>
            </a:r>
            <a:r>
              <a:rPr dirty="0"/>
              <a:t>;</a:t>
            </a:r>
          </a:p>
          <a:p>
            <a:pPr marL="0" indent="0" algn="just" defTabSz="896111">
              <a:lnSpc>
                <a:spcPct val="81000"/>
              </a:lnSpc>
              <a:spcBef>
                <a:spcPts val="900"/>
              </a:spcBef>
              <a:buSzTx/>
              <a:buNone/>
              <a:defRPr sz="2700"/>
            </a:pPr>
            <a:r>
              <a:rPr dirty="0"/>
              <a:t> </a:t>
            </a:r>
          </a:p>
          <a:p>
            <a:pPr marL="224026" indent="-224026" algn="just" defTabSz="896111">
              <a:lnSpc>
                <a:spcPct val="81000"/>
              </a:lnSpc>
              <a:spcBef>
                <a:spcPts val="900"/>
              </a:spcBef>
              <a:defRPr sz="2700"/>
            </a:pPr>
            <a:r>
              <a:rPr dirty="0" err="1"/>
              <a:t>sia</a:t>
            </a:r>
            <a:r>
              <a:rPr dirty="0"/>
              <a:t> </a:t>
            </a:r>
            <a:r>
              <a:rPr dirty="0">
                <a:solidFill>
                  <a:srgbClr val="FF0000"/>
                </a:solidFill>
              </a:rPr>
              <a:t>per </a:t>
            </a:r>
            <a:r>
              <a:rPr dirty="0" err="1">
                <a:solidFill>
                  <a:srgbClr val="FF0000"/>
                </a:solidFill>
              </a:rPr>
              <a:t>l’imputato</a:t>
            </a:r>
            <a:r>
              <a:rPr dirty="0">
                <a:solidFill>
                  <a:srgbClr val="FF0000"/>
                </a:solidFill>
              </a:rPr>
              <a:t> </a:t>
            </a:r>
            <a:r>
              <a:rPr dirty="0" err="1"/>
              <a:t>che</a:t>
            </a:r>
            <a:r>
              <a:rPr dirty="0"/>
              <a:t>, </a:t>
            </a:r>
            <a:r>
              <a:rPr dirty="0" err="1"/>
              <a:t>vive</a:t>
            </a:r>
            <a:r>
              <a:rPr dirty="0"/>
              <a:t> in </a:t>
            </a:r>
            <a:r>
              <a:rPr dirty="0" err="1"/>
              <a:t>una</a:t>
            </a:r>
            <a:r>
              <a:rPr dirty="0"/>
              <a:t> </a:t>
            </a:r>
            <a:r>
              <a:rPr dirty="0" err="1"/>
              <a:t>situazione</a:t>
            </a:r>
            <a:r>
              <a:rPr dirty="0"/>
              <a:t> di </a:t>
            </a:r>
            <a:r>
              <a:rPr dirty="0" err="1"/>
              <a:t>incertezza</a:t>
            </a:r>
            <a:r>
              <a:rPr dirty="0"/>
              <a:t> e di </a:t>
            </a:r>
            <a:r>
              <a:rPr dirty="0" err="1"/>
              <a:t>angoscia</a:t>
            </a:r>
            <a:r>
              <a:rPr dirty="0"/>
              <a:t> </a:t>
            </a:r>
            <a:r>
              <a:rPr dirty="0" err="1"/>
              <a:t>che</a:t>
            </a:r>
            <a:r>
              <a:rPr dirty="0"/>
              <a:t> </a:t>
            </a:r>
            <a:r>
              <a:rPr dirty="0" err="1"/>
              <a:t>potrebbe</a:t>
            </a:r>
            <a:r>
              <a:rPr dirty="0"/>
              <a:t> </a:t>
            </a:r>
            <a:r>
              <a:rPr dirty="0" err="1"/>
              <a:t>anche</a:t>
            </a:r>
            <a:r>
              <a:rPr dirty="0"/>
              <a:t> </a:t>
            </a:r>
            <a:r>
              <a:rPr dirty="0" err="1"/>
              <a:t>compromettere</a:t>
            </a:r>
            <a:r>
              <a:rPr dirty="0"/>
              <a:t> la </a:t>
            </a:r>
            <a:r>
              <a:rPr dirty="0" err="1"/>
              <a:t>sua</a:t>
            </a:r>
            <a:r>
              <a:rPr dirty="0"/>
              <a:t> </a:t>
            </a:r>
            <a:r>
              <a:rPr dirty="0" err="1"/>
              <a:t>presunzione</a:t>
            </a:r>
            <a:r>
              <a:rPr dirty="0"/>
              <a:t> di </a:t>
            </a:r>
            <a:r>
              <a:rPr dirty="0" err="1"/>
              <a:t>innocenza</a:t>
            </a:r>
            <a:r>
              <a:rPr dirty="0"/>
              <a:t>.</a:t>
            </a:r>
          </a:p>
          <a:p>
            <a:pPr marL="0" indent="0" algn="just" defTabSz="896111">
              <a:lnSpc>
                <a:spcPct val="81000"/>
              </a:lnSpc>
              <a:spcBef>
                <a:spcPts val="900"/>
              </a:spcBef>
              <a:buSzTx/>
              <a:buNone/>
              <a:defRPr sz="2700"/>
            </a:pPr>
            <a:r>
              <a:rPr dirty="0"/>
              <a:t> </a:t>
            </a:r>
          </a:p>
        </p:txBody>
      </p:sp>
      <p:sp>
        <p:nvSpPr>
          <p:cNvPr id="352" name="Titolo 2"/>
          <p:cNvSpPr>
            <a:spLocks noGrp="1"/>
          </p:cNvSpPr>
          <p:nvPr>
            <p:ph type="title"/>
          </p:nvPr>
        </p:nvSpPr>
        <p:spPr>
          <a:xfrm>
            <a:off x="628650" y="150880"/>
            <a:ext cx="7886700" cy="1006906"/>
          </a:xfrm>
          <a:prstGeom prst="rect">
            <a:avLst/>
          </a:prstGeom>
        </p:spPr>
        <p:txBody>
          <a:bodyPr/>
          <a:lstStyle/>
          <a:p>
            <a:pPr defTabSz="896111">
              <a:defRPr sz="3822">
                <a:solidFill>
                  <a:srgbClr val="FFFFFF"/>
                </a:solidFill>
              </a:defRPr>
            </a:pPr>
            <a:r>
              <a:t>La Riforma Cartabia.</a:t>
            </a:r>
            <a:r>
              <a:rPr sz="2548"/>
              <a:t> d.lgs n. 150 del 2022</a:t>
            </a:r>
            <a:br>
              <a:rPr sz="2548"/>
            </a:br>
            <a:endParaRPr sz="2548"/>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 name="Segnaposto testo 1"/>
          <p:cNvSpPr>
            <a:spLocks noGrp="1"/>
          </p:cNvSpPr>
          <p:nvPr>
            <p:ph type="body" idx="1"/>
          </p:nvPr>
        </p:nvSpPr>
        <p:spPr>
          <a:xfrm>
            <a:off x="628650" y="1083074"/>
            <a:ext cx="7886700" cy="5708345"/>
          </a:xfrm>
          <a:prstGeom prst="rect">
            <a:avLst/>
          </a:prstGeom>
        </p:spPr>
        <p:txBody>
          <a:bodyPr/>
          <a:lstStyle/>
          <a:p>
            <a:pPr algn="just">
              <a:lnSpc>
                <a:spcPct val="72000"/>
              </a:lnSpc>
              <a:defRPr sz="2400"/>
            </a:pPr>
            <a:r>
              <a:t>Si è portato a regime il </a:t>
            </a:r>
            <a:r>
              <a:rPr b="1" u="sng">
                <a:solidFill>
                  <a:srgbClr val="FF0000"/>
                </a:solidFill>
              </a:rPr>
              <a:t>processo telematico </a:t>
            </a:r>
            <a:r>
              <a:t>prevedendo la digitalizzazione degli atti del procedimento, disciplinando il </a:t>
            </a:r>
            <a:r>
              <a:rPr b="1"/>
              <a:t>deposito degli atti, l’effettuazione delle notificazion</a:t>
            </a:r>
            <a:r>
              <a:t>i e il processo in assenza, valorizzando il principio dell’effettiva conoscenza degli atti e del processo.</a:t>
            </a:r>
          </a:p>
          <a:p>
            <a:pPr algn="just">
              <a:lnSpc>
                <a:spcPct val="72000"/>
              </a:lnSpc>
              <a:defRPr sz="2400"/>
            </a:pPr>
            <a:endParaRPr/>
          </a:p>
          <a:p>
            <a:pPr algn="just">
              <a:lnSpc>
                <a:spcPct val="72000"/>
              </a:lnSpc>
              <a:defRPr sz="2400"/>
            </a:pPr>
            <a:r>
              <a:t>Si è puntato a </a:t>
            </a:r>
            <a:r>
              <a:rPr u="sng"/>
              <a:t>scandire</a:t>
            </a:r>
            <a:r>
              <a:t> i </a:t>
            </a:r>
            <a:r>
              <a:rPr u="sng">
                <a:solidFill>
                  <a:srgbClr val="FF0000"/>
                </a:solidFill>
              </a:rPr>
              <a:t>tempi</a:t>
            </a:r>
            <a:r>
              <a:t> e le </a:t>
            </a:r>
            <a:r>
              <a:rPr u="sng">
                <a:solidFill>
                  <a:srgbClr val="FF0000"/>
                </a:solidFill>
              </a:rPr>
              <a:t>modalità</a:t>
            </a:r>
            <a:r>
              <a:t> di svolgimento </a:t>
            </a:r>
            <a:r>
              <a:rPr u="sng">
                <a:solidFill>
                  <a:srgbClr val="FF0000"/>
                </a:solidFill>
              </a:rPr>
              <a:t>delle indagini preliminari </a:t>
            </a:r>
            <a:r>
              <a:rPr b="1" u="sng"/>
              <a:t>al fine di velocizzarle</a:t>
            </a:r>
            <a:r>
              <a:t>, dettando dei criteri uniformi per l’iscrizione nel registro delle notizie di reato (art.335).</a:t>
            </a:r>
          </a:p>
          <a:p>
            <a:pPr algn="just">
              <a:lnSpc>
                <a:spcPct val="72000"/>
              </a:lnSpc>
              <a:defRPr sz="2400"/>
            </a:pPr>
            <a:endParaRPr/>
          </a:p>
          <a:p>
            <a:pPr algn="just">
              <a:lnSpc>
                <a:spcPct val="72000"/>
              </a:lnSpc>
              <a:defRPr sz="2400"/>
            </a:pPr>
            <a:r>
              <a:t>l’introduzione di una nuova regola di giudizio in base alla quale il Pubblico Ministero deve esercitare l’azione penale soltanto quando gli elementi acquisiti nel corso delle indagini preliminari consentono una “</a:t>
            </a:r>
            <a:r>
              <a:rPr b="1" u="sng">
                <a:solidFill>
                  <a:srgbClr val="FF0000"/>
                </a:solidFill>
              </a:rPr>
              <a:t>ragionevole previsione di condanna</a:t>
            </a:r>
            <a:r>
              <a:rPr u="sng">
                <a:solidFill>
                  <a:srgbClr val="FF0000"/>
                </a:solidFill>
              </a:rPr>
              <a:t>”</a:t>
            </a:r>
            <a:r>
              <a:t>.</a:t>
            </a:r>
          </a:p>
        </p:txBody>
      </p:sp>
      <p:sp>
        <p:nvSpPr>
          <p:cNvPr id="355" name="Titolo 2"/>
          <p:cNvSpPr>
            <a:spLocks noGrp="1"/>
          </p:cNvSpPr>
          <p:nvPr>
            <p:ph type="title"/>
          </p:nvPr>
        </p:nvSpPr>
        <p:spPr>
          <a:xfrm>
            <a:off x="628650" y="184551"/>
            <a:ext cx="7886700" cy="960791"/>
          </a:xfrm>
          <a:prstGeom prst="rect">
            <a:avLst/>
          </a:prstGeom>
        </p:spPr>
        <p:txBody>
          <a:bodyPr/>
          <a:lstStyle/>
          <a:p>
            <a:pPr defTabSz="721003">
              <a:defRPr sz="3040">
                <a:solidFill>
                  <a:srgbClr val="FFFFFF"/>
                </a:solidFill>
              </a:defRPr>
            </a:pPr>
            <a:r>
              <a:t>La Riforma Cartabia</a:t>
            </a:r>
            <a:br/>
            <a:endParaRPr/>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 name="CasellaDiTesto 1"/>
          <p:cNvSpPr/>
          <p:nvPr/>
        </p:nvSpPr>
        <p:spPr>
          <a:xfrm>
            <a:off x="467821" y="1107896"/>
            <a:ext cx="8045464" cy="5203187"/>
          </a:xfrm>
          <a:prstGeom prst="rect">
            <a:avLst/>
          </a:prstGeom>
          <a:ln w="12700">
            <a:miter lim="400000"/>
          </a:ln>
          <a:extLst>
            <a:ext uri="{C572A759-6A51-4108-AA02-DFA0A04FC94B}">
              <ma14:wrappingTextBoxFlag xmlns="" xmlns:ma14="http://schemas.microsoft.com/office/mac/drawingml/2011/main" val="1"/>
            </a:ext>
          </a:extLst>
        </p:spPr>
        <p:txBody>
          <a:bodyPr lIns="45718" tIns="45718" rIns="45718" bIns="45718">
            <a:spAutoFit/>
          </a:bodyPr>
          <a:lstStyle/>
          <a:p>
            <a:pPr algn="just">
              <a:defRPr sz="2400" b="0">
                <a:latin typeface="Book Antiqua"/>
                <a:ea typeface="Book Antiqua"/>
                <a:cs typeface="Book Antiqua"/>
                <a:sym typeface="Book Antiqua"/>
              </a:defRPr>
            </a:pPr>
            <a:r>
              <a:rPr dirty="0"/>
              <a:t>Per </a:t>
            </a:r>
            <a:r>
              <a:rPr b="1" dirty="0">
                <a:solidFill>
                  <a:srgbClr val="002F8E"/>
                </a:solidFill>
              </a:rPr>
              <a:t>NORMA PENALE </a:t>
            </a:r>
            <a:r>
              <a:rPr dirty="0" err="1"/>
              <a:t>s'intende</a:t>
            </a:r>
            <a:r>
              <a:rPr dirty="0"/>
              <a:t> </a:t>
            </a:r>
            <a:r>
              <a:rPr dirty="0" err="1"/>
              <a:t>ogni</a:t>
            </a:r>
            <a:r>
              <a:rPr dirty="0"/>
              <a:t> </a:t>
            </a:r>
            <a:r>
              <a:rPr dirty="0" err="1"/>
              <a:t>disposizione</a:t>
            </a:r>
            <a:r>
              <a:rPr dirty="0"/>
              <a:t> di </a:t>
            </a:r>
            <a:r>
              <a:rPr dirty="0" err="1"/>
              <a:t>legge</a:t>
            </a:r>
            <a:r>
              <a:rPr dirty="0"/>
              <a:t> </a:t>
            </a:r>
            <a:r>
              <a:rPr dirty="0" err="1"/>
              <a:t>che</a:t>
            </a:r>
            <a:r>
              <a:rPr dirty="0"/>
              <a:t> </a:t>
            </a:r>
            <a:r>
              <a:rPr b="1" u="sng" dirty="0" err="1">
                <a:solidFill>
                  <a:srgbClr val="FF0000"/>
                </a:solidFill>
              </a:rPr>
              <a:t>vieta</a:t>
            </a:r>
            <a:r>
              <a:rPr b="1" u="sng" dirty="0">
                <a:solidFill>
                  <a:srgbClr val="FF0000"/>
                </a:solidFill>
              </a:rPr>
              <a:t> </a:t>
            </a:r>
            <a:r>
              <a:rPr b="1" u="sng" dirty="0"/>
              <a:t>o </a:t>
            </a:r>
            <a:r>
              <a:rPr b="1" u="sng" dirty="0" err="1">
                <a:solidFill>
                  <a:srgbClr val="FF0000"/>
                </a:solidFill>
              </a:rPr>
              <a:t>impone</a:t>
            </a:r>
            <a:r>
              <a:rPr b="1" dirty="0"/>
              <a:t> </a:t>
            </a:r>
            <a:r>
              <a:rPr dirty="0"/>
              <a:t>una </a:t>
            </a:r>
            <a:r>
              <a:rPr dirty="0" err="1"/>
              <a:t>determinata</a:t>
            </a:r>
            <a:r>
              <a:rPr dirty="0"/>
              <a:t> </a:t>
            </a:r>
            <a:r>
              <a:rPr dirty="0" err="1"/>
              <a:t>condotta</a:t>
            </a:r>
            <a:r>
              <a:rPr dirty="0"/>
              <a:t> e </a:t>
            </a:r>
            <a:r>
              <a:rPr dirty="0" err="1"/>
              <a:t>che</a:t>
            </a:r>
            <a:r>
              <a:rPr dirty="0"/>
              <a:t> </a:t>
            </a:r>
            <a:r>
              <a:rPr dirty="0" err="1"/>
              <a:t>prevede</a:t>
            </a:r>
            <a:r>
              <a:rPr dirty="0"/>
              <a:t> </a:t>
            </a:r>
            <a:r>
              <a:rPr dirty="0" err="1"/>
              <a:t>l’inflizione</a:t>
            </a:r>
            <a:r>
              <a:rPr dirty="0"/>
              <a:t> di una </a:t>
            </a:r>
            <a:r>
              <a:rPr b="1" u="sng" dirty="0" err="1"/>
              <a:t>sanzione</a:t>
            </a:r>
            <a:r>
              <a:rPr b="1" u="sng" dirty="0"/>
              <a:t> </a:t>
            </a:r>
            <a:r>
              <a:rPr b="1" u="sng" dirty="0" err="1"/>
              <a:t>penale</a:t>
            </a:r>
            <a:r>
              <a:rPr b="1" dirty="0"/>
              <a:t> </a:t>
            </a:r>
            <a:r>
              <a:rPr dirty="0"/>
              <a:t>(</a:t>
            </a:r>
            <a:r>
              <a:rPr dirty="0" err="1"/>
              <a:t>pena</a:t>
            </a:r>
            <a:r>
              <a:rPr dirty="0"/>
              <a:t> o </a:t>
            </a:r>
            <a:r>
              <a:rPr dirty="0" err="1"/>
              <a:t>misura</a:t>
            </a:r>
            <a:r>
              <a:rPr dirty="0"/>
              <a:t> di </a:t>
            </a:r>
            <a:r>
              <a:rPr dirty="0" err="1"/>
              <a:t>sicurezza</a:t>
            </a:r>
            <a:r>
              <a:rPr dirty="0"/>
              <a:t>) </a:t>
            </a:r>
            <a:r>
              <a:rPr dirty="0" err="1"/>
              <a:t>nel</a:t>
            </a:r>
            <a:r>
              <a:rPr dirty="0"/>
              <a:t> </a:t>
            </a:r>
            <a:r>
              <a:rPr dirty="0" err="1"/>
              <a:t>caso</a:t>
            </a:r>
            <a:r>
              <a:rPr dirty="0"/>
              <a:t> di una </a:t>
            </a:r>
            <a:r>
              <a:rPr dirty="0" err="1"/>
              <a:t>eventuale</a:t>
            </a:r>
            <a:r>
              <a:rPr dirty="0"/>
              <a:t> </a:t>
            </a:r>
            <a:r>
              <a:rPr dirty="0" err="1"/>
              <a:t>trasgressione</a:t>
            </a:r>
            <a:r>
              <a:rPr dirty="0"/>
              <a:t>.</a:t>
            </a:r>
            <a:endParaRPr dirty="0">
              <a:latin typeface="Times New Roman"/>
              <a:ea typeface="Times New Roman"/>
              <a:cs typeface="Times New Roman"/>
              <a:sym typeface="Times New Roman"/>
            </a:endParaRPr>
          </a:p>
          <a:p>
            <a:pPr algn="just">
              <a:defRPr sz="2400" b="0">
                <a:solidFill>
                  <a:srgbClr val="002F8E"/>
                </a:solidFill>
                <a:latin typeface="Times New Roman"/>
                <a:ea typeface="Times New Roman"/>
                <a:cs typeface="Times New Roman"/>
                <a:sym typeface="Times New Roman"/>
              </a:defRPr>
            </a:pPr>
            <a:endParaRPr dirty="0">
              <a:latin typeface="Times New Roman"/>
              <a:ea typeface="Times New Roman"/>
              <a:cs typeface="Times New Roman"/>
              <a:sym typeface="Times New Roman"/>
            </a:endParaRPr>
          </a:p>
          <a:p>
            <a:pPr algn="just">
              <a:lnSpc>
                <a:spcPct val="150000"/>
              </a:lnSpc>
              <a:defRPr sz="2400" b="0" i="1">
                <a:latin typeface="Book Antiqua"/>
                <a:ea typeface="Book Antiqua"/>
                <a:cs typeface="Book Antiqua"/>
                <a:sym typeface="Book Antiqua"/>
              </a:defRPr>
            </a:pPr>
            <a:r>
              <a:rPr dirty="0" err="1"/>
              <a:t>Gli</a:t>
            </a:r>
            <a:r>
              <a:rPr dirty="0"/>
              <a:t> </a:t>
            </a:r>
            <a:r>
              <a:rPr b="1" u="sng" dirty="0" err="1">
                <a:solidFill>
                  <a:srgbClr val="2F5597"/>
                </a:solidFill>
              </a:rPr>
              <a:t>elementi</a:t>
            </a:r>
            <a:r>
              <a:rPr b="1" u="sng" dirty="0">
                <a:solidFill>
                  <a:srgbClr val="2F5597"/>
                </a:solidFill>
              </a:rPr>
              <a:t> </a:t>
            </a:r>
            <a:r>
              <a:rPr b="1" u="sng" dirty="0" err="1">
                <a:solidFill>
                  <a:srgbClr val="2F5597"/>
                </a:solidFill>
              </a:rPr>
              <a:t>costitutivi</a:t>
            </a:r>
            <a:r>
              <a:rPr b="1" u="sng" dirty="0">
                <a:solidFill>
                  <a:srgbClr val="2F5597"/>
                </a:solidFill>
              </a:rPr>
              <a:t> </a:t>
            </a:r>
            <a:r>
              <a:rPr i="0" dirty="0" err="1"/>
              <a:t>della</a:t>
            </a:r>
            <a:r>
              <a:rPr i="0" dirty="0"/>
              <a:t> </a:t>
            </a:r>
            <a:r>
              <a:rPr i="0" dirty="0" err="1"/>
              <a:t>norma</a:t>
            </a:r>
            <a:r>
              <a:rPr i="0" dirty="0"/>
              <a:t> </a:t>
            </a:r>
            <a:r>
              <a:rPr i="0" dirty="0" err="1"/>
              <a:t>incriminatrice</a:t>
            </a:r>
            <a:r>
              <a:rPr i="0" dirty="0"/>
              <a:t> </a:t>
            </a:r>
            <a:r>
              <a:rPr i="0" dirty="0" err="1"/>
              <a:t>sono</a:t>
            </a:r>
            <a:r>
              <a:rPr i="0" dirty="0"/>
              <a:t>:</a:t>
            </a:r>
            <a:endParaRPr dirty="0">
              <a:latin typeface="Times New Roman"/>
              <a:ea typeface="Times New Roman"/>
              <a:cs typeface="Times New Roman"/>
              <a:sym typeface="Times New Roman"/>
            </a:endParaRPr>
          </a:p>
          <a:p>
            <a:pPr marL="285750" indent="-285750" algn="just">
              <a:buSzPct val="100000"/>
              <a:buFont typeface="Book Antiqua"/>
              <a:buChar char="➢"/>
              <a:defRPr sz="2400">
                <a:latin typeface="Book Antiqua"/>
                <a:ea typeface="Book Antiqua"/>
                <a:cs typeface="Book Antiqua"/>
                <a:sym typeface="Book Antiqua"/>
              </a:defRPr>
            </a:pPr>
            <a:r>
              <a:rPr dirty="0"/>
              <a:t>il </a:t>
            </a:r>
            <a:r>
              <a:rPr dirty="0">
                <a:solidFill>
                  <a:srgbClr val="002F8E"/>
                </a:solidFill>
              </a:rPr>
              <a:t>PRECETTO</a:t>
            </a:r>
            <a:r>
              <a:rPr dirty="0"/>
              <a:t>: </a:t>
            </a:r>
            <a:r>
              <a:rPr b="0" dirty="0" err="1"/>
              <a:t>comando</a:t>
            </a:r>
            <a:r>
              <a:rPr b="0" dirty="0"/>
              <a:t> o </a:t>
            </a:r>
            <a:r>
              <a:rPr b="0" dirty="0" err="1"/>
              <a:t>divieto</a:t>
            </a:r>
            <a:r>
              <a:rPr b="0" dirty="0"/>
              <a:t> di </a:t>
            </a:r>
            <a:r>
              <a:rPr b="0" dirty="0" err="1"/>
              <a:t>tenere</a:t>
            </a:r>
            <a:r>
              <a:rPr b="0" dirty="0"/>
              <a:t> una </a:t>
            </a:r>
            <a:r>
              <a:rPr b="0" dirty="0" err="1"/>
              <a:t>determinata</a:t>
            </a:r>
            <a:r>
              <a:rPr b="0" dirty="0"/>
              <a:t> </a:t>
            </a:r>
            <a:r>
              <a:rPr b="0" dirty="0" err="1"/>
              <a:t>condotta</a:t>
            </a:r>
            <a:r>
              <a:rPr b="0" dirty="0"/>
              <a:t>;</a:t>
            </a:r>
            <a:endParaRPr dirty="0">
              <a:latin typeface="Times New Roman"/>
              <a:ea typeface="Times New Roman"/>
              <a:cs typeface="Times New Roman"/>
              <a:sym typeface="Times New Roman"/>
            </a:endParaRPr>
          </a:p>
          <a:p>
            <a:pPr marL="285750" indent="-285750" algn="just">
              <a:buSzPct val="100000"/>
              <a:buFont typeface="Book Antiqua"/>
              <a:buChar char="➢"/>
              <a:defRPr sz="2400">
                <a:latin typeface="Book Antiqua"/>
                <a:ea typeface="Book Antiqua"/>
                <a:cs typeface="Book Antiqua"/>
                <a:sym typeface="Book Antiqua"/>
              </a:defRPr>
            </a:pPr>
            <a:r>
              <a:rPr dirty="0"/>
              <a:t>la </a:t>
            </a:r>
            <a:r>
              <a:rPr dirty="0">
                <a:solidFill>
                  <a:srgbClr val="C00000"/>
                </a:solidFill>
              </a:rPr>
              <a:t>SANZIONE</a:t>
            </a:r>
            <a:r>
              <a:rPr dirty="0"/>
              <a:t>: </a:t>
            </a:r>
            <a:r>
              <a:rPr b="0" dirty="0" err="1"/>
              <a:t>conseguenza</a:t>
            </a:r>
            <a:r>
              <a:rPr b="0" dirty="0"/>
              <a:t> </a:t>
            </a:r>
            <a:r>
              <a:rPr b="0" dirty="0" err="1"/>
              <a:t>giuridica</a:t>
            </a:r>
            <a:r>
              <a:rPr b="0" dirty="0"/>
              <a:t> </a:t>
            </a:r>
            <a:r>
              <a:rPr b="0" dirty="0" err="1"/>
              <a:t>che</a:t>
            </a:r>
            <a:r>
              <a:rPr b="0" dirty="0"/>
              <a:t> </a:t>
            </a:r>
            <a:r>
              <a:rPr b="0" dirty="0" err="1"/>
              <a:t>deriva</a:t>
            </a:r>
            <a:r>
              <a:rPr b="0" dirty="0"/>
              <a:t> </a:t>
            </a:r>
            <a:r>
              <a:rPr b="0" dirty="0" err="1"/>
              <a:t>dall'inosservanza</a:t>
            </a:r>
            <a:r>
              <a:rPr b="0" dirty="0"/>
              <a:t> del </a:t>
            </a:r>
            <a:r>
              <a:rPr b="0" dirty="0" err="1"/>
              <a:t>precetto</a:t>
            </a:r>
            <a:r>
              <a:rPr b="0" dirty="0"/>
              <a:t> (</a:t>
            </a:r>
            <a:r>
              <a:rPr b="0" dirty="0" err="1"/>
              <a:t>pena</a:t>
            </a:r>
            <a:r>
              <a:rPr b="0" dirty="0"/>
              <a:t>).</a:t>
            </a:r>
            <a:endParaRPr dirty="0">
              <a:latin typeface="Times New Roman"/>
              <a:ea typeface="Times New Roman"/>
              <a:cs typeface="Times New Roman"/>
              <a:sym typeface="Times New Roman"/>
            </a:endParaRPr>
          </a:p>
          <a:p>
            <a:pPr algn="just">
              <a:defRPr sz="2000" b="0">
                <a:latin typeface="Times New Roman"/>
                <a:ea typeface="Times New Roman"/>
                <a:cs typeface="Times New Roman"/>
                <a:sym typeface="Times New Roman"/>
              </a:defRPr>
            </a:pPr>
            <a:endParaRPr dirty="0">
              <a:latin typeface="Times New Roman"/>
              <a:ea typeface="Times New Roman"/>
              <a:cs typeface="Times New Roman"/>
              <a:sym typeface="Times New Roman"/>
            </a:endParaRPr>
          </a:p>
          <a:p>
            <a:pPr algn="just">
              <a:defRPr sz="2000">
                <a:latin typeface="Book Antiqua"/>
                <a:ea typeface="Book Antiqua"/>
                <a:cs typeface="Book Antiqua"/>
                <a:sym typeface="Book Antiqua"/>
              </a:defRPr>
            </a:pPr>
            <a:r>
              <a:rPr dirty="0"/>
              <a:t>ES: Art. 575 «</a:t>
            </a:r>
            <a:r>
              <a:rPr i="1" dirty="0" err="1">
                <a:solidFill>
                  <a:srgbClr val="002F8E"/>
                </a:solidFill>
              </a:rPr>
              <a:t>Chiunque</a:t>
            </a:r>
            <a:r>
              <a:rPr i="1" dirty="0">
                <a:solidFill>
                  <a:srgbClr val="002F8E"/>
                </a:solidFill>
              </a:rPr>
              <a:t> </a:t>
            </a:r>
            <a:r>
              <a:rPr i="1" dirty="0" err="1">
                <a:solidFill>
                  <a:srgbClr val="002F8E"/>
                </a:solidFill>
              </a:rPr>
              <a:t>cagione</a:t>
            </a:r>
            <a:r>
              <a:rPr i="1" dirty="0">
                <a:solidFill>
                  <a:srgbClr val="002F8E"/>
                </a:solidFill>
              </a:rPr>
              <a:t> la </a:t>
            </a:r>
            <a:r>
              <a:rPr i="1" dirty="0" err="1">
                <a:solidFill>
                  <a:srgbClr val="002F8E"/>
                </a:solidFill>
              </a:rPr>
              <a:t>morte</a:t>
            </a:r>
            <a:r>
              <a:rPr i="1" dirty="0">
                <a:solidFill>
                  <a:srgbClr val="002F8E"/>
                </a:solidFill>
              </a:rPr>
              <a:t> di un </a:t>
            </a:r>
            <a:r>
              <a:rPr i="1" dirty="0" err="1">
                <a:solidFill>
                  <a:srgbClr val="002F8E"/>
                </a:solidFill>
              </a:rPr>
              <a:t>uomo</a:t>
            </a:r>
            <a:r>
              <a:rPr i="1" dirty="0">
                <a:solidFill>
                  <a:srgbClr val="002F8E"/>
                </a:solidFill>
              </a:rPr>
              <a:t> </a:t>
            </a:r>
            <a:r>
              <a:rPr i="1" dirty="0"/>
              <a:t>è </a:t>
            </a:r>
            <a:r>
              <a:rPr i="1" dirty="0" err="1"/>
              <a:t>punito</a:t>
            </a:r>
            <a:r>
              <a:rPr i="1" dirty="0"/>
              <a:t> con la </a:t>
            </a:r>
            <a:r>
              <a:rPr i="1" dirty="0" err="1">
                <a:solidFill>
                  <a:srgbClr val="C00000"/>
                </a:solidFill>
              </a:rPr>
              <a:t>reclusione</a:t>
            </a:r>
            <a:r>
              <a:rPr i="1" dirty="0">
                <a:solidFill>
                  <a:srgbClr val="C00000"/>
                </a:solidFill>
              </a:rPr>
              <a:t> non </a:t>
            </a:r>
            <a:r>
              <a:rPr i="1" dirty="0" err="1">
                <a:solidFill>
                  <a:srgbClr val="C00000"/>
                </a:solidFill>
              </a:rPr>
              <a:t>inferiore</a:t>
            </a:r>
            <a:r>
              <a:rPr i="1" dirty="0">
                <a:solidFill>
                  <a:srgbClr val="C00000"/>
                </a:solidFill>
              </a:rPr>
              <a:t> ad anni </a:t>
            </a:r>
            <a:r>
              <a:rPr i="1" dirty="0" err="1">
                <a:solidFill>
                  <a:srgbClr val="C00000"/>
                </a:solidFill>
              </a:rPr>
              <a:t>ventuno</a:t>
            </a:r>
            <a:r>
              <a:rPr dirty="0"/>
              <a:t>»</a:t>
            </a:r>
          </a:p>
        </p:txBody>
      </p:sp>
      <p:sp>
        <p:nvSpPr>
          <p:cNvPr id="358" name="Text Box 5"/>
          <p:cNvSpPr/>
          <p:nvPr/>
        </p:nvSpPr>
        <p:spPr>
          <a:xfrm>
            <a:off x="872155" y="110241"/>
            <a:ext cx="8227274" cy="584439"/>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a14="http://schemas.microsoft.com/office/mac/drawingml/2011/main"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Elementi costitutivi della norma penale</a:t>
            </a: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 name="CasellaDiTesto 1"/>
          <p:cNvSpPr/>
          <p:nvPr/>
        </p:nvSpPr>
        <p:spPr>
          <a:xfrm>
            <a:off x="153223" y="836712"/>
            <a:ext cx="8549521" cy="5895337"/>
          </a:xfrm>
          <a:prstGeom prst="rect">
            <a:avLst/>
          </a:prstGeom>
          <a:ln w="12700">
            <a:miter lim="400000"/>
          </a:ln>
          <a:extLst>
            <a:ext uri="{C572A759-6A51-4108-AA02-DFA0A04FC94B}">
              <ma14:wrappingTextBoxFlag xmlns="" xmlns:ma14="http://schemas.microsoft.com/office/mac/drawingml/2011/main" val="1"/>
            </a:ext>
          </a:extLst>
        </p:spPr>
        <p:txBody>
          <a:bodyPr lIns="45718" tIns="45718" rIns="45718" bIns="45718">
            <a:spAutoFit/>
          </a:bodyPr>
          <a:lstStyle/>
          <a:p>
            <a:pPr algn="ctr">
              <a:defRPr sz="3200">
                <a:solidFill>
                  <a:srgbClr val="C00000"/>
                </a:solidFill>
                <a:latin typeface="Book Antiqua"/>
                <a:ea typeface="Book Antiqua"/>
                <a:cs typeface="Book Antiqua"/>
                <a:sym typeface="Book Antiqua"/>
              </a:defRPr>
            </a:pPr>
            <a:r>
              <a:rPr dirty="0"/>
              <a:t>NORMA PENALE</a:t>
            </a:r>
            <a:endParaRPr dirty="0">
              <a:latin typeface="Times New Roman"/>
              <a:ea typeface="Times New Roman"/>
              <a:cs typeface="Times New Roman"/>
              <a:sym typeface="Times New Roman"/>
            </a:endParaRPr>
          </a:p>
          <a:p>
            <a:pPr algn="just">
              <a:defRPr sz="1000" b="0">
                <a:latin typeface="Times New Roman"/>
                <a:ea typeface="Times New Roman"/>
                <a:cs typeface="Times New Roman"/>
                <a:sym typeface="Times New Roman"/>
              </a:defRPr>
            </a:pPr>
            <a:endParaRPr dirty="0">
              <a:latin typeface="Times New Roman"/>
              <a:ea typeface="Times New Roman"/>
              <a:cs typeface="Times New Roman"/>
              <a:sym typeface="Times New Roman"/>
            </a:endParaRPr>
          </a:p>
          <a:p>
            <a:pPr marL="285750" indent="-285750" algn="just">
              <a:buSzPct val="100000"/>
              <a:buFont typeface="Book Antiqua"/>
              <a:buChar char="➢"/>
              <a:defRPr sz="2400">
                <a:latin typeface="Book Antiqua"/>
                <a:ea typeface="Book Antiqua"/>
                <a:cs typeface="Book Antiqua"/>
                <a:sym typeface="Book Antiqua"/>
              </a:defRPr>
            </a:pPr>
            <a:r>
              <a:rPr dirty="0"/>
              <a:t>PERFETTA: </a:t>
            </a:r>
            <a:r>
              <a:rPr b="0" dirty="0" err="1"/>
              <a:t>contiene</a:t>
            </a:r>
            <a:r>
              <a:rPr b="0" dirty="0"/>
              <a:t> </a:t>
            </a:r>
            <a:r>
              <a:rPr b="0" dirty="0" err="1"/>
              <a:t>sia</a:t>
            </a:r>
            <a:r>
              <a:rPr b="0" dirty="0"/>
              <a:t> il </a:t>
            </a:r>
            <a:r>
              <a:rPr b="0" dirty="0" err="1"/>
              <a:t>precetto</a:t>
            </a:r>
            <a:r>
              <a:rPr b="0" dirty="0"/>
              <a:t> </a:t>
            </a:r>
            <a:r>
              <a:rPr b="0" dirty="0" err="1"/>
              <a:t>sia</a:t>
            </a:r>
            <a:r>
              <a:rPr b="0" dirty="0"/>
              <a:t> la </a:t>
            </a:r>
            <a:r>
              <a:rPr b="0" dirty="0" err="1"/>
              <a:t>sanzione</a:t>
            </a:r>
            <a:endParaRPr dirty="0">
              <a:latin typeface="Times New Roman"/>
              <a:ea typeface="Times New Roman"/>
              <a:cs typeface="Times New Roman"/>
              <a:sym typeface="Times New Roman"/>
            </a:endParaRPr>
          </a:p>
          <a:p>
            <a:pPr indent="1976438" algn="just">
              <a:defRPr sz="1800" b="0">
                <a:latin typeface="Book Antiqua"/>
                <a:ea typeface="Book Antiqua"/>
                <a:cs typeface="Book Antiqua"/>
                <a:sym typeface="Book Antiqua"/>
              </a:defRPr>
            </a:pPr>
            <a:r>
              <a:rPr dirty="0"/>
              <a:t>(art. 575 «</a:t>
            </a:r>
            <a:r>
              <a:rPr i="1" dirty="0" err="1"/>
              <a:t>Chiunque</a:t>
            </a:r>
            <a:r>
              <a:rPr i="1" dirty="0"/>
              <a:t> </a:t>
            </a:r>
            <a:r>
              <a:rPr i="1" dirty="0" err="1"/>
              <a:t>cagione</a:t>
            </a:r>
            <a:r>
              <a:rPr i="1" dirty="0"/>
              <a:t> la </a:t>
            </a:r>
            <a:r>
              <a:rPr i="1" dirty="0" err="1"/>
              <a:t>morte</a:t>
            </a:r>
            <a:r>
              <a:rPr i="1" dirty="0"/>
              <a:t> di un </a:t>
            </a:r>
            <a:r>
              <a:rPr i="1" dirty="0" err="1"/>
              <a:t>uomo</a:t>
            </a:r>
            <a:r>
              <a:rPr i="1" dirty="0"/>
              <a:t> è </a:t>
            </a:r>
            <a:r>
              <a:rPr i="1" dirty="0" err="1"/>
              <a:t>punito</a:t>
            </a:r>
            <a:r>
              <a:rPr i="1" dirty="0"/>
              <a:t> con la </a:t>
            </a:r>
            <a:r>
              <a:rPr i="1" dirty="0" err="1"/>
              <a:t>reclusione</a:t>
            </a:r>
            <a:r>
              <a:rPr i="1" dirty="0"/>
              <a:t> non </a:t>
            </a:r>
            <a:r>
              <a:rPr i="1" dirty="0" err="1"/>
              <a:t>inferiore</a:t>
            </a:r>
            <a:r>
              <a:rPr i="1" dirty="0"/>
              <a:t> ad anni </a:t>
            </a:r>
            <a:r>
              <a:rPr i="1" dirty="0" err="1"/>
              <a:t>ventuno</a:t>
            </a:r>
            <a:r>
              <a:rPr dirty="0"/>
              <a:t>»)</a:t>
            </a:r>
            <a:endParaRPr dirty="0">
              <a:latin typeface="Times New Roman"/>
              <a:ea typeface="Times New Roman"/>
              <a:cs typeface="Times New Roman"/>
              <a:sym typeface="Times New Roman"/>
            </a:endParaRPr>
          </a:p>
          <a:p>
            <a:pPr algn="just">
              <a:defRPr sz="1000" b="0">
                <a:latin typeface="Times New Roman"/>
                <a:ea typeface="Times New Roman"/>
                <a:cs typeface="Times New Roman"/>
                <a:sym typeface="Times New Roman"/>
              </a:defRPr>
            </a:pPr>
            <a:endParaRPr dirty="0">
              <a:latin typeface="Times New Roman"/>
              <a:ea typeface="Times New Roman"/>
              <a:cs typeface="Times New Roman"/>
              <a:sym typeface="Times New Roman"/>
            </a:endParaRPr>
          </a:p>
          <a:p>
            <a:pPr marL="285750" indent="-285750" algn="just">
              <a:buSzPct val="100000"/>
              <a:buFont typeface="Book Antiqua"/>
              <a:buChar char="➢"/>
              <a:defRPr sz="2400">
                <a:latin typeface="Book Antiqua"/>
                <a:ea typeface="Book Antiqua"/>
                <a:cs typeface="Book Antiqua"/>
                <a:sym typeface="Book Antiqua"/>
              </a:defRPr>
            </a:pPr>
            <a:r>
              <a:rPr dirty="0"/>
              <a:t>IMPERFETTA: </a:t>
            </a:r>
            <a:r>
              <a:rPr b="0" dirty="0" err="1"/>
              <a:t>contiene</a:t>
            </a:r>
            <a:r>
              <a:rPr b="0" dirty="0"/>
              <a:t> o solo il </a:t>
            </a:r>
            <a:r>
              <a:rPr b="0" dirty="0" err="1"/>
              <a:t>precetto</a:t>
            </a:r>
            <a:r>
              <a:rPr b="0" dirty="0"/>
              <a:t> o solo la </a:t>
            </a:r>
            <a:r>
              <a:rPr b="0" dirty="0" err="1"/>
              <a:t>sanzione</a:t>
            </a:r>
            <a:r>
              <a:rPr b="0" dirty="0"/>
              <a:t> </a:t>
            </a:r>
            <a:r>
              <a:rPr sz="1800" b="0" i="1" dirty="0"/>
              <a:t>(</a:t>
            </a:r>
            <a:r>
              <a:rPr sz="1800" b="0" i="1" dirty="0" err="1"/>
              <a:t>l’art</a:t>
            </a:r>
            <a:r>
              <a:rPr sz="1800" b="0" i="1" dirty="0"/>
              <a:t>. 7, comma 1 </a:t>
            </a:r>
            <a:r>
              <a:rPr sz="1800" b="0" i="1" dirty="0" err="1"/>
              <a:t>lettera</a:t>
            </a:r>
            <a:r>
              <a:rPr sz="1800" b="0" i="1" dirty="0"/>
              <a:t> b) del </a:t>
            </a:r>
            <a:r>
              <a:rPr sz="1800" b="0" i="1" dirty="0" err="1"/>
              <a:t>D.lgs</a:t>
            </a:r>
            <a:r>
              <a:rPr sz="1800" b="0" i="1" dirty="0"/>
              <a:t>. n. 4/2012 </a:t>
            </a:r>
            <a:r>
              <a:rPr sz="1800" b="0" i="1" dirty="0" err="1"/>
              <a:t>contiene</a:t>
            </a:r>
            <a:r>
              <a:rPr sz="1800" b="0" i="1" dirty="0"/>
              <a:t> il </a:t>
            </a:r>
            <a:r>
              <a:rPr sz="1800" b="0" i="1" dirty="0" err="1"/>
              <a:t>divieto</a:t>
            </a:r>
            <a:r>
              <a:rPr sz="1800" b="0" i="1" dirty="0"/>
              <a:t> di </a:t>
            </a:r>
            <a:r>
              <a:rPr sz="1800" b="0" i="1" dirty="0" err="1"/>
              <a:t>danneggiare</a:t>
            </a:r>
            <a:r>
              <a:rPr sz="1800" b="0" i="1" dirty="0"/>
              <a:t> le </a:t>
            </a:r>
            <a:r>
              <a:rPr sz="1800" b="0" i="1" dirty="0" err="1"/>
              <a:t>risorse</a:t>
            </a:r>
            <a:r>
              <a:rPr sz="1800" b="0" i="1" dirty="0"/>
              <a:t> </a:t>
            </a:r>
            <a:r>
              <a:rPr sz="1800" b="0" i="1" dirty="0" err="1"/>
              <a:t>biologiche</a:t>
            </a:r>
            <a:r>
              <a:rPr sz="1800" b="0" i="1" dirty="0"/>
              <a:t> </a:t>
            </a:r>
            <a:r>
              <a:rPr sz="1800" b="0" i="1" dirty="0" err="1"/>
              <a:t>delle</a:t>
            </a:r>
            <a:r>
              <a:rPr sz="1800" b="0" i="1" dirty="0"/>
              <a:t> </a:t>
            </a:r>
            <a:r>
              <a:rPr sz="1800" b="0" i="1" dirty="0" err="1"/>
              <a:t>acque</a:t>
            </a:r>
            <a:r>
              <a:rPr sz="1800" b="0" i="1" dirty="0"/>
              <a:t> marine con </a:t>
            </a:r>
            <a:r>
              <a:rPr sz="1800" b="0" i="1" dirty="0" err="1"/>
              <a:t>l’uso</a:t>
            </a:r>
            <a:r>
              <a:rPr sz="1800" b="0" i="1" dirty="0"/>
              <a:t> di </a:t>
            </a:r>
            <a:r>
              <a:rPr sz="1800" b="0" i="1" dirty="0" err="1"/>
              <a:t>materie</a:t>
            </a:r>
            <a:r>
              <a:rPr sz="1800" b="0" i="1" dirty="0"/>
              <a:t> </a:t>
            </a:r>
            <a:r>
              <a:rPr sz="1800" b="0" i="1" dirty="0" err="1"/>
              <a:t>esplodenti</a:t>
            </a:r>
            <a:r>
              <a:rPr sz="1800" b="0" i="1" dirty="0"/>
              <a:t>, di </a:t>
            </a:r>
            <a:r>
              <a:rPr sz="1800" b="0" i="1" dirty="0" err="1"/>
              <a:t>energia</a:t>
            </a:r>
            <a:r>
              <a:rPr sz="1800" b="0" i="1" dirty="0"/>
              <a:t> </a:t>
            </a:r>
            <a:r>
              <a:rPr sz="1800" b="0" i="1" dirty="0" err="1"/>
              <a:t>elettrica</a:t>
            </a:r>
            <a:r>
              <a:rPr sz="1800" b="0" i="1" dirty="0"/>
              <a:t> o di </a:t>
            </a:r>
            <a:r>
              <a:rPr sz="1800" b="0" i="1" dirty="0" err="1"/>
              <a:t>sostanze</a:t>
            </a:r>
            <a:r>
              <a:rPr sz="1800" b="0" i="1" dirty="0"/>
              <a:t> </a:t>
            </a:r>
            <a:r>
              <a:rPr sz="1800" b="0" i="1" dirty="0" err="1"/>
              <a:t>tossiche</a:t>
            </a:r>
            <a:r>
              <a:rPr sz="1800" b="0" i="1" dirty="0"/>
              <a:t> </a:t>
            </a:r>
            <a:r>
              <a:rPr sz="1800" b="0" i="1" dirty="0" err="1"/>
              <a:t>atte</a:t>
            </a:r>
            <a:r>
              <a:rPr sz="1800" b="0" i="1" dirty="0"/>
              <a:t> ad </a:t>
            </a:r>
            <a:r>
              <a:rPr sz="1800" b="0" i="1" dirty="0" err="1"/>
              <a:t>intorpidire</a:t>
            </a:r>
            <a:r>
              <a:rPr sz="1800" b="0" i="1" dirty="0"/>
              <a:t>, </a:t>
            </a:r>
            <a:r>
              <a:rPr sz="1800" b="0" i="1" dirty="0" err="1"/>
              <a:t>stordire</a:t>
            </a:r>
            <a:r>
              <a:rPr sz="1800" b="0" i="1" dirty="0"/>
              <a:t> o </a:t>
            </a:r>
            <a:r>
              <a:rPr sz="1800" b="0" i="1" dirty="0" err="1"/>
              <a:t>uccidere</a:t>
            </a:r>
            <a:r>
              <a:rPr sz="1800" b="0" i="1" dirty="0"/>
              <a:t> </a:t>
            </a:r>
            <a:r>
              <a:rPr sz="1800" b="0" i="1" dirty="0" err="1"/>
              <a:t>i</a:t>
            </a:r>
            <a:r>
              <a:rPr sz="1800" b="0" i="1" dirty="0"/>
              <a:t> </a:t>
            </a:r>
            <a:r>
              <a:rPr sz="1800" b="0" i="1" dirty="0" err="1"/>
              <a:t>pesci</a:t>
            </a:r>
            <a:r>
              <a:rPr lang="it-IT" sz="1800" b="0" i="1" dirty="0"/>
              <a:t> </a:t>
            </a:r>
            <a:r>
              <a:rPr sz="1800" b="0" i="1" dirty="0"/>
              <a:t>e </a:t>
            </a:r>
            <a:r>
              <a:rPr sz="1800" b="0" i="1" dirty="0" err="1"/>
              <a:t>gli</a:t>
            </a:r>
            <a:r>
              <a:rPr sz="1800" b="0" i="1" dirty="0"/>
              <a:t> </a:t>
            </a:r>
            <a:r>
              <a:rPr sz="1800" b="0" i="1" dirty="0" err="1"/>
              <a:t>altri</a:t>
            </a:r>
            <a:r>
              <a:rPr sz="1800" b="0" i="1" dirty="0"/>
              <a:t> </a:t>
            </a:r>
            <a:r>
              <a:rPr sz="1800" b="0" i="1" dirty="0" err="1"/>
              <a:t>organismi</a:t>
            </a:r>
            <a:r>
              <a:rPr sz="1800" b="0" i="1" dirty="0"/>
              <a:t> </a:t>
            </a:r>
            <a:r>
              <a:rPr sz="1800" b="0" i="1" dirty="0" err="1"/>
              <a:t>acquatici</a:t>
            </a:r>
            <a:r>
              <a:rPr sz="1800" b="0" i="1" dirty="0"/>
              <a:t> ma non </a:t>
            </a:r>
            <a:r>
              <a:rPr sz="1800" b="0" i="1" dirty="0" err="1"/>
              <a:t>contiene</a:t>
            </a:r>
            <a:r>
              <a:rPr sz="1800" b="0" i="1" dirty="0"/>
              <a:t> la </a:t>
            </a:r>
            <a:r>
              <a:rPr sz="1800" b="0" i="1" dirty="0" err="1"/>
              <a:t>sanzione</a:t>
            </a:r>
            <a:r>
              <a:rPr sz="1800" b="0" i="1" dirty="0"/>
              <a:t> </a:t>
            </a:r>
            <a:r>
              <a:rPr sz="1800" b="0" i="1" dirty="0" err="1"/>
              <a:t>conseguente</a:t>
            </a:r>
            <a:r>
              <a:rPr sz="1800" b="0" i="1" dirty="0"/>
              <a:t> a </a:t>
            </a:r>
            <a:r>
              <a:rPr sz="1800" b="0" i="1" dirty="0" err="1"/>
              <a:t>questa</a:t>
            </a:r>
            <a:r>
              <a:rPr sz="1800" b="0" i="1" dirty="0"/>
              <a:t> </a:t>
            </a:r>
            <a:r>
              <a:rPr sz="1800" b="0" i="1" dirty="0" err="1"/>
              <a:t>condotta</a:t>
            </a:r>
            <a:r>
              <a:rPr sz="1800" b="0" i="1" dirty="0"/>
              <a:t>; la </a:t>
            </a:r>
            <a:r>
              <a:rPr sz="1800" b="0" i="1" dirty="0" err="1"/>
              <a:t>sanzione</a:t>
            </a:r>
            <a:r>
              <a:rPr sz="1800" b="0" i="1" dirty="0"/>
              <a:t> è </a:t>
            </a:r>
            <a:r>
              <a:rPr sz="1800" b="0" i="1" dirty="0" err="1"/>
              <a:t>contenuta</a:t>
            </a:r>
            <a:r>
              <a:rPr sz="1800" b="0" i="1" dirty="0"/>
              <a:t> </a:t>
            </a:r>
            <a:r>
              <a:rPr sz="1800" b="0" i="1" dirty="0" err="1"/>
              <a:t>nel</a:t>
            </a:r>
            <a:r>
              <a:rPr sz="1800" b="0" i="1" dirty="0"/>
              <a:t> </a:t>
            </a:r>
            <a:r>
              <a:rPr sz="1800" b="0" i="1" dirty="0" err="1"/>
              <a:t>medesimo</a:t>
            </a:r>
            <a:r>
              <a:rPr sz="1800" b="0" i="1" dirty="0"/>
              <a:t> </a:t>
            </a:r>
            <a:r>
              <a:rPr sz="1800" b="0" i="1" dirty="0" err="1"/>
              <a:t>decreto</a:t>
            </a:r>
            <a:r>
              <a:rPr sz="1800" b="0" i="1" dirty="0"/>
              <a:t> </a:t>
            </a:r>
            <a:r>
              <a:rPr sz="1800" b="0" i="1" dirty="0" err="1"/>
              <a:t>all’articolo</a:t>
            </a:r>
            <a:r>
              <a:rPr sz="1800" b="0" i="1" dirty="0"/>
              <a:t> 8</a:t>
            </a:r>
            <a:r>
              <a:rPr sz="2000" b="0" i="1" dirty="0"/>
              <a:t>)</a:t>
            </a:r>
            <a:endParaRPr dirty="0">
              <a:latin typeface="Times New Roman"/>
              <a:ea typeface="Times New Roman"/>
              <a:cs typeface="Times New Roman"/>
              <a:sym typeface="Times New Roman"/>
            </a:endParaRPr>
          </a:p>
          <a:p>
            <a:pPr algn="just">
              <a:defRPr sz="1200">
                <a:latin typeface="Times New Roman"/>
                <a:ea typeface="Times New Roman"/>
                <a:cs typeface="Times New Roman"/>
                <a:sym typeface="Times New Roman"/>
              </a:defRPr>
            </a:pPr>
            <a:endParaRPr dirty="0">
              <a:latin typeface="Times New Roman"/>
              <a:ea typeface="Times New Roman"/>
              <a:cs typeface="Times New Roman"/>
              <a:sym typeface="Times New Roman"/>
            </a:endParaRPr>
          </a:p>
          <a:p>
            <a:pPr marL="285750" indent="-285750" algn="just">
              <a:buSzPct val="100000"/>
              <a:buFont typeface="Book Antiqua"/>
              <a:buChar char="➢"/>
              <a:defRPr sz="2400">
                <a:latin typeface="Book Antiqua"/>
                <a:ea typeface="Book Antiqua"/>
                <a:cs typeface="Book Antiqua"/>
                <a:sym typeface="Book Antiqua"/>
              </a:defRPr>
            </a:pPr>
            <a:r>
              <a:rPr dirty="0"/>
              <a:t>IN BIANCO</a:t>
            </a:r>
            <a:r>
              <a:rPr b="0" dirty="0"/>
              <a:t>: </a:t>
            </a:r>
            <a:r>
              <a:rPr b="0" dirty="0" err="1"/>
              <a:t>quando</a:t>
            </a:r>
            <a:r>
              <a:rPr b="0" dirty="0"/>
              <a:t> il </a:t>
            </a:r>
            <a:r>
              <a:rPr b="0" u="sng" dirty="0" err="1"/>
              <a:t>precetto</a:t>
            </a:r>
            <a:r>
              <a:rPr b="0" dirty="0"/>
              <a:t> è </a:t>
            </a:r>
            <a:r>
              <a:rPr b="0" dirty="0" err="1"/>
              <a:t>formulato</a:t>
            </a:r>
            <a:r>
              <a:rPr b="0" dirty="0"/>
              <a:t> </a:t>
            </a:r>
            <a:r>
              <a:rPr b="0" u="sng" dirty="0" err="1"/>
              <a:t>genericamente</a:t>
            </a:r>
            <a:r>
              <a:rPr b="0" dirty="0"/>
              <a:t> e </a:t>
            </a:r>
            <a:r>
              <a:rPr b="0" dirty="0" err="1"/>
              <a:t>deve</a:t>
            </a:r>
            <a:r>
              <a:rPr b="0" dirty="0"/>
              <a:t> </a:t>
            </a:r>
            <a:r>
              <a:rPr b="0" dirty="0" err="1"/>
              <a:t>essere</a:t>
            </a:r>
            <a:r>
              <a:rPr b="0" dirty="0"/>
              <a:t> </a:t>
            </a:r>
            <a:r>
              <a:rPr b="0" dirty="0" err="1"/>
              <a:t>integrato</a:t>
            </a:r>
            <a:r>
              <a:rPr b="0" dirty="0"/>
              <a:t> con </a:t>
            </a:r>
            <a:r>
              <a:rPr b="0" dirty="0" err="1"/>
              <a:t>atti</a:t>
            </a:r>
            <a:r>
              <a:rPr b="0" dirty="0"/>
              <a:t> </a:t>
            </a:r>
            <a:r>
              <a:rPr b="0" dirty="0" err="1"/>
              <a:t>normativi</a:t>
            </a:r>
            <a:r>
              <a:rPr b="0" dirty="0"/>
              <a:t> di </a:t>
            </a:r>
            <a:r>
              <a:rPr b="0" dirty="0" err="1"/>
              <a:t>grado</a:t>
            </a:r>
            <a:r>
              <a:rPr b="0" dirty="0"/>
              <a:t> </a:t>
            </a:r>
            <a:r>
              <a:rPr b="0" dirty="0" err="1"/>
              <a:t>inferiore</a:t>
            </a:r>
            <a:r>
              <a:rPr b="0" dirty="0"/>
              <a:t> (</a:t>
            </a:r>
            <a:r>
              <a:rPr b="0" dirty="0" err="1"/>
              <a:t>regolamenti</a:t>
            </a:r>
            <a:r>
              <a:rPr b="0" dirty="0"/>
              <a:t>, </a:t>
            </a:r>
            <a:r>
              <a:rPr b="0" dirty="0" err="1"/>
              <a:t>provv.ti</a:t>
            </a:r>
            <a:r>
              <a:rPr b="0" dirty="0"/>
              <a:t> amm.vi) ma la </a:t>
            </a:r>
            <a:r>
              <a:rPr b="0" u="sng" dirty="0" err="1"/>
              <a:t>sanzione</a:t>
            </a:r>
            <a:r>
              <a:rPr b="0" u="sng" dirty="0"/>
              <a:t> è ben</a:t>
            </a:r>
            <a:r>
              <a:rPr b="0" dirty="0"/>
              <a:t> </a:t>
            </a:r>
            <a:r>
              <a:rPr b="0" dirty="0" err="1"/>
              <a:t>determinata</a:t>
            </a:r>
            <a:r>
              <a:rPr b="0" dirty="0"/>
              <a:t> (</a:t>
            </a:r>
            <a:r>
              <a:rPr sz="1800" b="0" i="1" dirty="0"/>
              <a:t>es. art 73 D.P.R 309/1990 </a:t>
            </a:r>
            <a:r>
              <a:rPr sz="1800" b="0" i="1" dirty="0" err="1"/>
              <a:t>che</a:t>
            </a:r>
            <a:r>
              <a:rPr sz="1800" b="0" i="1" dirty="0"/>
              <a:t> </a:t>
            </a:r>
            <a:r>
              <a:rPr sz="1800" b="0" i="1" dirty="0" err="1"/>
              <a:t>rinvia</a:t>
            </a:r>
            <a:r>
              <a:rPr sz="1800" b="0" i="1" dirty="0"/>
              <a:t> ad un </a:t>
            </a:r>
            <a:r>
              <a:rPr sz="1800" b="0" i="1" dirty="0" err="1"/>
              <a:t>decreto</a:t>
            </a:r>
            <a:r>
              <a:rPr sz="1800" b="0" i="1" dirty="0"/>
              <a:t> </a:t>
            </a:r>
            <a:r>
              <a:rPr sz="1800" b="0" i="1" dirty="0" err="1"/>
              <a:t>ministeriale</a:t>
            </a:r>
            <a:r>
              <a:rPr sz="1800" b="0" i="1" dirty="0"/>
              <a:t> per </a:t>
            </a:r>
            <a:r>
              <a:rPr sz="1800" b="0" i="1" dirty="0" err="1"/>
              <a:t>stabilire</a:t>
            </a:r>
            <a:r>
              <a:rPr sz="1800" b="0" i="1" dirty="0"/>
              <a:t> </a:t>
            </a:r>
            <a:r>
              <a:rPr sz="1800" b="0" i="1" dirty="0" err="1"/>
              <a:t>quando</a:t>
            </a:r>
            <a:r>
              <a:rPr sz="1800" b="0" i="1" dirty="0"/>
              <a:t> </a:t>
            </a:r>
            <a:r>
              <a:rPr sz="1800" b="0" i="1" dirty="0" err="1"/>
              <a:t>si</a:t>
            </a:r>
            <a:r>
              <a:rPr sz="1800" b="0" i="1" dirty="0"/>
              <a:t> </a:t>
            </a:r>
            <a:r>
              <a:rPr sz="1800" b="0" i="1" dirty="0" err="1"/>
              <a:t>tratti</a:t>
            </a:r>
            <a:r>
              <a:rPr sz="1800" b="0" i="1" dirty="0"/>
              <a:t> di </a:t>
            </a:r>
            <a:r>
              <a:rPr sz="1800" b="0" i="1" dirty="0" err="1"/>
              <a:t>uso</a:t>
            </a:r>
            <a:r>
              <a:rPr sz="1800" b="0" i="1" dirty="0"/>
              <a:t> </a:t>
            </a:r>
            <a:r>
              <a:rPr sz="1800" b="0" i="1" dirty="0" err="1"/>
              <a:t>personale</a:t>
            </a:r>
            <a:r>
              <a:rPr sz="1800" b="0" i="1" dirty="0"/>
              <a:t> di </a:t>
            </a:r>
            <a:r>
              <a:rPr sz="1800" b="0" i="1" dirty="0" err="1"/>
              <a:t>sostanze</a:t>
            </a:r>
            <a:r>
              <a:rPr sz="1800" b="0" i="1" dirty="0"/>
              <a:t> </a:t>
            </a:r>
            <a:r>
              <a:rPr sz="1800" b="0" i="1" dirty="0" err="1"/>
              <a:t>stupefacenti</a:t>
            </a:r>
            <a:r>
              <a:rPr sz="1800" b="0" i="1" dirty="0"/>
              <a:t>, in base </a:t>
            </a:r>
            <a:r>
              <a:rPr sz="1800" b="0" i="1" dirty="0" err="1"/>
              <a:t>alla</a:t>
            </a:r>
            <a:r>
              <a:rPr sz="1800" b="0" i="1" dirty="0"/>
              <a:t> </a:t>
            </a:r>
            <a:r>
              <a:rPr sz="1800" b="0" i="1" dirty="0" err="1"/>
              <a:t>quantità</a:t>
            </a:r>
            <a:r>
              <a:rPr sz="1800" b="0" i="1" dirty="0"/>
              <a:t> e </a:t>
            </a:r>
            <a:r>
              <a:rPr sz="1800" b="0" i="1" dirty="0" err="1"/>
              <a:t>alla</a:t>
            </a:r>
            <a:r>
              <a:rPr sz="1800" b="0" i="1" dirty="0"/>
              <a:t> </a:t>
            </a:r>
            <a:r>
              <a:rPr sz="1800" b="0" i="1" dirty="0" err="1"/>
              <a:t>tipologia</a:t>
            </a:r>
            <a:r>
              <a:rPr sz="1800" b="0" i="1" dirty="0"/>
              <a:t> </a:t>
            </a:r>
            <a:r>
              <a:rPr sz="1800" b="0" i="1" dirty="0" err="1"/>
              <a:t>della</a:t>
            </a:r>
            <a:r>
              <a:rPr sz="1800" b="0" i="1" dirty="0"/>
              <a:t> </a:t>
            </a:r>
            <a:r>
              <a:rPr sz="1800" b="0" i="1" dirty="0" err="1"/>
              <a:t>sostanza</a:t>
            </a:r>
            <a:r>
              <a:rPr sz="1800" b="0" i="1" dirty="0"/>
              <a:t> </a:t>
            </a:r>
            <a:r>
              <a:rPr sz="1800" b="0" i="1" dirty="0" err="1"/>
              <a:t>stessa</a:t>
            </a:r>
            <a:r>
              <a:rPr b="0" dirty="0"/>
              <a:t>)</a:t>
            </a:r>
          </a:p>
        </p:txBody>
      </p:sp>
      <p:sp>
        <p:nvSpPr>
          <p:cNvPr id="361" name="Text Box 5"/>
          <p:cNvSpPr/>
          <p:nvPr/>
        </p:nvSpPr>
        <p:spPr>
          <a:xfrm>
            <a:off x="872155" y="110241"/>
            <a:ext cx="8227274" cy="584439"/>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a14="http://schemas.microsoft.com/office/mac/drawingml/2011/main"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Elementi costitutivi della norma penale</a:t>
            </a: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 name="CasellaDiTesto 1"/>
          <p:cNvSpPr/>
          <p:nvPr/>
        </p:nvSpPr>
        <p:spPr>
          <a:xfrm>
            <a:off x="467821" y="1107897"/>
            <a:ext cx="8045464" cy="3545837"/>
          </a:xfrm>
          <a:prstGeom prst="rect">
            <a:avLst/>
          </a:prstGeom>
          <a:ln w="12700">
            <a:miter lim="400000"/>
          </a:ln>
          <a:extLst>
            <a:ext uri="{C572A759-6A51-4108-AA02-DFA0A04FC94B}">
              <ma14:wrappingTextBoxFlag xmlns="" xmlns:ma14="http://schemas.microsoft.com/office/mac/drawingml/2011/main" val="1"/>
            </a:ext>
          </a:extLst>
        </p:spPr>
        <p:txBody>
          <a:bodyPr lIns="45718" tIns="45718" rIns="45718" bIns="45718">
            <a:spAutoFit/>
          </a:bodyPr>
          <a:lstStyle/>
          <a:p>
            <a:pPr algn="ctr">
              <a:defRPr sz="3200">
                <a:solidFill>
                  <a:srgbClr val="C00000"/>
                </a:solidFill>
                <a:latin typeface="Book Antiqua"/>
                <a:ea typeface="Book Antiqua"/>
                <a:cs typeface="Book Antiqua"/>
                <a:sym typeface="Book Antiqua"/>
              </a:defRPr>
            </a:pPr>
            <a:r>
              <a:t>CARATTERI NORMA PENALE</a:t>
            </a:r>
            <a:endParaRPr>
              <a:latin typeface="Times New Roman"/>
              <a:ea typeface="Times New Roman"/>
              <a:cs typeface="Times New Roman"/>
              <a:sym typeface="Times New Roman"/>
            </a:endParaRPr>
          </a:p>
          <a:p>
            <a:pPr algn="just">
              <a:defRPr sz="1800" b="0">
                <a:latin typeface="Times New Roman"/>
                <a:ea typeface="Times New Roman"/>
                <a:cs typeface="Times New Roman"/>
                <a:sym typeface="Times New Roman"/>
              </a:defRPr>
            </a:pPr>
            <a:endParaRPr>
              <a:latin typeface="Times New Roman"/>
              <a:ea typeface="Times New Roman"/>
              <a:cs typeface="Times New Roman"/>
              <a:sym typeface="Times New Roman"/>
            </a:endParaRPr>
          </a:p>
          <a:p>
            <a:pPr algn="just">
              <a:defRPr sz="1800" b="0">
                <a:latin typeface="Times New Roman"/>
                <a:ea typeface="Times New Roman"/>
                <a:cs typeface="Times New Roman"/>
                <a:sym typeface="Times New Roman"/>
              </a:defRPr>
            </a:pPr>
            <a:endParaRPr>
              <a:latin typeface="Times New Roman"/>
              <a:ea typeface="Times New Roman"/>
              <a:cs typeface="Times New Roman"/>
              <a:sym typeface="Times New Roman"/>
            </a:endParaRPr>
          </a:p>
          <a:p>
            <a:pPr marL="285750" indent="-285750" algn="just">
              <a:buSzPct val="100000"/>
              <a:buFont typeface="Book Antiqua"/>
              <a:buChar char="➢"/>
              <a:defRPr sz="2400">
                <a:latin typeface="Book Antiqua"/>
                <a:ea typeface="Book Antiqua"/>
                <a:cs typeface="Book Antiqua"/>
                <a:sym typeface="Book Antiqua"/>
              </a:defRPr>
            </a:pPr>
            <a:r>
              <a:t>IMPERATIVITÀ: </a:t>
            </a:r>
            <a:r>
              <a:rPr b="0"/>
              <a:t>la norma posta in essere  diviene obbligatoria per tutti coloro che si trovano nel territorio nazionale</a:t>
            </a:r>
            <a:endParaRPr>
              <a:latin typeface="Times New Roman"/>
              <a:ea typeface="Times New Roman"/>
              <a:cs typeface="Times New Roman"/>
              <a:sym typeface="Times New Roman"/>
            </a:endParaRPr>
          </a:p>
          <a:p>
            <a:pPr algn="just">
              <a:defRPr sz="2000" b="0">
                <a:latin typeface="Times New Roman"/>
                <a:ea typeface="Times New Roman"/>
                <a:cs typeface="Times New Roman"/>
                <a:sym typeface="Times New Roman"/>
              </a:defRPr>
            </a:pPr>
            <a:endParaRPr>
              <a:latin typeface="Times New Roman"/>
              <a:ea typeface="Times New Roman"/>
              <a:cs typeface="Times New Roman"/>
              <a:sym typeface="Times New Roman"/>
            </a:endParaRPr>
          </a:p>
          <a:p>
            <a:pPr algn="just">
              <a:defRPr sz="2000" b="0">
                <a:latin typeface="Times New Roman"/>
                <a:ea typeface="Times New Roman"/>
                <a:cs typeface="Times New Roman"/>
                <a:sym typeface="Times New Roman"/>
              </a:defRPr>
            </a:pPr>
            <a:endParaRPr>
              <a:latin typeface="Times New Roman"/>
              <a:ea typeface="Times New Roman"/>
              <a:cs typeface="Times New Roman"/>
              <a:sym typeface="Times New Roman"/>
            </a:endParaRPr>
          </a:p>
          <a:p>
            <a:pPr marL="285750" indent="-285750" algn="just">
              <a:buSzPct val="100000"/>
              <a:buFont typeface="Book Antiqua"/>
              <a:buChar char="➢"/>
              <a:defRPr sz="2400">
                <a:latin typeface="Book Antiqua"/>
                <a:ea typeface="Book Antiqua"/>
                <a:cs typeface="Book Antiqua"/>
                <a:sym typeface="Book Antiqua"/>
              </a:defRPr>
            </a:pPr>
            <a:r>
              <a:t>STATUALITÀ</a:t>
            </a:r>
            <a:r>
              <a:rPr b="0"/>
              <a:t>: deriva soltanto dalla volontà legislativa dello Stato (no altri enti pubblici o privati)</a:t>
            </a:r>
          </a:p>
        </p:txBody>
      </p:sp>
      <p:sp>
        <p:nvSpPr>
          <p:cNvPr id="364" name="Text Box 5"/>
          <p:cNvSpPr/>
          <p:nvPr/>
        </p:nvSpPr>
        <p:spPr>
          <a:xfrm>
            <a:off x="872155" y="110241"/>
            <a:ext cx="8227274" cy="584439"/>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a14="http://schemas.microsoft.com/office/mac/drawingml/2011/main"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Caratteri della norma penale</a:t>
            </a:r>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 name="Segnaposto contenuto 2"/>
          <p:cNvSpPr>
            <a:spLocks noGrp="1"/>
          </p:cNvSpPr>
          <p:nvPr>
            <p:ph type="body" idx="1"/>
          </p:nvPr>
        </p:nvSpPr>
        <p:spPr>
          <a:prstGeom prst="rect">
            <a:avLst/>
          </a:prstGeom>
        </p:spPr>
        <p:txBody>
          <a:bodyPr>
            <a:normAutofit/>
          </a:bodyPr>
          <a:lstStyle/>
          <a:p>
            <a:pPr marL="514350" indent="-514350">
              <a:lnSpc>
                <a:spcPct val="150000"/>
              </a:lnSpc>
              <a:buFontTx/>
              <a:buAutoNum type="arabicPeriod"/>
              <a:defRPr>
                <a:latin typeface="Book Antiqua"/>
                <a:ea typeface="Book Antiqua"/>
                <a:cs typeface="Book Antiqua"/>
                <a:sym typeface="Book Antiqua"/>
              </a:defRPr>
            </a:pPr>
            <a:r>
              <a:rPr dirty="0"/>
              <a:t>Principio di </a:t>
            </a:r>
            <a:r>
              <a:rPr dirty="0" err="1"/>
              <a:t>legalità</a:t>
            </a:r>
            <a:endParaRPr dirty="0"/>
          </a:p>
          <a:p>
            <a:pPr marL="514350" indent="-514350">
              <a:lnSpc>
                <a:spcPct val="150000"/>
              </a:lnSpc>
              <a:buFontTx/>
              <a:buAutoNum type="arabicPeriod"/>
              <a:defRPr>
                <a:latin typeface="Book Antiqua"/>
                <a:ea typeface="Book Antiqua"/>
                <a:cs typeface="Book Antiqua"/>
                <a:sym typeface="Book Antiqua"/>
              </a:defRPr>
            </a:pPr>
            <a:r>
              <a:rPr dirty="0"/>
              <a:t>Principio di </a:t>
            </a:r>
            <a:r>
              <a:rPr dirty="0" err="1"/>
              <a:t>materialità</a:t>
            </a:r>
            <a:r>
              <a:rPr dirty="0"/>
              <a:t>;</a:t>
            </a:r>
          </a:p>
          <a:p>
            <a:pPr marL="514350" indent="-514350">
              <a:lnSpc>
                <a:spcPct val="150000"/>
              </a:lnSpc>
              <a:buFontTx/>
              <a:buAutoNum type="arabicPeriod"/>
              <a:defRPr>
                <a:latin typeface="Book Antiqua"/>
                <a:ea typeface="Book Antiqua"/>
                <a:cs typeface="Book Antiqua"/>
                <a:sym typeface="Book Antiqua"/>
              </a:defRPr>
            </a:pPr>
            <a:r>
              <a:rPr dirty="0"/>
              <a:t>Principio di </a:t>
            </a:r>
            <a:r>
              <a:rPr dirty="0" err="1"/>
              <a:t>colpevolezza</a:t>
            </a:r>
            <a:r>
              <a:rPr dirty="0"/>
              <a:t>;</a:t>
            </a:r>
            <a:endParaRPr lang="it-IT" dirty="0"/>
          </a:p>
          <a:p>
            <a:pPr marL="514350" marR="0" lvl="0" indent="-514350" algn="l" defTabSz="914400" rtl="0" eaLnBrk="1" fontAlgn="auto" latinLnBrk="0" hangingPunct="1">
              <a:lnSpc>
                <a:spcPct val="150000"/>
              </a:lnSpc>
              <a:spcBef>
                <a:spcPts val="1000"/>
              </a:spcBef>
              <a:spcAft>
                <a:spcPts val="0"/>
              </a:spcAft>
              <a:buClrTx/>
              <a:buSzPct val="100000"/>
              <a:buFontTx/>
              <a:buAutoNum type="arabicPeriod"/>
              <a:tabLst/>
              <a:defRPr>
                <a:latin typeface="Book Antiqua"/>
                <a:ea typeface="Book Antiqua"/>
                <a:cs typeface="Book Antiqua"/>
                <a:sym typeface="Book Antiqua"/>
              </a:defRPr>
            </a:pPr>
            <a:r>
              <a:rPr kumimoji="0" lang="it-IT" sz="2800" b="0" i="0" u="none" strike="noStrike" kern="0" cap="none" spc="0" normalizeH="0" baseline="0" noProof="0" dirty="0">
                <a:ln>
                  <a:noFill/>
                </a:ln>
                <a:solidFill>
                  <a:srgbClr val="000000"/>
                </a:solidFill>
                <a:effectLst/>
                <a:uLnTx/>
                <a:uFillTx/>
                <a:latin typeface="Book Antiqua"/>
                <a:sym typeface="Book Antiqua"/>
              </a:rPr>
              <a:t>Principio di offensività;</a:t>
            </a:r>
            <a:endParaRPr dirty="0"/>
          </a:p>
          <a:p>
            <a:pPr marL="514350" indent="-514350">
              <a:lnSpc>
                <a:spcPct val="150000"/>
              </a:lnSpc>
              <a:buFontTx/>
              <a:buAutoNum type="arabicPeriod"/>
              <a:defRPr>
                <a:latin typeface="Book Antiqua"/>
                <a:ea typeface="Book Antiqua"/>
                <a:cs typeface="Book Antiqua"/>
                <a:sym typeface="Book Antiqua"/>
              </a:defRPr>
            </a:pPr>
            <a:r>
              <a:rPr dirty="0" err="1"/>
              <a:t>Personalità</a:t>
            </a:r>
            <a:r>
              <a:rPr dirty="0"/>
              <a:t> </a:t>
            </a:r>
            <a:r>
              <a:rPr dirty="0" err="1"/>
              <a:t>della</a:t>
            </a:r>
            <a:r>
              <a:rPr dirty="0"/>
              <a:t> </a:t>
            </a:r>
            <a:r>
              <a:rPr dirty="0" err="1"/>
              <a:t>responsabilità</a:t>
            </a:r>
            <a:r>
              <a:rPr dirty="0"/>
              <a:t> </a:t>
            </a:r>
            <a:r>
              <a:rPr dirty="0" err="1"/>
              <a:t>penale</a:t>
            </a:r>
            <a:r>
              <a:rPr dirty="0"/>
              <a:t>.</a:t>
            </a:r>
          </a:p>
        </p:txBody>
      </p:sp>
      <p:sp>
        <p:nvSpPr>
          <p:cNvPr id="367" name="Text Box 5"/>
          <p:cNvSpPr/>
          <p:nvPr/>
        </p:nvSpPr>
        <p:spPr>
          <a:xfrm>
            <a:off x="872155" y="110241"/>
            <a:ext cx="8227274" cy="584439"/>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a14="http://schemas.microsoft.com/office/mac/drawingml/2011/main"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Principi di rango costituzionale</a:t>
            </a:r>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 name="Segnaposto contenuto 2"/>
          <p:cNvSpPr>
            <a:spLocks noGrp="1"/>
          </p:cNvSpPr>
          <p:nvPr>
            <p:ph type="body" idx="1"/>
          </p:nvPr>
        </p:nvSpPr>
        <p:spPr>
          <a:xfrm>
            <a:off x="21704" y="1581767"/>
            <a:ext cx="8891528" cy="5159604"/>
          </a:xfrm>
          <a:prstGeom prst="rect">
            <a:avLst/>
          </a:prstGeom>
        </p:spPr>
        <p:txBody>
          <a:bodyPr/>
          <a:lstStyle/>
          <a:p>
            <a:pPr marL="205738" indent="-205738" defTabSz="822958">
              <a:lnSpc>
                <a:spcPct val="160000"/>
              </a:lnSpc>
              <a:spcBef>
                <a:spcPts val="900"/>
              </a:spcBef>
              <a:defRPr sz="2100">
                <a:latin typeface="Book Antiqua"/>
                <a:ea typeface="Book Antiqua"/>
                <a:cs typeface="Book Antiqua"/>
                <a:sym typeface="Book Antiqua"/>
              </a:defRPr>
            </a:pPr>
            <a:r>
              <a:t>Vincola l’esercizio di ogni potere dello Stato alla legge</a:t>
            </a:r>
          </a:p>
          <a:p>
            <a:pPr marL="0" indent="0" algn="ctr" defTabSz="822958">
              <a:lnSpc>
                <a:spcPct val="160000"/>
              </a:lnSpc>
              <a:spcBef>
                <a:spcPts val="900"/>
              </a:spcBef>
              <a:buSzTx/>
              <a:buNone/>
              <a:defRPr sz="2100">
                <a:latin typeface="Book Antiqua"/>
                <a:ea typeface="Book Antiqua"/>
                <a:cs typeface="Book Antiqua"/>
                <a:sym typeface="Book Antiqua"/>
              </a:defRPr>
            </a:pPr>
            <a:r>
              <a:t>Ogni fatto costituente reato deve trovare il proprio fondamento nella legge dello Stato.</a:t>
            </a:r>
          </a:p>
          <a:p>
            <a:pPr marL="205738" indent="-205738" algn="just" defTabSz="822958">
              <a:lnSpc>
                <a:spcPct val="160000"/>
              </a:lnSpc>
              <a:spcBef>
                <a:spcPts val="900"/>
              </a:spcBef>
              <a:defRPr sz="2100" b="1">
                <a:solidFill>
                  <a:srgbClr val="002F8E"/>
                </a:solidFill>
                <a:latin typeface="Book Antiqua"/>
                <a:ea typeface="Book Antiqua"/>
                <a:cs typeface="Book Antiqua"/>
                <a:sym typeface="Book Antiqua"/>
              </a:defRPr>
            </a:pPr>
            <a:r>
              <a:t>Art. 25 c. 2 Cost. </a:t>
            </a:r>
            <a:r>
              <a:rPr b="0">
                <a:solidFill>
                  <a:srgbClr val="000000"/>
                </a:solidFill>
              </a:rPr>
              <a:t>«</a:t>
            </a:r>
            <a:r>
              <a:rPr b="0" i="1">
                <a:solidFill>
                  <a:srgbClr val="000000"/>
                </a:solidFill>
              </a:rPr>
              <a:t>Nessuno può essere punito se non in forza di una legge che sia entrata in vigore </a:t>
            </a:r>
            <a:r>
              <a:rPr i="1" u="sng">
                <a:solidFill>
                  <a:srgbClr val="000000"/>
                </a:solidFill>
              </a:rPr>
              <a:t>prima</a:t>
            </a:r>
            <a:r>
              <a:rPr b="0" i="1">
                <a:solidFill>
                  <a:srgbClr val="000000"/>
                </a:solidFill>
              </a:rPr>
              <a:t> del fatto commesso»;</a:t>
            </a:r>
          </a:p>
          <a:p>
            <a:pPr marL="205738" indent="-205738" algn="just" defTabSz="822958">
              <a:lnSpc>
                <a:spcPct val="160000"/>
              </a:lnSpc>
              <a:spcBef>
                <a:spcPts val="900"/>
              </a:spcBef>
              <a:defRPr sz="2100" b="1">
                <a:solidFill>
                  <a:srgbClr val="002F8E"/>
                </a:solidFill>
                <a:latin typeface="Book Antiqua"/>
                <a:ea typeface="Book Antiqua"/>
                <a:cs typeface="Book Antiqua"/>
                <a:sym typeface="Book Antiqua"/>
              </a:defRPr>
            </a:pPr>
            <a:r>
              <a:t>Art. 1 c.p. </a:t>
            </a:r>
            <a:r>
              <a:rPr b="0">
                <a:solidFill>
                  <a:srgbClr val="000000"/>
                </a:solidFill>
              </a:rPr>
              <a:t>«</a:t>
            </a:r>
            <a:r>
              <a:rPr b="0" i="1">
                <a:solidFill>
                  <a:srgbClr val="000000"/>
                </a:solidFill>
              </a:rPr>
              <a:t>Nessuno può essere punito per un fatto che non sia </a:t>
            </a:r>
            <a:r>
              <a:rPr b="0" i="1" u="sng">
                <a:solidFill>
                  <a:srgbClr val="000000"/>
                </a:solidFill>
              </a:rPr>
              <a:t>espressamente preveduto </a:t>
            </a:r>
            <a:r>
              <a:rPr b="0" i="1">
                <a:solidFill>
                  <a:srgbClr val="000000"/>
                </a:solidFill>
              </a:rPr>
              <a:t>come reato dalla </a:t>
            </a:r>
            <a:r>
              <a:rPr i="1" u="sng">
                <a:solidFill>
                  <a:srgbClr val="000000"/>
                </a:solidFill>
              </a:rPr>
              <a:t>legge</a:t>
            </a:r>
            <a:r>
              <a:rPr b="0" i="1">
                <a:solidFill>
                  <a:srgbClr val="000000"/>
                </a:solidFill>
              </a:rPr>
              <a:t>, né con pene che non siano da essa stabilite».</a:t>
            </a:r>
          </a:p>
          <a:p>
            <a:pPr marL="0" indent="0" algn="ctr" defTabSz="822958">
              <a:lnSpc>
                <a:spcPct val="160000"/>
              </a:lnSpc>
              <a:spcBef>
                <a:spcPts val="900"/>
              </a:spcBef>
              <a:buSzTx/>
              <a:buNone/>
              <a:defRPr sz="2500" b="1" i="1">
                <a:solidFill>
                  <a:srgbClr val="C00000"/>
                </a:solidFill>
                <a:latin typeface="Book Antiqua"/>
                <a:ea typeface="Book Antiqua"/>
                <a:cs typeface="Book Antiqua"/>
                <a:sym typeface="Book Antiqua"/>
              </a:defRPr>
            </a:pPr>
            <a:r>
              <a:t>CERTEZZA DEL DIRITTO</a:t>
            </a:r>
          </a:p>
        </p:txBody>
      </p:sp>
      <p:sp>
        <p:nvSpPr>
          <p:cNvPr id="370" name="Rettangolo 1"/>
          <p:cNvSpPr/>
          <p:nvPr/>
        </p:nvSpPr>
        <p:spPr>
          <a:xfrm>
            <a:off x="1701394" y="977104"/>
            <a:ext cx="5741212" cy="586737"/>
          </a:xfrm>
          <a:prstGeom prst="rect">
            <a:avLst/>
          </a:prstGeom>
          <a:ln w="12700">
            <a:miter lim="400000"/>
          </a:ln>
          <a:extLst>
            <a:ext uri="{C572A759-6A51-4108-AA02-DFA0A04FC94B}">
              <ma14:wrappingTextBoxFlag xmlns="" xmlns:ma14="http://schemas.microsoft.com/office/mac/drawingml/2011/main" val="1"/>
            </a:ext>
          </a:extLst>
        </p:spPr>
        <p:txBody>
          <a:bodyPr lIns="45718" tIns="45718" rIns="45718" bIns="45718">
            <a:spAutoFit/>
          </a:bodyPr>
          <a:lstStyle>
            <a:lvl1pPr algn="ctr">
              <a:defRPr sz="3200">
                <a:solidFill>
                  <a:srgbClr val="C00000"/>
                </a:solidFill>
                <a:latin typeface="Book Antiqua"/>
                <a:ea typeface="Book Antiqua"/>
                <a:cs typeface="Book Antiqua"/>
                <a:sym typeface="Book Antiqua"/>
              </a:defRPr>
            </a:lvl1pPr>
          </a:lstStyle>
          <a:p>
            <a:r>
              <a:t>1. PRINCIPIO DI LEGALITA’</a:t>
            </a:r>
          </a:p>
        </p:txBody>
      </p:sp>
      <p:sp>
        <p:nvSpPr>
          <p:cNvPr id="371" name="Text Box 5"/>
          <p:cNvSpPr/>
          <p:nvPr/>
        </p:nvSpPr>
        <p:spPr>
          <a:xfrm>
            <a:off x="872155" y="110241"/>
            <a:ext cx="8227274" cy="584439"/>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a14="http://schemas.microsoft.com/office/mac/drawingml/2011/main"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Principi codicistici e costituzionali</a:t>
            </a:r>
          </a:p>
        </p:txBody>
      </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 name="Rectangle 5"/>
          <p:cNvSpPr/>
          <p:nvPr/>
        </p:nvSpPr>
        <p:spPr>
          <a:xfrm>
            <a:off x="419961" y="927698"/>
            <a:ext cx="8304077" cy="516141"/>
          </a:xfrm>
          <a:prstGeom prst="rect">
            <a:avLst/>
          </a:prstGeom>
          <a:ln w="12700">
            <a:miter lim="400000"/>
          </a:ln>
          <a:extLst>
            <a:ext uri="{C572A759-6A51-4108-AA02-DFA0A04FC94B}">
              <ma14:wrappingTextBoxFlag xmlns="" xmlns:ma14="http://schemas.microsoft.com/office/mac/drawingml/2011/main" val="1"/>
            </a:ext>
          </a:extLst>
        </p:spPr>
        <p:txBody>
          <a:bodyPr lIns="42170" tIns="42170" rIns="42170" bIns="42170">
            <a:spAutoFit/>
          </a:bodyPr>
          <a:lstStyle>
            <a:lvl1pPr algn="ctr">
              <a:defRPr sz="2800">
                <a:solidFill>
                  <a:srgbClr val="C00000"/>
                </a:solidFill>
                <a:latin typeface="Book Antiqua"/>
                <a:ea typeface="Book Antiqua"/>
                <a:cs typeface="Book Antiqua"/>
                <a:sym typeface="Book Antiqua"/>
              </a:defRPr>
            </a:lvl1pPr>
          </a:lstStyle>
          <a:p>
            <a:r>
              <a:t>I sotto-principi del principio di legalità</a:t>
            </a:r>
          </a:p>
        </p:txBody>
      </p:sp>
      <p:sp>
        <p:nvSpPr>
          <p:cNvPr id="374" name="Segnaposto contenuto 2"/>
          <p:cNvSpPr>
            <a:spLocks noGrp="1"/>
          </p:cNvSpPr>
          <p:nvPr>
            <p:ph type="body" idx="1"/>
          </p:nvPr>
        </p:nvSpPr>
        <p:spPr>
          <a:xfrm>
            <a:off x="215515" y="1443752"/>
            <a:ext cx="8712970" cy="5405404"/>
          </a:xfrm>
          <a:prstGeom prst="rect">
            <a:avLst/>
          </a:prstGeom>
        </p:spPr>
        <p:txBody>
          <a:bodyPr/>
          <a:lstStyle/>
          <a:p>
            <a:pPr marL="208024" indent="-208024" algn="just" defTabSz="832102">
              <a:lnSpc>
                <a:spcPct val="114000"/>
              </a:lnSpc>
              <a:defRPr sz="2000" b="1" cap="small">
                <a:solidFill>
                  <a:srgbClr val="002F8E"/>
                </a:solidFill>
                <a:latin typeface="Book Antiqua"/>
                <a:ea typeface="Book Antiqua"/>
                <a:cs typeface="Book Antiqua"/>
                <a:sym typeface="Book Antiqua"/>
              </a:defRPr>
            </a:pPr>
            <a:r>
              <a:t>Riserva di legge</a:t>
            </a:r>
            <a:r>
              <a:rPr i="1" cap="none"/>
              <a:t>: </a:t>
            </a:r>
            <a:r>
              <a:rPr b="0" cap="none">
                <a:solidFill>
                  <a:srgbClr val="000000"/>
                </a:solidFill>
              </a:rPr>
              <a:t>non è possibile punire un determinato fatto se non in forza di una </a:t>
            </a:r>
            <a:r>
              <a:rPr u="sng" cap="none">
                <a:solidFill>
                  <a:srgbClr val="000000"/>
                </a:solidFill>
              </a:rPr>
              <a:t>legge preesistente</a:t>
            </a:r>
            <a:r>
              <a:rPr cap="none">
                <a:solidFill>
                  <a:srgbClr val="000000"/>
                </a:solidFill>
              </a:rPr>
              <a:t> </a:t>
            </a:r>
            <a:r>
              <a:rPr b="0" cap="none">
                <a:solidFill>
                  <a:srgbClr val="000000"/>
                </a:solidFill>
              </a:rPr>
              <a:t>(solo leggi dello Stato possono introdurre norme penali);</a:t>
            </a:r>
          </a:p>
          <a:p>
            <a:pPr marL="208024" indent="-208024" algn="just" defTabSz="832102">
              <a:lnSpc>
                <a:spcPct val="114000"/>
              </a:lnSpc>
              <a:defRPr sz="2000">
                <a:latin typeface="Book Antiqua"/>
                <a:ea typeface="Book Antiqua"/>
                <a:cs typeface="Book Antiqua"/>
                <a:sym typeface="Book Antiqua"/>
              </a:defRPr>
            </a:pPr>
            <a:endParaRPr b="0" cap="none">
              <a:solidFill>
                <a:srgbClr val="000000"/>
              </a:solidFill>
            </a:endParaRPr>
          </a:p>
          <a:p>
            <a:pPr marL="208024" indent="-208024" algn="just" defTabSz="832102">
              <a:lnSpc>
                <a:spcPct val="114000"/>
              </a:lnSpc>
              <a:defRPr sz="2000" b="1" cap="small">
                <a:solidFill>
                  <a:srgbClr val="002F8E"/>
                </a:solidFill>
                <a:latin typeface="Book Antiqua"/>
                <a:ea typeface="Book Antiqua"/>
                <a:cs typeface="Book Antiqua"/>
                <a:sym typeface="Book Antiqua"/>
              </a:defRPr>
            </a:pPr>
            <a:endParaRPr b="0" cap="none">
              <a:solidFill>
                <a:srgbClr val="000000"/>
              </a:solidFill>
            </a:endParaRPr>
          </a:p>
          <a:p>
            <a:pPr marL="208024" indent="-208024" algn="just" defTabSz="832102">
              <a:lnSpc>
                <a:spcPct val="114000"/>
              </a:lnSpc>
              <a:defRPr sz="2000" b="1" cap="small">
                <a:solidFill>
                  <a:srgbClr val="002F8E"/>
                </a:solidFill>
                <a:latin typeface="Book Antiqua"/>
                <a:ea typeface="Book Antiqua"/>
                <a:cs typeface="Book Antiqua"/>
                <a:sym typeface="Book Antiqua"/>
              </a:defRPr>
            </a:pPr>
            <a:r>
              <a:t>Principio di tassatività o sufficiente determinatezza</a:t>
            </a:r>
            <a:r>
              <a:rPr cap="none"/>
              <a:t>: </a:t>
            </a:r>
            <a:r>
              <a:rPr b="0" cap="none">
                <a:solidFill>
                  <a:srgbClr val="000000"/>
                </a:solidFill>
              </a:rPr>
              <a:t>è fondamentale individuare con </a:t>
            </a:r>
            <a:r>
              <a:rPr b="0" u="sng" cap="none">
                <a:solidFill>
                  <a:srgbClr val="000000"/>
                </a:solidFill>
              </a:rPr>
              <a:t>precisione</a:t>
            </a:r>
            <a:r>
              <a:rPr b="0" cap="none">
                <a:solidFill>
                  <a:srgbClr val="000000"/>
                </a:solidFill>
              </a:rPr>
              <a:t> il comportamento penalmente sanzionato.</a:t>
            </a:r>
          </a:p>
          <a:p>
            <a:pPr marL="0" indent="325039" algn="just" defTabSz="832102">
              <a:lnSpc>
                <a:spcPct val="114000"/>
              </a:lnSpc>
              <a:buSzTx/>
              <a:buNone/>
              <a:defRPr sz="2000">
                <a:latin typeface="Book Antiqua"/>
                <a:ea typeface="Book Antiqua"/>
                <a:cs typeface="Book Antiqua"/>
                <a:sym typeface="Book Antiqua"/>
              </a:defRPr>
            </a:pPr>
            <a:r>
              <a:t>- </a:t>
            </a:r>
            <a:r>
              <a:rPr i="1"/>
              <a:t>«</a:t>
            </a:r>
            <a:r>
              <a:rPr b="1" i="1"/>
              <a:t>tassatività</a:t>
            </a:r>
            <a:r>
              <a:rPr i="1"/>
              <a:t>» </a:t>
            </a:r>
            <a:r>
              <a:t>si fa riferimento al divieto per il giudice di applicare la norma penale a </a:t>
            </a:r>
            <a:r>
              <a:rPr b="1" u="sng"/>
              <a:t>casi non espressamente previsti;</a:t>
            </a:r>
          </a:p>
          <a:p>
            <a:pPr marL="489728" indent="-166132" algn="just" defTabSz="832102">
              <a:lnSpc>
                <a:spcPct val="114000"/>
              </a:lnSpc>
              <a:buFontTx/>
              <a:buChar char="-"/>
              <a:defRPr sz="2000" i="1">
                <a:latin typeface="Book Antiqua"/>
                <a:ea typeface="Book Antiqua"/>
                <a:cs typeface="Book Antiqua"/>
                <a:sym typeface="Book Antiqua"/>
              </a:defRPr>
            </a:pPr>
            <a:r>
              <a:t>«</a:t>
            </a:r>
            <a:r>
              <a:rPr b="1"/>
              <a:t>determinatezza</a:t>
            </a:r>
            <a:r>
              <a:t>» </a:t>
            </a:r>
            <a:r>
              <a:rPr i="0"/>
              <a:t>si fa riferimento alla </a:t>
            </a:r>
            <a:r>
              <a:rPr i="0" u="sng"/>
              <a:t>tecnica di formulazione </a:t>
            </a:r>
            <a:r>
              <a:rPr i="0"/>
              <a:t>della fattispecie (norme penali </a:t>
            </a:r>
            <a:r>
              <a:rPr b="1" i="0"/>
              <a:t>chiare</a:t>
            </a:r>
            <a:r>
              <a:rPr i="0"/>
              <a:t> e </a:t>
            </a:r>
            <a:r>
              <a:rPr b="1" i="0"/>
              <a:t>determinate</a:t>
            </a:r>
            <a:r>
              <a:rPr i="0"/>
              <a:t>)</a:t>
            </a:r>
            <a:r>
              <a:t>;</a:t>
            </a:r>
          </a:p>
        </p:txBody>
      </p:sp>
      <p:sp>
        <p:nvSpPr>
          <p:cNvPr id="375" name="Text Box 5"/>
          <p:cNvSpPr/>
          <p:nvPr/>
        </p:nvSpPr>
        <p:spPr>
          <a:xfrm>
            <a:off x="872155" y="110241"/>
            <a:ext cx="8227274" cy="584439"/>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a14="http://schemas.microsoft.com/office/mac/drawingml/2011/main"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Principi codicistici e costituzionali</a:t>
            </a:r>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 name="Rectangle 5"/>
          <p:cNvSpPr/>
          <p:nvPr/>
        </p:nvSpPr>
        <p:spPr>
          <a:xfrm>
            <a:off x="419961" y="927698"/>
            <a:ext cx="8304077" cy="516141"/>
          </a:xfrm>
          <a:prstGeom prst="rect">
            <a:avLst/>
          </a:prstGeom>
          <a:ln w="12700">
            <a:miter lim="400000"/>
          </a:ln>
          <a:extLst>
            <a:ext uri="{C572A759-6A51-4108-AA02-DFA0A04FC94B}">
              <ma14:wrappingTextBoxFlag xmlns="" xmlns:ma14="http://schemas.microsoft.com/office/mac/drawingml/2011/main" val="1"/>
            </a:ext>
          </a:extLst>
        </p:spPr>
        <p:txBody>
          <a:bodyPr lIns="42170" tIns="42170" rIns="42170" bIns="42170">
            <a:spAutoFit/>
          </a:bodyPr>
          <a:lstStyle>
            <a:lvl1pPr algn="ctr">
              <a:defRPr sz="2800">
                <a:solidFill>
                  <a:srgbClr val="C00000"/>
                </a:solidFill>
                <a:latin typeface="Book Antiqua"/>
                <a:ea typeface="Book Antiqua"/>
                <a:cs typeface="Book Antiqua"/>
                <a:sym typeface="Book Antiqua"/>
              </a:defRPr>
            </a:lvl1pPr>
          </a:lstStyle>
          <a:p>
            <a:r>
              <a:t>I sotto-principi del principio di legalità</a:t>
            </a:r>
          </a:p>
        </p:txBody>
      </p:sp>
      <p:sp>
        <p:nvSpPr>
          <p:cNvPr id="378" name="Segnaposto contenuto 2"/>
          <p:cNvSpPr>
            <a:spLocks noGrp="1"/>
          </p:cNvSpPr>
          <p:nvPr>
            <p:ph type="body" idx="1"/>
          </p:nvPr>
        </p:nvSpPr>
        <p:spPr>
          <a:xfrm>
            <a:off x="215515" y="1443753"/>
            <a:ext cx="8712970" cy="4871566"/>
          </a:xfrm>
          <a:prstGeom prst="rect">
            <a:avLst/>
          </a:prstGeom>
        </p:spPr>
        <p:txBody>
          <a:bodyPr/>
          <a:lstStyle/>
          <a:p>
            <a:pPr marL="217170" indent="-217170" algn="just" defTabSz="868680">
              <a:lnSpc>
                <a:spcPct val="114000"/>
              </a:lnSpc>
              <a:spcBef>
                <a:spcPts val="500"/>
              </a:spcBef>
              <a:defRPr sz="2000" b="1" cap="small">
                <a:solidFill>
                  <a:srgbClr val="002F8E"/>
                </a:solidFill>
                <a:latin typeface="Book Antiqua"/>
                <a:ea typeface="Book Antiqua"/>
                <a:cs typeface="Book Antiqua"/>
                <a:sym typeface="Book Antiqua"/>
              </a:defRPr>
            </a:pPr>
            <a:r>
              <a:t>Irretroattività </a:t>
            </a:r>
            <a:r>
              <a:rPr i="1"/>
              <a:t>in peius </a:t>
            </a:r>
            <a:r>
              <a:t>della legge penale</a:t>
            </a:r>
            <a:r>
              <a:rPr cap="none"/>
              <a:t>:</a:t>
            </a:r>
            <a:r>
              <a:rPr i="1" cap="none"/>
              <a:t> </a:t>
            </a:r>
            <a:r>
              <a:rPr b="0" cap="none">
                <a:solidFill>
                  <a:srgbClr val="000000"/>
                </a:solidFill>
              </a:rPr>
              <a:t>non si può applicare la legge penale a fatti commessi prima della sua entrata in vigore. </a:t>
            </a:r>
          </a:p>
          <a:p>
            <a:pPr marL="0" indent="339328" algn="just" defTabSz="868680">
              <a:lnSpc>
                <a:spcPct val="114000"/>
              </a:lnSpc>
              <a:spcBef>
                <a:spcPts val="500"/>
              </a:spcBef>
              <a:buSzTx/>
              <a:buNone/>
              <a:defRPr sz="2000" b="1">
                <a:latin typeface="Book Antiqua"/>
                <a:ea typeface="Book Antiqua"/>
                <a:cs typeface="Book Antiqua"/>
                <a:sym typeface="Book Antiqua"/>
              </a:defRPr>
            </a:pPr>
            <a:r>
              <a:t>Art. 25 c. 2 Cost</a:t>
            </a:r>
            <a:r>
              <a:rPr b="0"/>
              <a:t>.: «</a:t>
            </a:r>
            <a:r>
              <a:rPr b="0" i="1"/>
              <a:t>Nessuno può essere punito se non in forza di una legge che sia entrata in vigore prima del fatto commesso</a:t>
            </a:r>
            <a:r>
              <a:rPr b="0"/>
              <a:t>».</a:t>
            </a:r>
          </a:p>
          <a:p>
            <a:pPr marL="0" indent="339328" algn="just" defTabSz="868680">
              <a:lnSpc>
                <a:spcPct val="114000"/>
              </a:lnSpc>
              <a:spcBef>
                <a:spcPts val="1100"/>
              </a:spcBef>
              <a:buSzTx/>
              <a:buNone/>
              <a:defRPr sz="2000">
                <a:latin typeface="Book Antiqua"/>
                <a:ea typeface="Book Antiqua"/>
                <a:cs typeface="Book Antiqua"/>
                <a:sym typeface="Book Antiqua"/>
              </a:defRPr>
            </a:pPr>
            <a:r>
              <a:t>Al contrario, è ammissibile la retroattività di una norma più favorevole.</a:t>
            </a:r>
          </a:p>
          <a:p>
            <a:pPr marL="0" indent="339328" algn="just" defTabSz="868680">
              <a:lnSpc>
                <a:spcPct val="114000"/>
              </a:lnSpc>
              <a:spcBef>
                <a:spcPts val="1100"/>
              </a:spcBef>
              <a:buSzTx/>
              <a:buNone/>
              <a:defRPr sz="2000" b="1" i="1" cap="small">
                <a:solidFill>
                  <a:srgbClr val="C00000"/>
                </a:solidFill>
                <a:latin typeface="Book Antiqua"/>
                <a:ea typeface="Book Antiqua"/>
                <a:cs typeface="Book Antiqua"/>
                <a:sym typeface="Book Antiqua"/>
              </a:defRPr>
            </a:pPr>
            <a:endParaRPr/>
          </a:p>
          <a:p>
            <a:pPr marL="217170" indent="-217170" algn="just" defTabSz="868680">
              <a:lnSpc>
                <a:spcPct val="114000"/>
              </a:lnSpc>
              <a:spcBef>
                <a:spcPts val="1100"/>
              </a:spcBef>
              <a:defRPr sz="2000" b="1" cap="small">
                <a:solidFill>
                  <a:srgbClr val="002F8E"/>
                </a:solidFill>
                <a:latin typeface="Book Antiqua"/>
                <a:ea typeface="Book Antiqua"/>
                <a:cs typeface="Book Antiqua"/>
                <a:sym typeface="Book Antiqua"/>
              </a:defRPr>
            </a:pPr>
            <a:r>
              <a:t>Divieto di analogia </a:t>
            </a:r>
            <a:r>
              <a:rPr b="0" cap="none">
                <a:solidFill>
                  <a:srgbClr val="000000"/>
                </a:solidFill>
              </a:rPr>
              <a:t>in materia penale: la legge penale si applica solo ai casi espressamente disciplinati dalla stessa e non ai casi analoghi ma non esplicitamente previsti dalla norma penale.</a:t>
            </a:r>
          </a:p>
          <a:p>
            <a:pPr marL="0" indent="0" algn="just" defTabSz="868680">
              <a:lnSpc>
                <a:spcPct val="114000"/>
              </a:lnSpc>
              <a:spcBef>
                <a:spcPts val="1100"/>
              </a:spcBef>
              <a:buSzTx/>
              <a:buNone/>
              <a:defRPr sz="1500" i="1">
                <a:latin typeface="Book Antiqua"/>
                <a:ea typeface="Book Antiqua"/>
                <a:cs typeface="Book Antiqua"/>
                <a:sym typeface="Book Antiqua"/>
              </a:defRPr>
            </a:pPr>
            <a:r>
              <a:t>Es: (art. 575 c.p. ) se qualcuno uccide un animale, non è possibile applicare per analogia la norma sull’omicidio poiché la legge parla solo di “persona”.</a:t>
            </a:r>
          </a:p>
        </p:txBody>
      </p:sp>
      <p:sp>
        <p:nvSpPr>
          <p:cNvPr id="379" name="Text Box 5"/>
          <p:cNvSpPr/>
          <p:nvPr/>
        </p:nvSpPr>
        <p:spPr>
          <a:xfrm>
            <a:off x="872155" y="110241"/>
            <a:ext cx="8227274" cy="584439"/>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a14="http://schemas.microsoft.com/office/mac/drawingml/2011/main"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Principi codicistici e costituzionali</a:t>
            </a:r>
          </a:p>
        </p:txBody>
      </p: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 name="Segnaposto contenuto 2"/>
          <p:cNvSpPr>
            <a:spLocks noGrp="1"/>
          </p:cNvSpPr>
          <p:nvPr>
            <p:ph type="body" idx="1"/>
          </p:nvPr>
        </p:nvSpPr>
        <p:spPr>
          <a:xfrm>
            <a:off x="144968" y="1869800"/>
            <a:ext cx="8891528" cy="3431410"/>
          </a:xfrm>
          <a:prstGeom prst="rect">
            <a:avLst/>
          </a:prstGeom>
        </p:spPr>
        <p:txBody>
          <a:bodyPr/>
          <a:lstStyle/>
          <a:p>
            <a:pPr marL="0" indent="0" algn="just">
              <a:lnSpc>
                <a:spcPct val="110000"/>
              </a:lnSpc>
              <a:spcBef>
                <a:spcPts val="300"/>
              </a:spcBef>
              <a:buSzTx/>
              <a:buNone/>
              <a:defRPr sz="2400">
                <a:latin typeface="Book Antiqua"/>
                <a:ea typeface="Book Antiqua"/>
                <a:cs typeface="Book Antiqua"/>
                <a:sym typeface="Book Antiqua"/>
              </a:defRPr>
            </a:pPr>
            <a:r>
              <a:t>Non può esservi reato se la volontà criminosa non si estrinseca in un </a:t>
            </a:r>
            <a:r>
              <a:rPr b="1"/>
              <a:t>comportamento esterno percepibile da un terzo.</a:t>
            </a:r>
          </a:p>
          <a:p>
            <a:pPr>
              <a:lnSpc>
                <a:spcPct val="160000"/>
              </a:lnSpc>
              <a:defRPr sz="2400" b="1">
                <a:solidFill>
                  <a:srgbClr val="002F8E"/>
                </a:solidFill>
                <a:latin typeface="Book Antiqua"/>
                <a:ea typeface="Book Antiqua"/>
                <a:cs typeface="Book Antiqua"/>
                <a:sym typeface="Book Antiqua"/>
              </a:defRPr>
            </a:pPr>
            <a:r>
              <a:t>Art. 25 c. 2 Cost. </a:t>
            </a:r>
            <a:r>
              <a:rPr b="0">
                <a:solidFill>
                  <a:srgbClr val="000000"/>
                </a:solidFill>
              </a:rPr>
              <a:t>«</a:t>
            </a:r>
            <a:r>
              <a:rPr b="0" i="1">
                <a:solidFill>
                  <a:srgbClr val="000000"/>
                </a:solidFill>
              </a:rPr>
              <a:t>Nessuno può essere punito se non in forza di una legge che sia entrata in vigore prima del </a:t>
            </a:r>
            <a:r>
              <a:rPr i="1" u="sng">
                <a:solidFill>
                  <a:srgbClr val="000000"/>
                </a:solidFill>
              </a:rPr>
              <a:t>fatto commesso</a:t>
            </a:r>
            <a:r>
              <a:rPr b="0" i="1">
                <a:solidFill>
                  <a:srgbClr val="000000"/>
                </a:solidFill>
              </a:rPr>
              <a:t>»;</a:t>
            </a:r>
          </a:p>
          <a:p>
            <a:pPr marL="0" indent="0">
              <a:lnSpc>
                <a:spcPct val="160000"/>
              </a:lnSpc>
              <a:buSzTx/>
              <a:buNone/>
              <a:defRPr sz="900" i="1">
                <a:latin typeface="Book Antiqua"/>
                <a:ea typeface="Book Antiqua"/>
                <a:cs typeface="Book Antiqua"/>
                <a:sym typeface="Book Antiqua"/>
              </a:defRPr>
            </a:pPr>
            <a:endParaRPr b="0" i="1">
              <a:solidFill>
                <a:srgbClr val="000000"/>
              </a:solidFill>
            </a:endParaRPr>
          </a:p>
          <a:p>
            <a:pPr marL="0" indent="0" algn="ctr">
              <a:lnSpc>
                <a:spcPct val="160000"/>
              </a:lnSpc>
              <a:buSzTx/>
              <a:buNone/>
              <a:defRPr sz="2400" i="1">
                <a:latin typeface="Book Antiqua"/>
                <a:ea typeface="Book Antiqua"/>
                <a:cs typeface="Book Antiqua"/>
                <a:sym typeface="Book Antiqua"/>
              </a:defRPr>
            </a:pPr>
            <a:r>
              <a:t>cd. </a:t>
            </a:r>
            <a:r>
              <a:rPr b="1">
                <a:solidFill>
                  <a:srgbClr val="C00000"/>
                </a:solidFill>
              </a:rPr>
              <a:t>Diritto penale del fatto </a:t>
            </a:r>
            <a:r>
              <a:t>e non dell’intenzione</a:t>
            </a:r>
          </a:p>
        </p:txBody>
      </p:sp>
      <p:sp>
        <p:nvSpPr>
          <p:cNvPr id="382" name="Rettangolo 1"/>
          <p:cNvSpPr/>
          <p:nvPr/>
        </p:nvSpPr>
        <p:spPr>
          <a:xfrm>
            <a:off x="1251346" y="1001204"/>
            <a:ext cx="6641308" cy="586737"/>
          </a:xfrm>
          <a:prstGeom prst="rect">
            <a:avLst/>
          </a:prstGeom>
          <a:ln w="12700">
            <a:miter lim="400000"/>
          </a:ln>
          <a:extLst>
            <a:ext uri="{C572A759-6A51-4108-AA02-DFA0A04FC94B}">
              <ma14:wrappingTextBoxFlag xmlns="" xmlns:ma14="http://schemas.microsoft.com/office/mac/drawingml/2011/main" val="1"/>
            </a:ext>
          </a:extLst>
        </p:spPr>
        <p:txBody>
          <a:bodyPr lIns="45718" tIns="45718" rIns="45718" bIns="45718">
            <a:spAutoFit/>
          </a:bodyPr>
          <a:lstStyle>
            <a:lvl1pPr algn="ctr">
              <a:defRPr sz="3200">
                <a:solidFill>
                  <a:srgbClr val="C00000"/>
                </a:solidFill>
                <a:latin typeface="Book Antiqua"/>
                <a:ea typeface="Book Antiqua"/>
                <a:cs typeface="Book Antiqua"/>
                <a:sym typeface="Book Antiqua"/>
              </a:defRPr>
            </a:lvl1pPr>
          </a:lstStyle>
          <a:p>
            <a:r>
              <a:t>2. PRINCIPIO DI MATERIALITA’</a:t>
            </a:r>
          </a:p>
        </p:txBody>
      </p:sp>
      <p:sp>
        <p:nvSpPr>
          <p:cNvPr id="383" name="Text Box 5"/>
          <p:cNvSpPr/>
          <p:nvPr/>
        </p:nvSpPr>
        <p:spPr>
          <a:xfrm>
            <a:off x="872155" y="110241"/>
            <a:ext cx="8227274" cy="584439"/>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a14="http://schemas.microsoft.com/office/mac/drawingml/2011/main"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Principi codicistici e costituzionali</a:t>
            </a:r>
          </a:p>
        </p:txBody>
      </p:sp>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 name="Segnaposto contenuto 2"/>
          <p:cNvSpPr>
            <a:spLocks noGrp="1"/>
          </p:cNvSpPr>
          <p:nvPr>
            <p:ph type="body" idx="1"/>
          </p:nvPr>
        </p:nvSpPr>
        <p:spPr>
          <a:xfrm>
            <a:off x="144968" y="1595818"/>
            <a:ext cx="8891528" cy="3129114"/>
          </a:xfrm>
          <a:prstGeom prst="rect">
            <a:avLst/>
          </a:prstGeom>
        </p:spPr>
        <p:txBody>
          <a:bodyPr/>
          <a:lstStyle/>
          <a:p>
            <a:pPr marL="0" indent="0" algn="just" defTabSz="740662">
              <a:lnSpc>
                <a:spcPct val="110000"/>
              </a:lnSpc>
              <a:spcBef>
                <a:spcPts val="200"/>
              </a:spcBef>
              <a:buSzTx/>
              <a:buNone/>
              <a:defRPr sz="1900">
                <a:latin typeface="Book Antiqua"/>
                <a:ea typeface="Book Antiqua"/>
                <a:cs typeface="Book Antiqua"/>
                <a:sym typeface="Book Antiqua"/>
              </a:defRPr>
            </a:pPr>
            <a:r>
              <a:t>Il fatto può essere attribuito all’autore solo nel caso in cui sia possibile muovergli un rimprovero. L’illecito penale deve essere </a:t>
            </a:r>
            <a:r>
              <a:rPr b="1" u="sng"/>
              <a:t>psicologicamente</a:t>
            </a:r>
            <a:r>
              <a:t> proprio del soggetto. (</a:t>
            </a:r>
            <a:r>
              <a:rPr i="1"/>
              <a:t>dolo o colpa</a:t>
            </a:r>
            <a:r>
              <a:t>) </a:t>
            </a:r>
          </a:p>
          <a:p>
            <a:pPr marL="0" indent="0" algn="just" defTabSz="740662">
              <a:lnSpc>
                <a:spcPct val="110000"/>
              </a:lnSpc>
              <a:spcBef>
                <a:spcPts val="200"/>
              </a:spcBef>
              <a:buSzTx/>
              <a:buNone/>
              <a:defRPr sz="1900">
                <a:latin typeface="Book Antiqua"/>
                <a:ea typeface="Book Antiqua"/>
                <a:cs typeface="Book Antiqua"/>
                <a:sym typeface="Book Antiqua"/>
              </a:defRPr>
            </a:pPr>
            <a:endParaRPr/>
          </a:p>
          <a:p>
            <a:pPr marL="0" indent="0" algn="just" defTabSz="740662">
              <a:lnSpc>
                <a:spcPct val="110000"/>
              </a:lnSpc>
              <a:spcBef>
                <a:spcPts val="200"/>
              </a:spcBef>
              <a:buSzTx/>
              <a:buNone/>
              <a:defRPr sz="1900" b="1">
                <a:latin typeface="Book Antiqua"/>
                <a:ea typeface="Book Antiqua"/>
                <a:cs typeface="Book Antiqua"/>
                <a:sym typeface="Book Antiqua"/>
              </a:defRPr>
            </a:pPr>
            <a:r>
              <a:t>Imputabilità</a:t>
            </a:r>
            <a:r>
              <a:rPr b="0"/>
              <a:t>: </a:t>
            </a:r>
          </a:p>
          <a:p>
            <a:pPr marL="194910" indent="-194910" algn="just" defTabSz="740662">
              <a:lnSpc>
                <a:spcPct val="110000"/>
              </a:lnSpc>
              <a:spcBef>
                <a:spcPts val="200"/>
              </a:spcBef>
              <a:buFontTx/>
              <a:defRPr sz="1900">
                <a:solidFill>
                  <a:srgbClr val="FF0000"/>
                </a:solidFill>
                <a:latin typeface="Book Antiqua"/>
                <a:ea typeface="Book Antiqua"/>
                <a:cs typeface="Book Antiqua"/>
                <a:sym typeface="Book Antiqua"/>
              </a:defRPr>
            </a:pPr>
            <a:r>
              <a:t>Capacità di intendere</a:t>
            </a:r>
            <a:r>
              <a:rPr>
                <a:solidFill>
                  <a:srgbClr val="000000"/>
                </a:solidFill>
              </a:rPr>
              <a:t>- capacità di comprendere il significato e le conseguenze delle proprie azione.</a:t>
            </a:r>
          </a:p>
          <a:p>
            <a:pPr marL="194910" indent="-194910" algn="just" defTabSz="740662">
              <a:lnSpc>
                <a:spcPct val="110000"/>
              </a:lnSpc>
              <a:spcBef>
                <a:spcPts val="200"/>
              </a:spcBef>
              <a:buFontTx/>
              <a:defRPr sz="1900">
                <a:solidFill>
                  <a:srgbClr val="FF0000"/>
                </a:solidFill>
                <a:latin typeface="Book Antiqua"/>
                <a:ea typeface="Book Antiqua"/>
                <a:cs typeface="Book Antiqua"/>
                <a:sym typeface="Book Antiqua"/>
              </a:defRPr>
            </a:pPr>
            <a:r>
              <a:t>Capacità di volere</a:t>
            </a:r>
            <a:r>
              <a:rPr>
                <a:solidFill>
                  <a:srgbClr val="000000"/>
                </a:solidFill>
              </a:rPr>
              <a:t> - capacità di controllare le proprie azioni in base alla propria volontà.</a:t>
            </a:r>
          </a:p>
        </p:txBody>
      </p:sp>
      <p:sp>
        <p:nvSpPr>
          <p:cNvPr id="386" name="Rettangolo 1"/>
          <p:cNvSpPr/>
          <p:nvPr/>
        </p:nvSpPr>
        <p:spPr>
          <a:xfrm>
            <a:off x="1167549" y="851882"/>
            <a:ext cx="6862586" cy="586737"/>
          </a:xfrm>
          <a:prstGeom prst="rect">
            <a:avLst/>
          </a:prstGeom>
          <a:ln w="12700">
            <a:miter lim="400000"/>
          </a:ln>
          <a:extLst>
            <a:ext uri="{C572A759-6A51-4108-AA02-DFA0A04FC94B}">
              <ma14:wrappingTextBoxFlag xmlns="" xmlns:ma14="http://schemas.microsoft.com/office/mac/drawingml/2011/main" val="1"/>
            </a:ext>
          </a:extLst>
        </p:spPr>
        <p:txBody>
          <a:bodyPr lIns="45718" tIns="45718" rIns="45718" bIns="45718">
            <a:spAutoFit/>
          </a:bodyPr>
          <a:lstStyle>
            <a:lvl1pPr algn="ctr">
              <a:defRPr sz="3200">
                <a:solidFill>
                  <a:srgbClr val="C00000"/>
                </a:solidFill>
                <a:latin typeface="Book Antiqua"/>
                <a:ea typeface="Book Antiqua"/>
                <a:cs typeface="Book Antiqua"/>
                <a:sym typeface="Book Antiqua"/>
              </a:defRPr>
            </a:lvl1pPr>
          </a:lstStyle>
          <a:p>
            <a:r>
              <a:t>3. PRINCIPIO DI COLPEVOLEZZA</a:t>
            </a:r>
          </a:p>
        </p:txBody>
      </p:sp>
      <p:sp>
        <p:nvSpPr>
          <p:cNvPr id="387" name="Segnaposto contenuto 2"/>
          <p:cNvSpPr/>
          <p:nvPr/>
        </p:nvSpPr>
        <p:spPr>
          <a:xfrm>
            <a:off x="217529" y="5188982"/>
            <a:ext cx="8557223" cy="1343175"/>
          </a:xfrm>
          <a:prstGeom prst="rect">
            <a:avLst/>
          </a:prstGeom>
          <a:ln w="12700">
            <a:miter lim="400000"/>
          </a:ln>
          <a:extLst>
            <a:ext uri="{C572A759-6A51-4108-AA02-DFA0A04FC94B}">
              <ma14:wrappingTextBoxFlag xmlns="" xmlns:ma14="http://schemas.microsoft.com/office/mac/drawingml/2011/main" val="1"/>
            </a:ext>
          </a:extLst>
        </p:spPr>
        <p:txBody>
          <a:bodyPr lIns="45718" tIns="45718" rIns="45718" bIns="45718">
            <a:normAutofit/>
          </a:bodyPr>
          <a:lstStyle/>
          <a:p>
            <a:pPr algn="just">
              <a:lnSpc>
                <a:spcPct val="110000"/>
              </a:lnSpc>
              <a:spcBef>
                <a:spcPts val="300"/>
              </a:spcBef>
              <a:defRPr sz="2400" b="0">
                <a:latin typeface="Book Antiqua"/>
                <a:ea typeface="Book Antiqua"/>
                <a:cs typeface="Book Antiqua"/>
                <a:sym typeface="Book Antiqua"/>
              </a:defRPr>
            </a:pPr>
            <a:r>
              <a:rPr dirty="0"/>
              <a:t>È </a:t>
            </a:r>
            <a:r>
              <a:rPr dirty="0" err="1"/>
              <a:t>necessario</a:t>
            </a:r>
            <a:r>
              <a:rPr dirty="0"/>
              <a:t> </a:t>
            </a:r>
            <a:r>
              <a:rPr dirty="0" err="1"/>
              <a:t>che</a:t>
            </a:r>
            <a:r>
              <a:rPr dirty="0"/>
              <a:t> </a:t>
            </a:r>
            <a:r>
              <a:rPr dirty="0" err="1"/>
              <a:t>detto</a:t>
            </a:r>
            <a:r>
              <a:rPr dirty="0"/>
              <a:t> </a:t>
            </a:r>
            <a:r>
              <a:rPr dirty="0" err="1"/>
              <a:t>comportamento</a:t>
            </a:r>
            <a:r>
              <a:rPr dirty="0"/>
              <a:t> </a:t>
            </a:r>
            <a:r>
              <a:rPr b="1" u="sng" dirty="0" err="1"/>
              <a:t>leda</a:t>
            </a:r>
            <a:r>
              <a:rPr dirty="0"/>
              <a:t> (o, in </a:t>
            </a:r>
            <a:r>
              <a:rPr dirty="0" err="1"/>
              <a:t>determinati</a:t>
            </a:r>
            <a:r>
              <a:rPr dirty="0"/>
              <a:t> </a:t>
            </a:r>
            <a:r>
              <a:rPr dirty="0" err="1"/>
              <a:t>casi</a:t>
            </a:r>
            <a:r>
              <a:rPr dirty="0"/>
              <a:t>, </a:t>
            </a:r>
            <a:r>
              <a:rPr b="1" u="sng" dirty="0" err="1"/>
              <a:t>metta</a:t>
            </a:r>
            <a:r>
              <a:rPr b="1" u="sng" dirty="0"/>
              <a:t> in </a:t>
            </a:r>
            <a:r>
              <a:rPr b="1" u="sng" dirty="0" err="1"/>
              <a:t>pericolo</a:t>
            </a:r>
            <a:r>
              <a:rPr dirty="0"/>
              <a:t>) </a:t>
            </a:r>
            <a:r>
              <a:rPr dirty="0" err="1"/>
              <a:t>beni</a:t>
            </a:r>
            <a:r>
              <a:rPr dirty="0"/>
              <a:t> </a:t>
            </a:r>
            <a:r>
              <a:rPr dirty="0" err="1"/>
              <a:t>giuridici</a:t>
            </a:r>
            <a:r>
              <a:rPr dirty="0"/>
              <a:t> </a:t>
            </a:r>
            <a:r>
              <a:rPr dirty="0" err="1"/>
              <a:t>costituzionalmente</a:t>
            </a:r>
            <a:r>
              <a:rPr dirty="0"/>
              <a:t> </a:t>
            </a:r>
            <a:r>
              <a:rPr dirty="0" err="1"/>
              <a:t>tutelati</a:t>
            </a:r>
            <a:r>
              <a:rPr dirty="0"/>
              <a:t>.</a:t>
            </a:r>
          </a:p>
        </p:txBody>
      </p:sp>
      <p:sp>
        <p:nvSpPr>
          <p:cNvPr id="388" name="Rettangolo 7"/>
          <p:cNvSpPr/>
          <p:nvPr/>
        </p:nvSpPr>
        <p:spPr>
          <a:xfrm>
            <a:off x="1175485" y="4623356"/>
            <a:ext cx="6641312" cy="586737"/>
          </a:xfrm>
          <a:prstGeom prst="rect">
            <a:avLst/>
          </a:prstGeom>
          <a:ln w="12700">
            <a:miter lim="400000"/>
          </a:ln>
          <a:extLst>
            <a:ext uri="{C572A759-6A51-4108-AA02-DFA0A04FC94B}">
              <ma14:wrappingTextBoxFlag xmlns="" xmlns:ma14="http://schemas.microsoft.com/office/mac/drawingml/2011/main" val="1"/>
            </a:ext>
          </a:extLst>
        </p:spPr>
        <p:txBody>
          <a:bodyPr lIns="45718" tIns="45718" rIns="45718" bIns="45718">
            <a:spAutoFit/>
          </a:bodyPr>
          <a:lstStyle>
            <a:lvl1pPr algn="ctr">
              <a:defRPr sz="3200">
                <a:solidFill>
                  <a:srgbClr val="C00000"/>
                </a:solidFill>
                <a:latin typeface="Book Antiqua"/>
                <a:ea typeface="Book Antiqua"/>
                <a:cs typeface="Book Antiqua"/>
                <a:sym typeface="Book Antiqua"/>
              </a:defRPr>
            </a:lvl1pPr>
          </a:lstStyle>
          <a:p>
            <a:r>
              <a:t>4. PRINCIPIO DI OFFENSIVITÀ</a:t>
            </a:r>
          </a:p>
        </p:txBody>
      </p:sp>
      <p:sp>
        <p:nvSpPr>
          <p:cNvPr id="389" name="Text Box 5"/>
          <p:cNvSpPr/>
          <p:nvPr/>
        </p:nvSpPr>
        <p:spPr>
          <a:xfrm>
            <a:off x="872155" y="110241"/>
            <a:ext cx="8227274" cy="584439"/>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a14="http://schemas.microsoft.com/office/mac/drawingml/2011/main"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Principi codicistici e costituzionali</a:t>
            </a:r>
          </a:p>
        </p:txBody>
      </p:sp>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 name="Rettangolo 1"/>
          <p:cNvSpPr/>
          <p:nvPr/>
        </p:nvSpPr>
        <p:spPr>
          <a:xfrm>
            <a:off x="190687" y="900009"/>
            <a:ext cx="8762625" cy="586737"/>
          </a:xfrm>
          <a:prstGeom prst="rect">
            <a:avLst/>
          </a:prstGeom>
          <a:ln w="12700">
            <a:miter lim="400000"/>
          </a:ln>
          <a:extLst>
            <a:ext uri="{C572A759-6A51-4108-AA02-DFA0A04FC94B}">
              <ma14:wrappingTextBoxFlag xmlns="" xmlns:ma14="http://schemas.microsoft.com/office/mac/drawingml/2011/main" val="1"/>
            </a:ext>
          </a:extLst>
        </p:spPr>
        <p:txBody>
          <a:bodyPr lIns="45718" tIns="45718" rIns="45718" bIns="45718">
            <a:spAutoFit/>
          </a:bodyPr>
          <a:lstStyle/>
          <a:p>
            <a:pPr algn="ctr">
              <a:defRPr sz="3200">
                <a:solidFill>
                  <a:srgbClr val="C00000"/>
                </a:solidFill>
                <a:latin typeface="Book Antiqua"/>
                <a:ea typeface="Book Antiqua"/>
                <a:cs typeface="Book Antiqua"/>
                <a:sym typeface="Book Antiqua"/>
              </a:defRPr>
            </a:pPr>
            <a:r>
              <a:t>5. </a:t>
            </a:r>
            <a:r>
              <a:rPr cap="small"/>
              <a:t>Personalità della responsabilità penale </a:t>
            </a:r>
          </a:p>
        </p:txBody>
      </p:sp>
      <p:sp>
        <p:nvSpPr>
          <p:cNvPr id="392" name="CasellaDiTesto 9"/>
          <p:cNvSpPr/>
          <p:nvPr/>
        </p:nvSpPr>
        <p:spPr>
          <a:xfrm>
            <a:off x="549267" y="1546798"/>
            <a:ext cx="5417174" cy="3393437"/>
          </a:xfrm>
          <a:prstGeom prst="rect">
            <a:avLst/>
          </a:prstGeom>
          <a:ln w="12700">
            <a:miter lim="400000"/>
          </a:ln>
          <a:extLst>
            <a:ext uri="{C572A759-6A51-4108-AA02-DFA0A04FC94B}">
              <ma14:wrappingTextBoxFlag xmlns="" xmlns:ma14="http://schemas.microsoft.com/office/mac/drawingml/2011/main" val="1"/>
            </a:ext>
          </a:extLst>
        </p:spPr>
        <p:txBody>
          <a:bodyPr lIns="45718" tIns="45718" rIns="45718" bIns="45718">
            <a:spAutoFit/>
          </a:bodyPr>
          <a:lstStyle/>
          <a:p>
            <a:pPr>
              <a:lnSpc>
                <a:spcPct val="150000"/>
              </a:lnSpc>
              <a:defRPr sz="2200">
                <a:solidFill>
                  <a:srgbClr val="002F8E"/>
                </a:solidFill>
                <a:latin typeface="Book Antiqua"/>
                <a:ea typeface="Book Antiqua"/>
                <a:cs typeface="Book Antiqua"/>
                <a:sym typeface="Book Antiqua"/>
              </a:defRPr>
            </a:pPr>
            <a:r>
              <a:t>Art. 27 Cost. </a:t>
            </a:r>
            <a:endParaRPr>
              <a:latin typeface="Times New Roman"/>
              <a:ea typeface="Times New Roman"/>
              <a:cs typeface="Times New Roman"/>
              <a:sym typeface="Times New Roman"/>
            </a:endParaRPr>
          </a:p>
          <a:p>
            <a:pPr>
              <a:lnSpc>
                <a:spcPct val="150000"/>
              </a:lnSpc>
              <a:defRPr sz="2200" b="0" i="1">
                <a:latin typeface="Book Antiqua"/>
                <a:ea typeface="Book Antiqua"/>
                <a:cs typeface="Book Antiqua"/>
                <a:sym typeface="Book Antiqua"/>
              </a:defRPr>
            </a:pPr>
            <a:r>
              <a:t>«La responsabilità penale è </a:t>
            </a:r>
            <a:r>
              <a:rPr b="1"/>
              <a:t>personale</a:t>
            </a:r>
            <a:r>
              <a:t>.</a:t>
            </a:r>
            <a:endParaRPr>
              <a:latin typeface="Times New Roman"/>
              <a:ea typeface="Times New Roman"/>
              <a:cs typeface="Times New Roman"/>
              <a:sym typeface="Times New Roman"/>
            </a:endParaRPr>
          </a:p>
          <a:p>
            <a:pPr algn="just">
              <a:lnSpc>
                <a:spcPct val="150000"/>
              </a:lnSpc>
              <a:defRPr sz="2200" b="0" i="1">
                <a:latin typeface="Book Antiqua"/>
                <a:ea typeface="Book Antiqua"/>
                <a:cs typeface="Book Antiqua"/>
                <a:sym typeface="Book Antiqua"/>
              </a:defRPr>
            </a:pPr>
            <a:r>
              <a:t>L’imputato non è considerato colpevole sino alla </a:t>
            </a:r>
            <a:r>
              <a:rPr b="1"/>
              <a:t>condanna definitiva</a:t>
            </a:r>
            <a:r>
              <a:t>.</a:t>
            </a:r>
            <a:endParaRPr>
              <a:latin typeface="Times New Roman"/>
              <a:ea typeface="Times New Roman"/>
              <a:cs typeface="Times New Roman"/>
              <a:sym typeface="Times New Roman"/>
            </a:endParaRPr>
          </a:p>
          <a:p>
            <a:pPr algn="just">
              <a:lnSpc>
                <a:spcPct val="150000"/>
              </a:lnSpc>
              <a:defRPr sz="2200" b="0" i="1">
                <a:latin typeface="Book Antiqua"/>
                <a:ea typeface="Book Antiqua"/>
                <a:cs typeface="Book Antiqua"/>
                <a:sym typeface="Book Antiqua"/>
              </a:defRPr>
            </a:pPr>
            <a:r>
              <a:t>Le pene non possono consistere in trattamenti contrari al senso di umanità e devono tendere alla </a:t>
            </a:r>
            <a:r>
              <a:rPr b="1"/>
              <a:t>rieducazione del condannato</a:t>
            </a:r>
            <a:r>
              <a:t>»</a:t>
            </a:r>
          </a:p>
        </p:txBody>
      </p:sp>
      <p:sp>
        <p:nvSpPr>
          <p:cNvPr id="393" name="Segnaposto contenuto 2"/>
          <p:cNvSpPr>
            <a:spLocks noGrp="1"/>
          </p:cNvSpPr>
          <p:nvPr>
            <p:ph type="body" sz="quarter" idx="1"/>
          </p:nvPr>
        </p:nvSpPr>
        <p:spPr>
          <a:xfrm>
            <a:off x="1019300" y="5589239"/>
            <a:ext cx="7105399" cy="950911"/>
          </a:xfrm>
          <a:prstGeom prst="rect">
            <a:avLst/>
          </a:prstGeom>
        </p:spPr>
        <p:txBody>
          <a:bodyPr/>
          <a:lstStyle>
            <a:lvl1pPr marL="0" indent="0" algn="ctr">
              <a:lnSpc>
                <a:spcPct val="110000"/>
              </a:lnSpc>
              <a:spcBef>
                <a:spcPts val="300"/>
              </a:spcBef>
              <a:buSzTx/>
              <a:buNone/>
              <a:defRPr sz="2400" b="1">
                <a:latin typeface="Book Antiqua"/>
                <a:ea typeface="Book Antiqua"/>
                <a:cs typeface="Book Antiqua"/>
                <a:sym typeface="Book Antiqua"/>
              </a:defRPr>
            </a:lvl1pPr>
          </a:lstStyle>
          <a:p>
            <a:r>
              <a:t>Nessuno può essere considerato penalmente responsabile per un fatto altrui.</a:t>
            </a:r>
          </a:p>
        </p:txBody>
      </p:sp>
      <p:sp>
        <p:nvSpPr>
          <p:cNvPr id="394" name="Text Box 5"/>
          <p:cNvSpPr/>
          <p:nvPr/>
        </p:nvSpPr>
        <p:spPr>
          <a:xfrm>
            <a:off x="872155" y="110241"/>
            <a:ext cx="8227274" cy="584439"/>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a14="http://schemas.microsoft.com/office/mac/drawingml/2011/main"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Principi codicistici e costituzionali</a:t>
            </a:r>
          </a:p>
        </p:txBody>
      </p:sp>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 name="CasellaDiTesto 6"/>
          <p:cNvSpPr/>
          <p:nvPr/>
        </p:nvSpPr>
        <p:spPr>
          <a:xfrm>
            <a:off x="401711" y="2232599"/>
            <a:ext cx="8045465" cy="3298187"/>
          </a:xfrm>
          <a:prstGeom prst="rect">
            <a:avLst/>
          </a:prstGeom>
          <a:ln w="12700">
            <a:miter lim="400000"/>
          </a:ln>
          <a:extLst>
            <a:ext uri="{C572A759-6A51-4108-AA02-DFA0A04FC94B}">
              <ma14:wrappingTextBoxFlag xmlns="" xmlns:ma14="http://schemas.microsoft.com/office/mac/drawingml/2011/main" val="1"/>
            </a:ext>
          </a:extLst>
        </p:spPr>
        <p:txBody>
          <a:bodyPr lIns="45718" tIns="45718" rIns="45718" bIns="45718">
            <a:spAutoFit/>
          </a:bodyPr>
          <a:lstStyle/>
          <a:p>
            <a:pPr>
              <a:lnSpc>
                <a:spcPct val="150000"/>
              </a:lnSpc>
              <a:defRPr sz="2200">
                <a:solidFill>
                  <a:srgbClr val="002F8E"/>
                </a:solidFill>
                <a:latin typeface="Book Antiqua"/>
                <a:ea typeface="Book Antiqua"/>
                <a:cs typeface="Book Antiqua"/>
                <a:sym typeface="Book Antiqua"/>
              </a:defRPr>
            </a:pPr>
            <a:r>
              <a:t>Art. 3 c.p. «Obbligatorietà della legge penale»</a:t>
            </a:r>
          </a:p>
          <a:p>
            <a:pPr>
              <a:lnSpc>
                <a:spcPct val="150000"/>
              </a:lnSpc>
              <a:defRPr sz="2200">
                <a:solidFill>
                  <a:srgbClr val="002F8E"/>
                </a:solidFill>
                <a:latin typeface="Book Antiqua"/>
                <a:ea typeface="Book Antiqua"/>
                <a:cs typeface="Book Antiqua"/>
                <a:sym typeface="Book Antiqua"/>
              </a:defRPr>
            </a:pPr>
            <a:endParaRPr b="0"/>
          </a:p>
          <a:p>
            <a:pPr algn="just">
              <a:lnSpc>
                <a:spcPct val="150000"/>
              </a:lnSpc>
              <a:defRPr sz="2100" b="0" i="1">
                <a:latin typeface="Book Antiqua"/>
                <a:ea typeface="Book Antiqua"/>
                <a:cs typeface="Book Antiqua"/>
                <a:sym typeface="Book Antiqua"/>
              </a:defRPr>
            </a:pPr>
            <a:r>
              <a:t>«La legge penale italiana </a:t>
            </a:r>
            <a:r>
              <a:rPr b="1" u="sng">
                <a:solidFill>
                  <a:srgbClr val="C00000"/>
                </a:solidFill>
              </a:rPr>
              <a:t>obbliga tutti</a:t>
            </a:r>
            <a:r>
              <a:t> coloro che, cittadini o stranieri, si trovano nel territorio dello Stato, salve le eccezioni stabilite dal diritto pubblico interno o dal diritto internazionale.[…]»</a:t>
            </a:r>
          </a:p>
          <a:p>
            <a:pPr algn="just">
              <a:lnSpc>
                <a:spcPct val="150000"/>
              </a:lnSpc>
              <a:defRPr sz="2000" b="0">
                <a:latin typeface="Book Antiqua"/>
                <a:ea typeface="Book Antiqua"/>
                <a:cs typeface="Book Antiqua"/>
                <a:sym typeface="Book Antiqua"/>
              </a:defRPr>
            </a:pPr>
            <a:r>
              <a:t>	</a:t>
            </a:r>
            <a:endParaRPr>
              <a:latin typeface="Times New Roman"/>
              <a:ea typeface="Times New Roman"/>
              <a:cs typeface="Times New Roman"/>
              <a:sym typeface="Times New Roman"/>
            </a:endParaRPr>
          </a:p>
          <a:p>
            <a:pPr algn="just">
              <a:lnSpc>
                <a:spcPct val="150000"/>
              </a:lnSpc>
              <a:defRPr sz="2200" b="0">
                <a:latin typeface="Book Antiqua"/>
                <a:ea typeface="Book Antiqua"/>
                <a:cs typeface="Book Antiqua"/>
                <a:sym typeface="Book Antiqua"/>
              </a:defRPr>
            </a:pPr>
            <a:r>
              <a:t>	</a:t>
            </a:r>
          </a:p>
        </p:txBody>
      </p:sp>
      <p:sp>
        <p:nvSpPr>
          <p:cNvPr id="397" name="Rettangolo 7"/>
          <p:cNvSpPr/>
          <p:nvPr/>
        </p:nvSpPr>
        <p:spPr>
          <a:xfrm>
            <a:off x="190687" y="900009"/>
            <a:ext cx="8762625" cy="586737"/>
          </a:xfrm>
          <a:prstGeom prst="rect">
            <a:avLst/>
          </a:prstGeom>
          <a:ln w="12700">
            <a:miter lim="400000"/>
          </a:ln>
          <a:extLst>
            <a:ext uri="{C572A759-6A51-4108-AA02-DFA0A04FC94B}">
              <ma14:wrappingTextBoxFlag xmlns="" xmlns:ma14="http://schemas.microsoft.com/office/mac/drawingml/2011/main" val="1"/>
            </a:ext>
          </a:extLst>
        </p:spPr>
        <p:txBody>
          <a:bodyPr lIns="45718" tIns="45718" rIns="45718" bIns="45718">
            <a:spAutoFit/>
          </a:bodyPr>
          <a:lstStyle>
            <a:lvl1pPr algn="ctr">
              <a:defRPr sz="3200" cap="small">
                <a:solidFill>
                  <a:srgbClr val="C00000"/>
                </a:solidFill>
                <a:latin typeface="Book Antiqua"/>
                <a:ea typeface="Book Antiqua"/>
                <a:cs typeface="Book Antiqua"/>
                <a:sym typeface="Book Antiqua"/>
              </a:defRPr>
            </a:lvl1pPr>
          </a:lstStyle>
          <a:p>
            <a:r>
              <a:t>Obbligatorietà della legge penale</a:t>
            </a:r>
          </a:p>
        </p:txBody>
      </p:sp>
      <p:sp>
        <p:nvSpPr>
          <p:cNvPr id="398" name="Text Box 5"/>
          <p:cNvSpPr/>
          <p:nvPr/>
        </p:nvSpPr>
        <p:spPr>
          <a:xfrm>
            <a:off x="872155" y="110241"/>
            <a:ext cx="8227274" cy="584439"/>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a14="http://schemas.microsoft.com/office/mac/drawingml/2011/main"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Principi derivanti dal Codice Penale</a:t>
            </a:r>
          </a:p>
        </p:txBody>
      </p:sp>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 name="ECCEZIONI:…"/>
          <p:cNvSpPr>
            <a:spLocks noGrp="1"/>
          </p:cNvSpPr>
          <p:nvPr>
            <p:ph type="body" idx="1"/>
          </p:nvPr>
        </p:nvSpPr>
        <p:spPr>
          <a:xfrm>
            <a:off x="628650" y="994282"/>
            <a:ext cx="7886700" cy="5723525"/>
          </a:xfrm>
          <a:prstGeom prst="rect">
            <a:avLst/>
          </a:prstGeom>
        </p:spPr>
        <p:txBody>
          <a:bodyPr/>
          <a:lstStyle/>
          <a:p>
            <a:pPr marL="0" indent="0" algn="just" defTabSz="822959">
              <a:lnSpc>
                <a:spcPct val="200000"/>
              </a:lnSpc>
              <a:spcBef>
                <a:spcPts val="0"/>
              </a:spcBef>
              <a:buSzTx/>
              <a:buFontTx/>
              <a:buNone/>
              <a:defRPr sz="1890">
                <a:solidFill>
                  <a:srgbClr val="FF0000"/>
                </a:solidFill>
                <a:latin typeface="Book Antiqua"/>
                <a:ea typeface="Book Antiqua"/>
                <a:cs typeface="Book Antiqua"/>
                <a:sym typeface="Book Antiqua"/>
              </a:defRPr>
            </a:pPr>
            <a:r>
              <a:t>ECCEZIONI</a:t>
            </a:r>
            <a:r>
              <a:rPr>
                <a:solidFill>
                  <a:srgbClr val="000000"/>
                </a:solidFill>
              </a:rPr>
              <a:t>: </a:t>
            </a:r>
          </a:p>
          <a:p>
            <a:pPr marL="0" indent="0" algn="just" defTabSz="822959">
              <a:lnSpc>
                <a:spcPct val="140000"/>
              </a:lnSpc>
              <a:spcBef>
                <a:spcPts val="0"/>
              </a:spcBef>
              <a:buSzTx/>
              <a:buFontTx/>
              <a:buNone/>
              <a:defRPr sz="1979">
                <a:solidFill>
                  <a:srgbClr val="FF2F92"/>
                </a:solidFill>
                <a:latin typeface="Book Antiqua"/>
                <a:ea typeface="Book Antiqua"/>
                <a:cs typeface="Book Antiqua"/>
                <a:sym typeface="Book Antiqua"/>
              </a:defRPr>
            </a:pPr>
            <a:r>
              <a:t>IMMUNITA’ PENALI </a:t>
            </a:r>
            <a:r>
              <a:rPr>
                <a:solidFill>
                  <a:srgbClr val="000000"/>
                </a:solidFill>
              </a:rPr>
              <a:t>- </a:t>
            </a:r>
            <a:r>
              <a:rPr sz="1350">
                <a:solidFill>
                  <a:srgbClr val="000000"/>
                </a:solidFill>
              </a:rPr>
              <a:t>particolari prerogative riconosciute a determinate persone (o classi di persone) che adempiono funzioni o ricoprono uffici di particolare importanza. </a:t>
            </a:r>
          </a:p>
          <a:p>
            <a:pPr marL="0" indent="0" algn="just" defTabSz="822959">
              <a:lnSpc>
                <a:spcPct val="140000"/>
              </a:lnSpc>
              <a:spcBef>
                <a:spcPts val="0"/>
              </a:spcBef>
              <a:buSzTx/>
              <a:buFontTx/>
              <a:buNone/>
              <a:defRPr sz="1350">
                <a:latin typeface="Book Antiqua"/>
                <a:ea typeface="Book Antiqua"/>
                <a:cs typeface="Book Antiqua"/>
                <a:sym typeface="Book Antiqua"/>
              </a:defRPr>
            </a:pPr>
            <a:r>
              <a:t>Possono avere carattere </a:t>
            </a:r>
            <a:r>
              <a:rPr b="1" u="sng"/>
              <a:t>assoluto </a:t>
            </a:r>
            <a:r>
              <a:t>(estendendosi a tutti i reati) o carattere </a:t>
            </a:r>
            <a:r>
              <a:rPr b="1" u="sng"/>
              <a:t>relativo </a:t>
            </a:r>
            <a:r>
              <a:t>( riconosciute solo in costanza di carica o richiedono l’autorizzazione al procedimento penale da parte di organi diversi dal giudice ordinario).</a:t>
            </a:r>
          </a:p>
          <a:p>
            <a:pPr marL="0" indent="0" algn="just" defTabSz="822959">
              <a:lnSpc>
                <a:spcPct val="140000"/>
              </a:lnSpc>
              <a:spcBef>
                <a:spcPts val="0"/>
              </a:spcBef>
              <a:buSzTx/>
              <a:buFontTx/>
              <a:buNone/>
              <a:defRPr sz="1350">
                <a:latin typeface="Book Antiqua"/>
                <a:ea typeface="Book Antiqua"/>
                <a:cs typeface="Book Antiqua"/>
                <a:sym typeface="Book Antiqua"/>
              </a:defRPr>
            </a:pPr>
            <a:endParaRPr sz="1979"/>
          </a:p>
          <a:p>
            <a:pPr marL="135354" indent="-135354" algn="just" defTabSz="822959">
              <a:lnSpc>
                <a:spcPct val="140000"/>
              </a:lnSpc>
              <a:spcBef>
                <a:spcPts val="0"/>
              </a:spcBef>
              <a:buFontTx/>
              <a:defRPr sz="1350" b="1" u="sng">
                <a:latin typeface="Book Antiqua"/>
                <a:ea typeface="Book Antiqua"/>
                <a:cs typeface="Book Antiqua"/>
                <a:sym typeface="Book Antiqua"/>
              </a:defRPr>
            </a:pPr>
            <a:r>
              <a:t>SOSTANZIALI</a:t>
            </a:r>
            <a:r>
              <a:rPr b="0" u="none"/>
              <a:t>: riferite ad </a:t>
            </a:r>
            <a:r>
              <a:rPr b="0"/>
              <a:t>atti compiuti nell’esercizio delle proprie funzioni.</a:t>
            </a:r>
            <a:r>
              <a:rPr b="0" u="none"/>
              <a:t> Escludono la rilevanza penale del fatto. (</a:t>
            </a:r>
            <a:r>
              <a:rPr b="0" i="1" u="none"/>
              <a:t>es:</a:t>
            </a:r>
            <a:r>
              <a:rPr b="0" u="none"/>
              <a:t> </a:t>
            </a:r>
            <a:r>
              <a:rPr b="0" i="1" u="none"/>
              <a:t>i membri del parlamento non possono essere chiamati a rispondere per le opinioni espresse nel i voti dati nell’esercizio delle loro funzioni)</a:t>
            </a:r>
          </a:p>
          <a:p>
            <a:pPr marL="0" indent="0" algn="just" defTabSz="822959">
              <a:lnSpc>
                <a:spcPct val="140000"/>
              </a:lnSpc>
              <a:spcBef>
                <a:spcPts val="0"/>
              </a:spcBef>
              <a:buSzTx/>
              <a:buFontTx/>
              <a:buNone/>
              <a:defRPr sz="1350" b="1" u="sng">
                <a:latin typeface="Book Antiqua"/>
                <a:ea typeface="Book Antiqua"/>
                <a:cs typeface="Book Antiqua"/>
                <a:sym typeface="Book Antiqua"/>
              </a:defRPr>
            </a:pPr>
            <a:endParaRPr sz="1979" b="0" i="1"/>
          </a:p>
          <a:p>
            <a:pPr marL="135354" indent="-135354" algn="just" defTabSz="822959">
              <a:lnSpc>
                <a:spcPct val="140000"/>
              </a:lnSpc>
              <a:spcBef>
                <a:spcPts val="0"/>
              </a:spcBef>
              <a:buFontTx/>
              <a:defRPr sz="1350" b="1" u="sng">
                <a:latin typeface="Book Antiqua"/>
                <a:ea typeface="Book Antiqua"/>
                <a:cs typeface="Book Antiqua"/>
                <a:sym typeface="Book Antiqua"/>
              </a:defRPr>
            </a:pPr>
            <a:r>
              <a:t>PROCESSUALI</a:t>
            </a:r>
            <a:r>
              <a:rPr b="0" u="none"/>
              <a:t>: riferite ad atti compiuti f</a:t>
            </a:r>
            <a:r>
              <a:rPr b="0"/>
              <a:t>uori dall’esercizio delle proprie funzioni</a:t>
            </a:r>
            <a:r>
              <a:rPr b="0" u="none"/>
              <a:t> e perseguibili al momento della cessazione della carica. Non escludono la rilevanza penale del fatto, ma impediscono o limitano l’esercizio dell’azione penale o di specifici atti processuali senza una particolare autorizzazione o in determinate condizioni. </a:t>
            </a:r>
            <a:r>
              <a:rPr b="0" i="1" u="none"/>
              <a:t>(es: immunità processuale dei parlamentari- per arresto, perquisizioni ecc… in quanto è necessaria l’autorizzazione della camera di appartenenza , salvo flagranza per gravi reati.).</a:t>
            </a:r>
          </a:p>
        </p:txBody>
      </p:sp>
      <p:sp>
        <p:nvSpPr>
          <p:cNvPr id="401" name="OBBLIGATORIETA’ DELL’AZIONE PENALE"/>
          <p:cNvSpPr/>
          <p:nvPr/>
        </p:nvSpPr>
        <p:spPr>
          <a:xfrm>
            <a:off x="620500" y="172948"/>
            <a:ext cx="8516474" cy="574037"/>
          </a:xfrm>
          <a:prstGeom prst="rect">
            <a:avLst/>
          </a:prstGeom>
          <a:ln w="12700">
            <a:miter lim="400000"/>
          </a:ln>
          <a:extLst>
            <a:ext uri="{C572A759-6A51-4108-AA02-DFA0A04FC94B}">
              <ma14:wrappingTextBoxFlag xmlns="" xmlns:ma14="http://schemas.microsoft.com/office/mac/drawingml/2011/main" val="1"/>
            </a:ext>
          </a:extLst>
        </p:spPr>
        <p:txBody>
          <a:bodyPr lIns="45718" tIns="45718" rIns="45718" bIns="45718">
            <a:spAutoFit/>
          </a:bodyPr>
          <a:lstStyle>
            <a:lvl1pPr defTabSz="786383">
              <a:lnSpc>
                <a:spcPct val="90000"/>
              </a:lnSpc>
              <a:defRPr sz="3100" b="0">
                <a:solidFill>
                  <a:srgbClr val="FCFCFC"/>
                </a:solidFill>
                <a:latin typeface="Book Antiqua"/>
                <a:ea typeface="Book Antiqua"/>
                <a:cs typeface="Book Antiqua"/>
                <a:sym typeface="Book Antiqua"/>
              </a:defRPr>
            </a:lvl1pPr>
          </a:lstStyle>
          <a:p>
            <a:r>
              <a:t>OBBLIGATORIETA’ DELL’AZIONE PENALE</a:t>
            </a:r>
          </a:p>
        </p:txBody>
      </p:sp>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 name="ART. 112 Cost. - il PM ha l’obbligo di esercitare l’azione penale.…"/>
          <p:cNvSpPr>
            <a:spLocks noGrp="1"/>
          </p:cNvSpPr>
          <p:nvPr>
            <p:ph type="body" idx="1"/>
          </p:nvPr>
        </p:nvSpPr>
        <p:spPr>
          <a:xfrm>
            <a:off x="317629" y="1253331"/>
            <a:ext cx="8508742" cy="4351338"/>
          </a:xfrm>
          <a:prstGeom prst="rect">
            <a:avLst/>
          </a:prstGeom>
        </p:spPr>
        <p:txBody>
          <a:bodyPr/>
          <a:lstStyle/>
          <a:p>
            <a:pPr marL="0" indent="0">
              <a:buSzTx/>
              <a:buNone/>
              <a:defRPr>
                <a:solidFill>
                  <a:srgbClr val="FF0000"/>
                </a:solidFill>
                <a:latin typeface="Book Antiqua"/>
                <a:ea typeface="Book Antiqua"/>
                <a:cs typeface="Book Antiqua"/>
                <a:sym typeface="Book Antiqua"/>
              </a:defRPr>
            </a:pPr>
            <a:r>
              <a:t>ART. 112 Cost.</a:t>
            </a:r>
            <a:r>
              <a:rPr>
                <a:solidFill>
                  <a:srgbClr val="000000"/>
                </a:solidFill>
              </a:rPr>
              <a:t> </a:t>
            </a:r>
            <a:r>
              <a:rPr sz="2200">
                <a:solidFill>
                  <a:srgbClr val="000000"/>
                </a:solidFill>
              </a:rPr>
              <a:t>- il PM ha l’obbligo di esercitare l’azione penale.</a:t>
            </a:r>
          </a:p>
          <a:p>
            <a:pPr marL="0" indent="0">
              <a:buSzTx/>
              <a:buNone/>
              <a:defRPr>
                <a:latin typeface="Book Antiqua"/>
                <a:ea typeface="Book Antiqua"/>
                <a:cs typeface="Book Antiqua"/>
                <a:sym typeface="Book Antiqua"/>
              </a:defRPr>
            </a:pPr>
            <a:endParaRPr sz="2200">
              <a:solidFill>
                <a:srgbClr val="000000"/>
              </a:solidFill>
            </a:endParaRPr>
          </a:p>
          <a:p>
            <a:pPr marL="0" indent="0">
              <a:buSzTx/>
              <a:buNone/>
              <a:defRPr>
                <a:latin typeface="Book Antiqua"/>
                <a:ea typeface="Book Antiqua"/>
                <a:cs typeface="Book Antiqua"/>
                <a:sym typeface="Book Antiqua"/>
              </a:defRPr>
            </a:pPr>
            <a:endParaRPr sz="2200">
              <a:solidFill>
                <a:srgbClr val="000000"/>
              </a:solidFill>
            </a:endParaRPr>
          </a:p>
          <a:p>
            <a:pPr marL="0" indent="0" algn="just">
              <a:buSzTx/>
              <a:buNone/>
              <a:defRPr>
                <a:latin typeface="Book Antiqua"/>
                <a:ea typeface="Book Antiqua"/>
                <a:cs typeface="Book Antiqua"/>
                <a:sym typeface="Book Antiqua"/>
              </a:defRPr>
            </a:pPr>
            <a:r>
              <a:t>Lo scopo è quello di </a:t>
            </a:r>
            <a:r>
              <a:rPr u="sng"/>
              <a:t>sottrarre alla discrezionalità dell’AG e della PG la scelta di quali reati sia o meno opportuno perseguire.</a:t>
            </a:r>
          </a:p>
        </p:txBody>
      </p:sp>
      <p:sp>
        <p:nvSpPr>
          <p:cNvPr id="404" name="Numero diapositiva"/>
          <p:cNvSpPr>
            <a:spLocks noGrp="1"/>
          </p:cNvSpPr>
          <p:nvPr>
            <p:ph type="sldNum" sz="quarter" idx="4294967295"/>
          </p:nvPr>
        </p:nvSpPr>
        <p:spPr>
          <a:xfrm>
            <a:off x="8258809" y="6401180"/>
            <a:ext cx="256537" cy="275463"/>
          </a:xfrm>
          <a:prstGeom prst="rect">
            <a:avLst/>
          </a:prstGeom>
          <a:extLst>
            <a:ext uri="{C572A759-6A51-4108-AA02-DFA0A04FC94B}">
              <ma14:wrappingTextBoxFlag xmlns="" xmlns:ma14="http://schemas.microsoft.com/office/mac/drawingml/2011/main" val="1"/>
            </a:ext>
          </a:extLst>
        </p:spPr>
        <p:txBody>
          <a:bodyPr/>
          <a:lstStyle/>
          <a:p>
            <a:fld id="{86CB4B4D-7CA3-9044-876B-883B54F8677D}" type="slidenum">
              <a:rPr/>
              <a:t>32</a:t>
            </a:fld>
            <a:endParaRPr/>
          </a:p>
        </p:txBody>
      </p:sp>
      <p:sp>
        <p:nvSpPr>
          <p:cNvPr id="405" name="OBBLIGATORIETA’ DELL’AZIONE PENALE"/>
          <p:cNvSpPr>
            <a:spLocks noGrp="1"/>
          </p:cNvSpPr>
          <p:nvPr>
            <p:ph type="title"/>
          </p:nvPr>
        </p:nvSpPr>
        <p:spPr>
          <a:xfrm>
            <a:off x="726399" y="196286"/>
            <a:ext cx="7886701" cy="568979"/>
          </a:xfrm>
          <a:prstGeom prst="rect">
            <a:avLst/>
          </a:prstGeom>
        </p:spPr>
        <p:txBody>
          <a:bodyPr>
            <a:normAutofit fontScale="90000"/>
          </a:bodyPr>
          <a:lstStyle>
            <a:lvl1pPr defTabSz="715608">
              <a:defRPr sz="3003">
                <a:solidFill>
                  <a:srgbClr val="FCFCFC"/>
                </a:solidFill>
                <a:latin typeface="Book Antiqua"/>
                <a:ea typeface="Book Antiqua"/>
                <a:cs typeface="Book Antiqua"/>
                <a:sym typeface="Book Antiqua"/>
              </a:defRPr>
            </a:lvl1pPr>
          </a:lstStyle>
          <a:p>
            <a:r>
              <a:t>OBBLIGATORIETA’ DELL’AZIONE PENALE</a:t>
            </a:r>
          </a:p>
        </p:txBody>
      </p:sp>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7" name="Rettangolo 1"/>
          <p:cNvSpPr/>
          <p:nvPr/>
        </p:nvSpPr>
        <p:spPr>
          <a:xfrm>
            <a:off x="355519" y="1189595"/>
            <a:ext cx="8330415" cy="459737"/>
          </a:xfrm>
          <a:prstGeom prst="rect">
            <a:avLst/>
          </a:prstGeom>
          <a:ln w="12700">
            <a:miter lim="400000"/>
          </a:ln>
          <a:extLst>
            <a:ext uri="{C572A759-6A51-4108-AA02-DFA0A04FC94B}">
              <ma14:wrappingTextBoxFlag xmlns="" xmlns:ma14="http://schemas.microsoft.com/office/mac/drawingml/2011/main" val="1"/>
            </a:ext>
          </a:extLst>
        </p:spPr>
        <p:txBody>
          <a:bodyPr lIns="45718" tIns="45718" rIns="45718" bIns="45718">
            <a:spAutoFit/>
          </a:bodyPr>
          <a:lstStyle/>
          <a:p>
            <a:pPr algn="just">
              <a:defRPr sz="2400" b="0">
                <a:latin typeface="Book Antiqua"/>
                <a:ea typeface="Book Antiqua"/>
                <a:cs typeface="Book Antiqua"/>
                <a:sym typeface="Book Antiqua"/>
              </a:defRPr>
            </a:pPr>
            <a:r>
              <a:t>Codice Penale «Rocco» (1930) è suddiviso in </a:t>
            </a:r>
            <a:r>
              <a:rPr b="1"/>
              <a:t>3 libri</a:t>
            </a:r>
            <a:r>
              <a:t>:</a:t>
            </a:r>
          </a:p>
        </p:txBody>
      </p:sp>
      <p:sp>
        <p:nvSpPr>
          <p:cNvPr id="408" name="CasellaDiTesto 7"/>
          <p:cNvSpPr/>
          <p:nvPr/>
        </p:nvSpPr>
        <p:spPr>
          <a:xfrm>
            <a:off x="355515" y="1712820"/>
            <a:ext cx="6475023" cy="1272537"/>
          </a:xfrm>
          <a:prstGeom prst="rect">
            <a:avLst/>
          </a:prstGeom>
          <a:ln w="12700">
            <a:miter lim="400000"/>
          </a:ln>
          <a:extLst>
            <a:ext uri="{C572A759-6A51-4108-AA02-DFA0A04FC94B}">
              <ma14:wrappingTextBoxFlag xmlns="" xmlns:ma14="http://schemas.microsoft.com/office/mac/drawingml/2011/main" val="1"/>
            </a:ext>
          </a:extLst>
        </p:spPr>
        <p:txBody>
          <a:bodyPr lIns="45718" tIns="45718" rIns="45718" bIns="45718">
            <a:spAutoFit/>
          </a:bodyPr>
          <a:lstStyle/>
          <a:p>
            <a:pPr marL="342900" indent="-342900">
              <a:spcBef>
                <a:spcPts val="300"/>
              </a:spcBef>
              <a:buSzPct val="100000"/>
              <a:buFont typeface="Arial"/>
              <a:buChar char="•"/>
              <a:defRPr sz="2400" b="0">
                <a:latin typeface="Book Antiqua"/>
                <a:ea typeface="Book Antiqua"/>
                <a:cs typeface="Book Antiqua"/>
                <a:sym typeface="Book Antiqua"/>
              </a:defRPr>
            </a:pPr>
            <a:r>
              <a:t>I libro: dei </a:t>
            </a:r>
            <a:r>
              <a:rPr b="1">
                <a:solidFill>
                  <a:srgbClr val="002F8E"/>
                </a:solidFill>
              </a:rPr>
              <a:t>reati</a:t>
            </a:r>
            <a:r>
              <a:t> in generale</a:t>
            </a:r>
            <a:endParaRPr>
              <a:latin typeface="Times New Roman"/>
              <a:ea typeface="Times New Roman"/>
              <a:cs typeface="Times New Roman"/>
              <a:sym typeface="Times New Roman"/>
            </a:endParaRPr>
          </a:p>
          <a:p>
            <a:pPr marL="342900" indent="-342900">
              <a:spcBef>
                <a:spcPts val="300"/>
              </a:spcBef>
              <a:buSzPct val="100000"/>
              <a:buFont typeface="Arial"/>
              <a:buChar char="•"/>
              <a:defRPr sz="2400" b="0">
                <a:latin typeface="Book Antiqua"/>
                <a:ea typeface="Book Antiqua"/>
                <a:cs typeface="Book Antiqua"/>
                <a:sym typeface="Book Antiqua"/>
              </a:defRPr>
            </a:pPr>
            <a:r>
              <a:t>II libro: dei </a:t>
            </a:r>
            <a:r>
              <a:rPr b="1">
                <a:solidFill>
                  <a:srgbClr val="002F8E"/>
                </a:solidFill>
              </a:rPr>
              <a:t>delitti</a:t>
            </a:r>
            <a:r>
              <a:t> in particolare</a:t>
            </a:r>
            <a:endParaRPr>
              <a:latin typeface="Times New Roman"/>
              <a:ea typeface="Times New Roman"/>
              <a:cs typeface="Times New Roman"/>
              <a:sym typeface="Times New Roman"/>
            </a:endParaRPr>
          </a:p>
          <a:p>
            <a:pPr marL="342900" indent="-342900">
              <a:spcBef>
                <a:spcPts val="300"/>
              </a:spcBef>
              <a:buSzPct val="100000"/>
              <a:buFont typeface="Arial"/>
              <a:buChar char="•"/>
              <a:defRPr sz="2400" b="0">
                <a:latin typeface="Book Antiqua"/>
                <a:ea typeface="Book Antiqua"/>
                <a:cs typeface="Book Antiqua"/>
                <a:sym typeface="Book Antiqua"/>
              </a:defRPr>
            </a:pPr>
            <a:r>
              <a:t>III libro: delle </a:t>
            </a:r>
            <a:r>
              <a:rPr b="1">
                <a:solidFill>
                  <a:srgbClr val="002F8E"/>
                </a:solidFill>
              </a:rPr>
              <a:t>contravvenzioni</a:t>
            </a:r>
            <a:r>
              <a:t> in particolare</a:t>
            </a:r>
          </a:p>
        </p:txBody>
      </p:sp>
      <p:sp>
        <p:nvSpPr>
          <p:cNvPr id="409" name="Text Box 5"/>
          <p:cNvSpPr/>
          <p:nvPr/>
        </p:nvSpPr>
        <p:spPr>
          <a:xfrm>
            <a:off x="872155" y="110241"/>
            <a:ext cx="8227274" cy="584439"/>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a14="http://schemas.microsoft.com/office/mac/drawingml/2011/main"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Delitti e contravvenzioni</a:t>
            </a:r>
          </a:p>
        </p:txBody>
      </p:sp>
      <p:grpSp>
        <p:nvGrpSpPr>
          <p:cNvPr id="412" name="Rettangolo 2"/>
          <p:cNvGrpSpPr/>
          <p:nvPr/>
        </p:nvGrpSpPr>
        <p:grpSpPr>
          <a:xfrm>
            <a:off x="400050" y="3444384"/>
            <a:ext cx="8575355" cy="2288873"/>
            <a:chOff x="0" y="0"/>
            <a:chExt cx="8575354" cy="2288871"/>
          </a:xfrm>
        </p:grpSpPr>
        <p:sp>
          <p:nvSpPr>
            <p:cNvPr id="410" name="Rettangolo"/>
            <p:cNvSpPr/>
            <p:nvPr/>
          </p:nvSpPr>
          <p:spPr>
            <a:xfrm>
              <a:off x="0" y="-1"/>
              <a:ext cx="8575355" cy="2288872"/>
            </a:xfrm>
            <a:prstGeom prst="rect">
              <a:avLst/>
            </a:prstGeom>
            <a:noFill/>
            <a:ln w="57150" cap="flat">
              <a:solidFill>
                <a:srgbClr val="FF0000"/>
              </a:solidFill>
              <a:prstDash val="solid"/>
              <a:miter lim="800000"/>
            </a:ln>
            <a:effectLst/>
          </p:spPr>
          <p:txBody>
            <a:bodyPr wrap="square" lIns="45718" tIns="45718" rIns="45718" bIns="45718" numCol="1" anchor="ctr">
              <a:noAutofit/>
            </a:bodyPr>
            <a:lstStyle/>
            <a:p>
              <a:pPr algn="just">
                <a:spcBef>
                  <a:spcPts val="300"/>
                </a:spcBef>
                <a:defRPr>
                  <a:solidFill>
                    <a:srgbClr val="FFFFFF"/>
                  </a:solidFill>
                  <a:latin typeface="Calibri"/>
                  <a:ea typeface="Calibri"/>
                  <a:cs typeface="Calibri"/>
                  <a:sym typeface="Calibri"/>
                </a:defRPr>
              </a:pPr>
              <a:endParaRPr/>
            </a:p>
          </p:txBody>
        </p:sp>
        <p:sp>
          <p:nvSpPr>
            <p:cNvPr id="411" name="REATO…"/>
            <p:cNvSpPr/>
            <p:nvPr/>
          </p:nvSpPr>
          <p:spPr>
            <a:xfrm>
              <a:off x="74294" y="158912"/>
              <a:ext cx="8426766" cy="1971037"/>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45718" tIns="45718" rIns="45718" bIns="45718" numCol="1" anchor="ctr">
              <a:spAutoFit/>
            </a:bodyPr>
            <a:lstStyle/>
            <a:p>
              <a:pPr algn="ctr">
                <a:spcBef>
                  <a:spcPts val="300"/>
                </a:spcBef>
                <a:defRPr sz="3600">
                  <a:solidFill>
                    <a:srgbClr val="C00000"/>
                  </a:solidFill>
                  <a:latin typeface="Book Antiqua"/>
                  <a:ea typeface="Book Antiqua"/>
                  <a:cs typeface="Book Antiqua"/>
                  <a:sym typeface="Book Antiqua"/>
                </a:defRPr>
              </a:pPr>
              <a:r>
                <a:t>REATO</a:t>
              </a:r>
              <a:endParaRPr>
                <a:solidFill>
                  <a:srgbClr val="FFFFFF"/>
                </a:solidFill>
                <a:latin typeface="Calibri"/>
                <a:ea typeface="Calibri"/>
                <a:cs typeface="Calibri"/>
                <a:sym typeface="Calibri"/>
              </a:endParaRPr>
            </a:p>
            <a:p>
              <a:pPr algn="just">
                <a:spcBef>
                  <a:spcPts val="300"/>
                </a:spcBef>
                <a:defRPr sz="2800" b="0">
                  <a:latin typeface="Book Antiqua"/>
                  <a:ea typeface="Book Antiqua"/>
                  <a:cs typeface="Book Antiqua"/>
                  <a:sym typeface="Book Antiqua"/>
                </a:defRPr>
              </a:pPr>
              <a:r>
                <a:t>ogni fatto </a:t>
              </a:r>
              <a:r>
                <a:rPr b="1"/>
                <a:t>umano</a:t>
              </a:r>
              <a:r>
                <a:t>, </a:t>
              </a:r>
              <a:r>
                <a:rPr b="1"/>
                <a:t>tipico</a:t>
              </a:r>
              <a:r>
                <a:t>, </a:t>
              </a:r>
              <a:r>
                <a:rPr b="1"/>
                <a:t>antigiuridico</a:t>
              </a:r>
              <a:r>
                <a:t> e </a:t>
              </a:r>
              <a:r>
                <a:rPr b="1"/>
                <a:t>colpevole</a:t>
              </a:r>
              <a:r>
                <a:t>, a cui l’ordinamento ricollega l’erogazione di una sanzione penale (pena). </a:t>
              </a:r>
            </a:p>
          </p:txBody>
        </p:sp>
      </p:gr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35" presetClass="emph" presetSubtype="0" fill="hold" grpId="1" nodeType="clickEffect">
                                  <p:stCondLst>
                                    <p:cond delay="0"/>
                                  </p:stCondLst>
                                  <p:childTnLst>
                                    <p:anim calcmode="discrete" valueType="str">
                                      <p:cBhvr>
                                        <p:cTn id="6" dur="250" fill="hold"/>
                                        <p:tgtEl>
                                          <p:spTgt spid="41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2" grpId="1" animBg="1" advAuto="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CasellaDiTesto 8"/>
          <p:cNvSpPr/>
          <p:nvPr/>
        </p:nvSpPr>
        <p:spPr>
          <a:xfrm>
            <a:off x="614367" y="1120771"/>
            <a:ext cx="8483914" cy="3177537"/>
          </a:xfrm>
          <a:prstGeom prst="rect">
            <a:avLst/>
          </a:prstGeom>
          <a:ln w="12700">
            <a:miter lim="400000"/>
          </a:ln>
          <a:extLst>
            <a:ext uri="{C572A759-6A51-4108-AA02-DFA0A04FC94B}">
              <ma14:wrappingTextBoxFlag xmlns="" xmlns:ma14="http://schemas.microsoft.com/office/mac/drawingml/2011/main" val="1"/>
            </a:ext>
          </a:extLst>
        </p:spPr>
        <p:txBody>
          <a:bodyPr lIns="45718" tIns="45718" rIns="45718" bIns="45718">
            <a:spAutoFit/>
          </a:bodyPr>
          <a:lstStyle/>
          <a:p>
            <a:pPr>
              <a:spcBef>
                <a:spcPts val="300"/>
              </a:spcBef>
              <a:defRPr sz="2200">
                <a:solidFill>
                  <a:srgbClr val="002F8E"/>
                </a:solidFill>
                <a:latin typeface="Book Antiqua"/>
                <a:ea typeface="Book Antiqua"/>
                <a:cs typeface="Book Antiqua"/>
                <a:sym typeface="Book Antiqua"/>
              </a:defRPr>
            </a:pPr>
            <a:r>
              <a:t>Art. 17 c.p. «pene principali: specie»</a:t>
            </a:r>
            <a:endParaRPr>
              <a:latin typeface="Times New Roman"/>
              <a:ea typeface="Times New Roman"/>
              <a:cs typeface="Times New Roman"/>
              <a:sym typeface="Times New Roman"/>
            </a:endParaRPr>
          </a:p>
          <a:p>
            <a:pPr>
              <a:spcBef>
                <a:spcPts val="300"/>
              </a:spcBef>
              <a:defRPr sz="2200" b="0" i="1">
                <a:latin typeface="Book Antiqua"/>
                <a:ea typeface="Book Antiqua"/>
                <a:cs typeface="Book Antiqua"/>
                <a:sym typeface="Book Antiqua"/>
              </a:defRPr>
            </a:pPr>
            <a:r>
              <a:t>«</a:t>
            </a:r>
            <a:r>
              <a:rPr sz="2000"/>
              <a:t>Le pene principali stabilite per </a:t>
            </a:r>
            <a:r>
              <a:rPr sz="2000" u="sng"/>
              <a:t>i delitti </a:t>
            </a:r>
            <a:r>
              <a:rPr sz="2000"/>
              <a:t>sono:</a:t>
            </a:r>
            <a:endParaRPr>
              <a:latin typeface="Times New Roman"/>
              <a:ea typeface="Times New Roman"/>
              <a:cs typeface="Times New Roman"/>
              <a:sym typeface="Times New Roman"/>
            </a:endParaRPr>
          </a:p>
          <a:p>
            <a:pPr marL="342900" indent="-342900">
              <a:spcBef>
                <a:spcPts val="300"/>
              </a:spcBef>
              <a:buSzPct val="100000"/>
              <a:buFont typeface="Arial"/>
              <a:buChar char="•"/>
              <a:defRPr sz="2000" i="1">
                <a:solidFill>
                  <a:srgbClr val="C00000"/>
                </a:solidFill>
                <a:latin typeface="Book Antiqua"/>
                <a:ea typeface="Book Antiqua"/>
                <a:cs typeface="Book Antiqua"/>
                <a:sym typeface="Book Antiqua"/>
              </a:defRPr>
            </a:pPr>
            <a:r>
              <a:t>Ergastolo</a:t>
            </a:r>
            <a:r>
              <a:rPr>
                <a:solidFill>
                  <a:srgbClr val="000000"/>
                </a:solidFill>
              </a:rPr>
              <a:t> (pena perpetua)</a:t>
            </a:r>
            <a:endParaRPr>
              <a:latin typeface="Times New Roman"/>
              <a:ea typeface="Times New Roman"/>
              <a:cs typeface="Times New Roman"/>
              <a:sym typeface="Times New Roman"/>
            </a:endParaRPr>
          </a:p>
          <a:p>
            <a:pPr marL="342900" indent="-342900">
              <a:spcBef>
                <a:spcPts val="300"/>
              </a:spcBef>
              <a:buSzPct val="100000"/>
              <a:buFont typeface="Arial"/>
              <a:buChar char="•"/>
              <a:defRPr sz="2000" i="1">
                <a:solidFill>
                  <a:srgbClr val="C00000"/>
                </a:solidFill>
                <a:latin typeface="Book Antiqua"/>
                <a:ea typeface="Book Antiqua"/>
                <a:cs typeface="Book Antiqua"/>
                <a:sym typeface="Book Antiqua"/>
              </a:defRPr>
            </a:pPr>
            <a:r>
              <a:t>Reclusione</a:t>
            </a:r>
            <a:r>
              <a:rPr>
                <a:solidFill>
                  <a:srgbClr val="000000"/>
                </a:solidFill>
              </a:rPr>
              <a:t> (che va da un minimo di 15 gg ad un massimo di 24 anni)</a:t>
            </a:r>
            <a:endParaRPr>
              <a:latin typeface="Times New Roman"/>
              <a:ea typeface="Times New Roman"/>
              <a:cs typeface="Times New Roman"/>
              <a:sym typeface="Times New Roman"/>
            </a:endParaRPr>
          </a:p>
          <a:p>
            <a:pPr marL="342900" indent="-342900">
              <a:spcBef>
                <a:spcPts val="300"/>
              </a:spcBef>
              <a:buSzPct val="100000"/>
              <a:buFont typeface="Arial"/>
              <a:buChar char="•"/>
              <a:defRPr sz="2000" i="1">
                <a:solidFill>
                  <a:srgbClr val="C00000"/>
                </a:solidFill>
                <a:latin typeface="Book Antiqua"/>
                <a:ea typeface="Book Antiqua"/>
                <a:cs typeface="Book Antiqua"/>
                <a:sym typeface="Book Antiqua"/>
              </a:defRPr>
            </a:pPr>
            <a:r>
              <a:t>Multa</a:t>
            </a:r>
            <a:r>
              <a:rPr>
                <a:solidFill>
                  <a:srgbClr val="000000"/>
                </a:solidFill>
              </a:rPr>
              <a:t> (pagamento di una somma compresa fra 50 e 50.000 euro)</a:t>
            </a:r>
            <a:endParaRPr>
              <a:latin typeface="Times New Roman"/>
              <a:ea typeface="Times New Roman"/>
              <a:cs typeface="Times New Roman"/>
              <a:sym typeface="Times New Roman"/>
            </a:endParaRPr>
          </a:p>
          <a:p>
            <a:pPr>
              <a:spcBef>
                <a:spcPts val="300"/>
              </a:spcBef>
              <a:defRPr sz="2000" b="0" i="1">
                <a:latin typeface="Times New Roman"/>
                <a:ea typeface="Times New Roman"/>
                <a:cs typeface="Times New Roman"/>
                <a:sym typeface="Times New Roman"/>
              </a:defRPr>
            </a:pPr>
            <a:endParaRPr>
              <a:latin typeface="Times New Roman"/>
              <a:ea typeface="Times New Roman"/>
              <a:cs typeface="Times New Roman"/>
              <a:sym typeface="Times New Roman"/>
            </a:endParaRPr>
          </a:p>
          <a:p>
            <a:pPr>
              <a:spcBef>
                <a:spcPts val="300"/>
              </a:spcBef>
              <a:defRPr sz="2000" b="0" i="1">
                <a:latin typeface="Book Antiqua"/>
                <a:ea typeface="Book Antiqua"/>
                <a:cs typeface="Book Antiqua"/>
                <a:sym typeface="Book Antiqua"/>
              </a:defRPr>
            </a:pPr>
            <a:r>
              <a:t>Le pene principali stabilite per </a:t>
            </a:r>
            <a:r>
              <a:rPr u="sng"/>
              <a:t>le contravvenzioni </a:t>
            </a:r>
            <a:r>
              <a:t>sono:</a:t>
            </a:r>
            <a:endParaRPr>
              <a:latin typeface="Times New Roman"/>
              <a:ea typeface="Times New Roman"/>
              <a:cs typeface="Times New Roman"/>
              <a:sym typeface="Times New Roman"/>
            </a:endParaRPr>
          </a:p>
          <a:p>
            <a:pPr marL="342900" indent="-342900">
              <a:spcBef>
                <a:spcPts val="300"/>
              </a:spcBef>
              <a:buSzPct val="100000"/>
              <a:buFont typeface="Arial"/>
              <a:buChar char="•"/>
              <a:defRPr sz="2000" i="1">
                <a:solidFill>
                  <a:srgbClr val="C00000"/>
                </a:solidFill>
                <a:latin typeface="Book Antiqua"/>
                <a:ea typeface="Book Antiqua"/>
                <a:cs typeface="Book Antiqua"/>
                <a:sym typeface="Book Antiqua"/>
              </a:defRPr>
            </a:pPr>
            <a:r>
              <a:t>Arresto</a:t>
            </a:r>
            <a:r>
              <a:rPr>
                <a:solidFill>
                  <a:srgbClr val="000000"/>
                </a:solidFill>
              </a:rPr>
              <a:t> (che va da un minimo di 5 gg ad un massimo di 3 anni)</a:t>
            </a:r>
            <a:endParaRPr>
              <a:latin typeface="Times New Roman"/>
              <a:ea typeface="Times New Roman"/>
              <a:cs typeface="Times New Roman"/>
              <a:sym typeface="Times New Roman"/>
            </a:endParaRPr>
          </a:p>
          <a:p>
            <a:pPr marL="342900" indent="-342900">
              <a:spcBef>
                <a:spcPts val="300"/>
              </a:spcBef>
              <a:buSzPct val="100000"/>
              <a:buFont typeface="Arial"/>
              <a:buChar char="•"/>
              <a:defRPr sz="2000" i="1">
                <a:solidFill>
                  <a:srgbClr val="C00000"/>
                </a:solidFill>
                <a:latin typeface="Book Antiqua"/>
                <a:ea typeface="Book Antiqua"/>
                <a:cs typeface="Book Antiqua"/>
                <a:sym typeface="Book Antiqua"/>
              </a:defRPr>
            </a:pPr>
            <a:r>
              <a:t>Ammenda</a:t>
            </a:r>
            <a:r>
              <a:rPr>
                <a:solidFill>
                  <a:srgbClr val="000000"/>
                </a:solidFill>
              </a:rPr>
              <a:t> (pagamento di una somma compresa fra 20 e 10.000 euro)».</a:t>
            </a:r>
          </a:p>
        </p:txBody>
      </p:sp>
      <p:grpSp>
        <p:nvGrpSpPr>
          <p:cNvPr id="417" name="Rettangolo 2"/>
          <p:cNvGrpSpPr/>
          <p:nvPr/>
        </p:nvGrpSpPr>
        <p:grpSpPr>
          <a:xfrm>
            <a:off x="1259970" y="4977169"/>
            <a:ext cx="2736307" cy="1080127"/>
            <a:chOff x="0" y="-1"/>
            <a:chExt cx="2736306" cy="1080125"/>
          </a:xfrm>
        </p:grpSpPr>
        <p:sp>
          <p:nvSpPr>
            <p:cNvPr id="415" name="Rettangolo"/>
            <p:cNvSpPr/>
            <p:nvPr/>
          </p:nvSpPr>
          <p:spPr>
            <a:xfrm>
              <a:off x="-1" y="-2"/>
              <a:ext cx="2736308" cy="1080126"/>
            </a:xfrm>
            <a:prstGeom prst="rect">
              <a:avLst/>
            </a:prstGeom>
            <a:solidFill>
              <a:srgbClr val="FFFFFF"/>
            </a:solidFill>
            <a:ln w="12700" cap="flat">
              <a:solidFill>
                <a:srgbClr val="70AD47"/>
              </a:solidFill>
              <a:prstDash val="solid"/>
              <a:miter lim="800000"/>
            </a:ln>
            <a:effectLst/>
          </p:spPr>
          <p:txBody>
            <a:bodyPr wrap="square" lIns="45718" tIns="45718" rIns="45718" bIns="45718" numCol="1" anchor="ctr">
              <a:noAutofit/>
            </a:bodyPr>
            <a:lstStyle/>
            <a:p>
              <a:pPr algn="ctr">
                <a:defRPr>
                  <a:latin typeface="Calibri"/>
                  <a:ea typeface="Calibri"/>
                  <a:cs typeface="Calibri"/>
                  <a:sym typeface="Calibri"/>
                </a:defRPr>
              </a:pPr>
              <a:endParaRPr/>
            </a:p>
          </p:txBody>
        </p:sp>
        <p:sp>
          <p:nvSpPr>
            <p:cNvPr id="416" name="PENE DETENTIVE"/>
            <p:cNvSpPr/>
            <p:nvPr/>
          </p:nvSpPr>
          <p:spPr>
            <a:xfrm>
              <a:off x="52069" y="87942"/>
              <a:ext cx="2632168" cy="904237"/>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45718" tIns="45718" rIns="45718" bIns="45718" numCol="1" anchor="ctr">
              <a:spAutoFit/>
            </a:bodyPr>
            <a:lstStyle>
              <a:lvl1pPr algn="ctr">
                <a:defRPr sz="2800">
                  <a:latin typeface="Calibri"/>
                  <a:ea typeface="Calibri"/>
                  <a:cs typeface="Calibri"/>
                  <a:sym typeface="Calibri"/>
                </a:defRPr>
              </a:lvl1pPr>
            </a:lstStyle>
            <a:p>
              <a:r>
                <a:t>PENE DETENTIVE</a:t>
              </a:r>
            </a:p>
          </p:txBody>
        </p:sp>
      </p:grpSp>
      <p:grpSp>
        <p:nvGrpSpPr>
          <p:cNvPr id="420" name="Rettangolo 9"/>
          <p:cNvGrpSpPr/>
          <p:nvPr/>
        </p:nvGrpSpPr>
        <p:grpSpPr>
          <a:xfrm>
            <a:off x="5148064" y="4977169"/>
            <a:ext cx="2736308" cy="1080127"/>
            <a:chOff x="0" y="-1"/>
            <a:chExt cx="2736307" cy="1080125"/>
          </a:xfrm>
        </p:grpSpPr>
        <p:sp>
          <p:nvSpPr>
            <p:cNvPr id="418" name="Rettangolo"/>
            <p:cNvSpPr/>
            <p:nvPr/>
          </p:nvSpPr>
          <p:spPr>
            <a:xfrm>
              <a:off x="0" y="-2"/>
              <a:ext cx="2736308" cy="1080126"/>
            </a:xfrm>
            <a:prstGeom prst="rect">
              <a:avLst/>
            </a:prstGeom>
            <a:solidFill>
              <a:srgbClr val="FFFFFF"/>
            </a:solidFill>
            <a:ln w="12700" cap="flat">
              <a:solidFill>
                <a:srgbClr val="70AD47"/>
              </a:solidFill>
              <a:prstDash val="solid"/>
              <a:miter lim="800000"/>
            </a:ln>
            <a:effectLst/>
          </p:spPr>
          <p:txBody>
            <a:bodyPr wrap="square" lIns="45718" tIns="45718" rIns="45718" bIns="45718" numCol="1" anchor="ctr">
              <a:noAutofit/>
            </a:bodyPr>
            <a:lstStyle/>
            <a:p>
              <a:pPr algn="ctr">
                <a:defRPr>
                  <a:latin typeface="Calibri"/>
                  <a:ea typeface="Calibri"/>
                  <a:cs typeface="Calibri"/>
                  <a:sym typeface="Calibri"/>
                </a:defRPr>
              </a:pPr>
              <a:endParaRPr/>
            </a:p>
          </p:txBody>
        </p:sp>
        <p:sp>
          <p:nvSpPr>
            <p:cNvPr id="419" name="PENE PECUNIARIE"/>
            <p:cNvSpPr/>
            <p:nvPr/>
          </p:nvSpPr>
          <p:spPr>
            <a:xfrm>
              <a:off x="52069" y="87942"/>
              <a:ext cx="2632169" cy="904237"/>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45718" tIns="45718" rIns="45718" bIns="45718" numCol="1" anchor="ctr">
              <a:spAutoFit/>
            </a:bodyPr>
            <a:lstStyle>
              <a:lvl1pPr algn="ctr">
                <a:defRPr sz="2800">
                  <a:latin typeface="Calibri"/>
                  <a:ea typeface="Calibri"/>
                  <a:cs typeface="Calibri"/>
                  <a:sym typeface="Calibri"/>
                </a:defRPr>
              </a:lvl1pPr>
            </a:lstStyle>
            <a:p>
              <a:r>
                <a:t>PENE PECUNIARIE</a:t>
              </a:r>
            </a:p>
          </p:txBody>
        </p:sp>
      </p:grpSp>
      <p:sp>
        <p:nvSpPr>
          <p:cNvPr id="421" name="Text Box 5"/>
          <p:cNvSpPr/>
          <p:nvPr/>
        </p:nvSpPr>
        <p:spPr>
          <a:xfrm>
            <a:off x="872155" y="110241"/>
            <a:ext cx="8227274" cy="584439"/>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a14="http://schemas.microsoft.com/office/mac/drawingml/2011/main"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Delitti e contravvenzioni</a:t>
            </a:r>
          </a:p>
        </p:txBody>
      </p:sp>
    </p:spTree>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3" name="Segnaposto contenuto 2"/>
          <p:cNvSpPr>
            <a:spLocks noGrp="1"/>
          </p:cNvSpPr>
          <p:nvPr>
            <p:ph type="body" idx="1"/>
          </p:nvPr>
        </p:nvSpPr>
        <p:spPr>
          <a:xfrm>
            <a:off x="179509" y="980726"/>
            <a:ext cx="8784982" cy="5767034"/>
          </a:xfrm>
          <a:prstGeom prst="rect">
            <a:avLst/>
          </a:prstGeom>
        </p:spPr>
        <p:txBody>
          <a:bodyPr/>
          <a:lstStyle/>
          <a:p>
            <a:pPr marL="0" indent="0" algn="ctr">
              <a:lnSpc>
                <a:spcPct val="114000"/>
              </a:lnSpc>
              <a:spcBef>
                <a:spcPts val="0"/>
              </a:spcBef>
              <a:buSzTx/>
              <a:buNone/>
              <a:defRPr sz="2400" b="1">
                <a:latin typeface="Book Antiqua"/>
                <a:ea typeface="Book Antiqua"/>
                <a:cs typeface="Book Antiqua"/>
                <a:sym typeface="Book Antiqua"/>
              </a:defRPr>
            </a:pPr>
            <a:r>
              <a:t>Art. 39</a:t>
            </a:r>
            <a:r>
              <a:rPr b="0"/>
              <a:t>. «</a:t>
            </a:r>
            <a:r>
              <a:rPr b="0" i="1"/>
              <a:t>I reati si distinguono in delitti e contravvenzioni, </a:t>
            </a:r>
            <a:r>
              <a:rPr i="1" u="sng"/>
              <a:t>secondo la diversa specie delle pene</a:t>
            </a:r>
            <a:r>
              <a:rPr b="0" i="1"/>
              <a:t> per essi rispettivamente stabilite da questo codice</a:t>
            </a:r>
            <a:r>
              <a:rPr b="0"/>
              <a:t>».</a:t>
            </a:r>
          </a:p>
          <a:p>
            <a:pPr marL="0" indent="0" algn="ctr">
              <a:lnSpc>
                <a:spcPct val="114000"/>
              </a:lnSpc>
              <a:spcBef>
                <a:spcPts val="0"/>
              </a:spcBef>
              <a:buSzTx/>
              <a:buNone/>
              <a:defRPr sz="2000">
                <a:latin typeface="Book Antiqua"/>
                <a:ea typeface="Book Antiqua"/>
                <a:cs typeface="Book Antiqua"/>
                <a:sym typeface="Book Antiqua"/>
              </a:defRPr>
            </a:pPr>
            <a:endParaRPr b="0"/>
          </a:p>
          <a:p>
            <a:pPr marL="0" indent="0" algn="ctr">
              <a:lnSpc>
                <a:spcPct val="114000"/>
              </a:lnSpc>
              <a:spcBef>
                <a:spcPts val="0"/>
              </a:spcBef>
              <a:buSzTx/>
              <a:buNone/>
              <a:defRPr sz="2000">
                <a:latin typeface="Book Antiqua"/>
                <a:ea typeface="Book Antiqua"/>
                <a:cs typeface="Book Antiqua"/>
                <a:sym typeface="Book Antiqua"/>
              </a:defRPr>
            </a:pPr>
            <a:endParaRPr b="0"/>
          </a:p>
          <a:p>
            <a:pPr marL="0" indent="0" algn="ctr">
              <a:lnSpc>
                <a:spcPct val="114000"/>
              </a:lnSpc>
              <a:spcBef>
                <a:spcPts val="0"/>
              </a:spcBef>
              <a:buSzTx/>
              <a:buNone/>
              <a:defRPr sz="2000">
                <a:latin typeface="Book Antiqua"/>
                <a:ea typeface="Book Antiqua"/>
                <a:cs typeface="Book Antiqua"/>
                <a:sym typeface="Book Antiqua"/>
              </a:defRPr>
            </a:pPr>
            <a:endParaRPr b="0"/>
          </a:p>
          <a:p>
            <a:pPr marL="0" indent="0" algn="ctr">
              <a:lnSpc>
                <a:spcPct val="114000"/>
              </a:lnSpc>
              <a:spcBef>
                <a:spcPts val="0"/>
              </a:spcBef>
              <a:buSzTx/>
              <a:buNone/>
              <a:defRPr sz="2400" b="1">
                <a:solidFill>
                  <a:srgbClr val="002F8E"/>
                </a:solidFill>
                <a:latin typeface="Book Antiqua"/>
                <a:ea typeface="Book Antiqua"/>
                <a:cs typeface="Book Antiqua"/>
                <a:sym typeface="Book Antiqua"/>
              </a:defRPr>
            </a:pPr>
            <a:r>
              <a:t>I </a:t>
            </a:r>
            <a:r>
              <a:rPr>
                <a:solidFill>
                  <a:srgbClr val="FF0000"/>
                </a:solidFill>
              </a:rPr>
              <a:t>DELITTI</a:t>
            </a:r>
            <a:r>
              <a:t> richiedono, di norma, come normale criterio di imputazione </a:t>
            </a:r>
            <a:r>
              <a:rPr u="sng">
                <a:solidFill>
                  <a:srgbClr val="000000"/>
                </a:solidFill>
              </a:rPr>
              <a:t>il dolo</a:t>
            </a:r>
            <a:r>
              <a:t>, mentre la punibilità a titolo di colpa rappresenta l’eccezione. </a:t>
            </a:r>
          </a:p>
          <a:p>
            <a:pPr marL="0" indent="0" algn="ctr">
              <a:lnSpc>
                <a:spcPct val="114000"/>
              </a:lnSpc>
              <a:spcBef>
                <a:spcPts val="0"/>
              </a:spcBef>
              <a:buSzTx/>
              <a:buNone/>
              <a:defRPr sz="2400" b="1">
                <a:solidFill>
                  <a:srgbClr val="002F8E"/>
                </a:solidFill>
                <a:latin typeface="Book Antiqua"/>
                <a:ea typeface="Book Antiqua"/>
                <a:cs typeface="Book Antiqua"/>
                <a:sym typeface="Book Antiqua"/>
              </a:defRPr>
            </a:pPr>
            <a:endParaRPr/>
          </a:p>
          <a:p>
            <a:pPr marL="0" indent="0" algn="ctr">
              <a:lnSpc>
                <a:spcPct val="114000"/>
              </a:lnSpc>
              <a:spcBef>
                <a:spcPts val="0"/>
              </a:spcBef>
              <a:buSzTx/>
              <a:buNone/>
              <a:defRPr sz="2400" b="1">
                <a:solidFill>
                  <a:srgbClr val="002F8E"/>
                </a:solidFill>
                <a:latin typeface="Book Antiqua"/>
                <a:ea typeface="Book Antiqua"/>
                <a:cs typeface="Book Antiqua"/>
                <a:sym typeface="Book Antiqua"/>
              </a:defRPr>
            </a:pPr>
            <a:r>
              <a:t>Per le </a:t>
            </a:r>
            <a:r>
              <a:rPr>
                <a:solidFill>
                  <a:srgbClr val="FF0000"/>
                </a:solidFill>
              </a:rPr>
              <a:t>CONTRAVVENZIONI</a:t>
            </a:r>
            <a:r>
              <a:t>, invece, si risponde indifferentemente sia a titolo di </a:t>
            </a:r>
            <a:r>
              <a:rPr u="sng">
                <a:solidFill>
                  <a:srgbClr val="000000"/>
                </a:solidFill>
              </a:rPr>
              <a:t>dolo che di colpa</a:t>
            </a:r>
            <a:r>
              <a:t>. </a:t>
            </a:r>
          </a:p>
        </p:txBody>
      </p:sp>
      <p:sp>
        <p:nvSpPr>
          <p:cNvPr id="424" name="Text Box 5"/>
          <p:cNvSpPr/>
          <p:nvPr/>
        </p:nvSpPr>
        <p:spPr>
          <a:xfrm>
            <a:off x="872155" y="110241"/>
            <a:ext cx="8227274" cy="584439"/>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a14="http://schemas.microsoft.com/office/mac/drawingml/2011/main"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Delitti e contravvenzioni</a:t>
            </a:r>
          </a:p>
        </p:txBody>
      </p:sp>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6" name="Rettangolo 5"/>
          <p:cNvSpPr/>
          <p:nvPr/>
        </p:nvSpPr>
        <p:spPr>
          <a:xfrm>
            <a:off x="693283" y="1556792"/>
            <a:ext cx="7757432" cy="4409691"/>
          </a:xfrm>
          <a:prstGeom prst="rect">
            <a:avLst/>
          </a:prstGeom>
          <a:ln w="12700">
            <a:miter lim="400000"/>
          </a:ln>
          <a:extLst>
            <a:ext uri="{C572A759-6A51-4108-AA02-DFA0A04FC94B}">
              <ma14:wrappingTextBoxFlag xmlns="" xmlns:ma14="http://schemas.microsoft.com/office/mac/drawingml/2011/main" val="1"/>
            </a:ext>
          </a:extLst>
        </p:spPr>
        <p:txBody>
          <a:bodyPr lIns="45718" tIns="45718" rIns="45718" bIns="45718">
            <a:spAutoFit/>
          </a:bodyPr>
          <a:lstStyle/>
          <a:p>
            <a:pPr algn="just">
              <a:lnSpc>
                <a:spcPct val="114000"/>
              </a:lnSpc>
              <a:spcBef>
                <a:spcPts val="1200"/>
              </a:spcBef>
              <a:defRPr sz="2300" b="0">
                <a:latin typeface="Book Antiqua"/>
                <a:ea typeface="Book Antiqua"/>
                <a:cs typeface="Book Antiqua"/>
                <a:sym typeface="Book Antiqua"/>
              </a:defRPr>
            </a:pPr>
            <a:r>
              <a:t>Si definisce </a:t>
            </a:r>
            <a:r>
              <a:rPr b="1">
                <a:solidFill>
                  <a:srgbClr val="002F8E"/>
                </a:solidFill>
              </a:rPr>
              <a:t>SOGGETTO ATTIVO </a:t>
            </a:r>
            <a:r>
              <a:t>del reato </a:t>
            </a:r>
            <a:r>
              <a:rPr b="1"/>
              <a:t>la persona fisica che </a:t>
            </a:r>
            <a:r>
              <a:rPr b="1">
                <a:solidFill>
                  <a:srgbClr val="C00000"/>
                </a:solidFill>
              </a:rPr>
              <a:t>realizza</a:t>
            </a:r>
            <a:r>
              <a:rPr b="1"/>
              <a:t> un comportamento costituente reato e, pertanto, meritevole di una sanzione penale;</a:t>
            </a:r>
          </a:p>
          <a:p>
            <a:pPr marL="342900" indent="-342900" algn="just">
              <a:lnSpc>
                <a:spcPct val="114000"/>
              </a:lnSpc>
              <a:spcBef>
                <a:spcPts val="1200"/>
              </a:spcBef>
              <a:buSzPct val="100000"/>
              <a:buFont typeface="Arial"/>
              <a:buChar char="•"/>
              <a:defRPr sz="2300" b="0">
                <a:latin typeface="Book Antiqua"/>
                <a:ea typeface="Book Antiqua"/>
                <a:cs typeface="Book Antiqua"/>
                <a:sym typeface="Book Antiqua"/>
              </a:defRPr>
            </a:pPr>
            <a:r>
              <a:t>Affinché l’autore di un fatto previsto dalla legge come reato possa essere effettivamente punito, egli </a:t>
            </a:r>
            <a:r>
              <a:rPr b="1"/>
              <a:t>deve essere </a:t>
            </a:r>
            <a:r>
              <a:rPr b="1">
                <a:solidFill>
                  <a:srgbClr val="C00000"/>
                </a:solidFill>
              </a:rPr>
              <a:t>imputabile</a:t>
            </a:r>
            <a:r>
              <a:rPr b="1"/>
              <a:t>;</a:t>
            </a:r>
          </a:p>
          <a:p>
            <a:pPr algn="just">
              <a:lnSpc>
                <a:spcPct val="114000"/>
              </a:lnSpc>
              <a:spcBef>
                <a:spcPts val="1200"/>
              </a:spcBef>
              <a:defRPr sz="2300" b="0">
                <a:latin typeface="Book Antiqua"/>
                <a:ea typeface="Book Antiqua"/>
                <a:cs typeface="Book Antiqua"/>
                <a:sym typeface="Book Antiqua"/>
              </a:defRPr>
            </a:pPr>
            <a:endParaRPr b="1"/>
          </a:p>
          <a:p>
            <a:pPr algn="just">
              <a:lnSpc>
                <a:spcPct val="114000"/>
              </a:lnSpc>
              <a:spcBef>
                <a:spcPts val="1200"/>
              </a:spcBef>
              <a:defRPr sz="2300" b="0">
                <a:latin typeface="Book Antiqua"/>
                <a:ea typeface="Book Antiqua"/>
                <a:cs typeface="Book Antiqua"/>
                <a:sym typeface="Book Antiqua"/>
              </a:defRPr>
            </a:pPr>
            <a:r>
              <a:t>L’imputabilità è definita dall’art. 85 c.p. come </a:t>
            </a:r>
            <a:r>
              <a:rPr b="1">
                <a:solidFill>
                  <a:srgbClr val="C00000"/>
                </a:solidFill>
              </a:rPr>
              <a:t>capacità di intendere e di volere</a:t>
            </a:r>
            <a:r>
              <a:rPr b="1"/>
              <a:t> al momento della commissione del fatto.</a:t>
            </a:r>
          </a:p>
        </p:txBody>
      </p:sp>
      <p:sp>
        <p:nvSpPr>
          <p:cNvPr id="427" name="Text Box 5"/>
          <p:cNvSpPr/>
          <p:nvPr/>
        </p:nvSpPr>
        <p:spPr>
          <a:xfrm>
            <a:off x="872155" y="110241"/>
            <a:ext cx="8227274" cy="584439"/>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a14="http://schemas.microsoft.com/office/mac/drawingml/2011/main" val="1"/>
            </a:ext>
          </a:extLst>
        </p:spPr>
        <p:txBody>
          <a:bodyPr lIns="44569" tIns="44569" rIns="44569" bIns="44569">
            <a:spAutoFit/>
          </a:bodyPr>
          <a:lstStyle/>
          <a:p>
            <a:pPr>
              <a:defRPr sz="3200" b="0">
                <a:solidFill>
                  <a:srgbClr val="FFFFFF"/>
                </a:solidFill>
                <a:latin typeface="Book Antiqua"/>
                <a:ea typeface="Book Antiqua"/>
                <a:cs typeface="Book Antiqua"/>
                <a:sym typeface="Book Antiqua"/>
              </a:defRPr>
            </a:pPr>
            <a:r>
              <a:t>Il soggetto </a:t>
            </a:r>
            <a:r>
              <a:rPr b="1"/>
              <a:t>attivo</a:t>
            </a:r>
            <a:r>
              <a:t> del reato</a:t>
            </a:r>
          </a:p>
        </p:txBody>
      </p:sp>
      <p:sp>
        <p:nvSpPr>
          <p:cNvPr id="428" name="Freccia in giù 1"/>
          <p:cNvSpPr/>
          <p:nvPr/>
        </p:nvSpPr>
        <p:spPr>
          <a:xfrm>
            <a:off x="2450237" y="4208014"/>
            <a:ext cx="452762" cy="584443"/>
          </a:xfrm>
          <a:custGeom>
            <a:avLst/>
            <a:gdLst/>
            <a:ahLst/>
            <a:cxnLst>
              <a:cxn ang="0">
                <a:pos x="wd2" y="hd2"/>
              </a:cxn>
              <a:cxn ang="5400000">
                <a:pos x="wd2" y="hd2"/>
              </a:cxn>
              <a:cxn ang="10800000">
                <a:pos x="wd2" y="hd2"/>
              </a:cxn>
              <a:cxn ang="16200000">
                <a:pos x="wd2" y="hd2"/>
              </a:cxn>
            </a:cxnLst>
            <a:rect l="0" t="0" r="r" b="b"/>
            <a:pathLst>
              <a:path w="21600" h="21600" extrusionOk="0">
                <a:moveTo>
                  <a:pt x="0" y="13233"/>
                </a:moveTo>
                <a:lnTo>
                  <a:pt x="5400" y="13233"/>
                </a:lnTo>
                <a:lnTo>
                  <a:pt x="5400" y="0"/>
                </a:lnTo>
                <a:lnTo>
                  <a:pt x="16200" y="0"/>
                </a:lnTo>
                <a:lnTo>
                  <a:pt x="16200" y="13233"/>
                </a:lnTo>
                <a:lnTo>
                  <a:pt x="21600" y="13233"/>
                </a:lnTo>
                <a:lnTo>
                  <a:pt x="10800" y="21600"/>
                </a:lnTo>
                <a:close/>
              </a:path>
            </a:pathLst>
          </a:custGeom>
          <a:solidFill>
            <a:schemeClr val="accent2"/>
          </a:solidFill>
          <a:ln w="25400">
            <a:solidFill>
              <a:schemeClr val="accent1"/>
            </a:solidFill>
          </a:ln>
        </p:spPr>
        <p:txBody>
          <a:bodyPr lIns="45718" tIns="45718" rIns="45718" bIns="45718"/>
          <a:lstStyle/>
          <a:p>
            <a:pPr algn="ctr">
              <a:defRPr>
                <a:latin typeface="+mj-lt"/>
                <a:ea typeface="+mj-ea"/>
                <a:cs typeface="+mj-cs"/>
                <a:sym typeface="Arial"/>
              </a:defRPr>
            </a:pPr>
            <a:endParaRPr/>
          </a:p>
        </p:txBody>
      </p:sp>
    </p:spTree>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 name="Segnaposto contenuto 2"/>
          <p:cNvSpPr>
            <a:spLocks noGrp="1"/>
          </p:cNvSpPr>
          <p:nvPr>
            <p:ph type="body" idx="1"/>
          </p:nvPr>
        </p:nvSpPr>
        <p:spPr>
          <a:xfrm>
            <a:off x="457200" y="1196753"/>
            <a:ext cx="8229600" cy="4957120"/>
          </a:xfrm>
          <a:prstGeom prst="rect">
            <a:avLst/>
          </a:prstGeom>
        </p:spPr>
        <p:txBody>
          <a:bodyPr/>
          <a:lstStyle/>
          <a:p>
            <a:pPr marL="0" indent="0" algn="just" defTabSz="868680">
              <a:lnSpc>
                <a:spcPct val="150000"/>
              </a:lnSpc>
              <a:spcBef>
                <a:spcPts val="900"/>
              </a:spcBef>
              <a:buSzTx/>
              <a:buNone/>
              <a:defRPr sz="2000">
                <a:latin typeface="Book Antiqua"/>
                <a:ea typeface="Book Antiqua"/>
                <a:cs typeface="Book Antiqua"/>
                <a:sym typeface="Book Antiqua"/>
              </a:defRPr>
            </a:pPr>
            <a:r>
              <a:t>In relazione al soggetto attivo possiamo distinguere i reati in diverse categorie:</a:t>
            </a:r>
          </a:p>
          <a:p>
            <a:pPr marL="217170" indent="-217170" algn="just" defTabSz="868680">
              <a:lnSpc>
                <a:spcPct val="150000"/>
              </a:lnSpc>
              <a:spcBef>
                <a:spcPts val="900"/>
              </a:spcBef>
              <a:defRPr sz="2000" b="1">
                <a:solidFill>
                  <a:srgbClr val="C00000"/>
                </a:solidFill>
                <a:latin typeface="Book Antiqua"/>
                <a:ea typeface="Book Antiqua"/>
                <a:cs typeface="Book Antiqua"/>
                <a:sym typeface="Book Antiqua"/>
              </a:defRPr>
            </a:pPr>
            <a:r>
              <a:t>REATI COMUNI</a:t>
            </a:r>
            <a:r>
              <a:rPr b="0">
                <a:solidFill>
                  <a:srgbClr val="000000"/>
                </a:solidFill>
              </a:rPr>
              <a:t>: possono essere commessi da </a:t>
            </a:r>
            <a:r>
              <a:rPr>
                <a:solidFill>
                  <a:srgbClr val="000000"/>
                </a:solidFill>
              </a:rPr>
              <a:t>chiunque</a:t>
            </a:r>
            <a:r>
              <a:rPr b="0">
                <a:solidFill>
                  <a:srgbClr val="000000"/>
                </a:solidFill>
              </a:rPr>
              <a:t> </a:t>
            </a:r>
            <a:br>
              <a:rPr b="0">
                <a:solidFill>
                  <a:srgbClr val="000000"/>
                </a:solidFill>
              </a:rPr>
            </a:br>
            <a:r>
              <a:rPr b="0">
                <a:solidFill>
                  <a:srgbClr val="000000"/>
                </a:solidFill>
              </a:rPr>
              <a:t>(es. rapina, omicidio);</a:t>
            </a:r>
          </a:p>
          <a:p>
            <a:pPr marL="217170" indent="-217170" algn="just" defTabSz="868680">
              <a:lnSpc>
                <a:spcPct val="150000"/>
              </a:lnSpc>
              <a:spcBef>
                <a:spcPts val="900"/>
              </a:spcBef>
              <a:defRPr sz="2000" b="1">
                <a:solidFill>
                  <a:srgbClr val="C00000"/>
                </a:solidFill>
                <a:latin typeface="Book Antiqua"/>
                <a:ea typeface="Book Antiqua"/>
                <a:cs typeface="Book Antiqua"/>
                <a:sym typeface="Book Antiqua"/>
              </a:defRPr>
            </a:pPr>
            <a:r>
              <a:t>REATI PROPRI</a:t>
            </a:r>
            <a:r>
              <a:rPr b="0">
                <a:solidFill>
                  <a:srgbClr val="000000"/>
                </a:solidFill>
              </a:rPr>
              <a:t>: possono essere commessi solo da un soggetto che possieda una </a:t>
            </a:r>
            <a:r>
              <a:rPr>
                <a:solidFill>
                  <a:srgbClr val="000000"/>
                </a:solidFill>
              </a:rPr>
              <a:t>determinata qualifica </a:t>
            </a:r>
            <a:r>
              <a:rPr b="0">
                <a:solidFill>
                  <a:srgbClr val="000000"/>
                </a:solidFill>
              </a:rPr>
              <a:t>(</a:t>
            </a:r>
            <a:r>
              <a:rPr b="0" i="1">
                <a:solidFill>
                  <a:srgbClr val="000000"/>
                </a:solidFill>
              </a:rPr>
              <a:t>es. corruzione che può essere commessa solo dal pubblico ufficiale o l’incaricato di pubblico servizio. </a:t>
            </a:r>
            <a:r>
              <a:rPr b="0">
                <a:solidFill>
                  <a:srgbClr val="000000"/>
                </a:solidFill>
              </a:rPr>
              <a:t>Cosa si intenda per pubblico ufficiale o incaricato di pubblico servizio ce lo specificano gli artt. 357 e 358 c.p.);</a:t>
            </a:r>
          </a:p>
        </p:txBody>
      </p:sp>
      <p:sp>
        <p:nvSpPr>
          <p:cNvPr id="431" name="Text Box 5"/>
          <p:cNvSpPr/>
          <p:nvPr/>
        </p:nvSpPr>
        <p:spPr>
          <a:xfrm>
            <a:off x="872155" y="110241"/>
            <a:ext cx="8227274" cy="584439"/>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a14="http://schemas.microsoft.com/office/mac/drawingml/2011/main"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Il soggetto attivo del reato</a:t>
            </a:r>
          </a:p>
        </p:txBody>
      </p:sp>
    </p:spTree>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 name="Segnaposto contenuto 2"/>
          <p:cNvSpPr>
            <a:spLocks noGrp="1"/>
          </p:cNvSpPr>
          <p:nvPr>
            <p:ph type="body" idx="1"/>
          </p:nvPr>
        </p:nvSpPr>
        <p:spPr>
          <a:xfrm>
            <a:off x="584101" y="1124742"/>
            <a:ext cx="7975797" cy="5052224"/>
          </a:xfrm>
          <a:prstGeom prst="rect">
            <a:avLst/>
          </a:prstGeom>
        </p:spPr>
        <p:txBody>
          <a:bodyPr/>
          <a:lstStyle/>
          <a:p>
            <a:pPr>
              <a:lnSpc>
                <a:spcPct val="150000"/>
              </a:lnSpc>
              <a:defRPr sz="2200" b="1">
                <a:latin typeface="Book Antiqua"/>
                <a:ea typeface="Book Antiqua"/>
                <a:cs typeface="Book Antiqua"/>
                <a:sym typeface="Book Antiqua"/>
              </a:defRPr>
            </a:pPr>
            <a:r>
              <a:t>Reati </a:t>
            </a:r>
            <a:r>
              <a:rPr>
                <a:solidFill>
                  <a:srgbClr val="C00000"/>
                </a:solidFill>
              </a:rPr>
              <a:t>MONOSOGGETTIVI</a:t>
            </a:r>
            <a:r>
              <a:rPr b="0"/>
              <a:t>: possono essere commessi sia da </a:t>
            </a:r>
            <a:r>
              <a:t>una sola persona</a:t>
            </a:r>
            <a:r>
              <a:rPr b="0"/>
              <a:t> che da più persone in </a:t>
            </a:r>
            <a:r>
              <a:t>concorso</a:t>
            </a:r>
            <a:r>
              <a:rPr b="0"/>
              <a:t> tra loro (del concorso di persone nel reato, disciplinato dagli artt. 110 e seguenti c.p., si parlerà in seguito);</a:t>
            </a:r>
          </a:p>
          <a:p>
            <a:pPr>
              <a:lnSpc>
                <a:spcPct val="150000"/>
              </a:lnSpc>
              <a:defRPr sz="2200">
                <a:latin typeface="Book Antiqua"/>
                <a:ea typeface="Book Antiqua"/>
                <a:cs typeface="Book Antiqua"/>
                <a:sym typeface="Book Antiqua"/>
              </a:defRPr>
            </a:pPr>
            <a:endParaRPr b="0"/>
          </a:p>
          <a:p>
            <a:pPr>
              <a:lnSpc>
                <a:spcPct val="150000"/>
              </a:lnSpc>
              <a:defRPr sz="2200" b="1">
                <a:latin typeface="Book Antiqua"/>
                <a:ea typeface="Book Antiqua"/>
                <a:cs typeface="Book Antiqua"/>
                <a:sym typeface="Book Antiqua"/>
              </a:defRPr>
            </a:pPr>
            <a:r>
              <a:t>Reati </a:t>
            </a:r>
            <a:r>
              <a:rPr>
                <a:solidFill>
                  <a:srgbClr val="C00000"/>
                </a:solidFill>
              </a:rPr>
              <a:t>PLURISOGGETTIVI</a:t>
            </a:r>
            <a:r>
              <a:rPr b="0"/>
              <a:t>: richiedono necessariamente che a commetterli siano </a:t>
            </a:r>
            <a:r>
              <a:t>più persone </a:t>
            </a:r>
            <a:r>
              <a:rPr b="0"/>
              <a:t>(es. associazione per delinquere</a:t>
            </a:r>
            <a:r>
              <a:t>)</a:t>
            </a:r>
          </a:p>
        </p:txBody>
      </p:sp>
      <p:sp>
        <p:nvSpPr>
          <p:cNvPr id="434" name="Text Box 5"/>
          <p:cNvSpPr/>
          <p:nvPr/>
        </p:nvSpPr>
        <p:spPr>
          <a:xfrm>
            <a:off x="872155" y="110241"/>
            <a:ext cx="8227274" cy="584439"/>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a14="http://schemas.microsoft.com/office/mac/drawingml/2011/main"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Il soggetto attivo del reato</a:t>
            </a:r>
          </a:p>
        </p:txBody>
      </p:sp>
    </p:spTree>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 name="Rettangolo 5"/>
          <p:cNvSpPr/>
          <p:nvPr/>
        </p:nvSpPr>
        <p:spPr>
          <a:xfrm>
            <a:off x="693282" y="1196751"/>
            <a:ext cx="7757432" cy="4834763"/>
          </a:xfrm>
          <a:prstGeom prst="rect">
            <a:avLst/>
          </a:prstGeom>
          <a:ln w="12700">
            <a:miter lim="400000"/>
          </a:ln>
          <a:extLst>
            <a:ext uri="{C572A759-6A51-4108-AA02-DFA0A04FC94B}">
              <ma14:wrappingTextBoxFlag xmlns="" xmlns:ma14="http://schemas.microsoft.com/office/mac/drawingml/2011/main" val="1"/>
            </a:ext>
          </a:extLst>
        </p:spPr>
        <p:txBody>
          <a:bodyPr lIns="45718" tIns="45718" rIns="45718" bIns="45718">
            <a:spAutoFit/>
          </a:bodyPr>
          <a:lstStyle/>
          <a:p>
            <a:pPr algn="just">
              <a:lnSpc>
                <a:spcPct val="150000"/>
              </a:lnSpc>
              <a:defRPr sz="2400" b="0">
                <a:latin typeface="Book Antiqua"/>
                <a:ea typeface="Book Antiqua"/>
                <a:cs typeface="Book Antiqua"/>
                <a:sym typeface="Book Antiqua"/>
              </a:defRPr>
            </a:pPr>
            <a:r>
              <a:t>Il </a:t>
            </a:r>
            <a:r>
              <a:rPr b="1">
                <a:solidFill>
                  <a:srgbClr val="002F8E"/>
                </a:solidFill>
              </a:rPr>
              <a:t>SOGGETTO PASSIVO </a:t>
            </a:r>
            <a:r>
              <a:t>del reato (detto anche persona offesa dal reato) è la persona </a:t>
            </a:r>
            <a:r>
              <a:rPr b="1">
                <a:solidFill>
                  <a:srgbClr val="C00000"/>
                </a:solidFill>
              </a:rPr>
              <a:t>titolare</a:t>
            </a:r>
            <a:r>
              <a:rPr b="1"/>
              <a:t> del bene giuridico o dall’interesse tutelato dalla norma penale incriminatrice e leso dal reato.</a:t>
            </a:r>
            <a:endParaRPr>
              <a:latin typeface="Times New Roman"/>
              <a:ea typeface="Times New Roman"/>
              <a:cs typeface="Times New Roman"/>
              <a:sym typeface="Times New Roman"/>
            </a:endParaRPr>
          </a:p>
          <a:p>
            <a:pPr algn="ctr">
              <a:lnSpc>
                <a:spcPct val="150000"/>
              </a:lnSpc>
              <a:defRPr sz="2400">
                <a:latin typeface="Times New Roman"/>
                <a:ea typeface="Times New Roman"/>
                <a:cs typeface="Times New Roman"/>
                <a:sym typeface="Times New Roman"/>
              </a:defRPr>
            </a:pPr>
            <a:endParaRPr>
              <a:latin typeface="Times New Roman"/>
              <a:ea typeface="Times New Roman"/>
              <a:cs typeface="Times New Roman"/>
              <a:sym typeface="Times New Roman"/>
            </a:endParaRPr>
          </a:p>
          <a:p>
            <a:pPr algn="ctr">
              <a:lnSpc>
                <a:spcPct val="150000"/>
              </a:lnSpc>
              <a:defRPr sz="2400">
                <a:solidFill>
                  <a:srgbClr val="002F8E"/>
                </a:solidFill>
                <a:latin typeface="Book Antiqua"/>
                <a:ea typeface="Book Antiqua"/>
                <a:cs typeface="Book Antiqua"/>
                <a:sym typeface="Book Antiqua"/>
              </a:defRPr>
            </a:pPr>
            <a:r>
              <a:t>PERSONA OFFESA DAL REATO</a:t>
            </a:r>
            <a:endParaRPr>
              <a:latin typeface="Times New Roman"/>
              <a:ea typeface="Times New Roman"/>
              <a:cs typeface="Times New Roman"/>
              <a:sym typeface="Times New Roman"/>
            </a:endParaRPr>
          </a:p>
          <a:p>
            <a:pPr algn="just">
              <a:lnSpc>
                <a:spcPct val="150000"/>
              </a:lnSpc>
              <a:defRPr sz="2400" b="0">
                <a:latin typeface="Book Antiqua"/>
                <a:ea typeface="Book Antiqua"/>
                <a:cs typeface="Book Antiqua"/>
                <a:sym typeface="Book Antiqua"/>
              </a:defRPr>
            </a:pPr>
            <a:r>
              <a:t>Esempio: </a:t>
            </a:r>
            <a:r>
              <a:rPr i="1"/>
              <a:t>Nel reato di furto il bene giuridico tutelato è il patrimonio e la persona che subisce il furto è il soggetto passivo</a:t>
            </a:r>
          </a:p>
        </p:txBody>
      </p:sp>
      <p:sp>
        <p:nvSpPr>
          <p:cNvPr id="437" name="Freccia in giù 1"/>
          <p:cNvSpPr/>
          <p:nvPr/>
        </p:nvSpPr>
        <p:spPr>
          <a:xfrm>
            <a:off x="4427982" y="3429000"/>
            <a:ext cx="288035" cy="577609"/>
          </a:xfrm>
          <a:custGeom>
            <a:avLst/>
            <a:gdLst/>
            <a:ahLst/>
            <a:cxnLst>
              <a:cxn ang="0">
                <a:pos x="wd2" y="hd2"/>
              </a:cxn>
              <a:cxn ang="5400000">
                <a:pos x="wd2" y="hd2"/>
              </a:cxn>
              <a:cxn ang="10800000">
                <a:pos x="wd2" y="hd2"/>
              </a:cxn>
              <a:cxn ang="16200000">
                <a:pos x="wd2" y="hd2"/>
              </a:cxn>
            </a:cxnLst>
            <a:rect l="0" t="0" r="r" b="b"/>
            <a:pathLst>
              <a:path w="21600" h="21600" extrusionOk="0">
                <a:moveTo>
                  <a:pt x="0" y="16214"/>
                </a:moveTo>
                <a:lnTo>
                  <a:pt x="5400" y="16214"/>
                </a:lnTo>
                <a:lnTo>
                  <a:pt x="5400" y="0"/>
                </a:lnTo>
                <a:lnTo>
                  <a:pt x="16200" y="0"/>
                </a:lnTo>
                <a:lnTo>
                  <a:pt x="16200" y="16214"/>
                </a:lnTo>
                <a:lnTo>
                  <a:pt x="21600" y="16214"/>
                </a:lnTo>
                <a:lnTo>
                  <a:pt x="10800" y="21600"/>
                </a:lnTo>
                <a:close/>
              </a:path>
            </a:pathLst>
          </a:custGeom>
          <a:solidFill>
            <a:srgbClr val="4472C4"/>
          </a:solidFill>
          <a:ln w="12700">
            <a:solidFill>
              <a:srgbClr val="32538F"/>
            </a:solidFill>
            <a:miter/>
          </a:ln>
        </p:spPr>
        <p:txBody>
          <a:bodyPr lIns="45718" tIns="45718" rIns="45718" bIns="45718" anchor="ctr"/>
          <a:lstStyle/>
          <a:p>
            <a:pPr algn="ctr">
              <a:defRPr>
                <a:solidFill>
                  <a:srgbClr val="FFFFFF"/>
                </a:solidFill>
                <a:latin typeface="Calibri"/>
                <a:ea typeface="Calibri"/>
                <a:cs typeface="Calibri"/>
                <a:sym typeface="Calibri"/>
              </a:defRPr>
            </a:pPr>
            <a:endParaRPr/>
          </a:p>
        </p:txBody>
      </p:sp>
      <p:sp>
        <p:nvSpPr>
          <p:cNvPr id="438" name="Text Box 5"/>
          <p:cNvSpPr/>
          <p:nvPr/>
        </p:nvSpPr>
        <p:spPr>
          <a:xfrm>
            <a:off x="872155" y="110241"/>
            <a:ext cx="8227274" cy="584439"/>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a14="http://schemas.microsoft.com/office/mac/drawingml/2011/main" val="1"/>
            </a:ext>
          </a:extLst>
        </p:spPr>
        <p:txBody>
          <a:bodyPr lIns="44569" tIns="44569" rIns="44569" bIns="44569">
            <a:spAutoFit/>
          </a:bodyPr>
          <a:lstStyle/>
          <a:p>
            <a:pPr>
              <a:defRPr sz="3200" b="0">
                <a:solidFill>
                  <a:srgbClr val="FFFFFF"/>
                </a:solidFill>
                <a:latin typeface="Book Antiqua"/>
                <a:ea typeface="Book Antiqua"/>
                <a:cs typeface="Book Antiqua"/>
                <a:sym typeface="Book Antiqua"/>
              </a:defRPr>
            </a:pPr>
            <a:r>
              <a:t>Il soggetto </a:t>
            </a:r>
            <a:r>
              <a:rPr b="1"/>
              <a:t>passivo</a:t>
            </a:r>
            <a:r>
              <a:t> del reato</a:t>
            </a:r>
          </a:p>
        </p:txBody>
      </p:sp>
    </p:spTree>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 name="Rettangolo 1"/>
          <p:cNvSpPr/>
          <p:nvPr/>
        </p:nvSpPr>
        <p:spPr>
          <a:xfrm>
            <a:off x="693283" y="2132857"/>
            <a:ext cx="7613416" cy="3955889"/>
          </a:xfrm>
          <a:prstGeom prst="rect">
            <a:avLst/>
          </a:prstGeom>
          <a:ln w="12700">
            <a:miter lim="400000"/>
          </a:ln>
          <a:extLst>
            <a:ext uri="{C572A759-6A51-4108-AA02-DFA0A04FC94B}">
              <ma14:wrappingTextBoxFlag xmlns="" xmlns:ma14="http://schemas.microsoft.com/office/mac/drawingml/2011/main" val="1"/>
            </a:ext>
          </a:extLst>
        </p:spPr>
        <p:txBody>
          <a:bodyPr lIns="45718" tIns="45718" rIns="45718" bIns="45718">
            <a:spAutoFit/>
          </a:bodyPr>
          <a:lstStyle/>
          <a:p>
            <a:pPr algn="just">
              <a:lnSpc>
                <a:spcPct val="150000"/>
              </a:lnSpc>
              <a:defRPr sz="2200">
                <a:latin typeface="Book Antiqua"/>
                <a:ea typeface="Book Antiqua"/>
                <a:cs typeface="Book Antiqua"/>
                <a:sym typeface="Book Antiqua"/>
              </a:defRPr>
            </a:pPr>
            <a:r>
              <a:t>La </a:t>
            </a:r>
            <a:r>
              <a:rPr>
                <a:solidFill>
                  <a:srgbClr val="C00000"/>
                </a:solidFill>
              </a:rPr>
              <a:t>PERSONA DANNEGGIATA </a:t>
            </a:r>
            <a:r>
              <a:rPr b="0"/>
              <a:t>è colui che </a:t>
            </a:r>
            <a:r>
              <a:rPr u="sng"/>
              <a:t>subisce</a:t>
            </a:r>
            <a:r>
              <a:rPr b="0"/>
              <a:t> a causa del reato un </a:t>
            </a:r>
            <a:r>
              <a:rPr u="sng"/>
              <a:t>danno civilmente risarcibile</a:t>
            </a:r>
            <a:r>
              <a:rPr b="0"/>
              <a:t>. Tale soggetto può costituirsi parte civile nell’ambito del processo penale. </a:t>
            </a:r>
            <a:br>
              <a:rPr b="0"/>
            </a:br>
            <a:r>
              <a:rPr b="0"/>
              <a:t>I due soggetti sopra menzionati possono non coincidere.</a:t>
            </a:r>
            <a:endParaRPr>
              <a:latin typeface="Times New Roman"/>
              <a:ea typeface="Times New Roman"/>
              <a:cs typeface="Times New Roman"/>
              <a:sym typeface="Times New Roman"/>
            </a:endParaRPr>
          </a:p>
          <a:p>
            <a:pPr algn="just">
              <a:lnSpc>
                <a:spcPct val="150000"/>
              </a:lnSpc>
              <a:defRPr sz="1000" b="0">
                <a:latin typeface="Times New Roman"/>
                <a:ea typeface="Times New Roman"/>
                <a:cs typeface="Times New Roman"/>
                <a:sym typeface="Times New Roman"/>
              </a:defRPr>
            </a:pPr>
            <a:endParaRPr>
              <a:latin typeface="Times New Roman"/>
              <a:ea typeface="Times New Roman"/>
              <a:cs typeface="Times New Roman"/>
              <a:sym typeface="Times New Roman"/>
            </a:endParaRPr>
          </a:p>
          <a:p>
            <a:pPr algn="just">
              <a:lnSpc>
                <a:spcPct val="150000"/>
              </a:lnSpc>
              <a:defRPr sz="2000" b="0" i="1">
                <a:latin typeface="Book Antiqua"/>
                <a:ea typeface="Book Antiqua"/>
                <a:cs typeface="Book Antiqua"/>
                <a:sym typeface="Book Antiqua"/>
              </a:defRPr>
            </a:pPr>
            <a:r>
              <a:t>Esempio:</a:t>
            </a:r>
            <a:r>
              <a:rPr i="0"/>
              <a:t> </a:t>
            </a:r>
            <a:r>
              <a:rPr b="1" i="0"/>
              <a:t>omicidio</a:t>
            </a:r>
            <a:r>
              <a:rPr i="0"/>
              <a:t> (bene giuridico tutelato = vita).</a:t>
            </a:r>
            <a:endParaRPr>
              <a:latin typeface="Times New Roman"/>
              <a:ea typeface="Times New Roman"/>
              <a:cs typeface="Times New Roman"/>
              <a:sym typeface="Times New Roman"/>
            </a:endParaRPr>
          </a:p>
          <a:p>
            <a:pPr algn="just">
              <a:lnSpc>
                <a:spcPct val="150000"/>
              </a:lnSpc>
              <a:defRPr sz="2000" b="0">
                <a:latin typeface="Book Antiqua"/>
                <a:ea typeface="Book Antiqua"/>
                <a:cs typeface="Book Antiqua"/>
                <a:sym typeface="Book Antiqua"/>
              </a:defRPr>
            </a:pPr>
            <a:r>
              <a:t>Il titolare dell’interesse alla vita è la vittima dell’omicidio (soggetto passivo) mentre a chiedere il risarcimento del danno saranno i congiunti della vittima (persone danneggiate).</a:t>
            </a:r>
          </a:p>
        </p:txBody>
      </p:sp>
      <p:sp>
        <p:nvSpPr>
          <p:cNvPr id="441" name="CasellaDiTesto 2"/>
          <p:cNvSpPr/>
          <p:nvPr/>
        </p:nvSpPr>
        <p:spPr>
          <a:xfrm>
            <a:off x="1377360" y="1196753"/>
            <a:ext cx="7037352" cy="459737"/>
          </a:xfrm>
          <a:prstGeom prst="rect">
            <a:avLst/>
          </a:prstGeom>
          <a:ln w="12700">
            <a:miter lim="400000"/>
          </a:ln>
          <a:extLst>
            <a:ext uri="{C572A759-6A51-4108-AA02-DFA0A04FC94B}">
              <ma14:wrappingTextBoxFlag xmlns="" xmlns:ma14="http://schemas.microsoft.com/office/mac/drawingml/2011/main" val="1"/>
            </a:ext>
          </a:extLst>
        </p:spPr>
        <p:txBody>
          <a:bodyPr lIns="45718" tIns="45718" rIns="45718" bIns="45718">
            <a:spAutoFit/>
          </a:bodyPr>
          <a:lstStyle>
            <a:lvl1pPr>
              <a:defRPr sz="2400" i="1">
                <a:solidFill>
                  <a:srgbClr val="002F8E"/>
                </a:solidFill>
                <a:latin typeface="Book Antiqua"/>
                <a:ea typeface="Book Antiqua"/>
                <a:cs typeface="Book Antiqua"/>
                <a:sym typeface="Book Antiqua"/>
              </a:defRPr>
            </a:lvl1pPr>
          </a:lstStyle>
          <a:p>
            <a:r>
              <a:t>Soggetto passivo e persona danneggiata dal reato</a:t>
            </a:r>
          </a:p>
        </p:txBody>
      </p:sp>
      <p:sp>
        <p:nvSpPr>
          <p:cNvPr id="442" name="Text Box 5"/>
          <p:cNvSpPr/>
          <p:nvPr/>
        </p:nvSpPr>
        <p:spPr>
          <a:xfrm>
            <a:off x="872155" y="110241"/>
            <a:ext cx="8227274" cy="584439"/>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a14="http://schemas.microsoft.com/office/mac/drawingml/2011/main"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Il soggetto passivo del reato</a:t>
            </a:r>
          </a:p>
        </p:txBody>
      </p:sp>
    </p:spTree>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 name="Rettangolo 5"/>
          <p:cNvSpPr/>
          <p:nvPr/>
        </p:nvSpPr>
        <p:spPr>
          <a:xfrm>
            <a:off x="297239" y="1052737"/>
            <a:ext cx="8549521" cy="5158737"/>
          </a:xfrm>
          <a:prstGeom prst="rect">
            <a:avLst/>
          </a:prstGeom>
          <a:ln w="12700">
            <a:miter lim="400000"/>
          </a:ln>
          <a:extLst>
            <a:ext uri="{C572A759-6A51-4108-AA02-DFA0A04FC94B}">
              <ma14:wrappingTextBoxFlag xmlns="" xmlns:ma14="http://schemas.microsoft.com/office/mac/drawingml/2011/main" val="1"/>
            </a:ext>
          </a:extLst>
        </p:spPr>
        <p:txBody>
          <a:bodyPr lIns="45718" tIns="45718" rIns="45718" bIns="45718">
            <a:spAutoFit/>
          </a:bodyPr>
          <a:lstStyle/>
          <a:p>
            <a:pPr algn="just">
              <a:lnSpc>
                <a:spcPct val="150000"/>
              </a:lnSpc>
              <a:defRPr sz="2200" b="0">
                <a:latin typeface="Book Antiqua"/>
                <a:ea typeface="Book Antiqua"/>
                <a:cs typeface="Book Antiqua"/>
                <a:sym typeface="Book Antiqua"/>
              </a:defRPr>
            </a:pPr>
            <a:r>
              <a:t>L’</a:t>
            </a:r>
            <a:r>
              <a:rPr b="1">
                <a:solidFill>
                  <a:srgbClr val="C00000"/>
                </a:solidFill>
              </a:rPr>
              <a:t>OGGETTO GIURIDICO </a:t>
            </a:r>
            <a:r>
              <a:t>del reato è </a:t>
            </a:r>
            <a:r>
              <a:rPr b="1"/>
              <a:t>il </a:t>
            </a:r>
            <a:r>
              <a:rPr b="1">
                <a:solidFill>
                  <a:srgbClr val="002F8E"/>
                </a:solidFill>
              </a:rPr>
              <a:t>bene giuridico </a:t>
            </a:r>
            <a:r>
              <a:rPr b="1"/>
              <a:t>o </a:t>
            </a:r>
            <a:r>
              <a:rPr b="1">
                <a:solidFill>
                  <a:srgbClr val="002F8E"/>
                </a:solidFill>
              </a:rPr>
              <a:t>l’interesse giuridico </a:t>
            </a:r>
            <a:r>
              <a:t>che la norma penale protegge, proibendo i comportamenti che lo ledono o lo mettono in pericolo. </a:t>
            </a:r>
            <a:endParaRPr>
              <a:latin typeface="Times New Roman"/>
              <a:ea typeface="Times New Roman"/>
              <a:cs typeface="Times New Roman"/>
              <a:sym typeface="Times New Roman"/>
            </a:endParaRPr>
          </a:p>
          <a:p>
            <a:pPr algn="just">
              <a:lnSpc>
                <a:spcPct val="150000"/>
              </a:lnSpc>
              <a:spcBef>
                <a:spcPts val="1200"/>
              </a:spcBef>
              <a:defRPr sz="1800" b="0">
                <a:latin typeface="Book Antiqua"/>
                <a:ea typeface="Book Antiqua"/>
                <a:cs typeface="Book Antiqua"/>
                <a:sym typeface="Book Antiqua"/>
              </a:defRPr>
            </a:pPr>
            <a:r>
              <a:t>(OMICIDIO – VITA; FURTO – PATRIMONIO)</a:t>
            </a:r>
            <a:endParaRPr>
              <a:latin typeface="Times New Roman"/>
              <a:ea typeface="Times New Roman"/>
              <a:cs typeface="Times New Roman"/>
              <a:sym typeface="Times New Roman"/>
            </a:endParaRPr>
          </a:p>
          <a:p>
            <a:pPr algn="just">
              <a:lnSpc>
                <a:spcPct val="150000"/>
              </a:lnSpc>
              <a:spcBef>
                <a:spcPts val="1200"/>
              </a:spcBef>
              <a:defRPr sz="2200" b="0">
                <a:latin typeface="Book Antiqua"/>
                <a:ea typeface="Book Antiqua"/>
                <a:cs typeface="Book Antiqua"/>
                <a:sym typeface="Book Antiqua"/>
              </a:defRPr>
            </a:pPr>
            <a:r>
              <a:t>L’oggetto giuridico del reato va mantenuto </a:t>
            </a:r>
            <a:r>
              <a:rPr b="1">
                <a:solidFill>
                  <a:srgbClr val="C00000"/>
                </a:solidFill>
              </a:rPr>
              <a:t>distinto dall’oggetto materiale</a:t>
            </a:r>
            <a:r>
              <a:t> che è, invece, l’elemento della realtà esterna sul quale incide la condotta criminosa. </a:t>
            </a:r>
            <a:endParaRPr>
              <a:latin typeface="Times New Roman"/>
              <a:ea typeface="Times New Roman"/>
              <a:cs typeface="Times New Roman"/>
              <a:sym typeface="Times New Roman"/>
            </a:endParaRPr>
          </a:p>
          <a:p>
            <a:pPr algn="just">
              <a:lnSpc>
                <a:spcPct val="150000"/>
              </a:lnSpc>
              <a:spcBef>
                <a:spcPts val="1200"/>
              </a:spcBef>
              <a:defRPr sz="2000" b="0">
                <a:latin typeface="Book Antiqua"/>
                <a:ea typeface="Book Antiqua"/>
                <a:cs typeface="Book Antiqua"/>
                <a:sym typeface="Book Antiqua"/>
              </a:defRPr>
            </a:pPr>
            <a:r>
              <a:t>Oggetto materiale ed oggetto giuridico del reato possono, occasionalmente, coincidere (</a:t>
            </a:r>
            <a:r>
              <a:rPr i="1"/>
              <a:t>es. omicidio)</a:t>
            </a:r>
            <a:r>
              <a:t>, ma, in altri casi, l’oggetto materiale del reato è distinto dal suo oggetto giuridico (</a:t>
            </a:r>
            <a:r>
              <a:rPr i="1"/>
              <a:t>ad esempio, nei delitti contro il patrimonio</a:t>
            </a:r>
            <a:r>
              <a:t>).</a:t>
            </a:r>
          </a:p>
        </p:txBody>
      </p:sp>
      <p:sp>
        <p:nvSpPr>
          <p:cNvPr id="445" name="Text Box 5"/>
          <p:cNvSpPr/>
          <p:nvPr/>
        </p:nvSpPr>
        <p:spPr>
          <a:xfrm>
            <a:off x="872155" y="110241"/>
            <a:ext cx="8227274" cy="584439"/>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a14="http://schemas.microsoft.com/office/mac/drawingml/2011/main"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L’oggetto giuridico</a:t>
            </a:r>
          </a:p>
        </p:txBody>
      </p:sp>
    </p:spTree>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7" name="Segnaposto contenuto 2"/>
          <p:cNvSpPr>
            <a:spLocks noGrp="1"/>
          </p:cNvSpPr>
          <p:nvPr>
            <p:ph type="body" idx="1"/>
          </p:nvPr>
        </p:nvSpPr>
        <p:spPr>
          <a:xfrm>
            <a:off x="457200" y="1556794"/>
            <a:ext cx="8229600" cy="4176465"/>
          </a:xfrm>
          <a:prstGeom prst="rect">
            <a:avLst/>
          </a:prstGeom>
        </p:spPr>
        <p:txBody>
          <a:bodyPr/>
          <a:lstStyle/>
          <a:p>
            <a:pPr marL="0" indent="0" algn="just">
              <a:lnSpc>
                <a:spcPct val="150000"/>
              </a:lnSpc>
              <a:buSzTx/>
              <a:buNone/>
              <a:defRPr sz="2200">
                <a:latin typeface="Book Antiqua"/>
                <a:ea typeface="Book Antiqua"/>
                <a:cs typeface="Book Antiqua"/>
                <a:sym typeface="Book Antiqua"/>
              </a:defRPr>
            </a:pPr>
            <a:r>
              <a:t>Sotto il profilo classificatorio, occorre aggiungere che esistono:</a:t>
            </a:r>
          </a:p>
          <a:p>
            <a:pPr algn="just">
              <a:lnSpc>
                <a:spcPct val="150000"/>
              </a:lnSpc>
              <a:defRPr sz="2200" b="1">
                <a:latin typeface="Book Antiqua"/>
                <a:ea typeface="Book Antiqua"/>
                <a:cs typeface="Book Antiqua"/>
                <a:sym typeface="Book Antiqua"/>
              </a:defRPr>
            </a:pPr>
            <a:r>
              <a:t>Reati </a:t>
            </a:r>
            <a:r>
              <a:rPr>
                <a:solidFill>
                  <a:srgbClr val="C00000"/>
                </a:solidFill>
              </a:rPr>
              <a:t>MONOFFENSIVI</a:t>
            </a:r>
            <a:r>
              <a:t>,</a:t>
            </a:r>
            <a:r>
              <a:rPr b="0"/>
              <a:t> per la cui configurabilità è necessaria e sufficiente l’offesa di un solo bene giuridico (</a:t>
            </a:r>
            <a:r>
              <a:rPr b="0" i="1"/>
              <a:t>es: l’omicidio</a:t>
            </a:r>
            <a:r>
              <a:rPr b="0"/>
              <a:t>);</a:t>
            </a:r>
          </a:p>
          <a:p>
            <a:pPr algn="just">
              <a:lnSpc>
                <a:spcPct val="150000"/>
              </a:lnSpc>
              <a:defRPr sz="2200" b="1">
                <a:latin typeface="Book Antiqua"/>
                <a:ea typeface="Book Antiqua"/>
                <a:cs typeface="Book Antiqua"/>
                <a:sym typeface="Book Antiqua"/>
              </a:defRPr>
            </a:pPr>
            <a:r>
              <a:t>Reati </a:t>
            </a:r>
            <a:r>
              <a:rPr>
                <a:solidFill>
                  <a:srgbClr val="C00000"/>
                </a:solidFill>
              </a:rPr>
              <a:t>PLURIOFFENSIVI</a:t>
            </a:r>
            <a:r>
              <a:t> </a:t>
            </a:r>
            <a:r>
              <a:rPr b="0"/>
              <a:t>che, allorché si realizzano, producono la lesione di più beni giuridici (</a:t>
            </a:r>
            <a:r>
              <a:rPr b="0" i="1"/>
              <a:t>si pensi al sequestro di persona a scopo di estorsione che, contestualmente, offende il bene giuridico della libertà personale e quello del patrimonio</a:t>
            </a:r>
            <a:r>
              <a:rPr b="0"/>
              <a:t>). </a:t>
            </a:r>
          </a:p>
        </p:txBody>
      </p:sp>
      <p:sp>
        <p:nvSpPr>
          <p:cNvPr id="448" name="Text Box 5"/>
          <p:cNvSpPr/>
          <p:nvPr/>
        </p:nvSpPr>
        <p:spPr>
          <a:xfrm>
            <a:off x="872155" y="110241"/>
            <a:ext cx="8227274" cy="584439"/>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a14="http://schemas.microsoft.com/office/mac/drawingml/2011/main"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L’oggetto giuridico</a:t>
            </a:r>
          </a:p>
        </p:txBody>
      </p:sp>
    </p:spTree>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 name="Segnaposto contenuto 1"/>
          <p:cNvSpPr>
            <a:spLocks noGrp="1"/>
          </p:cNvSpPr>
          <p:nvPr>
            <p:ph type="body" idx="1"/>
          </p:nvPr>
        </p:nvSpPr>
        <p:spPr>
          <a:xfrm>
            <a:off x="628650" y="1154160"/>
            <a:ext cx="7886700" cy="5022805"/>
          </a:xfrm>
          <a:prstGeom prst="rect">
            <a:avLst/>
          </a:prstGeom>
        </p:spPr>
        <p:txBody>
          <a:bodyPr/>
          <a:lstStyle/>
          <a:p>
            <a:pPr marL="0" indent="0">
              <a:lnSpc>
                <a:spcPct val="72900"/>
              </a:lnSpc>
              <a:buSzTx/>
              <a:buNone/>
              <a:defRPr sz="2500">
                <a:latin typeface="Book Antiqua"/>
                <a:ea typeface="Book Antiqua"/>
                <a:cs typeface="Book Antiqua"/>
                <a:sym typeface="Book Antiqua"/>
              </a:defRPr>
            </a:pPr>
            <a:r>
              <a:t>Elementi essenziali del reato, sono quegli elementi in assenza dei quali non è possibile parlare di reato. </a:t>
            </a:r>
          </a:p>
          <a:p>
            <a:pPr marL="0" indent="0" algn="just">
              <a:lnSpc>
                <a:spcPct val="72900"/>
              </a:lnSpc>
              <a:buSzTx/>
              <a:buNone/>
              <a:defRPr sz="2500">
                <a:latin typeface="Book Antiqua"/>
                <a:ea typeface="Book Antiqua"/>
                <a:cs typeface="Book Antiqua"/>
                <a:sym typeface="Book Antiqua"/>
              </a:defRPr>
            </a:pPr>
            <a:endParaRPr/>
          </a:p>
          <a:p>
            <a:pPr algn="just">
              <a:lnSpc>
                <a:spcPct val="72900"/>
              </a:lnSpc>
              <a:defRPr sz="2500">
                <a:latin typeface="Book Antiqua"/>
                <a:ea typeface="Book Antiqua"/>
                <a:cs typeface="Book Antiqua"/>
                <a:sym typeface="Book Antiqua"/>
              </a:defRPr>
            </a:pPr>
            <a:r>
              <a:t>Essi sono tre: </a:t>
            </a:r>
          </a:p>
          <a:p>
            <a:pPr marL="514350" indent="-514350">
              <a:lnSpc>
                <a:spcPct val="72900"/>
              </a:lnSpc>
              <a:buFontTx/>
              <a:buAutoNum type="arabicPeriod"/>
              <a:defRPr sz="2500" b="1">
                <a:latin typeface="Book Antiqua"/>
                <a:ea typeface="Book Antiqua"/>
                <a:cs typeface="Book Antiqua"/>
                <a:sym typeface="Book Antiqua"/>
              </a:defRPr>
            </a:pPr>
            <a:r>
              <a:t>Tipicità</a:t>
            </a:r>
            <a:r>
              <a:rPr>
                <a:solidFill>
                  <a:srgbClr val="FF0000"/>
                </a:solidFill>
              </a:rPr>
              <a:t> </a:t>
            </a:r>
            <a:r>
              <a:rPr>
                <a:solidFill>
                  <a:schemeClr val="accent2"/>
                </a:solidFill>
              </a:rPr>
              <a:t>(cd. Elemento oggettivo): </a:t>
            </a:r>
            <a:r>
              <a:rPr b="0"/>
              <a:t>corrispondenza tra fatto concreto verificatosi in un determinato momento storico e fatto descritto in astratto dalla norma penale.</a:t>
            </a:r>
          </a:p>
          <a:p>
            <a:pPr marL="514350" indent="-514350">
              <a:lnSpc>
                <a:spcPct val="72900"/>
              </a:lnSpc>
              <a:buFontTx/>
              <a:buAutoNum type="arabicPeriod"/>
              <a:defRPr sz="2500">
                <a:latin typeface="Book Antiqua"/>
                <a:ea typeface="Book Antiqua"/>
                <a:cs typeface="Book Antiqua"/>
                <a:sym typeface="Book Antiqua"/>
              </a:defRPr>
            </a:pPr>
            <a:endParaRPr b="0"/>
          </a:p>
          <a:p>
            <a:pPr marL="514350" indent="-514350">
              <a:lnSpc>
                <a:spcPct val="72900"/>
              </a:lnSpc>
              <a:buFontTx/>
              <a:buAutoNum type="arabicPeriod" startAt="2"/>
              <a:defRPr sz="2500" b="1">
                <a:latin typeface="Book Antiqua"/>
                <a:ea typeface="Book Antiqua"/>
                <a:cs typeface="Book Antiqua"/>
                <a:sym typeface="Book Antiqua"/>
              </a:defRPr>
            </a:pPr>
            <a:r>
              <a:t>Colpevolezza</a:t>
            </a:r>
            <a:r>
              <a:rPr>
                <a:solidFill>
                  <a:srgbClr val="FF0000"/>
                </a:solidFill>
              </a:rPr>
              <a:t> </a:t>
            </a:r>
            <a:r>
              <a:rPr>
                <a:solidFill>
                  <a:schemeClr val="accent2"/>
                </a:solidFill>
              </a:rPr>
              <a:t>(cd. Elemento soggettivo): </a:t>
            </a:r>
            <a:r>
              <a:rPr b="0"/>
              <a:t>presenza di dolo o colpa. Imputabilità del soggetto.</a:t>
            </a:r>
            <a:endParaRPr>
              <a:solidFill>
                <a:srgbClr val="FF0000"/>
              </a:solidFill>
            </a:endParaRPr>
          </a:p>
          <a:p>
            <a:pPr marL="514350" indent="-514350">
              <a:lnSpc>
                <a:spcPct val="72900"/>
              </a:lnSpc>
              <a:buFontTx/>
              <a:buAutoNum type="arabicPeriod" startAt="2"/>
              <a:defRPr sz="2500">
                <a:latin typeface="Book Antiqua"/>
                <a:ea typeface="Book Antiqua"/>
                <a:cs typeface="Book Antiqua"/>
                <a:sym typeface="Book Antiqua"/>
              </a:defRPr>
            </a:pPr>
            <a:endParaRPr>
              <a:solidFill>
                <a:srgbClr val="FF0000"/>
              </a:solidFill>
            </a:endParaRPr>
          </a:p>
          <a:p>
            <a:pPr marL="514350" indent="-514350" algn="just">
              <a:lnSpc>
                <a:spcPct val="72900"/>
              </a:lnSpc>
              <a:buFontTx/>
              <a:buAutoNum type="arabicPeriod" startAt="3"/>
              <a:defRPr sz="2500" b="1">
                <a:solidFill>
                  <a:schemeClr val="accent2"/>
                </a:solidFill>
                <a:latin typeface="Book Antiqua"/>
                <a:ea typeface="Book Antiqua"/>
                <a:cs typeface="Book Antiqua"/>
                <a:sym typeface="Book Antiqua"/>
              </a:defRPr>
            </a:pPr>
            <a:r>
              <a:t>Antigiuridicità:</a:t>
            </a:r>
            <a:r>
              <a:rPr>
                <a:solidFill>
                  <a:srgbClr val="000000"/>
                </a:solidFill>
              </a:rPr>
              <a:t> </a:t>
            </a:r>
            <a:r>
              <a:rPr b="0">
                <a:solidFill>
                  <a:srgbClr val="000000"/>
                </a:solidFill>
              </a:rPr>
              <a:t>assenza di cause di giustificazione (es. legittima difesa)</a:t>
            </a:r>
          </a:p>
        </p:txBody>
      </p:sp>
      <p:sp>
        <p:nvSpPr>
          <p:cNvPr id="451" name="Segnaposto numero diapositiva 2"/>
          <p:cNvSpPr>
            <a:spLocks noGrp="1"/>
          </p:cNvSpPr>
          <p:nvPr>
            <p:ph type="sldNum" sz="quarter" idx="4294967295"/>
          </p:nvPr>
        </p:nvSpPr>
        <p:spPr>
          <a:xfrm>
            <a:off x="8258808" y="6401180"/>
            <a:ext cx="256537" cy="275463"/>
          </a:xfrm>
          <a:prstGeom prst="rect">
            <a:avLst/>
          </a:prstGeom>
          <a:extLst>
            <a:ext uri="{C572A759-6A51-4108-AA02-DFA0A04FC94B}">
              <ma14:wrappingTextBoxFlag xmlns="" xmlns:ma14="http://schemas.microsoft.com/office/mac/drawingml/2011/main" val="1"/>
            </a:ext>
          </a:extLst>
        </p:spPr>
        <p:txBody>
          <a:bodyPr/>
          <a:lstStyle/>
          <a:p>
            <a:fld id="{86CB4B4D-7CA3-9044-876B-883B54F8677D}" type="slidenum">
              <a:t>43</a:t>
            </a:fld>
            <a:endParaRPr/>
          </a:p>
        </p:txBody>
      </p:sp>
      <p:sp>
        <p:nvSpPr>
          <p:cNvPr id="452" name="Text Box 5"/>
          <p:cNvSpPr>
            <a:spLocks noGrp="1"/>
          </p:cNvSpPr>
          <p:nvPr>
            <p:ph type="title"/>
          </p:nvPr>
        </p:nvSpPr>
        <p:spPr>
          <a:xfrm>
            <a:off x="628650" y="-171400"/>
            <a:ext cx="7886700" cy="1325563"/>
          </a:xfrm>
          <a:prstGeom prst="rect">
            <a:avLst/>
          </a:prstGeom>
          <a:effectLst>
            <a:outerShdw blurRad="63500" dist="17961" dir="2700000" rotWithShape="0">
              <a:srgbClr val="E7E6E6">
                <a:alpha val="74998"/>
              </a:srgbClr>
            </a:outerShdw>
          </a:effectLst>
        </p:spPr>
        <p:txBody>
          <a:bodyPr lIns="44569" tIns="44569" rIns="44569" bIns="44569"/>
          <a:lstStyle>
            <a:lvl1pPr>
              <a:defRPr sz="3200">
                <a:solidFill>
                  <a:srgbClr val="FFFFFF"/>
                </a:solidFill>
                <a:latin typeface="Book Antiqua"/>
                <a:ea typeface="Book Antiqua"/>
                <a:cs typeface="Book Antiqua"/>
                <a:sym typeface="Book Antiqua"/>
              </a:defRPr>
            </a:lvl1pPr>
          </a:lstStyle>
          <a:p>
            <a:r>
              <a:t>La struttura del reato</a:t>
            </a:r>
          </a:p>
        </p:txBody>
      </p:sp>
    </p:spTree>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 name="Segnaposto contenuto 2"/>
          <p:cNvSpPr>
            <a:spLocks noGrp="1"/>
          </p:cNvSpPr>
          <p:nvPr>
            <p:ph type="body" idx="1"/>
          </p:nvPr>
        </p:nvSpPr>
        <p:spPr>
          <a:xfrm>
            <a:off x="251519" y="1124745"/>
            <a:ext cx="8568954" cy="5623013"/>
          </a:xfrm>
          <a:prstGeom prst="rect">
            <a:avLst/>
          </a:prstGeom>
        </p:spPr>
        <p:txBody>
          <a:bodyPr/>
          <a:lstStyle/>
          <a:p>
            <a:pPr marL="0" indent="0" algn="just">
              <a:lnSpc>
                <a:spcPct val="120000"/>
              </a:lnSpc>
              <a:buSzTx/>
              <a:buNone/>
              <a:defRPr sz="1900">
                <a:latin typeface="Book Antiqua"/>
                <a:ea typeface="Book Antiqua"/>
                <a:cs typeface="Book Antiqua"/>
                <a:sym typeface="Book Antiqua"/>
              </a:defRPr>
            </a:pPr>
            <a:r>
              <a:t>Quando avviene un determinato fatto e il giudice, per decidere se quel fatto costituisce reato e se dunque può essere sanzionato con una pena, ragiona seguendo lo schema sopra delineato.</a:t>
            </a:r>
            <a:endParaRPr sz="1500"/>
          </a:p>
          <a:p>
            <a:pPr marL="0" indent="0" algn="just">
              <a:lnSpc>
                <a:spcPct val="120000"/>
              </a:lnSpc>
              <a:buSzTx/>
              <a:buNone/>
              <a:defRPr sz="1900">
                <a:latin typeface="Book Antiqua"/>
                <a:ea typeface="Book Antiqua"/>
                <a:cs typeface="Book Antiqua"/>
                <a:sym typeface="Book Antiqua"/>
              </a:defRPr>
            </a:pPr>
            <a:r>
              <a:t>Esempio:</a:t>
            </a:r>
            <a:endParaRPr sz="1500"/>
          </a:p>
          <a:p>
            <a:pPr marL="0" indent="0" algn="just">
              <a:lnSpc>
                <a:spcPct val="120000"/>
              </a:lnSpc>
              <a:buSzTx/>
              <a:buNone/>
              <a:defRPr sz="1900" b="1">
                <a:solidFill>
                  <a:srgbClr val="002F8E"/>
                </a:solidFill>
                <a:latin typeface="Book Antiqua"/>
                <a:ea typeface="Book Antiqua"/>
                <a:cs typeface="Book Antiqua"/>
                <a:sym typeface="Book Antiqua"/>
              </a:defRPr>
            </a:pPr>
            <a:r>
              <a:t>FATTO STORICO = Tizio spara a Caio per vendicarsi e lo uccide. </a:t>
            </a:r>
            <a:endParaRPr sz="1500"/>
          </a:p>
          <a:p>
            <a:pPr marL="0" indent="0" algn="just">
              <a:lnSpc>
                <a:spcPct val="120000"/>
              </a:lnSpc>
              <a:spcBef>
                <a:spcPts val="0"/>
              </a:spcBef>
              <a:buSzTx/>
              <a:buNone/>
              <a:defRPr sz="1900">
                <a:latin typeface="Book Antiqua"/>
                <a:ea typeface="Book Antiqua"/>
                <a:cs typeface="Book Antiqua"/>
                <a:sym typeface="Book Antiqua"/>
              </a:defRPr>
            </a:pPr>
            <a:r>
              <a:t>Ø Il fatto corrisponde allo schema delineato dall’art.575 c.p.? </a:t>
            </a:r>
            <a:endParaRPr sz="1500"/>
          </a:p>
          <a:p>
            <a:pPr marL="0" indent="0" algn="just">
              <a:lnSpc>
                <a:spcPct val="120000"/>
              </a:lnSpc>
              <a:spcBef>
                <a:spcPts val="600"/>
              </a:spcBef>
              <a:buSzTx/>
              <a:buNone/>
              <a:defRPr sz="1900">
                <a:latin typeface="Book Antiqua"/>
                <a:ea typeface="Book Antiqua"/>
                <a:cs typeface="Book Antiqua"/>
                <a:sym typeface="Book Antiqua"/>
              </a:defRPr>
            </a:pPr>
            <a:r>
              <a:t>    SI (Tizio sparando ha causato la morte di Caio) </a:t>
            </a:r>
            <a:endParaRPr sz="1500"/>
          </a:p>
          <a:p>
            <a:pPr marL="0" indent="0" algn="just">
              <a:lnSpc>
                <a:spcPct val="120000"/>
              </a:lnSpc>
              <a:spcBef>
                <a:spcPts val="0"/>
              </a:spcBef>
              <a:buSzTx/>
              <a:buNone/>
              <a:defRPr sz="1900">
                <a:latin typeface="Book Antiqua"/>
                <a:ea typeface="Book Antiqua"/>
                <a:cs typeface="Book Antiqua"/>
                <a:sym typeface="Book Antiqua"/>
              </a:defRPr>
            </a:pPr>
            <a:r>
              <a:t>Ø Il soggetto ha agito con dolo o almeno con colpa? </a:t>
            </a:r>
            <a:endParaRPr sz="1500"/>
          </a:p>
          <a:p>
            <a:pPr marL="0" indent="0" algn="just">
              <a:lnSpc>
                <a:spcPct val="120000"/>
              </a:lnSpc>
              <a:spcBef>
                <a:spcPts val="600"/>
              </a:spcBef>
              <a:buSzTx/>
              <a:buNone/>
              <a:defRPr sz="1900">
                <a:latin typeface="Book Antiqua"/>
                <a:ea typeface="Book Antiqua"/>
                <a:cs typeface="Book Antiqua"/>
                <a:sym typeface="Book Antiqua"/>
              </a:defRPr>
            </a:pPr>
            <a:r>
              <a:t>    SI, infatti voleva cagionare la morte di Caio.</a:t>
            </a:r>
            <a:endParaRPr sz="1500"/>
          </a:p>
          <a:p>
            <a:pPr marL="0" indent="0" algn="just">
              <a:lnSpc>
                <a:spcPct val="120000"/>
              </a:lnSpc>
              <a:spcBef>
                <a:spcPts val="0"/>
              </a:spcBef>
              <a:buSzTx/>
              <a:buNone/>
              <a:defRPr sz="1900">
                <a:latin typeface="Book Antiqua"/>
                <a:ea typeface="Book Antiqua"/>
                <a:cs typeface="Book Antiqua"/>
                <a:sym typeface="Book Antiqua"/>
              </a:defRPr>
            </a:pPr>
            <a:r>
              <a:t>Sono presenti cause di giustificazione </a:t>
            </a:r>
            <a:endParaRPr sz="1500"/>
          </a:p>
          <a:p>
            <a:pPr marL="0" indent="0" algn="just">
              <a:lnSpc>
                <a:spcPct val="120000"/>
              </a:lnSpc>
              <a:spcBef>
                <a:spcPts val="600"/>
              </a:spcBef>
              <a:buSzTx/>
              <a:buNone/>
              <a:defRPr sz="1900">
                <a:latin typeface="Book Antiqua"/>
                <a:ea typeface="Book Antiqua"/>
                <a:cs typeface="Book Antiqua"/>
                <a:sym typeface="Book Antiqua"/>
              </a:defRPr>
            </a:pPr>
            <a:r>
              <a:t>    (es. ha sparato per difendersi)? NO </a:t>
            </a:r>
            <a:endParaRPr sz="1500"/>
          </a:p>
          <a:p>
            <a:pPr marL="0" indent="0" algn="just">
              <a:lnSpc>
                <a:spcPct val="120000"/>
              </a:lnSpc>
              <a:spcBef>
                <a:spcPts val="0"/>
              </a:spcBef>
              <a:buSzTx/>
              <a:buNone/>
              <a:defRPr sz="1500">
                <a:latin typeface="Book Antiqua"/>
                <a:ea typeface="Book Antiqua"/>
                <a:cs typeface="Book Antiqua"/>
                <a:sym typeface="Book Antiqua"/>
              </a:defRPr>
            </a:pPr>
            <a:endParaRPr sz="1500"/>
          </a:p>
          <a:p>
            <a:pPr marL="0" indent="0" algn="ctr">
              <a:lnSpc>
                <a:spcPct val="120000"/>
              </a:lnSpc>
              <a:spcBef>
                <a:spcPts val="600"/>
              </a:spcBef>
              <a:buSzTx/>
              <a:buNone/>
              <a:defRPr sz="1900" b="1">
                <a:solidFill>
                  <a:srgbClr val="C00000"/>
                </a:solidFill>
                <a:latin typeface="Book Antiqua"/>
                <a:ea typeface="Book Antiqua"/>
                <a:cs typeface="Book Antiqua"/>
                <a:sym typeface="Book Antiqua"/>
              </a:defRPr>
            </a:pPr>
            <a:r>
              <a:t>TIZIO SARA’ CONDANNATO AD UNA PENA</a:t>
            </a:r>
          </a:p>
        </p:txBody>
      </p:sp>
      <p:sp>
        <p:nvSpPr>
          <p:cNvPr id="455" name="Text Box 5"/>
          <p:cNvSpPr/>
          <p:nvPr/>
        </p:nvSpPr>
        <p:spPr>
          <a:xfrm>
            <a:off x="872155" y="110241"/>
            <a:ext cx="8227274" cy="584439"/>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a14="http://schemas.microsoft.com/office/mac/drawingml/2011/main"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La struttura del reato</a:t>
            </a:r>
          </a:p>
        </p:txBody>
      </p:sp>
    </p:spTree>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 name="Segnaposto contenuto 2"/>
          <p:cNvSpPr>
            <a:spLocks noGrp="1"/>
          </p:cNvSpPr>
          <p:nvPr>
            <p:ph type="body" idx="1"/>
          </p:nvPr>
        </p:nvSpPr>
        <p:spPr>
          <a:xfrm>
            <a:off x="251519" y="1124744"/>
            <a:ext cx="8568954" cy="6192690"/>
          </a:xfrm>
          <a:prstGeom prst="rect">
            <a:avLst/>
          </a:prstGeom>
        </p:spPr>
        <p:txBody>
          <a:bodyPr/>
          <a:lstStyle/>
          <a:p>
            <a:pPr marL="0" indent="0" algn="just">
              <a:lnSpc>
                <a:spcPct val="150000"/>
              </a:lnSpc>
              <a:buSzTx/>
              <a:buNone/>
              <a:defRPr sz="2200">
                <a:latin typeface="Book Antiqua"/>
                <a:ea typeface="Book Antiqua"/>
                <a:cs typeface="Book Antiqua"/>
                <a:sym typeface="Book Antiqua"/>
              </a:defRPr>
            </a:pPr>
            <a:r>
              <a:t>Un fatto storico è tipico quando corrisponde allo schema astratto delineato dalla norma penale.</a:t>
            </a:r>
          </a:p>
          <a:p>
            <a:pPr marL="0" indent="0" algn="just">
              <a:lnSpc>
                <a:spcPct val="150000"/>
              </a:lnSpc>
              <a:buSzTx/>
              <a:buNone/>
              <a:defRPr sz="2200">
                <a:latin typeface="Book Antiqua"/>
                <a:ea typeface="Book Antiqua"/>
                <a:cs typeface="Book Antiqua"/>
                <a:sym typeface="Book Antiqua"/>
              </a:defRPr>
            </a:pPr>
            <a:r>
              <a:t>L’elemento oggettivo è costituito da:</a:t>
            </a:r>
          </a:p>
          <a:p>
            <a:pPr marL="457200" indent="-457200" algn="ctr">
              <a:lnSpc>
                <a:spcPct val="150000"/>
              </a:lnSpc>
              <a:buFontTx/>
              <a:buAutoNum type="arabicPeriod"/>
              <a:defRPr>
                <a:latin typeface="Book Antiqua"/>
                <a:ea typeface="Book Antiqua"/>
                <a:cs typeface="Book Antiqua"/>
                <a:sym typeface="Book Antiqua"/>
              </a:defRPr>
            </a:pPr>
            <a:r>
              <a:t>CONDOTTA</a:t>
            </a:r>
          </a:p>
          <a:p>
            <a:pPr marL="457200" indent="-457200" algn="ctr">
              <a:lnSpc>
                <a:spcPct val="150000"/>
              </a:lnSpc>
              <a:buFontTx/>
              <a:buAutoNum type="arabicPeriod"/>
              <a:defRPr>
                <a:latin typeface="Book Antiqua"/>
                <a:ea typeface="Book Antiqua"/>
                <a:cs typeface="Book Antiqua"/>
                <a:sym typeface="Book Antiqua"/>
              </a:defRPr>
            </a:pPr>
            <a:r>
              <a:t>EVENTO</a:t>
            </a:r>
          </a:p>
          <a:p>
            <a:pPr marL="457200" indent="-457200" algn="ctr">
              <a:lnSpc>
                <a:spcPct val="150000"/>
              </a:lnSpc>
              <a:buFontTx/>
              <a:buAutoNum type="arabicPeriod"/>
              <a:defRPr>
                <a:latin typeface="Book Antiqua"/>
                <a:ea typeface="Book Antiqua"/>
                <a:cs typeface="Book Antiqua"/>
                <a:sym typeface="Book Antiqua"/>
              </a:defRPr>
            </a:pPr>
            <a:r>
              <a:t>NESSO DI CAUSALITÀ</a:t>
            </a:r>
          </a:p>
        </p:txBody>
      </p:sp>
      <p:sp>
        <p:nvSpPr>
          <p:cNvPr id="458" name="Text Box 5"/>
          <p:cNvSpPr/>
          <p:nvPr/>
        </p:nvSpPr>
        <p:spPr>
          <a:xfrm>
            <a:off x="872155" y="110241"/>
            <a:ext cx="8227274" cy="584439"/>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a14="http://schemas.microsoft.com/office/mac/drawingml/2011/main"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Elemento oggettivo</a:t>
            </a:r>
          </a:p>
        </p:txBody>
      </p:sp>
    </p:spTree>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 name="Segnaposto contenuto 2"/>
          <p:cNvSpPr>
            <a:spLocks noGrp="1"/>
          </p:cNvSpPr>
          <p:nvPr>
            <p:ph type="body" idx="1"/>
          </p:nvPr>
        </p:nvSpPr>
        <p:spPr>
          <a:xfrm>
            <a:off x="251519" y="836709"/>
            <a:ext cx="8568954" cy="5637709"/>
          </a:xfrm>
          <a:prstGeom prst="rect">
            <a:avLst/>
          </a:prstGeom>
        </p:spPr>
        <p:txBody>
          <a:bodyPr/>
          <a:lstStyle/>
          <a:p>
            <a:pPr marL="0" indent="0" algn="ctr">
              <a:lnSpc>
                <a:spcPct val="150000"/>
              </a:lnSpc>
              <a:buSzTx/>
              <a:buNone/>
              <a:defRPr sz="3800" b="1">
                <a:solidFill>
                  <a:srgbClr val="C00000"/>
                </a:solidFill>
                <a:latin typeface="Book Antiqua"/>
                <a:ea typeface="Book Antiqua"/>
                <a:cs typeface="Book Antiqua"/>
                <a:sym typeface="Book Antiqua"/>
              </a:defRPr>
            </a:pPr>
            <a:r>
              <a:t>CONDOTTA</a:t>
            </a:r>
          </a:p>
          <a:p>
            <a:pPr marL="0" indent="0" algn="just">
              <a:lnSpc>
                <a:spcPct val="150000"/>
              </a:lnSpc>
              <a:buSzTx/>
              <a:buNone/>
              <a:defRPr sz="2600">
                <a:latin typeface="Book Antiqua"/>
                <a:ea typeface="Book Antiqua"/>
                <a:cs typeface="Book Antiqua"/>
                <a:sym typeface="Book Antiqua"/>
              </a:defRPr>
            </a:pPr>
            <a:r>
              <a:t>è il </a:t>
            </a:r>
            <a:r>
              <a:rPr b="1" u="sng">
                <a:solidFill>
                  <a:srgbClr val="002F8E"/>
                </a:solidFill>
              </a:rPr>
              <a:t>comportamento</a:t>
            </a:r>
            <a:r>
              <a:t> posto in essere da un soggetto che costituisce reato.</a:t>
            </a:r>
          </a:p>
          <a:p>
            <a:pPr marL="0" indent="0" algn="just">
              <a:lnSpc>
                <a:spcPct val="150000"/>
              </a:lnSpc>
              <a:buSzTx/>
              <a:buNone/>
              <a:defRPr sz="2600">
                <a:latin typeface="Book Antiqua"/>
                <a:ea typeface="Book Antiqua"/>
                <a:cs typeface="Book Antiqua"/>
                <a:sym typeface="Book Antiqua"/>
              </a:defRPr>
            </a:pPr>
            <a:r>
              <a:t>Per essere penalmente rilevante la condotta deve </a:t>
            </a:r>
            <a:r>
              <a:rPr b="1" u="sng"/>
              <a:t>corrispondere</a:t>
            </a:r>
            <a:r>
              <a:t> a quella descritta dalla norma incriminatrice speciale, deve essere cioè </a:t>
            </a:r>
            <a:r>
              <a:rPr b="1">
                <a:solidFill>
                  <a:srgbClr val="C00000"/>
                </a:solidFill>
              </a:rPr>
              <a:t>TIPICA</a:t>
            </a:r>
            <a:r>
              <a:t>.</a:t>
            </a:r>
          </a:p>
        </p:txBody>
      </p:sp>
      <p:sp>
        <p:nvSpPr>
          <p:cNvPr id="461" name="Text Box 5"/>
          <p:cNvSpPr/>
          <p:nvPr/>
        </p:nvSpPr>
        <p:spPr>
          <a:xfrm>
            <a:off x="872155" y="110241"/>
            <a:ext cx="8227274" cy="584439"/>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a14="http://schemas.microsoft.com/office/mac/drawingml/2011/main"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Elemento oggettivo</a:t>
            </a:r>
          </a:p>
        </p:txBody>
      </p:sp>
    </p:spTree>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 name="Segnaposto contenuto 2"/>
          <p:cNvSpPr>
            <a:spLocks noGrp="1"/>
          </p:cNvSpPr>
          <p:nvPr>
            <p:ph type="body" idx="1"/>
          </p:nvPr>
        </p:nvSpPr>
        <p:spPr>
          <a:xfrm>
            <a:off x="755574" y="836709"/>
            <a:ext cx="7632852" cy="5637709"/>
          </a:xfrm>
          <a:prstGeom prst="rect">
            <a:avLst/>
          </a:prstGeom>
        </p:spPr>
        <p:txBody>
          <a:bodyPr/>
          <a:lstStyle/>
          <a:p>
            <a:pPr marL="0" indent="0" algn="ctr">
              <a:lnSpc>
                <a:spcPct val="150000"/>
              </a:lnSpc>
              <a:buSzTx/>
              <a:buNone/>
              <a:defRPr sz="3500" b="1">
                <a:solidFill>
                  <a:srgbClr val="C00000"/>
                </a:solidFill>
                <a:latin typeface="Book Antiqua"/>
                <a:ea typeface="Book Antiqua"/>
                <a:cs typeface="Book Antiqua"/>
                <a:sym typeface="Book Antiqua"/>
              </a:defRPr>
            </a:pPr>
            <a:r>
              <a:t>CONDOTTA</a:t>
            </a:r>
            <a:endParaRPr sz="2500"/>
          </a:p>
          <a:p>
            <a:pPr marL="0" indent="0" algn="just">
              <a:lnSpc>
                <a:spcPct val="150000"/>
              </a:lnSpc>
              <a:buSzTx/>
              <a:buNone/>
              <a:defRPr sz="2400">
                <a:latin typeface="Book Antiqua"/>
                <a:ea typeface="Book Antiqua"/>
                <a:cs typeface="Book Antiqua"/>
                <a:sym typeface="Book Antiqua"/>
              </a:defRPr>
            </a:pPr>
            <a:r>
              <a:t>Essa può consistere in: </a:t>
            </a:r>
            <a:endParaRPr sz="2500"/>
          </a:p>
          <a:p>
            <a:pPr marL="185737" indent="-185737" algn="just">
              <a:lnSpc>
                <a:spcPct val="150000"/>
              </a:lnSpc>
              <a:spcBef>
                <a:spcPts val="1200"/>
              </a:spcBef>
              <a:buFontTx/>
              <a:buChar char="▪"/>
              <a:defRPr sz="2400">
                <a:latin typeface="Book Antiqua"/>
                <a:ea typeface="Book Antiqua"/>
                <a:cs typeface="Book Antiqua"/>
                <a:sym typeface="Book Antiqua"/>
              </a:defRPr>
            </a:pPr>
            <a:r>
              <a:t>un’</a:t>
            </a:r>
            <a:r>
              <a:rPr b="1">
                <a:solidFill>
                  <a:srgbClr val="002F8E"/>
                </a:solidFill>
              </a:rPr>
              <a:t>AZIONE</a:t>
            </a:r>
            <a:r>
              <a:t> (condotta positiva/attiva): </a:t>
            </a:r>
            <a:r>
              <a:rPr b="1" u="sng"/>
              <a:t>reati commissivi</a:t>
            </a:r>
            <a:r>
              <a:t> (es. omicidio);</a:t>
            </a:r>
            <a:endParaRPr sz="2500"/>
          </a:p>
          <a:p>
            <a:pPr marL="185737" indent="-185737" algn="just">
              <a:lnSpc>
                <a:spcPct val="150000"/>
              </a:lnSpc>
              <a:buFontTx/>
              <a:buChar char="▪"/>
              <a:defRPr sz="2400">
                <a:latin typeface="Book Antiqua"/>
                <a:ea typeface="Book Antiqua"/>
                <a:cs typeface="Book Antiqua"/>
                <a:sym typeface="Book Antiqua"/>
              </a:defRPr>
            </a:pPr>
            <a:r>
              <a:t>un’</a:t>
            </a:r>
            <a:r>
              <a:rPr b="1">
                <a:solidFill>
                  <a:srgbClr val="002F8E"/>
                </a:solidFill>
              </a:rPr>
              <a:t>OMISSIONE</a:t>
            </a:r>
            <a:r>
              <a:t>, (condotta negativa/passiva) cioè il </a:t>
            </a:r>
            <a:r>
              <a:rPr b="1" u="sng"/>
              <a:t>mancato compimento di un’azione </a:t>
            </a:r>
            <a:r>
              <a:t>che il soggetto aveva il dovere giuridico di compiere (reati omissivi: es. omissione di soccorso, art. 593 c.p.).</a:t>
            </a:r>
          </a:p>
        </p:txBody>
      </p:sp>
      <p:sp>
        <p:nvSpPr>
          <p:cNvPr id="464" name="Text Box 5"/>
          <p:cNvSpPr/>
          <p:nvPr/>
        </p:nvSpPr>
        <p:spPr>
          <a:xfrm>
            <a:off x="872155" y="110241"/>
            <a:ext cx="8227274" cy="584439"/>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a14="http://schemas.microsoft.com/office/mac/drawingml/2011/main"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Elemento oggettivo</a:t>
            </a:r>
          </a:p>
        </p:txBody>
      </p:sp>
    </p:spTree>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6" name="Segnaposto testo 1"/>
          <p:cNvSpPr>
            <a:spLocks noGrp="1"/>
          </p:cNvSpPr>
          <p:nvPr>
            <p:ph type="body" idx="1"/>
          </p:nvPr>
        </p:nvSpPr>
        <p:spPr>
          <a:xfrm>
            <a:off x="628650" y="905523"/>
            <a:ext cx="7886700" cy="5952477"/>
          </a:xfrm>
          <a:prstGeom prst="rect">
            <a:avLst/>
          </a:prstGeom>
        </p:spPr>
        <p:txBody>
          <a:bodyPr/>
          <a:lstStyle/>
          <a:p>
            <a:pPr marL="0" indent="0" defTabSz="805677">
              <a:lnSpc>
                <a:spcPct val="72000"/>
              </a:lnSpc>
              <a:spcBef>
                <a:spcPts val="700"/>
              </a:spcBef>
              <a:buSzTx/>
              <a:buNone/>
              <a:defRPr sz="1386">
                <a:latin typeface="Book Antiqua"/>
                <a:ea typeface="Book Antiqua"/>
                <a:cs typeface="Book Antiqua"/>
                <a:sym typeface="Book Antiqua"/>
              </a:defRPr>
            </a:pPr>
            <a:r>
              <a:t>I </a:t>
            </a:r>
            <a:r>
              <a:rPr sz="1584" b="1">
                <a:solidFill>
                  <a:srgbClr val="FF0000"/>
                </a:solidFill>
              </a:rPr>
              <a:t>REATI OMISSIVI </a:t>
            </a:r>
            <a:r>
              <a:rPr sz="1584"/>
              <a:t>si suddividono in </a:t>
            </a:r>
            <a:r>
              <a:rPr sz="1584" b="1" u="sng"/>
              <a:t>due categorie</a:t>
            </a:r>
            <a:r>
              <a:rPr sz="1584"/>
              <a:t>:</a:t>
            </a:r>
            <a:endParaRPr sz="1089"/>
          </a:p>
          <a:p>
            <a:pPr marL="0" indent="0" defTabSz="805677">
              <a:lnSpc>
                <a:spcPct val="72000"/>
              </a:lnSpc>
              <a:spcBef>
                <a:spcPts val="700"/>
              </a:spcBef>
              <a:buSzTx/>
              <a:buNone/>
              <a:defRPr sz="989">
                <a:latin typeface="Book Antiqua"/>
                <a:ea typeface="Book Antiqua"/>
                <a:cs typeface="Book Antiqua"/>
                <a:sym typeface="Book Antiqua"/>
              </a:defRPr>
            </a:pPr>
            <a:endParaRPr sz="1089"/>
          </a:p>
          <a:p>
            <a:pPr marL="201419" indent="-201419" algn="just" defTabSz="805677">
              <a:lnSpc>
                <a:spcPct val="100000"/>
              </a:lnSpc>
              <a:spcBef>
                <a:spcPts val="700"/>
              </a:spcBef>
              <a:defRPr sz="1584">
                <a:latin typeface="Book Antiqua"/>
                <a:ea typeface="Book Antiqua"/>
                <a:cs typeface="Book Antiqua"/>
                <a:sym typeface="Book Antiqua"/>
              </a:defRPr>
            </a:pPr>
            <a:r>
              <a:t>i</a:t>
            </a:r>
            <a:r>
              <a:rPr b="1"/>
              <a:t> </a:t>
            </a:r>
            <a:r>
              <a:rPr sz="1287" b="1">
                <a:solidFill>
                  <a:srgbClr val="2929FC"/>
                </a:solidFill>
              </a:rPr>
              <a:t>REATI OMISSIVI</a:t>
            </a:r>
            <a:r>
              <a:rPr b="1">
                <a:solidFill>
                  <a:srgbClr val="2929FC"/>
                </a:solidFill>
              </a:rPr>
              <a:t> PROPRI:</a:t>
            </a:r>
            <a:r>
              <a:rPr>
                <a:solidFill>
                  <a:srgbClr val="2929FC"/>
                </a:solidFill>
              </a:rPr>
              <a:t> </a:t>
            </a:r>
            <a:r>
              <a:t>consistono nel mancato compimento di un’azione che la legge penale comanda di realizzare. </a:t>
            </a:r>
            <a:endParaRPr sz="1089"/>
          </a:p>
          <a:p>
            <a:pPr marL="0" indent="0" algn="just" defTabSz="805677">
              <a:lnSpc>
                <a:spcPct val="100000"/>
              </a:lnSpc>
              <a:spcBef>
                <a:spcPts val="700"/>
              </a:spcBef>
              <a:buSzTx/>
              <a:buNone/>
              <a:defRPr sz="1584" i="1">
                <a:latin typeface="Book Antiqua"/>
                <a:ea typeface="Book Antiqua"/>
                <a:cs typeface="Book Antiqua"/>
                <a:sym typeface="Book Antiqua"/>
              </a:defRPr>
            </a:pPr>
            <a:r>
              <a:t>Es. l’omissione di soccorso (art. 593 c.p.);</a:t>
            </a:r>
          </a:p>
          <a:p>
            <a:pPr marL="201419" indent="-201419" algn="just" defTabSz="805677">
              <a:lnSpc>
                <a:spcPct val="100000"/>
              </a:lnSpc>
              <a:spcBef>
                <a:spcPts val="700"/>
              </a:spcBef>
              <a:defRPr sz="1584">
                <a:latin typeface="Book Antiqua"/>
                <a:ea typeface="Book Antiqua"/>
                <a:cs typeface="Book Antiqua"/>
                <a:sym typeface="Book Antiqua"/>
              </a:defRPr>
            </a:pPr>
            <a:r>
              <a:t>i </a:t>
            </a:r>
            <a:r>
              <a:rPr sz="1287" b="1">
                <a:solidFill>
                  <a:srgbClr val="0000FC"/>
                </a:solidFill>
              </a:rPr>
              <a:t>REATI OMISSIVI</a:t>
            </a:r>
            <a:r>
              <a:rPr b="1">
                <a:solidFill>
                  <a:srgbClr val="0000FC"/>
                </a:solidFill>
              </a:rPr>
              <a:t> IMPROPRI:</a:t>
            </a:r>
            <a:r>
              <a:rPr b="1"/>
              <a:t> </a:t>
            </a:r>
            <a:r>
              <a:t>noti anche come reati commissivi mediante omissione, si verificano quando una persona, omettendo di compiere un’azione a cui era obbligata, causa un evento dannoso che costituisce reato. </a:t>
            </a:r>
            <a:r>
              <a:rPr i="1"/>
              <a:t> </a:t>
            </a:r>
            <a:endParaRPr sz="1089"/>
          </a:p>
          <a:p>
            <a:pPr marL="0" indent="0" algn="just" defTabSz="805677">
              <a:lnSpc>
                <a:spcPct val="100000"/>
              </a:lnSpc>
              <a:spcBef>
                <a:spcPts val="700"/>
              </a:spcBef>
              <a:buSzTx/>
              <a:buNone/>
              <a:defRPr sz="1584" i="1">
                <a:latin typeface="Book Antiqua"/>
                <a:ea typeface="Book Antiqua"/>
                <a:cs typeface="Book Antiqua"/>
                <a:sym typeface="Book Antiqua"/>
              </a:defRPr>
            </a:pPr>
            <a:r>
              <a:t>Es</a:t>
            </a:r>
            <a:r>
              <a:rPr i="0"/>
              <a:t>. la madre che non presta soccorso al figlio in pericolo o il bagnino che non aiuta il nuotatore in difficoltà possono rispondere, se ne ricorrono i presupposti, di </a:t>
            </a:r>
            <a:r>
              <a:rPr i="0" u="sng"/>
              <a:t>omicidio mediante omissione</a:t>
            </a:r>
            <a:r>
              <a:rPr i="0"/>
              <a:t>. La fattispecie di reato omissivo improprio nasce dalla combinazione tra la clausola generale contenuta nell’art. 40 c.p. (”</a:t>
            </a:r>
            <a:r>
              <a:t>Non impedire un evento, che si ha l’obbligo giuridico di impedire, equivale a cagionarlo”) </a:t>
            </a:r>
            <a:r>
              <a:rPr i="0"/>
              <a:t>e le norme di parte speciale, incentrate sul reato di azione, che con questo percorso logico diventano fattispecie omissive. </a:t>
            </a:r>
            <a:endParaRPr sz="1089" i="0"/>
          </a:p>
          <a:p>
            <a:pPr marL="0" indent="0" algn="just" defTabSz="805677">
              <a:lnSpc>
                <a:spcPct val="100000"/>
              </a:lnSpc>
              <a:spcBef>
                <a:spcPts val="700"/>
              </a:spcBef>
              <a:buSzTx/>
              <a:buNone/>
              <a:defRPr sz="1584" i="1">
                <a:latin typeface="Book Antiqua"/>
                <a:ea typeface="Book Antiqua"/>
                <a:cs typeface="Book Antiqua"/>
                <a:sym typeface="Book Antiqua"/>
              </a:defRPr>
            </a:pPr>
            <a:endParaRPr sz="1089" i="0"/>
          </a:p>
          <a:p>
            <a:pPr marL="0" indent="0" algn="just" defTabSz="805677">
              <a:lnSpc>
                <a:spcPct val="100000"/>
              </a:lnSpc>
              <a:spcBef>
                <a:spcPts val="700"/>
              </a:spcBef>
              <a:buSzTx/>
              <a:buNone/>
              <a:defRPr sz="1584" i="1">
                <a:latin typeface="Book Antiqua"/>
                <a:ea typeface="Book Antiqua"/>
                <a:cs typeface="Book Antiqua"/>
                <a:sym typeface="Book Antiqua"/>
              </a:defRPr>
            </a:pPr>
            <a:endParaRPr sz="1089" i="0"/>
          </a:p>
          <a:p>
            <a:pPr marL="0" indent="0" algn="just" defTabSz="805677">
              <a:lnSpc>
                <a:spcPct val="100000"/>
              </a:lnSpc>
              <a:spcBef>
                <a:spcPts val="700"/>
              </a:spcBef>
              <a:buSzTx/>
              <a:buNone/>
              <a:defRPr sz="2376" b="1">
                <a:latin typeface="Book Antiqua"/>
                <a:ea typeface="Book Antiqua"/>
                <a:cs typeface="Book Antiqua"/>
                <a:sym typeface="Book Antiqua"/>
              </a:defRPr>
            </a:pPr>
            <a:r>
              <a:t>A differenza dei reati omissivi propri, dove l’omissione in sé è reato , nei reati omissivi impropri è necessario che dall’omissione derivi un evento dannoso specifico</a:t>
            </a:r>
          </a:p>
        </p:txBody>
      </p:sp>
      <p:sp>
        <p:nvSpPr>
          <p:cNvPr id="467" name="Titolo 2"/>
          <p:cNvSpPr>
            <a:spLocks noGrp="1"/>
          </p:cNvSpPr>
          <p:nvPr>
            <p:ph type="title"/>
          </p:nvPr>
        </p:nvSpPr>
        <p:spPr>
          <a:xfrm>
            <a:off x="628650" y="365125"/>
            <a:ext cx="7886700" cy="629174"/>
          </a:xfrm>
          <a:prstGeom prst="rect">
            <a:avLst/>
          </a:prstGeom>
        </p:spPr>
        <p:txBody>
          <a:bodyPr>
            <a:normAutofit fontScale="90000"/>
          </a:bodyPr>
          <a:lstStyle/>
          <a:p>
            <a:pPr defTabSz="484630">
              <a:defRPr sz="2000">
                <a:solidFill>
                  <a:srgbClr val="FFFFFF"/>
                </a:solidFill>
                <a:latin typeface="Times New Roman"/>
                <a:ea typeface="Times New Roman"/>
                <a:cs typeface="Times New Roman"/>
                <a:sym typeface="Times New Roman"/>
              </a:defRPr>
            </a:pPr>
            <a:r>
              <a:t>Elemento oggettivo</a:t>
            </a:r>
            <a:br/>
            <a:endParaRPr/>
          </a:p>
        </p:txBody>
      </p:sp>
    </p:spTree>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Segnaposto contenuto 2"/>
          <p:cNvSpPr>
            <a:spLocks noGrp="1"/>
          </p:cNvSpPr>
          <p:nvPr>
            <p:ph type="body" idx="1"/>
          </p:nvPr>
        </p:nvSpPr>
        <p:spPr>
          <a:xfrm>
            <a:off x="251519" y="836710"/>
            <a:ext cx="8568954" cy="5925742"/>
          </a:xfrm>
          <a:prstGeom prst="rect">
            <a:avLst/>
          </a:prstGeom>
        </p:spPr>
        <p:txBody>
          <a:bodyPr/>
          <a:lstStyle/>
          <a:p>
            <a:pPr marL="0" indent="0" algn="ctr">
              <a:lnSpc>
                <a:spcPct val="150000"/>
              </a:lnSpc>
              <a:buSzTx/>
              <a:buNone/>
              <a:defRPr sz="4200" b="1">
                <a:solidFill>
                  <a:srgbClr val="C00000"/>
                </a:solidFill>
                <a:latin typeface="Book Antiqua"/>
                <a:ea typeface="Book Antiqua"/>
                <a:cs typeface="Book Antiqua"/>
                <a:sym typeface="Book Antiqua"/>
              </a:defRPr>
            </a:pPr>
            <a:r>
              <a:t>CONDOTTA</a:t>
            </a:r>
          </a:p>
          <a:p>
            <a:pPr marL="0" indent="0" algn="just">
              <a:lnSpc>
                <a:spcPct val="150000"/>
              </a:lnSpc>
              <a:buSzTx/>
              <a:buNone/>
              <a:defRPr sz="2600">
                <a:latin typeface="Book Antiqua"/>
                <a:ea typeface="Book Antiqua"/>
                <a:cs typeface="Book Antiqua"/>
                <a:sym typeface="Book Antiqua"/>
              </a:defRPr>
            </a:pPr>
            <a:r>
              <a:t>A seconda del tipo di offesa che la condotta arreca al bene giuridico tutelato dalla norma penale (cd. DANNO «PENALE») distinguiamo :</a:t>
            </a:r>
          </a:p>
          <a:p>
            <a:pPr marL="0" indent="0" algn="just">
              <a:lnSpc>
                <a:spcPct val="150000"/>
              </a:lnSpc>
              <a:buSzTx/>
              <a:buNone/>
              <a:defRPr sz="2600">
                <a:latin typeface="Book Antiqua"/>
                <a:ea typeface="Book Antiqua"/>
                <a:cs typeface="Book Antiqua"/>
                <a:sym typeface="Book Antiqua"/>
              </a:defRPr>
            </a:pPr>
            <a:r>
              <a:t>Ø i </a:t>
            </a:r>
            <a:r>
              <a:rPr b="1">
                <a:solidFill>
                  <a:srgbClr val="002F8E"/>
                </a:solidFill>
              </a:rPr>
              <a:t>REATI DI DANNO: lesione</a:t>
            </a:r>
          </a:p>
          <a:p>
            <a:pPr marL="0" indent="0" algn="just">
              <a:lnSpc>
                <a:spcPct val="150000"/>
              </a:lnSpc>
              <a:buSzTx/>
              <a:buNone/>
              <a:defRPr sz="2600">
                <a:latin typeface="Book Antiqua"/>
                <a:ea typeface="Book Antiqua"/>
                <a:cs typeface="Book Antiqua"/>
                <a:sym typeface="Book Antiqua"/>
              </a:defRPr>
            </a:pPr>
            <a:r>
              <a:t>Ø i </a:t>
            </a:r>
            <a:r>
              <a:rPr b="1">
                <a:solidFill>
                  <a:srgbClr val="002F8E"/>
                </a:solidFill>
              </a:rPr>
              <a:t>REATI DI PERICOLO: messa in pericolo</a:t>
            </a:r>
          </a:p>
        </p:txBody>
      </p:sp>
      <p:sp>
        <p:nvSpPr>
          <p:cNvPr id="470" name="Text Box 5"/>
          <p:cNvSpPr/>
          <p:nvPr/>
        </p:nvSpPr>
        <p:spPr>
          <a:xfrm>
            <a:off x="872155" y="110241"/>
            <a:ext cx="8227274" cy="584439"/>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a14="http://schemas.microsoft.com/office/mac/drawingml/2011/main"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Elemento oggettivo</a:t>
            </a:r>
          </a:p>
        </p:txBody>
      </p:sp>
    </p:spTree>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 name="Segnaposto contenuto 2"/>
          <p:cNvSpPr>
            <a:spLocks noGrp="1"/>
          </p:cNvSpPr>
          <p:nvPr>
            <p:ph type="body" idx="1"/>
          </p:nvPr>
        </p:nvSpPr>
        <p:spPr>
          <a:xfrm>
            <a:off x="251519" y="836710"/>
            <a:ext cx="8568954" cy="5925742"/>
          </a:xfrm>
          <a:prstGeom prst="rect">
            <a:avLst/>
          </a:prstGeom>
        </p:spPr>
        <p:txBody>
          <a:bodyPr/>
          <a:lstStyle/>
          <a:p>
            <a:pPr marL="0" indent="0" algn="ctr">
              <a:lnSpc>
                <a:spcPct val="150000"/>
              </a:lnSpc>
              <a:buSzTx/>
              <a:buNone/>
              <a:defRPr sz="3800" b="1">
                <a:solidFill>
                  <a:srgbClr val="C00000"/>
                </a:solidFill>
                <a:latin typeface="Book Antiqua"/>
                <a:ea typeface="Book Antiqua"/>
                <a:cs typeface="Book Antiqua"/>
                <a:sym typeface="Book Antiqua"/>
              </a:defRPr>
            </a:pPr>
            <a:r>
              <a:t>REATO DI DANNO</a:t>
            </a:r>
          </a:p>
          <a:p>
            <a:pPr marL="0" indent="0" algn="just">
              <a:lnSpc>
                <a:spcPct val="150000"/>
              </a:lnSpc>
              <a:buSzTx/>
              <a:buNone/>
              <a:defRPr sz="2600">
                <a:latin typeface="Book Antiqua"/>
                <a:ea typeface="Book Antiqua"/>
                <a:cs typeface="Book Antiqua"/>
                <a:sym typeface="Book Antiqua"/>
              </a:defRPr>
            </a:pPr>
            <a:r>
              <a:t>Il soggetto è punito quando arreca una </a:t>
            </a:r>
            <a:r>
              <a:rPr b="1" u="sng"/>
              <a:t>lesione</a:t>
            </a:r>
            <a:r>
              <a:t> al bene giuridico costituzionalmente garantito.</a:t>
            </a:r>
          </a:p>
          <a:p>
            <a:pPr marL="0" indent="0" algn="just">
              <a:lnSpc>
                <a:spcPct val="150000"/>
              </a:lnSpc>
              <a:buSzTx/>
              <a:buNone/>
              <a:defRPr sz="2600">
                <a:latin typeface="Book Antiqua"/>
                <a:ea typeface="Book Antiqua"/>
                <a:cs typeface="Book Antiqua"/>
                <a:sym typeface="Book Antiqua"/>
              </a:defRPr>
            </a:pPr>
            <a:endParaRPr/>
          </a:p>
          <a:p>
            <a:pPr marL="0" indent="0" algn="just">
              <a:lnSpc>
                <a:spcPct val="150000"/>
              </a:lnSpc>
              <a:buSzTx/>
              <a:buNone/>
              <a:defRPr i="1">
                <a:latin typeface="Book Antiqua"/>
                <a:ea typeface="Book Antiqua"/>
                <a:cs typeface="Book Antiqua"/>
                <a:sym typeface="Book Antiqua"/>
              </a:defRPr>
            </a:pPr>
            <a:r>
              <a:t>Es. omicidio «consumato» – lesione del bene giuridico vita</a:t>
            </a:r>
          </a:p>
        </p:txBody>
      </p:sp>
      <p:sp>
        <p:nvSpPr>
          <p:cNvPr id="473" name="Text Box 5"/>
          <p:cNvSpPr/>
          <p:nvPr/>
        </p:nvSpPr>
        <p:spPr>
          <a:xfrm>
            <a:off x="872155" y="110241"/>
            <a:ext cx="8227274" cy="584439"/>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a14="http://schemas.microsoft.com/office/mac/drawingml/2011/main"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Elemento oggettivo</a:t>
            </a:r>
          </a:p>
        </p:txBody>
      </p:sp>
    </p:spTree>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5" name="Segnaposto contenuto 2"/>
          <p:cNvSpPr>
            <a:spLocks noGrp="1"/>
          </p:cNvSpPr>
          <p:nvPr>
            <p:ph type="body" idx="1"/>
          </p:nvPr>
        </p:nvSpPr>
        <p:spPr>
          <a:xfrm>
            <a:off x="251519" y="836710"/>
            <a:ext cx="8568954" cy="5925742"/>
          </a:xfrm>
          <a:prstGeom prst="rect">
            <a:avLst/>
          </a:prstGeom>
        </p:spPr>
        <p:txBody>
          <a:bodyPr/>
          <a:lstStyle/>
          <a:p>
            <a:pPr marL="0" indent="0" algn="ctr">
              <a:lnSpc>
                <a:spcPct val="150000"/>
              </a:lnSpc>
              <a:buSzTx/>
              <a:buNone/>
              <a:defRPr sz="3600" b="1">
                <a:solidFill>
                  <a:srgbClr val="C00000"/>
                </a:solidFill>
                <a:latin typeface="Book Antiqua"/>
                <a:ea typeface="Book Antiqua"/>
                <a:cs typeface="Book Antiqua"/>
                <a:sym typeface="Book Antiqua"/>
              </a:defRPr>
            </a:pPr>
            <a:r>
              <a:t>REATO DI PERICOLO</a:t>
            </a:r>
            <a:endParaRPr sz="2500"/>
          </a:p>
          <a:p>
            <a:pPr marL="0" indent="0" algn="just">
              <a:lnSpc>
                <a:spcPct val="150000"/>
              </a:lnSpc>
              <a:buSzTx/>
              <a:buNone/>
              <a:defRPr sz="2400">
                <a:latin typeface="Book Antiqua"/>
                <a:ea typeface="Book Antiqua"/>
                <a:cs typeface="Book Antiqua"/>
                <a:sym typeface="Book Antiqua"/>
              </a:defRPr>
            </a:pPr>
            <a:r>
              <a:t>Il soggetto è punito già quando </a:t>
            </a:r>
            <a:r>
              <a:rPr b="1" u="sng"/>
              <a:t>mette in pericolo </a:t>
            </a:r>
            <a:r>
              <a:t>il bene giuridico, senza che sia necessario che si verifichi un’effettiva lesione dello stesso.</a:t>
            </a:r>
            <a:endParaRPr sz="2500"/>
          </a:p>
          <a:p>
            <a:pPr marL="0" indent="0" algn="just">
              <a:lnSpc>
                <a:spcPct val="150000"/>
              </a:lnSpc>
              <a:buSzTx/>
              <a:buNone/>
              <a:defRPr sz="2200" i="1">
                <a:latin typeface="Book Antiqua"/>
                <a:ea typeface="Book Antiqua"/>
                <a:cs typeface="Book Antiqua"/>
                <a:sym typeface="Book Antiqua"/>
              </a:defRPr>
            </a:pPr>
            <a:r>
              <a:t>Es</a:t>
            </a:r>
            <a:r>
              <a:rPr sz="2000"/>
              <a:t>. </a:t>
            </a:r>
            <a:r>
              <a:rPr sz="2000" b="1" u="sng"/>
              <a:t>strage, art. 422 c.p</a:t>
            </a:r>
            <a:r>
              <a:rPr sz="2000" b="1"/>
              <a:t>:</a:t>
            </a:r>
            <a:r>
              <a:rPr sz="2000"/>
              <a:t> Il soggetto è punito per il solo fatto di compiere atti PERICOLOSI per la pubblica incolumità finalizzati ad uccidere, anche se poi nella realtà da tali atti non deriva la morte di nessuno; altro es.).</a:t>
            </a:r>
            <a:endParaRPr sz="2500"/>
          </a:p>
          <a:p>
            <a:pPr marL="0" indent="0" algn="just">
              <a:lnSpc>
                <a:spcPct val="150000"/>
              </a:lnSpc>
              <a:buSzTx/>
              <a:buNone/>
              <a:defRPr sz="2000" i="1">
                <a:latin typeface="Book Antiqua"/>
                <a:ea typeface="Book Antiqua"/>
                <a:cs typeface="Book Antiqua"/>
                <a:sym typeface="Book Antiqua"/>
              </a:defRPr>
            </a:pPr>
            <a:r>
              <a:t>Es. </a:t>
            </a:r>
            <a:r>
              <a:rPr b="1" u="sng"/>
              <a:t>omicidio «tentato»</a:t>
            </a:r>
            <a:r>
              <a:t>: se si è cercato di uccidere una persona senza riuscirvi, il bene «vita» è stato solo messo in pericolo e non leso.</a:t>
            </a:r>
          </a:p>
        </p:txBody>
      </p:sp>
      <p:sp>
        <p:nvSpPr>
          <p:cNvPr id="476" name="Text Box 5"/>
          <p:cNvSpPr/>
          <p:nvPr/>
        </p:nvSpPr>
        <p:spPr>
          <a:xfrm>
            <a:off x="872155" y="110241"/>
            <a:ext cx="8227274" cy="584439"/>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a14="http://schemas.microsoft.com/office/mac/drawingml/2011/main"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Elemento oggettivo</a:t>
            </a:r>
          </a:p>
        </p:txBody>
      </p:sp>
    </p:spTree>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 name="Segnaposto contenuto 2"/>
          <p:cNvSpPr>
            <a:spLocks noGrp="1"/>
          </p:cNvSpPr>
          <p:nvPr>
            <p:ph type="body" idx="1"/>
          </p:nvPr>
        </p:nvSpPr>
        <p:spPr>
          <a:xfrm>
            <a:off x="251519" y="836710"/>
            <a:ext cx="8568954" cy="5911050"/>
          </a:xfrm>
          <a:prstGeom prst="rect">
            <a:avLst/>
          </a:prstGeom>
        </p:spPr>
        <p:txBody>
          <a:bodyPr>
            <a:normAutofit lnSpcReduction="10000"/>
          </a:bodyPr>
          <a:lstStyle/>
          <a:p>
            <a:pPr marL="0" indent="0" algn="ctr" defTabSz="850391">
              <a:lnSpc>
                <a:spcPct val="120000"/>
              </a:lnSpc>
              <a:spcBef>
                <a:spcPts val="900"/>
              </a:spcBef>
              <a:buSzTx/>
              <a:buNone/>
              <a:defRPr sz="3348" b="1">
                <a:solidFill>
                  <a:srgbClr val="C00000"/>
                </a:solidFill>
                <a:latin typeface="Book Antiqua"/>
                <a:ea typeface="Book Antiqua"/>
                <a:cs typeface="Book Antiqua"/>
                <a:sym typeface="Book Antiqua"/>
              </a:defRPr>
            </a:pPr>
            <a:r>
              <a:t>CONDOTTA</a:t>
            </a:r>
            <a:endParaRPr sz="1581"/>
          </a:p>
          <a:p>
            <a:pPr marL="0" indent="0" algn="just" defTabSz="850391">
              <a:lnSpc>
                <a:spcPct val="120000"/>
              </a:lnSpc>
              <a:spcBef>
                <a:spcPts val="900"/>
              </a:spcBef>
              <a:buSzTx/>
              <a:buNone/>
              <a:defRPr sz="1860">
                <a:latin typeface="Book Antiqua"/>
                <a:ea typeface="Book Antiqua"/>
                <a:cs typeface="Book Antiqua"/>
                <a:sym typeface="Book Antiqua"/>
              </a:defRPr>
            </a:pPr>
            <a:r>
              <a:t>I reati di pericolo si distinguono, a loro volta, in due categorie:</a:t>
            </a:r>
            <a:endParaRPr sz="1581"/>
          </a:p>
          <a:p>
            <a:pPr marL="0" indent="0" algn="just" defTabSz="850391">
              <a:lnSpc>
                <a:spcPct val="120000"/>
              </a:lnSpc>
              <a:spcBef>
                <a:spcPts val="900"/>
              </a:spcBef>
              <a:buSzTx/>
              <a:buNone/>
              <a:defRPr sz="1860">
                <a:latin typeface="Book Antiqua"/>
                <a:ea typeface="Book Antiqua"/>
                <a:cs typeface="Book Antiqua"/>
                <a:sym typeface="Book Antiqua"/>
              </a:defRPr>
            </a:pPr>
            <a:r>
              <a:rPr b="1">
                <a:solidFill>
                  <a:srgbClr val="002F8E"/>
                </a:solidFill>
              </a:rPr>
              <a:t>REATI DI PERICOLO CONCRETO:</a:t>
            </a:r>
            <a:r>
              <a:t> per i quali è necessaria la sussistenza di un </a:t>
            </a:r>
            <a:r>
              <a:rPr b="1" u="sng"/>
              <a:t>effettivo</a:t>
            </a:r>
            <a:r>
              <a:t> pericolo per il bene tutelato, che dovrà essere di volta in volta accertato da parte del giudice.</a:t>
            </a:r>
            <a:endParaRPr sz="1581"/>
          </a:p>
          <a:p>
            <a:pPr marL="0" indent="0" algn="just" defTabSz="850391">
              <a:lnSpc>
                <a:spcPct val="120000"/>
              </a:lnSpc>
              <a:spcBef>
                <a:spcPts val="900"/>
              </a:spcBef>
              <a:buSzTx/>
              <a:buNone/>
              <a:defRPr sz="1674">
                <a:latin typeface="Book Antiqua"/>
                <a:ea typeface="Book Antiqua"/>
                <a:cs typeface="Book Antiqua"/>
                <a:sym typeface="Book Antiqua"/>
              </a:defRPr>
            </a:pPr>
            <a:r>
              <a:t>(es. il reato di </a:t>
            </a:r>
            <a:r>
              <a:rPr b="1"/>
              <a:t>strage</a:t>
            </a:r>
            <a:r>
              <a:t>, art. 422: «</a:t>
            </a:r>
            <a:r>
              <a:rPr i="1"/>
              <a:t>Chiunque, fuori dei casi preveduti dall'articolo 285, al fine di uccidere, compie atti tali da </a:t>
            </a:r>
            <a:r>
              <a:rPr i="1" u="sng"/>
              <a:t>porre in pericolo la pubblica incolumità …</a:t>
            </a:r>
            <a:r>
              <a:t>»; </a:t>
            </a:r>
            <a:r>
              <a:rPr b="1"/>
              <a:t>Incendio di cosa propria</a:t>
            </a:r>
            <a:r>
              <a:t>)</a:t>
            </a:r>
            <a:endParaRPr sz="1581"/>
          </a:p>
          <a:p>
            <a:pPr marL="0" indent="0" algn="just" defTabSz="850391">
              <a:lnSpc>
                <a:spcPct val="120000"/>
              </a:lnSpc>
              <a:spcBef>
                <a:spcPts val="900"/>
              </a:spcBef>
              <a:buSzTx/>
              <a:buNone/>
              <a:defRPr sz="1581">
                <a:latin typeface="Book Antiqua"/>
                <a:ea typeface="Book Antiqua"/>
                <a:cs typeface="Book Antiqua"/>
                <a:sym typeface="Book Antiqua"/>
              </a:defRPr>
            </a:pPr>
            <a:endParaRPr sz="1581"/>
          </a:p>
          <a:p>
            <a:pPr marL="0" indent="0" algn="just" defTabSz="850391">
              <a:lnSpc>
                <a:spcPct val="120000"/>
              </a:lnSpc>
              <a:spcBef>
                <a:spcPts val="900"/>
              </a:spcBef>
              <a:buSzTx/>
              <a:buNone/>
              <a:defRPr sz="1860">
                <a:latin typeface="Book Antiqua"/>
                <a:ea typeface="Book Antiqua"/>
                <a:cs typeface="Book Antiqua"/>
                <a:sym typeface="Book Antiqua"/>
              </a:defRPr>
            </a:pPr>
            <a:r>
              <a:rPr b="1">
                <a:solidFill>
                  <a:srgbClr val="002F8E"/>
                </a:solidFill>
              </a:rPr>
              <a:t>REATI DI PERICOLO ASTRATTO/PRESUNTO: </a:t>
            </a:r>
            <a:r>
              <a:t>che vengono sanzionati senza la necessità di verificarne in concreto la pericolosità in quanto la pericolosità è valutata e presunta dal legislatore a monte.</a:t>
            </a:r>
            <a:endParaRPr sz="1581"/>
          </a:p>
          <a:p>
            <a:pPr marL="0" indent="0" algn="just" defTabSz="850391">
              <a:lnSpc>
                <a:spcPct val="120000"/>
              </a:lnSpc>
              <a:spcBef>
                <a:spcPts val="900"/>
              </a:spcBef>
              <a:buSzTx/>
              <a:buNone/>
              <a:defRPr sz="1860">
                <a:latin typeface="Book Antiqua"/>
                <a:ea typeface="Book Antiqua"/>
                <a:cs typeface="Book Antiqua"/>
                <a:sym typeface="Book Antiqua"/>
              </a:defRPr>
            </a:pPr>
            <a:r>
              <a:t>(es. i</a:t>
            </a:r>
            <a:r>
              <a:rPr b="1"/>
              <a:t>stigazione per delinquere</a:t>
            </a:r>
            <a:r>
              <a:t>, art. 414: «</a:t>
            </a:r>
            <a:r>
              <a:rPr i="1"/>
              <a:t>Chiunque pubblicamente istiga a commettere uno o più reati è punito, </a:t>
            </a:r>
            <a:r>
              <a:rPr i="1" u="sng"/>
              <a:t>per il solo fatto dell’istigazione</a:t>
            </a:r>
            <a:r>
              <a:t>»; </a:t>
            </a:r>
            <a:r>
              <a:rPr b="1"/>
              <a:t>incendio di cosa altrui</a:t>
            </a:r>
            <a:r>
              <a:t>).</a:t>
            </a:r>
          </a:p>
        </p:txBody>
      </p:sp>
      <p:sp>
        <p:nvSpPr>
          <p:cNvPr id="479" name="Text Box 5"/>
          <p:cNvSpPr/>
          <p:nvPr/>
        </p:nvSpPr>
        <p:spPr>
          <a:xfrm>
            <a:off x="872155" y="110241"/>
            <a:ext cx="8227274" cy="584439"/>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a14="http://schemas.microsoft.com/office/mac/drawingml/2011/main"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Elemento oggettivo</a:t>
            </a:r>
          </a:p>
        </p:txBody>
      </p:sp>
    </p:spTree>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 name="Segnaposto contenuto 2"/>
          <p:cNvSpPr>
            <a:spLocks noGrp="1"/>
          </p:cNvSpPr>
          <p:nvPr>
            <p:ph type="body" idx="1"/>
          </p:nvPr>
        </p:nvSpPr>
        <p:spPr>
          <a:xfrm>
            <a:off x="287523" y="836709"/>
            <a:ext cx="8568954" cy="5688637"/>
          </a:xfrm>
          <a:prstGeom prst="rect">
            <a:avLst/>
          </a:prstGeom>
        </p:spPr>
        <p:txBody>
          <a:bodyPr/>
          <a:lstStyle/>
          <a:p>
            <a:pPr marL="0" indent="0" algn="ctr">
              <a:lnSpc>
                <a:spcPct val="150000"/>
              </a:lnSpc>
              <a:buSzTx/>
              <a:buNone/>
              <a:defRPr sz="4700" b="1">
                <a:solidFill>
                  <a:srgbClr val="C00000"/>
                </a:solidFill>
                <a:latin typeface="Book Antiqua"/>
                <a:ea typeface="Book Antiqua"/>
                <a:cs typeface="Book Antiqua"/>
                <a:sym typeface="Book Antiqua"/>
              </a:defRPr>
            </a:pPr>
            <a:r>
              <a:t>EVENTO</a:t>
            </a:r>
          </a:p>
          <a:p>
            <a:pPr algn="just">
              <a:lnSpc>
                <a:spcPct val="150000"/>
              </a:lnSpc>
              <a:buFont typeface="Book Antiqua"/>
              <a:buChar char="➢"/>
              <a:defRPr sz="2600">
                <a:latin typeface="Book Antiqua"/>
                <a:ea typeface="Book Antiqua"/>
                <a:cs typeface="Book Antiqua"/>
                <a:sym typeface="Book Antiqua"/>
              </a:defRPr>
            </a:pPr>
            <a:r>
              <a:t>L’Evento è il risultato, l’effetto naturale della condotta.</a:t>
            </a:r>
          </a:p>
          <a:p>
            <a:pPr marL="0" indent="0" algn="just">
              <a:lnSpc>
                <a:spcPct val="150000"/>
              </a:lnSpc>
              <a:buSzTx/>
              <a:buNone/>
              <a:defRPr sz="1100">
                <a:latin typeface="Book Antiqua"/>
                <a:ea typeface="Book Antiqua"/>
                <a:cs typeface="Book Antiqua"/>
                <a:sym typeface="Book Antiqua"/>
              </a:defRPr>
            </a:pPr>
            <a:endParaRPr/>
          </a:p>
          <a:p>
            <a:pPr marL="0" indent="0" algn="just">
              <a:lnSpc>
                <a:spcPct val="150000"/>
              </a:lnSpc>
              <a:buSzTx/>
              <a:buNone/>
              <a:defRPr sz="2600" b="1" u="sng">
                <a:latin typeface="Book Antiqua"/>
                <a:ea typeface="Book Antiqua"/>
                <a:cs typeface="Book Antiqua"/>
                <a:sym typeface="Book Antiqua"/>
              </a:defRPr>
            </a:pPr>
            <a:r>
              <a:t>Ad esempio </a:t>
            </a:r>
            <a:r>
              <a:rPr>
                <a:solidFill>
                  <a:srgbClr val="FF0000"/>
                </a:solidFill>
              </a:rPr>
              <a:t>nell’omicidio: la condotta può consistere nello sparare con una pistola a un uomo; l’evento consiste nella morte dell’uomo. </a:t>
            </a:r>
          </a:p>
        </p:txBody>
      </p:sp>
      <p:sp>
        <p:nvSpPr>
          <p:cNvPr id="482" name="Text Box 5"/>
          <p:cNvSpPr/>
          <p:nvPr/>
        </p:nvSpPr>
        <p:spPr>
          <a:xfrm>
            <a:off x="872155" y="110241"/>
            <a:ext cx="8227274" cy="584439"/>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a14="http://schemas.microsoft.com/office/mac/drawingml/2011/main"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Elemento oggettivo</a:t>
            </a:r>
          </a:p>
        </p:txBody>
      </p:sp>
    </p:spTree>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4" name="Segnaposto contenuto 2"/>
          <p:cNvSpPr>
            <a:spLocks noGrp="1"/>
          </p:cNvSpPr>
          <p:nvPr>
            <p:ph type="body" idx="1"/>
          </p:nvPr>
        </p:nvSpPr>
        <p:spPr>
          <a:xfrm>
            <a:off x="179509" y="836712"/>
            <a:ext cx="8856990" cy="6840760"/>
          </a:xfrm>
          <a:prstGeom prst="rect">
            <a:avLst/>
          </a:prstGeom>
        </p:spPr>
        <p:txBody>
          <a:bodyPr/>
          <a:lstStyle/>
          <a:p>
            <a:pPr marL="0" indent="0" algn="ctr">
              <a:lnSpc>
                <a:spcPct val="120000"/>
              </a:lnSpc>
              <a:buSzTx/>
              <a:buNone/>
              <a:defRPr sz="3100" b="1">
                <a:solidFill>
                  <a:srgbClr val="C00000"/>
                </a:solidFill>
                <a:latin typeface="Book Antiqua"/>
                <a:ea typeface="Book Antiqua"/>
                <a:cs typeface="Book Antiqua"/>
                <a:sym typeface="Book Antiqua"/>
              </a:defRPr>
            </a:pPr>
            <a:r>
              <a:t>EVENTO</a:t>
            </a:r>
            <a:endParaRPr sz="1700"/>
          </a:p>
          <a:p>
            <a:pPr marL="0" indent="0" algn="just">
              <a:lnSpc>
                <a:spcPct val="120000"/>
              </a:lnSpc>
              <a:buSzTx/>
              <a:buNone/>
              <a:defRPr sz="1900" b="1" u="sng">
                <a:latin typeface="Book Antiqua"/>
                <a:ea typeface="Book Antiqua"/>
                <a:cs typeface="Book Antiqua"/>
                <a:sym typeface="Book Antiqua"/>
              </a:defRPr>
            </a:pPr>
            <a:r>
              <a:t>Non</a:t>
            </a:r>
            <a:r>
              <a:rPr b="0" u="none"/>
              <a:t> tutti i reati presentano tra gli elementi che compongono il fatto tipico un </a:t>
            </a:r>
            <a:r>
              <a:t>evento distinto dalla condotta </a:t>
            </a:r>
            <a:r>
              <a:rPr b="0" u="none"/>
              <a:t>(come nei casi di cui sopra). </a:t>
            </a:r>
            <a:endParaRPr sz="1700"/>
          </a:p>
          <a:p>
            <a:pPr algn="just">
              <a:lnSpc>
                <a:spcPct val="120000"/>
              </a:lnSpc>
              <a:buFont typeface="Book Antiqua"/>
              <a:buChar char="➢"/>
              <a:defRPr sz="1900" b="1">
                <a:solidFill>
                  <a:srgbClr val="002F8E"/>
                </a:solidFill>
                <a:latin typeface="Book Antiqua"/>
                <a:ea typeface="Book Antiqua"/>
                <a:cs typeface="Book Antiqua"/>
                <a:sym typeface="Book Antiqua"/>
              </a:defRPr>
            </a:pPr>
            <a:r>
              <a:t>REATO DI MERA CONDOTTA: </a:t>
            </a:r>
            <a:r>
              <a:rPr b="0">
                <a:solidFill>
                  <a:srgbClr val="000000"/>
                </a:solidFill>
              </a:rPr>
              <a:t>Quando </a:t>
            </a:r>
            <a:r>
              <a:rPr u="sng">
                <a:solidFill>
                  <a:srgbClr val="000000"/>
                </a:solidFill>
              </a:rPr>
              <a:t>il reato si configura senza che sia necessario che si verifichi un risultato ulteriore rispetto alla condotta </a:t>
            </a:r>
            <a:r>
              <a:rPr b="0">
                <a:solidFill>
                  <a:srgbClr val="000000"/>
                </a:solidFill>
              </a:rPr>
              <a:t>(es. il reato di </a:t>
            </a:r>
            <a:r>
              <a:rPr u="sng">
                <a:solidFill>
                  <a:srgbClr val="000000"/>
                </a:solidFill>
              </a:rPr>
              <a:t>percosse</a:t>
            </a:r>
            <a:r>
              <a:rPr b="0">
                <a:solidFill>
                  <a:srgbClr val="000000"/>
                </a:solidFill>
              </a:rPr>
              <a:t>, art. 581 c.p., incrimina la violenta manomissione di una persona fisica, se da tale atteggiamento violento non deriva nessuna malattia nel corpo o nella mente del soggetto passivo. Se tale evento ulteriore si verificasse non potrebbe più parlarsi di percosse ma dovrebbe parlarsi di </a:t>
            </a:r>
            <a:r>
              <a:rPr u="sng">
                <a:solidFill>
                  <a:srgbClr val="000000"/>
                </a:solidFill>
              </a:rPr>
              <a:t>lesioni</a:t>
            </a:r>
            <a:r>
              <a:rPr b="0">
                <a:solidFill>
                  <a:srgbClr val="000000"/>
                </a:solidFill>
              </a:rPr>
              <a:t>).</a:t>
            </a:r>
            <a:endParaRPr sz="1700"/>
          </a:p>
          <a:p>
            <a:pPr algn="just">
              <a:lnSpc>
                <a:spcPct val="120000"/>
              </a:lnSpc>
              <a:buFont typeface="Book Antiqua"/>
              <a:buChar char="➢"/>
              <a:defRPr sz="1700">
                <a:latin typeface="Book Antiqua"/>
                <a:ea typeface="Book Antiqua"/>
                <a:cs typeface="Book Antiqua"/>
                <a:sym typeface="Book Antiqua"/>
              </a:defRPr>
            </a:pPr>
            <a:endParaRPr sz="1700"/>
          </a:p>
          <a:p>
            <a:pPr algn="just">
              <a:lnSpc>
                <a:spcPct val="120000"/>
              </a:lnSpc>
              <a:buFont typeface="Book Antiqua"/>
              <a:buChar char="➢"/>
              <a:defRPr sz="1900" b="1">
                <a:solidFill>
                  <a:srgbClr val="002F8E"/>
                </a:solidFill>
                <a:latin typeface="Book Antiqua"/>
                <a:ea typeface="Book Antiqua"/>
                <a:cs typeface="Book Antiqua"/>
                <a:sym typeface="Book Antiqua"/>
              </a:defRPr>
            </a:pPr>
            <a:r>
              <a:t>REATO DI EVENTO</a:t>
            </a:r>
            <a:r>
              <a:rPr b="0">
                <a:solidFill>
                  <a:srgbClr val="000000"/>
                </a:solidFill>
              </a:rPr>
              <a:t>: Quando il reato si configura </a:t>
            </a:r>
            <a:r>
              <a:rPr u="sng">
                <a:solidFill>
                  <a:srgbClr val="000000"/>
                </a:solidFill>
              </a:rPr>
              <a:t>solo se in seguito alla condotta si verifica un determinato risultato </a:t>
            </a:r>
            <a:r>
              <a:rPr b="0">
                <a:solidFill>
                  <a:srgbClr val="000000"/>
                </a:solidFill>
              </a:rPr>
              <a:t>(es. la condotta di sparo se non causa la morte di un uomo non potrà mai configurare una ipotesi di omicidio).</a:t>
            </a:r>
          </a:p>
        </p:txBody>
      </p:sp>
      <p:sp>
        <p:nvSpPr>
          <p:cNvPr id="485" name="Text Box 5"/>
          <p:cNvSpPr/>
          <p:nvPr/>
        </p:nvSpPr>
        <p:spPr>
          <a:xfrm>
            <a:off x="872155" y="83090"/>
            <a:ext cx="8227274" cy="584439"/>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a14="http://schemas.microsoft.com/office/mac/drawingml/2011/main"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Elemento oggettivo</a:t>
            </a:r>
          </a:p>
        </p:txBody>
      </p:sp>
    </p:spTree>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7" name="Segnaposto contenuto 2"/>
          <p:cNvSpPr>
            <a:spLocks noGrp="1"/>
          </p:cNvSpPr>
          <p:nvPr>
            <p:ph type="body" idx="1"/>
          </p:nvPr>
        </p:nvSpPr>
        <p:spPr>
          <a:xfrm>
            <a:off x="251519" y="1052737"/>
            <a:ext cx="8568954" cy="4320479"/>
          </a:xfrm>
          <a:prstGeom prst="rect">
            <a:avLst/>
          </a:prstGeom>
        </p:spPr>
        <p:txBody>
          <a:bodyPr/>
          <a:lstStyle/>
          <a:p>
            <a:pPr marL="0" indent="0" algn="ctr">
              <a:lnSpc>
                <a:spcPct val="120000"/>
              </a:lnSpc>
              <a:buSzTx/>
              <a:buNone/>
              <a:defRPr sz="3100" b="1">
                <a:solidFill>
                  <a:srgbClr val="C00000"/>
                </a:solidFill>
                <a:latin typeface="Book Antiqua"/>
                <a:ea typeface="Book Antiqua"/>
                <a:cs typeface="Book Antiqua"/>
                <a:sym typeface="Book Antiqua"/>
              </a:defRPr>
            </a:pPr>
            <a:r>
              <a:t>EVENTO</a:t>
            </a:r>
            <a:endParaRPr sz="2100"/>
          </a:p>
          <a:p>
            <a:pPr algn="just">
              <a:lnSpc>
                <a:spcPct val="120000"/>
              </a:lnSpc>
              <a:buFont typeface="Book Antiqua"/>
              <a:buChar char="➢"/>
              <a:defRPr sz="2000" b="1">
                <a:solidFill>
                  <a:srgbClr val="002F8E"/>
                </a:solidFill>
                <a:latin typeface="Book Antiqua"/>
                <a:ea typeface="Book Antiqua"/>
                <a:cs typeface="Book Antiqua"/>
                <a:sym typeface="Book Antiqua"/>
              </a:defRPr>
            </a:pPr>
            <a:r>
              <a:t>REATO DI MERA CONDOTTA AGGRAVATO DALL’EVENTO</a:t>
            </a:r>
            <a:r>
              <a:rPr b="0">
                <a:solidFill>
                  <a:srgbClr val="000000"/>
                </a:solidFill>
              </a:rPr>
              <a:t>: In alcuni casi la semplice condotta configura di per sé un determinato reato. </a:t>
            </a:r>
            <a:r>
              <a:rPr u="sng">
                <a:solidFill>
                  <a:srgbClr val="000000"/>
                </a:solidFill>
              </a:rPr>
              <a:t>Nel caso in cui a tale condotta segua un evento, e non si figura un altro reato, la pena è aumentata</a:t>
            </a:r>
            <a:r>
              <a:rPr b="0">
                <a:solidFill>
                  <a:srgbClr val="000000"/>
                </a:solidFill>
              </a:rPr>
              <a:t> (es. nel reato di </a:t>
            </a:r>
            <a:r>
              <a:rPr>
                <a:solidFill>
                  <a:srgbClr val="000000"/>
                </a:solidFill>
              </a:rPr>
              <a:t>rissa</a:t>
            </a:r>
            <a:r>
              <a:rPr b="0">
                <a:solidFill>
                  <a:srgbClr val="000000"/>
                </a:solidFill>
              </a:rPr>
              <a:t>, art. 588 c.p., il solo fatto che più persone partecipino attivamente ad uno scontro violento è sufficiente a configurare il reato. Se poi a causa di questo scontro violento qualcuno rimane ucciso o ferito – ecco l’evento ulteriore – la pena per gli altri soggetti è aumentata). </a:t>
            </a:r>
          </a:p>
        </p:txBody>
      </p:sp>
      <p:sp>
        <p:nvSpPr>
          <p:cNvPr id="488" name="Text Box 5"/>
          <p:cNvSpPr/>
          <p:nvPr/>
        </p:nvSpPr>
        <p:spPr>
          <a:xfrm>
            <a:off x="872155" y="110241"/>
            <a:ext cx="8227274" cy="584439"/>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a14="http://schemas.microsoft.com/office/mac/drawingml/2011/main"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Elemento oggettivo</a:t>
            </a:r>
          </a:p>
        </p:txBody>
      </p:sp>
    </p:spTree>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 name="Segnaposto contenuto 2"/>
          <p:cNvSpPr>
            <a:spLocks noGrp="1"/>
          </p:cNvSpPr>
          <p:nvPr>
            <p:ph type="body" idx="1"/>
          </p:nvPr>
        </p:nvSpPr>
        <p:spPr>
          <a:xfrm>
            <a:off x="179509" y="980725"/>
            <a:ext cx="8856990" cy="6192694"/>
          </a:xfrm>
          <a:prstGeom prst="rect">
            <a:avLst/>
          </a:prstGeom>
        </p:spPr>
        <p:txBody>
          <a:bodyPr/>
          <a:lstStyle/>
          <a:p>
            <a:pPr marL="0" indent="0" algn="ctr">
              <a:lnSpc>
                <a:spcPct val="120000"/>
              </a:lnSpc>
              <a:buSzTx/>
              <a:buNone/>
              <a:defRPr sz="3100" b="1">
                <a:solidFill>
                  <a:srgbClr val="C00000"/>
                </a:solidFill>
                <a:latin typeface="Book Antiqua"/>
                <a:ea typeface="Book Antiqua"/>
                <a:cs typeface="Book Antiqua"/>
                <a:sym typeface="Book Antiqua"/>
              </a:defRPr>
            </a:pPr>
            <a:r>
              <a:t>NESSO DI CAUSALITA’</a:t>
            </a:r>
            <a:endParaRPr sz="1500"/>
          </a:p>
          <a:p>
            <a:pPr marL="0" indent="0" algn="just">
              <a:lnSpc>
                <a:spcPct val="120000"/>
              </a:lnSpc>
              <a:buSzTx/>
              <a:buNone/>
              <a:defRPr sz="1800" b="1">
                <a:latin typeface="Book Antiqua"/>
                <a:ea typeface="Book Antiqua"/>
                <a:cs typeface="Book Antiqua"/>
                <a:sym typeface="Book Antiqua"/>
              </a:defRPr>
            </a:pPr>
            <a:r>
              <a:t>Art. 40 c. 1 c.p</a:t>
            </a:r>
            <a:r>
              <a:rPr b="0"/>
              <a:t>.: rapporto di causalità</a:t>
            </a:r>
            <a:endParaRPr sz="1500"/>
          </a:p>
          <a:p>
            <a:pPr marL="0" indent="0" algn="just">
              <a:lnSpc>
                <a:spcPct val="120000"/>
              </a:lnSpc>
              <a:buSzTx/>
              <a:buNone/>
              <a:defRPr sz="1800">
                <a:latin typeface="Book Antiqua"/>
                <a:ea typeface="Book Antiqua"/>
                <a:cs typeface="Book Antiqua"/>
                <a:sym typeface="Book Antiqua"/>
              </a:defRPr>
            </a:pPr>
            <a:r>
              <a:t>«</a:t>
            </a:r>
            <a:r>
              <a:rPr i="1"/>
              <a:t>Nessuno può essere punito […] se l’evento […] non è conseguenza della sua azione od omissione</a:t>
            </a:r>
            <a:r>
              <a:t>».</a:t>
            </a:r>
            <a:endParaRPr sz="1500"/>
          </a:p>
          <a:p>
            <a:pPr marL="0" indent="0" algn="just">
              <a:lnSpc>
                <a:spcPct val="120000"/>
              </a:lnSpc>
              <a:buSzTx/>
              <a:buNone/>
              <a:defRPr sz="1800">
                <a:latin typeface="Book Antiqua"/>
                <a:ea typeface="Book Antiqua"/>
                <a:cs typeface="Book Antiqua"/>
                <a:sym typeface="Book Antiqua"/>
              </a:defRPr>
            </a:pPr>
            <a:r>
              <a:t>Lega l’azione all’evento. Funge dunque da </a:t>
            </a:r>
            <a:r>
              <a:rPr b="1" u="sng"/>
              <a:t>criterio di imputazione </a:t>
            </a:r>
            <a:r>
              <a:t>del fatto al soggetto: non solo l’azione, ma anche l’evento sono opera dell’agente. </a:t>
            </a:r>
            <a:endParaRPr sz="1500"/>
          </a:p>
          <a:p>
            <a:pPr marL="0" indent="0" algn="just">
              <a:lnSpc>
                <a:spcPct val="120000"/>
              </a:lnSpc>
              <a:buSzTx/>
              <a:buNone/>
              <a:defRPr sz="1800">
                <a:latin typeface="Book Antiqua"/>
                <a:ea typeface="Book Antiqua"/>
                <a:cs typeface="Book Antiqua"/>
                <a:sym typeface="Book Antiqua"/>
              </a:defRPr>
            </a:pPr>
            <a:r>
              <a:t>Inteso come </a:t>
            </a:r>
            <a:r>
              <a:rPr b="1" u="sng"/>
              <a:t>necessario collegamento </a:t>
            </a:r>
            <a:r>
              <a:t>tra la condotta del soggetto attivo e l’evento cagionato. </a:t>
            </a:r>
            <a:endParaRPr sz="1500"/>
          </a:p>
          <a:p>
            <a:pPr marL="0" indent="0" algn="just">
              <a:lnSpc>
                <a:spcPct val="120000"/>
              </a:lnSpc>
              <a:buSzTx/>
              <a:buNone/>
              <a:defRPr sz="1800">
                <a:latin typeface="Book Antiqua"/>
                <a:ea typeface="Book Antiqua"/>
                <a:cs typeface="Book Antiqua"/>
                <a:sym typeface="Book Antiqua"/>
              </a:defRPr>
            </a:pPr>
            <a:r>
              <a:t>La teoria di riferimento in ambito giuridico per appurarlo è la </a:t>
            </a:r>
            <a:r>
              <a:rPr b="1" u="sng"/>
              <a:t>teoria condizionalistica</a:t>
            </a:r>
            <a:r>
              <a:t> (cd. </a:t>
            </a:r>
            <a:r>
              <a:rPr b="1" i="1">
                <a:solidFill>
                  <a:srgbClr val="002F8E"/>
                </a:solidFill>
              </a:rPr>
              <a:t>della condicio sine qua non – condizione necessaria</a:t>
            </a:r>
            <a:r>
              <a:t>).</a:t>
            </a:r>
            <a:endParaRPr sz="1500"/>
          </a:p>
          <a:p>
            <a:pPr marL="0" indent="0" algn="just">
              <a:lnSpc>
                <a:spcPct val="120000"/>
              </a:lnSpc>
              <a:buSzTx/>
              <a:buNone/>
              <a:defRPr sz="1500">
                <a:latin typeface="Book Antiqua"/>
                <a:ea typeface="Book Antiqua"/>
                <a:cs typeface="Book Antiqua"/>
                <a:sym typeface="Book Antiqua"/>
              </a:defRPr>
            </a:pPr>
            <a:endParaRPr sz="1500"/>
          </a:p>
          <a:p>
            <a:pPr marL="0" indent="0" algn="just">
              <a:lnSpc>
                <a:spcPct val="120000"/>
              </a:lnSpc>
              <a:buSzTx/>
              <a:buNone/>
              <a:defRPr sz="1800">
                <a:latin typeface="Book Antiqua"/>
                <a:ea typeface="Book Antiqua"/>
                <a:cs typeface="Book Antiqua"/>
                <a:sym typeface="Book Antiqua"/>
              </a:defRPr>
            </a:pPr>
            <a:r>
              <a:t>Il nesso di causalità deve legare logicamente, secondo un rapporto causa/effetto, la condotta posta in essere con l’evento derivatone. </a:t>
            </a:r>
          </a:p>
        </p:txBody>
      </p:sp>
      <p:sp>
        <p:nvSpPr>
          <p:cNvPr id="491" name="Text Box 5"/>
          <p:cNvSpPr/>
          <p:nvPr/>
        </p:nvSpPr>
        <p:spPr>
          <a:xfrm>
            <a:off x="872155" y="110241"/>
            <a:ext cx="8227274" cy="584439"/>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a14="http://schemas.microsoft.com/office/mac/drawingml/2011/main"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Elemento oggettivo</a:t>
            </a:r>
          </a:p>
        </p:txBody>
      </p:sp>
    </p:spTree>
  </p:cSld>
  <p:clrMapOvr>
    <a:masterClrMapping/>
  </p:clrMapOvr>
  <p:transition spd="me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3" name="Segnaposto contenuto 1"/>
          <p:cNvSpPr>
            <a:spLocks noGrp="1"/>
          </p:cNvSpPr>
          <p:nvPr>
            <p:ph type="body" idx="1"/>
          </p:nvPr>
        </p:nvSpPr>
        <p:spPr>
          <a:xfrm>
            <a:off x="628650" y="881466"/>
            <a:ext cx="7886700" cy="5643878"/>
          </a:xfrm>
          <a:prstGeom prst="rect">
            <a:avLst/>
          </a:prstGeom>
        </p:spPr>
        <p:txBody>
          <a:bodyPr/>
          <a:lstStyle/>
          <a:p>
            <a:pPr marL="0" indent="0" algn="ctr" defTabSz="822959">
              <a:spcBef>
                <a:spcPts val="900"/>
              </a:spcBef>
              <a:buSzTx/>
              <a:buNone/>
              <a:defRPr sz="2520" b="1">
                <a:solidFill>
                  <a:srgbClr val="C00000"/>
                </a:solidFill>
                <a:latin typeface="Book Antiqua"/>
                <a:ea typeface="Book Antiqua"/>
                <a:cs typeface="Book Antiqua"/>
                <a:sym typeface="Book Antiqua"/>
              </a:defRPr>
            </a:pPr>
            <a:r>
              <a:t>      NESSO DI CAUSALITA’</a:t>
            </a:r>
          </a:p>
          <a:p>
            <a:pPr marL="205739" indent="-205739" algn="just" defTabSz="822959">
              <a:spcBef>
                <a:spcPts val="900"/>
              </a:spcBef>
              <a:defRPr sz="2520" b="1"/>
            </a:pPr>
            <a:endParaRPr/>
          </a:p>
          <a:p>
            <a:pPr marL="205739" indent="-205739" algn="just" defTabSz="822959">
              <a:spcBef>
                <a:spcPts val="900"/>
              </a:spcBef>
              <a:defRPr sz="2520" b="1"/>
            </a:pPr>
            <a:r>
              <a:t>Teoria della </a:t>
            </a:r>
            <a:r>
              <a:rPr i="1"/>
              <a:t>contidio sine qua non</a:t>
            </a:r>
            <a:r>
              <a:rPr b="0" i="1"/>
              <a:t>: </a:t>
            </a:r>
            <a:r>
              <a:rPr b="0"/>
              <a:t>(art. 40 e 41, c. 1 e 2 c.p.) una condotta è causa dell’evento quando senza di essa l’evento stesso non si sarebbe verificato;</a:t>
            </a:r>
          </a:p>
          <a:p>
            <a:pPr marL="205739" indent="-205739" algn="just" defTabSz="822959">
              <a:spcBef>
                <a:spcPts val="900"/>
              </a:spcBef>
              <a:defRPr sz="2520" b="1"/>
            </a:pPr>
            <a:endParaRPr b="0"/>
          </a:p>
          <a:p>
            <a:pPr marL="205739" indent="-205739" algn="just" defTabSz="822959">
              <a:spcBef>
                <a:spcPts val="900"/>
              </a:spcBef>
              <a:defRPr sz="2520" i="1"/>
            </a:pPr>
            <a:r>
              <a:t>Art. 41 c.1 e 3 c.p., </a:t>
            </a:r>
            <a:r>
              <a:rPr i="0" u="sng"/>
              <a:t>il rapporto di causalità non è escluso</a:t>
            </a:r>
            <a:r>
              <a:rPr i="0"/>
              <a:t> dal fatto che a determinare l’evento abbiano concorso anche delle concause esterne;</a:t>
            </a:r>
          </a:p>
          <a:p>
            <a:pPr marL="205739" indent="-205739" algn="just" defTabSz="822959">
              <a:spcBef>
                <a:spcPts val="900"/>
              </a:spcBef>
              <a:defRPr sz="2520" i="1"/>
            </a:pPr>
            <a:endParaRPr i="0"/>
          </a:p>
          <a:p>
            <a:pPr marL="205739" indent="-205739" algn="just" defTabSz="822959">
              <a:spcBef>
                <a:spcPts val="900"/>
              </a:spcBef>
              <a:defRPr sz="2520"/>
            </a:pPr>
            <a:r>
              <a:t>Il </a:t>
            </a:r>
            <a:r>
              <a:rPr i="1" u="sng"/>
              <a:t>rapporto di causalità è escluso </a:t>
            </a:r>
            <a:r>
              <a:t>quando alla condotta del reo sopravviene una causa a carattere eccezionale la quale è già in grado, da sola, di cagionare l’evento.</a:t>
            </a:r>
          </a:p>
        </p:txBody>
      </p:sp>
      <p:sp>
        <p:nvSpPr>
          <p:cNvPr id="494" name="Segnaposto numero diapositiva 2"/>
          <p:cNvSpPr>
            <a:spLocks noGrp="1"/>
          </p:cNvSpPr>
          <p:nvPr>
            <p:ph type="sldNum" sz="quarter" idx="4294967295"/>
          </p:nvPr>
        </p:nvSpPr>
        <p:spPr>
          <a:xfrm>
            <a:off x="8258808" y="6401180"/>
            <a:ext cx="256537" cy="275463"/>
          </a:xfrm>
          <a:prstGeom prst="rect">
            <a:avLst/>
          </a:prstGeom>
          <a:extLst>
            <a:ext uri="{C572A759-6A51-4108-AA02-DFA0A04FC94B}">
              <ma14:wrappingTextBoxFlag xmlns="" xmlns:ma14="http://schemas.microsoft.com/office/mac/drawingml/2011/main" val="1"/>
            </a:ext>
          </a:extLst>
        </p:spPr>
        <p:txBody>
          <a:bodyPr/>
          <a:lstStyle/>
          <a:p>
            <a:fld id="{86CB4B4D-7CA3-9044-876B-883B54F8677D}" type="slidenum">
              <a:t>57</a:t>
            </a:fld>
            <a:endParaRPr/>
          </a:p>
        </p:txBody>
      </p:sp>
      <p:sp>
        <p:nvSpPr>
          <p:cNvPr id="495" name="Text Box 5"/>
          <p:cNvSpPr/>
          <p:nvPr/>
        </p:nvSpPr>
        <p:spPr>
          <a:xfrm>
            <a:off x="872155" y="110241"/>
            <a:ext cx="8227274" cy="584439"/>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a14="http://schemas.microsoft.com/office/mac/drawingml/2011/main"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Elemento oggettivo</a:t>
            </a:r>
          </a:p>
        </p:txBody>
      </p:sp>
    </p:spTree>
  </p:cSld>
  <p:clrMapOvr>
    <a:masterClrMapping/>
  </p:clrMapOvr>
  <p:transition spd="me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7" name="Segnaposto contenuto 2"/>
          <p:cNvSpPr>
            <a:spLocks noGrp="1"/>
          </p:cNvSpPr>
          <p:nvPr>
            <p:ph type="body" idx="1"/>
          </p:nvPr>
        </p:nvSpPr>
        <p:spPr>
          <a:xfrm>
            <a:off x="251519" y="1052737"/>
            <a:ext cx="8568954" cy="5472608"/>
          </a:xfrm>
          <a:prstGeom prst="rect">
            <a:avLst/>
          </a:prstGeom>
        </p:spPr>
        <p:txBody>
          <a:bodyPr/>
          <a:lstStyle/>
          <a:p>
            <a:pPr marL="0" indent="0" algn="ctr">
              <a:lnSpc>
                <a:spcPct val="135000"/>
              </a:lnSpc>
              <a:buSzTx/>
              <a:buNone/>
              <a:defRPr sz="3200" b="1">
                <a:solidFill>
                  <a:srgbClr val="C00000"/>
                </a:solidFill>
                <a:latin typeface="Book Antiqua"/>
                <a:ea typeface="Book Antiqua"/>
                <a:cs typeface="Book Antiqua"/>
                <a:sym typeface="Book Antiqua"/>
              </a:defRPr>
            </a:pPr>
            <a:r>
              <a:t>NESSO DI CAUSALITA’</a:t>
            </a:r>
            <a:endParaRPr sz="2300"/>
          </a:p>
          <a:p>
            <a:pPr marL="0" indent="0" algn="just">
              <a:lnSpc>
                <a:spcPct val="135000"/>
              </a:lnSpc>
              <a:buSzTx/>
              <a:buNone/>
              <a:defRPr sz="2200" b="1" u="sng">
                <a:latin typeface="Book Antiqua"/>
                <a:ea typeface="Book Antiqua"/>
                <a:cs typeface="Book Antiqua"/>
                <a:sym typeface="Book Antiqua"/>
              </a:defRPr>
            </a:pPr>
            <a:r>
              <a:t>Esempio.</a:t>
            </a:r>
            <a:endParaRPr sz="2300"/>
          </a:p>
          <a:p>
            <a:pPr marL="0" indent="0" algn="just">
              <a:lnSpc>
                <a:spcPct val="135000"/>
              </a:lnSpc>
              <a:buSzTx/>
              <a:buNone/>
              <a:defRPr sz="2200" b="1" i="1">
                <a:latin typeface="Book Antiqua"/>
                <a:ea typeface="Book Antiqua"/>
                <a:cs typeface="Book Antiqua"/>
                <a:sym typeface="Book Antiqua"/>
              </a:defRPr>
            </a:pPr>
            <a:r>
              <a:t>Tizio provoca lievi lesioni (non affatto mortali) a Caio e, nel mentre questi si reca in ospedale in autoambulanza, viene ucciso da Sempronio che, guidando ad alta velocità, impatta frontalmente l’ambulanza con la propria auto. </a:t>
            </a:r>
            <a:endParaRPr sz="2300"/>
          </a:p>
          <a:p>
            <a:pPr marL="0" indent="0" algn="just">
              <a:lnSpc>
                <a:spcPct val="135000"/>
              </a:lnSpc>
              <a:buSzTx/>
              <a:buNone/>
              <a:defRPr sz="2200">
                <a:latin typeface="Book Antiqua"/>
                <a:ea typeface="Book Antiqua"/>
                <a:cs typeface="Book Antiqua"/>
                <a:sym typeface="Book Antiqua"/>
              </a:defRPr>
            </a:pPr>
            <a:r>
              <a:t>Appare evidente l’inadeguatezza di ascrivere la responsabilità penale di Tizio per la morte di Caio. </a:t>
            </a:r>
            <a:endParaRPr sz="2300"/>
          </a:p>
          <a:p>
            <a:pPr marL="0" indent="0" algn="just">
              <a:lnSpc>
                <a:spcPct val="135000"/>
              </a:lnSpc>
              <a:buSzTx/>
              <a:buNone/>
              <a:defRPr sz="2200">
                <a:latin typeface="Book Antiqua"/>
                <a:ea typeface="Book Antiqua"/>
                <a:cs typeface="Book Antiqua"/>
                <a:sym typeface="Book Antiqua"/>
              </a:defRPr>
            </a:pPr>
            <a:r>
              <a:t>Tizio risponderà del reato di lesioni mentre Sempronio del più grave reato di omicidio stradale.</a:t>
            </a:r>
          </a:p>
        </p:txBody>
      </p:sp>
      <p:sp>
        <p:nvSpPr>
          <p:cNvPr id="498" name="Text Box 5"/>
          <p:cNvSpPr/>
          <p:nvPr/>
        </p:nvSpPr>
        <p:spPr>
          <a:xfrm>
            <a:off x="872155" y="110241"/>
            <a:ext cx="8227274" cy="584439"/>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a14="http://schemas.microsoft.com/office/mac/drawingml/2011/main"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Elemento oggettivo</a:t>
            </a:r>
          </a:p>
        </p:txBody>
      </p:sp>
    </p:spTree>
  </p:cSld>
  <p:clrMapOvr>
    <a:masterClrMapping/>
  </p:clrMapOvr>
  <p:transition spd="me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 name="Segnaposto contenuto 2"/>
          <p:cNvSpPr>
            <a:spLocks noGrp="1"/>
          </p:cNvSpPr>
          <p:nvPr>
            <p:ph type="body" idx="1"/>
          </p:nvPr>
        </p:nvSpPr>
        <p:spPr>
          <a:xfrm>
            <a:off x="107501" y="1124741"/>
            <a:ext cx="8928998" cy="5949286"/>
          </a:xfrm>
          <a:prstGeom prst="rect">
            <a:avLst/>
          </a:prstGeom>
        </p:spPr>
        <p:txBody>
          <a:bodyPr/>
          <a:lstStyle/>
          <a:p>
            <a:pPr marL="0" indent="0" algn="just">
              <a:lnSpc>
                <a:spcPct val="114000"/>
              </a:lnSpc>
              <a:spcBef>
                <a:spcPts val="600"/>
              </a:spcBef>
              <a:buSzTx/>
              <a:buNone/>
              <a:defRPr sz="2400">
                <a:latin typeface="Book Antiqua"/>
                <a:ea typeface="Book Antiqua"/>
                <a:cs typeface="Book Antiqua"/>
                <a:sym typeface="Book Antiqua"/>
              </a:defRPr>
            </a:pPr>
            <a:r>
              <a:t>Perché un soggetto sia chiamato a rispondere di un reato non è sufficiente che vi sia un </a:t>
            </a:r>
            <a:r>
              <a:rPr u="sng"/>
              <a:t>fatto tipico</a:t>
            </a:r>
            <a:r>
              <a:t>. È altresì necessario che l’azione sia accompagnata da una forma più o meno intensa di </a:t>
            </a:r>
            <a:r>
              <a:rPr b="1" u="sng">
                <a:solidFill>
                  <a:srgbClr val="C00000"/>
                </a:solidFill>
              </a:rPr>
              <a:t>COLPEVOLEZZA.</a:t>
            </a:r>
          </a:p>
          <a:p>
            <a:pPr marL="0" indent="0" algn="just">
              <a:lnSpc>
                <a:spcPct val="114000"/>
              </a:lnSpc>
              <a:spcBef>
                <a:spcPts val="600"/>
              </a:spcBef>
              <a:buSzTx/>
              <a:buNone/>
              <a:defRPr sz="2400" b="1" u="sng">
                <a:solidFill>
                  <a:srgbClr val="C00000"/>
                </a:solidFill>
                <a:latin typeface="Book Antiqua"/>
                <a:ea typeface="Book Antiqua"/>
                <a:cs typeface="Book Antiqua"/>
                <a:sym typeface="Book Antiqua"/>
              </a:defRPr>
            </a:pPr>
            <a:endParaRPr b="1" u="sng">
              <a:solidFill>
                <a:srgbClr val="C00000"/>
              </a:solidFill>
            </a:endParaRPr>
          </a:p>
          <a:p>
            <a:pPr marL="0" indent="0" algn="just">
              <a:lnSpc>
                <a:spcPct val="114000"/>
              </a:lnSpc>
              <a:spcBef>
                <a:spcPts val="600"/>
              </a:spcBef>
              <a:buSzTx/>
              <a:buNone/>
              <a:defRPr sz="2400">
                <a:latin typeface="Book Antiqua"/>
                <a:ea typeface="Book Antiqua"/>
                <a:cs typeface="Book Antiqua"/>
                <a:sym typeface="Book Antiqua"/>
              </a:defRPr>
            </a:pPr>
            <a:r>
              <a:t>La colpevolezza indica che il soggetto ha compiuto l'atto come una </a:t>
            </a:r>
            <a:r>
              <a:rPr b="1" u="sng">
                <a:solidFill>
                  <a:srgbClr val="002F8E"/>
                </a:solidFill>
              </a:rPr>
              <a:t>libera scelta </a:t>
            </a:r>
            <a:r>
              <a:t>e ha quindi commesso il fatto pur avendo la possibilità di adottare una condotta diversa. </a:t>
            </a:r>
          </a:p>
          <a:p>
            <a:pPr marL="0" indent="0" algn="just">
              <a:lnSpc>
                <a:spcPct val="114000"/>
              </a:lnSpc>
              <a:spcBef>
                <a:spcPts val="600"/>
              </a:spcBef>
              <a:buSzTx/>
              <a:buNone/>
              <a:defRPr sz="2400">
                <a:latin typeface="Book Antiqua"/>
                <a:ea typeface="Book Antiqua"/>
                <a:cs typeface="Book Antiqua"/>
                <a:sym typeface="Book Antiqua"/>
              </a:defRPr>
            </a:pPr>
            <a:endParaRPr/>
          </a:p>
          <a:p>
            <a:pPr marL="0" indent="0" algn="just">
              <a:lnSpc>
                <a:spcPct val="114000"/>
              </a:lnSpc>
              <a:spcBef>
                <a:spcPts val="600"/>
              </a:spcBef>
              <a:buSzTx/>
              <a:buNone/>
              <a:defRPr sz="2400">
                <a:latin typeface="Book Antiqua"/>
                <a:ea typeface="Book Antiqua"/>
                <a:cs typeface="Book Antiqua"/>
                <a:sym typeface="Book Antiqua"/>
              </a:defRPr>
            </a:pPr>
            <a:r>
              <a:t>Presupposto essenziale della colpevolezza è </a:t>
            </a:r>
            <a:r>
              <a:rPr b="1" u="sng">
                <a:solidFill>
                  <a:srgbClr val="C00000"/>
                </a:solidFill>
              </a:rPr>
              <a:t>L’IMPUTABILITÀ</a:t>
            </a:r>
            <a:r>
              <a:t> del soggetto (capacità di intendere e di volere).</a:t>
            </a:r>
          </a:p>
        </p:txBody>
      </p:sp>
      <p:sp>
        <p:nvSpPr>
          <p:cNvPr id="501" name="Freccia in giù 1"/>
          <p:cNvSpPr/>
          <p:nvPr/>
        </p:nvSpPr>
        <p:spPr>
          <a:xfrm>
            <a:off x="1259632" y="2945232"/>
            <a:ext cx="360043" cy="432050"/>
          </a:xfrm>
          <a:custGeom>
            <a:avLst/>
            <a:gdLst/>
            <a:ahLst/>
            <a:cxnLst>
              <a:cxn ang="0">
                <a:pos x="wd2" y="hd2"/>
              </a:cxn>
              <a:cxn ang="5400000">
                <a:pos x="wd2" y="hd2"/>
              </a:cxn>
              <a:cxn ang="10800000">
                <a:pos x="wd2" y="hd2"/>
              </a:cxn>
              <a:cxn ang="16200000">
                <a:pos x="wd2" y="hd2"/>
              </a:cxn>
            </a:cxnLst>
            <a:rect l="0" t="0" r="r" b="b"/>
            <a:pathLst>
              <a:path w="21600" h="21600" extrusionOk="0">
                <a:moveTo>
                  <a:pt x="0" y="12600"/>
                </a:moveTo>
                <a:lnTo>
                  <a:pt x="5400" y="12600"/>
                </a:lnTo>
                <a:lnTo>
                  <a:pt x="5400" y="0"/>
                </a:lnTo>
                <a:lnTo>
                  <a:pt x="16200" y="0"/>
                </a:lnTo>
                <a:lnTo>
                  <a:pt x="16200" y="12600"/>
                </a:lnTo>
                <a:lnTo>
                  <a:pt x="21600" y="12600"/>
                </a:lnTo>
                <a:lnTo>
                  <a:pt x="10800" y="21600"/>
                </a:lnTo>
                <a:close/>
              </a:path>
            </a:pathLst>
          </a:custGeom>
          <a:solidFill>
            <a:srgbClr val="4472C4"/>
          </a:solidFill>
          <a:ln w="12700">
            <a:solidFill>
              <a:srgbClr val="32538F"/>
            </a:solidFill>
            <a:miter/>
          </a:ln>
        </p:spPr>
        <p:txBody>
          <a:bodyPr lIns="45718" tIns="45718" rIns="45718" bIns="45718" anchor="ctr"/>
          <a:lstStyle/>
          <a:p>
            <a:pPr algn="ctr">
              <a:defRPr>
                <a:solidFill>
                  <a:srgbClr val="FFFFFF"/>
                </a:solidFill>
                <a:latin typeface="Calibri"/>
                <a:ea typeface="Calibri"/>
                <a:cs typeface="Calibri"/>
                <a:sym typeface="Calibri"/>
              </a:defRPr>
            </a:pPr>
            <a:endParaRPr/>
          </a:p>
        </p:txBody>
      </p:sp>
      <p:sp>
        <p:nvSpPr>
          <p:cNvPr id="502" name="Text Box 5"/>
          <p:cNvSpPr/>
          <p:nvPr/>
        </p:nvSpPr>
        <p:spPr>
          <a:xfrm>
            <a:off x="872155" y="110241"/>
            <a:ext cx="8227274" cy="584439"/>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a14="http://schemas.microsoft.com/office/mac/drawingml/2011/main"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Elemento soggettivo art. 43 c.p.</a:t>
            </a:r>
          </a:p>
        </p:txBody>
      </p:sp>
    </p:spTree>
  </p:cSld>
  <p:clrMapOvr>
    <a:masterClrMapping/>
  </p:clrMapOvr>
  <p:transition spd="me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 name="Segnaposto contenuto 2"/>
          <p:cNvSpPr>
            <a:spLocks noGrp="1"/>
          </p:cNvSpPr>
          <p:nvPr>
            <p:ph type="body" sz="half" idx="1"/>
          </p:nvPr>
        </p:nvSpPr>
        <p:spPr>
          <a:xfrm>
            <a:off x="467543" y="2096852"/>
            <a:ext cx="8208913" cy="2664299"/>
          </a:xfrm>
          <a:prstGeom prst="rect">
            <a:avLst/>
          </a:prstGeom>
        </p:spPr>
        <p:txBody>
          <a:bodyPr/>
          <a:lstStyle/>
          <a:p>
            <a:pPr marL="221740" indent="-221740" algn="just" defTabSz="886966">
              <a:lnSpc>
                <a:spcPct val="102600"/>
              </a:lnSpc>
              <a:spcBef>
                <a:spcPts val="500"/>
              </a:spcBef>
              <a:defRPr sz="3400" b="1">
                <a:solidFill>
                  <a:srgbClr val="002F8E"/>
                </a:solidFill>
                <a:latin typeface="Book Antiqua"/>
                <a:ea typeface="Book Antiqua"/>
                <a:cs typeface="Book Antiqua"/>
                <a:sym typeface="Book Antiqua"/>
              </a:defRPr>
            </a:pPr>
            <a:r>
              <a:t>DOLO</a:t>
            </a:r>
            <a:r>
              <a:rPr b="0"/>
              <a:t>;</a:t>
            </a:r>
          </a:p>
          <a:p>
            <a:pPr marL="221740" indent="-221740" algn="just" defTabSz="886966">
              <a:lnSpc>
                <a:spcPct val="102600"/>
              </a:lnSpc>
              <a:spcBef>
                <a:spcPts val="500"/>
              </a:spcBef>
              <a:defRPr sz="3400" b="1">
                <a:solidFill>
                  <a:srgbClr val="002F8E"/>
                </a:solidFill>
                <a:latin typeface="Book Antiqua"/>
                <a:ea typeface="Book Antiqua"/>
                <a:cs typeface="Book Antiqua"/>
                <a:sym typeface="Book Antiqua"/>
              </a:defRPr>
            </a:pPr>
            <a:r>
              <a:t>COLPA</a:t>
            </a:r>
            <a:r>
              <a:rPr b="0"/>
              <a:t>;</a:t>
            </a:r>
          </a:p>
          <a:p>
            <a:pPr marL="221740" indent="-221740" algn="just" defTabSz="886966">
              <a:lnSpc>
                <a:spcPct val="102600"/>
              </a:lnSpc>
              <a:spcBef>
                <a:spcPts val="500"/>
              </a:spcBef>
              <a:defRPr sz="3400" b="1">
                <a:solidFill>
                  <a:srgbClr val="002F8E"/>
                </a:solidFill>
                <a:latin typeface="Book Antiqua"/>
                <a:ea typeface="Book Antiqua"/>
                <a:cs typeface="Book Antiqua"/>
                <a:sym typeface="Book Antiqua"/>
              </a:defRPr>
            </a:pPr>
            <a:r>
              <a:t>PRETERINTENZIONE</a:t>
            </a:r>
            <a:r>
              <a:rPr b="0"/>
              <a:t>;</a:t>
            </a:r>
          </a:p>
          <a:p>
            <a:pPr marL="221740" indent="-221740" algn="just" defTabSz="886966">
              <a:lnSpc>
                <a:spcPct val="102600"/>
              </a:lnSpc>
              <a:spcBef>
                <a:spcPts val="500"/>
              </a:spcBef>
              <a:defRPr sz="3400" b="1">
                <a:solidFill>
                  <a:srgbClr val="002F8E"/>
                </a:solidFill>
                <a:latin typeface="Book Antiqua"/>
                <a:ea typeface="Book Antiqua"/>
                <a:cs typeface="Book Antiqua"/>
                <a:sym typeface="Book Antiqua"/>
              </a:defRPr>
            </a:pPr>
            <a:r>
              <a:t>RESPONSABILITÀ</a:t>
            </a:r>
            <a:r>
              <a:rPr b="0"/>
              <a:t> </a:t>
            </a:r>
            <a:r>
              <a:t>OGGETTIVA</a:t>
            </a:r>
            <a:r>
              <a:rPr b="0"/>
              <a:t>.</a:t>
            </a:r>
          </a:p>
        </p:txBody>
      </p:sp>
      <p:sp>
        <p:nvSpPr>
          <p:cNvPr id="505" name="Text Box 5"/>
          <p:cNvSpPr/>
          <p:nvPr/>
        </p:nvSpPr>
        <p:spPr>
          <a:xfrm>
            <a:off x="872155" y="110241"/>
            <a:ext cx="8227274" cy="584439"/>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a14="http://schemas.microsoft.com/office/mac/drawingml/2011/main"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Elemento soggettivo art. 43 c.p.</a:t>
            </a:r>
          </a:p>
        </p:txBody>
      </p:sp>
    </p:spTree>
  </p:cSld>
  <p:clrMapOvr>
    <a:masterClrMapping/>
  </p:clrMapOvr>
  <p:transition spd="me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7" name="Segnaposto contenuto 2"/>
          <p:cNvSpPr>
            <a:spLocks noGrp="1"/>
          </p:cNvSpPr>
          <p:nvPr>
            <p:ph type="body" idx="1"/>
          </p:nvPr>
        </p:nvSpPr>
        <p:spPr>
          <a:xfrm>
            <a:off x="228600" y="864093"/>
            <a:ext cx="8686800" cy="5949286"/>
          </a:xfrm>
          <a:prstGeom prst="rect">
            <a:avLst/>
          </a:prstGeom>
        </p:spPr>
        <p:txBody>
          <a:bodyPr/>
          <a:lstStyle/>
          <a:p>
            <a:pPr marL="0" indent="0" algn="ctr">
              <a:lnSpc>
                <a:spcPct val="114000"/>
              </a:lnSpc>
              <a:spcBef>
                <a:spcPts val="600"/>
              </a:spcBef>
              <a:buSzTx/>
              <a:buNone/>
              <a:defRPr sz="3600" b="1" u="sng">
                <a:solidFill>
                  <a:srgbClr val="002F8E"/>
                </a:solidFill>
                <a:latin typeface="Book Antiqua"/>
                <a:ea typeface="Book Antiqua"/>
                <a:cs typeface="Book Antiqua"/>
                <a:sym typeface="Book Antiqua"/>
              </a:defRPr>
            </a:pPr>
            <a:r>
              <a:t>DOLO</a:t>
            </a:r>
            <a:r>
              <a:rPr sz="2000"/>
              <a:t> </a:t>
            </a:r>
          </a:p>
          <a:p>
            <a:pPr marL="0" indent="0" algn="ctr">
              <a:lnSpc>
                <a:spcPct val="114000"/>
              </a:lnSpc>
              <a:spcBef>
                <a:spcPts val="600"/>
              </a:spcBef>
              <a:buSzTx/>
              <a:buNone/>
              <a:defRPr sz="2400">
                <a:latin typeface="Book Antiqua"/>
                <a:ea typeface="Book Antiqua"/>
                <a:cs typeface="Book Antiqua"/>
                <a:sym typeface="Book Antiqua"/>
              </a:defRPr>
            </a:pPr>
            <a:r>
              <a:t>è la forma più grave di colpevolezza. </a:t>
            </a:r>
          </a:p>
          <a:p>
            <a:pPr marL="0" indent="0" algn="just">
              <a:lnSpc>
                <a:spcPct val="114000"/>
              </a:lnSpc>
              <a:spcBef>
                <a:spcPts val="600"/>
              </a:spcBef>
              <a:buSzTx/>
              <a:buNone/>
              <a:defRPr sz="800">
                <a:latin typeface="Book Antiqua"/>
                <a:ea typeface="Book Antiqua"/>
                <a:cs typeface="Book Antiqua"/>
                <a:sym typeface="Book Antiqua"/>
              </a:defRPr>
            </a:pPr>
            <a:endParaRPr/>
          </a:p>
          <a:p>
            <a:pPr marL="0" indent="0" algn="just">
              <a:lnSpc>
                <a:spcPct val="114000"/>
              </a:lnSpc>
              <a:spcBef>
                <a:spcPts val="600"/>
              </a:spcBef>
              <a:buSzTx/>
              <a:buNone/>
              <a:defRPr sz="2400">
                <a:latin typeface="Book Antiqua"/>
                <a:ea typeface="Book Antiqua"/>
                <a:cs typeface="Book Antiqua"/>
                <a:sym typeface="Book Antiqua"/>
              </a:defRPr>
            </a:pPr>
            <a:r>
              <a:t>Art. 43 c.p. deduciamo: il reato è doloso quando l’evento è </a:t>
            </a:r>
            <a:r>
              <a:rPr b="1" u="sng"/>
              <a:t>preveduto e voluto </a:t>
            </a:r>
            <a:r>
              <a:t>come conseguenza della propria azione od omissione, realizzata con </a:t>
            </a:r>
            <a:r>
              <a:rPr b="1" u="sng"/>
              <a:t>coscienza e volontà</a:t>
            </a:r>
            <a:r>
              <a:t>.</a:t>
            </a:r>
          </a:p>
          <a:p>
            <a:pPr marL="0" indent="0" algn="just">
              <a:lnSpc>
                <a:spcPct val="114000"/>
              </a:lnSpc>
              <a:spcBef>
                <a:spcPts val="600"/>
              </a:spcBef>
              <a:buSzTx/>
              <a:buNone/>
              <a:defRPr sz="900">
                <a:latin typeface="Book Antiqua"/>
                <a:ea typeface="Book Antiqua"/>
                <a:cs typeface="Book Antiqua"/>
                <a:sym typeface="Book Antiqua"/>
              </a:defRPr>
            </a:pPr>
            <a:endParaRPr/>
          </a:p>
          <a:p>
            <a:pPr marL="0" indent="0" algn="just">
              <a:lnSpc>
                <a:spcPct val="114000"/>
              </a:lnSpc>
              <a:spcBef>
                <a:spcPts val="600"/>
              </a:spcBef>
              <a:buSzTx/>
              <a:buNone/>
              <a:defRPr sz="2400" b="1" u="sng">
                <a:solidFill>
                  <a:srgbClr val="C00000"/>
                </a:solidFill>
                <a:latin typeface="Book Antiqua"/>
                <a:ea typeface="Book Antiqua"/>
                <a:cs typeface="Book Antiqua"/>
                <a:sym typeface="Book Antiqua"/>
              </a:defRPr>
            </a:pPr>
            <a:r>
              <a:t>COSCIENZA</a:t>
            </a:r>
            <a:r>
              <a:rPr b="0" u="none">
                <a:solidFill>
                  <a:srgbClr val="000000"/>
                </a:solidFill>
              </a:rPr>
              <a:t> (figurazione o conoscenza degli elementi che integrano la fattispecie oggettiva) </a:t>
            </a:r>
          </a:p>
          <a:p>
            <a:pPr marL="0" indent="0" algn="just">
              <a:lnSpc>
                <a:spcPct val="114000"/>
              </a:lnSpc>
              <a:spcBef>
                <a:spcPts val="600"/>
              </a:spcBef>
              <a:buSzTx/>
              <a:buNone/>
              <a:defRPr sz="2400">
                <a:latin typeface="Book Antiqua"/>
                <a:ea typeface="Book Antiqua"/>
                <a:cs typeface="Book Antiqua"/>
                <a:sym typeface="Book Antiqua"/>
              </a:defRPr>
            </a:pPr>
            <a:endParaRPr b="0" u="none">
              <a:solidFill>
                <a:srgbClr val="000000"/>
              </a:solidFill>
            </a:endParaRPr>
          </a:p>
          <a:p>
            <a:pPr marL="0" indent="0" algn="just">
              <a:lnSpc>
                <a:spcPct val="114000"/>
              </a:lnSpc>
              <a:spcBef>
                <a:spcPts val="600"/>
              </a:spcBef>
              <a:buSzTx/>
              <a:buNone/>
              <a:defRPr sz="2400" b="1" u="sng">
                <a:solidFill>
                  <a:srgbClr val="C00000"/>
                </a:solidFill>
                <a:latin typeface="Book Antiqua"/>
                <a:ea typeface="Book Antiqua"/>
                <a:cs typeface="Book Antiqua"/>
                <a:sym typeface="Book Antiqua"/>
              </a:defRPr>
            </a:pPr>
            <a:r>
              <a:t>VOLONTÀ</a:t>
            </a:r>
            <a:r>
              <a:rPr b="0" u="none">
                <a:solidFill>
                  <a:srgbClr val="000000"/>
                </a:solidFill>
              </a:rPr>
              <a:t> (consapevolezza di realizzare l’evento). </a:t>
            </a:r>
          </a:p>
        </p:txBody>
      </p:sp>
      <p:sp>
        <p:nvSpPr>
          <p:cNvPr id="508" name="Text Box 5"/>
          <p:cNvSpPr/>
          <p:nvPr/>
        </p:nvSpPr>
        <p:spPr>
          <a:xfrm>
            <a:off x="872155" y="110241"/>
            <a:ext cx="8227274" cy="584439"/>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a14="http://schemas.microsoft.com/office/mac/drawingml/2011/main"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Elemento soggettivo art. 43 c.p.</a:t>
            </a:r>
          </a:p>
        </p:txBody>
      </p:sp>
    </p:spTree>
  </p:cSld>
  <p:clrMapOvr>
    <a:masterClrMapping/>
  </p:clrMapOvr>
  <p:transition spd="me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0" name="Segnaposto contenuto 2"/>
          <p:cNvSpPr>
            <a:spLocks noGrp="1"/>
          </p:cNvSpPr>
          <p:nvPr>
            <p:ph type="body" idx="1"/>
          </p:nvPr>
        </p:nvSpPr>
        <p:spPr>
          <a:xfrm>
            <a:off x="228600" y="936101"/>
            <a:ext cx="8686800" cy="5949286"/>
          </a:xfrm>
          <a:prstGeom prst="rect">
            <a:avLst/>
          </a:prstGeom>
        </p:spPr>
        <p:txBody>
          <a:bodyPr/>
          <a:lstStyle/>
          <a:p>
            <a:pPr marL="0" indent="0" algn="ctr">
              <a:spcBef>
                <a:spcPts val="500"/>
              </a:spcBef>
              <a:buSzTx/>
              <a:buNone/>
              <a:defRPr sz="3600" b="1" u="sng">
                <a:solidFill>
                  <a:srgbClr val="002F8E"/>
                </a:solidFill>
                <a:latin typeface="Book Antiqua"/>
                <a:ea typeface="Book Antiqua"/>
                <a:cs typeface="Book Antiqua"/>
                <a:sym typeface="Book Antiqua"/>
              </a:defRPr>
            </a:pPr>
            <a:r>
              <a:t>DOLO</a:t>
            </a:r>
          </a:p>
          <a:p>
            <a:pPr marL="0" indent="0" algn="just">
              <a:spcBef>
                <a:spcPts val="500"/>
              </a:spcBef>
              <a:buSzTx/>
              <a:buNone/>
              <a:defRPr sz="2400">
                <a:latin typeface="Times New Roman"/>
                <a:ea typeface="Times New Roman"/>
                <a:cs typeface="Times New Roman"/>
                <a:sym typeface="Times New Roman"/>
              </a:defRPr>
            </a:pPr>
            <a:r>
              <a:t>Il dolo è composto da:</a:t>
            </a:r>
          </a:p>
          <a:p>
            <a:pPr algn="just">
              <a:lnSpc>
                <a:spcPct val="115000"/>
              </a:lnSpc>
              <a:buFont typeface="Times New Roman"/>
              <a:buChar char="➢"/>
              <a:defRPr sz="2400" b="1">
                <a:latin typeface="Times New Roman"/>
                <a:ea typeface="Times New Roman"/>
                <a:cs typeface="Times New Roman"/>
                <a:sym typeface="Times New Roman"/>
              </a:defRPr>
            </a:pPr>
            <a:r>
              <a:t>ELEMENTO RAPPRESENTATIVO</a:t>
            </a:r>
            <a:r>
              <a:rPr b="0"/>
              <a:t>: il soggetto agente si prefigura nella sua mente tutti gli elementi essenziali del fatto tipico (es. Tizio prevede che sparando a Caio nella zona del petto cagionerà la sua morte). </a:t>
            </a:r>
          </a:p>
          <a:p>
            <a:pPr algn="just">
              <a:lnSpc>
                <a:spcPct val="115000"/>
              </a:lnSpc>
              <a:buFont typeface="Times New Roman"/>
              <a:buChar char="➢"/>
              <a:defRPr sz="2400" b="1">
                <a:latin typeface="Times New Roman"/>
                <a:ea typeface="Times New Roman"/>
                <a:cs typeface="Times New Roman"/>
                <a:sym typeface="Times New Roman"/>
              </a:defRPr>
            </a:pPr>
            <a:r>
              <a:t>ELEMENTO VOLITIVO</a:t>
            </a:r>
            <a:r>
              <a:rPr b="0"/>
              <a:t>: la volontà del soggetto agente è rivolta all’effettiva realizzazione della condotta e dell’evento conseguente ad essa (es. Tizio vuole sparare a Caio e cagionare la sua morte).</a:t>
            </a:r>
          </a:p>
        </p:txBody>
      </p:sp>
      <p:sp>
        <p:nvSpPr>
          <p:cNvPr id="511" name="Text Box 5"/>
          <p:cNvSpPr/>
          <p:nvPr/>
        </p:nvSpPr>
        <p:spPr>
          <a:xfrm>
            <a:off x="872155" y="110241"/>
            <a:ext cx="8227274" cy="584439"/>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a14="http://schemas.microsoft.com/office/mac/drawingml/2011/main"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Elemento soggettivo art. 43 c.p.</a:t>
            </a:r>
          </a:p>
        </p:txBody>
      </p:sp>
    </p:spTree>
  </p:cSld>
  <p:clrMapOvr>
    <a:masterClrMapping/>
  </p:clrMapOvr>
  <p:transition spd="me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 name="Segnaposto contenuto 2"/>
          <p:cNvSpPr>
            <a:spLocks noGrp="1"/>
          </p:cNvSpPr>
          <p:nvPr>
            <p:ph type="body" idx="1"/>
          </p:nvPr>
        </p:nvSpPr>
        <p:spPr>
          <a:xfrm>
            <a:off x="0" y="908720"/>
            <a:ext cx="8686800" cy="5567068"/>
          </a:xfrm>
          <a:prstGeom prst="rect">
            <a:avLst/>
          </a:prstGeom>
        </p:spPr>
        <p:txBody>
          <a:bodyPr>
            <a:normAutofit lnSpcReduction="10000"/>
          </a:bodyPr>
          <a:lstStyle/>
          <a:p>
            <a:pPr marL="0" indent="0" algn="just">
              <a:lnSpc>
                <a:spcPct val="115000"/>
              </a:lnSpc>
              <a:buSzTx/>
              <a:buNone/>
              <a:defRPr sz="2400" b="1">
                <a:latin typeface="Times New Roman"/>
                <a:ea typeface="Times New Roman"/>
                <a:cs typeface="Times New Roman"/>
                <a:sym typeface="Times New Roman"/>
              </a:defRPr>
            </a:pPr>
            <a:r>
              <a:t>Esistono diverse forme di DOLO:</a:t>
            </a:r>
          </a:p>
          <a:p>
            <a:pPr algn="just">
              <a:lnSpc>
                <a:spcPct val="115000"/>
              </a:lnSpc>
              <a:buFont typeface="Times New Roman"/>
              <a:buChar char="➢"/>
              <a:defRPr sz="2400" b="1">
                <a:solidFill>
                  <a:srgbClr val="C00000"/>
                </a:solidFill>
                <a:latin typeface="Times New Roman"/>
                <a:ea typeface="Times New Roman"/>
                <a:cs typeface="Times New Roman"/>
                <a:sym typeface="Times New Roman"/>
              </a:defRPr>
            </a:pPr>
            <a:r>
              <a:t>DOLO GENERICO</a:t>
            </a:r>
            <a:r>
              <a:rPr b="0">
                <a:solidFill>
                  <a:srgbClr val="000000"/>
                </a:solidFill>
              </a:rPr>
              <a:t>: quando è sufficiente che il fatto previsto nella norma penale sia </a:t>
            </a:r>
            <a:r>
              <a:rPr u="sng">
                <a:solidFill>
                  <a:srgbClr val="000000"/>
                </a:solidFill>
              </a:rPr>
              <a:t>voluto dall’agente </a:t>
            </a:r>
            <a:r>
              <a:rPr b="0">
                <a:solidFill>
                  <a:srgbClr val="000000"/>
                </a:solidFill>
              </a:rPr>
              <a:t>perché questi sia punito, </a:t>
            </a:r>
            <a:r>
              <a:rPr b="0" u="sng">
                <a:solidFill>
                  <a:srgbClr val="000000"/>
                </a:solidFill>
              </a:rPr>
              <a:t>senza</a:t>
            </a:r>
            <a:r>
              <a:rPr b="0">
                <a:solidFill>
                  <a:srgbClr val="000000"/>
                </a:solidFill>
              </a:rPr>
              <a:t> indagare il </a:t>
            </a:r>
            <a:r>
              <a:rPr b="0" u="sng">
                <a:solidFill>
                  <a:srgbClr val="000000"/>
                </a:solidFill>
              </a:rPr>
              <a:t>fine</a:t>
            </a:r>
            <a:r>
              <a:rPr b="0">
                <a:solidFill>
                  <a:srgbClr val="000000"/>
                </a:solidFill>
              </a:rPr>
              <a:t> da lui perseguito (es. nell’omicidio Tizio sarà punibile indipendentemente dalla finalità del suo gesto).</a:t>
            </a:r>
          </a:p>
          <a:p>
            <a:pPr marL="0" indent="0" algn="just">
              <a:lnSpc>
                <a:spcPct val="115000"/>
              </a:lnSpc>
              <a:buSzTx/>
              <a:buNone/>
              <a:defRPr sz="2400">
                <a:latin typeface="Times New Roman"/>
                <a:ea typeface="Times New Roman"/>
                <a:cs typeface="Times New Roman"/>
                <a:sym typeface="Times New Roman"/>
              </a:defRPr>
            </a:pPr>
            <a:r>
              <a:t> </a:t>
            </a:r>
            <a:endParaRPr sz="2000"/>
          </a:p>
          <a:p>
            <a:pPr algn="just">
              <a:lnSpc>
                <a:spcPct val="115000"/>
              </a:lnSpc>
              <a:buFont typeface="Times New Roman"/>
              <a:buChar char="➢"/>
              <a:defRPr sz="2400" b="1">
                <a:solidFill>
                  <a:srgbClr val="C00000"/>
                </a:solidFill>
                <a:latin typeface="Times New Roman"/>
                <a:ea typeface="Times New Roman"/>
                <a:cs typeface="Times New Roman"/>
                <a:sym typeface="Times New Roman"/>
              </a:defRPr>
            </a:pPr>
            <a:r>
              <a:t>DOLO SPECIFICO</a:t>
            </a:r>
            <a:r>
              <a:rPr b="0">
                <a:solidFill>
                  <a:srgbClr val="000000"/>
                </a:solidFill>
              </a:rPr>
              <a:t>: quando è necessario che il soggetto, oltre a </a:t>
            </a:r>
            <a:r>
              <a:rPr u="sng">
                <a:solidFill>
                  <a:srgbClr val="000000"/>
                </a:solidFill>
              </a:rPr>
              <a:t>volere il fatto</a:t>
            </a:r>
            <a:r>
              <a:rPr>
                <a:solidFill>
                  <a:srgbClr val="000000"/>
                </a:solidFill>
              </a:rPr>
              <a:t> </a:t>
            </a:r>
            <a:r>
              <a:rPr b="0">
                <a:solidFill>
                  <a:srgbClr val="000000"/>
                </a:solidFill>
              </a:rPr>
              <a:t>previsto nella norma penale, agisca per raggiungere un </a:t>
            </a:r>
            <a:r>
              <a:rPr u="sng">
                <a:solidFill>
                  <a:srgbClr val="000000"/>
                </a:solidFill>
              </a:rPr>
              <a:t>determinato fine</a:t>
            </a:r>
            <a:r>
              <a:rPr b="0">
                <a:solidFill>
                  <a:srgbClr val="000000"/>
                </a:solidFill>
              </a:rPr>
              <a:t>, anche se non è necessario che si realizzi  (es. nel furto non è sufficiente che Tizio voglia impossessarsi di una cosa mobile di Caio sottraendola a lui, ma è necessario che Tizio lo abbia fatto al fine di trarre profitto perché possa essere punito ai sensi dell’art. 624 c.p.). </a:t>
            </a:r>
          </a:p>
        </p:txBody>
      </p:sp>
      <p:sp>
        <p:nvSpPr>
          <p:cNvPr id="514" name="Text Box 5"/>
          <p:cNvSpPr/>
          <p:nvPr/>
        </p:nvSpPr>
        <p:spPr>
          <a:xfrm>
            <a:off x="872155" y="110241"/>
            <a:ext cx="8227274" cy="584439"/>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a14="http://schemas.microsoft.com/office/mac/drawingml/2011/main"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Elemento soggettivo art. 43 c.p.</a:t>
            </a:r>
          </a:p>
        </p:txBody>
      </p:sp>
    </p:spTree>
  </p:cSld>
  <p:clrMapOvr>
    <a:masterClrMapping/>
  </p:clrMapOvr>
  <p:transition spd="me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6" name="Segnaposto testo 1"/>
          <p:cNvSpPr>
            <a:spLocks noGrp="1"/>
          </p:cNvSpPr>
          <p:nvPr>
            <p:ph type="body" idx="1"/>
          </p:nvPr>
        </p:nvSpPr>
        <p:spPr>
          <a:xfrm>
            <a:off x="230258" y="1198484"/>
            <a:ext cx="8683484" cy="5438979"/>
          </a:xfrm>
          <a:prstGeom prst="rect">
            <a:avLst/>
          </a:prstGeom>
        </p:spPr>
        <p:txBody>
          <a:bodyPr/>
          <a:lstStyle/>
          <a:p>
            <a:pPr algn="just">
              <a:lnSpc>
                <a:spcPct val="72000"/>
              </a:lnSpc>
              <a:buFont typeface="Trebuchet MS"/>
              <a:buChar char="➢"/>
              <a:defRPr sz="2500">
                <a:solidFill>
                  <a:srgbClr val="C00000"/>
                </a:solidFill>
                <a:latin typeface="Times New Roman"/>
                <a:ea typeface="Times New Roman"/>
                <a:cs typeface="Times New Roman"/>
                <a:sym typeface="Times New Roman"/>
              </a:defRPr>
            </a:pPr>
            <a:r>
              <a:t>il</a:t>
            </a:r>
            <a:r>
              <a:rPr b="1"/>
              <a:t> DOLO EVENTUALE: </a:t>
            </a:r>
            <a:r>
              <a:rPr>
                <a:solidFill>
                  <a:srgbClr val="000000"/>
                </a:solidFill>
              </a:rPr>
              <a:t>si colloca in una zona limite con la colpa con previsione o cosciente. </a:t>
            </a:r>
          </a:p>
          <a:p>
            <a:pPr algn="just">
              <a:lnSpc>
                <a:spcPct val="72000"/>
              </a:lnSpc>
              <a:buFont typeface="Trebuchet MS"/>
              <a:buChar char="➢"/>
              <a:defRPr sz="2500">
                <a:solidFill>
                  <a:srgbClr val="C00000"/>
                </a:solidFill>
                <a:latin typeface="Times New Roman"/>
                <a:ea typeface="Times New Roman"/>
                <a:cs typeface="Times New Roman"/>
                <a:sym typeface="Times New Roman"/>
              </a:defRPr>
            </a:pPr>
            <a:endParaRPr>
              <a:solidFill>
                <a:srgbClr val="000000"/>
              </a:solidFill>
            </a:endParaRPr>
          </a:p>
          <a:p>
            <a:pPr marL="0" indent="0" algn="just">
              <a:lnSpc>
                <a:spcPct val="72000"/>
              </a:lnSpc>
              <a:buSzTx/>
              <a:buNone/>
              <a:defRPr sz="2500">
                <a:latin typeface="Times New Roman"/>
                <a:ea typeface="Times New Roman"/>
                <a:cs typeface="Times New Roman"/>
                <a:sym typeface="Times New Roman"/>
              </a:defRPr>
            </a:pPr>
            <a:r>
              <a:t>Il soggetto attivo deve rappresentarsi la commissione del fatto criminoso soltanto come conseguenza possibile di una condotta diretta ad altri scopi. </a:t>
            </a:r>
            <a:r>
              <a:rPr u="sng">
                <a:solidFill>
                  <a:srgbClr val="0000F4"/>
                </a:solidFill>
              </a:rPr>
              <a:t>Occorre che l’agente preveda la concreta possibilità del verificarsi di un evento lesivo e ne accetti il rischio</a:t>
            </a:r>
            <a:r>
              <a:t> </a:t>
            </a:r>
            <a:r>
              <a:rPr>
                <a:solidFill>
                  <a:srgbClr val="FF0000"/>
                </a:solidFill>
              </a:rPr>
              <a:t>(cd. teoria dell’accettazione del rischio). </a:t>
            </a:r>
          </a:p>
          <a:p>
            <a:pPr marL="0" indent="0" algn="just">
              <a:lnSpc>
                <a:spcPct val="72000"/>
              </a:lnSpc>
              <a:buSzTx/>
              <a:buNone/>
              <a:defRPr sz="2500">
                <a:latin typeface="Times New Roman"/>
                <a:ea typeface="Times New Roman"/>
                <a:cs typeface="Times New Roman"/>
                <a:sym typeface="Times New Roman"/>
              </a:defRPr>
            </a:pPr>
            <a:endParaRPr>
              <a:solidFill>
                <a:srgbClr val="FF0000"/>
              </a:solidFill>
            </a:endParaRPr>
          </a:p>
          <a:p>
            <a:pPr marL="0" indent="0" algn="just">
              <a:lnSpc>
                <a:spcPct val="72000"/>
              </a:lnSpc>
              <a:buSzTx/>
              <a:buNone/>
              <a:defRPr sz="2500">
                <a:latin typeface="Times New Roman"/>
                <a:ea typeface="Times New Roman"/>
                <a:cs typeface="Times New Roman"/>
                <a:sym typeface="Times New Roman"/>
              </a:defRPr>
            </a:pPr>
            <a:r>
              <a:t>Il soggetto accetta il rischio che l’evento si verifichi e agisce anche a costo di cagionarlo.</a:t>
            </a:r>
          </a:p>
          <a:p>
            <a:pPr marL="0" indent="0" algn="just">
              <a:lnSpc>
                <a:spcPct val="72000"/>
              </a:lnSpc>
              <a:buSzTx/>
              <a:buNone/>
              <a:defRPr sz="2500">
                <a:latin typeface="Times New Roman"/>
                <a:ea typeface="Times New Roman"/>
                <a:cs typeface="Times New Roman"/>
                <a:sym typeface="Times New Roman"/>
              </a:defRPr>
            </a:pPr>
            <a:endParaRPr/>
          </a:p>
          <a:p>
            <a:pPr marL="0" indent="0" algn="just">
              <a:lnSpc>
                <a:spcPct val="72000"/>
              </a:lnSpc>
              <a:buSzTx/>
              <a:buNone/>
              <a:defRPr sz="2500" i="1">
                <a:latin typeface="Times New Roman"/>
                <a:ea typeface="Times New Roman"/>
                <a:cs typeface="Times New Roman"/>
                <a:sym typeface="Times New Roman"/>
              </a:defRPr>
            </a:pPr>
            <a:r>
              <a:t>Es. Tizio, disturbato da un gruppo di ragazzi che schiamazzano in strada, lancia, contro di essi, dal balcone della propria abitazione una bottiglia di vetro, pur prevedendo e accettando possibili ferimenti e colpendo di fatto un ragazzo; - </a:t>
            </a:r>
          </a:p>
        </p:txBody>
      </p:sp>
      <p:sp>
        <p:nvSpPr>
          <p:cNvPr id="517" name="Titolo 2"/>
          <p:cNvSpPr>
            <a:spLocks noGrp="1"/>
          </p:cNvSpPr>
          <p:nvPr>
            <p:ph type="title"/>
          </p:nvPr>
        </p:nvSpPr>
        <p:spPr>
          <a:xfrm>
            <a:off x="628650" y="220539"/>
            <a:ext cx="7886700" cy="460500"/>
          </a:xfrm>
          <a:prstGeom prst="rect">
            <a:avLst/>
          </a:prstGeom>
        </p:spPr>
        <p:txBody>
          <a:bodyPr/>
          <a:lstStyle>
            <a:lvl1pPr defTabSz="562355">
              <a:defRPr sz="2378">
                <a:solidFill>
                  <a:srgbClr val="FFFFFF"/>
                </a:solidFill>
              </a:defRPr>
            </a:lvl1pPr>
          </a:lstStyle>
          <a:p>
            <a:r>
              <a:t>Elemento soggettivo</a:t>
            </a:r>
          </a:p>
        </p:txBody>
      </p:sp>
    </p:spTree>
  </p:cSld>
  <p:clrMapOvr>
    <a:masterClrMapping/>
  </p:clrMapOvr>
  <p:transition spd="me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9" name="Segnaposto contenuto 2"/>
          <p:cNvSpPr>
            <a:spLocks noGrp="1"/>
          </p:cNvSpPr>
          <p:nvPr>
            <p:ph type="body" idx="1"/>
          </p:nvPr>
        </p:nvSpPr>
        <p:spPr>
          <a:xfrm>
            <a:off x="28464" y="864093"/>
            <a:ext cx="9115537" cy="5949286"/>
          </a:xfrm>
          <a:prstGeom prst="rect">
            <a:avLst/>
          </a:prstGeom>
        </p:spPr>
        <p:txBody>
          <a:bodyPr/>
          <a:lstStyle/>
          <a:p>
            <a:pPr marL="0" indent="0" algn="ctr">
              <a:lnSpc>
                <a:spcPct val="81000"/>
              </a:lnSpc>
              <a:spcBef>
                <a:spcPts val="500"/>
              </a:spcBef>
              <a:buSzTx/>
              <a:buNone/>
              <a:defRPr sz="3600" b="1" u="sng">
                <a:solidFill>
                  <a:srgbClr val="002F8E"/>
                </a:solidFill>
                <a:latin typeface="Book Antiqua"/>
                <a:ea typeface="Book Antiqua"/>
                <a:cs typeface="Book Antiqua"/>
                <a:sym typeface="Book Antiqua"/>
              </a:defRPr>
            </a:pPr>
            <a:r>
              <a:t>COLPA </a:t>
            </a:r>
          </a:p>
          <a:p>
            <a:pPr marL="0" indent="0" algn="ctr">
              <a:lnSpc>
                <a:spcPct val="102600"/>
              </a:lnSpc>
              <a:spcBef>
                <a:spcPts val="0"/>
              </a:spcBef>
              <a:buSzTx/>
              <a:buNone/>
              <a:defRPr sz="2200">
                <a:latin typeface="Book Antiqua"/>
                <a:ea typeface="Book Antiqua"/>
                <a:cs typeface="Book Antiqua"/>
                <a:sym typeface="Book Antiqua"/>
              </a:defRPr>
            </a:pPr>
            <a:r>
              <a:t>è la forma meno grave di colpevolezza. </a:t>
            </a:r>
          </a:p>
          <a:p>
            <a:pPr marL="0" indent="0" algn="just">
              <a:lnSpc>
                <a:spcPct val="102600"/>
              </a:lnSpc>
              <a:spcBef>
                <a:spcPts val="600"/>
              </a:spcBef>
              <a:buSzTx/>
              <a:buNone/>
              <a:defRPr sz="500">
                <a:latin typeface="Book Antiqua"/>
                <a:ea typeface="Book Antiqua"/>
                <a:cs typeface="Book Antiqua"/>
                <a:sym typeface="Book Antiqua"/>
              </a:defRPr>
            </a:pPr>
            <a:endParaRPr/>
          </a:p>
          <a:p>
            <a:pPr marL="0" indent="0" algn="just">
              <a:lnSpc>
                <a:spcPct val="102600"/>
              </a:lnSpc>
              <a:spcBef>
                <a:spcPts val="600"/>
              </a:spcBef>
              <a:buSzTx/>
              <a:buNone/>
              <a:defRPr sz="2200">
                <a:latin typeface="Book Antiqua"/>
                <a:ea typeface="Book Antiqua"/>
                <a:cs typeface="Book Antiqua"/>
                <a:sym typeface="Book Antiqua"/>
              </a:defRPr>
            </a:pPr>
            <a:r>
              <a:t>Art. 43 c.p. deduciamo: il reato è colposo quando l'evento, anche se </a:t>
            </a:r>
            <a:r>
              <a:rPr b="1" u="sng"/>
              <a:t>preveduto, non è voluto </a:t>
            </a:r>
            <a:r>
              <a:t>dall'agente e si verifica a causa di </a:t>
            </a:r>
            <a:r>
              <a:rPr b="1" u="sng"/>
              <a:t>negligenza</a:t>
            </a:r>
            <a:r>
              <a:t> o </a:t>
            </a:r>
            <a:r>
              <a:rPr b="1" u="sng"/>
              <a:t>imprudenza</a:t>
            </a:r>
            <a:r>
              <a:t> o </a:t>
            </a:r>
            <a:r>
              <a:rPr b="1" u="sng"/>
              <a:t>imperizia</a:t>
            </a:r>
            <a:r>
              <a:t>, ovvero per </a:t>
            </a:r>
            <a:r>
              <a:rPr b="1" u="sng"/>
              <a:t>inosservanza di leggi, regolamenti, ordini o discipline</a:t>
            </a:r>
            <a:r>
              <a:t>.</a:t>
            </a:r>
          </a:p>
          <a:p>
            <a:pPr marL="0" indent="0" algn="just">
              <a:lnSpc>
                <a:spcPct val="102600"/>
              </a:lnSpc>
              <a:spcBef>
                <a:spcPts val="600"/>
              </a:spcBef>
              <a:buSzTx/>
              <a:buNone/>
              <a:defRPr sz="1000">
                <a:latin typeface="Book Antiqua"/>
                <a:ea typeface="Book Antiqua"/>
                <a:cs typeface="Book Antiqua"/>
                <a:sym typeface="Book Antiqua"/>
              </a:defRPr>
            </a:pPr>
            <a:endParaRPr/>
          </a:p>
          <a:p>
            <a:pPr algn="just">
              <a:lnSpc>
                <a:spcPct val="102600"/>
              </a:lnSpc>
              <a:spcBef>
                <a:spcPts val="600"/>
              </a:spcBef>
              <a:buFont typeface="Book Antiqua"/>
              <a:buChar char="➢"/>
              <a:defRPr sz="2200" b="1" u="sng">
                <a:solidFill>
                  <a:srgbClr val="C00000"/>
                </a:solidFill>
                <a:latin typeface="Book Antiqua"/>
                <a:ea typeface="Book Antiqua"/>
                <a:cs typeface="Book Antiqua"/>
                <a:sym typeface="Book Antiqua"/>
              </a:defRPr>
            </a:pPr>
            <a:r>
              <a:t>COLPA GENERICA</a:t>
            </a:r>
            <a:r>
              <a:rPr b="0" u="none">
                <a:solidFill>
                  <a:srgbClr val="000000"/>
                </a:solidFill>
              </a:rPr>
              <a:t> consiste in:</a:t>
            </a:r>
          </a:p>
          <a:p>
            <a:pPr marL="627062" indent="-255588" algn="just">
              <a:lnSpc>
                <a:spcPct val="102600"/>
              </a:lnSpc>
              <a:spcBef>
                <a:spcPts val="600"/>
              </a:spcBef>
              <a:defRPr sz="2200" b="1" u="sng">
                <a:solidFill>
                  <a:srgbClr val="002F8E"/>
                </a:solidFill>
                <a:latin typeface="Book Antiqua"/>
                <a:ea typeface="Book Antiqua"/>
                <a:cs typeface="Book Antiqua"/>
                <a:sym typeface="Book Antiqua"/>
              </a:defRPr>
            </a:pPr>
            <a:r>
              <a:t>negligenza</a:t>
            </a:r>
            <a:r>
              <a:rPr b="0" u="none">
                <a:solidFill>
                  <a:srgbClr val="000000"/>
                </a:solidFill>
              </a:rPr>
              <a:t>, cioè nell’atteggiamento superficiale dell’agente; </a:t>
            </a:r>
          </a:p>
          <a:p>
            <a:pPr marL="627062" indent="-255588" algn="just">
              <a:lnSpc>
                <a:spcPct val="102600"/>
              </a:lnSpc>
              <a:spcBef>
                <a:spcPts val="600"/>
              </a:spcBef>
              <a:defRPr sz="2200" b="1" u="sng">
                <a:solidFill>
                  <a:srgbClr val="002F8E"/>
                </a:solidFill>
                <a:latin typeface="Book Antiqua"/>
                <a:ea typeface="Book Antiqua"/>
                <a:cs typeface="Book Antiqua"/>
                <a:sym typeface="Book Antiqua"/>
              </a:defRPr>
            </a:pPr>
            <a:r>
              <a:t>imprudenza</a:t>
            </a:r>
            <a:r>
              <a:rPr b="0" u="none">
                <a:solidFill>
                  <a:srgbClr val="000000"/>
                </a:solidFill>
              </a:rPr>
              <a:t>, cioè nell’avventatezza e mancanza di buon senso; </a:t>
            </a:r>
          </a:p>
          <a:p>
            <a:pPr marL="627062" indent="-255588" algn="just">
              <a:lnSpc>
                <a:spcPct val="102600"/>
              </a:lnSpc>
              <a:spcBef>
                <a:spcPts val="600"/>
              </a:spcBef>
              <a:defRPr sz="2200" b="1" u="sng">
                <a:solidFill>
                  <a:srgbClr val="002F8E"/>
                </a:solidFill>
                <a:latin typeface="Book Antiqua"/>
                <a:ea typeface="Book Antiqua"/>
                <a:cs typeface="Book Antiqua"/>
                <a:sym typeface="Book Antiqua"/>
              </a:defRPr>
            </a:pPr>
            <a:r>
              <a:t>imperizia</a:t>
            </a:r>
            <a:r>
              <a:rPr b="0" u="none">
                <a:solidFill>
                  <a:srgbClr val="000000"/>
                </a:solidFill>
              </a:rPr>
              <a:t>, cioè nell’incapacità professionale, ossia una forma di imprudenza o di negligenza qualificata.</a:t>
            </a:r>
          </a:p>
          <a:p>
            <a:pPr marL="0" indent="371475" algn="just">
              <a:lnSpc>
                <a:spcPct val="102600"/>
              </a:lnSpc>
              <a:spcBef>
                <a:spcPts val="600"/>
              </a:spcBef>
              <a:buSzTx/>
              <a:buNone/>
              <a:defRPr sz="1000">
                <a:latin typeface="Book Antiqua"/>
                <a:ea typeface="Book Antiqua"/>
                <a:cs typeface="Book Antiqua"/>
                <a:sym typeface="Book Antiqua"/>
              </a:defRPr>
            </a:pPr>
            <a:endParaRPr b="0" u="none">
              <a:solidFill>
                <a:srgbClr val="000000"/>
              </a:solidFill>
            </a:endParaRPr>
          </a:p>
          <a:p>
            <a:pPr algn="just">
              <a:lnSpc>
                <a:spcPct val="102600"/>
              </a:lnSpc>
              <a:spcBef>
                <a:spcPts val="600"/>
              </a:spcBef>
              <a:buFont typeface="Book Antiqua"/>
              <a:buChar char="➢"/>
              <a:defRPr sz="2200" b="1" u="sng">
                <a:solidFill>
                  <a:srgbClr val="C00000"/>
                </a:solidFill>
                <a:latin typeface="Book Antiqua"/>
                <a:ea typeface="Book Antiqua"/>
                <a:cs typeface="Book Antiqua"/>
                <a:sym typeface="Book Antiqua"/>
              </a:defRPr>
            </a:pPr>
            <a:r>
              <a:t>COLPA SPECIFICA</a:t>
            </a:r>
            <a:r>
              <a:rPr b="0" u="none">
                <a:solidFill>
                  <a:srgbClr val="000000"/>
                </a:solidFill>
              </a:rPr>
              <a:t> consiste nell’</a:t>
            </a:r>
            <a:r>
              <a:rPr>
                <a:solidFill>
                  <a:srgbClr val="002F8E"/>
                </a:solidFill>
              </a:rPr>
              <a:t>inosservanza</a:t>
            </a:r>
            <a:r>
              <a:rPr b="0" u="none">
                <a:solidFill>
                  <a:srgbClr val="000000"/>
                </a:solidFill>
              </a:rPr>
              <a:t> di leggi, regolamenti, discipline o ordini specifici (come ad esempio il codice della strada). </a:t>
            </a:r>
          </a:p>
        </p:txBody>
      </p:sp>
      <p:sp>
        <p:nvSpPr>
          <p:cNvPr id="520" name="Text Box 5"/>
          <p:cNvSpPr/>
          <p:nvPr/>
        </p:nvSpPr>
        <p:spPr>
          <a:xfrm>
            <a:off x="872155" y="110241"/>
            <a:ext cx="8227274" cy="584439"/>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a14="http://schemas.microsoft.com/office/mac/drawingml/2011/main"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Elemento soggettivo art. 43 c.p.</a:t>
            </a:r>
          </a:p>
        </p:txBody>
      </p:sp>
    </p:spTree>
  </p:cSld>
  <p:clrMapOvr>
    <a:masterClrMapping/>
  </p:clrMapOvr>
  <p:transition spd="me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 name="Segnaposto contenuto 2"/>
          <p:cNvSpPr>
            <a:spLocks noGrp="1"/>
          </p:cNvSpPr>
          <p:nvPr>
            <p:ph type="body" idx="1"/>
          </p:nvPr>
        </p:nvSpPr>
        <p:spPr>
          <a:xfrm>
            <a:off x="28464" y="1008112"/>
            <a:ext cx="9115537" cy="5373216"/>
          </a:xfrm>
          <a:prstGeom prst="rect">
            <a:avLst/>
          </a:prstGeom>
        </p:spPr>
        <p:txBody>
          <a:bodyPr/>
          <a:lstStyle/>
          <a:p>
            <a:pPr marL="0" indent="0" algn="ctr">
              <a:spcBef>
                <a:spcPts val="500"/>
              </a:spcBef>
              <a:buSzTx/>
              <a:buNone/>
              <a:defRPr b="1" u="sng">
                <a:solidFill>
                  <a:srgbClr val="002F8E"/>
                </a:solidFill>
                <a:latin typeface="Book Antiqua"/>
                <a:ea typeface="Book Antiqua"/>
                <a:cs typeface="Book Antiqua"/>
                <a:sym typeface="Book Antiqua"/>
              </a:defRPr>
            </a:pPr>
            <a:r>
              <a:t>PRETERINTENZIONE</a:t>
            </a:r>
          </a:p>
          <a:p>
            <a:pPr marL="0" indent="0" algn="ctr">
              <a:spcBef>
                <a:spcPts val="500"/>
              </a:spcBef>
              <a:buSzTx/>
              <a:buNone/>
              <a:defRPr sz="800">
                <a:latin typeface="Book Antiqua"/>
                <a:ea typeface="Book Antiqua"/>
                <a:cs typeface="Book Antiqua"/>
                <a:sym typeface="Book Antiqua"/>
              </a:defRPr>
            </a:pPr>
            <a:endParaRPr/>
          </a:p>
          <a:p>
            <a:pPr marL="0" indent="0" algn="just">
              <a:lnSpc>
                <a:spcPct val="114000"/>
              </a:lnSpc>
              <a:spcBef>
                <a:spcPts val="600"/>
              </a:spcBef>
              <a:buSzTx/>
              <a:buNone/>
              <a:defRPr sz="2000">
                <a:latin typeface="Book Antiqua"/>
                <a:ea typeface="Book Antiqua"/>
                <a:cs typeface="Book Antiqua"/>
                <a:sym typeface="Book Antiqua"/>
              </a:defRPr>
            </a:pPr>
            <a:r>
              <a:t>Art. 43 c.p. deduciamo: il reato preterintenzionale, o oltre l'intenzione, quando dall'azione od omissione deriva un </a:t>
            </a:r>
            <a:r>
              <a:rPr b="1" u="sng"/>
              <a:t>evento dannoso o pericoloso più grave di quello voluto</a:t>
            </a:r>
            <a:r>
              <a:t> dall'agente. </a:t>
            </a:r>
          </a:p>
          <a:p>
            <a:pPr marL="0" indent="0" algn="just">
              <a:lnSpc>
                <a:spcPct val="114000"/>
              </a:lnSpc>
              <a:spcBef>
                <a:spcPts val="600"/>
              </a:spcBef>
              <a:buSzTx/>
              <a:buNone/>
              <a:defRPr sz="1000">
                <a:latin typeface="Book Antiqua"/>
                <a:ea typeface="Book Antiqua"/>
                <a:cs typeface="Book Antiqua"/>
                <a:sym typeface="Book Antiqua"/>
              </a:defRPr>
            </a:pPr>
            <a:endParaRPr/>
          </a:p>
          <a:p>
            <a:pPr marL="0" indent="0" algn="just">
              <a:lnSpc>
                <a:spcPct val="114000"/>
              </a:lnSpc>
              <a:spcBef>
                <a:spcPts val="600"/>
              </a:spcBef>
              <a:buSzTx/>
              <a:buNone/>
              <a:defRPr sz="2000">
                <a:latin typeface="Book Antiqua"/>
                <a:ea typeface="Book Antiqua"/>
                <a:cs typeface="Book Antiqua"/>
                <a:sym typeface="Book Antiqua"/>
              </a:defRPr>
            </a:pPr>
            <a:r>
              <a:t>È prevista per i soli reati di omicidio </a:t>
            </a:r>
            <a:r>
              <a:rPr i="1"/>
              <a:t>ex</a:t>
            </a:r>
            <a:r>
              <a:t> art. 584 c.p. ed aborto </a:t>
            </a:r>
            <a:r>
              <a:rPr i="1"/>
              <a:t>ex</a:t>
            </a:r>
            <a:r>
              <a:t> art. 18,  </a:t>
            </a:r>
            <a:br/>
            <a:r>
              <a:t>L. 194/1978).</a:t>
            </a:r>
          </a:p>
          <a:p>
            <a:pPr marL="0" indent="0" algn="just">
              <a:lnSpc>
                <a:spcPct val="114000"/>
              </a:lnSpc>
              <a:spcBef>
                <a:spcPts val="600"/>
              </a:spcBef>
              <a:buSzTx/>
              <a:buNone/>
              <a:defRPr sz="2000">
                <a:latin typeface="Book Antiqua"/>
                <a:ea typeface="Book Antiqua"/>
                <a:cs typeface="Book Antiqua"/>
                <a:sym typeface="Book Antiqua"/>
              </a:defRPr>
            </a:pPr>
            <a:r>
              <a:t>Es. </a:t>
            </a:r>
            <a:r>
              <a:rPr u="sng"/>
              <a:t>omicidio preterintenzionale</a:t>
            </a:r>
            <a:r>
              <a:t>: «</a:t>
            </a:r>
            <a:r>
              <a:rPr i="1"/>
              <a:t>Chiunque, con atti diretti a commettere uno dei delitti preveduti dagli articoli 581 e 582 </a:t>
            </a:r>
            <a:r>
              <a:t>(percosse, lesioni)</a:t>
            </a:r>
            <a:r>
              <a:rPr i="1"/>
              <a:t>, cagiona la morte di un uomo, è punito con la reclusione da dieci a diciotto anni</a:t>
            </a:r>
            <a:r>
              <a:t>.»</a:t>
            </a:r>
          </a:p>
          <a:p>
            <a:pPr marL="0" indent="0" algn="just">
              <a:lnSpc>
                <a:spcPct val="114000"/>
              </a:lnSpc>
              <a:spcBef>
                <a:spcPts val="600"/>
              </a:spcBef>
              <a:buSzTx/>
              <a:buNone/>
              <a:defRPr sz="1000">
                <a:latin typeface="Book Antiqua"/>
                <a:ea typeface="Book Antiqua"/>
                <a:cs typeface="Book Antiqua"/>
                <a:sym typeface="Book Antiqua"/>
              </a:defRPr>
            </a:pPr>
            <a:endParaRPr/>
          </a:p>
          <a:p>
            <a:pPr marL="0" indent="0" algn="just">
              <a:lnSpc>
                <a:spcPct val="114000"/>
              </a:lnSpc>
              <a:spcBef>
                <a:spcPts val="600"/>
              </a:spcBef>
              <a:buSzTx/>
              <a:buNone/>
              <a:defRPr sz="2000" b="1">
                <a:solidFill>
                  <a:srgbClr val="C00000"/>
                </a:solidFill>
                <a:latin typeface="Book Antiqua"/>
                <a:ea typeface="Book Antiqua"/>
                <a:cs typeface="Book Antiqua"/>
                <a:sym typeface="Book Antiqua"/>
              </a:defRPr>
            </a:pPr>
            <a:r>
              <a:t>DOLO + RESPONSABILITA’ OGGETTIVA</a:t>
            </a:r>
            <a:r>
              <a:rPr b="0">
                <a:solidFill>
                  <a:srgbClr val="000000"/>
                </a:solidFill>
              </a:rPr>
              <a:t>: Vi è la volontà di un evento minore (dolo), ma non di quello effettivamente realizzato (responsabilità oggettiva).</a:t>
            </a:r>
          </a:p>
        </p:txBody>
      </p:sp>
      <p:sp>
        <p:nvSpPr>
          <p:cNvPr id="523" name="Text Box 5"/>
          <p:cNvSpPr/>
          <p:nvPr/>
        </p:nvSpPr>
        <p:spPr>
          <a:xfrm>
            <a:off x="872155" y="110241"/>
            <a:ext cx="8227274" cy="584439"/>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a14="http://schemas.microsoft.com/office/mac/drawingml/2011/main"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Elemento soggettivo art. 43 c.p.</a:t>
            </a:r>
          </a:p>
        </p:txBody>
      </p:sp>
    </p:spTree>
  </p:cSld>
  <p:clrMapOvr>
    <a:masterClrMapping/>
  </p:clrMapOvr>
  <p:transition spd="me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5" name="Segnaposto contenuto 2"/>
          <p:cNvSpPr>
            <a:spLocks noGrp="1"/>
          </p:cNvSpPr>
          <p:nvPr>
            <p:ph type="body" idx="1"/>
          </p:nvPr>
        </p:nvSpPr>
        <p:spPr>
          <a:xfrm>
            <a:off x="209682" y="925500"/>
            <a:ext cx="8724635" cy="5493705"/>
          </a:xfrm>
          <a:prstGeom prst="rect">
            <a:avLst/>
          </a:prstGeom>
        </p:spPr>
        <p:txBody>
          <a:bodyPr>
            <a:normAutofit lnSpcReduction="10000"/>
          </a:bodyPr>
          <a:lstStyle/>
          <a:p>
            <a:pPr marL="0" indent="0" algn="ctr" defTabSz="842619">
              <a:lnSpc>
                <a:spcPct val="81000"/>
              </a:lnSpc>
              <a:spcBef>
                <a:spcPts val="300"/>
              </a:spcBef>
              <a:buSzTx/>
              <a:buNone/>
              <a:defRPr sz="2522" b="1" u="sng">
                <a:solidFill>
                  <a:srgbClr val="002F8E"/>
                </a:solidFill>
                <a:latin typeface="Book Antiqua"/>
                <a:ea typeface="Book Antiqua"/>
                <a:cs typeface="Book Antiqua"/>
                <a:sym typeface="Book Antiqua"/>
              </a:defRPr>
            </a:pPr>
            <a:r>
              <a:t>RESPONSABILITA’ OGGETTIVA</a:t>
            </a:r>
            <a:endParaRPr sz="679"/>
          </a:p>
          <a:p>
            <a:pPr marL="0" indent="0" algn="just" defTabSz="842619">
              <a:lnSpc>
                <a:spcPct val="81000"/>
              </a:lnSpc>
              <a:spcBef>
                <a:spcPts val="300"/>
              </a:spcBef>
              <a:buSzTx/>
              <a:buNone/>
              <a:defRPr sz="679">
                <a:latin typeface="Book Antiqua"/>
                <a:ea typeface="Book Antiqua"/>
                <a:cs typeface="Book Antiqua"/>
                <a:sym typeface="Book Antiqua"/>
              </a:defRPr>
            </a:pPr>
            <a:endParaRPr sz="679"/>
          </a:p>
          <a:p>
            <a:pPr marL="0" indent="0" algn="just" defTabSz="842619">
              <a:lnSpc>
                <a:spcPct val="102600"/>
              </a:lnSpc>
              <a:spcBef>
                <a:spcPts val="100"/>
              </a:spcBef>
              <a:buSzTx/>
              <a:buNone/>
              <a:defRPr sz="1843">
                <a:latin typeface="Book Antiqua"/>
                <a:ea typeface="Book Antiqua"/>
                <a:cs typeface="Book Antiqua"/>
                <a:sym typeface="Book Antiqua"/>
              </a:defRPr>
            </a:pPr>
            <a:r>
              <a:t>Art. 42 c.1 – </a:t>
            </a:r>
            <a:r>
              <a:rPr i="1"/>
              <a:t>nessuno può essere punito per un’azione o omissione se questa non è stata commessa con coscienza e volontà…</a:t>
            </a:r>
          </a:p>
          <a:p>
            <a:pPr marL="0" indent="0" algn="just" defTabSz="842619">
              <a:lnSpc>
                <a:spcPct val="102600"/>
              </a:lnSpc>
              <a:spcBef>
                <a:spcPts val="100"/>
              </a:spcBef>
              <a:buSzTx/>
              <a:buNone/>
              <a:defRPr sz="1843" i="1">
                <a:latin typeface="Book Antiqua"/>
                <a:ea typeface="Book Antiqua"/>
                <a:cs typeface="Book Antiqua"/>
                <a:sym typeface="Book Antiqua"/>
              </a:defRPr>
            </a:pPr>
            <a:endParaRPr i="1"/>
          </a:p>
          <a:p>
            <a:pPr marL="0" indent="0" algn="just" defTabSz="842619">
              <a:lnSpc>
                <a:spcPct val="102600"/>
              </a:lnSpc>
              <a:spcBef>
                <a:spcPts val="100"/>
              </a:spcBef>
              <a:buSzTx/>
              <a:buNone/>
              <a:defRPr sz="1843">
                <a:latin typeface="Book Antiqua"/>
                <a:ea typeface="Book Antiqua"/>
                <a:cs typeface="Book Antiqua"/>
                <a:sym typeface="Book Antiqua"/>
              </a:defRPr>
            </a:pPr>
            <a:r>
              <a:rPr i="1"/>
              <a:t>…</a:t>
            </a:r>
            <a:r>
              <a:t>Art. 42, c.3 c.p. «</a:t>
            </a:r>
            <a:r>
              <a:rPr i="1"/>
              <a:t>La legge determina i casi nei quali l'evento è posto altrimenti a carico dell'agente, </a:t>
            </a:r>
            <a:r>
              <a:rPr b="1" i="1" u="sng"/>
              <a:t>come conseguenza della sua azione od omissione</a:t>
            </a:r>
            <a:r>
              <a:t>.»</a:t>
            </a:r>
          </a:p>
          <a:p>
            <a:pPr marL="0" indent="0" algn="just" defTabSz="842619">
              <a:lnSpc>
                <a:spcPct val="102600"/>
              </a:lnSpc>
              <a:spcBef>
                <a:spcPts val="100"/>
              </a:spcBef>
              <a:buSzTx/>
              <a:buNone/>
              <a:defRPr sz="679">
                <a:latin typeface="Book Antiqua"/>
                <a:ea typeface="Book Antiqua"/>
                <a:cs typeface="Book Antiqua"/>
                <a:sym typeface="Book Antiqua"/>
              </a:defRPr>
            </a:pPr>
            <a:endParaRPr/>
          </a:p>
          <a:p>
            <a:pPr marL="0" indent="0" algn="just" defTabSz="842619">
              <a:lnSpc>
                <a:spcPct val="102600"/>
              </a:lnSpc>
              <a:spcBef>
                <a:spcPts val="100"/>
              </a:spcBef>
              <a:buSzTx/>
              <a:buNone/>
              <a:defRPr sz="679">
                <a:latin typeface="Book Antiqua"/>
                <a:ea typeface="Book Antiqua"/>
                <a:cs typeface="Book Antiqua"/>
                <a:sym typeface="Book Antiqua"/>
              </a:defRPr>
            </a:pPr>
            <a:endParaRPr/>
          </a:p>
          <a:p>
            <a:pPr marL="0" indent="0" algn="just" defTabSz="842619">
              <a:lnSpc>
                <a:spcPct val="102600"/>
              </a:lnSpc>
              <a:spcBef>
                <a:spcPts val="100"/>
              </a:spcBef>
              <a:buSzTx/>
              <a:buNone/>
              <a:defRPr sz="679">
                <a:latin typeface="Book Antiqua"/>
                <a:ea typeface="Book Antiqua"/>
                <a:cs typeface="Book Antiqua"/>
                <a:sym typeface="Book Antiqua"/>
              </a:defRPr>
            </a:pPr>
            <a:endParaRPr/>
          </a:p>
          <a:p>
            <a:pPr marL="0" indent="0" algn="just" defTabSz="842619">
              <a:lnSpc>
                <a:spcPct val="102600"/>
              </a:lnSpc>
              <a:spcBef>
                <a:spcPts val="100"/>
              </a:spcBef>
              <a:buSzTx/>
              <a:buNone/>
              <a:defRPr sz="1552">
                <a:latin typeface="Book Antiqua"/>
                <a:ea typeface="Book Antiqua"/>
                <a:cs typeface="Book Antiqua"/>
                <a:sym typeface="Book Antiqua"/>
              </a:defRPr>
            </a:pPr>
            <a:r>
              <a:t>Si ha quando un soggetto è chiamato a rispondere penalmente </a:t>
            </a:r>
            <a:r>
              <a:rPr b="1" u="sng"/>
              <a:t>a prescindere da una propria volontà colpevole</a:t>
            </a:r>
            <a:r>
              <a:t>.</a:t>
            </a:r>
            <a:endParaRPr sz="1843"/>
          </a:p>
          <a:p>
            <a:pPr marL="0" indent="0" algn="just" defTabSz="842619">
              <a:lnSpc>
                <a:spcPct val="102600"/>
              </a:lnSpc>
              <a:spcBef>
                <a:spcPts val="100"/>
              </a:spcBef>
              <a:buSzTx/>
              <a:buNone/>
              <a:defRPr sz="582">
                <a:latin typeface="Book Antiqua"/>
                <a:ea typeface="Book Antiqua"/>
                <a:cs typeface="Book Antiqua"/>
                <a:sym typeface="Book Antiqua"/>
              </a:defRPr>
            </a:pPr>
            <a:endParaRPr sz="1843"/>
          </a:p>
          <a:p>
            <a:pPr marL="0" indent="0" algn="just" defTabSz="842619">
              <a:lnSpc>
                <a:spcPct val="102600"/>
              </a:lnSpc>
              <a:spcBef>
                <a:spcPts val="100"/>
              </a:spcBef>
              <a:buSzTx/>
              <a:buNone/>
              <a:defRPr sz="582">
                <a:latin typeface="Book Antiqua"/>
                <a:ea typeface="Book Antiqua"/>
                <a:cs typeface="Book Antiqua"/>
                <a:sym typeface="Book Antiqua"/>
              </a:defRPr>
            </a:pPr>
            <a:endParaRPr sz="1843"/>
          </a:p>
          <a:p>
            <a:pPr marL="0" indent="0" algn="just" defTabSz="842619">
              <a:lnSpc>
                <a:spcPct val="102600"/>
              </a:lnSpc>
              <a:spcBef>
                <a:spcPts val="100"/>
              </a:spcBef>
              <a:buSzTx/>
              <a:buNone/>
              <a:defRPr sz="582">
                <a:latin typeface="Book Antiqua"/>
                <a:ea typeface="Book Antiqua"/>
                <a:cs typeface="Book Antiqua"/>
                <a:sym typeface="Book Antiqua"/>
              </a:defRPr>
            </a:pPr>
            <a:endParaRPr sz="1843"/>
          </a:p>
          <a:p>
            <a:pPr marL="0" indent="0" algn="just" defTabSz="842619">
              <a:lnSpc>
                <a:spcPct val="102600"/>
              </a:lnSpc>
              <a:spcBef>
                <a:spcPts val="100"/>
              </a:spcBef>
              <a:buSzTx/>
              <a:buNone/>
              <a:defRPr sz="1552">
                <a:latin typeface="Book Antiqua"/>
                <a:ea typeface="Book Antiqua"/>
                <a:cs typeface="Book Antiqua"/>
                <a:sym typeface="Book Antiqua"/>
              </a:defRPr>
            </a:pPr>
            <a:r>
              <a:t>Per integrare il reato è sufficiente il solo rapporto di causalità tra condotta ed illecito (evento), indipendentemente da dolo o colpa. </a:t>
            </a:r>
          </a:p>
          <a:p>
            <a:pPr marL="0" indent="0" algn="just" defTabSz="842619">
              <a:lnSpc>
                <a:spcPct val="102600"/>
              </a:lnSpc>
              <a:spcBef>
                <a:spcPts val="100"/>
              </a:spcBef>
              <a:buSzTx/>
              <a:buNone/>
              <a:defRPr sz="1552">
                <a:latin typeface="Book Antiqua"/>
                <a:ea typeface="Book Antiqua"/>
                <a:cs typeface="Book Antiqua"/>
                <a:sym typeface="Book Antiqua"/>
              </a:defRPr>
            </a:pPr>
            <a:endParaRPr/>
          </a:p>
          <a:p>
            <a:pPr marL="0" indent="0" algn="just" defTabSz="842619">
              <a:lnSpc>
                <a:spcPct val="102600"/>
              </a:lnSpc>
              <a:spcBef>
                <a:spcPts val="100"/>
              </a:spcBef>
              <a:buSzTx/>
              <a:buNone/>
              <a:defRPr sz="1552" b="1" i="1">
                <a:solidFill>
                  <a:srgbClr val="002F8E"/>
                </a:solidFill>
                <a:latin typeface="Book Antiqua"/>
                <a:ea typeface="Book Antiqua"/>
                <a:cs typeface="Book Antiqua"/>
                <a:sym typeface="Book Antiqua"/>
              </a:defRPr>
            </a:pPr>
            <a:r>
              <a:t>RAPPORTO DI CAUSALITA’ MATERIALE COME CRITERIO DI IMPUTAZIONE</a:t>
            </a:r>
            <a:endParaRPr sz="1843"/>
          </a:p>
          <a:p>
            <a:pPr marL="0" indent="0" algn="just" defTabSz="842619">
              <a:lnSpc>
                <a:spcPct val="102600"/>
              </a:lnSpc>
              <a:spcBef>
                <a:spcPts val="100"/>
              </a:spcBef>
              <a:buSzTx/>
              <a:buNone/>
              <a:defRPr sz="679">
                <a:latin typeface="Book Antiqua"/>
                <a:ea typeface="Book Antiqua"/>
                <a:cs typeface="Book Antiqua"/>
                <a:sym typeface="Book Antiqua"/>
              </a:defRPr>
            </a:pPr>
            <a:endParaRPr sz="1843"/>
          </a:p>
          <a:p>
            <a:pPr marL="0" indent="0" algn="just" defTabSz="842619">
              <a:lnSpc>
                <a:spcPct val="102600"/>
              </a:lnSpc>
              <a:spcBef>
                <a:spcPts val="100"/>
              </a:spcBef>
              <a:buSzTx/>
              <a:buNone/>
              <a:defRPr sz="1746">
                <a:latin typeface="Book Antiqua"/>
                <a:ea typeface="Book Antiqua"/>
                <a:cs typeface="Book Antiqua"/>
                <a:sym typeface="Book Antiqua"/>
              </a:defRPr>
            </a:pPr>
            <a:r>
              <a:t>Es: Aberratio delicti                    ( il reo provoca un evento diverso da quello voluto) tizio lancia un sasso per infrangere una vetrina ma invece ferisce un passante – in questo caso non si realizza l’evento voluto di danneggiamento, ma quello di lesione personale.</a:t>
            </a:r>
          </a:p>
        </p:txBody>
      </p:sp>
      <p:sp>
        <p:nvSpPr>
          <p:cNvPr id="526" name="Text Box 5"/>
          <p:cNvSpPr/>
          <p:nvPr/>
        </p:nvSpPr>
        <p:spPr>
          <a:xfrm>
            <a:off x="872155" y="110241"/>
            <a:ext cx="8227274" cy="584439"/>
          </a:xfrm>
          <a:prstGeom prst="rect">
            <a:avLst/>
          </a:prstGeom>
          <a:ln w="12700">
            <a:miter lim="400000"/>
          </a:ln>
          <a:effectLst>
            <a:outerShdw blurRad="63500" dist="17961" dir="2700000" rotWithShape="0">
              <a:srgbClr val="E7E6E6">
                <a:alpha val="74998"/>
              </a:srgbClr>
            </a:outerShdw>
          </a:effectLst>
          <a:extLst>
            <a:ext uri="{C572A759-6A51-4108-AA02-DFA0A04FC94B}">
              <ma14:wrappingTextBoxFlag xmlns="" xmlns:ma14="http://schemas.microsoft.com/office/mac/drawingml/2011/main"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Elemento soggettivo art. 43 c.p.</a:t>
            </a:r>
          </a:p>
        </p:txBody>
      </p:sp>
      <p:sp>
        <p:nvSpPr>
          <p:cNvPr id="527" name="Freccia in giù 1"/>
          <p:cNvSpPr/>
          <p:nvPr/>
        </p:nvSpPr>
        <p:spPr>
          <a:xfrm>
            <a:off x="3329127" y="3054715"/>
            <a:ext cx="159800" cy="321818"/>
          </a:xfrm>
          <a:custGeom>
            <a:avLst/>
            <a:gdLst/>
            <a:ahLst/>
            <a:cxnLst>
              <a:cxn ang="0">
                <a:pos x="wd2" y="hd2"/>
              </a:cxn>
              <a:cxn ang="5400000">
                <a:pos x="wd2" y="hd2"/>
              </a:cxn>
              <a:cxn ang="10800000">
                <a:pos x="wd2" y="hd2"/>
              </a:cxn>
              <a:cxn ang="16200000">
                <a:pos x="wd2" y="hd2"/>
              </a:cxn>
            </a:cxnLst>
            <a:rect l="0" t="0" r="r" b="b"/>
            <a:pathLst>
              <a:path w="21600" h="21600" extrusionOk="0">
                <a:moveTo>
                  <a:pt x="0" y="16237"/>
                </a:moveTo>
                <a:lnTo>
                  <a:pt x="5400" y="16237"/>
                </a:lnTo>
                <a:lnTo>
                  <a:pt x="5400" y="0"/>
                </a:lnTo>
                <a:lnTo>
                  <a:pt x="16200" y="0"/>
                </a:lnTo>
                <a:lnTo>
                  <a:pt x="16200" y="16237"/>
                </a:lnTo>
                <a:lnTo>
                  <a:pt x="21600" y="16237"/>
                </a:lnTo>
                <a:lnTo>
                  <a:pt x="10800" y="21600"/>
                </a:lnTo>
                <a:close/>
              </a:path>
            </a:pathLst>
          </a:custGeom>
          <a:solidFill>
            <a:schemeClr val="accent2"/>
          </a:solidFill>
          <a:ln w="25400">
            <a:solidFill>
              <a:schemeClr val="accent2"/>
            </a:solidFill>
          </a:ln>
        </p:spPr>
        <p:txBody>
          <a:bodyPr lIns="45718" tIns="45718" rIns="45718" bIns="45718"/>
          <a:lstStyle/>
          <a:p>
            <a:pPr algn="ctr">
              <a:defRPr>
                <a:latin typeface="+mj-lt"/>
                <a:ea typeface="+mj-ea"/>
                <a:cs typeface="+mj-cs"/>
                <a:sym typeface="Arial"/>
              </a:defRPr>
            </a:pPr>
            <a:endParaRPr/>
          </a:p>
        </p:txBody>
      </p:sp>
      <p:sp>
        <p:nvSpPr>
          <p:cNvPr id="528" name="Freccia a destra 2"/>
          <p:cNvSpPr/>
          <p:nvPr/>
        </p:nvSpPr>
        <p:spPr>
          <a:xfrm>
            <a:off x="2432175" y="5970579"/>
            <a:ext cx="648072" cy="124289"/>
          </a:xfrm>
          <a:prstGeom prst="rightArrow">
            <a:avLst>
              <a:gd name="adj1" fmla="val 50000"/>
              <a:gd name="adj2" fmla="val 50000"/>
            </a:avLst>
          </a:prstGeom>
          <a:solidFill>
            <a:schemeClr val="accent2"/>
          </a:solidFill>
          <a:ln w="25400">
            <a:solidFill>
              <a:schemeClr val="accent2"/>
            </a:solidFill>
          </a:ln>
        </p:spPr>
        <p:txBody>
          <a:bodyPr lIns="45718" tIns="45718" rIns="45718" bIns="45718"/>
          <a:lstStyle/>
          <a:p>
            <a:pPr algn="ctr">
              <a:defRPr>
                <a:latin typeface="+mj-lt"/>
                <a:ea typeface="+mj-ea"/>
                <a:cs typeface="+mj-cs"/>
                <a:sym typeface="Arial"/>
              </a:defRPr>
            </a:pPr>
            <a:endParaRPr/>
          </a:p>
        </p:txBody>
      </p:sp>
    </p:spTree>
  </p:cSld>
  <p:clrMapOvr>
    <a:masterClrMapping/>
  </p:clrMapOvr>
  <p:transition spd="me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0" name="Segnaposto contenuto 2"/>
          <p:cNvSpPr>
            <a:spLocks noGrp="1"/>
          </p:cNvSpPr>
          <p:nvPr>
            <p:ph type="body" sz="quarter" idx="1"/>
          </p:nvPr>
        </p:nvSpPr>
        <p:spPr>
          <a:xfrm>
            <a:off x="2411758" y="980728"/>
            <a:ext cx="4717508" cy="1296147"/>
          </a:xfrm>
          <a:prstGeom prst="rect">
            <a:avLst/>
          </a:prstGeom>
        </p:spPr>
        <p:txBody>
          <a:bodyPr/>
          <a:lstStyle/>
          <a:p>
            <a:pPr marL="0" indent="0" algn="ctr" defTabSz="466344">
              <a:spcBef>
                <a:spcPts val="500"/>
              </a:spcBef>
              <a:buSzTx/>
              <a:buNone/>
              <a:defRPr sz="1400">
                <a:latin typeface="Book Antiqua"/>
                <a:ea typeface="Book Antiqua"/>
                <a:cs typeface="Book Antiqua"/>
                <a:sym typeface="Book Antiqua"/>
              </a:defRPr>
            </a:pPr>
            <a:endParaRPr/>
          </a:p>
          <a:p>
            <a:pPr marL="0" indent="0" algn="ctr" defTabSz="466344">
              <a:spcBef>
                <a:spcPts val="500"/>
              </a:spcBef>
              <a:buSzTx/>
              <a:buNone/>
              <a:defRPr sz="1400">
                <a:latin typeface="Book Antiqua"/>
                <a:ea typeface="Book Antiqua"/>
                <a:cs typeface="Book Antiqua"/>
                <a:sym typeface="Book Antiqua"/>
              </a:defRPr>
            </a:pPr>
            <a:endParaRPr/>
          </a:p>
          <a:p>
            <a:pPr marL="0" indent="0" algn="ctr" defTabSz="466344">
              <a:spcBef>
                <a:spcPts val="500"/>
              </a:spcBef>
              <a:buSzTx/>
              <a:buNone/>
              <a:defRPr sz="1400">
                <a:latin typeface="Book Antiqua"/>
                <a:ea typeface="Book Antiqua"/>
                <a:cs typeface="Book Antiqua"/>
                <a:sym typeface="Book Antiqua"/>
              </a:defRPr>
            </a:pPr>
            <a:endParaRPr/>
          </a:p>
          <a:p>
            <a:pPr marL="0" indent="0" algn="ctr" defTabSz="466344">
              <a:spcBef>
                <a:spcPts val="500"/>
              </a:spcBef>
              <a:buSzTx/>
              <a:buNone/>
              <a:defRPr sz="2700" b="1">
                <a:solidFill>
                  <a:srgbClr val="002F8E"/>
                </a:solidFill>
                <a:latin typeface="Book Antiqua"/>
                <a:ea typeface="Book Antiqua"/>
                <a:cs typeface="Book Antiqua"/>
                <a:sym typeface="Book Antiqua"/>
              </a:defRPr>
            </a:pPr>
            <a:r>
              <a:t>DOMANDE?</a:t>
            </a:r>
          </a:p>
        </p:txBody>
      </p:sp>
      <p:pic>
        <p:nvPicPr>
          <p:cNvPr id="531" name="Immagine 4" descr="Immagine 4"/>
          <p:cNvPicPr>
            <a:picLocks noChangeAspect="1"/>
          </p:cNvPicPr>
          <p:nvPr/>
        </p:nvPicPr>
        <p:blipFill>
          <a:blip r:embed="rId2"/>
          <a:stretch>
            <a:fillRect/>
          </a:stretch>
        </p:blipFill>
        <p:spPr>
          <a:xfrm>
            <a:off x="4113565" y="3916715"/>
            <a:ext cx="4879272" cy="2439637"/>
          </a:xfrm>
          <a:prstGeom prst="rect">
            <a:avLst/>
          </a:prstGeom>
          <a:ln w="12700">
            <a:miter lim="400000"/>
          </a:ln>
        </p:spPr>
      </p:pic>
    </p:spTree>
  </p:cSld>
  <p:clrMapOvr>
    <a:masterClrMapping/>
  </p:clrMapOvr>
  <p:transition spd="med"/>
</p:sld>
</file>

<file path=ppt/theme/theme1.xml><?xml version="1.0" encoding="utf-8"?>
<a:theme xmlns:a="http://schemas.openxmlformats.org/drawingml/2006/main" name="TEMA MAGNOREA">
  <a:themeElements>
    <a:clrScheme name="TEMA MAGNOREA">
      <a:dk1>
        <a:srgbClr val="000000"/>
      </a:dk1>
      <a:lt1>
        <a:srgbClr val="FFFFFF"/>
      </a:lt1>
      <a:dk2>
        <a:srgbClr val="A7A7A7"/>
      </a:dk2>
      <a:lt2>
        <a:srgbClr val="535353"/>
      </a:lt2>
      <a:accent1>
        <a:srgbClr val="BBE0E3"/>
      </a:accent1>
      <a:accent2>
        <a:srgbClr val="333399"/>
      </a:accent2>
      <a:accent3>
        <a:srgbClr val="8F8F8F"/>
      </a:accent3>
      <a:accent4>
        <a:srgbClr val="707070"/>
      </a:accent4>
      <a:accent5>
        <a:srgbClr val="DAEDEF"/>
      </a:accent5>
      <a:accent6>
        <a:srgbClr val="2D2D8A"/>
      </a:accent6>
      <a:hlink>
        <a:srgbClr val="0000FF"/>
      </a:hlink>
      <a:folHlink>
        <a:srgbClr val="FF00FF"/>
      </a:folHlink>
    </a:clrScheme>
    <a:fontScheme name="TEMA MAGNOREA">
      <a:majorFont>
        <a:latin typeface="Arial"/>
        <a:ea typeface="Arial"/>
        <a:cs typeface="Arial"/>
      </a:majorFont>
      <a:minorFont>
        <a:latin typeface="Helvetica"/>
        <a:ea typeface="Helvetica"/>
        <a:cs typeface="Helvetica"/>
      </a:minorFont>
    </a:fontScheme>
    <a:fmtScheme name="TEMA MAGNORE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700" b="1" i="0" u="none" strike="noStrike" cap="none" spc="0" normalizeH="0" baseline="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700" b="1" i="0" u="none" strike="noStrike" cap="none" spc="0" normalizeH="0" baseline="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TEMA MAGNOREA">
  <a:themeElements>
    <a:clrScheme name="TEMA MAGNOREA">
      <a:dk1>
        <a:srgbClr val="000000"/>
      </a:dk1>
      <a:lt1>
        <a:srgbClr val="FFFFFF"/>
      </a:lt1>
      <a:dk2>
        <a:srgbClr val="A7A7A7"/>
      </a:dk2>
      <a:lt2>
        <a:srgbClr val="535353"/>
      </a:lt2>
      <a:accent1>
        <a:srgbClr val="BBE0E3"/>
      </a:accent1>
      <a:accent2>
        <a:srgbClr val="333399"/>
      </a:accent2>
      <a:accent3>
        <a:srgbClr val="8F8F8F"/>
      </a:accent3>
      <a:accent4>
        <a:srgbClr val="707070"/>
      </a:accent4>
      <a:accent5>
        <a:srgbClr val="DAEDEF"/>
      </a:accent5>
      <a:accent6>
        <a:srgbClr val="2D2D8A"/>
      </a:accent6>
      <a:hlink>
        <a:srgbClr val="0000FF"/>
      </a:hlink>
      <a:folHlink>
        <a:srgbClr val="FF00FF"/>
      </a:folHlink>
    </a:clrScheme>
    <a:fontScheme name="TEMA MAGNOREA">
      <a:majorFont>
        <a:latin typeface="Arial"/>
        <a:ea typeface="Arial"/>
        <a:cs typeface="Arial"/>
      </a:majorFont>
      <a:minorFont>
        <a:latin typeface="Helvetica"/>
        <a:ea typeface="Helvetica"/>
        <a:cs typeface="Helvetica"/>
      </a:minorFont>
    </a:fontScheme>
    <a:fmtScheme name="TEMA MAGNORE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700" b="1" i="0" u="none" strike="noStrike" cap="none" spc="0" normalizeH="0" baseline="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700" b="1" i="0" u="none" strike="noStrike" cap="none" spc="0" normalizeH="0" baseline="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47</TotalTime>
  <Words>6266</Words>
  <Application>Microsoft Office PowerPoint</Application>
  <PresentationFormat>Presentazione su schermo (4:3)</PresentationFormat>
  <Paragraphs>494</Paragraphs>
  <Slides>68</Slides>
  <Notes>1</Notes>
  <HiddenSlides>0</HiddenSlides>
  <MMClips>0</MMClips>
  <ScaleCrop>false</ScaleCrop>
  <HeadingPairs>
    <vt:vector size="6" baseType="variant">
      <vt:variant>
        <vt:lpstr>Caratteri utilizzati</vt:lpstr>
      </vt:variant>
      <vt:variant>
        <vt:i4>7</vt:i4>
      </vt:variant>
      <vt:variant>
        <vt:lpstr>Tema</vt:lpstr>
      </vt:variant>
      <vt:variant>
        <vt:i4>1</vt:i4>
      </vt:variant>
      <vt:variant>
        <vt:lpstr>Titoli diapositive</vt:lpstr>
      </vt:variant>
      <vt:variant>
        <vt:i4>68</vt:i4>
      </vt:variant>
    </vt:vector>
  </HeadingPairs>
  <TitlesOfParts>
    <vt:vector size="76" baseType="lpstr">
      <vt:lpstr>Arial</vt:lpstr>
      <vt:lpstr>Book Antiqua</vt:lpstr>
      <vt:lpstr>Calibri</vt:lpstr>
      <vt:lpstr>Calibri Light</vt:lpstr>
      <vt:lpstr>Helvetica</vt:lpstr>
      <vt:lpstr>Times New Roman</vt:lpstr>
      <vt:lpstr>Trebuchet MS</vt:lpstr>
      <vt:lpstr>TEMA MAGNOREA</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Tappe storiche</vt:lpstr>
      <vt:lpstr>«tendenzialmente accusatorio» </vt:lpstr>
      <vt:lpstr>Tappe storiche</vt:lpstr>
      <vt:lpstr>Tappe storiche</vt:lpstr>
      <vt:lpstr>Tappe storiche</vt:lpstr>
      <vt:lpstr>Tappe storiche</vt:lpstr>
      <vt:lpstr>Tappe storiche</vt:lpstr>
      <vt:lpstr>Il Principio del Contraddittorio</vt:lpstr>
      <vt:lpstr>ECCEZIONI al principio del contraddittorio: </vt:lpstr>
      <vt:lpstr>La Riforma Cartabia. d.lgs n. 150 del 2022 </vt:lpstr>
      <vt:lpstr>La Riforma Cartabia </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OBBLIGATORIETA’ DELL’AZIONE PENALE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La struttura del reato</vt:lpstr>
      <vt:lpstr>Presentazione standard di PowerPoint</vt:lpstr>
      <vt:lpstr>Presentazione standard di PowerPoint</vt:lpstr>
      <vt:lpstr>Presentazione standard di PowerPoint</vt:lpstr>
      <vt:lpstr>Presentazione standard di PowerPoint</vt:lpstr>
      <vt:lpstr>Elemento oggettivo </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Elemento soggettivo</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cp:lastModifiedBy>Aula</cp:lastModifiedBy>
  <cp:revision>7</cp:revision>
  <dcterms:modified xsi:type="dcterms:W3CDTF">2026-02-07T15:03:28Z</dcterms:modified>
</cp:coreProperties>
</file>