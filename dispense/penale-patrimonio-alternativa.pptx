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Props+xml" PartName="/ppt/presProps.xml"/>
  <Override ContentType="application/vnd.openxmlformats-officedocument.presentationml.presentation.main+xml" PartName="/ppt/presentation.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tableStyles+xml" PartName="/ppt/tableStyles.xml"/>
  <Override ContentType="application/vnd.openxmlformats-officedocument.presentationml.viewProps+xml" PartName="/ppt/viewProps.xml"/>
  <Override ContentType="application/vnd.openxmlformats-officedocument.theme+xml" PartName="/ppt/theme/theme1.xml"/>
  <Override ContentType="application/vnd.openxmlformats-officedocument.theme+xml" PartName="/ppt/theme/theme2.xml"/>
  <Override ContentType="application/vnd.openxmlformats-package.core-properties+xml" PartName="/docProps/core.xml"/>
</Types>
</file>

<file path=_rels/.rels><?xml version="1.0" encoding="UTF-8" standalone="yes"?><Relationships xmlns="http://schemas.openxmlformats.org/package/2006/relationships"><Relationship Id="rId3" Target="ppt/presentation.xml" Type="http://schemas.openxmlformats.org/officeDocument/2006/relationships/officeDocument"/><Relationship Id="rId2" Target="docProps/core.xml" Type="http://schemas.openxmlformats.org/package/2006/relationships/metadata/core-properties"/><Relationship Id="rId1"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Lst>
  <p:sldSz cx="9144000" cy="6858000" type="screen4x3"/>
  <p:notesSz cx="6858000" cy="9144000"/>
  <p:defaultTextStyle>
    <a:def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defPPr>
    <a:lvl1pPr algn="l" defTabSz="914400" hangingPunct="0" indent="0" latinLnBrk="0" marL="0" marR="0" rtl="0">
      <a:lnSpc>
        <a:spcPct val="100000"/>
      </a:lnSpc>
      <a:spcBef>
        <a:spcPts val="0"/>
      </a:spcBef>
      <a:spcAft>
        <a:spcPts val="0"/>
      </a:spcAft>
      <a:buClrTx/>
      <a:buSzTx/>
      <a:buFontTx/>
      <a:buNone/>
      <a:tabLst/>
      <a:defRPr b="1" baseline="0" cap="none" i="0" kumimoji="0" normalizeH="0" spc="0" strike="noStrike" sz="700" u="none">
        <a:ln>
          <a:noFill/>
        </a:ln>
        <a:solidFill>
          <a:srgbClr val="000000"/>
        </a:solidFill>
        <a:effectLst/>
        <a:uFillTx/>
        <a:latin typeface="+mj-lt"/>
        <a:ea typeface="+mj-ea"/>
        <a:cs typeface="+mj-cs"/>
        <a:sym typeface="Helvetica"/>
      </a:defRPr>
    </a:lvl1pPr>
    <a:lvl2pPr algn="l" defTabSz="914400" hangingPunct="0" indent="0" latinLnBrk="0" marL="0" marR="0" rtl="0">
      <a:lnSpc>
        <a:spcPct val="100000"/>
      </a:lnSpc>
      <a:spcBef>
        <a:spcPts val="0"/>
      </a:spcBef>
      <a:spcAft>
        <a:spcPts val="0"/>
      </a:spcAft>
      <a:buClrTx/>
      <a:buSzTx/>
      <a:buFontTx/>
      <a:buNone/>
      <a:tabLst/>
      <a:defRPr b="1" baseline="0" cap="none" i="0" kumimoji="0" normalizeH="0" spc="0" strike="noStrike" sz="700" u="none">
        <a:ln>
          <a:noFill/>
        </a:ln>
        <a:solidFill>
          <a:srgbClr val="000000"/>
        </a:solidFill>
        <a:effectLst/>
        <a:uFillTx/>
        <a:latin typeface="+mj-lt"/>
        <a:ea typeface="+mj-ea"/>
        <a:cs typeface="+mj-cs"/>
        <a:sym typeface="Helvetica"/>
      </a:defRPr>
    </a:lvl2pPr>
    <a:lvl3pPr algn="l" defTabSz="914400" hangingPunct="0" indent="0" latinLnBrk="0" marL="0" marR="0" rtl="0">
      <a:lnSpc>
        <a:spcPct val="100000"/>
      </a:lnSpc>
      <a:spcBef>
        <a:spcPts val="0"/>
      </a:spcBef>
      <a:spcAft>
        <a:spcPts val="0"/>
      </a:spcAft>
      <a:buClrTx/>
      <a:buSzTx/>
      <a:buFontTx/>
      <a:buNone/>
      <a:tabLst/>
      <a:defRPr b="1" baseline="0" cap="none" i="0" kumimoji="0" normalizeH="0" spc="0" strike="noStrike" sz="700" u="none">
        <a:ln>
          <a:noFill/>
        </a:ln>
        <a:solidFill>
          <a:srgbClr val="000000"/>
        </a:solidFill>
        <a:effectLst/>
        <a:uFillTx/>
        <a:latin typeface="+mj-lt"/>
        <a:ea typeface="+mj-ea"/>
        <a:cs typeface="+mj-cs"/>
        <a:sym typeface="Helvetica"/>
      </a:defRPr>
    </a:lvl3pPr>
    <a:lvl4pPr algn="l" defTabSz="914400" hangingPunct="0" indent="0" latinLnBrk="0" marL="0" marR="0" rtl="0">
      <a:lnSpc>
        <a:spcPct val="100000"/>
      </a:lnSpc>
      <a:spcBef>
        <a:spcPts val="0"/>
      </a:spcBef>
      <a:spcAft>
        <a:spcPts val="0"/>
      </a:spcAft>
      <a:buClrTx/>
      <a:buSzTx/>
      <a:buFontTx/>
      <a:buNone/>
      <a:tabLst/>
      <a:defRPr b="1" baseline="0" cap="none" i="0" kumimoji="0" normalizeH="0" spc="0" strike="noStrike" sz="700" u="none">
        <a:ln>
          <a:noFill/>
        </a:ln>
        <a:solidFill>
          <a:srgbClr val="000000"/>
        </a:solidFill>
        <a:effectLst/>
        <a:uFillTx/>
        <a:latin typeface="+mj-lt"/>
        <a:ea typeface="+mj-ea"/>
        <a:cs typeface="+mj-cs"/>
        <a:sym typeface="Helvetica"/>
      </a:defRPr>
    </a:lvl4pPr>
    <a:lvl5pPr algn="l" defTabSz="914400" hangingPunct="0" indent="0" latinLnBrk="0" marL="0" marR="0" rtl="0">
      <a:lnSpc>
        <a:spcPct val="100000"/>
      </a:lnSpc>
      <a:spcBef>
        <a:spcPts val="0"/>
      </a:spcBef>
      <a:spcAft>
        <a:spcPts val="0"/>
      </a:spcAft>
      <a:buClrTx/>
      <a:buSzTx/>
      <a:buFontTx/>
      <a:buNone/>
      <a:tabLst/>
      <a:defRPr b="1" baseline="0" cap="none" i="0" kumimoji="0" normalizeH="0" spc="0" strike="noStrike" sz="700" u="none">
        <a:ln>
          <a:noFill/>
        </a:ln>
        <a:solidFill>
          <a:srgbClr val="000000"/>
        </a:solidFill>
        <a:effectLst/>
        <a:uFillTx/>
        <a:latin typeface="+mj-lt"/>
        <a:ea typeface="+mj-ea"/>
        <a:cs typeface="+mj-cs"/>
        <a:sym typeface="Helvetica"/>
      </a:defRPr>
    </a:lvl5pPr>
    <a:lvl6pPr algn="l" defTabSz="914400" hangingPunct="0" indent="0" latinLnBrk="0" marL="0" marR="0" rtl="0">
      <a:lnSpc>
        <a:spcPct val="100000"/>
      </a:lnSpc>
      <a:spcBef>
        <a:spcPts val="0"/>
      </a:spcBef>
      <a:spcAft>
        <a:spcPts val="0"/>
      </a:spcAft>
      <a:buClrTx/>
      <a:buSzTx/>
      <a:buFontTx/>
      <a:buNone/>
      <a:tabLst/>
      <a:defRPr b="1" baseline="0" cap="none" i="0" kumimoji="0" normalizeH="0" spc="0" strike="noStrike" sz="700" u="none">
        <a:ln>
          <a:noFill/>
        </a:ln>
        <a:solidFill>
          <a:srgbClr val="000000"/>
        </a:solidFill>
        <a:effectLst/>
        <a:uFillTx/>
        <a:latin typeface="+mj-lt"/>
        <a:ea typeface="+mj-ea"/>
        <a:cs typeface="+mj-cs"/>
        <a:sym typeface="Helvetica"/>
      </a:defRPr>
    </a:lvl6pPr>
    <a:lvl7pPr algn="l" defTabSz="914400" hangingPunct="0" indent="0" latinLnBrk="0" marL="0" marR="0" rtl="0">
      <a:lnSpc>
        <a:spcPct val="100000"/>
      </a:lnSpc>
      <a:spcBef>
        <a:spcPts val="0"/>
      </a:spcBef>
      <a:spcAft>
        <a:spcPts val="0"/>
      </a:spcAft>
      <a:buClrTx/>
      <a:buSzTx/>
      <a:buFontTx/>
      <a:buNone/>
      <a:tabLst/>
      <a:defRPr b="1" baseline="0" cap="none" i="0" kumimoji="0" normalizeH="0" spc="0" strike="noStrike" sz="700" u="none">
        <a:ln>
          <a:noFill/>
        </a:ln>
        <a:solidFill>
          <a:srgbClr val="000000"/>
        </a:solidFill>
        <a:effectLst/>
        <a:uFillTx/>
        <a:latin typeface="+mj-lt"/>
        <a:ea typeface="+mj-ea"/>
        <a:cs typeface="+mj-cs"/>
        <a:sym typeface="Helvetica"/>
      </a:defRPr>
    </a:lvl7pPr>
    <a:lvl8pPr algn="l" defTabSz="914400" hangingPunct="0" indent="0" latinLnBrk="0" marL="0" marR="0" rtl="0">
      <a:lnSpc>
        <a:spcPct val="100000"/>
      </a:lnSpc>
      <a:spcBef>
        <a:spcPts val="0"/>
      </a:spcBef>
      <a:spcAft>
        <a:spcPts val="0"/>
      </a:spcAft>
      <a:buClrTx/>
      <a:buSzTx/>
      <a:buFontTx/>
      <a:buNone/>
      <a:tabLst/>
      <a:defRPr b="1" baseline="0" cap="none" i="0" kumimoji="0" normalizeH="0" spc="0" strike="noStrike" sz="700" u="none">
        <a:ln>
          <a:noFill/>
        </a:ln>
        <a:solidFill>
          <a:srgbClr val="000000"/>
        </a:solidFill>
        <a:effectLst/>
        <a:uFillTx/>
        <a:latin typeface="+mj-lt"/>
        <a:ea typeface="+mj-ea"/>
        <a:cs typeface="+mj-cs"/>
        <a:sym typeface="Helvetica"/>
      </a:defRPr>
    </a:lvl8pPr>
    <a:lvl9pPr algn="l" defTabSz="914400" hangingPunct="0" indent="0" latinLnBrk="0" marL="0" marR="0" rtl="0">
      <a:lnSpc>
        <a:spcPct val="100000"/>
      </a:lnSpc>
      <a:spcBef>
        <a:spcPts val="0"/>
      </a:spcBef>
      <a:spcAft>
        <a:spcPts val="0"/>
      </a:spcAft>
      <a:buClrTx/>
      <a:buSzTx/>
      <a:buFontTx/>
      <a:buNone/>
      <a:tabLst/>
      <a:defRPr b="1" baseline="0" cap="none" i="0" kumimoji="0" normalizeH="0" spc="0" strike="noStrike" sz="700" u="none">
        <a:ln>
          <a:noFill/>
        </a:ln>
        <a:solidFill>
          <a:srgbClr val="000000"/>
        </a:solidFill>
        <a:effectLst/>
        <a:uFillTx/>
        <a:latin typeface="+mj-lt"/>
        <a:ea typeface="+mj-ea"/>
        <a:cs typeface="+mj-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cap="flat" w="12700">
              <a:solidFill>
                <a:srgbClr val="FFFFFF"/>
              </a:solidFill>
              <a:prstDash val="solid"/>
              <a:round/>
            </a:ln>
          </a:left>
          <a:right>
            <a:ln cap="flat" w="12700">
              <a:solidFill>
                <a:srgbClr val="FFFFFF"/>
              </a:solidFill>
              <a:prstDash val="solid"/>
              <a:round/>
            </a:ln>
          </a:right>
          <a:top>
            <a:ln cap="flat" w="12700">
              <a:solidFill>
                <a:srgbClr val="FFFFFF"/>
              </a:solidFill>
              <a:prstDash val="solid"/>
              <a:round/>
            </a:ln>
          </a:top>
          <a:bottom>
            <a:ln cap="flat" w="12700">
              <a:solidFill>
                <a:srgbClr val="FFFFFF"/>
              </a:solidFill>
              <a:prstDash val="solid"/>
              <a:round/>
            </a:ln>
          </a:bottom>
          <a:insideH>
            <a:ln cap="flat" w="12700">
              <a:solidFill>
                <a:srgbClr val="FFFFFF"/>
              </a:solidFill>
              <a:prstDash val="solid"/>
              <a:round/>
            </a:ln>
          </a:insideH>
          <a:insideV>
            <a:ln cap="flat" w="12700">
              <a:solidFill>
                <a:srgbClr val="FFFFFF"/>
              </a:solidFill>
              <a:prstDash val="solid"/>
              <a:round/>
            </a:ln>
          </a:insideV>
        </a:tcBdr>
        <a:fill>
          <a:solidFill>
            <a:srgbClr val="E7F3F4"/>
          </a:solidFill>
        </a:fill>
      </a:tcStyle>
    </a:wholeTbl>
    <a:band2H>
      <a:tcTxStyle/>
      <a:tcStyle>
        <a:tcBdr/>
        <a:fill>
          <a:solidFill>
            <a:srgbClr val="F3F9FA"/>
          </a:solidFill>
        </a:fill>
      </a:tcStyle>
    </a:band2H>
    <a:firstCol>
      <a:tcTxStyle b="on" i="off">
        <a:fontRef idx="major">
          <a:srgbClr val="FFFFFF"/>
        </a:fontRef>
        <a:srgbClr val="FFFFFF"/>
      </a:tcTxStyle>
      <a:tcStyle>
        <a:tcBdr>
          <a:left>
            <a:ln cap="flat" w="12700">
              <a:solidFill>
                <a:srgbClr val="FFFFFF"/>
              </a:solidFill>
              <a:prstDash val="solid"/>
              <a:round/>
            </a:ln>
          </a:left>
          <a:right>
            <a:ln cap="flat" w="12700">
              <a:solidFill>
                <a:srgbClr val="FFFFFF"/>
              </a:solidFill>
              <a:prstDash val="solid"/>
              <a:round/>
            </a:ln>
          </a:right>
          <a:top>
            <a:ln cap="flat" w="12700">
              <a:solidFill>
                <a:srgbClr val="FFFFFF"/>
              </a:solidFill>
              <a:prstDash val="solid"/>
              <a:round/>
            </a:ln>
          </a:top>
          <a:bottom>
            <a:ln cap="flat" w="12700">
              <a:solidFill>
                <a:srgbClr val="FFFFFF"/>
              </a:solidFill>
              <a:prstDash val="solid"/>
              <a:round/>
            </a:ln>
          </a:bottom>
          <a:insideH>
            <a:ln cap="flat" w="12700">
              <a:solidFill>
                <a:srgbClr val="FFFFFF"/>
              </a:solidFill>
              <a:prstDash val="solid"/>
              <a:round/>
            </a:ln>
          </a:insideH>
          <a:insideV>
            <a:ln cap="flat" w="12700">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cap="flat" w="12700">
              <a:solidFill>
                <a:srgbClr val="FFFFFF"/>
              </a:solidFill>
              <a:prstDash val="solid"/>
              <a:round/>
            </a:ln>
          </a:left>
          <a:right>
            <a:ln cap="flat" w="12700">
              <a:solidFill>
                <a:srgbClr val="FFFFFF"/>
              </a:solidFill>
              <a:prstDash val="solid"/>
              <a:round/>
            </a:ln>
          </a:right>
          <a:top>
            <a:ln cap="flat" w="38100">
              <a:solidFill>
                <a:srgbClr val="FFFFFF"/>
              </a:solidFill>
              <a:prstDash val="solid"/>
              <a:round/>
            </a:ln>
          </a:top>
          <a:bottom>
            <a:ln cap="flat" w="12700">
              <a:solidFill>
                <a:srgbClr val="FFFFFF"/>
              </a:solidFill>
              <a:prstDash val="solid"/>
              <a:round/>
            </a:ln>
          </a:bottom>
          <a:insideH>
            <a:ln cap="flat" w="12700">
              <a:solidFill>
                <a:srgbClr val="FFFFFF"/>
              </a:solidFill>
              <a:prstDash val="solid"/>
              <a:round/>
            </a:ln>
          </a:insideH>
          <a:insideV>
            <a:ln cap="flat" w="12700">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cap="flat" w="12700">
              <a:solidFill>
                <a:srgbClr val="FFFFFF"/>
              </a:solidFill>
              <a:prstDash val="solid"/>
              <a:round/>
            </a:ln>
          </a:left>
          <a:right>
            <a:ln cap="flat" w="12700">
              <a:solidFill>
                <a:srgbClr val="FFFFFF"/>
              </a:solidFill>
              <a:prstDash val="solid"/>
              <a:round/>
            </a:ln>
          </a:right>
          <a:top>
            <a:ln cap="flat" w="12700">
              <a:solidFill>
                <a:srgbClr val="FFFFFF"/>
              </a:solidFill>
              <a:prstDash val="solid"/>
              <a:round/>
            </a:ln>
          </a:top>
          <a:bottom>
            <a:ln cap="flat" w="38100">
              <a:solidFill>
                <a:srgbClr val="FFFFFF"/>
              </a:solidFill>
              <a:prstDash val="solid"/>
              <a:round/>
            </a:ln>
          </a:bottom>
          <a:insideH>
            <a:ln cap="flat" w="12700">
              <a:solidFill>
                <a:srgbClr val="FFFFFF"/>
              </a:solidFill>
              <a:prstDash val="solid"/>
              <a:round/>
            </a:ln>
          </a:insideH>
          <a:insideV>
            <a:ln cap="flat" w="12700">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cap="flat" w="12700">
              <a:solidFill>
                <a:srgbClr val="FFFFFF"/>
              </a:solidFill>
              <a:prstDash val="solid"/>
              <a:round/>
            </a:ln>
          </a:left>
          <a:right>
            <a:ln cap="flat" w="12700">
              <a:solidFill>
                <a:srgbClr val="FFFFFF"/>
              </a:solidFill>
              <a:prstDash val="solid"/>
              <a:round/>
            </a:ln>
          </a:right>
          <a:top>
            <a:ln cap="flat" w="12700">
              <a:solidFill>
                <a:srgbClr val="FFFFFF"/>
              </a:solidFill>
              <a:prstDash val="solid"/>
              <a:round/>
            </a:ln>
          </a:top>
          <a:bottom>
            <a:ln cap="flat" w="12700">
              <a:solidFill>
                <a:srgbClr val="FFFFFF"/>
              </a:solidFill>
              <a:prstDash val="solid"/>
              <a:round/>
            </a:ln>
          </a:bottom>
          <a:insideH>
            <a:ln cap="flat" w="12700">
              <a:solidFill>
                <a:srgbClr val="FFFFFF"/>
              </a:solidFill>
              <a:prstDash val="solid"/>
              <a:round/>
            </a:ln>
          </a:insideH>
          <a:insideV>
            <a:ln cap="flat" w="12700">
              <a:solidFill>
                <a:srgbClr val="FFFFFF"/>
              </a:solidFill>
              <a:prstDash val="solid"/>
              <a:round/>
            </a:ln>
          </a:insideV>
        </a:tcBdr>
        <a:fill>
          <a:solidFill>
            <a:srgbClr val="DBDBDB"/>
          </a:solidFill>
        </a:fill>
      </a:tcStyle>
    </a:wholeTbl>
    <a:band2H>
      <a:tcTxStyle/>
      <a:tcStyle>
        <a:tcBdr/>
        <a:fill>
          <a:solidFill>
            <a:srgbClr val="EEEEEE"/>
          </a:solidFill>
        </a:fill>
      </a:tcStyle>
    </a:band2H>
    <a:firstCol>
      <a:tcTxStyle b="on" i="off">
        <a:fontRef idx="major">
          <a:srgbClr val="FFFFFF"/>
        </a:fontRef>
        <a:srgbClr val="FFFFFF"/>
      </a:tcTxStyle>
      <a:tcStyle>
        <a:tcBdr>
          <a:left>
            <a:ln cap="flat" w="12700">
              <a:solidFill>
                <a:srgbClr val="FFFFFF"/>
              </a:solidFill>
              <a:prstDash val="solid"/>
              <a:round/>
            </a:ln>
          </a:left>
          <a:right>
            <a:ln cap="flat" w="12700">
              <a:solidFill>
                <a:srgbClr val="FFFFFF"/>
              </a:solidFill>
              <a:prstDash val="solid"/>
              <a:round/>
            </a:ln>
          </a:right>
          <a:top>
            <a:ln cap="flat" w="12700">
              <a:solidFill>
                <a:srgbClr val="FFFFFF"/>
              </a:solidFill>
              <a:prstDash val="solid"/>
              <a:round/>
            </a:ln>
          </a:top>
          <a:bottom>
            <a:ln cap="flat" w="12700">
              <a:solidFill>
                <a:srgbClr val="FFFFFF"/>
              </a:solidFill>
              <a:prstDash val="solid"/>
              <a:round/>
            </a:ln>
          </a:bottom>
          <a:insideH>
            <a:ln cap="flat" w="12700">
              <a:solidFill>
                <a:srgbClr val="FFFFFF"/>
              </a:solidFill>
              <a:prstDash val="solid"/>
              <a:round/>
            </a:ln>
          </a:insideH>
          <a:insideV>
            <a:ln cap="flat" w="12700">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cap="flat" w="12700">
              <a:solidFill>
                <a:srgbClr val="FFFFFF"/>
              </a:solidFill>
              <a:prstDash val="solid"/>
              <a:round/>
            </a:ln>
          </a:left>
          <a:right>
            <a:ln cap="flat" w="12700">
              <a:solidFill>
                <a:srgbClr val="FFFFFF"/>
              </a:solidFill>
              <a:prstDash val="solid"/>
              <a:round/>
            </a:ln>
          </a:right>
          <a:top>
            <a:ln cap="flat" w="38100">
              <a:solidFill>
                <a:srgbClr val="FFFFFF"/>
              </a:solidFill>
              <a:prstDash val="solid"/>
              <a:round/>
            </a:ln>
          </a:top>
          <a:bottom>
            <a:ln cap="flat" w="12700">
              <a:solidFill>
                <a:srgbClr val="FFFFFF"/>
              </a:solidFill>
              <a:prstDash val="solid"/>
              <a:round/>
            </a:ln>
          </a:bottom>
          <a:insideH>
            <a:ln cap="flat" w="12700">
              <a:solidFill>
                <a:srgbClr val="FFFFFF"/>
              </a:solidFill>
              <a:prstDash val="solid"/>
              <a:round/>
            </a:ln>
          </a:insideH>
          <a:insideV>
            <a:ln cap="flat" w="12700">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cap="flat" w="12700">
              <a:solidFill>
                <a:srgbClr val="FFFFFF"/>
              </a:solidFill>
              <a:prstDash val="solid"/>
              <a:round/>
            </a:ln>
          </a:left>
          <a:right>
            <a:ln cap="flat" w="12700">
              <a:solidFill>
                <a:srgbClr val="FFFFFF"/>
              </a:solidFill>
              <a:prstDash val="solid"/>
              <a:round/>
            </a:ln>
          </a:right>
          <a:top>
            <a:ln cap="flat" w="12700">
              <a:solidFill>
                <a:srgbClr val="FFFFFF"/>
              </a:solidFill>
              <a:prstDash val="solid"/>
              <a:round/>
            </a:ln>
          </a:top>
          <a:bottom>
            <a:ln cap="flat" w="38100">
              <a:solidFill>
                <a:srgbClr val="FFFFFF"/>
              </a:solidFill>
              <a:prstDash val="solid"/>
              <a:round/>
            </a:ln>
          </a:bottom>
          <a:insideH>
            <a:ln cap="flat" w="12700">
              <a:solidFill>
                <a:srgbClr val="FFFFFF"/>
              </a:solidFill>
              <a:prstDash val="solid"/>
              <a:round/>
            </a:ln>
          </a:insideH>
          <a:insideV>
            <a:ln cap="flat" w="12700">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cap="flat" w="12700">
              <a:solidFill>
                <a:srgbClr val="FFFFFF"/>
              </a:solidFill>
              <a:prstDash val="solid"/>
              <a:round/>
            </a:ln>
          </a:left>
          <a:right>
            <a:ln cap="flat" w="12700">
              <a:solidFill>
                <a:srgbClr val="FFFFFF"/>
              </a:solidFill>
              <a:prstDash val="solid"/>
              <a:round/>
            </a:ln>
          </a:right>
          <a:top>
            <a:ln cap="flat" w="12700">
              <a:solidFill>
                <a:srgbClr val="FFFFFF"/>
              </a:solidFill>
              <a:prstDash val="solid"/>
              <a:round/>
            </a:ln>
          </a:top>
          <a:bottom>
            <a:ln cap="flat" w="12700">
              <a:solidFill>
                <a:srgbClr val="FFFFFF"/>
              </a:solidFill>
              <a:prstDash val="solid"/>
              <a:round/>
            </a:ln>
          </a:bottom>
          <a:insideH>
            <a:ln cap="flat" w="12700">
              <a:solidFill>
                <a:srgbClr val="FFFFFF"/>
              </a:solidFill>
              <a:prstDash val="solid"/>
              <a:round/>
            </a:ln>
          </a:insideH>
          <a:insideV>
            <a:ln cap="flat" w="12700">
              <a:solidFill>
                <a:srgbClr val="FFFFFF"/>
              </a:solidFill>
              <a:prstDash val="solid"/>
              <a:round/>
            </a:ln>
          </a:insideV>
        </a:tcBdr>
        <a:fill>
          <a:solidFill>
            <a:srgbClr val="CCCCD9"/>
          </a:solidFill>
        </a:fill>
      </a:tcStyle>
    </a:wholeTbl>
    <a:band2H>
      <a:tcTxStyle/>
      <a:tcStyle>
        <a:tcBdr/>
        <a:fill>
          <a:solidFill>
            <a:srgbClr val="E7E7ED"/>
          </a:solidFill>
        </a:fill>
      </a:tcStyle>
    </a:band2H>
    <a:firstCol>
      <a:tcTxStyle b="on" i="off">
        <a:fontRef idx="major">
          <a:srgbClr val="FFFFFF"/>
        </a:fontRef>
        <a:srgbClr val="FFFFFF"/>
      </a:tcTxStyle>
      <a:tcStyle>
        <a:tcBdr>
          <a:left>
            <a:ln cap="flat" w="12700">
              <a:solidFill>
                <a:srgbClr val="FFFFFF"/>
              </a:solidFill>
              <a:prstDash val="solid"/>
              <a:round/>
            </a:ln>
          </a:left>
          <a:right>
            <a:ln cap="flat" w="12700">
              <a:solidFill>
                <a:srgbClr val="FFFFFF"/>
              </a:solidFill>
              <a:prstDash val="solid"/>
              <a:round/>
            </a:ln>
          </a:right>
          <a:top>
            <a:ln cap="flat" w="12700">
              <a:solidFill>
                <a:srgbClr val="FFFFFF"/>
              </a:solidFill>
              <a:prstDash val="solid"/>
              <a:round/>
            </a:ln>
          </a:top>
          <a:bottom>
            <a:ln cap="flat" w="12700">
              <a:solidFill>
                <a:srgbClr val="FFFFFF"/>
              </a:solidFill>
              <a:prstDash val="solid"/>
              <a:round/>
            </a:ln>
          </a:bottom>
          <a:insideH>
            <a:ln cap="flat" w="12700">
              <a:solidFill>
                <a:srgbClr val="FFFFFF"/>
              </a:solidFill>
              <a:prstDash val="solid"/>
              <a:round/>
            </a:ln>
          </a:insideH>
          <a:insideV>
            <a:ln cap="flat" w="12700">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cap="flat" w="12700">
              <a:solidFill>
                <a:srgbClr val="FFFFFF"/>
              </a:solidFill>
              <a:prstDash val="solid"/>
              <a:round/>
            </a:ln>
          </a:left>
          <a:right>
            <a:ln cap="flat" w="12700">
              <a:solidFill>
                <a:srgbClr val="FFFFFF"/>
              </a:solidFill>
              <a:prstDash val="solid"/>
              <a:round/>
            </a:ln>
          </a:right>
          <a:top>
            <a:ln cap="flat" w="38100">
              <a:solidFill>
                <a:srgbClr val="FFFFFF"/>
              </a:solidFill>
              <a:prstDash val="solid"/>
              <a:round/>
            </a:ln>
          </a:top>
          <a:bottom>
            <a:ln cap="flat" w="12700">
              <a:solidFill>
                <a:srgbClr val="FFFFFF"/>
              </a:solidFill>
              <a:prstDash val="solid"/>
              <a:round/>
            </a:ln>
          </a:bottom>
          <a:insideH>
            <a:ln cap="flat" w="12700">
              <a:solidFill>
                <a:srgbClr val="FFFFFF"/>
              </a:solidFill>
              <a:prstDash val="solid"/>
              <a:round/>
            </a:ln>
          </a:insideH>
          <a:insideV>
            <a:ln cap="flat" w="12700">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cap="flat" w="12700">
              <a:solidFill>
                <a:srgbClr val="FFFFFF"/>
              </a:solidFill>
              <a:prstDash val="solid"/>
              <a:round/>
            </a:ln>
          </a:left>
          <a:right>
            <a:ln cap="flat" w="12700">
              <a:solidFill>
                <a:srgbClr val="FFFFFF"/>
              </a:solidFill>
              <a:prstDash val="solid"/>
              <a:round/>
            </a:ln>
          </a:right>
          <a:top>
            <a:ln cap="flat" w="12700">
              <a:solidFill>
                <a:srgbClr val="FFFFFF"/>
              </a:solidFill>
              <a:prstDash val="solid"/>
              <a:round/>
            </a:ln>
          </a:top>
          <a:bottom>
            <a:ln cap="flat" w="38100">
              <a:solidFill>
                <a:srgbClr val="FFFFFF"/>
              </a:solidFill>
              <a:prstDash val="solid"/>
              <a:round/>
            </a:ln>
          </a:bottom>
          <a:insideH>
            <a:ln cap="flat" w="12700">
              <a:solidFill>
                <a:srgbClr val="FFFFFF"/>
              </a:solidFill>
              <a:prstDash val="solid"/>
              <a:round/>
            </a:ln>
          </a:insideH>
          <a:insideV>
            <a:ln cap="flat" w="12700">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cap="flat" w="12700">
              <a:noFill/>
              <a:miter lim="400000"/>
            </a:ln>
          </a:left>
          <a:right>
            <a:ln cap="flat" w="12700">
              <a:noFill/>
              <a:miter lim="400000"/>
            </a:ln>
          </a:right>
          <a:top>
            <a:ln cap="flat" w="12700">
              <a:noFill/>
              <a:miter lim="400000"/>
            </a:ln>
          </a:top>
          <a:bottom>
            <a:ln cap="flat" w="12700">
              <a:noFill/>
              <a:miter lim="400000"/>
            </a:ln>
          </a:bottom>
          <a:insideH>
            <a:ln cap="flat" w="12700">
              <a:noFill/>
              <a:miter lim="400000"/>
            </a:ln>
          </a:insideH>
          <a:insideV>
            <a:ln cap="flat" w="12700">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cap="flat" w="12700">
              <a:noFill/>
              <a:miter lim="400000"/>
            </a:ln>
          </a:left>
          <a:right>
            <a:ln cap="flat" w="12700">
              <a:noFill/>
              <a:miter lim="400000"/>
            </a:ln>
          </a:right>
          <a:top>
            <a:ln cap="flat" w="12700">
              <a:noFill/>
              <a:miter lim="400000"/>
            </a:ln>
          </a:top>
          <a:bottom>
            <a:ln cap="flat" w="12700">
              <a:noFill/>
              <a:miter lim="400000"/>
            </a:ln>
          </a:bottom>
          <a:insideH>
            <a:ln cap="flat" w="12700">
              <a:noFill/>
              <a:miter lim="400000"/>
            </a:ln>
          </a:insideH>
          <a:insideV>
            <a:ln cap="flat" w="12700">
              <a:noFill/>
              <a:miter lim="400000"/>
            </a:ln>
          </a:insideV>
        </a:tcBdr>
        <a:fill>
          <a:solidFill>
            <a:schemeClr val="accent1"/>
          </a:solidFill>
        </a:fill>
      </a:tcStyle>
    </a:firstCol>
    <a:lastRow>
      <a:tcTxStyle b="on" i="off">
        <a:fontRef idx="major">
          <a:srgbClr val="000000"/>
        </a:fontRef>
        <a:srgbClr val="000000"/>
      </a:tcTxStyle>
      <a:tcStyle>
        <a:tcBdr>
          <a:left>
            <a:ln cap="flat" w="12700">
              <a:noFill/>
              <a:miter lim="400000"/>
            </a:ln>
          </a:left>
          <a:right>
            <a:ln cap="flat" w="12700">
              <a:noFill/>
              <a:miter lim="400000"/>
            </a:ln>
          </a:right>
          <a:top>
            <a:ln cap="flat" w="50800">
              <a:solidFill>
                <a:srgbClr val="000000"/>
              </a:solidFill>
              <a:prstDash val="solid"/>
              <a:round/>
            </a:ln>
          </a:top>
          <a:bottom>
            <a:ln cap="flat" w="25400">
              <a:solidFill>
                <a:srgbClr val="000000"/>
              </a:solidFill>
              <a:prstDash val="solid"/>
              <a:round/>
            </a:ln>
          </a:bottom>
          <a:insideH>
            <a:ln cap="flat" w="12700">
              <a:noFill/>
              <a:miter lim="400000"/>
            </a:ln>
          </a:insideH>
          <a:insideV>
            <a:ln cap="flat" w="12700">
              <a:noFill/>
              <a:miter lim="400000"/>
            </a:ln>
          </a:insideV>
        </a:tcBdr>
        <a:fill>
          <a:solidFill>
            <a:srgbClr val="FFFFFF"/>
          </a:solidFill>
        </a:fill>
      </a:tcStyle>
    </a:lastRow>
    <a:firstRow>
      <a:tcTxStyle b="on" i="off">
        <a:fontRef idx="major">
          <a:srgbClr val="FFFFFF"/>
        </a:fontRef>
        <a:srgbClr val="FFFFFF"/>
      </a:tcTxStyle>
      <a:tcStyle>
        <a:tcBdr>
          <a:left>
            <a:ln cap="flat" w="12700">
              <a:noFill/>
              <a:miter lim="400000"/>
            </a:ln>
          </a:left>
          <a:right>
            <a:ln cap="flat" w="12700">
              <a:noFill/>
              <a:miter lim="400000"/>
            </a:ln>
          </a:right>
          <a:top>
            <a:ln cap="flat" w="25400">
              <a:solidFill>
                <a:srgbClr val="000000"/>
              </a:solidFill>
              <a:prstDash val="solid"/>
              <a:round/>
            </a:ln>
          </a:top>
          <a:bottom>
            <a:ln cap="flat" w="25400">
              <a:solidFill>
                <a:srgbClr val="000000"/>
              </a:solidFill>
              <a:prstDash val="solid"/>
              <a:round/>
            </a:ln>
          </a:bottom>
          <a:insideH>
            <a:ln cap="flat" w="12700">
              <a:noFill/>
              <a:miter lim="400000"/>
            </a:ln>
          </a:insideH>
          <a:insideV>
            <a:ln cap="flat" w="12700">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cap="flat" w="12700">
              <a:solidFill>
                <a:srgbClr val="FFFFFF"/>
              </a:solidFill>
              <a:prstDash val="solid"/>
              <a:round/>
            </a:ln>
          </a:left>
          <a:right>
            <a:ln cap="flat" w="12700">
              <a:solidFill>
                <a:srgbClr val="FFFFFF"/>
              </a:solidFill>
              <a:prstDash val="solid"/>
              <a:round/>
            </a:ln>
          </a:right>
          <a:top>
            <a:ln cap="flat" w="12700">
              <a:solidFill>
                <a:srgbClr val="FFFFFF"/>
              </a:solidFill>
              <a:prstDash val="solid"/>
              <a:round/>
            </a:ln>
          </a:top>
          <a:bottom>
            <a:ln cap="flat" w="12700">
              <a:solidFill>
                <a:srgbClr val="FFFFFF"/>
              </a:solidFill>
              <a:prstDash val="solid"/>
              <a:round/>
            </a:ln>
          </a:bottom>
          <a:insideH>
            <a:ln cap="flat" w="12700">
              <a:solidFill>
                <a:srgbClr val="FFFFFF"/>
              </a:solidFill>
              <a:prstDash val="solid"/>
              <a:round/>
            </a:ln>
          </a:insideH>
          <a:insideV>
            <a:ln cap="flat" w="12700">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cap="flat" w="12700">
              <a:solidFill>
                <a:srgbClr val="FFFFFF"/>
              </a:solidFill>
              <a:prstDash val="solid"/>
              <a:round/>
            </a:ln>
          </a:left>
          <a:right>
            <a:ln cap="flat" w="12700">
              <a:solidFill>
                <a:srgbClr val="FFFFFF"/>
              </a:solidFill>
              <a:prstDash val="solid"/>
              <a:round/>
            </a:ln>
          </a:right>
          <a:top>
            <a:ln cap="flat" w="12700">
              <a:solidFill>
                <a:srgbClr val="FFFFFF"/>
              </a:solidFill>
              <a:prstDash val="solid"/>
              <a:round/>
            </a:ln>
          </a:top>
          <a:bottom>
            <a:ln cap="flat" w="12700">
              <a:solidFill>
                <a:srgbClr val="FFFFFF"/>
              </a:solidFill>
              <a:prstDash val="solid"/>
              <a:round/>
            </a:ln>
          </a:bottom>
          <a:insideH>
            <a:ln cap="flat" w="12700">
              <a:solidFill>
                <a:srgbClr val="FFFFFF"/>
              </a:solidFill>
              <a:prstDash val="solid"/>
              <a:round/>
            </a:ln>
          </a:insideH>
          <a:insideV>
            <a:ln cap="flat" w="12700">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cap="flat" w="12700">
              <a:solidFill>
                <a:srgbClr val="FFFFFF"/>
              </a:solidFill>
              <a:prstDash val="solid"/>
              <a:round/>
            </a:ln>
          </a:left>
          <a:right>
            <a:ln cap="flat" w="12700">
              <a:solidFill>
                <a:srgbClr val="FFFFFF"/>
              </a:solidFill>
              <a:prstDash val="solid"/>
              <a:round/>
            </a:ln>
          </a:right>
          <a:top>
            <a:ln cap="flat" w="38100">
              <a:solidFill>
                <a:srgbClr val="FFFFFF"/>
              </a:solidFill>
              <a:prstDash val="solid"/>
              <a:round/>
            </a:ln>
          </a:top>
          <a:bottom>
            <a:ln cap="flat" w="12700">
              <a:solidFill>
                <a:srgbClr val="FFFFFF"/>
              </a:solidFill>
              <a:prstDash val="solid"/>
              <a:round/>
            </a:ln>
          </a:bottom>
          <a:insideH>
            <a:ln cap="flat" w="12700">
              <a:solidFill>
                <a:srgbClr val="FFFFFF"/>
              </a:solidFill>
              <a:prstDash val="solid"/>
              <a:round/>
            </a:ln>
          </a:insideH>
          <a:insideV>
            <a:ln cap="flat" w="12700">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cap="flat" w="12700">
              <a:solidFill>
                <a:srgbClr val="FFFFFF"/>
              </a:solidFill>
              <a:prstDash val="solid"/>
              <a:round/>
            </a:ln>
          </a:left>
          <a:right>
            <a:ln cap="flat" w="12700">
              <a:solidFill>
                <a:srgbClr val="FFFFFF"/>
              </a:solidFill>
              <a:prstDash val="solid"/>
              <a:round/>
            </a:ln>
          </a:right>
          <a:top>
            <a:ln cap="flat" w="12700">
              <a:solidFill>
                <a:srgbClr val="FFFFFF"/>
              </a:solidFill>
              <a:prstDash val="solid"/>
              <a:round/>
            </a:ln>
          </a:top>
          <a:bottom>
            <a:ln cap="flat" w="38100">
              <a:solidFill>
                <a:srgbClr val="FFFFFF"/>
              </a:solidFill>
              <a:prstDash val="solid"/>
              <a:round/>
            </a:ln>
          </a:bottom>
          <a:insideH>
            <a:ln cap="flat" w="12700">
              <a:solidFill>
                <a:srgbClr val="FFFFFF"/>
              </a:solidFill>
              <a:prstDash val="solid"/>
              <a:round/>
            </a:ln>
          </a:insideH>
          <a:insideV>
            <a:ln cap="flat" w="12700">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cap="flat" w="12700">
              <a:solidFill>
                <a:srgbClr val="000000"/>
              </a:solidFill>
              <a:prstDash val="solid"/>
              <a:round/>
            </a:ln>
          </a:left>
          <a:right>
            <a:ln cap="flat" w="12700">
              <a:solidFill>
                <a:srgbClr val="000000"/>
              </a:solidFill>
              <a:prstDash val="solid"/>
              <a:round/>
            </a:ln>
          </a:right>
          <a:top>
            <a:ln cap="flat" w="12700">
              <a:solidFill>
                <a:srgbClr val="000000"/>
              </a:solidFill>
              <a:prstDash val="solid"/>
              <a:round/>
            </a:ln>
          </a:top>
          <a:bottom>
            <a:ln cap="flat" w="12700">
              <a:solidFill>
                <a:srgbClr val="000000"/>
              </a:solidFill>
              <a:prstDash val="solid"/>
              <a:round/>
            </a:ln>
          </a:bottom>
          <a:insideH>
            <a:ln cap="flat" w="12700">
              <a:solidFill>
                <a:srgbClr val="000000"/>
              </a:solidFill>
              <a:prstDash val="solid"/>
              <a:round/>
            </a:ln>
          </a:insideH>
          <a:insideV>
            <a:ln cap="flat" w="12700">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cap="flat" w="12700">
              <a:solidFill>
                <a:srgbClr val="000000"/>
              </a:solidFill>
              <a:prstDash val="solid"/>
              <a:round/>
            </a:ln>
          </a:left>
          <a:right>
            <a:ln cap="flat" w="12700">
              <a:solidFill>
                <a:srgbClr val="000000"/>
              </a:solidFill>
              <a:prstDash val="solid"/>
              <a:round/>
            </a:ln>
          </a:right>
          <a:top>
            <a:ln cap="flat" w="12700">
              <a:solidFill>
                <a:srgbClr val="000000"/>
              </a:solidFill>
              <a:prstDash val="solid"/>
              <a:round/>
            </a:ln>
          </a:top>
          <a:bottom>
            <a:ln cap="flat" w="12700">
              <a:solidFill>
                <a:srgbClr val="000000"/>
              </a:solidFill>
              <a:prstDash val="solid"/>
              <a:round/>
            </a:ln>
          </a:bottom>
          <a:insideH>
            <a:ln cap="flat" w="12700">
              <a:solidFill>
                <a:srgbClr val="000000"/>
              </a:solidFill>
              <a:prstDash val="solid"/>
              <a:round/>
            </a:ln>
          </a:insideH>
          <a:insideV>
            <a:ln cap="flat" w="12700">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cap="flat" w="12700">
              <a:solidFill>
                <a:srgbClr val="000000"/>
              </a:solidFill>
              <a:prstDash val="solid"/>
              <a:round/>
            </a:ln>
          </a:left>
          <a:right>
            <a:ln cap="flat" w="12700">
              <a:solidFill>
                <a:srgbClr val="000000"/>
              </a:solidFill>
              <a:prstDash val="solid"/>
              <a:round/>
            </a:ln>
          </a:right>
          <a:top>
            <a:ln cap="flat" w="50800">
              <a:solidFill>
                <a:srgbClr val="000000"/>
              </a:solidFill>
              <a:prstDash val="solid"/>
              <a:round/>
            </a:ln>
          </a:top>
          <a:bottom>
            <a:ln cap="flat" w="12700">
              <a:solidFill>
                <a:srgbClr val="000000"/>
              </a:solidFill>
              <a:prstDash val="solid"/>
              <a:round/>
            </a:ln>
          </a:bottom>
          <a:insideH>
            <a:ln cap="flat" w="12700">
              <a:solidFill>
                <a:srgbClr val="000000"/>
              </a:solidFill>
              <a:prstDash val="solid"/>
              <a:round/>
            </a:ln>
          </a:insideH>
          <a:insideV>
            <a:ln cap="flat" w="12700">
              <a:solidFill>
                <a:srgbClr val="000000"/>
              </a:solidFill>
              <a:prstDash val="solid"/>
              <a:round/>
            </a:ln>
          </a:insideV>
        </a:tcBdr>
        <a:fill>
          <a:noFill/>
        </a:fill>
      </a:tcStyle>
    </a:lastRow>
    <a:firstRow>
      <a:tcTxStyle b="on" i="off">
        <a:fontRef idx="major">
          <a:srgbClr val="000000"/>
        </a:fontRef>
        <a:srgbClr val="000000"/>
      </a:tcTxStyle>
      <a:tcStyle>
        <a:tcBdr>
          <a:left>
            <a:ln cap="flat" w="12700">
              <a:solidFill>
                <a:srgbClr val="000000"/>
              </a:solidFill>
              <a:prstDash val="solid"/>
              <a:round/>
            </a:ln>
          </a:left>
          <a:right>
            <a:ln cap="flat" w="12700">
              <a:solidFill>
                <a:srgbClr val="000000"/>
              </a:solidFill>
              <a:prstDash val="solid"/>
              <a:round/>
            </a:ln>
          </a:right>
          <a:top>
            <a:ln cap="flat" w="12700">
              <a:solidFill>
                <a:srgbClr val="000000"/>
              </a:solidFill>
              <a:prstDash val="solid"/>
              <a:round/>
            </a:ln>
          </a:top>
          <a:bottom>
            <a:ln cap="flat" w="25400">
              <a:solidFill>
                <a:srgbClr val="000000"/>
              </a:solidFill>
              <a:prstDash val="solid"/>
              <a:round/>
            </a:ln>
          </a:bottom>
          <a:insideH>
            <a:ln cap="flat" w="12700">
              <a:solidFill>
                <a:srgbClr val="000000"/>
              </a:solidFill>
              <a:prstDash val="solid"/>
              <a:round/>
            </a:ln>
          </a:insideH>
          <a:insideV>
            <a:ln cap="flat" w="12700">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d="100" n="85"/>
          <a:sy d="100" n="85"/>
        </p:scale>
        <p:origin x="1152" y="96"/>
      </p:cViewPr>
      <p:guideLst/>
    </p:cSldViewPr>
  </p:slideViewPr>
  <p:notesTextViewPr>
    <p:cViewPr>
      <p:scale>
        <a:sx d="1" n="1"/>
        <a:sy d="1" n="1"/>
      </p:scale>
      <p:origin x="0" y="0"/>
    </p:cViewPr>
  </p:notesTextViewPr>
  <p:gridSpacing cx="72008" cy="72008"/>
</p:viewPr>
</file>

<file path=ppt/_rels/presentation.xml.rels><?xml version="1.0" encoding="UTF-8" standalone="yes"?><Relationships xmlns="http://schemas.openxmlformats.org/package/2006/relationships"><Relationship Id="rId73" Target="slides/slide67.xml" Type="http://schemas.openxmlformats.org/officeDocument/2006/relationships/slide"/><Relationship Id="rId72" Target="slides/slide66.xml" Type="http://schemas.openxmlformats.org/officeDocument/2006/relationships/slide"/><Relationship Id="rId71" Target="slides/slide65.xml" Type="http://schemas.openxmlformats.org/officeDocument/2006/relationships/slide"/><Relationship Id="rId70" Target="slides/slide64.xml" Type="http://schemas.openxmlformats.org/officeDocument/2006/relationships/slide"/><Relationship Id="rId63" Target="slides/slide57.xml" Type="http://schemas.openxmlformats.org/officeDocument/2006/relationships/slide"/><Relationship Id="rId62" Target="slides/slide56.xml" Type="http://schemas.openxmlformats.org/officeDocument/2006/relationships/slide"/><Relationship Id="rId61" Target="slides/slide55.xml" Type="http://schemas.openxmlformats.org/officeDocument/2006/relationships/slide"/><Relationship Id="rId60" Target="slides/slide54.xml" Type="http://schemas.openxmlformats.org/officeDocument/2006/relationships/slide"/><Relationship Id="rId53" Target="slides/slide47.xml" Type="http://schemas.openxmlformats.org/officeDocument/2006/relationships/slide"/><Relationship Id="rId52" Target="slides/slide46.xml" Type="http://schemas.openxmlformats.org/officeDocument/2006/relationships/slide"/><Relationship Id="rId51" Target="slides/slide45.xml" Type="http://schemas.openxmlformats.org/officeDocument/2006/relationships/slide"/><Relationship Id="rId50" Target="slides/slide44.xml" Type="http://schemas.openxmlformats.org/officeDocument/2006/relationships/slide"/><Relationship Id="rId5" Target="slideMasters/slideMaster1.xml" Type="http://schemas.openxmlformats.org/officeDocument/2006/relationships/slideMaster"/><Relationship Id="rId39" Target="slides/slide33.xml" Type="http://schemas.openxmlformats.org/officeDocument/2006/relationships/slide"/><Relationship Id="rId4" Target="tableStyles.xml" Type="http://schemas.openxmlformats.org/officeDocument/2006/relationships/tableStyles"/><Relationship Id="rId38" Target="slides/slide32.xml" Type="http://schemas.openxmlformats.org/officeDocument/2006/relationships/slide"/><Relationship Id="rId3" Target="presProps.xml" Type="http://schemas.openxmlformats.org/officeDocument/2006/relationships/presProps"/><Relationship Id="rId37" Target="slides/slide31.xml" Type="http://schemas.openxmlformats.org/officeDocument/2006/relationships/slide"/><Relationship Id="rId2" Target="viewProps.xml" Type="http://schemas.openxmlformats.org/officeDocument/2006/relationships/viewProps"/><Relationship Id="rId36" Target="slides/slide30.xml" Type="http://schemas.openxmlformats.org/officeDocument/2006/relationships/slide"/><Relationship Id="rId69" Target="slides/slide63.xml" Type="http://schemas.openxmlformats.org/officeDocument/2006/relationships/slide"/><Relationship Id="rId1" Target="theme/theme1.xml" Type="http://schemas.openxmlformats.org/officeDocument/2006/relationships/theme"/><Relationship Id="rId35" Target="slides/slide29.xml" Type="http://schemas.openxmlformats.org/officeDocument/2006/relationships/slide"/><Relationship Id="rId68" Target="slides/slide62.xml" Type="http://schemas.openxmlformats.org/officeDocument/2006/relationships/slide"/><Relationship Id="rId34" Target="slides/slide28.xml" Type="http://schemas.openxmlformats.org/officeDocument/2006/relationships/slide"/><Relationship Id="rId67" Target="slides/slide61.xml" Type="http://schemas.openxmlformats.org/officeDocument/2006/relationships/slide"/><Relationship Id="rId33" Target="slides/slide27.xml" Type="http://schemas.openxmlformats.org/officeDocument/2006/relationships/slide"/><Relationship Id="rId66" Target="slides/slide60.xml" Type="http://schemas.openxmlformats.org/officeDocument/2006/relationships/slide"/><Relationship Id="rId32" Target="slides/slide26.xml" Type="http://schemas.openxmlformats.org/officeDocument/2006/relationships/slide"/><Relationship Id="rId65" Target="slides/slide59.xml" Type="http://schemas.openxmlformats.org/officeDocument/2006/relationships/slide"/><Relationship Id="rId31" Target="slides/slide25.xml" Type="http://schemas.openxmlformats.org/officeDocument/2006/relationships/slide"/><Relationship Id="rId64" Target="slides/slide58.xml" Type="http://schemas.openxmlformats.org/officeDocument/2006/relationships/slide"/><Relationship Id="rId30" Target="slides/slide24.xml" Type="http://schemas.openxmlformats.org/officeDocument/2006/relationships/slide"/><Relationship Id="rId27" Target="slides/slide21.xml" Type="http://schemas.openxmlformats.org/officeDocument/2006/relationships/slide"/><Relationship Id="rId26" Target="slides/slide20.xml" Type="http://schemas.openxmlformats.org/officeDocument/2006/relationships/slide"/><Relationship Id="rId59" Target="slides/slide53.xml" Type="http://schemas.openxmlformats.org/officeDocument/2006/relationships/slide"/><Relationship Id="rId25" Target="slides/slide19.xml" Type="http://schemas.openxmlformats.org/officeDocument/2006/relationships/slide"/><Relationship Id="rId58" Target="slides/slide52.xml" Type="http://schemas.openxmlformats.org/officeDocument/2006/relationships/slide"/><Relationship Id="rId24" Target="slides/slide18.xml" Type="http://schemas.openxmlformats.org/officeDocument/2006/relationships/slide"/><Relationship Id="rId57" Target="slides/slide51.xml" Type="http://schemas.openxmlformats.org/officeDocument/2006/relationships/slide"/><Relationship Id="rId23" Target="slides/slide17.xml" Type="http://schemas.openxmlformats.org/officeDocument/2006/relationships/slide"/><Relationship Id="rId56" Target="slides/slide50.xml" Type="http://schemas.openxmlformats.org/officeDocument/2006/relationships/slide"/><Relationship Id="rId22" Target="slides/slide16.xml" Type="http://schemas.openxmlformats.org/officeDocument/2006/relationships/slide"/><Relationship Id="rId55" Target="slides/slide49.xml" Type="http://schemas.openxmlformats.org/officeDocument/2006/relationships/slide"/><Relationship Id="rId21" Target="slides/slide15.xml" Type="http://schemas.openxmlformats.org/officeDocument/2006/relationships/slide"/><Relationship Id="rId54" Target="slides/slide48.xml" Type="http://schemas.openxmlformats.org/officeDocument/2006/relationships/slide"/><Relationship Id="rId20" Target="slides/slide14.xml" Type="http://schemas.openxmlformats.org/officeDocument/2006/relationships/slide"/><Relationship Id="rId19" Target="slides/slide13.xml" Type="http://schemas.openxmlformats.org/officeDocument/2006/relationships/slide"/><Relationship Id="rId18" Target="slides/slide12.xml" Type="http://schemas.openxmlformats.org/officeDocument/2006/relationships/slide"/><Relationship Id="rId17" Target="slides/slide11.xml" Type="http://schemas.openxmlformats.org/officeDocument/2006/relationships/slide"/><Relationship Id="rId13" Target="slides/slide7.xml" Type="http://schemas.openxmlformats.org/officeDocument/2006/relationships/slide"/><Relationship Id="rId47" Target="slides/slide41.xml" Type="http://schemas.openxmlformats.org/officeDocument/2006/relationships/slide"/><Relationship Id="rId16" Target="slides/slide10.xml" Type="http://schemas.openxmlformats.org/officeDocument/2006/relationships/slide"/><Relationship Id="rId12" Target="slides/slide6.xml" Type="http://schemas.openxmlformats.org/officeDocument/2006/relationships/slide"/><Relationship Id="rId46" Target="slides/slide40.xml" Type="http://schemas.openxmlformats.org/officeDocument/2006/relationships/slide"/><Relationship Id="rId49" Target="slides/slide43.xml" Type="http://schemas.openxmlformats.org/officeDocument/2006/relationships/slide"/><Relationship Id="rId15" Target="slides/slide9.xml" Type="http://schemas.openxmlformats.org/officeDocument/2006/relationships/slide"/><Relationship Id="rId11" Target="slides/slide5.xml" Type="http://schemas.openxmlformats.org/officeDocument/2006/relationships/slide"/><Relationship Id="rId45" Target="slides/slide39.xml" Type="http://schemas.openxmlformats.org/officeDocument/2006/relationships/slide"/><Relationship Id="rId48" Target="slides/slide42.xml" Type="http://schemas.openxmlformats.org/officeDocument/2006/relationships/slide"/><Relationship Id="rId14" Target="slides/slide8.xml" Type="http://schemas.openxmlformats.org/officeDocument/2006/relationships/slide"/><Relationship Id="rId10" Target="slides/slide4.xml" Type="http://schemas.openxmlformats.org/officeDocument/2006/relationships/slide"/><Relationship Id="rId44" Target="slides/slide38.xml" Type="http://schemas.openxmlformats.org/officeDocument/2006/relationships/slide"/><Relationship Id="rId43" Target="slides/slide37.xml" Type="http://schemas.openxmlformats.org/officeDocument/2006/relationships/slide"/><Relationship Id="rId42" Target="slides/slide36.xml" Type="http://schemas.openxmlformats.org/officeDocument/2006/relationships/slide"/><Relationship Id="rId41" Target="slides/slide35.xml" Type="http://schemas.openxmlformats.org/officeDocument/2006/relationships/slide"/><Relationship Id="rId9" Target="slides/slide3.xml" Type="http://schemas.openxmlformats.org/officeDocument/2006/relationships/slide"/><Relationship Id="rId40" Target="slides/slide34.xml" Type="http://schemas.openxmlformats.org/officeDocument/2006/relationships/slide"/><Relationship Id="rId8" Target="slides/slide2.xml" Type="http://schemas.openxmlformats.org/officeDocument/2006/relationships/slide"/><Relationship Id="rId7" Target="slides/slide1.xml" Type="http://schemas.openxmlformats.org/officeDocument/2006/relationships/slide"/><Relationship Id="rId6" Target="notesMasters/notesMaster1.xml" Type="http://schemas.openxmlformats.org/officeDocument/2006/relationships/notesMaster"/><Relationship Id="rId29" Target="slides/slide23.xml" Type="http://schemas.openxmlformats.org/officeDocument/2006/relationships/slide"/><Relationship Id="rId28" Target="slides/slide22.xml" Type="http://schemas.openxmlformats.org/officeDocument/2006/relationships/slide"/></Relationships>
</file>

<file path=ppt/notesMasters/_rels/notesMaster1.xml.rels><?xml version="1.0" encoding="UTF-8" standalone="yes"?><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8" name="Shape 218"/>
          <p:cNvSpPr>
            <a:spLocks noChangeAspect="1" noGrp="1" noRot="1"/>
          </p:cNvSpPr>
          <p:nvPr>
            <p:ph type="sldImg"/>
          </p:nvPr>
        </p:nvSpPr>
        <p:spPr>
          <a:xfrm>
            <a:off x="1143000" y="685800"/>
            <a:ext cx="4572000" cy="3429000"/>
          </a:xfrm>
          <a:prstGeom prst="rect">
            <a:avLst/>
          </a:prstGeom>
        </p:spPr>
        <p:txBody>
          <a:bodyPr numCol="1"/>
          <a:lstStyle/>
          <a:p>
            <a:endParaRPr/>
          </a:p>
        </p:txBody>
      </p:sp>
      <p:sp>
        <p:nvSpPr>
          <p:cNvPr id="219" name="Shape 219"/>
          <p:cNvSpPr>
            <a:spLocks noGrp="1"/>
          </p:cNvSpPr>
          <p:nvPr>
            <p:ph idx="1" sz="quarter" type="body"/>
          </p:nvPr>
        </p:nvSpPr>
        <p:spPr>
          <a:xfrm>
            <a:off x="914400" y="4343400"/>
            <a:ext cx="5029200" cy="4114800"/>
          </a:xfrm>
          <a:prstGeom prst="rect">
            <a:avLst/>
          </a:prstGeom>
        </p:spPr>
        <p:txBody>
          <a:bodyPr numCol="1"/>
          <a:lstStyle/>
          <a:p>
            <a:endParaRPr/>
          </a:p>
        </p:txBody>
      </p:sp>
    </p:spTree>
  </p:cSld>
  <p:clrMap accent1="accent1" accent2="accent2" accent3="accent3" accent4="accent4" accent5="accent5" accent6="accent6" bg1="lt1" bg2="lt2" folHlink="folHlink" hlink="hlink" tx1="dk1" tx2="dk2"/>
  <p:notesStyle>
    <a:lvl1pPr latinLnBrk="0">
      <a:spcBef>
        <a:spcPts val="400"/>
      </a:spcBef>
      <a:defRPr sz="1200">
        <a:latin typeface="+mn-lt"/>
        <a:ea typeface="+mn-ea"/>
        <a:cs typeface="+mn-cs"/>
        <a:sym typeface="Arial"/>
      </a:defRPr>
    </a:lvl1pPr>
    <a:lvl2pPr indent="228600" latinLnBrk="0">
      <a:spcBef>
        <a:spcPts val="400"/>
      </a:spcBef>
      <a:defRPr sz="1200">
        <a:latin typeface="+mn-lt"/>
        <a:ea typeface="+mn-ea"/>
        <a:cs typeface="+mn-cs"/>
        <a:sym typeface="Arial"/>
      </a:defRPr>
    </a:lvl2pPr>
    <a:lvl3pPr indent="457200" latinLnBrk="0">
      <a:spcBef>
        <a:spcPts val="400"/>
      </a:spcBef>
      <a:defRPr sz="1200">
        <a:latin typeface="+mn-lt"/>
        <a:ea typeface="+mn-ea"/>
        <a:cs typeface="+mn-cs"/>
        <a:sym typeface="Arial"/>
      </a:defRPr>
    </a:lvl3pPr>
    <a:lvl4pPr indent="685800" latinLnBrk="0">
      <a:spcBef>
        <a:spcPts val="400"/>
      </a:spcBef>
      <a:defRPr sz="1200">
        <a:latin typeface="+mn-lt"/>
        <a:ea typeface="+mn-ea"/>
        <a:cs typeface="+mn-cs"/>
        <a:sym typeface="Arial"/>
      </a:defRPr>
    </a:lvl4pPr>
    <a:lvl5pPr indent="914400" latinLnBrk="0">
      <a:spcBef>
        <a:spcPts val="400"/>
      </a:spcBef>
      <a:defRPr sz="1200">
        <a:latin typeface="+mn-lt"/>
        <a:ea typeface="+mn-ea"/>
        <a:cs typeface="+mn-cs"/>
        <a:sym typeface="Arial"/>
      </a:defRPr>
    </a:lvl5pPr>
    <a:lvl6pPr indent="1143000" latinLnBrk="0">
      <a:spcBef>
        <a:spcPts val="400"/>
      </a:spcBef>
      <a:defRPr sz="1200">
        <a:latin typeface="+mn-lt"/>
        <a:ea typeface="+mn-ea"/>
        <a:cs typeface="+mn-cs"/>
        <a:sym typeface="Arial"/>
      </a:defRPr>
    </a:lvl6pPr>
    <a:lvl7pPr indent="1371600" latinLnBrk="0">
      <a:spcBef>
        <a:spcPts val="400"/>
      </a:spcBef>
      <a:defRPr sz="1200">
        <a:latin typeface="+mn-lt"/>
        <a:ea typeface="+mn-ea"/>
        <a:cs typeface="+mn-cs"/>
        <a:sym typeface="Arial"/>
      </a:defRPr>
    </a:lvl7pPr>
    <a:lvl8pPr indent="1600200" latinLnBrk="0">
      <a:spcBef>
        <a:spcPts val="400"/>
      </a:spcBef>
      <a:defRPr sz="1200">
        <a:latin typeface="+mn-lt"/>
        <a:ea typeface="+mn-ea"/>
        <a:cs typeface="+mn-cs"/>
        <a:sym typeface="Arial"/>
      </a:defRPr>
    </a:lvl8pPr>
    <a:lvl9pPr indent="1828800" latinLnBrk="0">
      <a:spcBef>
        <a:spcPts val="400"/>
      </a:spcBef>
      <a:defRPr sz="1200">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2" Target="../slides/slide65.xml" Type="http://schemas.openxmlformats.org/officeDocument/2006/relationships/slide"/><Relationship Id="rId1" Target="../notesMasters/notesMaster1.xml" Type="http://schemas.openxmlformats.org/officeDocument/2006/relationships/notesMaster"/></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ChangeAspect="1" noGrp="1" noRot="1"/>
          </p:cNvSpPr>
          <p:nvPr>
            <p:ph type="sldImg"/>
          </p:nvPr>
        </p:nvSpPr>
        <p:spPr/>
      </p:sp>
      <p:sp>
        <p:nvSpPr>
          <p:cNvPr id="3" name="Segnaposto note 2"/>
          <p:cNvSpPr>
            <a:spLocks noGrp="1"/>
          </p:cNvSpPr>
          <p:nvPr>
            <p:ph idx="1" type="body"/>
          </p:nvPr>
        </p:nvSpPr>
        <p:spPr/>
        <p:txBody>
          <a:bodyPr numCol="1"/>
          <a:lstStyle/>
          <a:p>
            <a:endParaRPr altLang="it-IT" dirty="0" lang="it-IT"/>
          </a:p>
        </p:txBody>
      </p:sp>
    </p:spTree>
    <p:extLst>
      <p:ext uri="{BB962C8B-B14F-4D97-AF65-F5344CB8AC3E}">
        <p14:creationId xmlns:p14="http://schemas.microsoft.com/office/powerpoint/2010/main" val="1614918658"/>
      </p:ext>
    </p:extLst>
  </p:cSld>
  <p:clrMapOvr>
    <a:masterClrMapping/>
  </p:clrMapOvr>
</p:notes>
</file>

<file path=ppt/slideLayouts/_rels/slideLayout1.xml.rels><?xml version="1.0" encoding="UTF-8" standalone="yes"?><Relationships xmlns="http://schemas.openxmlformats.org/package/2006/relationships"><Relationship Id="rId2" Target="../media/image2.jpeg" Type="http://schemas.openxmlformats.org/officeDocument/2006/relationships/image"/><Relationship Id="rId1" Target="../slideMasters/slideMaster1.xml" Type="http://schemas.openxmlformats.org/officeDocument/2006/relationships/slideMaster"/></Relationships>
</file>

<file path=ppt/slideLayouts/_rels/slideLayout2.xml.rels><?xml version="1.0" encoding="UTF-8" standalone="yes"?><Relationships xmlns="http://schemas.openxmlformats.org/package/2006/relationships"><Relationship Id="rId2" Target="../media/image2.jpeg" Type="http://schemas.openxmlformats.org/officeDocument/2006/relationships/image"/><Relationship Id="rId1" Target="../slideMasters/slideMaster1.xml" Type="http://schemas.openxmlformats.org/officeDocument/2006/relationships/slideMaster"/></Relationships>
</file>

<file path=ppt/slideLayouts/_rels/slideLayout3.xml.rels><?xml version="1.0" encoding="UTF-8" standalone="yes"?><Relationships xmlns="http://schemas.openxmlformats.org/package/2006/relationships"><Relationship Id="rId2" Target="../media/image2.jpeg" Type="http://schemas.openxmlformats.org/officeDocument/2006/relationships/image"/><Relationship Id="rId1" Target="../slideMasters/slideMaster1.xml" Type="http://schemas.openxmlformats.org/officeDocument/2006/relationships/slideMaster"/></Relationships>
</file>

<file path=ppt/slideLayouts/_rels/slideLayout4.xml.rels><?xml version="1.0" encoding="UTF-8" standalone="yes"?><Relationships xmlns="http://schemas.openxmlformats.org/package/2006/relationships"><Relationship Id="rId2" Target="../media/image2.jpeg" Type="http://schemas.openxmlformats.org/officeDocument/2006/relationships/image"/><Relationship Id="rId1" Target="../slideMasters/slideMaster1.xml" Type="http://schemas.openxmlformats.org/officeDocument/2006/relationships/slideMaster"/></Relationships>
</file>

<file path=ppt/slideLayouts/_rels/slideLayout5.xml.rels><?xml version="1.0" encoding="UTF-8" standalone="yes"?><Relationships xmlns="http://schemas.openxmlformats.org/package/2006/relationships"><Relationship Id="rId2" Target="../media/image2.jpeg" Type="http://schemas.openxmlformats.org/officeDocument/2006/relationships/image"/><Relationship Id="rId1" Target="../slideMasters/slideMaster1.xml" Type="http://schemas.openxmlformats.org/officeDocument/2006/relationships/slideMaster"/></Relationships>
</file>

<file path=ppt/slideLayouts/_rels/slideLayout6.xml.rels><?xml version="1.0" encoding="UTF-8" standalone="yes"?><Relationships xmlns="http://schemas.openxmlformats.org/package/2006/relationships"><Relationship Id="rId2" Target="../media/image2.jpeg" Type="http://schemas.openxmlformats.org/officeDocument/2006/relationships/image"/><Relationship Id="rId1" Target="../slideMasters/slideMaster1.xml" Type="http://schemas.openxmlformats.org/officeDocument/2006/relationships/slideMaster"/></Relationships>
</file>

<file path=ppt/slideLayouts/_rels/slideLayout7.xml.rels><?xml version="1.0" encoding="UTF-8" standalone="yes"?><Relationships xmlns="http://schemas.openxmlformats.org/package/2006/relationships"><Relationship Id="rId2" Target="../media/image2.jpeg" Type="http://schemas.openxmlformats.org/officeDocument/2006/relationships/image"/><Relationship Id="rId1" Target="../slideMasters/slideMaster1.xml" Type="http://schemas.openxmlformats.org/officeDocument/2006/relationships/slideMaster"/></Relationships>
</file>

<file path=ppt/slideLayouts/_rels/slideLayout8.xml.rels><?xml version="1.0" encoding="UTF-8" standalone="yes"?><Relationships xmlns="http://schemas.openxmlformats.org/package/2006/relationships"><Relationship Id="rId2" Target="../media/image2.jpeg" Type="http://schemas.openxmlformats.org/officeDocument/2006/relationships/image"/><Relationship Id="rId1" Target="../slideMasters/slideMaster1.xml" Type="http://schemas.openxmlformats.org/officeDocument/2006/relationships/slideMaster"/></Relationships>
</file>

<file path=ppt/slideLayouts/_rels/slideLayout9.xml.rels><?xml version="1.0" encoding="UTF-8" standalone="yes"?><Relationships xmlns="http://schemas.openxmlformats.org/package/2006/relationships"><Relationship Id="rId2" Target="../media/image2.jpeg" Type="http://schemas.openxmlformats.org/officeDocument/2006/relationships/image"/><Relationship Id="rId1" Target="../slideMasters/slideMaster1.xml" Type="http://schemas.openxmlformats.org/officeDocument/2006/relationships/slideMaster"/></Relationships>
</file>

<file path=ppt/slideLayouts/_rels/slideLayout10.xml.rels><?xml version="1.0" encoding="UTF-8" standalone="yes"?><Relationships xmlns="http://schemas.openxmlformats.org/package/2006/relationships"><Relationship Id="rId2" Target="../media/image2.jpeg" Type="http://schemas.openxmlformats.org/officeDocument/2006/relationships/image"/><Relationship Id="rId1" Target="../slideMasters/slideMaster1.xml" Type="http://schemas.openxmlformats.org/officeDocument/2006/relationships/slideMaster"/></Relationships>
</file>

<file path=ppt/slideLayouts/_rels/slideLayout11.xml.rels><?xml version="1.0" encoding="UTF-8" standalone="yes"?><Relationships xmlns="http://schemas.openxmlformats.org/package/2006/relationships"><Relationship Id="rId2" Target="../media/image2.jpeg" Type="http://schemas.openxmlformats.org/officeDocument/2006/relationships/image"/><Relationship Id="rId1" Target="../slideMasters/slideMaster1.xml" Type="http://schemas.openxmlformats.org/officeDocument/2006/relationships/slideMaster"/></Relationships>
</file>

<file path=ppt/slideLayouts/_rels/slideLayout12.xml.rels><?xml version="1.0" encoding="UTF-8" standalone="yes"?><Relationships xmlns="http://schemas.openxmlformats.org/package/2006/relationships"><Relationship Id="rId2" Target="../media/image2.jpeg" Type="http://schemas.openxmlformats.org/officeDocument/2006/relationships/image"/><Relationship Id="rId1" Target="../slideMasters/slideMaster1.xml" Type="http://schemas.openxmlformats.org/officeDocument/2006/relationships/slideMaster"/></Relationships>
</file>

<file path=ppt/slideLayouts/_rels/slideLayout13.xml.rels><?xml version="1.0" encoding="UTF-8" standalone="yes"?><Relationships xmlns="http://schemas.openxmlformats.org/package/2006/relationships"><Relationship Id="rId2" Target="../media/image2.jpeg" Type="http://schemas.openxmlformats.org/officeDocument/2006/relationships/image"/><Relationship Id="rId1" Target="../slideMasters/slideMaster1.xml" Type="http://schemas.openxmlformats.org/officeDocument/2006/relationships/slideMaster"/></Relationships>
</file>

<file path=ppt/slideLayouts/_rels/slideLayout14.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5.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6.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7.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8.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9.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0.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2.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iapositiva titolo">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 name="Rectangle 9"/>
          <p:cNvSpPr/>
          <p:nvPr/>
        </p:nvSpPr>
        <p:spPr>
          <a:xfrm>
            <a:off x="0" y="836612"/>
            <a:ext cx="9144000" cy="71439"/>
          </a:xfrm>
          <a:prstGeom prst="rect">
            <a:avLst/>
          </a:prstGeom>
          <a:gradFill>
            <a:gsLst>
              <a:gs pos="0">
                <a:schemeClr val="accent2">
                  <a:alpha val="79999"/>
                </a:schemeClr>
              </a:gs>
              <a:gs pos="100000">
                <a:srgbClr val="181847"/>
              </a:gs>
            </a:gsLst>
            <a:lin ang="5400000" scaled="0"/>
          </a:gradFill>
          <a:ln w="12700">
            <a:miter lim="400000"/>
          </a:ln>
        </p:spPr>
        <p:txBody>
          <a:bodyPr anchor="ctr" bIns="45718" lIns="45718" numCol="1" rIns="45718" tIns="45718"/>
          <a:lstStyle/>
          <a:p>
            <a:pPr>
              <a:defRPr>
                <a:latin typeface="Times New Roman"/>
                <a:ea typeface="Times New Roman"/>
                <a:cs typeface="Times New Roman"/>
                <a:sym typeface="Times New Roman"/>
              </a:defRPr>
            </a:pPr>
            <a:endParaRPr/>
          </a:p>
        </p:txBody>
      </p:sp>
      <p:sp>
        <p:nvSpPr>
          <p:cNvPr id="12" name="Titolo Testo"/>
          <p:cNvSpPr txBox="1">
            <a:spLocks noGrp="1"/>
          </p:cNvSpPr>
          <p:nvPr>
            <p:ph type="title"/>
          </p:nvPr>
        </p:nvSpPr>
        <p:spPr>
          <a:xfrm>
            <a:off x="685800" y="3209925"/>
            <a:ext cx="7772400" cy="2019300"/>
          </a:xfrm>
          <a:prstGeom prst="rect">
            <a:avLst/>
          </a:prstGeom>
        </p:spPr>
        <p:txBody>
          <a:bodyPr anchor="t" numCol="1"/>
          <a:lstStyle>
            <a:lvl1pPr>
              <a:defRPr b="1" sz="3200">
                <a:solidFill>
                  <a:srgbClr val="FFFFFF"/>
                </a:solidFill>
                <a:effectLst>
                  <a:outerShdw blurRad="38100" dir="2700000" dist="38100" rotWithShape="0">
                    <a:srgbClr val="C0C0C0"/>
                  </a:outerShdw>
                </a:effectLst>
                <a:latin typeface="+mn-lt"/>
                <a:ea typeface="+mn-ea"/>
                <a:cs typeface="+mn-cs"/>
                <a:sym typeface="Arial"/>
              </a:defRPr>
            </a:lvl1pPr>
          </a:lstStyle>
          <a:p>
            <a:r>
              <a:t>Titolo Testo</a:t>
            </a:r>
          </a:p>
        </p:txBody>
      </p:sp>
      <p:sp>
        <p:nvSpPr>
          <p:cNvPr id="13" name="Numero diapositiva"/>
          <p:cNvSpPr txBox="1">
            <a:spLocks noGrp="1"/>
          </p:cNvSpPr>
          <p:nvPr>
            <p:ph idx="2" sz="quarter" type="sldNum"/>
          </p:nvPr>
        </p:nvSpPr>
        <p:spPr>
          <a:xfrm>
            <a:off x="8384895" y="6245225"/>
            <a:ext cx="301907" cy="288822"/>
          </a:xfrm>
          <a:prstGeom prst="rect">
            <a:avLst/>
          </a:prstGeom>
        </p:spPr>
        <p:txBody>
          <a:bodyPr anchor="t" numCol="1"/>
          <a:lstStyle>
            <a:lvl1pPr>
              <a:defRPr b="0" sz="140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olo e contenuto">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0" name="Rectangle 9"/>
          <p:cNvSpPr/>
          <p:nvPr/>
        </p:nvSpPr>
        <p:spPr>
          <a:xfrm>
            <a:off x="0" y="836612"/>
            <a:ext cx="9144000" cy="71439"/>
          </a:xfrm>
          <a:prstGeom prst="rect">
            <a:avLst/>
          </a:prstGeom>
          <a:gradFill>
            <a:gsLst>
              <a:gs pos="0">
                <a:schemeClr val="accent2">
                  <a:alpha val="79999"/>
                </a:schemeClr>
              </a:gs>
              <a:gs pos="100000">
                <a:srgbClr val="181847"/>
              </a:gs>
            </a:gsLst>
            <a:lin ang="5400000" scaled="0"/>
          </a:gradFill>
          <a:ln w="12700">
            <a:miter lim="400000"/>
          </a:ln>
        </p:spPr>
        <p:txBody>
          <a:bodyPr anchor="ctr" bIns="45718" lIns="45718" numCol="1" rIns="45718" tIns="45718"/>
          <a:lstStyle/>
          <a:p>
            <a:pPr>
              <a:defRPr>
                <a:latin typeface="Times New Roman"/>
                <a:ea typeface="Times New Roman"/>
                <a:cs typeface="Times New Roman"/>
                <a:sym typeface="Times New Roman"/>
              </a:defRPr>
            </a:pPr>
            <a:endParaRPr/>
          </a:p>
        </p:txBody>
      </p:sp>
      <p:sp>
        <p:nvSpPr>
          <p:cNvPr id="21" name="Titolo Testo"/>
          <p:cNvSpPr txBox="1">
            <a:spLocks noGrp="1"/>
          </p:cNvSpPr>
          <p:nvPr>
            <p:ph type="title"/>
          </p:nvPr>
        </p:nvSpPr>
        <p:spPr>
          <a:xfrm>
            <a:off x="0" y="0"/>
            <a:ext cx="9144000" cy="836613"/>
          </a:xfrm>
          <a:prstGeom prst="rect">
            <a:avLst/>
          </a:prstGeom>
          <a:solidFill>
            <a:schemeClr val="accent2">
              <a:alpha val="60000"/>
            </a:schemeClr>
          </a:solidFill>
        </p:spPr>
        <p:txBody>
          <a:bodyPr numCol="1"/>
          <a:lstStyle>
            <a:lvl1pPr>
              <a:defRPr b="1" sz="2400">
                <a:solidFill>
                  <a:srgbClr val="FFFFFF"/>
                </a:solidFill>
                <a:effectLst>
                  <a:outerShdw blurRad="38100" dir="2700000" dist="38100" rotWithShape="0">
                    <a:srgbClr val="000000"/>
                  </a:outerShdw>
                </a:effectLst>
                <a:latin typeface="+mn-lt"/>
                <a:ea typeface="+mn-ea"/>
                <a:cs typeface="+mn-cs"/>
                <a:sym typeface="Arial"/>
              </a:defRPr>
            </a:lvl1pPr>
          </a:lstStyle>
          <a:p>
            <a:r>
              <a:t>Titolo Testo</a:t>
            </a:r>
          </a:p>
        </p:txBody>
      </p:sp>
      <p:sp>
        <p:nvSpPr>
          <p:cNvPr id="22" name="Corpo livello uno…"/>
          <p:cNvSpPr txBox="1">
            <a:spLocks noGrp="1"/>
          </p:cNvSpPr>
          <p:nvPr>
            <p:ph idx="1" type="body"/>
          </p:nvPr>
        </p:nvSpPr>
        <p:spPr>
          <a:prstGeom prst="rect">
            <a:avLst/>
          </a:prstGeom>
        </p:spPr>
        <p:txBody>
          <a:bodyPr numCol="1"/>
          <a:lstStyle>
            <a:lvl1pPr>
              <a:buFontTx/>
              <a:defRPr>
                <a:latin typeface="+mn-lt"/>
                <a:ea typeface="+mn-ea"/>
                <a:cs typeface="+mn-cs"/>
                <a:sym typeface="Arial"/>
              </a:defRPr>
            </a:lvl1pPr>
            <a:lvl2pPr>
              <a:buFontTx/>
              <a:defRPr>
                <a:latin typeface="+mn-lt"/>
                <a:ea typeface="+mn-ea"/>
                <a:cs typeface="+mn-cs"/>
                <a:sym typeface="Arial"/>
              </a:defRPr>
            </a:lvl2pPr>
            <a:lvl3pPr>
              <a:buFontTx/>
              <a:defRPr>
                <a:latin typeface="+mn-lt"/>
                <a:ea typeface="+mn-ea"/>
                <a:cs typeface="+mn-cs"/>
                <a:sym typeface="Arial"/>
              </a:defRPr>
            </a:lvl3pPr>
            <a:lvl4pPr>
              <a:buFontTx/>
              <a:defRPr>
                <a:latin typeface="+mn-lt"/>
                <a:ea typeface="+mn-ea"/>
                <a:cs typeface="+mn-cs"/>
                <a:sym typeface="Arial"/>
              </a:defRPr>
            </a:lvl4pPr>
            <a:lvl5pPr>
              <a:buFontTx/>
              <a:defRPr>
                <a:latin typeface="+mn-lt"/>
                <a:ea typeface="+mn-ea"/>
                <a:cs typeface="+mn-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23" name="Numero diapositiva"/>
          <p:cNvSpPr txBox="1">
            <a:spLocks noGrp="1"/>
          </p:cNvSpPr>
          <p:nvPr>
            <p:ph idx="2" sz="quarter" type="sldNum"/>
          </p:nvPr>
        </p:nvSpPr>
        <p:spPr>
          <a:xfrm>
            <a:off x="8384895" y="6245225"/>
            <a:ext cx="301907" cy="288822"/>
          </a:xfrm>
          <a:prstGeom prst="rect">
            <a:avLst/>
          </a:prstGeom>
        </p:spPr>
        <p:txBody>
          <a:bodyPr anchor="t" numCol="1"/>
          <a:lstStyle>
            <a:lvl1pPr>
              <a:defRPr b="0" sz="140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Intestazione sezion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30" name="Rectangle 9"/>
          <p:cNvSpPr/>
          <p:nvPr/>
        </p:nvSpPr>
        <p:spPr>
          <a:xfrm>
            <a:off x="0" y="836612"/>
            <a:ext cx="9144000" cy="71439"/>
          </a:xfrm>
          <a:prstGeom prst="rect">
            <a:avLst/>
          </a:prstGeom>
          <a:gradFill>
            <a:gsLst>
              <a:gs pos="0">
                <a:schemeClr val="accent2">
                  <a:alpha val="79999"/>
                </a:schemeClr>
              </a:gs>
              <a:gs pos="100000">
                <a:srgbClr val="181847"/>
              </a:gs>
            </a:gsLst>
            <a:lin ang="5400000" scaled="0"/>
          </a:gradFill>
          <a:ln w="12700">
            <a:miter lim="400000"/>
          </a:ln>
        </p:spPr>
        <p:txBody>
          <a:bodyPr anchor="ctr" bIns="45718" lIns="45718" numCol="1" rIns="45718" tIns="45718"/>
          <a:lstStyle/>
          <a:p>
            <a:pPr>
              <a:defRPr>
                <a:latin typeface="Times New Roman"/>
                <a:ea typeface="Times New Roman"/>
                <a:cs typeface="Times New Roman"/>
                <a:sym typeface="Times New Roman"/>
              </a:defRPr>
            </a:pPr>
            <a:endParaRPr/>
          </a:p>
        </p:txBody>
      </p:sp>
      <p:sp>
        <p:nvSpPr>
          <p:cNvPr id="31" name="Titolo Testo"/>
          <p:cNvSpPr txBox="1">
            <a:spLocks noGrp="1"/>
          </p:cNvSpPr>
          <p:nvPr>
            <p:ph type="title"/>
          </p:nvPr>
        </p:nvSpPr>
        <p:spPr>
          <a:xfrm>
            <a:off x="722312" y="4406900"/>
            <a:ext cx="7772401" cy="1362075"/>
          </a:xfrm>
          <a:prstGeom prst="rect">
            <a:avLst/>
          </a:prstGeom>
          <a:solidFill>
            <a:schemeClr val="accent2">
              <a:alpha val="60000"/>
            </a:schemeClr>
          </a:solidFill>
        </p:spPr>
        <p:txBody>
          <a:bodyPr anchor="t" numCol="1"/>
          <a:lstStyle>
            <a:lvl1pPr algn="l">
              <a:defRPr b="1" cap="all" sz="4000">
                <a:solidFill>
                  <a:srgbClr val="FFFFFF"/>
                </a:solidFill>
                <a:effectLst>
                  <a:outerShdw blurRad="38100" dir="2700000" dist="38100" rotWithShape="0">
                    <a:srgbClr val="000000"/>
                  </a:outerShdw>
                </a:effectLst>
                <a:latin typeface="+mn-lt"/>
                <a:ea typeface="+mn-ea"/>
                <a:cs typeface="+mn-cs"/>
                <a:sym typeface="Arial"/>
              </a:defRPr>
            </a:lvl1pPr>
          </a:lstStyle>
          <a:p>
            <a:r>
              <a:t>Titolo Testo</a:t>
            </a:r>
          </a:p>
        </p:txBody>
      </p:sp>
      <p:sp>
        <p:nvSpPr>
          <p:cNvPr id="32" name="Corpo livello uno…"/>
          <p:cNvSpPr txBox="1">
            <a:spLocks noGrp="1"/>
          </p:cNvSpPr>
          <p:nvPr>
            <p:ph idx="1" sz="quarter" type="body"/>
          </p:nvPr>
        </p:nvSpPr>
        <p:spPr>
          <a:xfrm>
            <a:off x="722312" y="2906713"/>
            <a:ext cx="7772401" cy="1500189"/>
          </a:xfrm>
          <a:prstGeom prst="rect">
            <a:avLst/>
          </a:prstGeom>
        </p:spPr>
        <p:txBody>
          <a:bodyPr anchor="b" numCol="1"/>
          <a:lstStyle>
            <a:lvl1pPr indent="0" marL="0">
              <a:spcBef>
                <a:spcPts val="400"/>
              </a:spcBef>
              <a:buSzTx/>
              <a:buFontTx/>
              <a:buNone/>
              <a:defRPr sz="2000">
                <a:latin typeface="+mn-lt"/>
                <a:ea typeface="+mn-ea"/>
                <a:cs typeface="+mn-cs"/>
                <a:sym typeface="Arial"/>
              </a:defRPr>
            </a:lvl1pPr>
            <a:lvl2pPr indent="0" marL="0">
              <a:spcBef>
                <a:spcPts val="400"/>
              </a:spcBef>
              <a:buSzTx/>
              <a:buFontTx/>
              <a:buNone/>
              <a:defRPr sz="2000">
                <a:latin typeface="+mn-lt"/>
                <a:ea typeface="+mn-ea"/>
                <a:cs typeface="+mn-cs"/>
                <a:sym typeface="Arial"/>
              </a:defRPr>
            </a:lvl2pPr>
            <a:lvl3pPr indent="0" marL="0">
              <a:spcBef>
                <a:spcPts val="400"/>
              </a:spcBef>
              <a:buSzTx/>
              <a:buFontTx/>
              <a:buNone/>
              <a:defRPr sz="2000">
                <a:latin typeface="+mn-lt"/>
                <a:ea typeface="+mn-ea"/>
                <a:cs typeface="+mn-cs"/>
                <a:sym typeface="Arial"/>
              </a:defRPr>
            </a:lvl3pPr>
            <a:lvl4pPr indent="0" marL="0">
              <a:spcBef>
                <a:spcPts val="400"/>
              </a:spcBef>
              <a:buSzTx/>
              <a:buFontTx/>
              <a:buNone/>
              <a:defRPr sz="2000">
                <a:latin typeface="+mn-lt"/>
                <a:ea typeface="+mn-ea"/>
                <a:cs typeface="+mn-cs"/>
                <a:sym typeface="Arial"/>
              </a:defRPr>
            </a:lvl4pPr>
            <a:lvl5pPr indent="0" marL="0">
              <a:spcBef>
                <a:spcPts val="400"/>
              </a:spcBef>
              <a:buSzTx/>
              <a:buFontTx/>
              <a:buNone/>
              <a:defRPr sz="2000">
                <a:latin typeface="+mn-lt"/>
                <a:ea typeface="+mn-ea"/>
                <a:cs typeface="+mn-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33" name="Numero diapositiva"/>
          <p:cNvSpPr txBox="1">
            <a:spLocks noGrp="1"/>
          </p:cNvSpPr>
          <p:nvPr>
            <p:ph idx="2" sz="quarter" type="sldNum"/>
          </p:nvPr>
        </p:nvSpPr>
        <p:spPr>
          <a:xfrm>
            <a:off x="8384895" y="6245225"/>
            <a:ext cx="301907" cy="288822"/>
          </a:xfrm>
          <a:prstGeom prst="rect">
            <a:avLst/>
          </a:prstGeom>
        </p:spPr>
        <p:txBody>
          <a:bodyPr anchor="t" numCol="1"/>
          <a:lstStyle>
            <a:lvl1pPr>
              <a:defRPr b="0" sz="140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Due contenuti">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40" name="Rectangle 9"/>
          <p:cNvSpPr/>
          <p:nvPr/>
        </p:nvSpPr>
        <p:spPr>
          <a:xfrm>
            <a:off x="0" y="836612"/>
            <a:ext cx="9144000" cy="71439"/>
          </a:xfrm>
          <a:prstGeom prst="rect">
            <a:avLst/>
          </a:prstGeom>
          <a:gradFill>
            <a:gsLst>
              <a:gs pos="0">
                <a:schemeClr val="accent2">
                  <a:alpha val="79999"/>
                </a:schemeClr>
              </a:gs>
              <a:gs pos="100000">
                <a:srgbClr val="181847"/>
              </a:gs>
            </a:gsLst>
            <a:lin ang="5400000" scaled="0"/>
          </a:gradFill>
          <a:ln w="12700">
            <a:miter lim="400000"/>
          </a:ln>
        </p:spPr>
        <p:txBody>
          <a:bodyPr anchor="ctr" bIns="45718" lIns="45718" numCol="1" rIns="45718" tIns="45718"/>
          <a:lstStyle/>
          <a:p>
            <a:pPr>
              <a:defRPr>
                <a:latin typeface="Times New Roman"/>
                <a:ea typeface="Times New Roman"/>
                <a:cs typeface="Times New Roman"/>
                <a:sym typeface="Times New Roman"/>
              </a:defRPr>
            </a:pPr>
            <a:endParaRPr/>
          </a:p>
        </p:txBody>
      </p:sp>
      <p:sp>
        <p:nvSpPr>
          <p:cNvPr id="41" name="Titolo Testo"/>
          <p:cNvSpPr txBox="1">
            <a:spLocks noGrp="1"/>
          </p:cNvSpPr>
          <p:nvPr>
            <p:ph type="title"/>
          </p:nvPr>
        </p:nvSpPr>
        <p:spPr>
          <a:xfrm>
            <a:off x="0" y="0"/>
            <a:ext cx="9144000" cy="836613"/>
          </a:xfrm>
          <a:prstGeom prst="rect">
            <a:avLst/>
          </a:prstGeom>
          <a:solidFill>
            <a:schemeClr val="accent2">
              <a:alpha val="60000"/>
            </a:schemeClr>
          </a:solidFill>
        </p:spPr>
        <p:txBody>
          <a:bodyPr numCol="1"/>
          <a:lstStyle>
            <a:lvl1pPr>
              <a:defRPr b="1" sz="2400">
                <a:solidFill>
                  <a:srgbClr val="FFFFFF"/>
                </a:solidFill>
                <a:effectLst>
                  <a:outerShdw blurRad="38100" dir="2700000" dist="38100" rotWithShape="0">
                    <a:srgbClr val="000000"/>
                  </a:outerShdw>
                </a:effectLst>
                <a:latin typeface="+mn-lt"/>
                <a:ea typeface="+mn-ea"/>
                <a:cs typeface="+mn-cs"/>
                <a:sym typeface="Arial"/>
              </a:defRPr>
            </a:lvl1pPr>
          </a:lstStyle>
          <a:p>
            <a:r>
              <a:t>Titolo Testo</a:t>
            </a:r>
          </a:p>
        </p:txBody>
      </p:sp>
      <p:sp>
        <p:nvSpPr>
          <p:cNvPr id="42" name="Corpo livello uno…"/>
          <p:cNvSpPr txBox="1">
            <a:spLocks noGrp="1"/>
          </p:cNvSpPr>
          <p:nvPr>
            <p:ph idx="1" sz="half" type="body"/>
          </p:nvPr>
        </p:nvSpPr>
        <p:spPr>
          <a:xfrm>
            <a:off x="457200" y="1600200"/>
            <a:ext cx="4038600" cy="4525963"/>
          </a:xfrm>
          <a:prstGeom prst="rect">
            <a:avLst/>
          </a:prstGeom>
        </p:spPr>
        <p:txBody>
          <a:bodyPr numCol="1"/>
          <a:lstStyle>
            <a:lvl1pPr>
              <a:spcBef>
                <a:spcPts val="600"/>
              </a:spcBef>
              <a:buFontTx/>
              <a:defRPr sz="2800">
                <a:latin typeface="+mn-lt"/>
                <a:ea typeface="+mn-ea"/>
                <a:cs typeface="+mn-cs"/>
                <a:sym typeface="Arial"/>
              </a:defRPr>
            </a:lvl1pPr>
            <a:lvl2pPr indent="-333375" marL="790575">
              <a:spcBef>
                <a:spcPts val="600"/>
              </a:spcBef>
              <a:buFontTx/>
              <a:defRPr sz="2800">
                <a:latin typeface="+mn-lt"/>
                <a:ea typeface="+mn-ea"/>
                <a:cs typeface="+mn-cs"/>
                <a:sym typeface="Arial"/>
              </a:defRPr>
            </a:lvl2pPr>
            <a:lvl3pPr indent="-320038" marL="1234438">
              <a:spcBef>
                <a:spcPts val="600"/>
              </a:spcBef>
              <a:buFontTx/>
              <a:defRPr sz="2800">
                <a:latin typeface="+mn-lt"/>
                <a:ea typeface="+mn-ea"/>
                <a:cs typeface="+mn-cs"/>
                <a:sym typeface="Arial"/>
              </a:defRPr>
            </a:lvl3pPr>
            <a:lvl4pPr indent="-355600" marL="1727200">
              <a:spcBef>
                <a:spcPts val="600"/>
              </a:spcBef>
              <a:buFontTx/>
              <a:defRPr sz="2800">
                <a:latin typeface="+mn-lt"/>
                <a:ea typeface="+mn-ea"/>
                <a:cs typeface="+mn-cs"/>
                <a:sym typeface="Arial"/>
              </a:defRPr>
            </a:lvl4pPr>
            <a:lvl5pPr indent="-355600" marL="2184400">
              <a:spcBef>
                <a:spcPts val="600"/>
              </a:spcBef>
              <a:buFontTx/>
              <a:defRPr sz="2800">
                <a:latin typeface="+mn-lt"/>
                <a:ea typeface="+mn-ea"/>
                <a:cs typeface="+mn-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43" name="Numero diapositiva"/>
          <p:cNvSpPr txBox="1">
            <a:spLocks noGrp="1"/>
          </p:cNvSpPr>
          <p:nvPr>
            <p:ph idx="2" sz="quarter" type="sldNum"/>
          </p:nvPr>
        </p:nvSpPr>
        <p:spPr>
          <a:xfrm>
            <a:off x="8384895" y="6245225"/>
            <a:ext cx="301907" cy="288822"/>
          </a:xfrm>
          <a:prstGeom prst="rect">
            <a:avLst/>
          </a:prstGeom>
        </p:spPr>
        <p:txBody>
          <a:bodyPr anchor="t" numCol="1"/>
          <a:lstStyle>
            <a:lvl1pPr>
              <a:defRPr b="0" sz="140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nfronto">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50" name="Rectangle 9"/>
          <p:cNvSpPr/>
          <p:nvPr/>
        </p:nvSpPr>
        <p:spPr>
          <a:xfrm>
            <a:off x="0" y="836612"/>
            <a:ext cx="9144000" cy="71439"/>
          </a:xfrm>
          <a:prstGeom prst="rect">
            <a:avLst/>
          </a:prstGeom>
          <a:gradFill>
            <a:gsLst>
              <a:gs pos="0">
                <a:schemeClr val="accent2">
                  <a:alpha val="79999"/>
                </a:schemeClr>
              </a:gs>
              <a:gs pos="100000">
                <a:srgbClr val="181847"/>
              </a:gs>
            </a:gsLst>
            <a:lin ang="5400000" scaled="0"/>
          </a:gradFill>
          <a:ln w="12700">
            <a:miter lim="400000"/>
          </a:ln>
        </p:spPr>
        <p:txBody>
          <a:bodyPr anchor="ctr" bIns="45718" lIns="45718" numCol="1" rIns="45718" tIns="45718"/>
          <a:lstStyle/>
          <a:p>
            <a:pPr>
              <a:defRPr>
                <a:latin typeface="Times New Roman"/>
                <a:ea typeface="Times New Roman"/>
                <a:cs typeface="Times New Roman"/>
                <a:sym typeface="Times New Roman"/>
              </a:defRPr>
            </a:pPr>
            <a:endParaRPr/>
          </a:p>
        </p:txBody>
      </p:sp>
      <p:sp>
        <p:nvSpPr>
          <p:cNvPr id="51" name="Titolo Testo"/>
          <p:cNvSpPr txBox="1">
            <a:spLocks noGrp="1"/>
          </p:cNvSpPr>
          <p:nvPr>
            <p:ph type="title"/>
          </p:nvPr>
        </p:nvSpPr>
        <p:spPr>
          <a:prstGeom prst="rect">
            <a:avLst/>
          </a:prstGeom>
          <a:solidFill>
            <a:schemeClr val="accent2">
              <a:alpha val="60000"/>
            </a:schemeClr>
          </a:solidFill>
        </p:spPr>
        <p:txBody>
          <a:bodyPr numCol="1"/>
          <a:lstStyle>
            <a:lvl1pPr>
              <a:defRPr b="1" sz="2400">
                <a:solidFill>
                  <a:srgbClr val="FFFFFF"/>
                </a:solidFill>
                <a:effectLst>
                  <a:outerShdw blurRad="38100" dir="2700000" dist="38100" rotWithShape="0">
                    <a:srgbClr val="000000"/>
                  </a:outerShdw>
                </a:effectLst>
                <a:latin typeface="+mn-lt"/>
                <a:ea typeface="+mn-ea"/>
                <a:cs typeface="+mn-cs"/>
                <a:sym typeface="Arial"/>
              </a:defRPr>
            </a:lvl1pPr>
          </a:lstStyle>
          <a:p>
            <a:r>
              <a:t>Titolo Testo</a:t>
            </a:r>
          </a:p>
        </p:txBody>
      </p:sp>
      <p:sp>
        <p:nvSpPr>
          <p:cNvPr id="52" name="Corpo livello uno…"/>
          <p:cNvSpPr txBox="1">
            <a:spLocks noGrp="1"/>
          </p:cNvSpPr>
          <p:nvPr>
            <p:ph idx="1" sz="quarter" type="body"/>
          </p:nvPr>
        </p:nvSpPr>
        <p:spPr>
          <a:xfrm>
            <a:off x="457200" y="1535112"/>
            <a:ext cx="4040188" cy="639763"/>
          </a:xfrm>
          <a:prstGeom prst="rect">
            <a:avLst/>
          </a:prstGeom>
        </p:spPr>
        <p:txBody>
          <a:bodyPr anchor="b" numCol="1"/>
          <a:lstStyle>
            <a:lvl1pPr indent="0" marL="0">
              <a:spcBef>
                <a:spcPts val="500"/>
              </a:spcBef>
              <a:buSzTx/>
              <a:buFontTx/>
              <a:buNone/>
              <a:defRPr b="1" sz="2400">
                <a:latin typeface="+mn-lt"/>
                <a:ea typeface="+mn-ea"/>
                <a:cs typeface="+mn-cs"/>
                <a:sym typeface="Arial"/>
              </a:defRPr>
            </a:lvl1pPr>
            <a:lvl2pPr indent="0" marL="0">
              <a:spcBef>
                <a:spcPts val="500"/>
              </a:spcBef>
              <a:buSzTx/>
              <a:buFontTx/>
              <a:buNone/>
              <a:defRPr b="1" sz="2400">
                <a:latin typeface="+mn-lt"/>
                <a:ea typeface="+mn-ea"/>
                <a:cs typeface="+mn-cs"/>
                <a:sym typeface="Arial"/>
              </a:defRPr>
            </a:lvl2pPr>
            <a:lvl3pPr indent="0" marL="0">
              <a:spcBef>
                <a:spcPts val="500"/>
              </a:spcBef>
              <a:buSzTx/>
              <a:buFontTx/>
              <a:buNone/>
              <a:defRPr b="1" sz="2400">
                <a:latin typeface="+mn-lt"/>
                <a:ea typeface="+mn-ea"/>
                <a:cs typeface="+mn-cs"/>
                <a:sym typeface="Arial"/>
              </a:defRPr>
            </a:lvl3pPr>
            <a:lvl4pPr indent="0" marL="0">
              <a:spcBef>
                <a:spcPts val="500"/>
              </a:spcBef>
              <a:buSzTx/>
              <a:buFontTx/>
              <a:buNone/>
              <a:defRPr b="1" sz="2400">
                <a:latin typeface="+mn-lt"/>
                <a:ea typeface="+mn-ea"/>
                <a:cs typeface="+mn-cs"/>
                <a:sym typeface="Arial"/>
              </a:defRPr>
            </a:lvl4pPr>
            <a:lvl5pPr indent="0" marL="0">
              <a:spcBef>
                <a:spcPts val="500"/>
              </a:spcBef>
              <a:buSzTx/>
              <a:buFontTx/>
              <a:buNone/>
              <a:defRPr b="1" sz="2400">
                <a:latin typeface="+mn-lt"/>
                <a:ea typeface="+mn-ea"/>
                <a:cs typeface="+mn-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53" name="Segnaposto testo 4"/>
          <p:cNvSpPr>
            <a:spLocks noGrp="1"/>
          </p:cNvSpPr>
          <p:nvPr>
            <p:ph idx="21" sz="quarter" type="body"/>
          </p:nvPr>
        </p:nvSpPr>
        <p:spPr>
          <a:xfrm>
            <a:off x="4645025" y="1535111"/>
            <a:ext cx="4041775" cy="639765"/>
          </a:xfrm>
          <a:prstGeom prst="rect">
            <a:avLst/>
          </a:prstGeom>
        </p:spPr>
        <p:txBody>
          <a:bodyPr anchor="b" numCol="1"/>
          <a:lstStyle/>
          <a:p>
            <a:pPr>
              <a:buFontTx/>
              <a:defRPr>
                <a:latin typeface="+mn-lt"/>
                <a:ea typeface="+mn-ea"/>
                <a:cs typeface="+mn-cs"/>
                <a:sym typeface="Arial"/>
              </a:defRPr>
            </a:pPr>
            <a:endParaRPr/>
          </a:p>
        </p:txBody>
      </p:sp>
      <p:sp>
        <p:nvSpPr>
          <p:cNvPr id="54" name="Numero diapositiva"/>
          <p:cNvSpPr txBox="1">
            <a:spLocks noGrp="1"/>
          </p:cNvSpPr>
          <p:nvPr>
            <p:ph idx="2" sz="quarter" type="sldNum"/>
          </p:nvPr>
        </p:nvSpPr>
        <p:spPr>
          <a:xfrm>
            <a:off x="8384895" y="6245225"/>
            <a:ext cx="301907" cy="288822"/>
          </a:xfrm>
          <a:prstGeom prst="rect">
            <a:avLst/>
          </a:prstGeom>
        </p:spPr>
        <p:txBody>
          <a:bodyPr anchor="t" numCol="1"/>
          <a:lstStyle>
            <a:lvl1pPr>
              <a:defRPr b="0" sz="140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Solo titolo">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61" name="Rectangle 9"/>
          <p:cNvSpPr/>
          <p:nvPr/>
        </p:nvSpPr>
        <p:spPr>
          <a:xfrm>
            <a:off x="0" y="836612"/>
            <a:ext cx="9144000" cy="71439"/>
          </a:xfrm>
          <a:prstGeom prst="rect">
            <a:avLst/>
          </a:prstGeom>
          <a:gradFill>
            <a:gsLst>
              <a:gs pos="0">
                <a:schemeClr val="accent2">
                  <a:alpha val="79999"/>
                </a:schemeClr>
              </a:gs>
              <a:gs pos="100000">
                <a:srgbClr val="181847"/>
              </a:gs>
            </a:gsLst>
            <a:lin ang="5400000" scaled="0"/>
          </a:gradFill>
          <a:ln w="12700">
            <a:miter lim="400000"/>
          </a:ln>
        </p:spPr>
        <p:txBody>
          <a:bodyPr anchor="ctr" bIns="45718" lIns="45718" numCol="1" rIns="45718" tIns="45718"/>
          <a:lstStyle/>
          <a:p>
            <a:pPr>
              <a:defRPr>
                <a:latin typeface="Times New Roman"/>
                <a:ea typeface="Times New Roman"/>
                <a:cs typeface="Times New Roman"/>
                <a:sym typeface="Times New Roman"/>
              </a:defRPr>
            </a:pPr>
            <a:endParaRPr/>
          </a:p>
        </p:txBody>
      </p:sp>
      <p:sp>
        <p:nvSpPr>
          <p:cNvPr id="62" name="Titolo Testo"/>
          <p:cNvSpPr txBox="1">
            <a:spLocks noGrp="1"/>
          </p:cNvSpPr>
          <p:nvPr>
            <p:ph type="title"/>
          </p:nvPr>
        </p:nvSpPr>
        <p:spPr>
          <a:xfrm>
            <a:off x="0" y="0"/>
            <a:ext cx="9144000" cy="836613"/>
          </a:xfrm>
          <a:prstGeom prst="rect">
            <a:avLst/>
          </a:prstGeom>
          <a:solidFill>
            <a:schemeClr val="accent2">
              <a:alpha val="60000"/>
            </a:schemeClr>
          </a:solidFill>
        </p:spPr>
        <p:txBody>
          <a:bodyPr numCol="1"/>
          <a:lstStyle>
            <a:lvl1pPr>
              <a:defRPr b="1" sz="2400">
                <a:solidFill>
                  <a:srgbClr val="FFFFFF"/>
                </a:solidFill>
                <a:effectLst>
                  <a:outerShdw blurRad="38100" dir="2700000" dist="38100" rotWithShape="0">
                    <a:srgbClr val="000000"/>
                  </a:outerShdw>
                </a:effectLst>
                <a:latin typeface="+mn-lt"/>
                <a:ea typeface="+mn-ea"/>
                <a:cs typeface="+mn-cs"/>
                <a:sym typeface="Arial"/>
              </a:defRPr>
            </a:lvl1pPr>
          </a:lstStyle>
          <a:p>
            <a:r>
              <a:t>Titolo Testo</a:t>
            </a:r>
          </a:p>
        </p:txBody>
      </p:sp>
      <p:sp>
        <p:nvSpPr>
          <p:cNvPr id="63" name="Numero diapositiva"/>
          <p:cNvSpPr txBox="1">
            <a:spLocks noGrp="1"/>
          </p:cNvSpPr>
          <p:nvPr>
            <p:ph idx="2" sz="quarter" type="sldNum"/>
          </p:nvPr>
        </p:nvSpPr>
        <p:spPr>
          <a:xfrm>
            <a:off x="8384895" y="6245225"/>
            <a:ext cx="301907" cy="288822"/>
          </a:xfrm>
          <a:prstGeom prst="rect">
            <a:avLst/>
          </a:prstGeom>
        </p:spPr>
        <p:txBody>
          <a:bodyPr anchor="t" numCol="1"/>
          <a:lstStyle>
            <a:lvl1pPr>
              <a:defRPr b="0" sz="140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Vuota">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70" name="Rectangle 9"/>
          <p:cNvSpPr/>
          <p:nvPr/>
        </p:nvSpPr>
        <p:spPr>
          <a:xfrm>
            <a:off x="0" y="836612"/>
            <a:ext cx="9144000" cy="71439"/>
          </a:xfrm>
          <a:prstGeom prst="rect">
            <a:avLst/>
          </a:prstGeom>
          <a:gradFill>
            <a:gsLst>
              <a:gs pos="0">
                <a:schemeClr val="accent2">
                  <a:alpha val="79999"/>
                </a:schemeClr>
              </a:gs>
              <a:gs pos="100000">
                <a:srgbClr val="181847"/>
              </a:gs>
            </a:gsLst>
            <a:lin ang="5400000" scaled="0"/>
          </a:gradFill>
          <a:ln w="12700">
            <a:miter lim="400000"/>
          </a:ln>
        </p:spPr>
        <p:txBody>
          <a:bodyPr anchor="ctr" bIns="45718" lIns="45718" numCol="1" rIns="45718" tIns="45718"/>
          <a:lstStyle/>
          <a:p>
            <a:pPr>
              <a:defRPr>
                <a:latin typeface="Times New Roman"/>
                <a:ea typeface="Times New Roman"/>
                <a:cs typeface="Times New Roman"/>
                <a:sym typeface="Times New Roman"/>
              </a:defRPr>
            </a:pPr>
            <a:endParaRPr/>
          </a:p>
        </p:txBody>
      </p:sp>
      <p:sp>
        <p:nvSpPr>
          <p:cNvPr id="71" name="Numero diapositiva"/>
          <p:cNvSpPr txBox="1">
            <a:spLocks noGrp="1"/>
          </p:cNvSpPr>
          <p:nvPr>
            <p:ph idx="2" sz="quarter" type="sldNum"/>
          </p:nvPr>
        </p:nvSpPr>
        <p:spPr>
          <a:xfrm>
            <a:off x="8384895" y="6245225"/>
            <a:ext cx="301907" cy="288822"/>
          </a:xfrm>
          <a:prstGeom prst="rect">
            <a:avLst/>
          </a:prstGeom>
        </p:spPr>
        <p:txBody>
          <a:bodyPr anchor="t" numCol="1"/>
          <a:lstStyle>
            <a:lvl1pPr>
              <a:defRPr b="0" sz="140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uto con didascalia">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78" name="Rectangle 9"/>
          <p:cNvSpPr/>
          <p:nvPr/>
        </p:nvSpPr>
        <p:spPr>
          <a:xfrm>
            <a:off x="0" y="836612"/>
            <a:ext cx="9144000" cy="71439"/>
          </a:xfrm>
          <a:prstGeom prst="rect">
            <a:avLst/>
          </a:prstGeom>
          <a:gradFill>
            <a:gsLst>
              <a:gs pos="0">
                <a:schemeClr val="accent2">
                  <a:alpha val="79999"/>
                </a:schemeClr>
              </a:gs>
              <a:gs pos="100000">
                <a:srgbClr val="181847"/>
              </a:gs>
            </a:gsLst>
            <a:lin ang="5400000" scaled="0"/>
          </a:gradFill>
          <a:ln w="12700">
            <a:miter lim="400000"/>
          </a:ln>
        </p:spPr>
        <p:txBody>
          <a:bodyPr anchor="ctr" bIns="45718" lIns="45718" numCol="1" rIns="45718" tIns="45718"/>
          <a:lstStyle/>
          <a:p>
            <a:pPr>
              <a:defRPr>
                <a:latin typeface="Times New Roman"/>
                <a:ea typeface="Times New Roman"/>
                <a:cs typeface="Times New Roman"/>
                <a:sym typeface="Times New Roman"/>
              </a:defRPr>
            </a:pPr>
            <a:endParaRPr/>
          </a:p>
        </p:txBody>
      </p:sp>
      <p:sp>
        <p:nvSpPr>
          <p:cNvPr id="79" name="Titolo Testo"/>
          <p:cNvSpPr txBox="1">
            <a:spLocks noGrp="1"/>
          </p:cNvSpPr>
          <p:nvPr>
            <p:ph type="title"/>
          </p:nvPr>
        </p:nvSpPr>
        <p:spPr>
          <a:xfrm>
            <a:off x="457200" y="273050"/>
            <a:ext cx="3008315" cy="1162050"/>
          </a:xfrm>
          <a:prstGeom prst="rect">
            <a:avLst/>
          </a:prstGeom>
          <a:solidFill>
            <a:schemeClr val="accent2">
              <a:alpha val="60000"/>
            </a:schemeClr>
          </a:solidFill>
        </p:spPr>
        <p:txBody>
          <a:bodyPr anchor="b" numCol="1"/>
          <a:lstStyle>
            <a:lvl1pPr algn="l">
              <a:defRPr b="1" sz="2000">
                <a:solidFill>
                  <a:srgbClr val="FFFFFF"/>
                </a:solidFill>
                <a:effectLst>
                  <a:outerShdw blurRad="38100" dir="2700000" dist="38100" rotWithShape="0">
                    <a:srgbClr val="000000"/>
                  </a:outerShdw>
                </a:effectLst>
                <a:latin typeface="+mn-lt"/>
                <a:ea typeface="+mn-ea"/>
                <a:cs typeface="+mn-cs"/>
                <a:sym typeface="Arial"/>
              </a:defRPr>
            </a:lvl1pPr>
          </a:lstStyle>
          <a:p>
            <a:r>
              <a:t>Titolo Testo</a:t>
            </a:r>
          </a:p>
        </p:txBody>
      </p:sp>
      <p:sp>
        <p:nvSpPr>
          <p:cNvPr id="80" name="Corpo livello uno…"/>
          <p:cNvSpPr txBox="1">
            <a:spLocks noGrp="1"/>
          </p:cNvSpPr>
          <p:nvPr>
            <p:ph idx="1" type="body"/>
          </p:nvPr>
        </p:nvSpPr>
        <p:spPr>
          <a:xfrm>
            <a:off x="3575050" y="273050"/>
            <a:ext cx="5111750" cy="5853113"/>
          </a:xfrm>
          <a:prstGeom prst="rect">
            <a:avLst/>
          </a:prstGeom>
        </p:spPr>
        <p:txBody>
          <a:bodyPr numCol="1"/>
          <a:lstStyle>
            <a:lvl1pPr>
              <a:buFontTx/>
              <a:defRPr>
                <a:latin typeface="+mn-lt"/>
                <a:ea typeface="+mn-ea"/>
                <a:cs typeface="+mn-cs"/>
                <a:sym typeface="Arial"/>
              </a:defRPr>
            </a:lvl1pPr>
            <a:lvl2pPr>
              <a:buFontTx/>
              <a:defRPr>
                <a:latin typeface="+mn-lt"/>
                <a:ea typeface="+mn-ea"/>
                <a:cs typeface="+mn-cs"/>
                <a:sym typeface="Arial"/>
              </a:defRPr>
            </a:lvl2pPr>
            <a:lvl3pPr>
              <a:buFontTx/>
              <a:defRPr>
                <a:latin typeface="+mn-lt"/>
                <a:ea typeface="+mn-ea"/>
                <a:cs typeface="+mn-cs"/>
                <a:sym typeface="Arial"/>
              </a:defRPr>
            </a:lvl3pPr>
            <a:lvl4pPr>
              <a:buFontTx/>
              <a:defRPr>
                <a:latin typeface="+mn-lt"/>
                <a:ea typeface="+mn-ea"/>
                <a:cs typeface="+mn-cs"/>
                <a:sym typeface="Arial"/>
              </a:defRPr>
            </a:lvl4pPr>
            <a:lvl5pPr>
              <a:buFontTx/>
              <a:defRPr>
                <a:latin typeface="+mn-lt"/>
                <a:ea typeface="+mn-ea"/>
                <a:cs typeface="+mn-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81" name="Segnaposto testo 3"/>
          <p:cNvSpPr>
            <a:spLocks noGrp="1"/>
          </p:cNvSpPr>
          <p:nvPr>
            <p:ph idx="21" sz="half" type="body"/>
          </p:nvPr>
        </p:nvSpPr>
        <p:spPr>
          <a:xfrm>
            <a:off x="457198" y="1435100"/>
            <a:ext cx="3008316" cy="4691063"/>
          </a:xfrm>
          <a:prstGeom prst="rect">
            <a:avLst/>
          </a:prstGeom>
        </p:spPr>
        <p:txBody>
          <a:bodyPr numCol="1"/>
          <a:lstStyle/>
          <a:p>
            <a:pPr>
              <a:buFontTx/>
              <a:defRPr>
                <a:latin typeface="+mn-lt"/>
                <a:ea typeface="+mn-ea"/>
                <a:cs typeface="+mn-cs"/>
                <a:sym typeface="Arial"/>
              </a:defRPr>
            </a:pPr>
            <a:endParaRPr/>
          </a:p>
        </p:txBody>
      </p:sp>
      <p:sp>
        <p:nvSpPr>
          <p:cNvPr id="82" name="Numero diapositiva"/>
          <p:cNvSpPr txBox="1">
            <a:spLocks noGrp="1"/>
          </p:cNvSpPr>
          <p:nvPr>
            <p:ph idx="2" sz="quarter" type="sldNum"/>
          </p:nvPr>
        </p:nvSpPr>
        <p:spPr>
          <a:xfrm>
            <a:off x="8384895" y="6245225"/>
            <a:ext cx="301907" cy="288822"/>
          </a:xfrm>
          <a:prstGeom prst="rect">
            <a:avLst/>
          </a:prstGeom>
        </p:spPr>
        <p:txBody>
          <a:bodyPr anchor="t" numCol="1"/>
          <a:lstStyle>
            <a:lvl1pPr>
              <a:defRPr b="0" sz="140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Immagine con didascalia">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89" name="Rectangle 9"/>
          <p:cNvSpPr/>
          <p:nvPr/>
        </p:nvSpPr>
        <p:spPr>
          <a:xfrm>
            <a:off x="0" y="836612"/>
            <a:ext cx="9144000" cy="71439"/>
          </a:xfrm>
          <a:prstGeom prst="rect">
            <a:avLst/>
          </a:prstGeom>
          <a:gradFill>
            <a:gsLst>
              <a:gs pos="0">
                <a:schemeClr val="accent2">
                  <a:alpha val="79999"/>
                </a:schemeClr>
              </a:gs>
              <a:gs pos="100000">
                <a:srgbClr val="181847"/>
              </a:gs>
            </a:gsLst>
            <a:lin ang="5400000" scaled="0"/>
          </a:gradFill>
          <a:ln w="12700">
            <a:miter lim="400000"/>
          </a:ln>
        </p:spPr>
        <p:txBody>
          <a:bodyPr anchor="ctr" bIns="45718" lIns="45718" numCol="1" rIns="45718" tIns="45718"/>
          <a:lstStyle/>
          <a:p>
            <a:pPr>
              <a:defRPr>
                <a:latin typeface="Times New Roman"/>
                <a:ea typeface="Times New Roman"/>
                <a:cs typeface="Times New Roman"/>
                <a:sym typeface="Times New Roman"/>
              </a:defRPr>
            </a:pPr>
            <a:endParaRPr/>
          </a:p>
        </p:txBody>
      </p:sp>
      <p:sp>
        <p:nvSpPr>
          <p:cNvPr id="90" name="Titolo Testo"/>
          <p:cNvSpPr txBox="1">
            <a:spLocks noGrp="1"/>
          </p:cNvSpPr>
          <p:nvPr>
            <p:ph type="title"/>
          </p:nvPr>
        </p:nvSpPr>
        <p:spPr>
          <a:xfrm>
            <a:off x="1792288" y="4800600"/>
            <a:ext cx="5486402" cy="566738"/>
          </a:xfrm>
          <a:prstGeom prst="rect">
            <a:avLst/>
          </a:prstGeom>
          <a:solidFill>
            <a:schemeClr val="accent2">
              <a:alpha val="60000"/>
            </a:schemeClr>
          </a:solidFill>
        </p:spPr>
        <p:txBody>
          <a:bodyPr anchor="b" numCol="1"/>
          <a:lstStyle>
            <a:lvl1pPr algn="l">
              <a:defRPr b="1" sz="2000">
                <a:solidFill>
                  <a:srgbClr val="FFFFFF"/>
                </a:solidFill>
                <a:effectLst>
                  <a:outerShdw blurRad="38100" dir="2700000" dist="38100" rotWithShape="0">
                    <a:srgbClr val="000000"/>
                  </a:outerShdw>
                </a:effectLst>
                <a:latin typeface="+mn-lt"/>
                <a:ea typeface="+mn-ea"/>
                <a:cs typeface="+mn-cs"/>
                <a:sym typeface="Arial"/>
              </a:defRPr>
            </a:lvl1pPr>
          </a:lstStyle>
          <a:p>
            <a:r>
              <a:t>Titolo Testo</a:t>
            </a:r>
          </a:p>
        </p:txBody>
      </p:sp>
      <p:sp>
        <p:nvSpPr>
          <p:cNvPr id="91" name="Segnaposto immagine 2"/>
          <p:cNvSpPr>
            <a:spLocks noGrp="1"/>
          </p:cNvSpPr>
          <p:nvPr>
            <p:ph idx="21" sz="half" type="pic"/>
          </p:nvPr>
        </p:nvSpPr>
        <p:spPr>
          <a:xfrm>
            <a:off x="1792288" y="612775"/>
            <a:ext cx="5486402" cy="4114800"/>
          </a:xfrm>
          <a:prstGeom prst="rect">
            <a:avLst/>
          </a:prstGeom>
        </p:spPr>
        <p:txBody>
          <a:bodyPr bIns="45719" lIns="91439" numCol="1" rIns="91439" tIns="45719">
            <a:noAutofit/>
          </a:bodyPr>
          <a:lstStyle/>
          <a:p>
            <a:endParaRPr/>
          </a:p>
        </p:txBody>
      </p:sp>
      <p:sp>
        <p:nvSpPr>
          <p:cNvPr id="92" name="Corpo livello uno…"/>
          <p:cNvSpPr txBox="1">
            <a:spLocks noGrp="1"/>
          </p:cNvSpPr>
          <p:nvPr>
            <p:ph idx="1" sz="quarter" type="body"/>
          </p:nvPr>
        </p:nvSpPr>
        <p:spPr>
          <a:xfrm>
            <a:off x="1792288" y="5367337"/>
            <a:ext cx="5486402" cy="804864"/>
          </a:xfrm>
          <a:prstGeom prst="rect">
            <a:avLst/>
          </a:prstGeom>
        </p:spPr>
        <p:txBody>
          <a:bodyPr numCol="1"/>
          <a:lstStyle>
            <a:lvl1pPr indent="0" marL="0">
              <a:spcBef>
                <a:spcPts val="300"/>
              </a:spcBef>
              <a:buSzTx/>
              <a:buFontTx/>
              <a:buNone/>
              <a:defRPr sz="1400">
                <a:latin typeface="+mn-lt"/>
                <a:ea typeface="+mn-ea"/>
                <a:cs typeface="+mn-cs"/>
                <a:sym typeface="Arial"/>
              </a:defRPr>
            </a:lvl1pPr>
            <a:lvl2pPr indent="0" marL="0">
              <a:spcBef>
                <a:spcPts val="300"/>
              </a:spcBef>
              <a:buSzTx/>
              <a:buFontTx/>
              <a:buNone/>
              <a:defRPr sz="1400">
                <a:latin typeface="+mn-lt"/>
                <a:ea typeface="+mn-ea"/>
                <a:cs typeface="+mn-cs"/>
                <a:sym typeface="Arial"/>
              </a:defRPr>
            </a:lvl2pPr>
            <a:lvl3pPr indent="0" marL="0">
              <a:spcBef>
                <a:spcPts val="300"/>
              </a:spcBef>
              <a:buSzTx/>
              <a:buFontTx/>
              <a:buNone/>
              <a:defRPr sz="1400">
                <a:latin typeface="+mn-lt"/>
                <a:ea typeface="+mn-ea"/>
                <a:cs typeface="+mn-cs"/>
                <a:sym typeface="Arial"/>
              </a:defRPr>
            </a:lvl3pPr>
            <a:lvl4pPr indent="0" marL="0">
              <a:spcBef>
                <a:spcPts val="300"/>
              </a:spcBef>
              <a:buSzTx/>
              <a:buFontTx/>
              <a:buNone/>
              <a:defRPr sz="1400">
                <a:latin typeface="+mn-lt"/>
                <a:ea typeface="+mn-ea"/>
                <a:cs typeface="+mn-cs"/>
                <a:sym typeface="Arial"/>
              </a:defRPr>
            </a:lvl4pPr>
            <a:lvl5pPr indent="0" marL="0">
              <a:spcBef>
                <a:spcPts val="300"/>
              </a:spcBef>
              <a:buSzTx/>
              <a:buFontTx/>
              <a:buNone/>
              <a:defRPr sz="1400">
                <a:latin typeface="+mn-lt"/>
                <a:ea typeface="+mn-ea"/>
                <a:cs typeface="+mn-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93" name="Numero diapositiva"/>
          <p:cNvSpPr txBox="1">
            <a:spLocks noGrp="1"/>
          </p:cNvSpPr>
          <p:nvPr>
            <p:ph idx="2" sz="quarter" type="sldNum"/>
          </p:nvPr>
        </p:nvSpPr>
        <p:spPr>
          <a:xfrm>
            <a:off x="8384895" y="6245225"/>
            <a:ext cx="301907" cy="288822"/>
          </a:xfrm>
          <a:prstGeom prst="rect">
            <a:avLst/>
          </a:prstGeom>
        </p:spPr>
        <p:txBody>
          <a:bodyPr anchor="t" numCol="1"/>
          <a:lstStyle>
            <a:lvl1pPr>
              <a:defRPr b="0" sz="140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olo, diagramma o organigramma">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00" name="Rectangle 9"/>
          <p:cNvSpPr/>
          <p:nvPr/>
        </p:nvSpPr>
        <p:spPr>
          <a:xfrm>
            <a:off x="0" y="836612"/>
            <a:ext cx="9144000" cy="71439"/>
          </a:xfrm>
          <a:prstGeom prst="rect">
            <a:avLst/>
          </a:prstGeom>
          <a:gradFill>
            <a:gsLst>
              <a:gs pos="0">
                <a:schemeClr val="accent2">
                  <a:alpha val="79999"/>
                </a:schemeClr>
              </a:gs>
              <a:gs pos="100000">
                <a:srgbClr val="181847"/>
              </a:gs>
            </a:gsLst>
            <a:lin ang="5400000" scaled="0"/>
          </a:gradFill>
          <a:ln w="12700">
            <a:miter lim="400000"/>
          </a:ln>
        </p:spPr>
        <p:txBody>
          <a:bodyPr anchor="ctr" bIns="45718" lIns="45718" numCol="1" rIns="45718" tIns="45718"/>
          <a:lstStyle/>
          <a:p>
            <a:pPr>
              <a:defRPr>
                <a:latin typeface="Times New Roman"/>
                <a:ea typeface="Times New Roman"/>
                <a:cs typeface="Times New Roman"/>
                <a:sym typeface="Times New Roman"/>
              </a:defRPr>
            </a:pPr>
            <a:endParaRPr/>
          </a:p>
        </p:txBody>
      </p:sp>
      <p:sp>
        <p:nvSpPr>
          <p:cNvPr id="101" name="Titolo Testo"/>
          <p:cNvSpPr txBox="1">
            <a:spLocks noGrp="1"/>
          </p:cNvSpPr>
          <p:nvPr>
            <p:ph type="title"/>
          </p:nvPr>
        </p:nvSpPr>
        <p:spPr>
          <a:xfrm>
            <a:off x="0" y="0"/>
            <a:ext cx="9144000" cy="836613"/>
          </a:xfrm>
          <a:prstGeom prst="rect">
            <a:avLst/>
          </a:prstGeom>
          <a:solidFill>
            <a:schemeClr val="accent2">
              <a:alpha val="60000"/>
            </a:schemeClr>
          </a:solidFill>
        </p:spPr>
        <p:txBody>
          <a:bodyPr numCol="1"/>
          <a:lstStyle>
            <a:lvl1pPr>
              <a:defRPr b="1" sz="2400">
                <a:solidFill>
                  <a:srgbClr val="FFFFFF"/>
                </a:solidFill>
                <a:effectLst>
                  <a:outerShdw blurRad="38100" dir="2700000" dist="38100" rotWithShape="0">
                    <a:srgbClr val="000000"/>
                  </a:outerShdw>
                </a:effectLst>
                <a:latin typeface="+mn-lt"/>
                <a:ea typeface="+mn-ea"/>
                <a:cs typeface="+mn-cs"/>
                <a:sym typeface="Arial"/>
              </a:defRPr>
            </a:lvl1pPr>
          </a:lstStyle>
          <a:p>
            <a:r>
              <a:t>Titolo Testo</a:t>
            </a:r>
          </a:p>
        </p:txBody>
      </p:sp>
      <p:sp>
        <p:nvSpPr>
          <p:cNvPr id="102" name="Numero diapositiva"/>
          <p:cNvSpPr txBox="1">
            <a:spLocks noGrp="1"/>
          </p:cNvSpPr>
          <p:nvPr>
            <p:ph idx="2" sz="quarter" type="sldNum"/>
          </p:nvPr>
        </p:nvSpPr>
        <p:spPr>
          <a:xfrm>
            <a:off x="8384895" y="6245225"/>
            <a:ext cx="301907" cy="288822"/>
          </a:xfrm>
          <a:prstGeom prst="rect">
            <a:avLst/>
          </a:prstGeom>
        </p:spPr>
        <p:txBody>
          <a:bodyPr anchor="t" numCol="1"/>
          <a:lstStyle>
            <a:lvl1pPr>
              <a:defRPr b="0" sz="140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Titolo e tabella">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09" name="Rectangle 9"/>
          <p:cNvSpPr/>
          <p:nvPr/>
        </p:nvSpPr>
        <p:spPr>
          <a:xfrm>
            <a:off x="0" y="836612"/>
            <a:ext cx="9144000" cy="71439"/>
          </a:xfrm>
          <a:prstGeom prst="rect">
            <a:avLst/>
          </a:prstGeom>
          <a:gradFill>
            <a:gsLst>
              <a:gs pos="0">
                <a:schemeClr val="accent2">
                  <a:alpha val="79999"/>
                </a:schemeClr>
              </a:gs>
              <a:gs pos="100000">
                <a:srgbClr val="181847"/>
              </a:gs>
            </a:gsLst>
            <a:lin ang="5400000" scaled="0"/>
          </a:gradFill>
          <a:ln w="12700">
            <a:miter lim="400000"/>
          </a:ln>
        </p:spPr>
        <p:txBody>
          <a:bodyPr anchor="ctr" bIns="45718" lIns="45718" numCol="1" rIns="45718" tIns="45718"/>
          <a:lstStyle/>
          <a:p>
            <a:pPr>
              <a:defRPr>
                <a:latin typeface="Times New Roman"/>
                <a:ea typeface="Times New Roman"/>
                <a:cs typeface="Times New Roman"/>
                <a:sym typeface="Times New Roman"/>
              </a:defRPr>
            </a:pPr>
            <a:endParaRPr/>
          </a:p>
        </p:txBody>
      </p:sp>
      <p:sp>
        <p:nvSpPr>
          <p:cNvPr id="110" name="Titolo Testo"/>
          <p:cNvSpPr txBox="1">
            <a:spLocks noGrp="1"/>
          </p:cNvSpPr>
          <p:nvPr>
            <p:ph type="title"/>
          </p:nvPr>
        </p:nvSpPr>
        <p:spPr>
          <a:xfrm>
            <a:off x="0" y="0"/>
            <a:ext cx="9144000" cy="836613"/>
          </a:xfrm>
          <a:prstGeom prst="rect">
            <a:avLst/>
          </a:prstGeom>
          <a:solidFill>
            <a:schemeClr val="accent2">
              <a:alpha val="60000"/>
            </a:schemeClr>
          </a:solidFill>
        </p:spPr>
        <p:txBody>
          <a:bodyPr numCol="1"/>
          <a:lstStyle>
            <a:lvl1pPr>
              <a:defRPr b="1" sz="2400">
                <a:solidFill>
                  <a:srgbClr val="FFFFFF"/>
                </a:solidFill>
                <a:effectLst>
                  <a:outerShdw blurRad="38100" dir="2700000" dist="38100" rotWithShape="0">
                    <a:srgbClr val="000000"/>
                  </a:outerShdw>
                </a:effectLst>
                <a:latin typeface="+mn-lt"/>
                <a:ea typeface="+mn-ea"/>
                <a:cs typeface="+mn-cs"/>
                <a:sym typeface="Arial"/>
              </a:defRPr>
            </a:lvl1pPr>
          </a:lstStyle>
          <a:p>
            <a:r>
              <a:t>Titolo Testo</a:t>
            </a:r>
          </a:p>
        </p:txBody>
      </p:sp>
      <p:sp>
        <p:nvSpPr>
          <p:cNvPr id="111" name="Numero diapositiva"/>
          <p:cNvSpPr txBox="1">
            <a:spLocks noGrp="1"/>
          </p:cNvSpPr>
          <p:nvPr>
            <p:ph idx="2" sz="quarter" type="sldNum"/>
          </p:nvPr>
        </p:nvSpPr>
        <p:spPr>
          <a:xfrm>
            <a:off x="8384895" y="6245225"/>
            <a:ext cx="301907" cy="288822"/>
          </a:xfrm>
          <a:prstGeom prst="rect">
            <a:avLst/>
          </a:prstGeom>
        </p:spPr>
        <p:txBody>
          <a:bodyPr anchor="t" numCol="1"/>
          <a:lstStyle>
            <a:lvl1pPr>
              <a:defRPr b="0" sz="140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olo, contenuto e contenuto 2">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8" name="Rectangle 9"/>
          <p:cNvSpPr/>
          <p:nvPr/>
        </p:nvSpPr>
        <p:spPr>
          <a:xfrm>
            <a:off x="0" y="836612"/>
            <a:ext cx="9144000" cy="71439"/>
          </a:xfrm>
          <a:prstGeom prst="rect">
            <a:avLst/>
          </a:prstGeom>
          <a:gradFill>
            <a:gsLst>
              <a:gs pos="0">
                <a:schemeClr val="accent2">
                  <a:alpha val="79999"/>
                </a:schemeClr>
              </a:gs>
              <a:gs pos="100000">
                <a:srgbClr val="181847"/>
              </a:gs>
            </a:gsLst>
            <a:lin ang="5400000" scaled="0"/>
          </a:gradFill>
          <a:ln w="12700">
            <a:miter lim="400000"/>
          </a:ln>
        </p:spPr>
        <p:txBody>
          <a:bodyPr anchor="ctr" bIns="45718" lIns="45718" numCol="1" rIns="45718" tIns="45718"/>
          <a:lstStyle/>
          <a:p>
            <a:pPr>
              <a:defRPr>
                <a:latin typeface="Times New Roman"/>
                <a:ea typeface="Times New Roman"/>
                <a:cs typeface="Times New Roman"/>
                <a:sym typeface="Times New Roman"/>
              </a:defRPr>
            </a:pPr>
            <a:endParaRPr/>
          </a:p>
        </p:txBody>
      </p:sp>
      <p:sp>
        <p:nvSpPr>
          <p:cNvPr id="119" name="Titolo Testo"/>
          <p:cNvSpPr txBox="1">
            <a:spLocks noGrp="1"/>
          </p:cNvSpPr>
          <p:nvPr>
            <p:ph type="title"/>
          </p:nvPr>
        </p:nvSpPr>
        <p:spPr>
          <a:xfrm>
            <a:off x="0" y="0"/>
            <a:ext cx="9144000" cy="836613"/>
          </a:xfrm>
          <a:prstGeom prst="rect">
            <a:avLst/>
          </a:prstGeom>
          <a:solidFill>
            <a:schemeClr val="accent2">
              <a:alpha val="60000"/>
            </a:schemeClr>
          </a:solidFill>
        </p:spPr>
        <p:txBody>
          <a:bodyPr numCol="1"/>
          <a:lstStyle>
            <a:lvl1pPr>
              <a:defRPr b="1" sz="2400">
                <a:solidFill>
                  <a:srgbClr val="FFFFFF"/>
                </a:solidFill>
                <a:effectLst>
                  <a:outerShdw blurRad="38100" dir="2700000" dist="38100" rotWithShape="0">
                    <a:srgbClr val="000000"/>
                  </a:outerShdw>
                </a:effectLst>
                <a:latin typeface="+mn-lt"/>
                <a:ea typeface="+mn-ea"/>
                <a:cs typeface="+mn-cs"/>
                <a:sym typeface="Arial"/>
              </a:defRPr>
            </a:lvl1pPr>
          </a:lstStyle>
          <a:p>
            <a:r>
              <a:t>Titolo Testo</a:t>
            </a:r>
          </a:p>
        </p:txBody>
      </p:sp>
      <p:sp>
        <p:nvSpPr>
          <p:cNvPr id="120" name="Corpo livello uno…"/>
          <p:cNvSpPr txBox="1">
            <a:spLocks noGrp="1"/>
          </p:cNvSpPr>
          <p:nvPr>
            <p:ph idx="1" sz="half" type="body"/>
          </p:nvPr>
        </p:nvSpPr>
        <p:spPr>
          <a:xfrm>
            <a:off x="457200" y="1600200"/>
            <a:ext cx="4038600" cy="4525963"/>
          </a:xfrm>
          <a:prstGeom prst="rect">
            <a:avLst/>
          </a:prstGeom>
        </p:spPr>
        <p:txBody>
          <a:bodyPr numCol="1"/>
          <a:lstStyle>
            <a:lvl1pPr>
              <a:buFontTx/>
              <a:defRPr>
                <a:latin typeface="+mn-lt"/>
                <a:ea typeface="+mn-ea"/>
                <a:cs typeface="+mn-cs"/>
                <a:sym typeface="Arial"/>
              </a:defRPr>
            </a:lvl1pPr>
            <a:lvl2pPr>
              <a:buFontTx/>
              <a:defRPr>
                <a:latin typeface="+mn-lt"/>
                <a:ea typeface="+mn-ea"/>
                <a:cs typeface="+mn-cs"/>
                <a:sym typeface="Arial"/>
              </a:defRPr>
            </a:lvl2pPr>
            <a:lvl3pPr>
              <a:buFontTx/>
              <a:defRPr>
                <a:latin typeface="+mn-lt"/>
                <a:ea typeface="+mn-ea"/>
                <a:cs typeface="+mn-cs"/>
                <a:sym typeface="Arial"/>
              </a:defRPr>
            </a:lvl3pPr>
            <a:lvl4pPr>
              <a:buFontTx/>
              <a:defRPr>
                <a:latin typeface="+mn-lt"/>
                <a:ea typeface="+mn-ea"/>
                <a:cs typeface="+mn-cs"/>
                <a:sym typeface="Arial"/>
              </a:defRPr>
            </a:lvl4pPr>
            <a:lvl5pPr>
              <a:buFontTx/>
              <a:defRPr>
                <a:latin typeface="+mn-lt"/>
                <a:ea typeface="+mn-ea"/>
                <a:cs typeface="+mn-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121" name="Numero diapositiva"/>
          <p:cNvSpPr txBox="1">
            <a:spLocks noGrp="1"/>
          </p:cNvSpPr>
          <p:nvPr>
            <p:ph idx="2" sz="quarter" type="sldNum"/>
          </p:nvPr>
        </p:nvSpPr>
        <p:spPr>
          <a:xfrm>
            <a:off x="8384895" y="6245225"/>
            <a:ext cx="301907" cy="288822"/>
          </a:xfrm>
          <a:prstGeom prst="rect">
            <a:avLst/>
          </a:prstGeom>
        </p:spPr>
        <p:txBody>
          <a:bodyPr anchor="t" numCol="1"/>
          <a:lstStyle>
            <a:lvl1pPr>
              <a:defRPr b="0" sz="140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olo e  contenuto 4">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28" name="Rectangle 9"/>
          <p:cNvSpPr/>
          <p:nvPr/>
        </p:nvSpPr>
        <p:spPr>
          <a:xfrm>
            <a:off x="0" y="836612"/>
            <a:ext cx="9144000" cy="71439"/>
          </a:xfrm>
          <a:prstGeom prst="rect">
            <a:avLst/>
          </a:prstGeom>
          <a:gradFill>
            <a:gsLst>
              <a:gs pos="0">
                <a:schemeClr val="accent2">
                  <a:alpha val="79999"/>
                </a:schemeClr>
              </a:gs>
              <a:gs pos="100000">
                <a:srgbClr val="181847"/>
              </a:gs>
            </a:gsLst>
            <a:lin ang="5400000" scaled="0"/>
          </a:gradFill>
          <a:ln w="12700">
            <a:miter lim="400000"/>
          </a:ln>
        </p:spPr>
        <p:txBody>
          <a:bodyPr anchor="ctr" bIns="45718" lIns="45718" numCol="1" rIns="45718" tIns="45718"/>
          <a:lstStyle/>
          <a:p>
            <a:pPr>
              <a:defRPr>
                <a:latin typeface="Times New Roman"/>
                <a:ea typeface="Times New Roman"/>
                <a:cs typeface="Times New Roman"/>
                <a:sym typeface="Times New Roman"/>
              </a:defRPr>
            </a:pPr>
            <a:endParaRPr/>
          </a:p>
        </p:txBody>
      </p:sp>
      <p:sp>
        <p:nvSpPr>
          <p:cNvPr id="129" name="Titolo Testo"/>
          <p:cNvSpPr txBox="1">
            <a:spLocks noGrp="1"/>
          </p:cNvSpPr>
          <p:nvPr>
            <p:ph type="title"/>
          </p:nvPr>
        </p:nvSpPr>
        <p:spPr>
          <a:xfrm>
            <a:off x="0" y="0"/>
            <a:ext cx="9144000" cy="836613"/>
          </a:xfrm>
          <a:prstGeom prst="rect">
            <a:avLst/>
          </a:prstGeom>
          <a:solidFill>
            <a:schemeClr val="accent2">
              <a:alpha val="60000"/>
            </a:schemeClr>
          </a:solidFill>
        </p:spPr>
        <p:txBody>
          <a:bodyPr numCol="1"/>
          <a:lstStyle>
            <a:lvl1pPr>
              <a:defRPr b="1" sz="2400">
                <a:solidFill>
                  <a:srgbClr val="FFFFFF"/>
                </a:solidFill>
                <a:effectLst>
                  <a:outerShdw blurRad="38100" dir="2700000" dist="38100" rotWithShape="0">
                    <a:srgbClr val="000000"/>
                  </a:outerShdw>
                </a:effectLst>
                <a:latin typeface="+mn-lt"/>
                <a:ea typeface="+mn-ea"/>
                <a:cs typeface="+mn-cs"/>
                <a:sym typeface="Arial"/>
              </a:defRPr>
            </a:lvl1pPr>
          </a:lstStyle>
          <a:p>
            <a:r>
              <a:t>Titolo Testo</a:t>
            </a:r>
          </a:p>
        </p:txBody>
      </p:sp>
      <p:sp>
        <p:nvSpPr>
          <p:cNvPr id="130" name="Corpo livello uno…"/>
          <p:cNvSpPr txBox="1">
            <a:spLocks noGrp="1"/>
          </p:cNvSpPr>
          <p:nvPr>
            <p:ph idx="1" sz="quarter" type="body"/>
          </p:nvPr>
        </p:nvSpPr>
        <p:spPr>
          <a:xfrm>
            <a:off x="457200" y="1600200"/>
            <a:ext cx="4038600" cy="2185990"/>
          </a:xfrm>
          <a:prstGeom prst="rect">
            <a:avLst/>
          </a:prstGeom>
        </p:spPr>
        <p:txBody>
          <a:bodyPr numCol="1"/>
          <a:lstStyle>
            <a:lvl1pPr>
              <a:buFontTx/>
              <a:defRPr>
                <a:latin typeface="+mn-lt"/>
                <a:ea typeface="+mn-ea"/>
                <a:cs typeface="+mn-cs"/>
                <a:sym typeface="Arial"/>
              </a:defRPr>
            </a:lvl1pPr>
            <a:lvl2pPr>
              <a:buFontTx/>
              <a:defRPr>
                <a:latin typeface="+mn-lt"/>
                <a:ea typeface="+mn-ea"/>
                <a:cs typeface="+mn-cs"/>
                <a:sym typeface="Arial"/>
              </a:defRPr>
            </a:lvl2pPr>
            <a:lvl3pPr>
              <a:buFontTx/>
              <a:defRPr>
                <a:latin typeface="+mn-lt"/>
                <a:ea typeface="+mn-ea"/>
                <a:cs typeface="+mn-cs"/>
                <a:sym typeface="Arial"/>
              </a:defRPr>
            </a:lvl3pPr>
            <a:lvl4pPr>
              <a:buFontTx/>
              <a:defRPr>
                <a:latin typeface="+mn-lt"/>
                <a:ea typeface="+mn-ea"/>
                <a:cs typeface="+mn-cs"/>
                <a:sym typeface="Arial"/>
              </a:defRPr>
            </a:lvl4pPr>
            <a:lvl5pPr>
              <a:buFontTx/>
              <a:defRPr>
                <a:latin typeface="+mn-lt"/>
                <a:ea typeface="+mn-ea"/>
                <a:cs typeface="+mn-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131" name="Numero diapositiva"/>
          <p:cNvSpPr txBox="1">
            <a:spLocks noGrp="1"/>
          </p:cNvSpPr>
          <p:nvPr>
            <p:ph idx="2" sz="quarter" type="sldNum"/>
          </p:nvPr>
        </p:nvSpPr>
        <p:spPr>
          <a:xfrm>
            <a:off x="8384895" y="6245225"/>
            <a:ext cx="301907" cy="288822"/>
          </a:xfrm>
          <a:prstGeom prst="rect">
            <a:avLst/>
          </a:prstGeom>
        </p:spPr>
        <p:txBody>
          <a:bodyPr anchor="t" numCol="1"/>
          <a:lstStyle>
            <a:lvl1pPr>
              <a:defRPr b="0" sz="140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Diapositiva titolo">
    <p:spTree>
      <p:nvGrpSpPr>
        <p:cNvPr id="1" name=""/>
        <p:cNvGrpSpPr/>
        <p:nvPr/>
      </p:nvGrpSpPr>
      <p:grpSpPr>
        <a:xfrm>
          <a:off x="0" y="0"/>
          <a:ext cx="0" cy="0"/>
          <a:chOff x="0" y="0"/>
          <a:chExt cx="0" cy="0"/>
        </a:xfrm>
      </p:grpSpPr>
      <p:sp>
        <p:nvSpPr>
          <p:cNvPr id="138" name="Titolo Testo"/>
          <p:cNvSpPr txBox="1">
            <a:spLocks noGrp="1"/>
          </p:cNvSpPr>
          <p:nvPr>
            <p:ph type="title"/>
          </p:nvPr>
        </p:nvSpPr>
        <p:spPr>
          <a:xfrm>
            <a:off x="685800" y="2130425"/>
            <a:ext cx="7772400" cy="1470025"/>
          </a:xfrm>
          <a:prstGeom prst="rect">
            <a:avLst/>
          </a:prstGeom>
        </p:spPr>
        <p:txBody>
          <a:bodyPr numCol="1"/>
          <a:lstStyle/>
          <a:p>
            <a:r>
              <a:t>Titolo Testo</a:t>
            </a:r>
          </a:p>
        </p:txBody>
      </p:sp>
      <p:sp>
        <p:nvSpPr>
          <p:cNvPr id="139" name="Corpo livello uno…"/>
          <p:cNvSpPr txBox="1">
            <a:spLocks noGrp="1"/>
          </p:cNvSpPr>
          <p:nvPr>
            <p:ph idx="1" sz="quarter" type="body"/>
          </p:nvPr>
        </p:nvSpPr>
        <p:spPr>
          <a:xfrm>
            <a:off x="1371600" y="3886200"/>
            <a:ext cx="6400800" cy="1752600"/>
          </a:xfrm>
          <a:prstGeom prst="rect">
            <a:avLst/>
          </a:prstGeom>
        </p:spPr>
        <p:txBody>
          <a:bodyPr numCol="1"/>
          <a:lstStyle>
            <a:lvl1pPr algn="ctr" indent="0" marL="0">
              <a:buSzTx/>
              <a:buFontTx/>
              <a:buNone/>
              <a:defRPr>
                <a:solidFill>
                  <a:srgbClr val="888888"/>
                </a:solidFill>
              </a:defRPr>
            </a:lvl1pPr>
            <a:lvl2pPr algn="ctr" indent="0" marL="0">
              <a:buSzTx/>
              <a:buFontTx/>
              <a:buNone/>
              <a:defRPr>
                <a:solidFill>
                  <a:srgbClr val="888888"/>
                </a:solidFill>
              </a:defRPr>
            </a:lvl2pPr>
            <a:lvl3pPr algn="ctr" indent="0" marL="0">
              <a:buSzTx/>
              <a:buFontTx/>
              <a:buNone/>
              <a:defRPr>
                <a:solidFill>
                  <a:srgbClr val="888888"/>
                </a:solidFill>
              </a:defRPr>
            </a:lvl3pPr>
            <a:lvl4pPr algn="ctr" indent="0" marL="0">
              <a:buSzTx/>
              <a:buFontTx/>
              <a:buNone/>
              <a:defRPr>
                <a:solidFill>
                  <a:srgbClr val="888888"/>
                </a:solidFill>
              </a:defRPr>
            </a:lvl4pPr>
            <a:lvl5pPr algn="ctr" indent="0" marL="0">
              <a:buSzTx/>
              <a:buFontTx/>
              <a:buNone/>
              <a:defRPr>
                <a:solidFill>
                  <a:srgbClr val="888888"/>
                </a:solidFill>
              </a:defRPr>
            </a:lvl5pPr>
          </a:lstStyle>
          <a:p>
            <a:r>
              <a:t>Corpo livello uno</a:t>
            </a:r>
          </a:p>
          <a:p>
            <a:pPr lvl="1"/>
            <a:r>
              <a:t>Corpo livello due</a:t>
            </a:r>
          </a:p>
          <a:p>
            <a:pPr lvl="2"/>
            <a:r>
              <a:t>Corpo livello tre</a:t>
            </a:r>
          </a:p>
          <a:p>
            <a:pPr lvl="3"/>
            <a:r>
              <a:t>Corpo livello quattro</a:t>
            </a:r>
          </a:p>
          <a:p>
            <a:pPr lvl="4"/>
            <a:r>
              <a:t>Corpo livello cinque</a:t>
            </a:r>
          </a:p>
        </p:txBody>
      </p:sp>
      <p:sp>
        <p:nvSpPr>
          <p:cNvPr id="140" name="Numero diapositiva"/>
          <p:cNvSpPr txBox="1">
            <a:spLocks noGrp="1"/>
          </p:cNvSpPr>
          <p:nvPr>
            <p:ph idx="2" sz="quarter" type="sldNum"/>
          </p:nvPr>
        </p:nvSpPr>
        <p:spPr>
          <a:prstGeom prst="rect">
            <a:avLst/>
          </a:prstGeom>
        </p:spPr>
        <p:txBody>
          <a:bodyPr numCol="1"/>
          <a:lstStyle/>
          <a:p>
            <a:fld id="{86CB4B4D-7CA3-9044-876B-883B54F8677D}" type="slidenum">
              <a:t>‹N›</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Titolo e contenuto">
    <p:spTree>
      <p:nvGrpSpPr>
        <p:cNvPr id="1" name=""/>
        <p:cNvGrpSpPr/>
        <p:nvPr/>
      </p:nvGrpSpPr>
      <p:grpSpPr>
        <a:xfrm>
          <a:off x="0" y="0"/>
          <a:ext cx="0" cy="0"/>
          <a:chOff x="0" y="0"/>
          <a:chExt cx="0" cy="0"/>
        </a:xfrm>
      </p:grpSpPr>
      <p:sp>
        <p:nvSpPr>
          <p:cNvPr id="147" name="Titolo Testo"/>
          <p:cNvSpPr txBox="1">
            <a:spLocks noGrp="1"/>
          </p:cNvSpPr>
          <p:nvPr>
            <p:ph type="title"/>
          </p:nvPr>
        </p:nvSpPr>
        <p:spPr>
          <a:prstGeom prst="rect">
            <a:avLst/>
          </a:prstGeom>
        </p:spPr>
        <p:txBody>
          <a:bodyPr numCol="1"/>
          <a:lstStyle/>
          <a:p>
            <a:r>
              <a:t>Titolo Testo</a:t>
            </a:r>
          </a:p>
        </p:txBody>
      </p:sp>
      <p:sp>
        <p:nvSpPr>
          <p:cNvPr id="148" name="Corpo livello uno…"/>
          <p:cNvSpPr txBox="1">
            <a:spLocks noGrp="1"/>
          </p:cNvSpPr>
          <p:nvPr>
            <p:ph idx="1" type="body"/>
          </p:nvPr>
        </p:nvSpPr>
        <p:spPr>
          <a:prstGeom prst="rect">
            <a:avLst/>
          </a:prstGeom>
        </p:spPr>
        <p:txBody>
          <a:bodyPr numCol="1"/>
          <a:lstStyle/>
          <a:p>
            <a:r>
              <a:t>Corpo livello uno</a:t>
            </a:r>
          </a:p>
          <a:p>
            <a:pPr lvl="1"/>
            <a:r>
              <a:t>Corpo livello due</a:t>
            </a:r>
          </a:p>
          <a:p>
            <a:pPr lvl="2"/>
            <a:r>
              <a:t>Corpo livello tre</a:t>
            </a:r>
          </a:p>
          <a:p>
            <a:pPr lvl="3"/>
            <a:r>
              <a:t>Corpo livello quattro</a:t>
            </a:r>
          </a:p>
          <a:p>
            <a:pPr lvl="4"/>
            <a:r>
              <a:t>Corpo livello cinque</a:t>
            </a:r>
          </a:p>
        </p:txBody>
      </p:sp>
      <p:sp>
        <p:nvSpPr>
          <p:cNvPr id="149" name="Numero diapositiva"/>
          <p:cNvSpPr txBox="1">
            <a:spLocks noGrp="1"/>
          </p:cNvSpPr>
          <p:nvPr>
            <p:ph idx="2" sz="quarter" type="sldNum"/>
          </p:nvPr>
        </p:nvSpPr>
        <p:spPr>
          <a:prstGeom prst="rect">
            <a:avLst/>
          </a:prstGeom>
        </p:spPr>
        <p:txBody>
          <a:bodyPr numCol="1"/>
          <a:lstStyle/>
          <a:p>
            <a:fld id="{86CB4B4D-7CA3-9044-876B-883B54F8677D}" type="slidenum">
              <a:t>‹N›</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Intestazione sezione">
    <p:spTree>
      <p:nvGrpSpPr>
        <p:cNvPr id="1" name=""/>
        <p:cNvGrpSpPr/>
        <p:nvPr/>
      </p:nvGrpSpPr>
      <p:grpSpPr>
        <a:xfrm>
          <a:off x="0" y="0"/>
          <a:ext cx="0" cy="0"/>
          <a:chOff x="0" y="0"/>
          <a:chExt cx="0" cy="0"/>
        </a:xfrm>
      </p:grpSpPr>
      <p:sp>
        <p:nvSpPr>
          <p:cNvPr id="156" name="Titolo Testo"/>
          <p:cNvSpPr txBox="1">
            <a:spLocks noGrp="1"/>
          </p:cNvSpPr>
          <p:nvPr>
            <p:ph type="title"/>
          </p:nvPr>
        </p:nvSpPr>
        <p:spPr>
          <a:xfrm>
            <a:off x="722312" y="4406900"/>
            <a:ext cx="7772401" cy="1362075"/>
          </a:xfrm>
          <a:prstGeom prst="rect">
            <a:avLst/>
          </a:prstGeom>
        </p:spPr>
        <p:txBody>
          <a:bodyPr anchor="t" numCol="1"/>
          <a:lstStyle>
            <a:lvl1pPr algn="l">
              <a:defRPr b="1" cap="all" sz="4000"/>
            </a:lvl1pPr>
          </a:lstStyle>
          <a:p>
            <a:r>
              <a:t>Titolo Testo</a:t>
            </a:r>
          </a:p>
        </p:txBody>
      </p:sp>
      <p:sp>
        <p:nvSpPr>
          <p:cNvPr id="157" name="Corpo livello uno…"/>
          <p:cNvSpPr txBox="1">
            <a:spLocks noGrp="1"/>
          </p:cNvSpPr>
          <p:nvPr>
            <p:ph idx="1" sz="quarter" type="body"/>
          </p:nvPr>
        </p:nvSpPr>
        <p:spPr>
          <a:xfrm>
            <a:off x="722312" y="2906713"/>
            <a:ext cx="7772401" cy="1500189"/>
          </a:xfrm>
          <a:prstGeom prst="rect">
            <a:avLst/>
          </a:prstGeom>
        </p:spPr>
        <p:txBody>
          <a:bodyPr anchor="b" numCol="1"/>
          <a:lstStyle>
            <a:lvl1pPr indent="0" marL="0">
              <a:spcBef>
                <a:spcPts val="400"/>
              </a:spcBef>
              <a:buSzTx/>
              <a:buFontTx/>
              <a:buNone/>
              <a:defRPr sz="2000">
                <a:solidFill>
                  <a:srgbClr val="888888"/>
                </a:solidFill>
              </a:defRPr>
            </a:lvl1pPr>
            <a:lvl2pPr indent="0" marL="0">
              <a:spcBef>
                <a:spcPts val="400"/>
              </a:spcBef>
              <a:buSzTx/>
              <a:buFontTx/>
              <a:buNone/>
              <a:defRPr sz="2000">
                <a:solidFill>
                  <a:srgbClr val="888888"/>
                </a:solidFill>
              </a:defRPr>
            </a:lvl2pPr>
            <a:lvl3pPr indent="0" marL="0">
              <a:spcBef>
                <a:spcPts val="400"/>
              </a:spcBef>
              <a:buSzTx/>
              <a:buFontTx/>
              <a:buNone/>
              <a:defRPr sz="2000">
                <a:solidFill>
                  <a:srgbClr val="888888"/>
                </a:solidFill>
              </a:defRPr>
            </a:lvl3pPr>
            <a:lvl4pPr indent="0" marL="0">
              <a:spcBef>
                <a:spcPts val="400"/>
              </a:spcBef>
              <a:buSzTx/>
              <a:buFontTx/>
              <a:buNone/>
              <a:defRPr sz="2000">
                <a:solidFill>
                  <a:srgbClr val="888888"/>
                </a:solidFill>
              </a:defRPr>
            </a:lvl4pPr>
            <a:lvl5pPr indent="0" marL="0">
              <a:spcBef>
                <a:spcPts val="400"/>
              </a:spcBef>
              <a:buSzTx/>
              <a:buFontTx/>
              <a:buNone/>
              <a:defRPr sz="2000">
                <a:solidFill>
                  <a:srgbClr val="888888"/>
                </a:solidFill>
              </a:defRPr>
            </a:lvl5pPr>
          </a:lstStyle>
          <a:p>
            <a:r>
              <a:t>Corpo livello uno</a:t>
            </a:r>
          </a:p>
          <a:p>
            <a:pPr lvl="1"/>
            <a:r>
              <a:t>Corpo livello due</a:t>
            </a:r>
          </a:p>
          <a:p>
            <a:pPr lvl="2"/>
            <a:r>
              <a:t>Corpo livello tre</a:t>
            </a:r>
          </a:p>
          <a:p>
            <a:pPr lvl="3"/>
            <a:r>
              <a:t>Corpo livello quattro</a:t>
            </a:r>
          </a:p>
          <a:p>
            <a:pPr lvl="4"/>
            <a:r>
              <a:t>Corpo livello cinque</a:t>
            </a:r>
          </a:p>
        </p:txBody>
      </p:sp>
      <p:sp>
        <p:nvSpPr>
          <p:cNvPr id="158" name="Numero diapositiva"/>
          <p:cNvSpPr txBox="1">
            <a:spLocks noGrp="1"/>
          </p:cNvSpPr>
          <p:nvPr>
            <p:ph idx="2" sz="quarter" type="sldNum"/>
          </p:nvPr>
        </p:nvSpPr>
        <p:spPr>
          <a:prstGeom prst="rect">
            <a:avLst/>
          </a:prstGeom>
        </p:spPr>
        <p:txBody>
          <a:bodyPr numCol="1"/>
          <a:lstStyle/>
          <a:p>
            <a:fld id="{86CB4B4D-7CA3-9044-876B-883B54F8677D}" type="slidenum">
              <a:t>‹N›</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Due contenuti">
    <p:spTree>
      <p:nvGrpSpPr>
        <p:cNvPr id="1" name=""/>
        <p:cNvGrpSpPr/>
        <p:nvPr/>
      </p:nvGrpSpPr>
      <p:grpSpPr>
        <a:xfrm>
          <a:off x="0" y="0"/>
          <a:ext cx="0" cy="0"/>
          <a:chOff x="0" y="0"/>
          <a:chExt cx="0" cy="0"/>
        </a:xfrm>
      </p:grpSpPr>
      <p:sp>
        <p:nvSpPr>
          <p:cNvPr id="165" name="Titolo Testo"/>
          <p:cNvSpPr txBox="1">
            <a:spLocks noGrp="1"/>
          </p:cNvSpPr>
          <p:nvPr>
            <p:ph type="title"/>
          </p:nvPr>
        </p:nvSpPr>
        <p:spPr>
          <a:prstGeom prst="rect">
            <a:avLst/>
          </a:prstGeom>
        </p:spPr>
        <p:txBody>
          <a:bodyPr numCol="1"/>
          <a:lstStyle/>
          <a:p>
            <a:r>
              <a:t>Titolo Testo</a:t>
            </a:r>
          </a:p>
        </p:txBody>
      </p:sp>
      <p:sp>
        <p:nvSpPr>
          <p:cNvPr id="166" name="Corpo livello uno…"/>
          <p:cNvSpPr txBox="1">
            <a:spLocks noGrp="1"/>
          </p:cNvSpPr>
          <p:nvPr>
            <p:ph idx="1" sz="half" type="body"/>
          </p:nvPr>
        </p:nvSpPr>
        <p:spPr>
          <a:xfrm>
            <a:off x="457200" y="1600200"/>
            <a:ext cx="4038600" cy="4525963"/>
          </a:xfrm>
          <a:prstGeom prst="rect">
            <a:avLst/>
          </a:prstGeom>
        </p:spPr>
        <p:txBody>
          <a:bodyPr numCol="1"/>
          <a:lstStyle>
            <a:lvl1pPr>
              <a:spcBef>
                <a:spcPts val="600"/>
              </a:spcBef>
              <a:defRPr sz="2800"/>
            </a:lvl1pPr>
            <a:lvl2pPr indent="-333375" marL="790575">
              <a:spcBef>
                <a:spcPts val="600"/>
              </a:spcBef>
              <a:defRPr sz="2800"/>
            </a:lvl2pPr>
            <a:lvl3pPr indent="-320038" marL="1234438">
              <a:spcBef>
                <a:spcPts val="600"/>
              </a:spcBef>
              <a:defRPr sz="2800"/>
            </a:lvl3pPr>
            <a:lvl4pPr indent="-355600" marL="1727200">
              <a:spcBef>
                <a:spcPts val="600"/>
              </a:spcBef>
              <a:defRPr sz="2800"/>
            </a:lvl4pPr>
            <a:lvl5pPr indent="-355600" marL="2184400">
              <a:spcBef>
                <a:spcPts val="600"/>
              </a:spcBef>
              <a:defRPr sz="2800"/>
            </a:lvl5pPr>
          </a:lstStyle>
          <a:p>
            <a:r>
              <a:t>Corpo livello uno</a:t>
            </a:r>
          </a:p>
          <a:p>
            <a:pPr lvl="1"/>
            <a:r>
              <a:t>Corpo livello due</a:t>
            </a:r>
          </a:p>
          <a:p>
            <a:pPr lvl="2"/>
            <a:r>
              <a:t>Corpo livello tre</a:t>
            </a:r>
          </a:p>
          <a:p>
            <a:pPr lvl="3"/>
            <a:r>
              <a:t>Corpo livello quattro</a:t>
            </a:r>
          </a:p>
          <a:p>
            <a:pPr lvl="4"/>
            <a:r>
              <a:t>Corpo livello cinque</a:t>
            </a:r>
          </a:p>
        </p:txBody>
      </p:sp>
      <p:sp>
        <p:nvSpPr>
          <p:cNvPr id="167" name="Numero diapositiva"/>
          <p:cNvSpPr txBox="1">
            <a:spLocks noGrp="1"/>
          </p:cNvSpPr>
          <p:nvPr>
            <p:ph idx="2" sz="quarter" type="sldNum"/>
          </p:nvPr>
        </p:nvSpPr>
        <p:spPr>
          <a:prstGeom prst="rect">
            <a:avLst/>
          </a:prstGeom>
        </p:spPr>
        <p:txBody>
          <a:bodyPr numCol="1"/>
          <a:lstStyle/>
          <a:p>
            <a:fld id="{86CB4B4D-7CA3-9044-876B-883B54F8677D}" type="slidenum">
              <a:t>‹N›</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Confronto">
    <p:spTree>
      <p:nvGrpSpPr>
        <p:cNvPr id="1" name=""/>
        <p:cNvGrpSpPr/>
        <p:nvPr/>
      </p:nvGrpSpPr>
      <p:grpSpPr>
        <a:xfrm>
          <a:off x="0" y="0"/>
          <a:ext cx="0" cy="0"/>
          <a:chOff x="0" y="0"/>
          <a:chExt cx="0" cy="0"/>
        </a:xfrm>
      </p:grpSpPr>
      <p:sp>
        <p:nvSpPr>
          <p:cNvPr id="174" name="Titolo Testo"/>
          <p:cNvSpPr txBox="1">
            <a:spLocks noGrp="1"/>
          </p:cNvSpPr>
          <p:nvPr>
            <p:ph type="title"/>
          </p:nvPr>
        </p:nvSpPr>
        <p:spPr>
          <a:prstGeom prst="rect">
            <a:avLst/>
          </a:prstGeom>
        </p:spPr>
        <p:txBody>
          <a:bodyPr numCol="1"/>
          <a:lstStyle/>
          <a:p>
            <a:r>
              <a:t>Titolo Testo</a:t>
            </a:r>
          </a:p>
        </p:txBody>
      </p:sp>
      <p:sp>
        <p:nvSpPr>
          <p:cNvPr id="175" name="Corpo livello uno…"/>
          <p:cNvSpPr txBox="1">
            <a:spLocks noGrp="1"/>
          </p:cNvSpPr>
          <p:nvPr>
            <p:ph idx="1" sz="quarter" type="body"/>
          </p:nvPr>
        </p:nvSpPr>
        <p:spPr>
          <a:xfrm>
            <a:off x="457200" y="1535112"/>
            <a:ext cx="4040188" cy="639763"/>
          </a:xfrm>
          <a:prstGeom prst="rect">
            <a:avLst/>
          </a:prstGeom>
        </p:spPr>
        <p:txBody>
          <a:bodyPr anchor="b" numCol="1"/>
          <a:lstStyle>
            <a:lvl1pPr indent="0" marL="0">
              <a:spcBef>
                <a:spcPts val="500"/>
              </a:spcBef>
              <a:buSzTx/>
              <a:buFontTx/>
              <a:buNone/>
              <a:defRPr b="1" sz="2400"/>
            </a:lvl1pPr>
            <a:lvl2pPr indent="0" marL="0">
              <a:spcBef>
                <a:spcPts val="500"/>
              </a:spcBef>
              <a:buSzTx/>
              <a:buFontTx/>
              <a:buNone/>
              <a:defRPr b="1" sz="2400"/>
            </a:lvl2pPr>
            <a:lvl3pPr indent="0" marL="0">
              <a:spcBef>
                <a:spcPts val="500"/>
              </a:spcBef>
              <a:buSzTx/>
              <a:buFontTx/>
              <a:buNone/>
              <a:defRPr b="1" sz="2400"/>
            </a:lvl3pPr>
            <a:lvl4pPr indent="0" marL="0">
              <a:spcBef>
                <a:spcPts val="500"/>
              </a:spcBef>
              <a:buSzTx/>
              <a:buFontTx/>
              <a:buNone/>
              <a:defRPr b="1" sz="2400"/>
            </a:lvl4pPr>
            <a:lvl5pPr indent="0" marL="0">
              <a:spcBef>
                <a:spcPts val="500"/>
              </a:spcBef>
              <a:buSzTx/>
              <a:buFontTx/>
              <a:buNone/>
              <a:defRPr b="1" sz="2400"/>
            </a:lvl5pPr>
          </a:lstStyle>
          <a:p>
            <a:r>
              <a:t>Corpo livello uno</a:t>
            </a:r>
          </a:p>
          <a:p>
            <a:pPr lvl="1"/>
            <a:r>
              <a:t>Corpo livello due</a:t>
            </a:r>
          </a:p>
          <a:p>
            <a:pPr lvl="2"/>
            <a:r>
              <a:t>Corpo livello tre</a:t>
            </a:r>
          </a:p>
          <a:p>
            <a:pPr lvl="3"/>
            <a:r>
              <a:t>Corpo livello quattro</a:t>
            </a:r>
          </a:p>
          <a:p>
            <a:pPr lvl="4"/>
            <a:r>
              <a:t>Corpo livello cinque</a:t>
            </a:r>
          </a:p>
        </p:txBody>
      </p:sp>
      <p:sp>
        <p:nvSpPr>
          <p:cNvPr id="176" name="Segnaposto testo 4"/>
          <p:cNvSpPr>
            <a:spLocks noGrp="1"/>
          </p:cNvSpPr>
          <p:nvPr>
            <p:ph idx="21" sz="quarter" type="body"/>
          </p:nvPr>
        </p:nvSpPr>
        <p:spPr>
          <a:xfrm>
            <a:off x="4645025" y="1535111"/>
            <a:ext cx="4041775" cy="639765"/>
          </a:xfrm>
          <a:prstGeom prst="rect">
            <a:avLst/>
          </a:prstGeom>
        </p:spPr>
        <p:txBody>
          <a:bodyPr anchor="b" numCol="1"/>
          <a:lstStyle/>
          <a:p>
            <a:pPr>
              <a:buFontTx/>
              <a:defRPr>
                <a:latin typeface="+mn-lt"/>
                <a:ea typeface="+mn-ea"/>
                <a:cs typeface="+mn-cs"/>
                <a:sym typeface="Arial"/>
              </a:defRPr>
            </a:pPr>
            <a:endParaRPr/>
          </a:p>
        </p:txBody>
      </p:sp>
      <p:sp>
        <p:nvSpPr>
          <p:cNvPr id="177" name="Numero diapositiva"/>
          <p:cNvSpPr txBox="1">
            <a:spLocks noGrp="1"/>
          </p:cNvSpPr>
          <p:nvPr>
            <p:ph idx="2" sz="quarter" type="sldNum"/>
          </p:nvPr>
        </p:nvSpPr>
        <p:spPr>
          <a:prstGeom prst="rect">
            <a:avLst/>
          </a:prstGeom>
        </p:spPr>
        <p:txBody>
          <a:bodyPr numCol="1"/>
          <a:lstStyle/>
          <a:p>
            <a:fld id="{86CB4B4D-7CA3-9044-876B-883B54F8677D}" type="slidenum">
              <a:t>‹N›</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Solo titolo">
    <p:spTree>
      <p:nvGrpSpPr>
        <p:cNvPr id="1" name=""/>
        <p:cNvGrpSpPr/>
        <p:nvPr/>
      </p:nvGrpSpPr>
      <p:grpSpPr>
        <a:xfrm>
          <a:off x="0" y="0"/>
          <a:ext cx="0" cy="0"/>
          <a:chOff x="0" y="0"/>
          <a:chExt cx="0" cy="0"/>
        </a:xfrm>
      </p:grpSpPr>
      <p:sp>
        <p:nvSpPr>
          <p:cNvPr id="184" name="Titolo Testo"/>
          <p:cNvSpPr txBox="1">
            <a:spLocks noGrp="1"/>
          </p:cNvSpPr>
          <p:nvPr>
            <p:ph type="title"/>
          </p:nvPr>
        </p:nvSpPr>
        <p:spPr>
          <a:prstGeom prst="rect">
            <a:avLst/>
          </a:prstGeom>
        </p:spPr>
        <p:txBody>
          <a:bodyPr numCol="1"/>
          <a:lstStyle/>
          <a:p>
            <a:r>
              <a:t>Titolo Testo</a:t>
            </a:r>
          </a:p>
        </p:txBody>
      </p:sp>
      <p:sp>
        <p:nvSpPr>
          <p:cNvPr id="185" name="Numero diapositiva"/>
          <p:cNvSpPr txBox="1">
            <a:spLocks noGrp="1"/>
          </p:cNvSpPr>
          <p:nvPr>
            <p:ph idx="2" sz="quarter" type="sldNum"/>
          </p:nvPr>
        </p:nvSpPr>
        <p:spPr>
          <a:prstGeom prst="rect">
            <a:avLst/>
          </a:prstGeom>
        </p:spPr>
        <p:txBody>
          <a:bodyPr numCol="1"/>
          <a:lstStyle/>
          <a:p>
            <a:fld id="{86CB4B4D-7CA3-9044-876B-883B54F8677D}" type="slidenum">
              <a:t>‹N›</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Vuota">
    <p:spTree>
      <p:nvGrpSpPr>
        <p:cNvPr id="1" name=""/>
        <p:cNvGrpSpPr/>
        <p:nvPr/>
      </p:nvGrpSpPr>
      <p:grpSpPr>
        <a:xfrm>
          <a:off x="0" y="0"/>
          <a:ext cx="0" cy="0"/>
          <a:chOff x="0" y="0"/>
          <a:chExt cx="0" cy="0"/>
        </a:xfrm>
      </p:grpSpPr>
      <p:sp>
        <p:nvSpPr>
          <p:cNvPr id="192" name="Numero diapositiva"/>
          <p:cNvSpPr txBox="1">
            <a:spLocks noGrp="1"/>
          </p:cNvSpPr>
          <p:nvPr>
            <p:ph idx="2" sz="quarter" type="sldNum"/>
          </p:nvPr>
        </p:nvSpPr>
        <p:spPr>
          <a:prstGeom prst="rect">
            <a:avLst/>
          </a:prstGeom>
        </p:spPr>
        <p:txBody>
          <a:bodyPr numCol="1"/>
          <a:lstStyle/>
          <a:p>
            <a:fld id="{86CB4B4D-7CA3-9044-876B-883B54F8677D}" type="slidenum">
              <a:t>‹N›</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Contenuto con didascalia">
    <p:spTree>
      <p:nvGrpSpPr>
        <p:cNvPr id="1" name=""/>
        <p:cNvGrpSpPr/>
        <p:nvPr/>
      </p:nvGrpSpPr>
      <p:grpSpPr>
        <a:xfrm>
          <a:off x="0" y="0"/>
          <a:ext cx="0" cy="0"/>
          <a:chOff x="0" y="0"/>
          <a:chExt cx="0" cy="0"/>
        </a:xfrm>
      </p:grpSpPr>
      <p:sp>
        <p:nvSpPr>
          <p:cNvPr id="199" name="Titolo Testo"/>
          <p:cNvSpPr txBox="1">
            <a:spLocks noGrp="1"/>
          </p:cNvSpPr>
          <p:nvPr>
            <p:ph type="title"/>
          </p:nvPr>
        </p:nvSpPr>
        <p:spPr>
          <a:xfrm>
            <a:off x="457200" y="273050"/>
            <a:ext cx="3008315" cy="1162050"/>
          </a:xfrm>
          <a:prstGeom prst="rect">
            <a:avLst/>
          </a:prstGeom>
        </p:spPr>
        <p:txBody>
          <a:bodyPr anchor="b" numCol="1"/>
          <a:lstStyle>
            <a:lvl1pPr algn="l">
              <a:defRPr b="1" sz="2000"/>
            </a:lvl1pPr>
          </a:lstStyle>
          <a:p>
            <a:r>
              <a:t>Titolo Testo</a:t>
            </a:r>
          </a:p>
        </p:txBody>
      </p:sp>
      <p:sp>
        <p:nvSpPr>
          <p:cNvPr id="200" name="Corpo livello uno…"/>
          <p:cNvSpPr txBox="1">
            <a:spLocks noGrp="1"/>
          </p:cNvSpPr>
          <p:nvPr>
            <p:ph idx="1" type="body"/>
          </p:nvPr>
        </p:nvSpPr>
        <p:spPr>
          <a:xfrm>
            <a:off x="3575050" y="273050"/>
            <a:ext cx="5111750" cy="5853113"/>
          </a:xfrm>
          <a:prstGeom prst="rect">
            <a:avLst/>
          </a:prstGeom>
        </p:spPr>
        <p:txBody>
          <a:bodyPr numCol="1"/>
          <a:lstStyle/>
          <a:p>
            <a:r>
              <a:t>Corpo livello uno</a:t>
            </a:r>
          </a:p>
          <a:p>
            <a:pPr lvl="1"/>
            <a:r>
              <a:t>Corpo livello due</a:t>
            </a:r>
          </a:p>
          <a:p>
            <a:pPr lvl="2"/>
            <a:r>
              <a:t>Corpo livello tre</a:t>
            </a:r>
          </a:p>
          <a:p>
            <a:pPr lvl="3"/>
            <a:r>
              <a:t>Corpo livello quattro</a:t>
            </a:r>
          </a:p>
          <a:p>
            <a:pPr lvl="4"/>
            <a:r>
              <a:t>Corpo livello cinque</a:t>
            </a:r>
          </a:p>
        </p:txBody>
      </p:sp>
      <p:sp>
        <p:nvSpPr>
          <p:cNvPr id="201" name="Segnaposto testo 3"/>
          <p:cNvSpPr>
            <a:spLocks noGrp="1"/>
          </p:cNvSpPr>
          <p:nvPr>
            <p:ph idx="21" sz="half" type="body"/>
          </p:nvPr>
        </p:nvSpPr>
        <p:spPr>
          <a:xfrm>
            <a:off x="457198" y="1435100"/>
            <a:ext cx="3008316" cy="4691063"/>
          </a:xfrm>
          <a:prstGeom prst="rect">
            <a:avLst/>
          </a:prstGeom>
        </p:spPr>
        <p:txBody>
          <a:bodyPr numCol="1"/>
          <a:lstStyle/>
          <a:p>
            <a:pPr>
              <a:buFontTx/>
              <a:defRPr>
                <a:latin typeface="+mn-lt"/>
                <a:ea typeface="+mn-ea"/>
                <a:cs typeface="+mn-cs"/>
                <a:sym typeface="Arial"/>
              </a:defRPr>
            </a:pPr>
            <a:endParaRPr/>
          </a:p>
        </p:txBody>
      </p:sp>
      <p:sp>
        <p:nvSpPr>
          <p:cNvPr id="202" name="Numero diapositiva"/>
          <p:cNvSpPr txBox="1">
            <a:spLocks noGrp="1"/>
          </p:cNvSpPr>
          <p:nvPr>
            <p:ph idx="2" sz="quarter" type="sldNum"/>
          </p:nvPr>
        </p:nvSpPr>
        <p:spPr>
          <a:prstGeom prst="rect">
            <a:avLst/>
          </a:prstGeom>
        </p:spPr>
        <p:txBody>
          <a:bodyPr numCol="1"/>
          <a:lstStyle/>
          <a:p>
            <a:fld id="{86CB4B4D-7CA3-9044-876B-883B54F8677D}" type="slidenum">
              <a:t>‹N›</a:t>
            </a:fld>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Immagine con didascalia">
    <p:spTree>
      <p:nvGrpSpPr>
        <p:cNvPr id="1" name=""/>
        <p:cNvGrpSpPr/>
        <p:nvPr/>
      </p:nvGrpSpPr>
      <p:grpSpPr>
        <a:xfrm>
          <a:off x="0" y="0"/>
          <a:ext cx="0" cy="0"/>
          <a:chOff x="0" y="0"/>
          <a:chExt cx="0" cy="0"/>
        </a:xfrm>
      </p:grpSpPr>
      <p:sp>
        <p:nvSpPr>
          <p:cNvPr id="209" name="Titolo Testo"/>
          <p:cNvSpPr txBox="1">
            <a:spLocks noGrp="1"/>
          </p:cNvSpPr>
          <p:nvPr>
            <p:ph type="title"/>
          </p:nvPr>
        </p:nvSpPr>
        <p:spPr>
          <a:xfrm>
            <a:off x="1792288" y="4800600"/>
            <a:ext cx="5486402" cy="566738"/>
          </a:xfrm>
          <a:prstGeom prst="rect">
            <a:avLst/>
          </a:prstGeom>
        </p:spPr>
        <p:txBody>
          <a:bodyPr anchor="b" numCol="1"/>
          <a:lstStyle>
            <a:lvl1pPr algn="l">
              <a:defRPr b="1" sz="2000"/>
            </a:lvl1pPr>
          </a:lstStyle>
          <a:p>
            <a:r>
              <a:t>Titolo Testo</a:t>
            </a:r>
          </a:p>
        </p:txBody>
      </p:sp>
      <p:sp>
        <p:nvSpPr>
          <p:cNvPr id="210" name="Segnaposto immagine 2"/>
          <p:cNvSpPr>
            <a:spLocks noGrp="1"/>
          </p:cNvSpPr>
          <p:nvPr>
            <p:ph idx="21" sz="half" type="pic"/>
          </p:nvPr>
        </p:nvSpPr>
        <p:spPr>
          <a:xfrm>
            <a:off x="1792288" y="612775"/>
            <a:ext cx="5486402" cy="4114800"/>
          </a:xfrm>
          <a:prstGeom prst="rect">
            <a:avLst/>
          </a:prstGeom>
        </p:spPr>
        <p:txBody>
          <a:bodyPr bIns="45719" lIns="91439" numCol="1" rIns="91439" tIns="45719">
            <a:noAutofit/>
          </a:bodyPr>
          <a:lstStyle/>
          <a:p>
            <a:endParaRPr/>
          </a:p>
        </p:txBody>
      </p:sp>
      <p:sp>
        <p:nvSpPr>
          <p:cNvPr id="211" name="Corpo livello uno…"/>
          <p:cNvSpPr txBox="1">
            <a:spLocks noGrp="1"/>
          </p:cNvSpPr>
          <p:nvPr>
            <p:ph idx="1" sz="quarter" type="body"/>
          </p:nvPr>
        </p:nvSpPr>
        <p:spPr>
          <a:xfrm>
            <a:off x="1792288" y="5367337"/>
            <a:ext cx="5486402" cy="804864"/>
          </a:xfrm>
          <a:prstGeom prst="rect">
            <a:avLst/>
          </a:prstGeom>
        </p:spPr>
        <p:txBody>
          <a:bodyPr numCol="1"/>
          <a:lstStyle>
            <a:lvl1pPr indent="0" marL="0">
              <a:spcBef>
                <a:spcPts val="300"/>
              </a:spcBef>
              <a:buSzTx/>
              <a:buFontTx/>
              <a:buNone/>
              <a:defRPr sz="1400"/>
            </a:lvl1pPr>
            <a:lvl2pPr indent="0" marL="0">
              <a:spcBef>
                <a:spcPts val="300"/>
              </a:spcBef>
              <a:buSzTx/>
              <a:buFontTx/>
              <a:buNone/>
              <a:defRPr sz="1400"/>
            </a:lvl2pPr>
            <a:lvl3pPr indent="0" marL="0">
              <a:spcBef>
                <a:spcPts val="300"/>
              </a:spcBef>
              <a:buSzTx/>
              <a:buFontTx/>
              <a:buNone/>
              <a:defRPr sz="1400"/>
            </a:lvl3pPr>
            <a:lvl4pPr indent="0" marL="0">
              <a:spcBef>
                <a:spcPts val="300"/>
              </a:spcBef>
              <a:buSzTx/>
              <a:buFontTx/>
              <a:buNone/>
              <a:defRPr sz="1400"/>
            </a:lvl4pPr>
            <a:lvl5pPr indent="0" marL="0">
              <a:spcBef>
                <a:spcPts val="300"/>
              </a:spcBef>
              <a:buSzTx/>
              <a:buFontTx/>
              <a:buNone/>
              <a:defRPr sz="1400"/>
            </a:lvl5pPr>
          </a:lstStyle>
          <a:p>
            <a:r>
              <a:t>Corpo livello uno</a:t>
            </a:r>
          </a:p>
          <a:p>
            <a:pPr lvl="1"/>
            <a:r>
              <a:t>Corpo livello due</a:t>
            </a:r>
          </a:p>
          <a:p>
            <a:pPr lvl="2"/>
            <a:r>
              <a:t>Corpo livello tre</a:t>
            </a:r>
          </a:p>
          <a:p>
            <a:pPr lvl="3"/>
            <a:r>
              <a:t>Corpo livello quattro</a:t>
            </a:r>
          </a:p>
          <a:p>
            <a:pPr lvl="4"/>
            <a:r>
              <a:t>Corpo livello cinque</a:t>
            </a:r>
          </a:p>
        </p:txBody>
      </p:sp>
      <p:sp>
        <p:nvSpPr>
          <p:cNvPr id="212" name="Numero diapositiva"/>
          <p:cNvSpPr txBox="1">
            <a:spLocks noGrp="1"/>
          </p:cNvSpPr>
          <p:nvPr>
            <p:ph idx="2" sz="quarter" type="sldNum"/>
          </p:nvPr>
        </p:nvSpPr>
        <p:spPr>
          <a:prstGeom prst="rect">
            <a:avLst/>
          </a:prstGeom>
        </p:spPr>
        <p:txBody>
          <a:bodyPr numCol="1"/>
          <a:lstStyle/>
          <a:p>
            <a:fld id="{86CB4B4D-7CA3-9044-876B-883B54F8677D}" type="slidenum">
              <a:t>‹N›</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24" Target="../slideLayouts/slideLayout22.xml" Type="http://schemas.openxmlformats.org/officeDocument/2006/relationships/slideLayout"/><Relationship Id="rId21" Target="../slideLayouts/slideLayout19.xml" Type="http://schemas.openxmlformats.org/officeDocument/2006/relationships/slideLayout"/><Relationship Id="rId19" Target="../slideLayouts/slideLayout17.xml" Type="http://schemas.openxmlformats.org/officeDocument/2006/relationships/slideLayout"/><Relationship Id="rId20" Target="../slideLayouts/slideLayout18.xml" Type="http://schemas.openxmlformats.org/officeDocument/2006/relationships/slideLayout"/><Relationship Id="rId18" Target="../slideLayouts/slideLayout16.xml" Type="http://schemas.openxmlformats.org/officeDocument/2006/relationships/slideLayout"/><Relationship Id="rId17" Target="../slideLayouts/slideLayout15.xml" Type="http://schemas.openxmlformats.org/officeDocument/2006/relationships/slideLayout"/><Relationship Id="rId16" Target="../slideLayouts/slideLayout14.xml" Type="http://schemas.openxmlformats.org/officeDocument/2006/relationships/slideLayout"/><Relationship Id="rId15" Target="../slideLayouts/slideLayout13.xml" Type="http://schemas.openxmlformats.org/officeDocument/2006/relationships/slideLayout"/><Relationship Id="rId14" Target="../slideLayouts/slideLayout12.xml" Type="http://schemas.openxmlformats.org/officeDocument/2006/relationships/slideLayout"/><Relationship Id="rId13" Target="../slideLayouts/slideLayout11.xml" Type="http://schemas.openxmlformats.org/officeDocument/2006/relationships/slideLayout"/><Relationship Id="rId12" Target="../slideLayouts/slideLayout10.xml" Type="http://schemas.openxmlformats.org/officeDocument/2006/relationships/slideLayout"/><Relationship Id="rId11" Target="../slideLayouts/slideLayout9.xml" Type="http://schemas.openxmlformats.org/officeDocument/2006/relationships/slideLayout"/><Relationship Id="rId9" Target="../slideLayouts/slideLayout7.xml" Type="http://schemas.openxmlformats.org/officeDocument/2006/relationships/slideLayout"/><Relationship Id="rId10" Target="../slideLayouts/slideLayout8.xml" Type="http://schemas.openxmlformats.org/officeDocument/2006/relationships/slideLayout"/><Relationship Id="rId8" Target="../slideLayouts/slideLayout6.xml" Type="http://schemas.openxmlformats.org/officeDocument/2006/relationships/slideLayout"/><Relationship Id="rId7" Target="../slideLayouts/slideLayout5.xml" Type="http://schemas.openxmlformats.org/officeDocument/2006/relationships/slideLayout"/><Relationship Id="rId6" Target="../slideLayouts/slideLayout4.xml" Type="http://schemas.openxmlformats.org/officeDocument/2006/relationships/slideLayout"/><Relationship Id="rId5" Target="../slideLayouts/slideLayout3.xml" Type="http://schemas.openxmlformats.org/officeDocument/2006/relationships/slideLayout"/><Relationship Id="rId4" Target="../slideLayouts/slideLayout2.xml" Type="http://schemas.openxmlformats.org/officeDocument/2006/relationships/slideLayout"/><Relationship Id="rId3" Target="../slideLayouts/slideLayout1.xml" Type="http://schemas.openxmlformats.org/officeDocument/2006/relationships/slideLayout"/><Relationship Id="rId23" Target="../slideLayouts/slideLayout21.xml" Type="http://schemas.openxmlformats.org/officeDocument/2006/relationships/slideLayout"/><Relationship Id="rId2" Target="../media/image1.jpeg" Type="http://schemas.openxmlformats.org/officeDocument/2006/relationships/image"/><Relationship Id="rId22" Target="../slideLayouts/slideLayout20.xml" Type="http://schemas.openxmlformats.org/officeDocument/2006/relationships/slideLayout"/><Relationship Id="rId1" Target="../theme/theme1.xml" Type="http://schemas.openxmlformats.org/officeDocument/2006/relationships/theme"/></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 name="Titolo Testo"/>
          <p:cNvSpPr txBox="1">
            <a:spLocks noGrp="1"/>
          </p:cNvSpPr>
          <p:nvPr>
            <p:ph type="title"/>
          </p:nvPr>
        </p:nvSpPr>
        <p:spPr>
          <a:xfrm>
            <a:off x="457200" y="274638"/>
            <a:ext cx="8229600" cy="114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chor="ctr" bIns="45718" lIns="45718" numCol="1" rIns="45718" tIns="45718">
            <a:normAutofit/>
          </a:bodyPr>
          <a:lstStyle/>
          <a:p>
            <a:r>
              <a:t>Titolo Testo</a:t>
            </a:r>
          </a:p>
        </p:txBody>
      </p:sp>
      <p:sp>
        <p:nvSpPr>
          <p:cNvPr id="3" name="Corpo livello uno…"/>
          <p:cNvSpPr txBox="1">
            <a:spLocks noGrp="1"/>
          </p:cNvSpPr>
          <p:nvPr>
            <p:ph idx="1" type="body"/>
          </p:nvPr>
        </p:nvSpPr>
        <p:spPr>
          <a:xfrm>
            <a:off x="457200" y="1600200"/>
            <a:ext cx="8229600" cy="45259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normAutofit/>
          </a:bodyPr>
          <a:lstStyle/>
          <a:p>
            <a:r>
              <a:t>Corpo livello uno</a:t>
            </a:r>
          </a:p>
          <a:p>
            <a:pPr lvl="1"/>
            <a:r>
              <a:t>Corpo livello due</a:t>
            </a:r>
          </a:p>
          <a:p>
            <a:pPr lvl="2"/>
            <a:r>
              <a:t>Corpo livello tre</a:t>
            </a:r>
          </a:p>
          <a:p>
            <a:pPr lvl="3"/>
            <a:r>
              <a:t>Corpo livello quattro</a:t>
            </a:r>
          </a:p>
          <a:p>
            <a:pPr lvl="4"/>
            <a:r>
              <a:t>Corpo livello cinque</a:t>
            </a:r>
          </a:p>
        </p:txBody>
      </p:sp>
      <p:sp>
        <p:nvSpPr>
          <p:cNvPr id="4" name="Numero diapositiva"/>
          <p:cNvSpPr txBox="1">
            <a:spLocks noGrp="1"/>
          </p:cNvSpPr>
          <p:nvPr>
            <p:ph idx="2" sz="quarter" type="sldNum"/>
          </p:nvPr>
        </p:nvSpPr>
        <p:spPr>
          <a:xfrm>
            <a:off x="8430262" y="6401180"/>
            <a:ext cx="256539" cy="275465"/>
          </a:xfrm>
          <a:prstGeom prst="rect">
            <a:avLst/>
          </a:prstGeom>
          <a:ln w="12700">
            <a:miter lim="400000"/>
          </a:ln>
        </p:spPr>
        <p:txBody>
          <a:bodyPr anchor="ctr" bIns="45718" lIns="45718" numCol="1" rIns="45718" tIns="45718" wrap="none">
            <a:spAutoFit/>
          </a:bodyPr>
          <a:lstStyle>
            <a:lvl1pPr algn="r">
              <a:defRPr sz="1200">
                <a:solidFill>
                  <a:srgbClr val="888888"/>
                </a:solidFill>
                <a:latin typeface="Times New Roman"/>
                <a:ea typeface="Times New Roman"/>
                <a:cs typeface="Times New Roman"/>
                <a:sym typeface="Times New Roman"/>
              </a:defRPr>
            </a:lvl1pPr>
          </a:lstStyle>
          <a:p>
            <a:fld id="{86CB4B4D-7CA3-9044-876B-883B54F8677D}" type="slidenum">
              <a:t>‹N›</a:t>
            </a:fld>
            <a:endParaRPr/>
          </a:p>
        </p:txBody>
      </p:sp>
    </p:spTree>
  </p:cSld>
  <p:clrMap accent1="accent1" accent2="accent2" accent3="accent3" accent4="accent4" accent5="accent5" accent6="accent6" bg1="lt1" bg2="lt2" folHlink="folHlink" hlink="hlink" tx1="dk1" tx2="dk2"/>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 id="2147483665" r:id="rId20"/>
    <p:sldLayoutId id="2147483666" r:id="rId21"/>
    <p:sldLayoutId id="2147483667" r:id="rId22"/>
    <p:sldLayoutId id="2147483668" r:id="rId23"/>
    <p:sldLayoutId id="2147483669" r:id="rId24"/>
  </p:sldLayoutIdLst>
  <p:transition spd="med"/>
  <p:txStyles>
    <p:titleStyle>
      <a:lvl1pPr algn="ctr" defTabSz="914400" indent="0" latinLnBrk="0" marL="0" marR="0" rtl="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1pPr>
      <a:lvl2pPr algn="ctr" defTabSz="914400" indent="0" latinLnBrk="0" marL="0" marR="0" rtl="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2pPr>
      <a:lvl3pPr algn="ctr" defTabSz="914400" indent="0" latinLnBrk="0" marL="0" marR="0" rtl="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3pPr>
      <a:lvl4pPr algn="ctr" defTabSz="914400" indent="0" latinLnBrk="0" marL="0" marR="0" rtl="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4pPr>
      <a:lvl5pPr algn="ctr" defTabSz="914400" indent="0" latinLnBrk="0" marL="0" marR="0" rtl="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5pPr>
      <a:lvl6pPr algn="ctr" defTabSz="914400" indent="0" latinLnBrk="0" marL="0" marR="0" rtl="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6pPr>
      <a:lvl7pPr algn="ctr" defTabSz="914400" indent="0" latinLnBrk="0" marL="0" marR="0" rtl="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7pPr>
      <a:lvl8pPr algn="ctr" defTabSz="914400" indent="0" latinLnBrk="0" marL="0" marR="0" rtl="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8pPr>
      <a:lvl9pPr algn="ctr" defTabSz="914400" indent="0" latinLnBrk="0" marL="0" marR="0" rtl="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9pPr>
    </p:titleStyle>
    <p:bodyStyle>
      <a:lvl1pPr algn="l" defTabSz="914400" indent="-342900" latinLnBrk="0" marL="342900" marR="0" rtl="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1pPr>
      <a:lvl2pPr algn="l" defTabSz="914400" indent="-326571" latinLnBrk="0" marL="783771" marR="0" rtl="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2pPr>
      <a:lvl3pPr algn="l" defTabSz="914400" indent="-304800" latinLnBrk="0" marL="1219200" marR="0" rtl="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3pPr>
      <a:lvl4pPr algn="l" defTabSz="914400" indent="-365760" latinLnBrk="0" marL="1737360" marR="0" rtl="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4pPr>
      <a:lvl5pPr algn="l" defTabSz="914400" indent="-365760" latinLnBrk="0" marL="2194560" marR="0" rtl="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5pPr>
      <a:lvl6pPr algn="l" defTabSz="914400" indent="-365760" latinLnBrk="0" marL="2651760" marR="0" rtl="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6pPr>
      <a:lvl7pPr algn="l" defTabSz="914400" indent="-365760" latinLnBrk="0" marL="3108960" marR="0" rtl="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7pPr>
      <a:lvl8pPr algn="l" defTabSz="914400" indent="-365759" latinLnBrk="0" marL="3566159" marR="0" rtl="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8pPr>
      <a:lvl9pPr algn="l" defTabSz="914400" indent="-365759" latinLnBrk="0" marL="4023359" marR="0" rtl="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9pPr>
    </p:bodyStyle>
    <p:otherStyle>
      <a:lvl1pPr algn="r" defTabSz="914400" indent="0" latinLnBrk="0" marL="0" marR="0" rtl="0">
        <a:lnSpc>
          <a:spcPct val="100000"/>
        </a:lnSpc>
        <a:spcBef>
          <a:spcPts val="0"/>
        </a:spcBef>
        <a:spcAft>
          <a:spcPts val="0"/>
        </a:spcAft>
        <a:buClrTx/>
        <a:buSzTx/>
        <a:buFontTx/>
        <a:buNone/>
        <a:tabLst/>
        <a:defRPr b="1" baseline="0" cap="none" i="0" spc="0" strike="noStrike" sz="1200" u="none">
          <a:solidFill>
            <a:schemeClr val="tx1"/>
          </a:solidFill>
          <a:uFillTx/>
          <a:latin typeface="+mn-lt"/>
          <a:ea typeface="+mn-ea"/>
          <a:cs typeface="+mn-cs"/>
          <a:sym typeface="Times New Roman"/>
        </a:defRPr>
      </a:lvl1pPr>
      <a:lvl2pPr algn="r" defTabSz="914400" indent="0" latinLnBrk="0" marL="0" marR="0" rtl="0">
        <a:lnSpc>
          <a:spcPct val="100000"/>
        </a:lnSpc>
        <a:spcBef>
          <a:spcPts val="0"/>
        </a:spcBef>
        <a:spcAft>
          <a:spcPts val="0"/>
        </a:spcAft>
        <a:buClrTx/>
        <a:buSzTx/>
        <a:buFontTx/>
        <a:buNone/>
        <a:tabLst/>
        <a:defRPr b="1" baseline="0" cap="none" i="0" spc="0" strike="noStrike" sz="1200" u="none">
          <a:solidFill>
            <a:schemeClr val="tx1"/>
          </a:solidFill>
          <a:uFillTx/>
          <a:latin typeface="+mn-lt"/>
          <a:ea typeface="+mn-ea"/>
          <a:cs typeface="+mn-cs"/>
          <a:sym typeface="Times New Roman"/>
        </a:defRPr>
      </a:lvl2pPr>
      <a:lvl3pPr algn="r" defTabSz="914400" indent="0" latinLnBrk="0" marL="0" marR="0" rtl="0">
        <a:lnSpc>
          <a:spcPct val="100000"/>
        </a:lnSpc>
        <a:spcBef>
          <a:spcPts val="0"/>
        </a:spcBef>
        <a:spcAft>
          <a:spcPts val="0"/>
        </a:spcAft>
        <a:buClrTx/>
        <a:buSzTx/>
        <a:buFontTx/>
        <a:buNone/>
        <a:tabLst/>
        <a:defRPr b="1" baseline="0" cap="none" i="0" spc="0" strike="noStrike" sz="1200" u="none">
          <a:solidFill>
            <a:schemeClr val="tx1"/>
          </a:solidFill>
          <a:uFillTx/>
          <a:latin typeface="+mn-lt"/>
          <a:ea typeface="+mn-ea"/>
          <a:cs typeface="+mn-cs"/>
          <a:sym typeface="Times New Roman"/>
        </a:defRPr>
      </a:lvl3pPr>
      <a:lvl4pPr algn="r" defTabSz="914400" indent="0" latinLnBrk="0" marL="0" marR="0" rtl="0">
        <a:lnSpc>
          <a:spcPct val="100000"/>
        </a:lnSpc>
        <a:spcBef>
          <a:spcPts val="0"/>
        </a:spcBef>
        <a:spcAft>
          <a:spcPts val="0"/>
        </a:spcAft>
        <a:buClrTx/>
        <a:buSzTx/>
        <a:buFontTx/>
        <a:buNone/>
        <a:tabLst/>
        <a:defRPr b="1" baseline="0" cap="none" i="0" spc="0" strike="noStrike" sz="1200" u="none">
          <a:solidFill>
            <a:schemeClr val="tx1"/>
          </a:solidFill>
          <a:uFillTx/>
          <a:latin typeface="+mn-lt"/>
          <a:ea typeface="+mn-ea"/>
          <a:cs typeface="+mn-cs"/>
          <a:sym typeface="Times New Roman"/>
        </a:defRPr>
      </a:lvl4pPr>
      <a:lvl5pPr algn="r" defTabSz="914400" indent="0" latinLnBrk="0" marL="0" marR="0" rtl="0">
        <a:lnSpc>
          <a:spcPct val="100000"/>
        </a:lnSpc>
        <a:spcBef>
          <a:spcPts val="0"/>
        </a:spcBef>
        <a:spcAft>
          <a:spcPts val="0"/>
        </a:spcAft>
        <a:buClrTx/>
        <a:buSzTx/>
        <a:buFontTx/>
        <a:buNone/>
        <a:tabLst/>
        <a:defRPr b="1" baseline="0" cap="none" i="0" spc="0" strike="noStrike" sz="1200" u="none">
          <a:solidFill>
            <a:schemeClr val="tx1"/>
          </a:solidFill>
          <a:uFillTx/>
          <a:latin typeface="+mn-lt"/>
          <a:ea typeface="+mn-ea"/>
          <a:cs typeface="+mn-cs"/>
          <a:sym typeface="Times New Roman"/>
        </a:defRPr>
      </a:lvl5pPr>
      <a:lvl6pPr algn="r" defTabSz="914400" indent="0" latinLnBrk="0" marL="0" marR="0" rtl="0">
        <a:lnSpc>
          <a:spcPct val="100000"/>
        </a:lnSpc>
        <a:spcBef>
          <a:spcPts val="0"/>
        </a:spcBef>
        <a:spcAft>
          <a:spcPts val="0"/>
        </a:spcAft>
        <a:buClrTx/>
        <a:buSzTx/>
        <a:buFontTx/>
        <a:buNone/>
        <a:tabLst/>
        <a:defRPr b="1" baseline="0" cap="none" i="0" spc="0" strike="noStrike" sz="1200" u="none">
          <a:solidFill>
            <a:schemeClr val="tx1"/>
          </a:solidFill>
          <a:uFillTx/>
          <a:latin typeface="+mn-lt"/>
          <a:ea typeface="+mn-ea"/>
          <a:cs typeface="+mn-cs"/>
          <a:sym typeface="Times New Roman"/>
        </a:defRPr>
      </a:lvl6pPr>
      <a:lvl7pPr algn="r" defTabSz="914400" indent="0" latinLnBrk="0" marL="0" marR="0" rtl="0">
        <a:lnSpc>
          <a:spcPct val="100000"/>
        </a:lnSpc>
        <a:spcBef>
          <a:spcPts val="0"/>
        </a:spcBef>
        <a:spcAft>
          <a:spcPts val="0"/>
        </a:spcAft>
        <a:buClrTx/>
        <a:buSzTx/>
        <a:buFontTx/>
        <a:buNone/>
        <a:tabLst/>
        <a:defRPr b="1" baseline="0" cap="none" i="0" spc="0" strike="noStrike" sz="1200" u="none">
          <a:solidFill>
            <a:schemeClr val="tx1"/>
          </a:solidFill>
          <a:uFillTx/>
          <a:latin typeface="+mn-lt"/>
          <a:ea typeface="+mn-ea"/>
          <a:cs typeface="+mn-cs"/>
          <a:sym typeface="Times New Roman"/>
        </a:defRPr>
      </a:lvl7pPr>
      <a:lvl8pPr algn="r" defTabSz="914400" indent="0" latinLnBrk="0" marL="0" marR="0" rtl="0">
        <a:lnSpc>
          <a:spcPct val="100000"/>
        </a:lnSpc>
        <a:spcBef>
          <a:spcPts val="0"/>
        </a:spcBef>
        <a:spcAft>
          <a:spcPts val="0"/>
        </a:spcAft>
        <a:buClrTx/>
        <a:buSzTx/>
        <a:buFontTx/>
        <a:buNone/>
        <a:tabLst/>
        <a:defRPr b="1" baseline="0" cap="none" i="0" spc="0" strike="noStrike" sz="1200" u="none">
          <a:solidFill>
            <a:schemeClr val="tx1"/>
          </a:solidFill>
          <a:uFillTx/>
          <a:latin typeface="+mn-lt"/>
          <a:ea typeface="+mn-ea"/>
          <a:cs typeface="+mn-cs"/>
          <a:sym typeface="Times New Roman"/>
        </a:defRPr>
      </a:lvl8pPr>
      <a:lvl9pPr algn="r" defTabSz="914400" indent="0" latinLnBrk="0" marL="0" marR="0" rtl="0">
        <a:lnSpc>
          <a:spcPct val="100000"/>
        </a:lnSpc>
        <a:spcBef>
          <a:spcPts val="0"/>
        </a:spcBef>
        <a:spcAft>
          <a:spcPts val="0"/>
        </a:spcAft>
        <a:buClrTx/>
        <a:buSzTx/>
        <a:buFontTx/>
        <a:buNone/>
        <a:tabLst/>
        <a:defRPr b="1" baseline="0" cap="none" i="0" spc="0" strike="noStrike" sz="1200" u="none">
          <a:solidFill>
            <a:schemeClr val="tx1"/>
          </a:solidFill>
          <a:uFillTx/>
          <a:latin typeface="+mn-lt"/>
          <a:ea typeface="+mn-ea"/>
          <a:cs typeface="+mn-cs"/>
          <a:sym typeface="Times New Roman"/>
        </a:defRPr>
      </a:lvl9pPr>
    </p:otherStyle>
  </p:txStyles>
</p:sldMaster>
</file>

<file path=ppt/slides/_rels/slide1.xml.rels><?xml version="1.0" encoding="UTF-8" standalone="yes"?><Relationships xmlns="http://schemas.openxmlformats.org/package/2006/relationships"><Relationship Id="rId2" Target="../media/image3.png" Type="http://schemas.openxmlformats.org/officeDocument/2006/relationships/image"/><Relationship Id="rId1" Target="../slideLayouts/slideLayout20.xml" Type="http://schemas.openxmlformats.org/officeDocument/2006/relationships/slideLayout"/></Relationships>
</file>

<file path=ppt/slides/_rels/slide2.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3.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4.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5.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6.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7.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8.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9.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10.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11.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12.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13.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14.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15.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16.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17.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18.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19.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20.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21.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22.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23.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24.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25.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26.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27.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28.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29.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30.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31.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32.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33.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34.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35.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36.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37.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38.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39.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40.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41.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42.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43.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44.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45.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46.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47.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48.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49.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50.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51.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52.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53.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54.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55.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56.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57.xml.rels><?xml version="1.0" encoding="UTF-8" standalone="yes"?><Relationships xmlns="http://schemas.openxmlformats.org/package/2006/relationships"><Relationship Id="rId3" Target="../media/image3.png" Type="http://schemas.openxmlformats.org/officeDocument/2006/relationships/image"/><Relationship Id="rId2" Target="https://www.brocardi.it/dizionario/3356.html" TargetMode="External" Type="http://schemas.openxmlformats.org/officeDocument/2006/relationships/hyperlink"/><Relationship Id="rId1" Target="../slideLayouts/slideLayout15.xml" Type="http://schemas.openxmlformats.org/officeDocument/2006/relationships/slideLayout"/></Relationships>
</file>

<file path=ppt/slides/_rels/slide58.xml.rels><?xml version="1.0" encoding="UTF-8" standalone="yes"?><Relationships xmlns="http://schemas.openxmlformats.org/package/2006/relationships"><Relationship Id="rId1" Target="../slideLayouts/slideLayout15.xml" Type="http://schemas.openxmlformats.org/officeDocument/2006/relationships/slideLayout"/></Relationships>
</file>

<file path=ppt/slides/_rels/slide59.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60.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61.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62.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63.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64.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65.xml.rels><?xml version="1.0" encoding="UTF-8" standalone="yes"?><Relationships xmlns="http://schemas.openxmlformats.org/package/2006/relationships"><Relationship Id="rId3" Target="../media/image3.png" Type="http://schemas.openxmlformats.org/officeDocument/2006/relationships/image"/><Relationship Id="rId2" Target="../notesSlides/notesSlide1.xml" Type="http://schemas.openxmlformats.org/officeDocument/2006/relationships/notesSlide"/><Relationship Id="rId1" Target="../slideLayouts/slideLayout15.xml" Type="http://schemas.openxmlformats.org/officeDocument/2006/relationships/slideLayout"/></Relationships>
</file>

<file path=ppt/slides/_rels/slide66.xml.rels><?xml version="1.0" encoding="UTF-8" standalone="yes"?><Relationships xmlns="http://schemas.openxmlformats.org/package/2006/relationships"><Relationship Id="rId2" Target="../media/image3.png" Type="http://schemas.openxmlformats.org/officeDocument/2006/relationships/image"/><Relationship Id="rId1" Target="../slideLayouts/slideLayout15.xml" Type="http://schemas.openxmlformats.org/officeDocument/2006/relationships/slideLayout"/></Relationships>
</file>

<file path=ppt/slides/_rels/slide67.xml.rels><?xml version="1.0" encoding="UTF-8" standalone="yes"?><Relationships xmlns="http://schemas.openxmlformats.org/package/2006/relationships"><Relationship Id="rId3" Target="../media/image3.png" Type="http://schemas.openxmlformats.org/officeDocument/2006/relationships/image"/><Relationship Id="rId2" Target="../media/image4.jpeg" Type="http://schemas.openxmlformats.org/officeDocument/2006/relationships/image"/><Relationship Id="rId1" Target="../slideLayouts/slideLayout15.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magine 1" id="221" name="Immagine 1"/>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222" name="Text Box 4"/>
          <p:cNvSpPr txBox="1"/>
          <p:nvPr/>
        </p:nvSpPr>
        <p:spPr>
          <a:xfrm>
            <a:off x="45719" y="1723588"/>
            <a:ext cx="9052561" cy="11836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lvl1pPr algn="ctr">
              <a:lnSpc>
                <a:spcPct val="85000"/>
              </a:lnSpc>
              <a:spcBef>
                <a:spcPts val="4300"/>
              </a:spcBef>
              <a:defRPr i="1" sz="7200">
                <a:solidFill>
                  <a:srgbClr val="C00000"/>
                </a:solidFill>
                <a:latin typeface="Book Antiqua"/>
                <a:ea typeface="Book Antiqua"/>
                <a:cs typeface="Book Antiqua"/>
                <a:sym typeface="Book Antiqua"/>
              </a:defRPr>
            </a:lvl1pPr>
          </a:lstStyle>
          <a:p>
            <a:r>
              <a:t>Diritto Penale</a:t>
            </a:r>
          </a:p>
        </p:txBody>
      </p:sp>
      <p:sp>
        <p:nvSpPr>
          <p:cNvPr id="223" name="Text Box 4"/>
          <p:cNvSpPr txBox="1"/>
          <p:nvPr/>
        </p:nvSpPr>
        <p:spPr>
          <a:xfrm>
            <a:off x="174876" y="6303649"/>
            <a:ext cx="4783452" cy="3708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lvl1pPr>
              <a:lnSpc>
                <a:spcPct val="85000"/>
              </a:lnSpc>
              <a:spcBef>
                <a:spcPts val="1000"/>
              </a:spcBef>
              <a:defRPr b="0" sz="1800">
                <a:latin typeface="Book Antiqua"/>
                <a:ea typeface="Book Antiqua"/>
                <a:cs typeface="Book Antiqua"/>
                <a:sym typeface="Book Antiqua"/>
              </a:defRPr>
            </a:lvl1pPr>
          </a:lstStyle>
          <a:p>
            <a:r>
              <a:t>143°Corso Formativo per Allievi Carabinieri</a:t>
            </a:r>
          </a:p>
        </p:txBody>
      </p:sp>
      <p:sp>
        <p:nvSpPr>
          <p:cNvPr id="224" name="Text Box 4"/>
          <p:cNvSpPr txBox="1"/>
          <p:nvPr/>
        </p:nvSpPr>
        <p:spPr>
          <a:xfrm>
            <a:off x="45719" y="53165"/>
            <a:ext cx="9052561" cy="9372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r">
              <a:lnSpc>
                <a:spcPct val="85000"/>
              </a:lnSpc>
              <a:spcBef>
                <a:spcPts val="1900"/>
              </a:spcBef>
              <a:defRPr cap="small" sz="3000">
                <a:solidFill>
                  <a:srgbClr val="FFFFFF"/>
                </a:solidFill>
                <a:latin typeface="Book Antiqua"/>
                <a:ea typeface="Book Antiqua"/>
                <a:cs typeface="Book Antiqua"/>
                <a:sym typeface="Book Antiqua"/>
              </a:defRPr>
            </a:pPr>
            <a:r>
              <a:t>Scuola Allievi Carabinieri</a:t>
            </a:r>
            <a:br/>
            <a:endParaRPr/>
          </a:p>
        </p:txBody>
      </p:sp>
      <p:sp>
        <p:nvSpPr>
          <p:cNvPr id="225" name="Text Box 4"/>
          <p:cNvSpPr txBox="1"/>
          <p:nvPr/>
        </p:nvSpPr>
        <p:spPr>
          <a:xfrm>
            <a:off x="45719" y="2918693"/>
            <a:ext cx="9052561" cy="18853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ctr">
              <a:lnSpc>
                <a:spcPct val="85000"/>
              </a:lnSpc>
              <a:spcBef>
                <a:spcPts val="2600"/>
              </a:spcBef>
              <a:defRPr cap="small" sz="4400">
                <a:solidFill>
                  <a:srgbClr val="002F8E"/>
                </a:solidFill>
                <a:latin typeface="Book Antiqua"/>
                <a:ea typeface="Book Antiqua"/>
                <a:cs typeface="Book Antiqua"/>
                <a:sym typeface="Book Antiqua"/>
              </a:defRPr>
            </a:pPr>
            <a:r>
              <a:t>VII Tesi</a:t>
            </a:r>
            <a:endParaRPr>
              <a:latin typeface="Times New Roman"/>
              <a:ea typeface="Times New Roman"/>
              <a:cs typeface="Times New Roman"/>
              <a:sym typeface="Times New Roman"/>
            </a:endParaRPr>
          </a:p>
          <a:p>
            <a:pPr algn="ctr">
              <a:lnSpc>
                <a:spcPct val="85000"/>
              </a:lnSpc>
              <a:spcBef>
                <a:spcPts val="2800"/>
              </a:spcBef>
              <a:defRPr cap="small" sz="1000">
                <a:solidFill>
                  <a:srgbClr val="002F8E"/>
                </a:solidFill>
                <a:latin typeface="Book Antiqua"/>
                <a:ea typeface="Book Antiqua"/>
                <a:cs typeface="Book Antiqua"/>
                <a:sym typeface="Book Antiqua"/>
              </a:defRPr>
            </a:pPr>
            <a:r>
              <a:t> </a:t>
            </a:r>
            <a:br/>
            <a:r>
              <a:rPr cap="none" i="1" sz="4800"/>
              <a:t>I delitti contro il patrimonio</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Segnaposto contenuto 2"/>
          <p:cNvSpPr txBox="1">
            <a:spLocks noGrp="1"/>
          </p:cNvSpPr>
          <p:nvPr>
            <p:ph idx="1" type="body"/>
          </p:nvPr>
        </p:nvSpPr>
        <p:spPr>
          <a:xfrm>
            <a:off x="136850" y="980726"/>
            <a:ext cx="8899646" cy="5877276"/>
          </a:xfrm>
          <a:prstGeom prst="rect">
            <a:avLst/>
          </a:prstGeom>
        </p:spPr>
        <p:txBody>
          <a:bodyPr numCol="1"/>
          <a:lstStyle/>
          <a:p>
            <a:pPr indent="0" marL="0">
              <a:lnSpc>
                <a:spcPct val="107200"/>
              </a:lnSpc>
              <a:spcBef>
                <a:spcPts val="0"/>
              </a:spcBef>
              <a:buSzTx/>
              <a:buNone/>
              <a:defRPr sz="1800">
                <a:latin typeface="Times New Roman"/>
                <a:ea typeface="Times New Roman"/>
                <a:cs typeface="Times New Roman"/>
                <a:sym typeface="Times New Roman"/>
              </a:defRPr>
            </a:pPr>
            <a:r>
              <a:t>I titoli sono i seguenti:</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I - Delitti contro la personalità dello Stato (artt. 241-313),</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II - Delitti contro la pubblica amministrazione (artt. 314-360),</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III - Delitti contro l’Amministrazione della giustizia (artt. 361-401),</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IV - Delitti contro il sentimento religioso e contro la pietà dei defunti (artt. 402-413),</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V - Delitti contro l’ordine pubblico (artt. 414-421),</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VI - Delitti contro l’incolumità pubblica (artt. 422-452),</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VI bis – Delitti contro l’ambiente (artt. 452bis-452terdecies),</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VII - Delitti contro la fede pubblica (artt. 453-498),</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VIII - Delitti contro l’economia pubblica, l’industria e il commercio (artt. 499-518),</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IX - Delitti contro la moralità pubblica e il buon costume (artt. 519-544), </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IX bis - Delitti contro il sentimento per gli animali (artt. 544bis-544sexies),</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X - Delitti contro l’integrità e la sanità della stirpe (artt. 545-555) [titolo abrogato], </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XI - Delitti contro la famiglia (artt. 556-574),</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XII - Delitti contro la persona (artt. 575-623bis),</a:t>
            </a:r>
            <a:endParaRPr sz="800"/>
          </a:p>
          <a:p>
            <a:pPr>
              <a:lnSpc>
                <a:spcPct val="107200"/>
              </a:lnSpc>
              <a:spcBef>
                <a:spcPts val="0"/>
              </a:spcBef>
              <a:buFont typeface="Times New Roman"/>
              <a:buChar char="➢"/>
              <a:defRPr b="1" sz="2400">
                <a:latin typeface="Times New Roman"/>
                <a:ea typeface="Times New Roman"/>
                <a:cs typeface="Times New Roman"/>
                <a:sym typeface="Times New Roman"/>
              </a:defRPr>
            </a:pPr>
            <a:r>
              <a:t>XIII - Delitti contro il patrimonio (artt. 624-649).</a:t>
            </a:r>
          </a:p>
        </p:txBody>
      </p:sp>
      <p:pic>
        <p:nvPicPr>
          <p:cNvPr descr="Immagine 5" id="228" name="Immagine 5"/>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229"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Generalità</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Rectangle 2"/>
          <p:cNvSpPr txBox="1">
            <a:spLocks noGrp="1"/>
          </p:cNvSpPr>
          <p:nvPr>
            <p:ph idx="1" type="body"/>
          </p:nvPr>
        </p:nvSpPr>
        <p:spPr>
          <a:xfrm>
            <a:off x="1897037" y="1512168"/>
            <a:ext cx="5349926" cy="5301208"/>
          </a:xfrm>
          <a:prstGeom prst="rect">
            <a:avLst/>
          </a:prstGeom>
        </p:spPr>
        <p:txBody>
          <a:bodyPr bIns="44180" lIns="44180" numCol="1" rIns="44180" tIns="44180"/>
          <a:lstStyle/>
          <a:p>
            <a:pPr algn="ctr" defTabSz="730250" indent="0" marL="0">
              <a:lnSpc>
                <a:spcPct val="114000"/>
              </a:lnSpc>
              <a:spcBef>
                <a:spcPts val="600"/>
              </a:spcBef>
              <a:buSzTx/>
              <a:buNone/>
              <a:defRPr sz="1600">
                <a:latin typeface="Book Antiqua"/>
                <a:ea typeface="Book Antiqua"/>
                <a:cs typeface="Book Antiqua"/>
                <a:sym typeface="Book Antiqua"/>
              </a:defRPr>
            </a:pPr>
            <a:r>
              <a:t>Generalità</a:t>
            </a:r>
          </a:p>
          <a:p>
            <a:pPr algn="ctr" defTabSz="730250" indent="0" marL="0">
              <a:lnSpc>
                <a:spcPct val="114000"/>
              </a:lnSpc>
              <a:spcBef>
                <a:spcPts val="600"/>
              </a:spcBef>
              <a:buSzTx/>
              <a:buNone/>
              <a:defRPr sz="1600">
                <a:latin typeface="Book Antiqua"/>
                <a:ea typeface="Book Antiqua"/>
                <a:cs typeface="Book Antiqua"/>
                <a:sym typeface="Book Antiqua"/>
              </a:defRPr>
            </a:pPr>
            <a:r>
              <a:t>Furto (art. 624)</a:t>
            </a:r>
          </a:p>
          <a:p>
            <a:pPr algn="ctr" defTabSz="730250" indent="0" marL="0">
              <a:lnSpc>
                <a:spcPct val="114000"/>
              </a:lnSpc>
              <a:spcBef>
                <a:spcPts val="600"/>
              </a:spcBef>
              <a:buSzTx/>
              <a:buNone/>
              <a:defRPr sz="1600">
                <a:latin typeface="Book Antiqua"/>
                <a:ea typeface="Book Antiqua"/>
                <a:cs typeface="Book Antiqua"/>
                <a:sym typeface="Book Antiqua"/>
              </a:defRPr>
            </a:pPr>
            <a:r>
              <a:t>Rapina (art. 628)</a:t>
            </a:r>
          </a:p>
          <a:p>
            <a:pPr algn="ctr" defTabSz="730250" indent="0" marL="0">
              <a:lnSpc>
                <a:spcPct val="114000"/>
              </a:lnSpc>
              <a:spcBef>
                <a:spcPts val="600"/>
              </a:spcBef>
              <a:buSzTx/>
              <a:buNone/>
              <a:defRPr sz="1600">
                <a:latin typeface="Book Antiqua"/>
                <a:ea typeface="Book Antiqua"/>
                <a:cs typeface="Book Antiqua"/>
                <a:sym typeface="Book Antiqua"/>
              </a:defRPr>
            </a:pPr>
            <a:r>
              <a:t>Estorsione (art. 629)</a:t>
            </a:r>
          </a:p>
          <a:p>
            <a:pPr algn="ctr" defTabSz="730250" indent="0" marL="0">
              <a:lnSpc>
                <a:spcPct val="114000"/>
              </a:lnSpc>
              <a:spcBef>
                <a:spcPts val="600"/>
              </a:spcBef>
              <a:buSzTx/>
              <a:buNone/>
              <a:defRPr sz="1600">
                <a:latin typeface="Book Antiqua"/>
                <a:ea typeface="Book Antiqua"/>
                <a:cs typeface="Book Antiqua"/>
                <a:sym typeface="Book Antiqua"/>
              </a:defRPr>
            </a:pPr>
            <a:r>
              <a:t>Truffa (art. 640)</a:t>
            </a:r>
          </a:p>
          <a:p>
            <a:pPr algn="ctr" defTabSz="730250" indent="0" marL="0">
              <a:lnSpc>
                <a:spcPct val="114000"/>
              </a:lnSpc>
              <a:spcBef>
                <a:spcPts val="600"/>
              </a:spcBef>
              <a:buSzTx/>
              <a:buNone/>
              <a:defRPr sz="1600">
                <a:latin typeface="Book Antiqua"/>
                <a:ea typeface="Book Antiqua"/>
                <a:cs typeface="Book Antiqua"/>
                <a:sym typeface="Book Antiqua"/>
              </a:defRPr>
            </a:pPr>
            <a:r>
              <a:t>Insolvenza fraudolenta (art. 641)</a:t>
            </a:r>
          </a:p>
          <a:p>
            <a:pPr algn="ctr" defTabSz="730250" indent="0" marL="0">
              <a:lnSpc>
                <a:spcPct val="114000"/>
              </a:lnSpc>
              <a:spcBef>
                <a:spcPts val="600"/>
              </a:spcBef>
              <a:buSzTx/>
              <a:buNone/>
              <a:defRPr sz="1600">
                <a:latin typeface="Book Antiqua"/>
                <a:ea typeface="Book Antiqua"/>
                <a:cs typeface="Book Antiqua"/>
                <a:sym typeface="Book Antiqua"/>
              </a:defRPr>
            </a:pPr>
            <a:r>
              <a:t>Circonvenzione d’incapace (art. 643)</a:t>
            </a:r>
          </a:p>
          <a:p>
            <a:pPr algn="ctr" defTabSz="730250" indent="0" marL="0">
              <a:lnSpc>
                <a:spcPct val="114000"/>
              </a:lnSpc>
              <a:spcBef>
                <a:spcPts val="600"/>
              </a:spcBef>
              <a:buSzTx/>
              <a:buNone/>
              <a:defRPr sz="1600">
                <a:latin typeface="Book Antiqua"/>
                <a:ea typeface="Book Antiqua"/>
                <a:cs typeface="Book Antiqua"/>
                <a:sym typeface="Book Antiqua"/>
              </a:defRPr>
            </a:pPr>
            <a:r>
              <a:t>Appropriazione indebita (art. 646)</a:t>
            </a:r>
          </a:p>
          <a:p>
            <a:pPr algn="ctr" defTabSz="730250" indent="0" marL="0">
              <a:lnSpc>
                <a:spcPct val="114000"/>
              </a:lnSpc>
              <a:spcBef>
                <a:spcPts val="600"/>
              </a:spcBef>
              <a:buSzTx/>
              <a:buNone/>
              <a:defRPr sz="1600">
                <a:latin typeface="Book Antiqua"/>
                <a:ea typeface="Book Antiqua"/>
                <a:cs typeface="Book Antiqua"/>
                <a:sym typeface="Book Antiqua"/>
              </a:defRPr>
            </a:pPr>
            <a:r>
              <a:t>Sequestro di persona a scopo di estorsione (art. 630)</a:t>
            </a:r>
          </a:p>
          <a:p>
            <a:pPr algn="ctr" defTabSz="730250" indent="0" marL="0">
              <a:lnSpc>
                <a:spcPct val="114000"/>
              </a:lnSpc>
              <a:spcBef>
                <a:spcPts val="600"/>
              </a:spcBef>
              <a:buSzTx/>
              <a:buNone/>
              <a:defRPr sz="1600">
                <a:latin typeface="Book Antiqua"/>
                <a:ea typeface="Book Antiqua"/>
                <a:cs typeface="Book Antiqua"/>
                <a:sym typeface="Book Antiqua"/>
              </a:defRPr>
            </a:pPr>
            <a:r>
              <a:t>Danneggiamento (art. 635)</a:t>
            </a:r>
          </a:p>
          <a:p>
            <a:pPr algn="ctr" defTabSz="730250" indent="0" marL="0">
              <a:lnSpc>
                <a:spcPct val="114000"/>
              </a:lnSpc>
              <a:spcBef>
                <a:spcPts val="600"/>
              </a:spcBef>
              <a:buSzTx/>
              <a:buNone/>
              <a:defRPr sz="1600">
                <a:latin typeface="Book Antiqua"/>
                <a:ea typeface="Book Antiqua"/>
                <a:cs typeface="Book Antiqua"/>
                <a:sym typeface="Book Antiqua"/>
              </a:defRPr>
            </a:pPr>
            <a:r>
              <a:t>Usura (art. 644)</a:t>
            </a:r>
          </a:p>
          <a:p>
            <a:pPr algn="ctr" defTabSz="730250" indent="0" marL="0">
              <a:lnSpc>
                <a:spcPct val="114000"/>
              </a:lnSpc>
              <a:spcBef>
                <a:spcPts val="600"/>
              </a:spcBef>
              <a:buSzTx/>
              <a:buNone/>
              <a:defRPr sz="1600">
                <a:latin typeface="Book Antiqua"/>
                <a:ea typeface="Book Antiqua"/>
                <a:cs typeface="Book Antiqua"/>
                <a:sym typeface="Book Antiqua"/>
              </a:defRPr>
            </a:pPr>
            <a:r>
              <a:t>Ricettazione (art. 648)</a:t>
            </a:r>
          </a:p>
          <a:p>
            <a:pPr algn="ctr" defTabSz="730250" indent="0" marL="0">
              <a:lnSpc>
                <a:spcPct val="114000"/>
              </a:lnSpc>
              <a:spcBef>
                <a:spcPts val="600"/>
              </a:spcBef>
              <a:buSzTx/>
              <a:buNone/>
              <a:defRPr sz="1600">
                <a:latin typeface="Book Antiqua"/>
                <a:ea typeface="Book Antiqua"/>
                <a:cs typeface="Book Antiqua"/>
                <a:sym typeface="Book Antiqua"/>
              </a:defRPr>
            </a:pPr>
            <a:r>
              <a:t>Riciclaggio (art. 648 bis)</a:t>
            </a:r>
          </a:p>
        </p:txBody>
      </p:sp>
      <p:sp>
        <p:nvSpPr>
          <p:cNvPr id="232" name="CasellaDiTesto 9"/>
          <p:cNvSpPr txBox="1"/>
          <p:nvPr/>
        </p:nvSpPr>
        <p:spPr>
          <a:xfrm>
            <a:off x="3609607" y="908721"/>
            <a:ext cx="1924787" cy="6375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lvl1pPr algn="ctr">
              <a:defRPr i="1" sz="3600">
                <a:solidFill>
                  <a:srgbClr val="002F8E"/>
                </a:solidFill>
                <a:latin typeface="Book Antiqua"/>
                <a:ea typeface="Book Antiqua"/>
                <a:cs typeface="Book Antiqua"/>
                <a:sym typeface="Book Antiqua"/>
              </a:defRPr>
            </a:lvl1pPr>
          </a:lstStyle>
          <a:p>
            <a:r>
              <a:t>Indice</a:t>
            </a:r>
          </a:p>
        </p:txBody>
      </p:sp>
      <p:pic>
        <p:nvPicPr>
          <p:cNvPr descr="Immagine 4" id="233" name="Immagine 4"/>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234" name="Text Box 5"/>
          <p:cNvSpPr txBox="1"/>
          <p:nvPr/>
        </p:nvSpPr>
        <p:spPr>
          <a:xfrm>
            <a:off x="681728" y="44623"/>
            <a:ext cx="9174295" cy="6352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p>
            <a:pPr>
              <a:defRPr b="0" sz="3200">
                <a:solidFill>
                  <a:srgbClr val="FFFFFF"/>
                </a:solidFill>
                <a:latin typeface="Book Antiqua"/>
                <a:ea typeface="Book Antiqua"/>
                <a:cs typeface="Book Antiqua"/>
                <a:sym typeface="Book Antiqua"/>
              </a:defRPr>
            </a:pPr>
            <a:r>
              <a:t>TESI VII </a:t>
            </a:r>
            <a:r>
              <a:rPr sz="3600"/>
              <a:t>– </a:t>
            </a:r>
            <a:r>
              <a:t>I delitti contro il patrimonio</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CasellaDiTesto 1"/>
          <p:cNvSpPr txBox="1"/>
          <p:nvPr/>
        </p:nvSpPr>
        <p:spPr>
          <a:xfrm>
            <a:off x="153224" y="983854"/>
            <a:ext cx="8819041" cy="57387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600"/>
              </a:spcBef>
              <a:defRPr sz="2200">
                <a:solidFill>
                  <a:srgbClr val="002F8E"/>
                </a:solidFill>
                <a:latin typeface="Book Antiqua"/>
                <a:ea typeface="Book Antiqua"/>
                <a:cs typeface="Book Antiqua"/>
                <a:sym typeface="Book Antiqua"/>
              </a:defRPr>
            </a:pPr>
            <a:r>
              <a:t>I DELITTI CONTRO IL PATRIMONIO </a:t>
            </a:r>
            <a:r>
              <a:rPr b="0">
                <a:solidFill>
                  <a:srgbClr val="000000"/>
                </a:solidFill>
              </a:rPr>
              <a:t>sono regolamentati dal Titolo XIII del Libro Secondo ed è suddiviso in tre capi:</a:t>
            </a:r>
          </a:p>
          <a:p>
            <a:pPr algn="just">
              <a:lnSpc>
                <a:spcPct val="114000"/>
              </a:lnSpc>
              <a:spcBef>
                <a:spcPts val="600"/>
              </a:spcBef>
              <a:defRPr sz="2200">
                <a:solidFill>
                  <a:srgbClr val="002F8E"/>
                </a:solidFill>
                <a:latin typeface="Times New Roman"/>
                <a:ea typeface="Times New Roman"/>
                <a:cs typeface="Times New Roman"/>
                <a:sym typeface="Times New Roman"/>
              </a:defRPr>
            </a:pPr>
            <a:endParaRPr b="0">
              <a:solidFill>
                <a:srgbClr val="000000"/>
              </a:solidFill>
            </a:endParaRPr>
          </a:p>
          <a:p>
            <a:pPr algn="just" indent="-342900" marL="342900">
              <a:lnSpc>
                <a:spcPct val="114000"/>
              </a:lnSpc>
              <a:spcBef>
                <a:spcPts val="1200"/>
              </a:spcBef>
              <a:buSzPct val="100000"/>
              <a:buFont typeface="Book Antiqua"/>
              <a:buChar char="❑"/>
              <a:defRPr b="0" sz="2000">
                <a:solidFill>
                  <a:srgbClr val="FF0000"/>
                </a:solidFill>
                <a:latin typeface="Book Antiqua"/>
                <a:ea typeface="Book Antiqua"/>
                <a:cs typeface="Book Antiqua"/>
                <a:sym typeface="Book Antiqua"/>
              </a:defRPr>
            </a:pPr>
            <a:r>
              <a:t>I Capo</a:t>
            </a:r>
            <a:r>
              <a:rPr>
                <a:solidFill>
                  <a:srgbClr val="000000"/>
                </a:solidFill>
              </a:rPr>
              <a:t>, rubricato </a:t>
            </a:r>
            <a:r>
              <a:rPr u="sng"/>
              <a:t>“</a:t>
            </a:r>
            <a:r>
              <a:rPr b="1" u="sng"/>
              <a:t>dei delitti contro il patrimonio mediante violenza alle cose o alle persone</a:t>
            </a:r>
            <a:r>
              <a:rPr u="sng"/>
              <a:t>”</a:t>
            </a:r>
            <a:r>
              <a:rPr>
                <a:solidFill>
                  <a:srgbClr val="000000"/>
                </a:solidFill>
              </a:rPr>
              <a:t>: vi rientrano i reati a c.d. “</a:t>
            </a:r>
            <a:r>
              <a:rPr b="1">
                <a:solidFill>
                  <a:srgbClr val="000000"/>
                </a:solidFill>
              </a:rPr>
              <a:t>usurpazione unilaterale</a:t>
            </a:r>
            <a:r>
              <a:rPr>
                <a:solidFill>
                  <a:srgbClr val="000000"/>
                </a:solidFill>
              </a:rPr>
              <a:t>” perché consumabili in assenza di alcuna forma di collaborazione da parte della vittima (si pensi al furto);</a:t>
            </a:r>
            <a:endParaRPr>
              <a:latin typeface="Times New Roman"/>
              <a:ea typeface="Times New Roman"/>
              <a:cs typeface="Times New Roman"/>
              <a:sym typeface="Times New Roman"/>
            </a:endParaRPr>
          </a:p>
          <a:p>
            <a:pPr algn="just" indent="-342900" marL="342900">
              <a:lnSpc>
                <a:spcPct val="114000"/>
              </a:lnSpc>
              <a:spcBef>
                <a:spcPts val="1200"/>
              </a:spcBef>
              <a:buSzPct val="100000"/>
              <a:buFont typeface="Book Antiqua"/>
              <a:buChar char="❑"/>
              <a:defRPr b="0" sz="2000">
                <a:solidFill>
                  <a:srgbClr val="FF40FF"/>
                </a:solidFill>
                <a:latin typeface="Book Antiqua"/>
                <a:ea typeface="Book Antiqua"/>
                <a:cs typeface="Book Antiqua"/>
                <a:sym typeface="Book Antiqua"/>
              </a:defRPr>
            </a:pPr>
            <a:r>
              <a:t>II Capo</a:t>
            </a:r>
            <a:r>
              <a:rPr>
                <a:solidFill>
                  <a:srgbClr val="000000"/>
                </a:solidFill>
              </a:rPr>
              <a:t>, rubricato “</a:t>
            </a:r>
            <a:r>
              <a:rPr b="1" u="sng"/>
              <a:t>dei delitti contro il patrimonio mediante frode</a:t>
            </a:r>
            <a:r>
              <a:rPr>
                <a:solidFill>
                  <a:srgbClr val="000000"/>
                </a:solidFill>
              </a:rPr>
              <a:t>”: vi rientrano i </a:t>
            </a:r>
            <a:r>
              <a:rPr b="1">
                <a:solidFill>
                  <a:srgbClr val="000000"/>
                </a:solidFill>
              </a:rPr>
              <a:t>reati c.d. “con collaborazione della vittima</a:t>
            </a:r>
            <a:r>
              <a:rPr>
                <a:solidFill>
                  <a:srgbClr val="000000"/>
                </a:solidFill>
              </a:rPr>
              <a:t>”, perché sovente è quest’ultima, tratta in inganno, a porre in essere l’atto di disposizione patrimoniale (si pensi alla truffa);</a:t>
            </a:r>
            <a:endParaRPr>
              <a:latin typeface="Times New Roman"/>
              <a:ea typeface="Times New Roman"/>
              <a:cs typeface="Times New Roman"/>
              <a:sym typeface="Times New Roman"/>
            </a:endParaRPr>
          </a:p>
          <a:p>
            <a:pPr algn="just" indent="-342900" marL="342900">
              <a:lnSpc>
                <a:spcPct val="114000"/>
              </a:lnSpc>
              <a:spcBef>
                <a:spcPts val="1200"/>
              </a:spcBef>
              <a:buSzPct val="100000"/>
              <a:buFont typeface="Book Antiqua"/>
              <a:buChar char="❑"/>
              <a:defRPr b="0" sz="2000">
                <a:solidFill>
                  <a:srgbClr val="0433FF">
                    <a:alpha val="63103"/>
                  </a:srgbClr>
                </a:solidFill>
                <a:latin typeface="Book Antiqua"/>
                <a:ea typeface="Book Antiqua"/>
                <a:cs typeface="Book Antiqua"/>
                <a:sym typeface="Book Antiqua"/>
              </a:defRPr>
            </a:pPr>
            <a:r>
              <a:t>III Capo</a:t>
            </a:r>
            <a:r>
              <a:rPr>
                <a:solidFill>
                  <a:srgbClr val="000000"/>
                </a:solidFill>
              </a:rPr>
              <a:t>, rubricato “</a:t>
            </a:r>
            <a:r>
              <a:rPr b="1" u="sng">
                <a:solidFill>
                  <a:srgbClr val="0070C0"/>
                </a:solidFill>
              </a:rPr>
              <a:t>disposizioni comuni a capi precedenti</a:t>
            </a:r>
            <a:r>
              <a:rPr>
                <a:solidFill>
                  <a:srgbClr val="000000"/>
                </a:solidFill>
              </a:rPr>
              <a:t>”.</a:t>
            </a:r>
          </a:p>
          <a:p>
            <a:pPr algn="just">
              <a:lnSpc>
                <a:spcPct val="114000"/>
              </a:lnSpc>
              <a:spcBef>
                <a:spcPts val="1200"/>
              </a:spcBef>
              <a:defRPr b="0" sz="2200">
                <a:latin typeface="Book Antiqua"/>
                <a:ea typeface="Book Antiqua"/>
                <a:cs typeface="Book Antiqua"/>
                <a:sym typeface="Book Antiqua"/>
              </a:defRPr>
            </a:pPr>
            <a:r>
              <a:t>Per far configurare questo tipo di reati il fatto concreto deve comportare una </a:t>
            </a:r>
            <a:r>
              <a:rPr b="1">
                <a:solidFill>
                  <a:srgbClr val="00B0F0"/>
                </a:solidFill>
              </a:rPr>
              <a:t>REALE OFFESA DEL PATRIMONIO</a:t>
            </a:r>
            <a:r>
              <a:t>.</a:t>
            </a:r>
          </a:p>
        </p:txBody>
      </p:sp>
      <p:pic>
        <p:nvPicPr>
          <p:cNvPr descr="Immagine 3" id="237" name="Immagine 3"/>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238"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Generalità</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CasellaDiTesto 1"/>
          <p:cNvSpPr txBox="1"/>
          <p:nvPr/>
        </p:nvSpPr>
        <p:spPr>
          <a:xfrm>
            <a:off x="234487" y="1053820"/>
            <a:ext cx="8684281" cy="52870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indent="-1797050" marL="1797050">
              <a:lnSpc>
                <a:spcPct val="114000"/>
              </a:lnSpc>
              <a:spcBef>
                <a:spcPts val="600"/>
              </a:spcBef>
              <a:defRPr sz="2400">
                <a:solidFill>
                  <a:srgbClr val="002F8E"/>
                </a:solidFill>
                <a:latin typeface="Book Antiqua"/>
                <a:ea typeface="Book Antiqua"/>
                <a:cs typeface="Book Antiqua"/>
                <a:sym typeface="Book Antiqua"/>
              </a:defRPr>
            </a:pPr>
            <a:r>
              <a:t>Art. 624 c.p. Furto</a:t>
            </a:r>
            <a:endParaRPr>
              <a:latin typeface="Times New Roman"/>
              <a:ea typeface="Times New Roman"/>
              <a:cs typeface="Times New Roman"/>
              <a:sym typeface="Times New Roman"/>
            </a:endParaRPr>
          </a:p>
          <a:p>
            <a:pPr algn="just">
              <a:lnSpc>
                <a:spcPct val="114000"/>
              </a:lnSpc>
              <a:spcBef>
                <a:spcPts val="600"/>
              </a:spcBef>
              <a:defRPr b="0" sz="2200">
                <a:latin typeface="Book Antiqua"/>
                <a:ea typeface="Book Antiqua"/>
                <a:cs typeface="Book Antiqua"/>
                <a:sym typeface="Book Antiqua"/>
              </a:defRPr>
            </a:pPr>
            <a:r>
              <a:t>«</a:t>
            </a:r>
            <a:r>
              <a:rPr i="1"/>
              <a:t>Chiunque </a:t>
            </a:r>
            <a:r>
              <a:rPr b="1" i="1">
                <a:solidFill>
                  <a:srgbClr val="002F8E"/>
                </a:solidFill>
              </a:rPr>
              <a:t>s’impossessa della cosa mobile altrui</a:t>
            </a:r>
            <a:r>
              <a:rPr i="1">
                <a:solidFill>
                  <a:srgbClr val="002F8E"/>
                </a:solidFill>
              </a:rPr>
              <a:t>, </a:t>
            </a:r>
            <a:r>
              <a:rPr b="1" i="1">
                <a:solidFill>
                  <a:srgbClr val="002F8E"/>
                </a:solidFill>
              </a:rPr>
              <a:t>sottraendola</a:t>
            </a:r>
            <a:r>
              <a:rPr i="1">
                <a:solidFill>
                  <a:srgbClr val="002F8E"/>
                </a:solidFill>
              </a:rPr>
              <a:t> </a:t>
            </a:r>
            <a:r>
              <a:rPr i="1"/>
              <a:t>a chi la detiene, </a:t>
            </a:r>
            <a:r>
              <a:rPr b="1" i="1">
                <a:solidFill>
                  <a:srgbClr val="002F8E"/>
                </a:solidFill>
              </a:rPr>
              <a:t>al fine di trarne profitto per sé o per altri</a:t>
            </a:r>
            <a:r>
              <a:rPr i="1"/>
              <a:t>, è punito con la reclusione da sei mesi a tre anni e con la multa da € 154 a €516.</a:t>
            </a:r>
            <a:endParaRPr>
              <a:latin typeface="Times New Roman"/>
              <a:ea typeface="Times New Roman"/>
              <a:cs typeface="Times New Roman"/>
              <a:sym typeface="Times New Roman"/>
            </a:endParaRPr>
          </a:p>
          <a:p>
            <a:pPr algn="just">
              <a:lnSpc>
                <a:spcPct val="114000"/>
              </a:lnSpc>
              <a:spcBef>
                <a:spcPts val="600"/>
              </a:spcBef>
              <a:defRPr b="0" i="1" sz="2200">
                <a:latin typeface="Book Antiqua"/>
                <a:ea typeface="Book Antiqua"/>
                <a:cs typeface="Book Antiqua"/>
                <a:sym typeface="Book Antiqua"/>
              </a:defRPr>
            </a:pPr>
            <a:r>
              <a:t>Agli effetti della legge penale, si considera </a:t>
            </a:r>
            <a:r>
              <a:rPr b="1" u="sng"/>
              <a:t>cosa mobile</a:t>
            </a:r>
            <a:r>
              <a:rPr b="1"/>
              <a:t> </a:t>
            </a:r>
            <a:r>
              <a:t>anche l’energia elettrica ed ogni altra energia che abbia un valore economico.</a:t>
            </a:r>
            <a:endParaRPr>
              <a:latin typeface="Times New Roman"/>
              <a:ea typeface="Times New Roman"/>
              <a:cs typeface="Times New Roman"/>
              <a:sym typeface="Times New Roman"/>
            </a:endParaRPr>
          </a:p>
          <a:p>
            <a:pPr algn="just">
              <a:lnSpc>
                <a:spcPct val="114000"/>
              </a:lnSpc>
              <a:spcBef>
                <a:spcPts val="600"/>
              </a:spcBef>
              <a:defRPr b="0" i="1" sz="2200">
                <a:latin typeface="Book Antiqua"/>
                <a:ea typeface="Book Antiqua"/>
                <a:cs typeface="Book Antiqua"/>
                <a:sym typeface="Book Antiqua"/>
              </a:defRPr>
            </a:pPr>
            <a:r>
              <a:t>Il delitto è punibile </a:t>
            </a:r>
            <a:r>
              <a:rPr b="1" u="sng"/>
              <a:t>a querela della persona offesa.</a:t>
            </a:r>
          </a:p>
          <a:p>
            <a:pPr algn="just">
              <a:lnSpc>
                <a:spcPct val="114000"/>
              </a:lnSpc>
              <a:spcBef>
                <a:spcPts val="600"/>
              </a:spcBef>
              <a:defRPr b="0" i="1" sz="2200">
                <a:latin typeface="Book Antiqua"/>
                <a:ea typeface="Book Antiqua"/>
                <a:cs typeface="Book Antiqua"/>
                <a:sym typeface="Book Antiqua"/>
              </a:defRPr>
            </a:pPr>
            <a:r>
              <a:t>Si procede, tuttavia, d’ufficio se la persona offesa è incapace, per età o per infermità, ovvero se ricorre taluna delle circostanze di cui all’art. 625, numero 7 </a:t>
            </a:r>
            <a:r>
              <a:rPr sz="1700" u="sng"/>
              <a:t>(fatto commesso su cose esistenti in uffici o stabilimenti pubblici, o sottoposte a sequestro o pignoramento…)</a:t>
            </a:r>
            <a:r>
              <a:t>, salvo che il fatto sia commesso su cose esposte alla pubblica fede, e 7-bis) </a:t>
            </a:r>
            <a:r>
              <a:rPr sz="1600"/>
              <a:t>(</a:t>
            </a:r>
            <a:r>
              <a:rPr sz="1600" u="sng"/>
              <a:t>Fatto commesso su componenti metalliche o altro materiale sottratto ad infrastrutture destinate all’erogazione di energia, di servizi di trasporto, di telecomunicazioni….)</a:t>
            </a:r>
            <a:r>
              <a:t>… </a:t>
            </a:r>
          </a:p>
        </p:txBody>
      </p:sp>
      <p:pic>
        <p:nvPicPr>
          <p:cNvPr descr="Immagine 3" id="241" name="Immagine 3"/>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242"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Furto</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Furto"/>
          <p:cNvSpPr txBox="1">
            <a:spLocks noGrp="1"/>
          </p:cNvSpPr>
          <p:nvPr>
            <p:ph type="title"/>
          </p:nvPr>
        </p:nvSpPr>
        <p:spPr>
          <a:xfrm>
            <a:off x="172837" y="11532"/>
            <a:ext cx="2730443" cy="864403"/>
          </a:xfrm>
          <a:prstGeom prst="rect">
            <a:avLst/>
          </a:prstGeom>
        </p:spPr>
        <p:txBody>
          <a:bodyPr numCol="1"/>
          <a:lstStyle>
            <a:lvl1pPr>
              <a:defRPr>
                <a:solidFill>
                  <a:srgbClr val="FFFFFF"/>
                </a:solidFill>
              </a:defRPr>
            </a:lvl1pPr>
          </a:lstStyle>
          <a:p>
            <a:r>
              <a:t>Furto</a:t>
            </a:r>
          </a:p>
        </p:txBody>
      </p:sp>
      <p:sp>
        <p:nvSpPr>
          <p:cNvPr id="245" name="Reato comune.…"/>
          <p:cNvSpPr txBox="1">
            <a:spLocks noGrp="1"/>
          </p:cNvSpPr>
          <p:nvPr>
            <p:ph idx="1" type="body"/>
          </p:nvPr>
        </p:nvSpPr>
        <p:spPr>
          <a:xfrm>
            <a:off x="341678" y="1166017"/>
            <a:ext cx="8229601" cy="5404875"/>
          </a:xfrm>
          <a:prstGeom prst="rect">
            <a:avLst/>
          </a:prstGeom>
        </p:spPr>
        <p:txBody>
          <a:bodyPr numCol="1"/>
          <a:lstStyle/>
          <a:p>
            <a:pPr defTabSz="795527" indent="-298322" marL="298322">
              <a:spcBef>
                <a:spcPts val="600"/>
              </a:spcBef>
              <a:defRPr sz="2700">
                <a:solidFill>
                  <a:srgbClr val="FF0000"/>
                </a:solidFill>
              </a:defRPr>
            </a:pPr>
            <a:r>
              <a:rPr dirty="0" err="1"/>
              <a:t>Reato</a:t>
            </a:r>
            <a:r>
              <a:rPr dirty="0"/>
              <a:t> </a:t>
            </a:r>
            <a:r>
              <a:rPr dirty="0" err="1"/>
              <a:t>comune</a:t>
            </a:r>
            <a:r>
              <a:rPr dirty="0"/>
              <a:t>. </a:t>
            </a:r>
          </a:p>
          <a:p>
            <a:pPr defTabSz="795527" indent="-298322" marL="298322">
              <a:spcBef>
                <a:spcPts val="600"/>
              </a:spcBef>
              <a:defRPr sz="2700"/>
            </a:pPr>
            <a:endParaRPr dirty="0"/>
          </a:p>
          <a:p>
            <a:pPr algn="just" defTabSz="795527" indent="-298322" marL="298322">
              <a:spcBef>
                <a:spcPts val="600"/>
              </a:spcBef>
              <a:defRPr sz="2700">
                <a:solidFill>
                  <a:srgbClr val="FF0000"/>
                </a:solidFill>
              </a:defRPr>
            </a:pPr>
            <a:r>
              <a:rPr dirty="0" err="1"/>
              <a:t>Soggetto</a:t>
            </a:r>
            <a:r>
              <a:rPr dirty="0"/>
              <a:t> </a:t>
            </a:r>
            <a:r>
              <a:rPr dirty="0" err="1"/>
              <a:t>passivo</a:t>
            </a:r>
            <a:r>
              <a:rPr dirty="0">
                <a:solidFill>
                  <a:srgbClr val="000000"/>
                </a:solidFill>
              </a:rPr>
              <a:t> - è </a:t>
            </a:r>
            <a:r>
              <a:rPr dirty="0" err="1">
                <a:solidFill>
                  <a:srgbClr val="000000"/>
                </a:solidFill>
              </a:rPr>
              <a:t>il</a:t>
            </a:r>
            <a:r>
              <a:rPr dirty="0">
                <a:solidFill>
                  <a:srgbClr val="000000"/>
                </a:solidFill>
              </a:rPr>
              <a:t> </a:t>
            </a:r>
            <a:r>
              <a:rPr dirty="0" err="1">
                <a:solidFill>
                  <a:srgbClr val="000000"/>
                </a:solidFill>
              </a:rPr>
              <a:t>detentore</a:t>
            </a:r>
            <a:r>
              <a:rPr dirty="0">
                <a:solidFill>
                  <a:srgbClr val="000000"/>
                </a:solidFill>
              </a:rPr>
              <a:t> </a:t>
            </a:r>
            <a:r>
              <a:rPr dirty="0" err="1">
                <a:solidFill>
                  <a:srgbClr val="000000"/>
                </a:solidFill>
              </a:rPr>
              <a:t>della</a:t>
            </a:r>
            <a:r>
              <a:rPr dirty="0">
                <a:solidFill>
                  <a:srgbClr val="000000"/>
                </a:solidFill>
              </a:rPr>
              <a:t> </a:t>
            </a:r>
            <a:r>
              <a:rPr dirty="0" err="1">
                <a:solidFill>
                  <a:srgbClr val="000000"/>
                </a:solidFill>
              </a:rPr>
              <a:t>cosa</a:t>
            </a:r>
            <a:r>
              <a:rPr dirty="0">
                <a:solidFill>
                  <a:srgbClr val="000000"/>
                </a:solidFill>
              </a:rPr>
              <a:t> </a:t>
            </a:r>
            <a:r>
              <a:rPr dirty="0" err="1">
                <a:solidFill>
                  <a:srgbClr val="000000"/>
                </a:solidFill>
              </a:rPr>
              <a:t>sottratta</a:t>
            </a:r>
            <a:r>
              <a:rPr dirty="0">
                <a:solidFill>
                  <a:srgbClr val="000000"/>
                </a:solidFill>
              </a:rPr>
              <a:t>. </a:t>
            </a:r>
            <a:r>
              <a:rPr dirty="0" sz="1900">
                <a:solidFill>
                  <a:srgbClr val="000000"/>
                </a:solidFill>
              </a:rPr>
              <a:t>Si </a:t>
            </a:r>
            <a:r>
              <a:rPr dirty="0" err="1" sz="1900">
                <a:solidFill>
                  <a:srgbClr val="000000"/>
                </a:solidFill>
              </a:rPr>
              <a:t>parla</a:t>
            </a:r>
            <a:r>
              <a:rPr dirty="0" sz="1900">
                <a:solidFill>
                  <a:srgbClr val="000000"/>
                </a:solidFill>
              </a:rPr>
              <a:t> di </a:t>
            </a:r>
            <a:r>
              <a:rPr dirty="0" err="1" sz="1900">
                <a:solidFill>
                  <a:srgbClr val="000000"/>
                </a:solidFill>
              </a:rPr>
              <a:t>detenzione</a:t>
            </a:r>
            <a:r>
              <a:rPr dirty="0" sz="1900">
                <a:solidFill>
                  <a:srgbClr val="000000"/>
                </a:solidFill>
              </a:rPr>
              <a:t> in </a:t>
            </a:r>
            <a:r>
              <a:rPr dirty="0" err="1" sz="1900">
                <a:solidFill>
                  <a:srgbClr val="000000"/>
                </a:solidFill>
              </a:rPr>
              <a:t>quanto</a:t>
            </a:r>
            <a:r>
              <a:rPr dirty="0" sz="1900">
                <a:solidFill>
                  <a:srgbClr val="000000"/>
                </a:solidFill>
              </a:rPr>
              <a:t> la </a:t>
            </a:r>
            <a:r>
              <a:rPr dirty="0" err="1" sz="1900">
                <a:solidFill>
                  <a:srgbClr val="000000"/>
                </a:solidFill>
              </a:rPr>
              <a:t>vittima</a:t>
            </a:r>
            <a:r>
              <a:rPr dirty="0" sz="1900">
                <a:solidFill>
                  <a:srgbClr val="000000"/>
                </a:solidFill>
              </a:rPr>
              <a:t> non </a:t>
            </a:r>
            <a:r>
              <a:rPr dirty="0" err="1" sz="1900">
                <a:solidFill>
                  <a:srgbClr val="000000"/>
                </a:solidFill>
              </a:rPr>
              <a:t>necessariamente</a:t>
            </a:r>
            <a:r>
              <a:rPr dirty="0" sz="1900">
                <a:solidFill>
                  <a:srgbClr val="000000"/>
                </a:solidFill>
              </a:rPr>
              <a:t> </a:t>
            </a:r>
            <a:r>
              <a:rPr dirty="0" err="1" sz="1900">
                <a:solidFill>
                  <a:srgbClr val="000000"/>
                </a:solidFill>
              </a:rPr>
              <a:t>deve</a:t>
            </a:r>
            <a:r>
              <a:rPr dirty="0" sz="1900">
                <a:solidFill>
                  <a:srgbClr val="000000"/>
                </a:solidFill>
              </a:rPr>
              <a:t> </a:t>
            </a:r>
            <a:r>
              <a:rPr dirty="0" err="1" sz="1900">
                <a:solidFill>
                  <a:srgbClr val="000000"/>
                </a:solidFill>
              </a:rPr>
              <a:t>coincidere</a:t>
            </a:r>
            <a:r>
              <a:rPr dirty="0" sz="1900">
                <a:solidFill>
                  <a:srgbClr val="000000"/>
                </a:solidFill>
              </a:rPr>
              <a:t> con</a:t>
            </a:r>
            <a:r>
              <a:rPr altLang="it-IT" dirty="0" lang="it-IT" sz="1900">
                <a:solidFill>
                  <a:srgbClr val="000000"/>
                </a:solidFill>
              </a:rPr>
              <a:t> il</a:t>
            </a:r>
            <a:r>
              <a:rPr dirty="0" sz="1900">
                <a:solidFill>
                  <a:srgbClr val="000000"/>
                </a:solidFill>
              </a:rPr>
              <a:t> </a:t>
            </a:r>
            <a:r>
              <a:rPr dirty="0" err="1" sz="1900">
                <a:solidFill>
                  <a:srgbClr val="000000"/>
                </a:solidFill>
              </a:rPr>
              <a:t>proprietario</a:t>
            </a:r>
            <a:r>
              <a:rPr dirty="0" sz="1900">
                <a:solidFill>
                  <a:srgbClr val="000000"/>
                </a:solidFill>
              </a:rPr>
              <a:t> </a:t>
            </a:r>
            <a:r>
              <a:rPr dirty="0" err="1" sz="1900">
                <a:solidFill>
                  <a:srgbClr val="000000"/>
                </a:solidFill>
              </a:rPr>
              <a:t>della</a:t>
            </a:r>
            <a:r>
              <a:rPr dirty="0" sz="1900">
                <a:solidFill>
                  <a:srgbClr val="000000"/>
                </a:solidFill>
              </a:rPr>
              <a:t> </a:t>
            </a:r>
            <a:r>
              <a:rPr dirty="0" err="1" sz="1900">
                <a:solidFill>
                  <a:srgbClr val="000000"/>
                </a:solidFill>
              </a:rPr>
              <a:t>cosa</a:t>
            </a:r>
            <a:r>
              <a:rPr dirty="0" sz="1900">
                <a:solidFill>
                  <a:srgbClr val="000000"/>
                </a:solidFill>
              </a:rPr>
              <a:t> </a:t>
            </a:r>
            <a:r>
              <a:rPr dirty="0" err="1" sz="1900">
                <a:solidFill>
                  <a:srgbClr val="000000"/>
                </a:solidFill>
              </a:rPr>
              <a:t>rubata</a:t>
            </a:r>
            <a:r>
              <a:rPr dirty="0" sz="1900">
                <a:solidFill>
                  <a:srgbClr val="000000"/>
                </a:solidFill>
              </a:rPr>
              <a:t>; </a:t>
            </a:r>
            <a:r>
              <a:rPr dirty="0" err="1" sz="1900">
                <a:solidFill>
                  <a:srgbClr val="000000"/>
                </a:solidFill>
              </a:rPr>
              <a:t>potrebbe</a:t>
            </a:r>
            <a:r>
              <a:rPr dirty="0" sz="1900">
                <a:solidFill>
                  <a:srgbClr val="000000"/>
                </a:solidFill>
              </a:rPr>
              <a:t>, </a:t>
            </a:r>
            <a:r>
              <a:rPr dirty="0" err="1" sz="1900">
                <a:solidFill>
                  <a:srgbClr val="000000"/>
                </a:solidFill>
              </a:rPr>
              <a:t>infatti</a:t>
            </a:r>
            <a:r>
              <a:rPr dirty="0" sz="1900">
                <a:solidFill>
                  <a:srgbClr val="000000"/>
                </a:solidFill>
              </a:rPr>
              <a:t>, </a:t>
            </a:r>
            <a:r>
              <a:rPr dirty="0" err="1" sz="1900">
                <a:solidFill>
                  <a:srgbClr val="000000"/>
                </a:solidFill>
              </a:rPr>
              <a:t>esterne</a:t>
            </a:r>
            <a:r>
              <a:rPr dirty="0" sz="1900">
                <a:solidFill>
                  <a:srgbClr val="000000"/>
                </a:solidFill>
              </a:rPr>
              <a:t> un </a:t>
            </a:r>
            <a:r>
              <a:rPr dirty="0" err="1" sz="1900">
                <a:solidFill>
                  <a:srgbClr val="000000"/>
                </a:solidFill>
              </a:rPr>
              <a:t>possessore</a:t>
            </a:r>
            <a:r>
              <a:rPr dirty="0" sz="1900">
                <a:solidFill>
                  <a:srgbClr val="000000"/>
                </a:solidFill>
              </a:rPr>
              <a:t> </a:t>
            </a:r>
            <a:r>
              <a:rPr dirty="0" err="1" sz="1900">
                <a:solidFill>
                  <a:srgbClr val="000000"/>
                </a:solidFill>
              </a:rPr>
              <a:t>qualificato</a:t>
            </a:r>
            <a:r>
              <a:rPr dirty="0" sz="1900">
                <a:solidFill>
                  <a:srgbClr val="000000"/>
                </a:solidFill>
              </a:rPr>
              <a:t> o </a:t>
            </a:r>
            <a:r>
              <a:rPr dirty="0" err="1" sz="1900">
                <a:solidFill>
                  <a:srgbClr val="000000"/>
                </a:solidFill>
              </a:rPr>
              <a:t>vantarvi</a:t>
            </a:r>
            <a:r>
              <a:rPr dirty="0" sz="1900">
                <a:solidFill>
                  <a:srgbClr val="000000"/>
                </a:solidFill>
              </a:rPr>
              <a:t> un mero </a:t>
            </a:r>
            <a:r>
              <a:rPr dirty="0" err="1" sz="1900">
                <a:solidFill>
                  <a:srgbClr val="000000"/>
                </a:solidFill>
              </a:rPr>
              <a:t>diritto</a:t>
            </a:r>
            <a:r>
              <a:rPr dirty="0" sz="1900">
                <a:solidFill>
                  <a:srgbClr val="000000"/>
                </a:solidFill>
              </a:rPr>
              <a:t> </a:t>
            </a:r>
            <a:r>
              <a:rPr dirty="0" err="1" sz="1900">
                <a:solidFill>
                  <a:srgbClr val="000000"/>
                </a:solidFill>
              </a:rPr>
              <a:t>reale</a:t>
            </a:r>
            <a:r>
              <a:rPr dirty="0" sz="1900">
                <a:solidFill>
                  <a:srgbClr val="000000"/>
                </a:solidFill>
              </a:rPr>
              <a:t> o </a:t>
            </a:r>
            <a:r>
              <a:rPr dirty="0" err="1" sz="1900">
                <a:solidFill>
                  <a:srgbClr val="000000"/>
                </a:solidFill>
              </a:rPr>
              <a:t>personale</a:t>
            </a:r>
            <a:r>
              <a:rPr dirty="0" sz="1900">
                <a:solidFill>
                  <a:srgbClr val="000000"/>
                </a:solidFill>
              </a:rPr>
              <a:t> di </a:t>
            </a:r>
            <a:r>
              <a:rPr dirty="0" err="1" sz="1900">
                <a:solidFill>
                  <a:srgbClr val="000000"/>
                </a:solidFill>
              </a:rPr>
              <a:t>godimento</a:t>
            </a:r>
            <a:r>
              <a:rPr dirty="0" sz="1900">
                <a:solidFill>
                  <a:srgbClr val="000000"/>
                </a:solidFill>
              </a:rPr>
              <a:t>.</a:t>
            </a:r>
          </a:p>
          <a:p>
            <a:pPr algn="just" defTabSz="795527" indent="-298322" marL="298322">
              <a:spcBef>
                <a:spcPts val="600"/>
              </a:spcBef>
              <a:defRPr sz="1900"/>
            </a:pPr>
            <a:endParaRPr dirty="0" sz="1900">
              <a:solidFill>
                <a:srgbClr val="000000"/>
              </a:solidFill>
            </a:endParaRPr>
          </a:p>
          <a:p>
            <a:pPr algn="just" defTabSz="795527" indent="-205097" marL="205097">
              <a:spcBef>
                <a:spcPts val="600"/>
              </a:spcBef>
              <a:defRPr sz="1900">
                <a:solidFill>
                  <a:srgbClr val="FF0000"/>
                </a:solidFill>
              </a:defRPr>
            </a:pPr>
            <a:r>
              <a:rPr b="1" dirty="0" sz="2400"/>
              <a:t>Cosa mobile:</a:t>
            </a:r>
            <a:r>
              <a:rPr b="1" dirty="0" sz="2400">
                <a:solidFill>
                  <a:srgbClr val="000000"/>
                </a:solidFill>
              </a:rPr>
              <a:t> </a:t>
            </a:r>
            <a:r>
              <a:rPr dirty="0" err="1" sz="2400">
                <a:solidFill>
                  <a:srgbClr val="000000"/>
                </a:solidFill>
              </a:rPr>
              <a:t>qualsiasi</a:t>
            </a:r>
            <a:r>
              <a:rPr dirty="0" sz="2400">
                <a:solidFill>
                  <a:srgbClr val="000000"/>
                </a:solidFill>
              </a:rPr>
              <a:t> </a:t>
            </a:r>
            <a:r>
              <a:rPr altLang="it-IT" dirty="0" lang="it-IT" sz="2400">
                <a:solidFill>
                  <a:schemeClr val="tx1"/>
                </a:solidFill>
              </a:rPr>
              <a:t>entità materiale idonea a soddisfare un bisogno umano. Deve, in ogni caso, trattarsi di una parte del mondo esterno avente una </a:t>
            </a:r>
            <a:r>
              <a:rPr altLang="it-IT" dirty="0" i="1" lang="it-IT" sz="2400">
                <a:solidFill>
                  <a:schemeClr val="tx1"/>
                </a:solidFill>
              </a:rPr>
              <a:t>dimensione fisica </a:t>
            </a:r>
            <a:r>
              <a:rPr dirty="0" sz="2400" u="sng">
                <a:solidFill>
                  <a:srgbClr val="000000"/>
                </a:solidFill>
              </a:rPr>
              <a:t>di cui </a:t>
            </a:r>
            <a:r>
              <a:rPr dirty="0" err="1" sz="2400" u="sng">
                <a:solidFill>
                  <a:srgbClr val="000000"/>
                </a:solidFill>
              </a:rPr>
              <a:t>sia</a:t>
            </a:r>
            <a:r>
              <a:rPr dirty="0" sz="2400" u="sng">
                <a:solidFill>
                  <a:srgbClr val="000000"/>
                </a:solidFill>
              </a:rPr>
              <a:t> </a:t>
            </a:r>
            <a:r>
              <a:rPr dirty="0" err="1" sz="2400" u="sng">
                <a:solidFill>
                  <a:srgbClr val="000000"/>
                </a:solidFill>
              </a:rPr>
              <a:t>possibile</a:t>
            </a:r>
            <a:r>
              <a:rPr dirty="0" sz="2400" u="sng">
                <a:solidFill>
                  <a:srgbClr val="000000"/>
                </a:solidFill>
              </a:rPr>
              <a:t> la </a:t>
            </a:r>
            <a:r>
              <a:rPr dirty="0" err="1" sz="2400" u="sng">
                <a:solidFill>
                  <a:srgbClr val="000000"/>
                </a:solidFill>
              </a:rPr>
              <a:t>fisica</a:t>
            </a:r>
            <a:r>
              <a:rPr dirty="0" sz="2400" u="sng">
                <a:solidFill>
                  <a:srgbClr val="000000"/>
                </a:solidFill>
              </a:rPr>
              <a:t> </a:t>
            </a:r>
            <a:r>
              <a:rPr dirty="0" err="1" sz="2400" u="sng">
                <a:solidFill>
                  <a:srgbClr val="000000"/>
                </a:solidFill>
              </a:rPr>
              <a:t>detenzione</a:t>
            </a:r>
            <a:r>
              <a:rPr dirty="0" sz="2400" u="sng">
                <a:solidFill>
                  <a:srgbClr val="000000"/>
                </a:solidFill>
              </a:rPr>
              <a:t>, </a:t>
            </a:r>
            <a:r>
              <a:rPr dirty="0" err="1" sz="2400" u="sng">
                <a:solidFill>
                  <a:srgbClr val="000000"/>
                </a:solidFill>
              </a:rPr>
              <a:t>sottrazione</a:t>
            </a:r>
            <a:r>
              <a:rPr dirty="0" sz="2400" u="sng">
                <a:solidFill>
                  <a:srgbClr val="000000"/>
                </a:solidFill>
              </a:rPr>
              <a:t>, </a:t>
            </a:r>
            <a:r>
              <a:rPr dirty="0" err="1" sz="2400" u="sng">
                <a:solidFill>
                  <a:srgbClr val="000000"/>
                </a:solidFill>
              </a:rPr>
              <a:t>impossessamento</a:t>
            </a:r>
            <a:r>
              <a:rPr dirty="0" sz="2400" u="sng">
                <a:solidFill>
                  <a:srgbClr val="000000"/>
                </a:solidFill>
              </a:rPr>
              <a:t> o d </a:t>
            </a:r>
            <a:r>
              <a:rPr dirty="0" err="1" sz="2400" u="sng">
                <a:solidFill>
                  <a:srgbClr val="000000"/>
                </a:solidFill>
              </a:rPr>
              <a:t>appropriazione</a:t>
            </a:r>
            <a:r>
              <a:rPr dirty="0" sz="2400" u="sng">
                <a:solidFill>
                  <a:srgbClr val="000000"/>
                </a:solidFill>
              </a:rPr>
              <a:t> e </a:t>
            </a:r>
            <a:r>
              <a:rPr dirty="0" err="1" sz="2400" u="sng">
                <a:solidFill>
                  <a:srgbClr val="000000"/>
                </a:solidFill>
              </a:rPr>
              <a:t>che</a:t>
            </a:r>
            <a:r>
              <a:rPr dirty="0" sz="2400" u="sng">
                <a:solidFill>
                  <a:srgbClr val="000000"/>
                </a:solidFill>
              </a:rPr>
              <a:t> </a:t>
            </a:r>
            <a:r>
              <a:rPr dirty="0" err="1" sz="2400" u="sng">
                <a:solidFill>
                  <a:srgbClr val="000000"/>
                </a:solidFill>
              </a:rPr>
              <a:t>possa</a:t>
            </a:r>
            <a:r>
              <a:rPr dirty="0" sz="2400" u="sng">
                <a:solidFill>
                  <a:srgbClr val="000000"/>
                </a:solidFill>
              </a:rPr>
              <a:t> </a:t>
            </a:r>
            <a:r>
              <a:rPr dirty="0" err="1" sz="2400" u="sng">
                <a:solidFill>
                  <a:srgbClr val="000000"/>
                </a:solidFill>
              </a:rPr>
              <a:t>essere</a:t>
            </a:r>
            <a:r>
              <a:rPr dirty="0" sz="2400" u="sng">
                <a:solidFill>
                  <a:srgbClr val="000000"/>
                </a:solidFill>
              </a:rPr>
              <a:t> </a:t>
            </a:r>
            <a:r>
              <a:rPr dirty="0" err="1" sz="2400" u="sng">
                <a:solidFill>
                  <a:srgbClr val="000000"/>
                </a:solidFill>
              </a:rPr>
              <a:t>trasportata</a:t>
            </a:r>
            <a:r>
              <a:rPr dirty="0" sz="2400" u="sng">
                <a:solidFill>
                  <a:srgbClr val="000000"/>
                </a:solidFill>
              </a:rPr>
              <a:t> o </a:t>
            </a:r>
            <a:r>
              <a:rPr dirty="0" err="1" sz="2400" u="sng">
                <a:solidFill>
                  <a:srgbClr val="000000"/>
                </a:solidFill>
              </a:rPr>
              <a:t>spostata</a:t>
            </a:r>
            <a:r>
              <a:rPr dirty="0" sz="2400">
                <a:solidFill>
                  <a:srgbClr val="000000"/>
                </a:solidFill>
              </a:rPr>
              <a:t>. </a:t>
            </a:r>
            <a:endParaRPr dirty="0"/>
          </a:p>
        </p:txBody>
      </p:sp>
      <p:sp>
        <p:nvSpPr>
          <p:cNvPr id="246" name="Numero diapositiva"/>
          <p:cNvSpPr txBox="1">
            <a:spLocks noGrp="1"/>
          </p:cNvSpPr>
          <p:nvPr>
            <p:ph idx="2147483647" sz="quarter" type="sldNum"/>
          </p:nvPr>
        </p:nvSpPr>
        <p:spPr>
          <a:xfrm>
            <a:off x="8506459" y="6401179"/>
            <a:ext cx="180339" cy="27546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numCol="1"/>
          <a:lstStyle/>
          <a:p>
            <a:fld id="{86CB4B4D-7CA3-9044-876B-883B54F8677D}" type="slidenum">
              <a:t>6</a:t>
            </a:fld>
            <a:endParaRPr/>
          </a:p>
        </p:txBody>
      </p:sp>
      <p:pic>
        <p:nvPicPr>
          <p:cNvPr descr="Immagine 3" id="247" name="Immagine 3"/>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Rettangolo 4"/>
          <p:cNvSpPr txBox="1"/>
          <p:nvPr/>
        </p:nvSpPr>
        <p:spPr>
          <a:xfrm>
            <a:off x="45719" y="980729"/>
            <a:ext cx="9052561" cy="5362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600"/>
              </a:spcBef>
              <a:defRPr sz="2200" u="sng">
                <a:latin typeface="Times New Roman"/>
                <a:ea typeface="Times New Roman"/>
                <a:cs typeface="Times New Roman"/>
                <a:sym typeface="Times New Roman"/>
              </a:defRPr>
            </a:pPr>
            <a:r>
              <a:t>ELEMENTO OGGETTIVO</a:t>
            </a:r>
            <a:r>
              <a:rPr b="0" u="none"/>
              <a:t>: affinché si configuri il delitto di furto occorrono i seguenti elementi:</a:t>
            </a:r>
          </a:p>
          <a:p>
            <a:pPr algn="just" indent="-342900" marL="342900">
              <a:lnSpc>
                <a:spcPct val="114000"/>
              </a:lnSpc>
              <a:spcBef>
                <a:spcPts val="600"/>
              </a:spcBef>
              <a:buSzPct val="100000"/>
              <a:buFont typeface="Times New Roman"/>
              <a:buChar char="➢"/>
              <a:defRPr b="0" sz="2200">
                <a:latin typeface="Times New Roman"/>
                <a:ea typeface="Times New Roman"/>
                <a:cs typeface="Times New Roman"/>
                <a:sym typeface="Times New Roman"/>
              </a:defRPr>
            </a:pPr>
            <a:r>
              <a:t>la </a:t>
            </a:r>
            <a:r>
              <a:rPr b="1" u="sng">
                <a:solidFill>
                  <a:srgbClr val="FF0000"/>
                </a:solidFill>
              </a:rPr>
              <a:t>SOTTRAZIONE DELLA COSA</a:t>
            </a:r>
            <a:r>
              <a:t>: si ha quando la cosa viene tolta dall’immediata disponibilità dell’avente diritto, pur rimanendo nella sua sfera di controllo </a:t>
            </a:r>
            <a:r>
              <a:rPr sz="1800"/>
              <a:t>(es. del ladro che ha già sfilato dalla tasca di un soggetto il portafoglio, ma si trova ancora abbastanza vicino da rientrare nella sua sfera visiva).                                    </a:t>
            </a:r>
            <a:r>
              <a:t>È importante che la cosa mobile, al momento della sottrazione, </a:t>
            </a:r>
            <a:r>
              <a:rPr b="1"/>
              <a:t>sia posseduta o detenuta da un soggetto diverso dall’autore del reato</a:t>
            </a:r>
            <a:r>
              <a:t>: ciò </a:t>
            </a:r>
            <a:r>
              <a:rPr b="1">
                <a:solidFill>
                  <a:srgbClr val="002F8E"/>
                </a:solidFill>
              </a:rPr>
              <a:t>distingue il furto dall’appropriazione indebita </a:t>
            </a:r>
            <a:r>
              <a:t>(art. 646 c.p.) che presuppone un preliminare possesso legittimo della cosa sottratta da parte dell’agente;</a:t>
            </a:r>
          </a:p>
          <a:p>
            <a:pPr algn="just" indent="-342900" marL="342900">
              <a:lnSpc>
                <a:spcPct val="114000"/>
              </a:lnSpc>
              <a:spcBef>
                <a:spcPts val="600"/>
              </a:spcBef>
              <a:buSzPct val="100000"/>
              <a:buFont typeface="Times New Roman"/>
              <a:buChar char="➢"/>
              <a:defRPr b="0" sz="2200">
                <a:latin typeface="Times New Roman"/>
                <a:ea typeface="Times New Roman"/>
                <a:cs typeface="Times New Roman"/>
                <a:sym typeface="Times New Roman"/>
              </a:defRPr>
            </a:pPr>
            <a:r>
              <a:t>l</a:t>
            </a:r>
            <a:r>
              <a:rPr u="sng">
                <a:solidFill>
                  <a:srgbClr val="FF0000"/>
                </a:solidFill>
              </a:rPr>
              <a:t>’</a:t>
            </a:r>
            <a:r>
              <a:rPr b="1" u="sng">
                <a:solidFill>
                  <a:srgbClr val="FF0000"/>
                </a:solidFill>
              </a:rPr>
              <a:t>IMPOSSESSAMENTO</a:t>
            </a:r>
            <a:r>
              <a:rPr>
                <a:solidFill>
                  <a:srgbClr val="002F8E"/>
                </a:solidFill>
              </a:rPr>
              <a:t>:</a:t>
            </a:r>
            <a:r>
              <a:t> quando il reo </a:t>
            </a:r>
            <a:r>
              <a:rPr b="1"/>
              <a:t>guadagna il possesso autonomo della cosa</a:t>
            </a:r>
            <a:r>
              <a:t>, seppur per poco tempo. Il concetto di possesso ricomprende tutti i casi in cui un soggetto ha un </a:t>
            </a:r>
            <a:r>
              <a:rPr b="1">
                <a:solidFill>
                  <a:srgbClr val="002F8E"/>
                </a:solidFill>
              </a:rPr>
              <a:t>potere autonomo sulla </a:t>
            </a:r>
            <a:r>
              <a:rPr b="1" i="1">
                <a:solidFill>
                  <a:srgbClr val="002F8E"/>
                </a:solidFill>
              </a:rPr>
              <a:t>res</a:t>
            </a:r>
            <a:r>
              <a:rPr i="1"/>
              <a:t>.</a:t>
            </a:r>
          </a:p>
        </p:txBody>
      </p:sp>
      <p:pic>
        <p:nvPicPr>
          <p:cNvPr descr="Immagine 6" id="250"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251"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Furto</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Rettangolo 4"/>
          <p:cNvSpPr txBox="1"/>
          <p:nvPr/>
        </p:nvSpPr>
        <p:spPr>
          <a:xfrm>
            <a:off x="182570" y="836712"/>
            <a:ext cx="8736198" cy="544646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600"/>
              </a:spcBef>
              <a:defRPr b="0" sz="2200">
                <a:latin typeface="Times New Roman"/>
                <a:ea typeface="Times New Roman"/>
                <a:cs typeface="Times New Roman"/>
                <a:sym typeface="Times New Roman"/>
              </a:defRPr>
            </a:pPr>
            <a:r>
              <a:t>Affinché il reato di furto giunga a </a:t>
            </a:r>
            <a:r>
              <a:rPr b="1"/>
              <a:t>consumazione</a:t>
            </a:r>
            <a:r>
              <a:t> devono realizzarsi ambedue le condotte, sia quella di </a:t>
            </a:r>
            <a:r>
              <a:rPr b="1"/>
              <a:t>sottrazione</a:t>
            </a:r>
            <a:r>
              <a:t> che di successivo </a:t>
            </a:r>
            <a:r>
              <a:rPr b="1"/>
              <a:t>impossessamento</a:t>
            </a:r>
            <a:r>
              <a:t>. Se la seconda viene meno per causa indipendente dalla volontà del reo, non si avrà un furto, ma un </a:t>
            </a:r>
            <a:r>
              <a:rPr b="1">
                <a:solidFill>
                  <a:srgbClr val="FF0000"/>
                </a:solidFill>
              </a:rPr>
              <a:t>tentato furto</a:t>
            </a:r>
            <a:r>
              <a:t>. Se quindi avviene solo la mera sottrazione della cosa il soggetto risponderà di furto tentato, in quanto manca il breve lasso di tempo di dominio esclusivo della cosa sottratta da parte dell’agente. </a:t>
            </a:r>
          </a:p>
          <a:p>
            <a:pPr algn="just">
              <a:lnSpc>
                <a:spcPct val="114000"/>
              </a:lnSpc>
              <a:spcBef>
                <a:spcPts val="600"/>
              </a:spcBef>
              <a:defRPr sz="2200" u="sng">
                <a:solidFill>
                  <a:srgbClr val="FF0000"/>
                </a:solidFill>
                <a:latin typeface="Times New Roman"/>
                <a:ea typeface="Times New Roman"/>
                <a:cs typeface="Times New Roman"/>
                <a:sym typeface="Times New Roman"/>
              </a:defRPr>
            </a:pPr>
            <a:r>
              <a:t>IL FURTO SI CONSUMA QUINDI CON L’IMPOSSESSAMENTO</a:t>
            </a:r>
            <a:r>
              <a:rPr b="0"/>
              <a:t>.</a:t>
            </a:r>
          </a:p>
          <a:p>
            <a:pPr algn="just">
              <a:lnSpc>
                <a:spcPct val="114000"/>
              </a:lnSpc>
              <a:spcBef>
                <a:spcPts val="600"/>
              </a:spcBef>
              <a:defRPr b="0" sz="1000">
                <a:latin typeface="Times New Roman"/>
                <a:ea typeface="Times New Roman"/>
                <a:cs typeface="Times New Roman"/>
                <a:sym typeface="Times New Roman"/>
              </a:defRPr>
            </a:pPr>
            <a:endParaRPr b="0"/>
          </a:p>
          <a:p>
            <a:pPr algn="just">
              <a:lnSpc>
                <a:spcPct val="114000"/>
              </a:lnSpc>
              <a:spcBef>
                <a:spcPts val="600"/>
              </a:spcBef>
              <a:defRPr sz="2200" u="sng">
                <a:latin typeface="Times New Roman"/>
                <a:ea typeface="Times New Roman"/>
                <a:cs typeface="Times New Roman"/>
                <a:sym typeface="Times New Roman"/>
              </a:defRPr>
            </a:pPr>
            <a:r>
              <a:t>ELEMENTO SOGGETTIVO</a:t>
            </a:r>
            <a:r>
              <a:rPr b="0" u="none"/>
              <a:t>: è il </a:t>
            </a:r>
            <a:r>
              <a:rPr u="none">
                <a:solidFill>
                  <a:srgbClr val="002F8E"/>
                </a:solidFill>
              </a:rPr>
              <a:t>DOLO SPECIFICO</a:t>
            </a:r>
            <a:r>
              <a:rPr b="0" u="none">
                <a:solidFill>
                  <a:srgbClr val="0070C0"/>
                </a:solidFill>
              </a:rPr>
              <a:t> </a:t>
            </a:r>
            <a:r>
              <a:rPr b="0" u="none"/>
              <a:t>in quanto si ha la coscienza e volontà della condotta </a:t>
            </a:r>
            <a:r>
              <a:rPr u="none">
                <a:solidFill>
                  <a:srgbClr val="002F8E"/>
                </a:solidFill>
              </a:rPr>
              <a:t>al fine di trarne un profitto </a:t>
            </a:r>
            <a:r>
              <a:rPr b="0" u="none"/>
              <a:t>per sé o per altri.</a:t>
            </a:r>
          </a:p>
          <a:p>
            <a:pPr algn="just">
              <a:lnSpc>
                <a:spcPct val="114000"/>
              </a:lnSpc>
              <a:spcBef>
                <a:spcPts val="600"/>
              </a:spcBef>
              <a:defRPr b="0" sz="2200">
                <a:latin typeface="Times New Roman"/>
                <a:ea typeface="Times New Roman"/>
                <a:cs typeface="Times New Roman"/>
                <a:sym typeface="Times New Roman"/>
              </a:defRPr>
            </a:pPr>
            <a:endParaRPr b="0" u="none"/>
          </a:p>
          <a:p>
            <a:pPr algn="just">
              <a:lnSpc>
                <a:spcPct val="114000"/>
              </a:lnSpc>
              <a:spcBef>
                <a:spcPts val="600"/>
              </a:spcBef>
              <a:defRPr b="0" sz="2200">
                <a:solidFill>
                  <a:srgbClr val="FF0000"/>
                </a:solidFill>
                <a:latin typeface="Times New Roman"/>
                <a:ea typeface="Times New Roman"/>
                <a:cs typeface="Times New Roman"/>
                <a:sym typeface="Times New Roman"/>
              </a:defRPr>
            </a:pPr>
            <a:r>
              <a:t>L’intento scherzoso esclude il delitto.</a:t>
            </a:r>
          </a:p>
        </p:txBody>
      </p:sp>
      <p:pic>
        <p:nvPicPr>
          <p:cNvPr descr="Immagine 6" id="254"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255"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Furto</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Furto in abitazione e furto con strappo"/>
          <p:cNvSpPr txBox="1">
            <a:spLocks noGrp="1"/>
          </p:cNvSpPr>
          <p:nvPr>
            <p:ph type="title"/>
          </p:nvPr>
        </p:nvSpPr>
        <p:spPr>
          <a:xfrm>
            <a:off x="457200" y="274637"/>
            <a:ext cx="6767666" cy="575582"/>
          </a:xfrm>
          <a:prstGeom prst="rect">
            <a:avLst/>
          </a:prstGeom>
        </p:spPr>
        <p:txBody>
          <a:bodyPr numCol="1"/>
          <a:lstStyle>
            <a:lvl1pPr>
              <a:defRPr sz="3000">
                <a:solidFill>
                  <a:srgbClr val="FFFFFF"/>
                </a:solidFill>
              </a:defRPr>
            </a:lvl1pPr>
          </a:lstStyle>
          <a:p>
            <a:r>
              <a:t>Furto in abitazione e furto con strappo </a:t>
            </a:r>
          </a:p>
        </p:txBody>
      </p:sp>
      <p:sp>
        <p:nvSpPr>
          <p:cNvPr id="258" name="“Chiunque si impossessa della cosa mobile altrui, sottraendola a chi la detiene, al fine di trarne profitto per sé o per altri, mediante introduzione in un edificio o in altro luogo destinato in tutto o in parte a privata dimora o nelle pertinenze di ess"/>
          <p:cNvSpPr txBox="1">
            <a:spLocks noGrp="1"/>
          </p:cNvSpPr>
          <p:nvPr>
            <p:ph idx="1" type="body"/>
          </p:nvPr>
        </p:nvSpPr>
        <p:spPr>
          <a:xfrm>
            <a:off x="457200" y="1125233"/>
            <a:ext cx="8229600" cy="5000931"/>
          </a:xfrm>
          <a:prstGeom prst="rect">
            <a:avLst/>
          </a:prstGeom>
        </p:spPr>
        <p:txBody>
          <a:bodyPr numCol="1"/>
          <a:lstStyle/>
          <a:p>
            <a:pPr algn="just" defTabSz="406908" indent="0" marL="0">
              <a:spcBef>
                <a:spcPts val="0"/>
              </a:spcBef>
              <a:buSzTx/>
              <a:buNone/>
              <a:defRPr i="1" sz="1900">
                <a:latin typeface="+mj-lt"/>
                <a:ea typeface="+mj-ea"/>
                <a:cs typeface="+mj-cs"/>
                <a:sym typeface="Helvetica"/>
              </a:defRPr>
            </a:pPr>
            <a:r>
              <a:rPr dirty="0"/>
              <a:t>“</a:t>
            </a:r>
            <a:r>
              <a:rPr dirty="0" err="1"/>
              <a:t>Chiunque</a:t>
            </a:r>
            <a:r>
              <a:rPr dirty="0"/>
              <a:t> </a:t>
            </a:r>
            <a:r>
              <a:rPr dirty="0" err="1"/>
              <a:t>si</a:t>
            </a:r>
            <a:r>
              <a:rPr dirty="0"/>
              <a:t> </a:t>
            </a:r>
            <a:r>
              <a:rPr dirty="0" err="1"/>
              <a:t>impossessa</a:t>
            </a:r>
            <a:r>
              <a:rPr dirty="0"/>
              <a:t> </a:t>
            </a:r>
            <a:r>
              <a:rPr dirty="0" err="1"/>
              <a:t>della</a:t>
            </a:r>
            <a:r>
              <a:rPr dirty="0"/>
              <a:t> </a:t>
            </a:r>
            <a:r>
              <a:rPr dirty="0" err="1"/>
              <a:t>cosa</a:t>
            </a:r>
            <a:r>
              <a:rPr dirty="0"/>
              <a:t> mobile </a:t>
            </a:r>
            <a:r>
              <a:rPr dirty="0" err="1"/>
              <a:t>altrui</a:t>
            </a:r>
            <a:r>
              <a:rPr dirty="0"/>
              <a:t>, </a:t>
            </a:r>
            <a:r>
              <a:rPr dirty="0" err="1"/>
              <a:t>sottraendola</a:t>
            </a:r>
            <a:r>
              <a:rPr dirty="0"/>
              <a:t> a chi la </a:t>
            </a:r>
            <a:r>
              <a:rPr dirty="0" err="1"/>
              <a:t>detiene</a:t>
            </a:r>
            <a:r>
              <a:rPr dirty="0"/>
              <a:t>, al fine di </a:t>
            </a:r>
            <a:r>
              <a:rPr dirty="0" err="1"/>
              <a:t>trarne</a:t>
            </a:r>
            <a:r>
              <a:rPr dirty="0"/>
              <a:t> </a:t>
            </a:r>
            <a:r>
              <a:rPr dirty="0" err="1"/>
              <a:t>profitto</a:t>
            </a:r>
            <a:r>
              <a:rPr dirty="0"/>
              <a:t> per </a:t>
            </a:r>
            <a:r>
              <a:rPr dirty="0" err="1"/>
              <a:t>sé</a:t>
            </a:r>
            <a:r>
              <a:rPr dirty="0"/>
              <a:t> o per </a:t>
            </a:r>
            <a:r>
              <a:rPr dirty="0" err="1"/>
              <a:t>altri</a:t>
            </a:r>
            <a:r>
              <a:rPr dirty="0"/>
              <a:t>, </a:t>
            </a:r>
            <a:r>
              <a:rPr b="1" dirty="0" err="1" u="sng">
                <a:solidFill>
                  <a:srgbClr val="FF0000"/>
                </a:solidFill>
              </a:rPr>
              <a:t>mediante</a:t>
            </a:r>
            <a:r>
              <a:rPr b="1" dirty="0" u="sng">
                <a:solidFill>
                  <a:srgbClr val="FF0000"/>
                </a:solidFill>
              </a:rPr>
              <a:t> </a:t>
            </a:r>
            <a:r>
              <a:rPr b="1" dirty="0" err="1" u="sng">
                <a:solidFill>
                  <a:srgbClr val="FF0000"/>
                </a:solidFill>
              </a:rPr>
              <a:t>introduzione</a:t>
            </a:r>
            <a:r>
              <a:rPr b="1" dirty="0" u="sng">
                <a:solidFill>
                  <a:srgbClr val="FF0000"/>
                </a:solidFill>
              </a:rPr>
              <a:t> in un </a:t>
            </a:r>
            <a:r>
              <a:rPr b="1" dirty="0" err="1" u="sng">
                <a:solidFill>
                  <a:srgbClr val="FF0000"/>
                </a:solidFill>
              </a:rPr>
              <a:t>edificio</a:t>
            </a:r>
            <a:r>
              <a:rPr b="1" dirty="0" u="sng">
                <a:solidFill>
                  <a:srgbClr val="FF0000"/>
                </a:solidFill>
              </a:rPr>
              <a:t> o in </a:t>
            </a:r>
            <a:r>
              <a:rPr b="1" dirty="0" err="1" u="sng">
                <a:solidFill>
                  <a:srgbClr val="FF0000"/>
                </a:solidFill>
              </a:rPr>
              <a:t>altro</a:t>
            </a:r>
            <a:r>
              <a:rPr b="1" dirty="0" u="sng">
                <a:solidFill>
                  <a:srgbClr val="FF0000"/>
                </a:solidFill>
              </a:rPr>
              <a:t> </a:t>
            </a:r>
            <a:r>
              <a:rPr b="1" dirty="0" err="1" u="sng">
                <a:solidFill>
                  <a:srgbClr val="FF0000"/>
                </a:solidFill>
              </a:rPr>
              <a:t>luogo</a:t>
            </a:r>
            <a:r>
              <a:rPr b="1" dirty="0" u="sng">
                <a:solidFill>
                  <a:srgbClr val="FF0000"/>
                </a:solidFill>
              </a:rPr>
              <a:t> </a:t>
            </a:r>
            <a:r>
              <a:rPr b="1" dirty="0" err="1" u="sng">
                <a:solidFill>
                  <a:srgbClr val="FF0000"/>
                </a:solidFill>
              </a:rPr>
              <a:t>destinato</a:t>
            </a:r>
            <a:r>
              <a:rPr b="1" dirty="0" u="sng">
                <a:solidFill>
                  <a:srgbClr val="FF0000"/>
                </a:solidFill>
              </a:rPr>
              <a:t> in </a:t>
            </a:r>
            <a:r>
              <a:rPr b="1" dirty="0" err="1" u="sng">
                <a:solidFill>
                  <a:srgbClr val="FF0000"/>
                </a:solidFill>
              </a:rPr>
              <a:t>tutto</a:t>
            </a:r>
            <a:r>
              <a:rPr b="1" dirty="0" u="sng">
                <a:solidFill>
                  <a:srgbClr val="FF0000"/>
                </a:solidFill>
              </a:rPr>
              <a:t> o in </a:t>
            </a:r>
            <a:r>
              <a:rPr b="1" dirty="0" err="1" u="sng">
                <a:solidFill>
                  <a:srgbClr val="FF0000"/>
                </a:solidFill>
              </a:rPr>
              <a:t>parte</a:t>
            </a:r>
            <a:r>
              <a:rPr b="1" dirty="0" u="sng">
                <a:solidFill>
                  <a:srgbClr val="FF0000"/>
                </a:solidFill>
              </a:rPr>
              <a:t> a </a:t>
            </a:r>
            <a:r>
              <a:rPr b="1" dirty="0" err="1" u="sng">
                <a:solidFill>
                  <a:srgbClr val="FF0000"/>
                </a:solidFill>
              </a:rPr>
              <a:t>privata</a:t>
            </a:r>
            <a:r>
              <a:rPr b="1" dirty="0" u="sng">
                <a:solidFill>
                  <a:srgbClr val="FF0000"/>
                </a:solidFill>
              </a:rPr>
              <a:t> </a:t>
            </a:r>
            <a:r>
              <a:rPr b="1" dirty="0" err="1" u="sng">
                <a:solidFill>
                  <a:srgbClr val="FF0000"/>
                </a:solidFill>
              </a:rPr>
              <a:t>dimora</a:t>
            </a:r>
            <a:r>
              <a:rPr b="1" dirty="0" u="sng">
                <a:solidFill>
                  <a:srgbClr val="FF0000"/>
                </a:solidFill>
              </a:rPr>
              <a:t> o </a:t>
            </a:r>
            <a:r>
              <a:rPr b="1" dirty="0" err="1" u="sng">
                <a:solidFill>
                  <a:srgbClr val="FF0000"/>
                </a:solidFill>
              </a:rPr>
              <a:t>nelle</a:t>
            </a:r>
            <a:r>
              <a:rPr b="1" dirty="0" u="sng">
                <a:solidFill>
                  <a:srgbClr val="FF0000"/>
                </a:solidFill>
              </a:rPr>
              <a:t> </a:t>
            </a:r>
            <a:r>
              <a:rPr b="1" dirty="0" err="1" u="sng">
                <a:solidFill>
                  <a:srgbClr val="FF0000"/>
                </a:solidFill>
              </a:rPr>
              <a:t>pertinenze</a:t>
            </a:r>
            <a:r>
              <a:rPr b="1" dirty="0" u="sng">
                <a:solidFill>
                  <a:srgbClr val="FF0000"/>
                </a:solidFill>
              </a:rPr>
              <a:t> di </a:t>
            </a:r>
            <a:r>
              <a:rPr b="1" dirty="0" err="1" u="sng">
                <a:solidFill>
                  <a:srgbClr val="FF0000"/>
                </a:solidFill>
              </a:rPr>
              <a:t>essa</a:t>
            </a:r>
            <a:r>
              <a:rPr b="1" dirty="0" u="sng">
                <a:solidFill>
                  <a:srgbClr val="FF0000"/>
                </a:solidFill>
              </a:rPr>
              <a:t>,</a:t>
            </a:r>
            <a:r>
              <a:rPr dirty="0"/>
              <a:t> è </a:t>
            </a:r>
            <a:r>
              <a:rPr dirty="0" err="1"/>
              <a:t>punito</a:t>
            </a:r>
            <a:r>
              <a:rPr dirty="0"/>
              <a:t> con la </a:t>
            </a:r>
            <a:r>
              <a:rPr dirty="0" err="1"/>
              <a:t>reclusione</a:t>
            </a:r>
            <a:r>
              <a:rPr dirty="0"/>
              <a:t> da quattro a </a:t>
            </a:r>
            <a:r>
              <a:rPr dirty="0" err="1"/>
              <a:t>sette</a:t>
            </a:r>
            <a:r>
              <a:rPr dirty="0"/>
              <a:t> </a:t>
            </a:r>
            <a:r>
              <a:rPr dirty="0" err="1"/>
              <a:t>anni</a:t>
            </a:r>
            <a:r>
              <a:rPr dirty="0"/>
              <a:t> e con la </a:t>
            </a:r>
            <a:r>
              <a:rPr dirty="0" err="1"/>
              <a:t>multa</a:t>
            </a:r>
            <a:r>
              <a:rPr dirty="0"/>
              <a:t> da euro 927 a euro 1.500.</a:t>
            </a:r>
          </a:p>
          <a:p>
            <a:pPr algn="just" defTabSz="406908" indent="0" marL="0">
              <a:spcBef>
                <a:spcPts val="0"/>
              </a:spcBef>
              <a:buSzTx/>
              <a:buNone/>
              <a:defRPr i="1" sz="1900">
                <a:latin typeface="+mj-lt"/>
                <a:ea typeface="+mj-ea"/>
                <a:cs typeface="+mj-cs"/>
                <a:sym typeface="Helvetica"/>
              </a:defRPr>
            </a:pPr>
            <a:endParaRPr dirty="0"/>
          </a:p>
          <a:p>
            <a:pPr algn="just" defTabSz="406908" indent="0" marL="0">
              <a:spcBef>
                <a:spcPts val="0"/>
              </a:spcBef>
              <a:buSzTx/>
              <a:buNone/>
              <a:defRPr i="1" sz="1900">
                <a:latin typeface="+mj-lt"/>
                <a:ea typeface="+mj-ea"/>
                <a:cs typeface="+mj-cs"/>
                <a:sym typeface="Helvetica"/>
              </a:defRPr>
            </a:pPr>
            <a:r>
              <a:rPr dirty="0" err="1"/>
              <a:t>Alla</a:t>
            </a:r>
            <a:r>
              <a:rPr dirty="0"/>
              <a:t> </a:t>
            </a:r>
            <a:r>
              <a:rPr dirty="0" err="1"/>
              <a:t>stessa</a:t>
            </a:r>
            <a:r>
              <a:rPr dirty="0"/>
              <a:t> </a:t>
            </a:r>
            <a:r>
              <a:rPr dirty="0" err="1"/>
              <a:t>pena</a:t>
            </a:r>
            <a:r>
              <a:rPr dirty="0"/>
              <a:t> di cui al primo comma </a:t>
            </a:r>
            <a:r>
              <a:rPr dirty="0" err="1"/>
              <a:t>soggiace</a:t>
            </a:r>
            <a:r>
              <a:rPr dirty="0"/>
              <a:t> chi </a:t>
            </a:r>
            <a:r>
              <a:rPr dirty="0" err="1"/>
              <a:t>si</a:t>
            </a:r>
            <a:r>
              <a:rPr dirty="0"/>
              <a:t> </a:t>
            </a:r>
            <a:r>
              <a:rPr dirty="0" err="1"/>
              <a:t>impossessa</a:t>
            </a:r>
            <a:r>
              <a:rPr dirty="0"/>
              <a:t> </a:t>
            </a:r>
            <a:r>
              <a:rPr dirty="0" err="1"/>
              <a:t>della</a:t>
            </a:r>
            <a:r>
              <a:rPr dirty="0"/>
              <a:t> </a:t>
            </a:r>
            <a:r>
              <a:rPr dirty="0" err="1"/>
              <a:t>cosa</a:t>
            </a:r>
            <a:r>
              <a:rPr dirty="0"/>
              <a:t> mobile </a:t>
            </a:r>
            <a:r>
              <a:rPr dirty="0" err="1"/>
              <a:t>altrui</a:t>
            </a:r>
            <a:r>
              <a:rPr dirty="0"/>
              <a:t>, </a:t>
            </a:r>
            <a:r>
              <a:rPr dirty="0" err="1"/>
              <a:t>sottraendola</a:t>
            </a:r>
            <a:r>
              <a:rPr dirty="0"/>
              <a:t> a chi la </a:t>
            </a:r>
            <a:r>
              <a:rPr dirty="0" err="1"/>
              <a:t>detiene</a:t>
            </a:r>
            <a:r>
              <a:rPr dirty="0"/>
              <a:t>, al fine di </a:t>
            </a:r>
            <a:r>
              <a:rPr dirty="0" err="1"/>
              <a:t>trarne</a:t>
            </a:r>
            <a:r>
              <a:rPr dirty="0"/>
              <a:t> </a:t>
            </a:r>
            <a:r>
              <a:rPr dirty="0" err="1"/>
              <a:t>profitto</a:t>
            </a:r>
            <a:r>
              <a:rPr dirty="0"/>
              <a:t> per </a:t>
            </a:r>
            <a:r>
              <a:rPr dirty="0" err="1"/>
              <a:t>sé</a:t>
            </a:r>
            <a:r>
              <a:rPr dirty="0"/>
              <a:t> o per </a:t>
            </a:r>
            <a:r>
              <a:rPr dirty="0" err="1"/>
              <a:t>altri</a:t>
            </a:r>
            <a:r>
              <a:rPr dirty="0"/>
              <a:t>, </a:t>
            </a:r>
            <a:r>
              <a:rPr b="1" dirty="0" err="1" u="sng">
                <a:solidFill>
                  <a:srgbClr val="FF0000"/>
                </a:solidFill>
              </a:rPr>
              <a:t>strappandola</a:t>
            </a:r>
            <a:r>
              <a:rPr b="1" dirty="0" u="sng">
                <a:solidFill>
                  <a:srgbClr val="FF0000"/>
                </a:solidFill>
              </a:rPr>
              <a:t> di mano o di </a:t>
            </a:r>
            <a:r>
              <a:rPr b="1" dirty="0" err="1" u="sng">
                <a:solidFill>
                  <a:srgbClr val="FF0000"/>
                </a:solidFill>
              </a:rPr>
              <a:t>dosso</a:t>
            </a:r>
            <a:r>
              <a:rPr b="1" dirty="0" u="sng">
                <a:solidFill>
                  <a:srgbClr val="FF0000"/>
                </a:solidFill>
              </a:rPr>
              <a:t> </a:t>
            </a:r>
            <a:r>
              <a:rPr b="1" dirty="0" err="1" u="sng">
                <a:solidFill>
                  <a:srgbClr val="FF0000"/>
                </a:solidFill>
              </a:rPr>
              <a:t>alla</a:t>
            </a:r>
            <a:r>
              <a:rPr b="1" dirty="0" u="sng">
                <a:solidFill>
                  <a:srgbClr val="FF0000"/>
                </a:solidFill>
              </a:rPr>
              <a:t> persona</a:t>
            </a:r>
            <a:r>
              <a:rPr dirty="0"/>
              <a:t>.</a:t>
            </a:r>
          </a:p>
          <a:p>
            <a:pPr algn="just" defTabSz="406908" indent="0" marL="0">
              <a:spcBef>
                <a:spcPts val="0"/>
              </a:spcBef>
              <a:buSzTx/>
              <a:buNone/>
              <a:defRPr i="1" sz="1900">
                <a:latin typeface="+mj-lt"/>
                <a:ea typeface="+mj-ea"/>
                <a:cs typeface="+mj-cs"/>
                <a:sym typeface="Helvetica"/>
              </a:defRPr>
            </a:pPr>
            <a:endParaRPr dirty="0"/>
          </a:p>
          <a:p>
            <a:pPr algn="just" defTabSz="406908" indent="0" marL="0">
              <a:spcBef>
                <a:spcPts val="0"/>
              </a:spcBef>
              <a:buSzTx/>
              <a:buNone/>
              <a:defRPr i="1" sz="1900">
                <a:latin typeface="+mj-lt"/>
                <a:ea typeface="+mj-ea"/>
                <a:cs typeface="+mj-cs"/>
                <a:sym typeface="Helvetica"/>
              </a:defRPr>
            </a:pPr>
            <a:r>
              <a:rPr dirty="0"/>
              <a:t>La </a:t>
            </a:r>
            <a:r>
              <a:rPr dirty="0" err="1"/>
              <a:t>pena</a:t>
            </a:r>
            <a:r>
              <a:rPr dirty="0"/>
              <a:t> è </a:t>
            </a:r>
            <a:r>
              <a:rPr dirty="0" err="1"/>
              <a:t>della</a:t>
            </a:r>
            <a:r>
              <a:rPr dirty="0"/>
              <a:t> </a:t>
            </a:r>
            <a:r>
              <a:rPr dirty="0" err="1"/>
              <a:t>reclusione</a:t>
            </a:r>
            <a:r>
              <a:rPr dirty="0"/>
              <a:t> da cinque a </a:t>
            </a:r>
            <a:r>
              <a:rPr dirty="0" err="1"/>
              <a:t>dieci</a:t>
            </a:r>
            <a:r>
              <a:rPr dirty="0"/>
              <a:t> </a:t>
            </a:r>
            <a:r>
              <a:rPr dirty="0" err="1"/>
              <a:t>anni</a:t>
            </a:r>
            <a:r>
              <a:rPr dirty="0"/>
              <a:t> e </a:t>
            </a:r>
            <a:r>
              <a:rPr dirty="0" err="1"/>
              <a:t>della</a:t>
            </a:r>
            <a:r>
              <a:rPr dirty="0"/>
              <a:t> </a:t>
            </a:r>
            <a:r>
              <a:rPr dirty="0" err="1"/>
              <a:t>multa</a:t>
            </a:r>
            <a:r>
              <a:rPr dirty="0"/>
              <a:t> da euro 1.000 a euro 2.500 se </a:t>
            </a:r>
            <a:r>
              <a:rPr dirty="0" err="1"/>
              <a:t>il</a:t>
            </a:r>
            <a:r>
              <a:rPr dirty="0"/>
              <a:t> </a:t>
            </a:r>
            <a:r>
              <a:rPr dirty="0" err="1"/>
              <a:t>reato</a:t>
            </a:r>
            <a:r>
              <a:rPr dirty="0"/>
              <a:t> è </a:t>
            </a:r>
            <a:r>
              <a:rPr dirty="0" err="1"/>
              <a:t>aggravato</a:t>
            </a:r>
            <a:r>
              <a:rPr dirty="0"/>
              <a:t> da una o </a:t>
            </a:r>
            <a:r>
              <a:rPr dirty="0" err="1"/>
              <a:t>più</a:t>
            </a:r>
            <a:r>
              <a:rPr dirty="0"/>
              <a:t> </a:t>
            </a:r>
            <a:r>
              <a:rPr dirty="0" err="1"/>
              <a:t>delle</a:t>
            </a:r>
            <a:r>
              <a:rPr dirty="0"/>
              <a:t> </a:t>
            </a:r>
            <a:r>
              <a:rPr dirty="0" err="1"/>
              <a:t>circostanze</a:t>
            </a:r>
            <a:r>
              <a:rPr dirty="0"/>
              <a:t> </a:t>
            </a:r>
            <a:r>
              <a:rPr dirty="0" err="1"/>
              <a:t>previste</a:t>
            </a:r>
            <a:r>
              <a:rPr dirty="0"/>
              <a:t> </a:t>
            </a:r>
            <a:r>
              <a:rPr dirty="0" err="1"/>
              <a:t>nel</a:t>
            </a:r>
            <a:r>
              <a:rPr dirty="0"/>
              <a:t> primo comma </a:t>
            </a:r>
            <a:r>
              <a:rPr dirty="0" err="1"/>
              <a:t>dell'articolo</a:t>
            </a:r>
            <a:r>
              <a:rPr altLang="it-IT" dirty="0" lang="it-IT"/>
              <a:t> 625</a:t>
            </a:r>
            <a:r>
              <a:rPr dirty="0"/>
              <a:t> </a:t>
            </a:r>
            <a:r>
              <a:rPr dirty="0" err="1"/>
              <a:t>ovvero</a:t>
            </a:r>
            <a:r>
              <a:rPr dirty="0"/>
              <a:t> se </a:t>
            </a:r>
            <a:r>
              <a:rPr dirty="0" err="1"/>
              <a:t>ricorre</a:t>
            </a:r>
            <a:r>
              <a:rPr dirty="0"/>
              <a:t> una o </a:t>
            </a:r>
            <a:r>
              <a:rPr dirty="0" err="1"/>
              <a:t>più</a:t>
            </a:r>
            <a:r>
              <a:rPr dirty="0"/>
              <a:t> </a:t>
            </a:r>
            <a:r>
              <a:rPr dirty="0" err="1"/>
              <a:t>delle</a:t>
            </a:r>
            <a:r>
              <a:rPr dirty="0"/>
              <a:t> </a:t>
            </a:r>
            <a:r>
              <a:rPr dirty="0" err="1"/>
              <a:t>circostanze</a:t>
            </a:r>
            <a:r>
              <a:rPr dirty="0"/>
              <a:t> indicate </a:t>
            </a:r>
            <a:r>
              <a:rPr dirty="0" err="1"/>
              <a:t>all'articolo</a:t>
            </a:r>
            <a:r>
              <a:rPr altLang="it-IT" dirty="0" lang="it-IT"/>
              <a:t> 61</a:t>
            </a:r>
            <a:r>
              <a:rPr dirty="0"/>
              <a:t>..."</a:t>
            </a:r>
          </a:p>
          <a:p>
            <a:pPr algn="just" defTabSz="406908" indent="0" marL="0">
              <a:spcBef>
                <a:spcPts val="0"/>
              </a:spcBef>
              <a:buSzTx/>
              <a:buNone/>
              <a:defRPr i="1" sz="1600">
                <a:latin typeface="+mj-lt"/>
                <a:ea typeface="+mj-ea"/>
                <a:cs typeface="+mj-cs"/>
                <a:sym typeface="Helvetica"/>
              </a:defRPr>
            </a:pPr>
            <a:endParaRPr dirty="0"/>
          </a:p>
          <a:p>
            <a:pPr defTabSz="406908" indent="0" marL="0">
              <a:spcBef>
                <a:spcPts val="0"/>
              </a:spcBef>
              <a:buSzTx/>
              <a:buNone/>
              <a:defRPr sz="1000">
                <a:latin typeface="+mj-lt"/>
                <a:ea typeface="+mj-ea"/>
                <a:cs typeface="+mj-cs"/>
                <a:sym typeface="Helvetica"/>
              </a:defRPr>
            </a:pPr>
            <a:endParaRPr dirty="0"/>
          </a:p>
          <a:p>
            <a:pPr algn="r" defTabSz="406908" indent="0" marL="0">
              <a:spcBef>
                <a:spcPts val="0"/>
              </a:spcBef>
              <a:buSzTx/>
              <a:buNone/>
              <a:defRPr sz="1600">
                <a:latin typeface="+mj-lt"/>
                <a:ea typeface="+mj-ea"/>
                <a:cs typeface="+mj-cs"/>
                <a:sym typeface="Helvetica"/>
              </a:defRPr>
            </a:pPr>
            <a:r>
              <a:rPr b="1" dirty="0" err="1"/>
              <a:t>Procedibilità</a:t>
            </a:r>
            <a:r>
              <a:rPr b="1" dirty="0"/>
              <a:t>: </a:t>
            </a:r>
            <a:r>
              <a:rPr b="1" dirty="0" err="1"/>
              <a:t>d’ufficio</a:t>
            </a:r>
            <a:r>
              <a:rPr dirty="0"/>
              <a:t>.</a:t>
            </a:r>
          </a:p>
        </p:txBody>
      </p:sp>
      <p:sp>
        <p:nvSpPr>
          <p:cNvPr id="259" name="Numero diapositiva"/>
          <p:cNvSpPr txBox="1">
            <a:spLocks noGrp="1"/>
          </p:cNvSpPr>
          <p:nvPr>
            <p:ph idx="2147483647" sz="quarter" type="sldNum"/>
          </p:nvPr>
        </p:nvSpPr>
        <p:spPr>
          <a:xfrm>
            <a:off x="8506459" y="6401179"/>
            <a:ext cx="180339" cy="27546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numCol="1"/>
          <a:lstStyle/>
          <a:p>
            <a:fld id="{86CB4B4D-7CA3-9044-876B-883B54F8677D}" type="slidenum">
              <a:t>9</a:t>
            </a:fld>
            <a:endParaRPr/>
          </a:p>
        </p:txBody>
      </p:sp>
      <p:pic>
        <p:nvPicPr>
          <p:cNvPr descr="Immagine 6" id="260"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Furto in abitazione e furto con strappo"/>
          <p:cNvSpPr txBox="1">
            <a:spLocks noGrp="1"/>
          </p:cNvSpPr>
          <p:nvPr>
            <p:ph type="title"/>
          </p:nvPr>
        </p:nvSpPr>
        <p:spPr>
          <a:xfrm>
            <a:off x="607710" y="215917"/>
            <a:ext cx="6666170" cy="455529"/>
          </a:xfrm>
          <a:prstGeom prst="rect">
            <a:avLst/>
          </a:prstGeom>
        </p:spPr>
        <p:txBody>
          <a:bodyPr numCol="1">
            <a:normAutofit fontScale="90000"/>
          </a:bodyPr>
          <a:lstStyle>
            <a:lvl1pPr defTabSz="896111">
              <a:defRPr sz="2600">
                <a:solidFill>
                  <a:srgbClr val="FFFFFF"/>
                </a:solidFill>
              </a:defRPr>
            </a:lvl1pPr>
          </a:lstStyle>
          <a:p>
            <a:r>
              <a:t>Furto in abitazione e furto con strappo </a:t>
            </a:r>
          </a:p>
        </p:txBody>
      </p:sp>
      <p:sp>
        <p:nvSpPr>
          <p:cNvPr id="263" name="Furto in abitazione: -quello di  privata dimora è un concetto molto ampio nel quale vi rientra l’abitazione, camera d’albergo, camper ecc..…"/>
          <p:cNvSpPr txBox="1">
            <a:spLocks noGrp="1"/>
          </p:cNvSpPr>
          <p:nvPr>
            <p:ph idx="1" type="body"/>
          </p:nvPr>
        </p:nvSpPr>
        <p:spPr>
          <a:xfrm>
            <a:off x="457200" y="1065459"/>
            <a:ext cx="8229600" cy="5060705"/>
          </a:xfrm>
          <a:prstGeom prst="rect">
            <a:avLst/>
          </a:prstGeom>
        </p:spPr>
        <p:txBody>
          <a:bodyPr numCol="1"/>
          <a:lstStyle/>
          <a:p>
            <a:pPr algn="just">
              <a:defRPr b="1"/>
            </a:pPr>
            <a:r>
              <a:t>Furto in abitazione:</a:t>
            </a:r>
            <a:r>
              <a:rPr b="0"/>
              <a:t> </a:t>
            </a:r>
            <a:r>
              <a:rPr b="0" sz="2200"/>
              <a:t>-quello di  </a:t>
            </a:r>
            <a:r>
              <a:rPr b="0" sz="2200">
                <a:solidFill>
                  <a:srgbClr val="FF0000"/>
                </a:solidFill>
              </a:rPr>
              <a:t>privata dimora</a:t>
            </a:r>
            <a:r>
              <a:rPr b="0" sz="2200"/>
              <a:t> è un concetto molto ampio nel quale vi rientra </a:t>
            </a:r>
            <a:r>
              <a:rPr b="0" sz="2200" u="sng"/>
              <a:t>l’abitazione</a:t>
            </a:r>
            <a:r>
              <a:rPr b="0" sz="2200"/>
              <a:t>, </a:t>
            </a:r>
            <a:r>
              <a:rPr b="0" sz="2200" u="sng"/>
              <a:t>camera d’albergo</a:t>
            </a:r>
            <a:r>
              <a:rPr b="0" sz="2200"/>
              <a:t>, </a:t>
            </a:r>
            <a:r>
              <a:rPr b="0" sz="2200" u="sng"/>
              <a:t>camper</a:t>
            </a:r>
            <a:r>
              <a:rPr b="0" sz="2200"/>
              <a:t> ecc.. </a:t>
            </a:r>
          </a:p>
          <a:p>
            <a:pPr algn="just">
              <a:defRPr sz="2200"/>
            </a:pPr>
            <a:endParaRPr b="0" sz="2200"/>
          </a:p>
          <a:p>
            <a:pPr algn="just">
              <a:defRPr b="1"/>
            </a:pPr>
            <a:r>
              <a:t>Furto con strappo:</a:t>
            </a:r>
            <a:r>
              <a:rPr b="0" sz="2200"/>
              <a:t> - a differenza della rapina in cui la violenza viene esercitata sulla persona, in questo caso la</a:t>
            </a:r>
            <a:r>
              <a:rPr b="0" sz="2200">
                <a:solidFill>
                  <a:srgbClr val="FF0000"/>
                </a:solidFill>
              </a:rPr>
              <a:t> violenza è rivolta alla sola cosa oggetto di scippo.</a:t>
            </a:r>
          </a:p>
        </p:txBody>
      </p:sp>
      <p:sp>
        <p:nvSpPr>
          <p:cNvPr id="264" name="Numero diapositiva"/>
          <p:cNvSpPr txBox="1">
            <a:spLocks noGrp="1"/>
          </p:cNvSpPr>
          <p:nvPr>
            <p:ph idx="2147483647" sz="quarter" type="sldNum"/>
          </p:nvPr>
        </p:nvSpPr>
        <p:spPr>
          <a:xfrm>
            <a:off x="8430259" y="6401179"/>
            <a:ext cx="256539" cy="27546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numCol="1"/>
          <a:lstStyle/>
          <a:p>
            <a:fld id="{86CB4B4D-7CA3-9044-876B-883B54F8677D}" type="slidenum">
              <a:t>10</a:t>
            </a:fld>
            <a:endParaRPr/>
          </a:p>
        </p:txBody>
      </p:sp>
      <p:pic>
        <p:nvPicPr>
          <p:cNvPr descr="Immagine 6" id="265"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CasellaDiTesto 1"/>
          <p:cNvSpPr txBox="1"/>
          <p:nvPr/>
        </p:nvSpPr>
        <p:spPr>
          <a:xfrm>
            <a:off x="229859" y="980729"/>
            <a:ext cx="8684281" cy="37372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indent="-1797050" marL="1797050">
              <a:lnSpc>
                <a:spcPct val="114000"/>
              </a:lnSpc>
              <a:spcBef>
                <a:spcPts val="600"/>
              </a:spcBef>
              <a:defRPr sz="2400">
                <a:solidFill>
                  <a:srgbClr val="0070C0"/>
                </a:solidFill>
                <a:latin typeface="Book Antiqua"/>
                <a:ea typeface="Book Antiqua"/>
                <a:cs typeface="Book Antiqua"/>
                <a:sym typeface="Book Antiqua"/>
              </a:defRPr>
            </a:pPr>
            <a:r>
              <a:rPr dirty="0"/>
              <a:t>Art. 628 </a:t>
            </a:r>
            <a:r>
              <a:rPr dirty="0" err="1"/>
              <a:t>c.p.</a:t>
            </a:r>
            <a:r>
              <a:rPr dirty="0"/>
              <a:t> </a:t>
            </a:r>
            <a:r>
              <a:rPr dirty="0" err="1"/>
              <a:t>Rapina</a:t>
            </a:r>
            <a:endParaRPr dirty="0">
              <a:latin typeface="Times New Roman"/>
              <a:ea typeface="Times New Roman"/>
              <a:cs typeface="Times New Roman"/>
              <a:sym typeface="Times New Roman"/>
            </a:endParaRPr>
          </a:p>
          <a:p>
            <a:pPr algn="just">
              <a:lnSpc>
                <a:spcPct val="114000"/>
              </a:lnSpc>
              <a:spcBef>
                <a:spcPts val="600"/>
              </a:spcBef>
              <a:defRPr b="0" sz="2200">
                <a:latin typeface="Book Antiqua"/>
                <a:ea typeface="Book Antiqua"/>
                <a:cs typeface="Book Antiqua"/>
                <a:sym typeface="Book Antiqua"/>
              </a:defRPr>
            </a:pPr>
            <a:r>
              <a:rPr dirty="0"/>
              <a:t>«</a:t>
            </a:r>
            <a:r>
              <a:rPr dirty="0" err="1" i="1"/>
              <a:t>Chiunque</a:t>
            </a:r>
            <a:r>
              <a:rPr dirty="0" i="1"/>
              <a:t>, </a:t>
            </a:r>
            <a:r>
              <a:rPr b="1" dirty="0" i="1">
                <a:solidFill>
                  <a:srgbClr val="0070C0"/>
                </a:solidFill>
              </a:rPr>
              <a:t>per </a:t>
            </a:r>
            <a:r>
              <a:rPr b="1" dirty="0" err="1" i="1">
                <a:solidFill>
                  <a:srgbClr val="0070C0"/>
                </a:solidFill>
              </a:rPr>
              <a:t>procurare</a:t>
            </a:r>
            <a:r>
              <a:rPr b="1" dirty="0" i="1">
                <a:solidFill>
                  <a:srgbClr val="0070C0"/>
                </a:solidFill>
              </a:rPr>
              <a:t> a </a:t>
            </a:r>
            <a:r>
              <a:rPr b="1" dirty="0" err="1" i="1">
                <a:solidFill>
                  <a:srgbClr val="0070C0"/>
                </a:solidFill>
              </a:rPr>
              <a:t>sé</a:t>
            </a:r>
            <a:r>
              <a:rPr b="1" dirty="0" i="1">
                <a:solidFill>
                  <a:srgbClr val="0070C0"/>
                </a:solidFill>
              </a:rPr>
              <a:t> o ad </a:t>
            </a:r>
            <a:r>
              <a:rPr b="1" dirty="0" err="1" i="1">
                <a:solidFill>
                  <a:srgbClr val="0070C0"/>
                </a:solidFill>
              </a:rPr>
              <a:t>altri</a:t>
            </a:r>
            <a:r>
              <a:rPr b="1" dirty="0" i="1">
                <a:solidFill>
                  <a:srgbClr val="0070C0"/>
                </a:solidFill>
              </a:rPr>
              <a:t> un </a:t>
            </a:r>
            <a:r>
              <a:rPr b="1" dirty="0" err="1" i="1">
                <a:solidFill>
                  <a:srgbClr val="0070C0"/>
                </a:solidFill>
              </a:rPr>
              <a:t>ingiusto</a:t>
            </a:r>
            <a:r>
              <a:rPr b="1" dirty="0" i="1">
                <a:solidFill>
                  <a:srgbClr val="0070C0"/>
                </a:solidFill>
              </a:rPr>
              <a:t> </a:t>
            </a:r>
            <a:r>
              <a:rPr b="1" dirty="0" err="1" i="1">
                <a:solidFill>
                  <a:srgbClr val="0070C0"/>
                </a:solidFill>
              </a:rPr>
              <a:t>profitto</a:t>
            </a:r>
            <a:r>
              <a:rPr dirty="0" i="1">
                <a:solidFill>
                  <a:srgbClr val="0070C0"/>
                </a:solidFill>
              </a:rPr>
              <a:t>, </a:t>
            </a:r>
            <a:r>
              <a:rPr b="1" dirty="0" err="1" i="1">
                <a:solidFill>
                  <a:srgbClr val="0070C0"/>
                </a:solidFill>
              </a:rPr>
              <a:t>mediante</a:t>
            </a:r>
            <a:r>
              <a:rPr b="1" dirty="0" i="1">
                <a:solidFill>
                  <a:srgbClr val="0070C0"/>
                </a:solidFill>
              </a:rPr>
              <a:t> </a:t>
            </a:r>
            <a:r>
              <a:rPr b="1" dirty="0" err="1" i="1">
                <a:solidFill>
                  <a:srgbClr val="0070C0"/>
                </a:solidFill>
              </a:rPr>
              <a:t>violenza</a:t>
            </a:r>
            <a:r>
              <a:rPr b="1" dirty="0" i="1">
                <a:solidFill>
                  <a:srgbClr val="0070C0"/>
                </a:solidFill>
              </a:rPr>
              <a:t> </a:t>
            </a:r>
            <a:r>
              <a:rPr b="1" dirty="0" err="1" i="1">
                <a:solidFill>
                  <a:srgbClr val="0070C0"/>
                </a:solidFill>
              </a:rPr>
              <a:t>alla</a:t>
            </a:r>
            <a:r>
              <a:rPr b="1" dirty="0" i="1">
                <a:solidFill>
                  <a:srgbClr val="0070C0"/>
                </a:solidFill>
              </a:rPr>
              <a:t> persona o </a:t>
            </a:r>
            <a:r>
              <a:rPr b="1" dirty="0" err="1" i="1">
                <a:solidFill>
                  <a:srgbClr val="0070C0"/>
                </a:solidFill>
              </a:rPr>
              <a:t>minaccia</a:t>
            </a:r>
            <a:r>
              <a:rPr b="1" dirty="0" i="1">
                <a:solidFill>
                  <a:srgbClr val="0070C0"/>
                </a:solidFill>
              </a:rPr>
              <a:t>,</a:t>
            </a:r>
            <a:r>
              <a:rPr dirty="0" i="1">
                <a:solidFill>
                  <a:srgbClr val="0070C0"/>
                </a:solidFill>
              </a:rPr>
              <a:t> </a:t>
            </a:r>
            <a:r>
              <a:rPr b="1" dirty="0" err="1" i="1">
                <a:solidFill>
                  <a:srgbClr val="0070C0"/>
                </a:solidFill>
              </a:rPr>
              <a:t>s'impossessa</a:t>
            </a:r>
            <a:r>
              <a:rPr b="1" dirty="0" i="1">
                <a:solidFill>
                  <a:srgbClr val="0070C0"/>
                </a:solidFill>
              </a:rPr>
              <a:t> </a:t>
            </a:r>
            <a:r>
              <a:rPr b="1" dirty="0" err="1" i="1">
                <a:solidFill>
                  <a:srgbClr val="0070C0"/>
                </a:solidFill>
              </a:rPr>
              <a:t>della</a:t>
            </a:r>
            <a:r>
              <a:rPr b="1" dirty="0" i="1">
                <a:solidFill>
                  <a:srgbClr val="0070C0"/>
                </a:solidFill>
              </a:rPr>
              <a:t> </a:t>
            </a:r>
            <a:r>
              <a:rPr b="1" dirty="0" err="1" i="1">
                <a:solidFill>
                  <a:srgbClr val="0070C0"/>
                </a:solidFill>
              </a:rPr>
              <a:t>cosa</a:t>
            </a:r>
            <a:r>
              <a:rPr b="1" dirty="0" i="1">
                <a:solidFill>
                  <a:srgbClr val="0070C0"/>
                </a:solidFill>
              </a:rPr>
              <a:t> mobile </a:t>
            </a:r>
            <a:r>
              <a:rPr b="1" dirty="0" err="1" i="1">
                <a:solidFill>
                  <a:srgbClr val="0070C0"/>
                </a:solidFill>
              </a:rPr>
              <a:t>altrui</a:t>
            </a:r>
            <a:r>
              <a:rPr dirty="0" i="1">
                <a:solidFill>
                  <a:srgbClr val="0070C0"/>
                </a:solidFill>
              </a:rPr>
              <a:t>, </a:t>
            </a:r>
            <a:r>
              <a:rPr b="1" dirty="0" err="1" i="1">
                <a:solidFill>
                  <a:srgbClr val="0070C0"/>
                </a:solidFill>
              </a:rPr>
              <a:t>sottraendola</a:t>
            </a:r>
            <a:r>
              <a:rPr b="1" dirty="0" i="1">
                <a:solidFill>
                  <a:srgbClr val="0070C0"/>
                </a:solidFill>
              </a:rPr>
              <a:t> a chi la </a:t>
            </a:r>
            <a:r>
              <a:rPr b="1" dirty="0" err="1" i="1">
                <a:solidFill>
                  <a:srgbClr val="0070C0"/>
                </a:solidFill>
              </a:rPr>
              <a:t>detiene</a:t>
            </a:r>
            <a:r>
              <a:rPr dirty="0" i="1"/>
              <a:t>, è </a:t>
            </a:r>
            <a:r>
              <a:rPr dirty="0" err="1" i="1"/>
              <a:t>punito</a:t>
            </a:r>
            <a:r>
              <a:rPr dirty="0" i="1"/>
              <a:t> con la </a:t>
            </a:r>
            <a:r>
              <a:rPr dirty="0" err="1" i="1"/>
              <a:t>reclusione</a:t>
            </a:r>
            <a:r>
              <a:rPr dirty="0" i="1"/>
              <a:t> da </a:t>
            </a:r>
            <a:r>
              <a:rPr altLang="it-IT" dirty="0" i="1" lang="it-IT"/>
              <a:t>cinque</a:t>
            </a:r>
            <a:r>
              <a:rPr dirty="0" i="1"/>
              <a:t> a </a:t>
            </a:r>
            <a:r>
              <a:rPr dirty="0" err="1" i="1"/>
              <a:t>dieci</a:t>
            </a:r>
            <a:r>
              <a:rPr dirty="0" i="1"/>
              <a:t> </a:t>
            </a:r>
            <a:r>
              <a:rPr dirty="0" err="1" i="1"/>
              <a:t>anni</a:t>
            </a:r>
            <a:r>
              <a:rPr dirty="0" i="1"/>
              <a:t> e con la </a:t>
            </a:r>
            <a:r>
              <a:rPr dirty="0" err="1" i="1"/>
              <a:t>multa</a:t>
            </a:r>
            <a:r>
              <a:rPr dirty="0" i="1"/>
              <a:t> da 927 euro a 2.500 euro.</a:t>
            </a:r>
            <a:endParaRPr dirty="0">
              <a:latin typeface="Times New Roman"/>
              <a:ea typeface="Times New Roman"/>
              <a:cs typeface="Times New Roman"/>
              <a:sym typeface="Times New Roman"/>
            </a:endParaRPr>
          </a:p>
          <a:p>
            <a:pPr algn="just">
              <a:lnSpc>
                <a:spcPct val="114000"/>
              </a:lnSpc>
              <a:spcBef>
                <a:spcPts val="600"/>
              </a:spcBef>
              <a:defRPr b="0" i="1" sz="2200">
                <a:latin typeface="Book Antiqua"/>
                <a:ea typeface="Book Antiqua"/>
                <a:cs typeface="Book Antiqua"/>
                <a:sym typeface="Book Antiqua"/>
              </a:defRPr>
            </a:pPr>
            <a:r>
              <a:rPr dirty="0" err="1"/>
              <a:t>Alla</a:t>
            </a:r>
            <a:r>
              <a:rPr dirty="0"/>
              <a:t> </a:t>
            </a:r>
            <a:r>
              <a:rPr dirty="0" err="1"/>
              <a:t>stessa</a:t>
            </a:r>
            <a:r>
              <a:rPr dirty="0"/>
              <a:t> </a:t>
            </a:r>
            <a:r>
              <a:rPr dirty="0" err="1"/>
              <a:t>pena</a:t>
            </a:r>
            <a:r>
              <a:rPr dirty="0"/>
              <a:t> </a:t>
            </a:r>
            <a:r>
              <a:rPr dirty="0" err="1"/>
              <a:t>soggiace</a:t>
            </a:r>
            <a:r>
              <a:rPr dirty="0"/>
              <a:t> chi </a:t>
            </a:r>
            <a:r>
              <a:rPr b="1" dirty="0" err="1">
                <a:solidFill>
                  <a:srgbClr val="0070C0"/>
                </a:solidFill>
              </a:rPr>
              <a:t>adopera</a:t>
            </a:r>
            <a:r>
              <a:rPr b="1" dirty="0">
                <a:solidFill>
                  <a:srgbClr val="0070C0"/>
                </a:solidFill>
              </a:rPr>
              <a:t> </a:t>
            </a:r>
            <a:r>
              <a:rPr b="1" dirty="0" err="1">
                <a:solidFill>
                  <a:srgbClr val="0070C0"/>
                </a:solidFill>
              </a:rPr>
              <a:t>violenza</a:t>
            </a:r>
            <a:r>
              <a:rPr b="1" dirty="0">
                <a:solidFill>
                  <a:srgbClr val="0070C0"/>
                </a:solidFill>
              </a:rPr>
              <a:t> o </a:t>
            </a:r>
            <a:r>
              <a:rPr b="1" dirty="0" err="1">
                <a:solidFill>
                  <a:srgbClr val="0070C0"/>
                </a:solidFill>
              </a:rPr>
              <a:t>minaccia</a:t>
            </a:r>
            <a:r>
              <a:rPr b="1" dirty="0">
                <a:solidFill>
                  <a:srgbClr val="0070C0"/>
                </a:solidFill>
              </a:rPr>
              <a:t> </a:t>
            </a:r>
            <a:r>
              <a:rPr b="1" dirty="0" err="1">
                <a:solidFill>
                  <a:srgbClr val="0070C0"/>
                </a:solidFill>
              </a:rPr>
              <a:t>immediatamente</a:t>
            </a:r>
            <a:r>
              <a:rPr b="1" dirty="0">
                <a:solidFill>
                  <a:srgbClr val="0070C0"/>
                </a:solidFill>
              </a:rPr>
              <a:t> </a:t>
            </a:r>
            <a:r>
              <a:rPr b="1" dirty="0" err="1">
                <a:solidFill>
                  <a:srgbClr val="0070C0"/>
                </a:solidFill>
              </a:rPr>
              <a:t>dopo</a:t>
            </a:r>
            <a:r>
              <a:rPr b="1" dirty="0">
                <a:solidFill>
                  <a:srgbClr val="0070C0"/>
                </a:solidFill>
              </a:rPr>
              <a:t> la </a:t>
            </a:r>
            <a:r>
              <a:rPr b="1" dirty="0" err="1">
                <a:solidFill>
                  <a:srgbClr val="0070C0"/>
                </a:solidFill>
              </a:rPr>
              <a:t>sottrazione</a:t>
            </a:r>
            <a:r>
              <a:rPr b="1" dirty="0">
                <a:solidFill>
                  <a:srgbClr val="0070C0"/>
                </a:solidFill>
              </a:rPr>
              <a:t>, per </a:t>
            </a:r>
            <a:r>
              <a:rPr b="1" dirty="0" err="1">
                <a:solidFill>
                  <a:srgbClr val="0070C0"/>
                </a:solidFill>
              </a:rPr>
              <a:t>assicurare</a:t>
            </a:r>
            <a:r>
              <a:rPr b="1" dirty="0">
                <a:solidFill>
                  <a:srgbClr val="0070C0"/>
                </a:solidFill>
              </a:rPr>
              <a:t> a </a:t>
            </a:r>
            <a:r>
              <a:rPr b="1" dirty="0" err="1">
                <a:solidFill>
                  <a:srgbClr val="0070C0"/>
                </a:solidFill>
              </a:rPr>
              <a:t>sé</a:t>
            </a:r>
            <a:r>
              <a:rPr b="1" dirty="0">
                <a:solidFill>
                  <a:srgbClr val="0070C0"/>
                </a:solidFill>
              </a:rPr>
              <a:t> o ad </a:t>
            </a:r>
            <a:r>
              <a:rPr b="1" dirty="0" err="1">
                <a:solidFill>
                  <a:srgbClr val="0070C0"/>
                </a:solidFill>
              </a:rPr>
              <a:t>altri</a:t>
            </a:r>
            <a:r>
              <a:rPr b="1" dirty="0">
                <a:solidFill>
                  <a:srgbClr val="0070C0"/>
                </a:solidFill>
              </a:rPr>
              <a:t> </a:t>
            </a:r>
            <a:r>
              <a:rPr b="1" dirty="0" err="1">
                <a:solidFill>
                  <a:srgbClr val="0070C0"/>
                </a:solidFill>
              </a:rPr>
              <a:t>il</a:t>
            </a:r>
            <a:r>
              <a:rPr b="1" dirty="0">
                <a:solidFill>
                  <a:srgbClr val="0070C0"/>
                </a:solidFill>
              </a:rPr>
              <a:t> </a:t>
            </a:r>
            <a:r>
              <a:rPr b="1" dirty="0" err="1">
                <a:solidFill>
                  <a:srgbClr val="0070C0"/>
                </a:solidFill>
              </a:rPr>
              <a:t>possesso</a:t>
            </a:r>
            <a:r>
              <a:rPr b="1" dirty="0">
                <a:solidFill>
                  <a:srgbClr val="0070C0"/>
                </a:solidFill>
              </a:rPr>
              <a:t> </a:t>
            </a:r>
            <a:r>
              <a:rPr b="1" dirty="0" err="1">
                <a:solidFill>
                  <a:srgbClr val="0070C0"/>
                </a:solidFill>
              </a:rPr>
              <a:t>della</a:t>
            </a:r>
            <a:r>
              <a:rPr b="1" dirty="0">
                <a:solidFill>
                  <a:srgbClr val="0070C0"/>
                </a:solidFill>
              </a:rPr>
              <a:t> </a:t>
            </a:r>
            <a:r>
              <a:rPr b="1" dirty="0" err="1">
                <a:solidFill>
                  <a:srgbClr val="0070C0"/>
                </a:solidFill>
              </a:rPr>
              <a:t>cosa</a:t>
            </a:r>
            <a:r>
              <a:rPr b="1" dirty="0">
                <a:solidFill>
                  <a:srgbClr val="0070C0"/>
                </a:solidFill>
              </a:rPr>
              <a:t> </a:t>
            </a:r>
            <a:r>
              <a:rPr b="1" dirty="0" err="1">
                <a:solidFill>
                  <a:srgbClr val="0070C0"/>
                </a:solidFill>
              </a:rPr>
              <a:t>sottratta</a:t>
            </a:r>
            <a:r>
              <a:rPr b="1" dirty="0">
                <a:solidFill>
                  <a:srgbClr val="0070C0"/>
                </a:solidFill>
              </a:rPr>
              <a:t>, o per </a:t>
            </a:r>
            <a:r>
              <a:rPr b="1" dirty="0" err="1">
                <a:solidFill>
                  <a:srgbClr val="0070C0"/>
                </a:solidFill>
              </a:rPr>
              <a:t>procurare</a:t>
            </a:r>
            <a:r>
              <a:rPr b="1" dirty="0">
                <a:solidFill>
                  <a:srgbClr val="0070C0"/>
                </a:solidFill>
              </a:rPr>
              <a:t> a </a:t>
            </a:r>
            <a:r>
              <a:rPr b="1" dirty="0" err="1">
                <a:solidFill>
                  <a:srgbClr val="0070C0"/>
                </a:solidFill>
              </a:rPr>
              <a:t>sé</a:t>
            </a:r>
            <a:r>
              <a:rPr b="1" dirty="0">
                <a:solidFill>
                  <a:srgbClr val="0070C0"/>
                </a:solidFill>
              </a:rPr>
              <a:t> o ad </a:t>
            </a:r>
            <a:r>
              <a:rPr b="1" dirty="0" err="1">
                <a:solidFill>
                  <a:srgbClr val="0070C0"/>
                </a:solidFill>
              </a:rPr>
              <a:t>altri</a:t>
            </a:r>
            <a:r>
              <a:rPr b="1" dirty="0">
                <a:solidFill>
                  <a:srgbClr val="0070C0"/>
                </a:solidFill>
              </a:rPr>
              <a:t> </a:t>
            </a:r>
            <a:r>
              <a:rPr b="1" dirty="0" err="1">
                <a:solidFill>
                  <a:srgbClr val="0070C0"/>
                </a:solidFill>
              </a:rPr>
              <a:t>l'impunità</a:t>
            </a:r>
            <a:r>
              <a:rPr dirty="0"/>
              <a:t>. …</a:t>
            </a:r>
          </a:p>
        </p:txBody>
      </p:sp>
      <p:pic>
        <p:nvPicPr>
          <p:cNvPr descr="Immagine 3" id="268" name="Immagine 3"/>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269"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Rapina</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CasellaDiTesto 1"/>
          <p:cNvSpPr txBox="1"/>
          <p:nvPr/>
        </p:nvSpPr>
        <p:spPr>
          <a:xfrm>
            <a:off x="45719" y="836712"/>
            <a:ext cx="9052561" cy="5797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indent="-1797050" marL="1797050">
              <a:lnSpc>
                <a:spcPct val="114000"/>
              </a:lnSpc>
              <a:spcBef>
                <a:spcPts val="600"/>
              </a:spcBef>
              <a:defRPr sz="2400">
                <a:solidFill>
                  <a:srgbClr val="0070C0"/>
                </a:solidFill>
                <a:latin typeface="Book Antiqua"/>
                <a:ea typeface="Book Antiqua"/>
                <a:cs typeface="Book Antiqua"/>
                <a:sym typeface="Book Antiqua"/>
              </a:defRPr>
            </a:pPr>
            <a:r>
              <a:t>Art. 628 c.p. Rapina</a:t>
            </a:r>
            <a:endParaRPr>
              <a:latin typeface="Times New Roman"/>
              <a:ea typeface="Times New Roman"/>
              <a:cs typeface="Times New Roman"/>
              <a:sym typeface="Times New Roman"/>
            </a:endParaRPr>
          </a:p>
          <a:p>
            <a:pPr algn="just">
              <a:lnSpc>
                <a:spcPct val="114000"/>
              </a:lnSpc>
              <a:spcBef>
                <a:spcPts val="600"/>
              </a:spcBef>
              <a:defRPr b="0" sz="1800">
                <a:latin typeface="Book Antiqua"/>
                <a:ea typeface="Book Antiqua"/>
                <a:cs typeface="Book Antiqua"/>
                <a:sym typeface="Book Antiqua"/>
              </a:defRPr>
            </a:pPr>
            <a:r>
              <a:t>… </a:t>
            </a:r>
            <a:r>
              <a:rPr i="1"/>
              <a:t>La pena è della reclusione da sei a venti anni e della multa da euro 2.000 a euro 4.000:</a:t>
            </a:r>
            <a:endParaRPr>
              <a:latin typeface="Times New Roman"/>
              <a:ea typeface="Times New Roman"/>
              <a:cs typeface="Times New Roman"/>
              <a:sym typeface="Times New Roman"/>
            </a:endParaRPr>
          </a:p>
          <a:p>
            <a:pPr algn="just">
              <a:lnSpc>
                <a:spcPct val="114000"/>
              </a:lnSpc>
              <a:defRPr b="0" i="1" sz="1800">
                <a:latin typeface="Book Antiqua"/>
                <a:ea typeface="Book Antiqua"/>
                <a:cs typeface="Book Antiqua"/>
                <a:sym typeface="Book Antiqua"/>
              </a:defRPr>
            </a:pPr>
            <a:r>
              <a:t>1) se la violenza o minaccia è commessa con </a:t>
            </a:r>
            <a:r>
              <a:rPr b="1"/>
              <a:t>armi</a:t>
            </a:r>
            <a:r>
              <a:t>, o da </a:t>
            </a:r>
            <a:r>
              <a:rPr b="1"/>
              <a:t>persona travisata</a:t>
            </a:r>
            <a:r>
              <a:t>, o da più </a:t>
            </a:r>
            <a:r>
              <a:rPr b="1"/>
              <a:t>persone riunite</a:t>
            </a:r>
            <a:r>
              <a:t>;</a:t>
            </a:r>
            <a:endParaRPr>
              <a:latin typeface="Times New Roman"/>
              <a:ea typeface="Times New Roman"/>
              <a:cs typeface="Times New Roman"/>
              <a:sym typeface="Times New Roman"/>
            </a:endParaRPr>
          </a:p>
          <a:p>
            <a:pPr algn="just">
              <a:lnSpc>
                <a:spcPct val="114000"/>
              </a:lnSpc>
              <a:defRPr b="0" i="1" sz="1800">
                <a:latin typeface="Book Antiqua"/>
                <a:ea typeface="Book Antiqua"/>
                <a:cs typeface="Book Antiqua"/>
                <a:sym typeface="Book Antiqua"/>
              </a:defRPr>
            </a:pPr>
            <a:r>
              <a:t>2) se la violenza consiste nel porre taluno </a:t>
            </a:r>
            <a:r>
              <a:rPr b="1"/>
              <a:t>in stato d'incapacità di volere o di agire</a:t>
            </a:r>
            <a:r>
              <a:t>;</a:t>
            </a:r>
            <a:endParaRPr>
              <a:latin typeface="Times New Roman"/>
              <a:ea typeface="Times New Roman"/>
              <a:cs typeface="Times New Roman"/>
              <a:sym typeface="Times New Roman"/>
            </a:endParaRPr>
          </a:p>
          <a:p>
            <a:pPr algn="just">
              <a:lnSpc>
                <a:spcPct val="114000"/>
              </a:lnSpc>
              <a:defRPr b="0" i="1" sz="1800">
                <a:latin typeface="Book Antiqua"/>
                <a:ea typeface="Book Antiqua"/>
                <a:cs typeface="Book Antiqua"/>
                <a:sym typeface="Book Antiqua"/>
              </a:defRPr>
            </a:pPr>
            <a:r>
              <a:t>3) se la violenza o minaccia è posta in essere </a:t>
            </a:r>
            <a:r>
              <a:rPr b="1"/>
              <a:t>da persona che fa parte dell'associazione di cui all'articolo 416 bis</a:t>
            </a:r>
            <a:r>
              <a:t>;</a:t>
            </a:r>
            <a:endParaRPr>
              <a:latin typeface="Times New Roman"/>
              <a:ea typeface="Times New Roman"/>
              <a:cs typeface="Times New Roman"/>
              <a:sym typeface="Times New Roman"/>
            </a:endParaRPr>
          </a:p>
          <a:p>
            <a:pPr algn="just">
              <a:lnSpc>
                <a:spcPct val="114000"/>
              </a:lnSpc>
              <a:defRPr b="0" i="1" sz="1800">
                <a:latin typeface="Book Antiqua"/>
                <a:ea typeface="Book Antiqua"/>
                <a:cs typeface="Book Antiqua"/>
                <a:sym typeface="Book Antiqua"/>
              </a:defRPr>
            </a:pPr>
            <a:r>
              <a:t>3-bis) se il fatto è commesso nei luoghi di cui all’articolo 624 bis o in luoghi tali da ostacolare la pubblica o privata difesa;</a:t>
            </a:r>
            <a:endParaRPr>
              <a:latin typeface="Times New Roman"/>
              <a:ea typeface="Times New Roman"/>
              <a:cs typeface="Times New Roman"/>
              <a:sym typeface="Times New Roman"/>
            </a:endParaRPr>
          </a:p>
          <a:p>
            <a:pPr algn="just">
              <a:lnSpc>
                <a:spcPct val="114000"/>
              </a:lnSpc>
              <a:defRPr b="0" i="1" sz="1800">
                <a:latin typeface="Book Antiqua"/>
                <a:ea typeface="Book Antiqua"/>
                <a:cs typeface="Book Antiqua"/>
                <a:sym typeface="Book Antiqua"/>
              </a:defRPr>
            </a:pPr>
            <a:r>
              <a:t>3-ter) se il fatto è commesso </a:t>
            </a:r>
            <a:r>
              <a:rPr b="1"/>
              <a:t>all’interno di mezzi di pubblico trasporto</a:t>
            </a:r>
            <a:r>
              <a:t>;</a:t>
            </a:r>
            <a:endParaRPr>
              <a:latin typeface="Times New Roman"/>
              <a:ea typeface="Times New Roman"/>
              <a:cs typeface="Times New Roman"/>
              <a:sym typeface="Times New Roman"/>
            </a:endParaRPr>
          </a:p>
          <a:p>
            <a:pPr algn="just">
              <a:lnSpc>
                <a:spcPct val="114000"/>
              </a:lnSpc>
              <a:defRPr b="0" i="1" sz="1800">
                <a:latin typeface="Book Antiqua"/>
                <a:ea typeface="Book Antiqua"/>
                <a:cs typeface="Book Antiqua"/>
                <a:sym typeface="Book Antiqua"/>
              </a:defRPr>
            </a:pPr>
            <a:r>
              <a:t>3-quater) se il fatto è commesso nei confronti di persona che si trovi nell’atto di fruire ovvero che abbia appena fruito dei </a:t>
            </a:r>
            <a:r>
              <a:rPr b="1"/>
              <a:t>servizi di istituti di credito, uffici postali o sportelli automatici </a:t>
            </a:r>
            <a:r>
              <a:t>adibiti al prelievo di denaro;</a:t>
            </a:r>
            <a:endParaRPr>
              <a:latin typeface="Times New Roman"/>
              <a:ea typeface="Times New Roman"/>
              <a:cs typeface="Times New Roman"/>
              <a:sym typeface="Times New Roman"/>
            </a:endParaRPr>
          </a:p>
          <a:p>
            <a:pPr algn="just">
              <a:lnSpc>
                <a:spcPct val="114000"/>
              </a:lnSpc>
              <a:spcBef>
                <a:spcPts val="600"/>
              </a:spcBef>
              <a:defRPr b="0" i="1" sz="1800">
                <a:latin typeface="Book Antiqua"/>
                <a:ea typeface="Book Antiqua"/>
                <a:cs typeface="Book Antiqua"/>
                <a:sym typeface="Book Antiqua"/>
              </a:defRPr>
            </a:pPr>
            <a:r>
              <a:t>3-quinquies) se il fatto è commesso nei confronti di </a:t>
            </a:r>
            <a:r>
              <a:rPr b="1"/>
              <a:t>persona ultrasessantacinquenne</a:t>
            </a:r>
            <a:r>
              <a:t>.</a:t>
            </a:r>
            <a:endParaRPr>
              <a:latin typeface="Times New Roman"/>
              <a:ea typeface="Times New Roman"/>
              <a:cs typeface="Times New Roman"/>
              <a:sym typeface="Times New Roman"/>
            </a:endParaRPr>
          </a:p>
          <a:p>
            <a:pPr algn="just">
              <a:lnSpc>
                <a:spcPct val="114000"/>
              </a:lnSpc>
              <a:spcBef>
                <a:spcPts val="600"/>
              </a:spcBef>
              <a:defRPr b="0" i="1" sz="1800">
                <a:latin typeface="Book Antiqua"/>
                <a:ea typeface="Book Antiqua"/>
                <a:cs typeface="Book Antiqua"/>
                <a:sym typeface="Book Antiqua"/>
              </a:defRPr>
            </a:pPr>
            <a:r>
              <a:t>Se concorrono due o più delle circostanze di cui al terzo comma del presente articolo, ovvero se una di tali circostanze concorre con altra fra quelle indicate nell'art. 61, la pena è della reclusione da sette a venti anni, e della multa da euro 2.500 euro a euro 4.000</a:t>
            </a:r>
            <a:r>
              <a:rPr i="0"/>
              <a:t>».</a:t>
            </a:r>
          </a:p>
        </p:txBody>
      </p:sp>
      <p:pic>
        <p:nvPicPr>
          <p:cNvPr descr="Immagine 3" id="272" name="Immagine 3"/>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273"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Rapina</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Rettangolo 4"/>
          <p:cNvSpPr txBox="1"/>
          <p:nvPr/>
        </p:nvSpPr>
        <p:spPr>
          <a:xfrm>
            <a:off x="45719" y="980727"/>
            <a:ext cx="9052561" cy="56212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600"/>
              </a:spcBef>
              <a:defRPr b="0" sz="2200">
                <a:latin typeface="Times New Roman"/>
                <a:ea typeface="Times New Roman"/>
                <a:cs typeface="Times New Roman"/>
                <a:sym typeface="Times New Roman"/>
              </a:defRPr>
            </a:pPr>
            <a:r>
              <a:t>La rapina è un </a:t>
            </a:r>
            <a:r>
              <a:rPr b="1">
                <a:solidFill>
                  <a:srgbClr val="0070C0"/>
                </a:solidFill>
              </a:rPr>
              <a:t>REATO COMUNE </a:t>
            </a:r>
            <a:r>
              <a:t>e </a:t>
            </a:r>
            <a:r>
              <a:rPr b="1">
                <a:solidFill>
                  <a:srgbClr val="0070C0"/>
                </a:solidFill>
              </a:rPr>
              <a:t>PLURIOFFENSIVO</a:t>
            </a:r>
            <a:r>
              <a:t>. Se i due interessi lesi, ovvero il </a:t>
            </a:r>
            <a:r>
              <a:rPr b="1">
                <a:solidFill>
                  <a:srgbClr val="FF0000"/>
                </a:solidFill>
              </a:rPr>
              <a:t>patrimonio</a:t>
            </a:r>
            <a:r>
              <a:t> e la </a:t>
            </a:r>
            <a:r>
              <a:rPr b="1">
                <a:solidFill>
                  <a:srgbClr val="FF0000"/>
                </a:solidFill>
              </a:rPr>
              <a:t>persona</a:t>
            </a:r>
            <a:r>
              <a:t>, fanno capo a due soggetti passivi diversi si avrà una duplicazione di soggetti passivi.</a:t>
            </a:r>
          </a:p>
          <a:p>
            <a:pPr algn="just">
              <a:lnSpc>
                <a:spcPct val="114000"/>
              </a:lnSpc>
              <a:spcBef>
                <a:spcPts val="600"/>
              </a:spcBef>
              <a:defRPr b="0" sz="2200">
                <a:latin typeface="Times New Roman"/>
                <a:ea typeface="Times New Roman"/>
                <a:cs typeface="Times New Roman"/>
                <a:sym typeface="Times New Roman"/>
              </a:defRPr>
            </a:pPr>
            <a:endParaRPr/>
          </a:p>
          <a:p>
            <a:pPr algn="just">
              <a:lnSpc>
                <a:spcPct val="114000"/>
              </a:lnSpc>
              <a:spcBef>
                <a:spcPts val="600"/>
              </a:spcBef>
              <a:defRPr sz="2200" u="sng">
                <a:latin typeface="Times New Roman"/>
                <a:ea typeface="Times New Roman"/>
                <a:cs typeface="Times New Roman"/>
                <a:sym typeface="Times New Roman"/>
              </a:defRPr>
            </a:pPr>
            <a:r>
              <a:t>ELEMENTO OGGETTIVO</a:t>
            </a:r>
            <a:r>
              <a:rPr b="0" u="none"/>
              <a:t>: è lo stesso del furto </a:t>
            </a:r>
            <a:r>
              <a:rPr b="0">
                <a:solidFill>
                  <a:srgbClr val="FF0000"/>
                </a:solidFill>
              </a:rPr>
              <a:t>(sottrazione e impossessamento)</a:t>
            </a:r>
            <a:r>
              <a:rPr b="0" u="none"/>
              <a:t> con l’aggiunta dell’elemento della </a:t>
            </a:r>
            <a:r>
              <a:rPr b="0">
                <a:solidFill>
                  <a:srgbClr val="FF0000"/>
                </a:solidFill>
              </a:rPr>
              <a:t>violenza</a:t>
            </a:r>
            <a:r>
              <a:rPr b="0" u="none"/>
              <a:t> o </a:t>
            </a:r>
            <a:r>
              <a:rPr b="0">
                <a:solidFill>
                  <a:srgbClr val="FF0000"/>
                </a:solidFill>
              </a:rPr>
              <a:t>minaccia</a:t>
            </a:r>
            <a:r>
              <a:rPr b="0" u="none"/>
              <a:t> alla persona. </a:t>
            </a:r>
          </a:p>
          <a:p>
            <a:pPr algn="just" indent="-342900" marL="342900">
              <a:lnSpc>
                <a:spcPct val="114000"/>
              </a:lnSpc>
              <a:spcBef>
                <a:spcPts val="600"/>
              </a:spcBef>
              <a:buSzPct val="100000"/>
              <a:buFont typeface="Arial"/>
              <a:buChar char="•"/>
              <a:defRPr b="0" sz="2000">
                <a:latin typeface="Times New Roman"/>
                <a:ea typeface="Times New Roman"/>
                <a:cs typeface="Times New Roman"/>
                <a:sym typeface="Times New Roman"/>
              </a:defRPr>
            </a:pPr>
            <a:r>
              <a:t>La </a:t>
            </a:r>
            <a:r>
              <a:rPr b="1">
                <a:solidFill>
                  <a:srgbClr val="0070C0"/>
                </a:solidFill>
              </a:rPr>
              <a:t>violenza</a:t>
            </a:r>
            <a:r>
              <a:t> necessaria ad integrare il reato di cui all’art. 628 c.p. è costituita da ogni </a:t>
            </a:r>
            <a:r>
              <a:rPr b="1" u="sng"/>
              <a:t>energia fisica adoperata dall’agente verso la persona offesa al fine di annullarne o limitarne la capacità di autodeterminazione</a:t>
            </a:r>
            <a:r>
              <a:rPr u="sng"/>
              <a:t>.</a:t>
            </a:r>
            <a:r>
              <a:t> La violenza può essere commessa anche verso una persona diversa dal detentore della cosa, purché tra detta violenza e l’impossessamento della cosa vi sia un nesso di causalità (Cass. 10-04-2015, n. 14901). </a:t>
            </a:r>
          </a:p>
          <a:p>
            <a:pPr algn="just" indent="-342900" marL="342900">
              <a:lnSpc>
                <a:spcPct val="114000"/>
              </a:lnSpc>
              <a:spcBef>
                <a:spcPts val="600"/>
              </a:spcBef>
              <a:buSzPct val="100000"/>
              <a:buFont typeface="Arial"/>
              <a:buChar char="•"/>
              <a:defRPr b="0" sz="2000">
                <a:latin typeface="Times New Roman"/>
                <a:ea typeface="Times New Roman"/>
                <a:cs typeface="Times New Roman"/>
                <a:sym typeface="Times New Roman"/>
              </a:defRPr>
            </a:pPr>
            <a:r>
              <a:t>Con </a:t>
            </a:r>
            <a:r>
              <a:rPr b="1">
                <a:solidFill>
                  <a:srgbClr val="0070C0"/>
                </a:solidFill>
              </a:rPr>
              <a:t>minaccia</a:t>
            </a:r>
            <a:r>
              <a:t> si intende, invece, una </a:t>
            </a:r>
            <a:r>
              <a:rPr b="1" u="sng"/>
              <a:t>prospettazione di un male futuro e ingiusto, dipendente dalla volontà di chi minaccia</a:t>
            </a:r>
            <a:r>
              <a:rPr u="sng"/>
              <a:t>.</a:t>
            </a:r>
          </a:p>
        </p:txBody>
      </p:sp>
      <p:pic>
        <p:nvPicPr>
          <p:cNvPr descr="Immagine 6" id="276"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277"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Rapina</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Rettangolo 4"/>
          <p:cNvSpPr txBox="1"/>
          <p:nvPr/>
        </p:nvSpPr>
        <p:spPr>
          <a:xfrm>
            <a:off x="203901" y="980727"/>
            <a:ext cx="8736198" cy="56205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600"/>
              </a:spcBef>
              <a:defRPr b="0" sz="2200">
                <a:latin typeface="Times New Roman"/>
                <a:ea typeface="Times New Roman"/>
                <a:cs typeface="Times New Roman"/>
                <a:sym typeface="Times New Roman"/>
              </a:defRPr>
            </a:pPr>
            <a:r>
              <a:rPr dirty="0"/>
              <a:t>Nel </a:t>
            </a:r>
            <a:r>
              <a:rPr dirty="0" err="1"/>
              <a:t>delitto</a:t>
            </a:r>
            <a:r>
              <a:rPr dirty="0"/>
              <a:t> di </a:t>
            </a:r>
            <a:r>
              <a:rPr dirty="0" err="1"/>
              <a:t>rapina</a:t>
            </a:r>
            <a:r>
              <a:rPr dirty="0"/>
              <a:t> </a:t>
            </a:r>
            <a:r>
              <a:rPr dirty="0" err="1"/>
              <a:t>il</a:t>
            </a:r>
            <a:r>
              <a:rPr dirty="0"/>
              <a:t> </a:t>
            </a:r>
            <a:r>
              <a:rPr b="1" dirty="0" u="sng">
                <a:solidFill>
                  <a:srgbClr val="FF0000"/>
                </a:solidFill>
              </a:rPr>
              <a:t>PROFITTO</a:t>
            </a:r>
            <a:r>
              <a:rPr dirty="0"/>
              <a:t> </a:t>
            </a:r>
            <a:r>
              <a:rPr dirty="0" err="1"/>
              <a:t>può</a:t>
            </a:r>
            <a:r>
              <a:rPr dirty="0"/>
              <a:t> </a:t>
            </a:r>
            <a:r>
              <a:rPr dirty="0" err="1"/>
              <a:t>concretarsi</a:t>
            </a:r>
            <a:r>
              <a:rPr dirty="0"/>
              <a:t> in </a:t>
            </a:r>
            <a:r>
              <a:rPr dirty="0" err="1" u="sng"/>
              <a:t>ogni</a:t>
            </a:r>
            <a:r>
              <a:rPr dirty="0" u="sng"/>
              <a:t> </a:t>
            </a:r>
            <a:r>
              <a:rPr dirty="0" err="1" u="sng"/>
              <a:t>utilità</a:t>
            </a:r>
            <a:r>
              <a:rPr dirty="0" u="sng"/>
              <a:t>,</a:t>
            </a:r>
            <a:r>
              <a:rPr altLang="it-IT" dirty="0" lang="it-IT" u="sng"/>
              <a:t> </a:t>
            </a:r>
            <a:r>
              <a:rPr dirty="0" err="1" u="sng"/>
              <a:t>nonché</a:t>
            </a:r>
            <a:r>
              <a:rPr dirty="0" u="sng"/>
              <a:t> in </a:t>
            </a:r>
            <a:r>
              <a:rPr dirty="0" err="1" u="sng"/>
              <a:t>qualsiasi</a:t>
            </a:r>
            <a:r>
              <a:rPr dirty="0" u="sng"/>
              <a:t> </a:t>
            </a:r>
            <a:r>
              <a:rPr dirty="0" err="1" u="sng"/>
              <a:t>soddisfazione</a:t>
            </a:r>
            <a:r>
              <a:rPr dirty="0" u="sng"/>
              <a:t> o </a:t>
            </a:r>
            <a:r>
              <a:rPr dirty="0" err="1" u="sng"/>
              <a:t>godimento</a:t>
            </a:r>
            <a:r>
              <a:rPr dirty="0" u="sng"/>
              <a:t> </a:t>
            </a:r>
            <a:r>
              <a:rPr dirty="0" err="1" u="sng"/>
              <a:t>che</a:t>
            </a:r>
            <a:r>
              <a:rPr dirty="0" u="sng"/>
              <a:t> </a:t>
            </a:r>
            <a:r>
              <a:rPr dirty="0" err="1" u="sng"/>
              <a:t>l’agente</a:t>
            </a:r>
            <a:r>
              <a:rPr dirty="0" u="sng"/>
              <a:t> </a:t>
            </a:r>
            <a:r>
              <a:rPr dirty="0" err="1" u="sng"/>
              <a:t>si</a:t>
            </a:r>
            <a:r>
              <a:rPr dirty="0" u="sng"/>
              <a:t> </a:t>
            </a:r>
            <a:r>
              <a:rPr dirty="0" err="1" u="sng"/>
              <a:t>prometta</a:t>
            </a:r>
            <a:r>
              <a:rPr dirty="0" u="sng"/>
              <a:t> di </a:t>
            </a:r>
            <a:r>
              <a:rPr dirty="0" err="1" u="sng"/>
              <a:t>ritrarre</a:t>
            </a:r>
            <a:r>
              <a:rPr dirty="0" u="sng"/>
              <a:t>, </a:t>
            </a:r>
            <a:r>
              <a:rPr dirty="0" err="1" u="sng"/>
              <a:t>anche</a:t>
            </a:r>
            <a:r>
              <a:rPr dirty="0" u="sng"/>
              <a:t> non </a:t>
            </a:r>
            <a:r>
              <a:rPr dirty="0" err="1" u="sng"/>
              <a:t>immediatamente</a:t>
            </a:r>
            <a:r>
              <a:rPr dirty="0" u="sng"/>
              <a:t>.</a:t>
            </a:r>
          </a:p>
          <a:p>
            <a:pPr algn="just">
              <a:lnSpc>
                <a:spcPct val="114000"/>
              </a:lnSpc>
              <a:spcBef>
                <a:spcPts val="600"/>
              </a:spcBef>
              <a:defRPr b="0" sz="2200" u="sng">
                <a:latin typeface="Times New Roman"/>
                <a:ea typeface="Times New Roman"/>
                <a:cs typeface="Times New Roman"/>
                <a:sym typeface="Times New Roman"/>
              </a:defRPr>
            </a:pPr>
            <a:endParaRPr dirty="0" u="sng"/>
          </a:p>
          <a:p>
            <a:pPr algn="just">
              <a:lnSpc>
                <a:spcPct val="114000"/>
              </a:lnSpc>
              <a:spcBef>
                <a:spcPts val="600"/>
              </a:spcBef>
              <a:defRPr b="0" sz="1000" u="sng">
                <a:latin typeface="Times New Roman"/>
                <a:ea typeface="Times New Roman"/>
                <a:cs typeface="Times New Roman"/>
                <a:sym typeface="Times New Roman"/>
              </a:defRPr>
            </a:pPr>
            <a:endParaRPr dirty="0" u="sng"/>
          </a:p>
          <a:p>
            <a:pPr algn="just">
              <a:lnSpc>
                <a:spcPct val="114000"/>
              </a:lnSpc>
              <a:spcBef>
                <a:spcPts val="600"/>
              </a:spcBef>
              <a:defRPr sz="2200" u="sng">
                <a:latin typeface="Times New Roman"/>
                <a:ea typeface="Times New Roman"/>
                <a:cs typeface="Times New Roman"/>
                <a:sym typeface="Times New Roman"/>
              </a:defRPr>
            </a:pPr>
            <a:r>
              <a:rPr dirty="0"/>
              <a:t>ELEMENTO SOGGETTIVO</a:t>
            </a:r>
            <a:r>
              <a:rPr b="0" dirty="0" u="none"/>
              <a:t>: è </a:t>
            </a:r>
            <a:r>
              <a:rPr b="0" dirty="0" err="1" u="none"/>
              <a:t>il</a:t>
            </a:r>
            <a:r>
              <a:rPr b="0" dirty="0" u="none"/>
              <a:t> </a:t>
            </a:r>
            <a:r>
              <a:rPr dirty="0" u="none">
                <a:solidFill>
                  <a:srgbClr val="0070C0"/>
                </a:solidFill>
              </a:rPr>
              <a:t>DOLO SPECIFICO</a:t>
            </a:r>
            <a:r>
              <a:rPr b="0" dirty="0" u="none">
                <a:solidFill>
                  <a:srgbClr val="0070C0"/>
                </a:solidFill>
              </a:rPr>
              <a:t> </a:t>
            </a:r>
            <a:r>
              <a:rPr b="0" dirty="0" err="1" u="none"/>
              <a:t>costituito</a:t>
            </a:r>
            <a:r>
              <a:rPr b="0" dirty="0" u="none"/>
              <a:t> </a:t>
            </a:r>
            <a:r>
              <a:rPr b="0" dirty="0" err="1" u="none"/>
              <a:t>dalla</a:t>
            </a:r>
            <a:r>
              <a:rPr b="0" dirty="0" u="none"/>
              <a:t> </a:t>
            </a:r>
            <a:r>
              <a:rPr b="0" dirty="0" err="1" u="none"/>
              <a:t>volontà</a:t>
            </a:r>
            <a:r>
              <a:rPr b="0" dirty="0" u="none"/>
              <a:t> di </a:t>
            </a:r>
            <a:r>
              <a:rPr b="0" dirty="0" err="1" u="none"/>
              <a:t>procurare</a:t>
            </a:r>
            <a:r>
              <a:rPr b="0" dirty="0" u="none"/>
              <a:t> un </a:t>
            </a:r>
            <a:r>
              <a:rPr dirty="0" err="1" u="none">
                <a:solidFill>
                  <a:srgbClr val="0070C0"/>
                </a:solidFill>
              </a:rPr>
              <a:t>ingiusto</a:t>
            </a:r>
            <a:r>
              <a:rPr dirty="0" u="none">
                <a:solidFill>
                  <a:srgbClr val="0070C0"/>
                </a:solidFill>
              </a:rPr>
              <a:t> </a:t>
            </a:r>
            <a:r>
              <a:rPr dirty="0" err="1" u="none">
                <a:solidFill>
                  <a:srgbClr val="0070C0"/>
                </a:solidFill>
              </a:rPr>
              <a:t>profitto</a:t>
            </a:r>
            <a:r>
              <a:rPr b="0" dirty="0" u="none"/>
              <a:t>. </a:t>
            </a:r>
          </a:p>
          <a:p>
            <a:pPr algn="just">
              <a:lnSpc>
                <a:spcPct val="114000"/>
              </a:lnSpc>
              <a:spcBef>
                <a:spcPts val="600"/>
              </a:spcBef>
              <a:defRPr b="0" sz="800">
                <a:latin typeface="Times New Roman"/>
                <a:ea typeface="Times New Roman"/>
                <a:cs typeface="Times New Roman"/>
                <a:sym typeface="Times New Roman"/>
              </a:defRPr>
            </a:pPr>
            <a:endParaRPr b="0" dirty="0" u="none"/>
          </a:p>
          <a:p>
            <a:pPr algn="just">
              <a:lnSpc>
                <a:spcPct val="114000"/>
              </a:lnSpc>
              <a:spcBef>
                <a:spcPts val="600"/>
              </a:spcBef>
              <a:defRPr b="0" sz="2200">
                <a:latin typeface="Times New Roman"/>
                <a:ea typeface="Times New Roman"/>
                <a:cs typeface="Times New Roman"/>
                <a:sym typeface="Times New Roman"/>
              </a:defRPr>
            </a:pPr>
            <a:r>
              <a:rPr dirty="0"/>
              <a:t>Il </a:t>
            </a:r>
            <a:r>
              <a:rPr b="1" dirty="0" err="1"/>
              <a:t>tentativo</a:t>
            </a:r>
            <a:r>
              <a:rPr b="1" dirty="0"/>
              <a:t> è </a:t>
            </a:r>
            <a:r>
              <a:rPr b="1" dirty="0" err="1"/>
              <a:t>configurabile</a:t>
            </a:r>
            <a:r>
              <a:rPr b="1" dirty="0"/>
              <a:t> </a:t>
            </a:r>
            <a:r>
              <a:rPr dirty="0" err="1"/>
              <a:t>fino</a:t>
            </a:r>
            <a:r>
              <a:rPr dirty="0"/>
              <a:t> al </a:t>
            </a:r>
            <a:r>
              <a:rPr dirty="0" err="1"/>
              <a:t>momento</a:t>
            </a:r>
            <a:r>
              <a:rPr dirty="0"/>
              <a:t> </a:t>
            </a:r>
            <a:r>
              <a:rPr dirty="0" err="1"/>
              <a:t>dell’avvenuto</a:t>
            </a:r>
            <a:r>
              <a:rPr dirty="0"/>
              <a:t> </a:t>
            </a:r>
            <a:r>
              <a:rPr dirty="0" err="1"/>
              <a:t>impossessamento</a:t>
            </a:r>
            <a:r>
              <a:rPr dirty="0"/>
              <a:t> </a:t>
            </a:r>
            <a:r>
              <a:rPr dirty="0" err="1"/>
              <a:t>della</a:t>
            </a:r>
            <a:r>
              <a:rPr dirty="0"/>
              <a:t> </a:t>
            </a:r>
            <a:r>
              <a:rPr dirty="0" err="1"/>
              <a:t>cosa</a:t>
            </a:r>
            <a:r>
              <a:rPr dirty="0"/>
              <a:t> mobile </a:t>
            </a:r>
            <a:r>
              <a:rPr dirty="0" err="1"/>
              <a:t>altrui</a:t>
            </a:r>
            <a:r>
              <a:rPr dirty="0"/>
              <a:t>. Dal </a:t>
            </a:r>
            <a:r>
              <a:rPr dirty="0" err="1"/>
              <a:t>momento</a:t>
            </a:r>
            <a:r>
              <a:rPr dirty="0"/>
              <a:t> in cui la </a:t>
            </a:r>
            <a:r>
              <a:rPr dirty="0" err="1"/>
              <a:t>cosa</a:t>
            </a:r>
            <a:r>
              <a:rPr dirty="0"/>
              <a:t> mobile cade sotto </a:t>
            </a:r>
            <a:r>
              <a:rPr dirty="0" err="1"/>
              <a:t>il</a:t>
            </a:r>
            <a:r>
              <a:rPr dirty="0"/>
              <a:t> </a:t>
            </a:r>
            <a:r>
              <a:rPr dirty="0" err="1"/>
              <a:t>dominio</a:t>
            </a:r>
            <a:r>
              <a:rPr dirty="0"/>
              <a:t> </a:t>
            </a:r>
            <a:r>
              <a:rPr dirty="0" err="1"/>
              <a:t>esclusivo</a:t>
            </a:r>
            <a:r>
              <a:rPr dirty="0"/>
              <a:t> </a:t>
            </a:r>
            <a:r>
              <a:rPr dirty="0" err="1"/>
              <a:t>dell’agente</a:t>
            </a:r>
            <a:r>
              <a:rPr dirty="0"/>
              <a:t>, </a:t>
            </a:r>
            <a:r>
              <a:rPr dirty="0" err="1"/>
              <a:t>il</a:t>
            </a:r>
            <a:r>
              <a:rPr dirty="0"/>
              <a:t> </a:t>
            </a:r>
            <a:r>
              <a:rPr dirty="0" err="1"/>
              <a:t>delitto</a:t>
            </a:r>
            <a:r>
              <a:rPr dirty="0"/>
              <a:t> </a:t>
            </a:r>
            <a:r>
              <a:rPr dirty="0" err="1"/>
              <a:t>può</a:t>
            </a:r>
            <a:r>
              <a:rPr dirty="0"/>
              <a:t> </a:t>
            </a:r>
            <a:r>
              <a:rPr dirty="0" err="1"/>
              <a:t>considerarsi</a:t>
            </a:r>
            <a:r>
              <a:rPr dirty="0"/>
              <a:t> </a:t>
            </a:r>
            <a:r>
              <a:rPr dirty="0" err="1"/>
              <a:t>consumato</a:t>
            </a:r>
            <a:r>
              <a:rPr dirty="0"/>
              <a:t>.</a:t>
            </a:r>
          </a:p>
          <a:p>
            <a:pPr algn="just">
              <a:lnSpc>
                <a:spcPct val="114000"/>
              </a:lnSpc>
              <a:spcBef>
                <a:spcPts val="600"/>
              </a:spcBef>
              <a:defRPr b="0" sz="800">
                <a:latin typeface="Times New Roman"/>
                <a:ea typeface="Times New Roman"/>
                <a:cs typeface="Times New Roman"/>
                <a:sym typeface="Times New Roman"/>
              </a:defRPr>
            </a:pPr>
            <a:endParaRPr dirty="0"/>
          </a:p>
          <a:p>
            <a:pPr algn="just">
              <a:lnSpc>
                <a:spcPct val="114000"/>
              </a:lnSpc>
              <a:spcBef>
                <a:spcPts val="600"/>
              </a:spcBef>
              <a:defRPr b="0" sz="2200">
                <a:latin typeface="Times New Roman"/>
                <a:ea typeface="Times New Roman"/>
                <a:cs typeface="Times New Roman"/>
                <a:sym typeface="Times New Roman"/>
              </a:defRPr>
            </a:pPr>
            <a:r>
              <a:rPr dirty="0" sz="2000"/>
              <a:t>Il </a:t>
            </a:r>
            <a:r>
              <a:rPr dirty="0" err="1" sz="2000"/>
              <a:t>delitto</a:t>
            </a:r>
            <a:r>
              <a:rPr dirty="0" sz="2000"/>
              <a:t> di </a:t>
            </a:r>
            <a:r>
              <a:rPr dirty="0" err="1" sz="2000"/>
              <a:t>rapina</a:t>
            </a:r>
            <a:r>
              <a:rPr dirty="0" sz="2000"/>
              <a:t> è </a:t>
            </a:r>
            <a:r>
              <a:rPr b="1" dirty="0" err="1" sz="2000" u="sng"/>
              <a:t>sempre</a:t>
            </a:r>
            <a:r>
              <a:rPr b="1" dirty="0" sz="2000" u="sng"/>
              <a:t> </a:t>
            </a:r>
            <a:r>
              <a:rPr b="1" dirty="0" err="1" sz="2000" u="sng"/>
              <a:t>procedibile</a:t>
            </a:r>
            <a:r>
              <a:rPr b="1" dirty="0" sz="2000" u="sng"/>
              <a:t> </a:t>
            </a:r>
            <a:r>
              <a:rPr b="1" dirty="0" err="1" sz="2000" u="sng"/>
              <a:t>d’ufficio</a:t>
            </a:r>
            <a:r>
              <a:rPr dirty="0" sz="2000"/>
              <a:t> e, ai </a:t>
            </a:r>
            <a:r>
              <a:rPr dirty="0" err="1" sz="2000"/>
              <a:t>sensi</a:t>
            </a:r>
            <a:r>
              <a:rPr dirty="0" sz="2000"/>
              <a:t> </a:t>
            </a:r>
            <a:r>
              <a:rPr dirty="0" err="1" sz="2000"/>
              <a:t>dell’articolo</a:t>
            </a:r>
            <a:r>
              <a:rPr dirty="0" sz="2000"/>
              <a:t> 380, comma 2, </a:t>
            </a:r>
            <a:r>
              <a:rPr dirty="0" err="1" sz="2000"/>
              <a:t>lettera</a:t>
            </a:r>
            <a:r>
              <a:rPr dirty="0" sz="2000"/>
              <a:t> f), è </a:t>
            </a:r>
            <a:r>
              <a:rPr dirty="0" err="1" sz="2000"/>
              <a:t>previsto</a:t>
            </a:r>
            <a:r>
              <a:rPr dirty="0" sz="2000"/>
              <a:t> </a:t>
            </a:r>
            <a:r>
              <a:rPr b="1" dirty="0" err="1" sz="2000" u="sng"/>
              <a:t>l’arresto</a:t>
            </a:r>
            <a:r>
              <a:rPr b="1" dirty="0" sz="2000" u="sng"/>
              <a:t> </a:t>
            </a:r>
            <a:r>
              <a:rPr b="1" dirty="0" err="1" sz="2000" u="sng"/>
              <a:t>obbligatorio</a:t>
            </a:r>
            <a:r>
              <a:rPr b="1" dirty="0" sz="2000" u="sng"/>
              <a:t> in </a:t>
            </a:r>
            <a:r>
              <a:rPr b="1" dirty="0" err="1" sz="2000" u="sng"/>
              <a:t>flagranza</a:t>
            </a:r>
            <a:r>
              <a:rPr b="1" dirty="0" sz="2000" u="sng"/>
              <a:t> di </a:t>
            </a:r>
            <a:r>
              <a:rPr b="1" dirty="0" err="1" sz="2000" u="sng"/>
              <a:t>reato</a:t>
            </a:r>
            <a:r>
              <a:rPr b="1" dirty="0" sz="2000" u="sng"/>
              <a:t>.</a:t>
            </a:r>
          </a:p>
        </p:txBody>
      </p:sp>
      <p:pic>
        <p:nvPicPr>
          <p:cNvPr descr="Immagine 6" id="280"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281"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Rapina</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Rettangolo 4"/>
          <p:cNvSpPr txBox="1"/>
          <p:nvPr/>
        </p:nvSpPr>
        <p:spPr>
          <a:xfrm>
            <a:off x="311912" y="1679860"/>
            <a:ext cx="4106357" cy="49831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600"/>
              </a:spcBef>
              <a:defRPr sz="2200">
                <a:solidFill>
                  <a:srgbClr val="0070C0"/>
                </a:solidFill>
                <a:latin typeface="Times New Roman"/>
                <a:ea typeface="Times New Roman"/>
                <a:cs typeface="Times New Roman"/>
                <a:sym typeface="Times New Roman"/>
              </a:defRPr>
            </a:pPr>
            <a:r>
              <a:t>RAPINA PROPRIA </a:t>
            </a:r>
            <a:r>
              <a:rPr b="0">
                <a:solidFill>
                  <a:srgbClr val="000000"/>
                </a:solidFill>
              </a:rPr>
              <a:t>si caratterizza per il fatto che la </a:t>
            </a:r>
            <a:r>
              <a:rPr>
                <a:solidFill>
                  <a:srgbClr val="000000"/>
                </a:solidFill>
              </a:rPr>
              <a:t>violenza o minaccia sono </a:t>
            </a:r>
            <a:r>
              <a:t>funzionali alla sottrazione</a:t>
            </a:r>
            <a:r>
              <a:rPr b="0">
                <a:solidFill>
                  <a:srgbClr val="000000"/>
                </a:solidFill>
              </a:rPr>
              <a:t> e dunque ad essa </a:t>
            </a:r>
            <a:r>
              <a:t>precedenti o comunque concomitanti</a:t>
            </a:r>
            <a:r>
              <a:rPr b="0">
                <a:solidFill>
                  <a:srgbClr val="000000"/>
                </a:solidFill>
              </a:rPr>
              <a:t>: la violenza/minaccia costituiscono il mezzo tramite il quale il soggetto attivo ha sottratto la cosa mobile. </a:t>
            </a:r>
          </a:p>
          <a:p>
            <a:pPr algn="just">
              <a:lnSpc>
                <a:spcPct val="114000"/>
              </a:lnSpc>
              <a:spcBef>
                <a:spcPts val="600"/>
              </a:spcBef>
              <a:defRPr b="0" i="1" sz="2200">
                <a:latin typeface="Times New Roman"/>
                <a:ea typeface="Times New Roman"/>
                <a:cs typeface="Times New Roman"/>
                <a:sym typeface="Times New Roman"/>
              </a:defRPr>
            </a:pPr>
            <a:r>
              <a:t>Es. Tizio che spinge Caio e mentre questo è a terra gli prende lo zaino (sottrazione) e si dà alla fuga (impossessamento).</a:t>
            </a:r>
          </a:p>
        </p:txBody>
      </p:sp>
      <p:pic>
        <p:nvPicPr>
          <p:cNvPr descr="Immagine 6" id="284"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285"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Rapina</a:t>
            </a:r>
          </a:p>
        </p:txBody>
      </p:sp>
      <p:sp>
        <p:nvSpPr>
          <p:cNvPr id="286" name="Rettangolo 7"/>
          <p:cNvSpPr txBox="1"/>
          <p:nvPr/>
        </p:nvSpPr>
        <p:spPr>
          <a:xfrm>
            <a:off x="4743101" y="1679861"/>
            <a:ext cx="4106357" cy="46083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600"/>
              </a:spcBef>
              <a:defRPr sz="2200">
                <a:solidFill>
                  <a:srgbClr val="0070C0"/>
                </a:solidFill>
                <a:latin typeface="Times New Roman"/>
                <a:ea typeface="Times New Roman"/>
                <a:cs typeface="Times New Roman"/>
                <a:sym typeface="Times New Roman"/>
              </a:defRPr>
            </a:pPr>
            <a:r>
              <a:t>RAPINA IMPROPRIA </a:t>
            </a:r>
            <a:r>
              <a:rPr b="0">
                <a:solidFill>
                  <a:srgbClr val="000000"/>
                </a:solidFill>
              </a:rPr>
              <a:t>invece si caratterizza perché </a:t>
            </a:r>
            <a:r>
              <a:rPr>
                <a:solidFill>
                  <a:srgbClr val="000000"/>
                </a:solidFill>
              </a:rPr>
              <a:t>la violenza o la minaccia è immediatamente </a:t>
            </a:r>
            <a:r>
              <a:t>successiva</a:t>
            </a:r>
            <a:r>
              <a:rPr>
                <a:solidFill>
                  <a:srgbClr val="000000"/>
                </a:solidFill>
              </a:rPr>
              <a:t> </a:t>
            </a:r>
            <a:r>
              <a:t>alla sottrazione della cosa</a:t>
            </a:r>
            <a:r>
              <a:rPr b="0">
                <a:solidFill>
                  <a:srgbClr val="000000"/>
                </a:solidFill>
              </a:rPr>
              <a:t> e persegue l’obiettivo di </a:t>
            </a:r>
            <a:r>
              <a:t>assicurare al reo il possesso della cosa sottratta o l’impunità</a:t>
            </a:r>
            <a:r>
              <a:rPr b="0">
                <a:solidFill>
                  <a:srgbClr val="000000"/>
                </a:solidFill>
              </a:rPr>
              <a:t>. </a:t>
            </a:r>
          </a:p>
          <a:p>
            <a:pPr algn="just">
              <a:lnSpc>
                <a:spcPct val="114000"/>
              </a:lnSpc>
              <a:spcBef>
                <a:spcPts val="600"/>
              </a:spcBef>
              <a:defRPr b="0" i="1" sz="2200">
                <a:latin typeface="Times New Roman"/>
                <a:ea typeface="Times New Roman"/>
                <a:cs typeface="Times New Roman"/>
                <a:sym typeface="Times New Roman"/>
              </a:defRPr>
            </a:pPr>
            <a:r>
              <a:t>Es. Tizio che prende lo zaino di Caio mentre questo è distratto, ma poi, una volta sorpreso, tira a Caio un pugno per impedirgli di riprendersi la cosa sottratta.</a:t>
            </a:r>
          </a:p>
        </p:txBody>
      </p:sp>
      <p:sp>
        <p:nvSpPr>
          <p:cNvPr id="287" name="Rettangolo 1"/>
          <p:cNvSpPr txBox="1"/>
          <p:nvPr/>
        </p:nvSpPr>
        <p:spPr>
          <a:xfrm>
            <a:off x="1487534" y="1060653"/>
            <a:ext cx="6115456" cy="4213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wrap="none">
            <a:spAutoFit/>
          </a:bodyPr>
          <a:lstStyle>
            <a:lvl1pPr algn="just">
              <a:lnSpc>
                <a:spcPct val="114000"/>
              </a:lnSpc>
              <a:spcBef>
                <a:spcPts val="600"/>
              </a:spcBef>
              <a:defRPr sz="2400">
                <a:solidFill>
                  <a:srgbClr val="0070C0"/>
                </a:solidFill>
                <a:latin typeface="Times New Roman"/>
                <a:ea typeface="Times New Roman"/>
                <a:cs typeface="Times New Roman"/>
                <a:sym typeface="Times New Roman"/>
              </a:defRPr>
            </a:lvl1pPr>
          </a:lstStyle>
          <a:p>
            <a:r>
              <a:t>RAPINA PROPRIA E RAPINA IMPROPRIA</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CasellaDiTesto 1"/>
          <p:cNvSpPr txBox="1"/>
          <p:nvPr/>
        </p:nvSpPr>
        <p:spPr>
          <a:xfrm>
            <a:off x="229859" y="980727"/>
            <a:ext cx="8684281" cy="36932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indent="-1797050" marL="1797050">
              <a:lnSpc>
                <a:spcPct val="114000"/>
              </a:lnSpc>
              <a:spcBef>
                <a:spcPts val="600"/>
              </a:spcBef>
              <a:defRPr sz="2400">
                <a:solidFill>
                  <a:srgbClr val="31859C"/>
                </a:solidFill>
                <a:latin typeface="Book Antiqua"/>
                <a:ea typeface="Book Antiqua"/>
                <a:cs typeface="Book Antiqua"/>
                <a:sym typeface="Book Antiqua"/>
              </a:defRPr>
            </a:pPr>
            <a:r>
              <a:t>Art. 629 c.p. Estorsione</a:t>
            </a:r>
            <a:endParaRPr>
              <a:latin typeface="Times New Roman"/>
              <a:ea typeface="Times New Roman"/>
              <a:cs typeface="Times New Roman"/>
              <a:sym typeface="Times New Roman"/>
            </a:endParaRPr>
          </a:p>
          <a:p>
            <a:pPr algn="just">
              <a:lnSpc>
                <a:spcPct val="114000"/>
              </a:lnSpc>
              <a:spcBef>
                <a:spcPts val="600"/>
              </a:spcBef>
              <a:defRPr b="0" sz="2200">
                <a:latin typeface="Book Antiqua"/>
                <a:ea typeface="Book Antiqua"/>
                <a:cs typeface="Book Antiqua"/>
                <a:sym typeface="Book Antiqua"/>
              </a:defRPr>
            </a:pPr>
            <a:r>
              <a:t>«</a:t>
            </a:r>
            <a:r>
              <a:rPr i="1"/>
              <a:t>Chiunque, </a:t>
            </a:r>
            <a:r>
              <a:rPr b="1" i="1">
                <a:solidFill>
                  <a:srgbClr val="31859C"/>
                </a:solidFill>
              </a:rPr>
              <a:t>mediante violenza o minaccia</a:t>
            </a:r>
            <a:r>
              <a:rPr i="1"/>
              <a:t>, </a:t>
            </a:r>
            <a:r>
              <a:rPr b="1" i="1">
                <a:solidFill>
                  <a:srgbClr val="31859C"/>
                </a:solidFill>
              </a:rPr>
              <a:t>costringendo taluno a fare o ad omettere qualche cosa</a:t>
            </a:r>
            <a:r>
              <a:rPr i="1"/>
              <a:t>, </a:t>
            </a:r>
            <a:r>
              <a:rPr b="1" i="1">
                <a:solidFill>
                  <a:srgbClr val="31859C"/>
                </a:solidFill>
              </a:rPr>
              <a:t>procura a sé o ad altri un ingiusto profitto con altrui danno</a:t>
            </a:r>
            <a:r>
              <a:rPr i="1"/>
              <a:t>, è punito con la reclusione da cinque a dieci anni e con la multa da euro 1.000 a euro 4.000.</a:t>
            </a:r>
            <a:endParaRPr>
              <a:latin typeface="Times New Roman"/>
              <a:ea typeface="Times New Roman"/>
              <a:cs typeface="Times New Roman"/>
              <a:sym typeface="Times New Roman"/>
            </a:endParaRPr>
          </a:p>
          <a:p>
            <a:pPr algn="just">
              <a:lnSpc>
                <a:spcPct val="114000"/>
              </a:lnSpc>
              <a:spcBef>
                <a:spcPts val="600"/>
              </a:spcBef>
              <a:defRPr b="0" i="1" sz="2200">
                <a:latin typeface="Book Antiqua"/>
                <a:ea typeface="Book Antiqua"/>
                <a:cs typeface="Book Antiqua"/>
                <a:sym typeface="Book Antiqua"/>
              </a:defRPr>
            </a:pPr>
            <a:r>
              <a:t>La pena è della reclusione da sette a venti anni e della multa da euro 5.000 a euro 15.000, se concorre taluna delle circostanze indicate nell'ultimo capoverso dell'articolo precedente (Rapina)».</a:t>
            </a:r>
            <a:endParaRPr>
              <a:latin typeface="Times New Roman"/>
              <a:ea typeface="Times New Roman"/>
              <a:cs typeface="Times New Roman"/>
              <a:sym typeface="Times New Roman"/>
            </a:endParaRPr>
          </a:p>
        </p:txBody>
      </p:sp>
      <p:pic>
        <p:nvPicPr>
          <p:cNvPr descr="Immagine 3" id="290" name="Immagine 3"/>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291"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Estorsione</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Estorsione"/>
          <p:cNvSpPr txBox="1">
            <a:spLocks noGrp="1"/>
          </p:cNvSpPr>
          <p:nvPr>
            <p:ph type="title"/>
          </p:nvPr>
        </p:nvSpPr>
        <p:spPr>
          <a:xfrm>
            <a:off x="781757" y="-125246"/>
            <a:ext cx="7905044" cy="1137854"/>
          </a:xfrm>
          <a:prstGeom prst="rect">
            <a:avLst/>
          </a:prstGeom>
        </p:spPr>
        <p:txBody>
          <a:bodyPr numCol="1"/>
          <a:lstStyle>
            <a:lvl1pPr algn="l">
              <a:defRPr sz="3200">
                <a:solidFill>
                  <a:srgbClr val="FFFFFF"/>
                </a:solidFill>
                <a:latin typeface="Book Antiqua"/>
                <a:ea typeface="Book Antiqua"/>
                <a:cs typeface="Book Antiqua"/>
                <a:sym typeface="Book Antiqua"/>
              </a:defRPr>
            </a:lvl1pPr>
          </a:lstStyle>
          <a:p>
            <a:r>
              <a:t>Estorsione</a:t>
            </a:r>
          </a:p>
        </p:txBody>
      </p:sp>
      <p:sp>
        <p:nvSpPr>
          <p:cNvPr id="294" name="L’estorsione è un REATO COMUNE, in quanto può essere commesso da chiunque.…"/>
          <p:cNvSpPr txBox="1">
            <a:spLocks noGrp="1"/>
          </p:cNvSpPr>
          <p:nvPr>
            <p:ph idx="1" type="body"/>
          </p:nvPr>
        </p:nvSpPr>
        <p:spPr>
          <a:xfrm>
            <a:off x="457200" y="1600200"/>
            <a:ext cx="8229600" cy="4525963"/>
          </a:xfrm>
          <a:prstGeom prst="rect">
            <a:avLst/>
          </a:prstGeom>
        </p:spPr>
        <p:txBody>
          <a:bodyPr numCol="1"/>
          <a:lstStyle/>
          <a:p>
            <a:pPr algn="just" indent="0" marL="0">
              <a:lnSpc>
                <a:spcPct val="114000"/>
              </a:lnSpc>
              <a:spcBef>
                <a:spcPts val="600"/>
              </a:spcBef>
              <a:buSzTx/>
              <a:buNone/>
              <a:defRPr sz="2200">
                <a:latin typeface="Book Antiqua"/>
                <a:ea typeface="Book Antiqua"/>
                <a:cs typeface="Book Antiqua"/>
                <a:sym typeface="Book Antiqua"/>
              </a:defRPr>
            </a:pPr>
            <a:r>
              <a:t>L’estorsione è un </a:t>
            </a:r>
            <a:r>
              <a:rPr b="1">
                <a:solidFill>
                  <a:srgbClr val="31859C"/>
                </a:solidFill>
              </a:rPr>
              <a:t>REATO COMUNE</a:t>
            </a:r>
            <a:r>
              <a:t>, in quanto può essere commesso da chiunque. </a:t>
            </a:r>
          </a:p>
          <a:p>
            <a:pPr algn="just" indent="0" marL="0">
              <a:lnSpc>
                <a:spcPct val="114000"/>
              </a:lnSpc>
              <a:spcBef>
                <a:spcPts val="600"/>
              </a:spcBef>
              <a:buSzTx/>
              <a:buNone/>
              <a:defRPr sz="2200">
                <a:latin typeface="Book Antiqua"/>
                <a:ea typeface="Book Antiqua"/>
                <a:cs typeface="Book Antiqua"/>
                <a:sym typeface="Book Antiqua"/>
              </a:defRPr>
            </a:pPr>
            <a:r>
              <a:t>BADA BENE — se commesso da un Pubblico Ufficiale, integra il reato concussione (art.317), sempre che vi sia abuso dei poteri.</a:t>
            </a:r>
          </a:p>
          <a:p>
            <a:pPr algn="just" indent="0" marL="0">
              <a:lnSpc>
                <a:spcPct val="114000"/>
              </a:lnSpc>
              <a:spcBef>
                <a:spcPts val="600"/>
              </a:spcBef>
              <a:buSzTx/>
              <a:buNone/>
              <a:defRPr sz="2200">
                <a:latin typeface="Book Antiqua"/>
                <a:ea typeface="Book Antiqua"/>
                <a:cs typeface="Book Antiqua"/>
                <a:sym typeface="Book Antiqua"/>
              </a:defRPr>
            </a:pPr>
            <a:endParaRPr/>
          </a:p>
          <a:p>
            <a:pPr algn="just" indent="0" marL="0">
              <a:lnSpc>
                <a:spcPct val="114000"/>
              </a:lnSpc>
              <a:spcBef>
                <a:spcPts val="600"/>
              </a:spcBef>
              <a:buSzTx/>
              <a:buNone/>
              <a:defRPr sz="2200">
                <a:latin typeface="Times New Roman"/>
                <a:ea typeface="Times New Roman"/>
                <a:cs typeface="Times New Roman"/>
                <a:sym typeface="Times New Roman"/>
              </a:defRPr>
            </a:pPr>
            <a:endParaRPr/>
          </a:p>
          <a:p>
            <a:pPr algn="just" indent="0" marL="0">
              <a:lnSpc>
                <a:spcPct val="114000"/>
              </a:lnSpc>
              <a:spcBef>
                <a:spcPts val="600"/>
              </a:spcBef>
              <a:buSzTx/>
              <a:buNone/>
              <a:defRPr sz="2200">
                <a:latin typeface="Book Antiqua"/>
                <a:ea typeface="Book Antiqua"/>
                <a:cs typeface="Book Antiqua"/>
                <a:sym typeface="Book Antiqua"/>
              </a:defRPr>
            </a:pPr>
            <a:r>
              <a:t>Il delitto è </a:t>
            </a:r>
            <a:r>
              <a:rPr b="1">
                <a:solidFill>
                  <a:srgbClr val="31859C"/>
                </a:solidFill>
              </a:rPr>
              <a:t>PLURIOFFENSIVO</a:t>
            </a:r>
            <a:r>
              <a:t>: nel caso in cui i due interessi lesi (</a:t>
            </a:r>
            <a:r>
              <a:rPr b="1" u="sng"/>
              <a:t>personale</a:t>
            </a:r>
            <a:r>
              <a:t> e </a:t>
            </a:r>
            <a:r>
              <a:rPr b="1" u="sng"/>
              <a:t>patrimoniale</a:t>
            </a:r>
            <a:r>
              <a:t>) dovessero far capo a due soggetti diversi, si avranno due soggetti passivi.</a:t>
            </a:r>
          </a:p>
        </p:txBody>
      </p:sp>
      <p:sp>
        <p:nvSpPr>
          <p:cNvPr id="295" name="Numero diapositiva"/>
          <p:cNvSpPr txBox="1">
            <a:spLocks noGrp="1"/>
          </p:cNvSpPr>
          <p:nvPr>
            <p:ph idx="2147483647" sz="quarter" type="sldNum"/>
          </p:nvPr>
        </p:nvSpPr>
        <p:spPr>
          <a:xfrm>
            <a:off x="8430259" y="6401179"/>
            <a:ext cx="256539" cy="27546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numCol="1"/>
          <a:lstStyle/>
          <a:p>
            <a:fld id="{86CB4B4D-7CA3-9044-876B-883B54F8677D}" type="slidenum">
              <a:t>17</a:t>
            </a:fld>
            <a:endParaRPr/>
          </a:p>
        </p:txBody>
      </p:sp>
      <p:pic>
        <p:nvPicPr>
          <p:cNvPr descr="Immagine 3" id="296" name="Immagine 3"/>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Rettangolo 4"/>
          <p:cNvSpPr txBox="1"/>
          <p:nvPr/>
        </p:nvSpPr>
        <p:spPr>
          <a:xfrm>
            <a:off x="277595" y="980727"/>
            <a:ext cx="8588810" cy="3712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sz="2200" u="sng">
                <a:latin typeface="Times New Roman"/>
                <a:ea typeface="Times New Roman"/>
                <a:cs typeface="Times New Roman"/>
                <a:sym typeface="Times New Roman"/>
              </a:defRPr>
            </a:pPr>
            <a:r>
              <a:t>ELEMENTO OGGETTIVO</a:t>
            </a:r>
            <a:r>
              <a:rPr b="0" u="none"/>
              <a:t>: la condotta incriminata è quella di chi, </a:t>
            </a:r>
            <a:r>
              <a:rPr u="none">
                <a:solidFill>
                  <a:srgbClr val="31859C"/>
                </a:solidFill>
              </a:rPr>
              <a:t>con violenza o minaccia</a:t>
            </a:r>
            <a:r>
              <a:rPr b="0" u="none"/>
              <a:t>, </a:t>
            </a:r>
            <a:r>
              <a:rPr>
                <a:solidFill>
                  <a:srgbClr val="31859C"/>
                </a:solidFill>
              </a:rPr>
              <a:t>COSTRINGA</a:t>
            </a:r>
            <a:r>
              <a:rPr u="none">
                <a:solidFill>
                  <a:srgbClr val="31859C"/>
                </a:solidFill>
              </a:rPr>
              <a:t> taluno </a:t>
            </a:r>
            <a:r>
              <a:rPr>
                <a:solidFill>
                  <a:srgbClr val="31859C"/>
                </a:solidFill>
              </a:rPr>
              <a:t>A FARE OD OMETTERE QUALCOSA</a:t>
            </a:r>
            <a:r>
              <a:rPr b="0" u="none"/>
              <a:t>, </a:t>
            </a:r>
            <a:r>
              <a:rPr u="none">
                <a:solidFill>
                  <a:srgbClr val="31859C"/>
                </a:solidFill>
              </a:rPr>
              <a:t>procurando a sé o ad altri un ingiusto profitto ed arrecando un danno al soggetto passivo</a:t>
            </a:r>
            <a:r>
              <a:rPr b="0" u="none"/>
              <a:t>, inducendo quest’ultimo a delle scelte “obbligate”. </a:t>
            </a:r>
          </a:p>
          <a:p>
            <a:pPr algn="just">
              <a:lnSpc>
                <a:spcPct val="114000"/>
              </a:lnSpc>
              <a:spcBef>
                <a:spcPts val="1200"/>
              </a:spcBef>
              <a:defRPr b="0" sz="2200">
                <a:latin typeface="Times New Roman"/>
                <a:ea typeface="Times New Roman"/>
                <a:cs typeface="Times New Roman"/>
                <a:sym typeface="Times New Roman"/>
              </a:defRPr>
            </a:pPr>
            <a:endParaRPr b="0" u="none"/>
          </a:p>
          <a:p>
            <a:pPr algn="just">
              <a:lnSpc>
                <a:spcPct val="114000"/>
              </a:lnSpc>
              <a:spcBef>
                <a:spcPts val="1200"/>
              </a:spcBef>
              <a:defRPr b="0" i="1" sz="2200">
                <a:latin typeface="Times New Roman"/>
                <a:ea typeface="Times New Roman"/>
                <a:cs typeface="Times New Roman"/>
                <a:sym typeface="Times New Roman"/>
              </a:defRPr>
            </a:pPr>
            <a:r>
              <a:t>Es. costringo il soggetto ad effettuare un atto di disposizione patrimoniale positivo ( donazione di una somma di denaro)  o negativo ( Remissione di un debito).</a:t>
            </a:r>
          </a:p>
        </p:txBody>
      </p:sp>
      <p:pic>
        <p:nvPicPr>
          <p:cNvPr descr="Immagine 6" id="299"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300"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Estorsione</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Estorsione"/>
          <p:cNvSpPr txBox="1">
            <a:spLocks noGrp="1"/>
          </p:cNvSpPr>
          <p:nvPr>
            <p:ph type="title"/>
          </p:nvPr>
        </p:nvSpPr>
        <p:spPr>
          <a:xfrm>
            <a:off x="785993" y="-80814"/>
            <a:ext cx="8229601" cy="1143001"/>
          </a:xfrm>
          <a:prstGeom prst="rect">
            <a:avLst/>
          </a:prstGeom>
        </p:spPr>
        <p:txBody>
          <a:bodyPr numCol="1"/>
          <a:lstStyle>
            <a:lvl1pPr algn="l">
              <a:defRPr sz="3200">
                <a:solidFill>
                  <a:srgbClr val="FFFFFF"/>
                </a:solidFill>
                <a:latin typeface="Book Antiqua"/>
                <a:ea typeface="Book Antiqua"/>
                <a:cs typeface="Book Antiqua"/>
                <a:sym typeface="Book Antiqua"/>
              </a:defRPr>
            </a:lvl1pPr>
          </a:lstStyle>
          <a:p>
            <a:r>
              <a:t>Estorsione</a:t>
            </a:r>
          </a:p>
        </p:txBody>
      </p:sp>
      <p:sp>
        <p:nvSpPr>
          <p:cNvPr id="303" name="ELEMENTO SOGGETTIVO: è il DOLO GENERICO, e non il dolo specifico, dato che il conseguimento del profitto con altrui danno rappresenta l'evento stesso del reato.…"/>
          <p:cNvSpPr txBox="1">
            <a:spLocks noGrp="1"/>
          </p:cNvSpPr>
          <p:nvPr>
            <p:ph idx="1" type="body"/>
          </p:nvPr>
        </p:nvSpPr>
        <p:spPr>
          <a:xfrm>
            <a:off x="457200" y="1600200"/>
            <a:ext cx="8229600" cy="4525963"/>
          </a:xfrm>
          <a:prstGeom prst="rect">
            <a:avLst/>
          </a:prstGeom>
        </p:spPr>
        <p:txBody>
          <a:bodyPr numCol="1"/>
          <a:lstStyle/>
          <a:p>
            <a:pPr algn="just" indent="0" marL="0">
              <a:lnSpc>
                <a:spcPct val="114000"/>
              </a:lnSpc>
              <a:spcBef>
                <a:spcPts val="600"/>
              </a:spcBef>
              <a:buSzTx/>
              <a:buNone/>
              <a:defRPr b="1" sz="2200" u="sng">
                <a:latin typeface="Times New Roman"/>
                <a:ea typeface="Times New Roman"/>
                <a:cs typeface="Times New Roman"/>
                <a:sym typeface="Times New Roman"/>
              </a:defRPr>
            </a:pPr>
            <a:r>
              <a:t>ELEMENTO SOGGETTIVO</a:t>
            </a:r>
            <a:r>
              <a:rPr b="0" u="none"/>
              <a:t>: è il </a:t>
            </a:r>
            <a:r>
              <a:rPr u="none">
                <a:solidFill>
                  <a:srgbClr val="31859C"/>
                </a:solidFill>
              </a:rPr>
              <a:t>DOLO GENERICO, </a:t>
            </a:r>
            <a:r>
              <a:rPr b="0"/>
              <a:t>e non il dolo specifico,</a:t>
            </a:r>
            <a:r>
              <a:rPr b="0" u="none"/>
              <a:t> dato che il </a:t>
            </a:r>
            <a:r>
              <a:rPr u="none">
                <a:solidFill>
                  <a:srgbClr val="31859C"/>
                </a:solidFill>
              </a:rPr>
              <a:t>conseguimento del profitto </a:t>
            </a:r>
            <a:r>
              <a:rPr u="none"/>
              <a:t>con altrui danno rappresenta </a:t>
            </a:r>
            <a:r>
              <a:rPr u="none">
                <a:solidFill>
                  <a:srgbClr val="31859C"/>
                </a:solidFill>
              </a:rPr>
              <a:t>l'evento</a:t>
            </a:r>
            <a:r>
              <a:rPr u="none"/>
              <a:t> stesso del reato. </a:t>
            </a:r>
          </a:p>
          <a:p>
            <a:pPr algn="just" indent="0" marL="0">
              <a:lnSpc>
                <a:spcPct val="114000"/>
              </a:lnSpc>
              <a:spcBef>
                <a:spcPts val="600"/>
              </a:spcBef>
              <a:buSzTx/>
              <a:buNone/>
              <a:defRPr sz="2200">
                <a:latin typeface="Times New Roman"/>
                <a:ea typeface="Times New Roman"/>
                <a:cs typeface="Times New Roman"/>
                <a:sym typeface="Times New Roman"/>
              </a:defRPr>
            </a:pPr>
            <a:r>
              <a:t>Il delitto si consuma nel momento e nel luogo in cui si realizzano l’ingiusto profitto ed il danno patrimoniale (Cass. II 15/12/2010, n. 24353). </a:t>
            </a:r>
          </a:p>
          <a:p>
            <a:pPr algn="just" indent="0" marL="0">
              <a:lnSpc>
                <a:spcPct val="114000"/>
              </a:lnSpc>
              <a:spcBef>
                <a:spcPts val="600"/>
              </a:spcBef>
              <a:buSzTx/>
              <a:buNone/>
              <a:defRPr sz="2200">
                <a:latin typeface="Times New Roman"/>
                <a:ea typeface="Times New Roman"/>
                <a:cs typeface="Times New Roman"/>
                <a:sym typeface="Times New Roman"/>
              </a:defRPr>
            </a:pPr>
            <a:endParaRPr/>
          </a:p>
          <a:p>
            <a:pPr algn="just" indent="0" marL="0">
              <a:lnSpc>
                <a:spcPct val="114000"/>
              </a:lnSpc>
              <a:spcBef>
                <a:spcPts val="600"/>
              </a:spcBef>
              <a:buSzTx/>
              <a:buNone/>
              <a:defRPr sz="2200">
                <a:latin typeface="Times New Roman"/>
                <a:ea typeface="Times New Roman"/>
                <a:cs typeface="Times New Roman"/>
                <a:sym typeface="Times New Roman"/>
              </a:defRPr>
            </a:pPr>
            <a:r>
              <a:t>Il tentativo è configurabile.</a:t>
            </a:r>
          </a:p>
        </p:txBody>
      </p:sp>
      <p:sp>
        <p:nvSpPr>
          <p:cNvPr id="304" name="Numero diapositiva"/>
          <p:cNvSpPr txBox="1">
            <a:spLocks noGrp="1"/>
          </p:cNvSpPr>
          <p:nvPr>
            <p:ph idx="2147483647" sz="quarter" type="sldNum"/>
          </p:nvPr>
        </p:nvSpPr>
        <p:spPr>
          <a:xfrm>
            <a:off x="8430259" y="6401179"/>
            <a:ext cx="256539" cy="27546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numCol="1"/>
          <a:lstStyle/>
          <a:p>
            <a:fld id="{86CB4B4D-7CA3-9044-876B-883B54F8677D}" type="slidenum">
              <a:t>19</a:t>
            </a:fld>
            <a:endParaRPr/>
          </a:p>
        </p:txBody>
      </p:sp>
      <p:pic>
        <p:nvPicPr>
          <p:cNvPr descr="Immagine 3" id="305" name="Immagine 3"/>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Rettangolo 4"/>
          <p:cNvSpPr txBox="1"/>
          <p:nvPr/>
        </p:nvSpPr>
        <p:spPr>
          <a:xfrm>
            <a:off x="311912" y="1679861"/>
            <a:ext cx="8462841" cy="42398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600"/>
              </a:spcBef>
              <a:defRPr b="0" sz="2200">
                <a:latin typeface="Times New Roman"/>
                <a:ea typeface="Times New Roman"/>
                <a:cs typeface="Times New Roman"/>
                <a:sym typeface="Times New Roman"/>
              </a:defRPr>
            </a:pPr>
            <a:r>
              <a:t>Si ha </a:t>
            </a:r>
            <a:r>
              <a:rPr b="1"/>
              <a:t>ESTORSIONE</a:t>
            </a:r>
            <a:r>
              <a:t> e non rapina:</a:t>
            </a:r>
          </a:p>
          <a:p>
            <a:pPr algn="just">
              <a:lnSpc>
                <a:spcPct val="114000"/>
              </a:lnSpc>
              <a:spcBef>
                <a:spcPts val="600"/>
              </a:spcBef>
              <a:defRPr b="0" sz="2200">
                <a:latin typeface="Times New Roman"/>
                <a:ea typeface="Times New Roman"/>
                <a:cs typeface="Times New Roman"/>
                <a:sym typeface="Times New Roman"/>
              </a:defRPr>
            </a:pPr>
            <a:endParaRPr/>
          </a:p>
          <a:p>
            <a:pPr algn="just" indent="-342900" marL="342900">
              <a:lnSpc>
                <a:spcPct val="114000"/>
              </a:lnSpc>
              <a:spcBef>
                <a:spcPts val="600"/>
              </a:spcBef>
              <a:buSzPct val="100000"/>
              <a:buChar char="-"/>
              <a:defRPr b="0" sz="2200">
                <a:latin typeface="Times New Roman"/>
                <a:ea typeface="Times New Roman"/>
                <a:cs typeface="Times New Roman"/>
                <a:sym typeface="Times New Roman"/>
              </a:defRPr>
            </a:pPr>
            <a:r>
              <a:t>nei casi in cui la volontà del </a:t>
            </a:r>
            <a:r>
              <a:rPr u="sng"/>
              <a:t>soggetto passivo</a:t>
            </a:r>
            <a:r>
              <a:t> non è completamente coartata, ma </a:t>
            </a:r>
            <a:r>
              <a:rPr b="1" u="sng">
                <a:solidFill>
                  <a:srgbClr val="31859C"/>
                </a:solidFill>
              </a:rPr>
              <a:t>mantiene un margine di autonomia decisionale</a:t>
            </a:r>
            <a:r>
              <a:rPr u="sng"/>
              <a:t>.</a:t>
            </a:r>
          </a:p>
          <a:p>
            <a:pPr algn="just">
              <a:lnSpc>
                <a:spcPct val="114000"/>
              </a:lnSpc>
              <a:spcBef>
                <a:spcPts val="600"/>
              </a:spcBef>
              <a:defRPr b="0" sz="2200" u="sng">
                <a:latin typeface="Times New Roman"/>
                <a:ea typeface="Times New Roman"/>
                <a:cs typeface="Times New Roman"/>
                <a:sym typeface="Times New Roman"/>
              </a:defRPr>
            </a:pPr>
            <a:endParaRPr u="sng"/>
          </a:p>
          <a:p>
            <a:pPr algn="just" indent="-342900" marL="342900">
              <a:lnSpc>
                <a:spcPct val="114000"/>
              </a:lnSpc>
              <a:spcBef>
                <a:spcPts val="600"/>
              </a:spcBef>
              <a:buSzPct val="100000"/>
              <a:buChar char="-"/>
              <a:defRPr b="0" sz="2200">
                <a:latin typeface="Times New Roman"/>
                <a:ea typeface="Times New Roman"/>
                <a:cs typeface="Times New Roman"/>
                <a:sym typeface="Times New Roman"/>
              </a:defRPr>
            </a:pPr>
            <a:r>
              <a:t>nell’estorsione </a:t>
            </a:r>
            <a:r>
              <a:rPr b="1" u="sng">
                <a:solidFill>
                  <a:srgbClr val="31859C"/>
                </a:solidFill>
              </a:rPr>
              <a:t>la violenza può estrinsecarsi anche contro le cose</a:t>
            </a:r>
            <a:r>
              <a:rPr b="1">
                <a:solidFill>
                  <a:srgbClr val="31859C"/>
                </a:solidFill>
              </a:rPr>
              <a:t> </a:t>
            </a:r>
            <a:r>
              <a:t>mentre </a:t>
            </a:r>
            <a:r>
              <a:rPr b="1"/>
              <a:t>nella rapina la violenza è esercitata contro la persona</a:t>
            </a:r>
            <a:r>
              <a:t>. </a:t>
            </a:r>
          </a:p>
          <a:p>
            <a:pPr algn="just">
              <a:lnSpc>
                <a:spcPct val="114000"/>
              </a:lnSpc>
              <a:spcBef>
                <a:spcPts val="600"/>
              </a:spcBef>
              <a:defRPr b="0" sz="2200">
                <a:latin typeface="Times New Roman"/>
                <a:ea typeface="Times New Roman"/>
                <a:cs typeface="Times New Roman"/>
                <a:sym typeface="Times New Roman"/>
              </a:defRPr>
            </a:pPr>
            <a:endParaRPr/>
          </a:p>
          <a:p>
            <a:pPr algn="just" indent="-342900" marL="342900">
              <a:lnSpc>
                <a:spcPct val="114000"/>
              </a:lnSpc>
              <a:spcBef>
                <a:spcPts val="600"/>
              </a:spcBef>
              <a:buSzPct val="100000"/>
              <a:buChar char="-"/>
              <a:defRPr b="0" sz="2200">
                <a:latin typeface="Times New Roman"/>
                <a:ea typeface="Times New Roman"/>
                <a:cs typeface="Times New Roman"/>
                <a:sym typeface="Times New Roman"/>
              </a:defRPr>
            </a:pPr>
            <a:r>
              <a:t>può avere </a:t>
            </a:r>
            <a:r>
              <a:rPr b="1" u="sng">
                <a:solidFill>
                  <a:srgbClr val="31859C"/>
                </a:solidFill>
              </a:rPr>
              <a:t>per oggetto anche beni immobili o diritti di qualsiasi specie</a:t>
            </a:r>
            <a:r>
              <a:rPr u="sng"/>
              <a:t>,</a:t>
            </a:r>
            <a:r>
              <a:t> mentre </a:t>
            </a:r>
            <a:r>
              <a:rPr b="1"/>
              <a:t>oggetto della rapina è solo il denaro o la cosa mobile</a:t>
            </a:r>
            <a:r>
              <a:t>.</a:t>
            </a:r>
          </a:p>
        </p:txBody>
      </p:sp>
      <p:pic>
        <p:nvPicPr>
          <p:cNvPr descr="Immagine 6" id="308"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309"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Estorsione vs Rapina</a:t>
            </a:r>
          </a:p>
        </p:txBody>
      </p:sp>
      <p:sp>
        <p:nvSpPr>
          <p:cNvPr id="310" name="Rettangolo 1"/>
          <p:cNvSpPr txBox="1"/>
          <p:nvPr/>
        </p:nvSpPr>
        <p:spPr>
          <a:xfrm>
            <a:off x="2748041" y="1060653"/>
            <a:ext cx="3621543" cy="4213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wrap="none">
            <a:spAutoFit/>
          </a:bodyPr>
          <a:lstStyle>
            <a:lvl1pPr algn="just">
              <a:lnSpc>
                <a:spcPct val="114000"/>
              </a:lnSpc>
              <a:spcBef>
                <a:spcPts val="600"/>
              </a:spcBef>
              <a:defRPr sz="2400">
                <a:solidFill>
                  <a:srgbClr val="31859C"/>
                </a:solidFill>
                <a:latin typeface="Times New Roman"/>
                <a:ea typeface="Times New Roman"/>
                <a:cs typeface="Times New Roman"/>
                <a:sym typeface="Times New Roman"/>
              </a:defRPr>
            </a:lvl1pPr>
          </a:lstStyle>
          <a:p>
            <a:r>
              <a:t>ESTORSIONE E RAPINA</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CasellaDiTesto 1"/>
          <p:cNvSpPr txBox="1"/>
          <p:nvPr/>
        </p:nvSpPr>
        <p:spPr>
          <a:xfrm>
            <a:off x="229859" y="980729"/>
            <a:ext cx="8684281" cy="53757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indent="-1797050" marL="1797050">
              <a:lnSpc>
                <a:spcPct val="114000"/>
              </a:lnSpc>
              <a:spcBef>
                <a:spcPts val="600"/>
              </a:spcBef>
              <a:defRPr sz="2400">
                <a:solidFill>
                  <a:srgbClr val="336600"/>
                </a:solidFill>
                <a:latin typeface="Book Antiqua"/>
                <a:ea typeface="Book Antiqua"/>
                <a:cs typeface="Book Antiqua"/>
                <a:sym typeface="Book Antiqua"/>
              </a:defRPr>
            </a:pPr>
            <a:r>
              <a:t>Art. 640 c.p. Truffa</a:t>
            </a:r>
            <a:endParaRPr>
              <a:latin typeface="Times New Roman"/>
              <a:ea typeface="Times New Roman"/>
              <a:cs typeface="Times New Roman"/>
              <a:sym typeface="Times New Roman"/>
            </a:endParaRPr>
          </a:p>
          <a:p>
            <a:pPr algn="just">
              <a:lnSpc>
                <a:spcPct val="114000"/>
              </a:lnSpc>
              <a:spcBef>
                <a:spcPts val="600"/>
              </a:spcBef>
              <a:defRPr b="0" sz="2200">
                <a:latin typeface="Book Antiqua"/>
                <a:ea typeface="Book Antiqua"/>
                <a:cs typeface="Book Antiqua"/>
                <a:sym typeface="Book Antiqua"/>
              </a:defRPr>
            </a:pPr>
            <a:r>
              <a:t>«</a:t>
            </a:r>
            <a:r>
              <a:rPr i="1"/>
              <a:t>Chiunque, </a:t>
            </a:r>
            <a:r>
              <a:rPr b="1" i="1"/>
              <a:t>con </a:t>
            </a:r>
            <a:r>
              <a:rPr b="1" i="1" u="sng"/>
              <a:t>artifizi</a:t>
            </a:r>
            <a:r>
              <a:rPr b="1" i="1"/>
              <a:t> o </a:t>
            </a:r>
            <a:r>
              <a:rPr b="1" i="1" u="sng"/>
              <a:t>raggiri</a:t>
            </a:r>
            <a:r>
              <a:rPr i="1"/>
              <a:t>, </a:t>
            </a:r>
            <a:r>
              <a:rPr b="1" i="1"/>
              <a:t>inducendo taluno in errore, </a:t>
            </a:r>
            <a:r>
              <a:rPr b="1" i="1">
                <a:solidFill>
                  <a:srgbClr val="336600"/>
                </a:solidFill>
              </a:rPr>
              <a:t>procura a sé o ad altri un </a:t>
            </a:r>
            <a:r>
              <a:rPr b="1" i="1" u="sng">
                <a:solidFill>
                  <a:srgbClr val="336600"/>
                </a:solidFill>
              </a:rPr>
              <a:t>ingiusto profitto</a:t>
            </a:r>
            <a:r>
              <a:rPr b="1" i="1">
                <a:solidFill>
                  <a:srgbClr val="336600"/>
                </a:solidFill>
              </a:rPr>
              <a:t> con</a:t>
            </a:r>
            <a:r>
              <a:rPr b="1" i="1" u="sng">
                <a:solidFill>
                  <a:srgbClr val="336600"/>
                </a:solidFill>
              </a:rPr>
              <a:t> altrui danno</a:t>
            </a:r>
            <a:r>
              <a:rPr i="1"/>
              <a:t>, è punito con la reclusione da sei mesi a tre anni e con la multa da 51 euro a 1032 euro.</a:t>
            </a:r>
          </a:p>
          <a:p>
            <a:pPr algn="just">
              <a:lnSpc>
                <a:spcPct val="114000"/>
              </a:lnSpc>
              <a:spcBef>
                <a:spcPts val="600"/>
              </a:spcBef>
              <a:defRPr b="0" sz="2200">
                <a:latin typeface="Times New Roman"/>
                <a:ea typeface="Times New Roman"/>
                <a:cs typeface="Times New Roman"/>
                <a:sym typeface="Times New Roman"/>
              </a:defRPr>
            </a:pPr>
            <a:endParaRPr i="1"/>
          </a:p>
          <a:p>
            <a:pPr algn="just">
              <a:lnSpc>
                <a:spcPct val="114000"/>
              </a:lnSpc>
              <a:defRPr b="0" i="1" sz="1800">
                <a:latin typeface="Book Antiqua"/>
                <a:ea typeface="Book Antiqua"/>
                <a:cs typeface="Book Antiqua"/>
                <a:sym typeface="Book Antiqua"/>
              </a:defRPr>
            </a:pPr>
            <a:r>
              <a:t>La pena è della reclusione da uno a cinque anni e della multa da 309 euro a 1549 euro:</a:t>
            </a:r>
            <a:endParaRPr>
              <a:latin typeface="Times New Roman"/>
              <a:ea typeface="Times New Roman"/>
              <a:cs typeface="Times New Roman"/>
              <a:sym typeface="Times New Roman"/>
            </a:endParaRPr>
          </a:p>
          <a:p>
            <a:pPr algn="just">
              <a:lnSpc>
                <a:spcPct val="114000"/>
              </a:lnSpc>
              <a:defRPr b="0" i="1" sz="2000">
                <a:latin typeface="Book Antiqua"/>
                <a:ea typeface="Book Antiqua"/>
                <a:cs typeface="Book Antiqua"/>
                <a:sym typeface="Book Antiqua"/>
              </a:defRPr>
            </a:pPr>
            <a:r>
              <a:t>1) se il fatto è commesso </a:t>
            </a:r>
            <a:r>
              <a:rPr b="1"/>
              <a:t>a danno dello Stato o di un altro ente pubblico </a:t>
            </a:r>
            <a:r>
              <a:t>o col pretesto di far esonerare taluno dal servizio militare;</a:t>
            </a:r>
            <a:endParaRPr>
              <a:latin typeface="Times New Roman"/>
              <a:ea typeface="Times New Roman"/>
              <a:cs typeface="Times New Roman"/>
              <a:sym typeface="Times New Roman"/>
            </a:endParaRPr>
          </a:p>
          <a:p>
            <a:pPr algn="just">
              <a:lnSpc>
                <a:spcPct val="114000"/>
              </a:lnSpc>
              <a:defRPr b="0" i="1" sz="2000">
                <a:latin typeface="Book Antiqua"/>
                <a:ea typeface="Book Antiqua"/>
                <a:cs typeface="Book Antiqua"/>
                <a:sym typeface="Book Antiqua"/>
              </a:defRPr>
            </a:pPr>
            <a:r>
              <a:t>2) se il fatto è commesso ingenerando nella persona offesa il timore di un </a:t>
            </a:r>
            <a:r>
              <a:rPr b="1"/>
              <a:t>pericolo immaginario o l'erroneo convincimento di dovere eseguire un ordine dell'Autorità</a:t>
            </a:r>
            <a:r>
              <a:t>;</a:t>
            </a:r>
            <a:endParaRPr>
              <a:latin typeface="Times New Roman"/>
              <a:ea typeface="Times New Roman"/>
              <a:cs typeface="Times New Roman"/>
              <a:sym typeface="Times New Roman"/>
            </a:endParaRPr>
          </a:p>
          <a:p>
            <a:pPr algn="just">
              <a:lnSpc>
                <a:spcPct val="114000"/>
              </a:lnSpc>
              <a:spcBef>
                <a:spcPts val="600"/>
              </a:spcBef>
              <a:defRPr b="0" i="1" sz="2000">
                <a:latin typeface="Book Antiqua"/>
                <a:ea typeface="Book Antiqua"/>
                <a:cs typeface="Book Antiqua"/>
                <a:sym typeface="Book Antiqua"/>
              </a:defRPr>
            </a:pPr>
            <a:r>
              <a:t>2-bis) se il fatto è commesso </a:t>
            </a:r>
            <a:r>
              <a:rPr b="1"/>
              <a:t>in presenza della circostanza </a:t>
            </a:r>
            <a:r>
              <a:t>di cui all’art. 61, n. 5).</a:t>
            </a:r>
            <a:endParaRPr>
              <a:latin typeface="Times New Roman"/>
              <a:ea typeface="Times New Roman"/>
              <a:cs typeface="Times New Roman"/>
              <a:sym typeface="Times New Roman"/>
            </a:endParaRPr>
          </a:p>
          <a:p>
            <a:pPr algn="just">
              <a:lnSpc>
                <a:spcPct val="114000"/>
              </a:lnSpc>
              <a:spcBef>
                <a:spcPts val="600"/>
              </a:spcBef>
              <a:defRPr b="0" i="1" sz="2000">
                <a:latin typeface="Book Antiqua"/>
                <a:ea typeface="Book Antiqua"/>
                <a:cs typeface="Book Antiqua"/>
                <a:sym typeface="Book Antiqua"/>
              </a:defRPr>
            </a:pPr>
            <a:r>
              <a:t>Il delitto è punibile </a:t>
            </a:r>
            <a:r>
              <a:rPr b="1"/>
              <a:t>a querela della persona offesa</a:t>
            </a:r>
            <a:r>
              <a:t>, salvo che ricorra taluna delle circostanze previste dal capoverso precedente».</a:t>
            </a:r>
          </a:p>
        </p:txBody>
      </p:sp>
      <p:pic>
        <p:nvPicPr>
          <p:cNvPr descr="Immagine 3" id="313" name="Immagine 3"/>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314"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Truffa</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 name="Rettangolo 4"/>
          <p:cNvSpPr txBox="1"/>
          <p:nvPr/>
        </p:nvSpPr>
        <p:spPr>
          <a:xfrm>
            <a:off x="324041" y="1460588"/>
            <a:ext cx="8495918" cy="34903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b="0" sz="2200">
                <a:latin typeface="Times New Roman"/>
                <a:ea typeface="Times New Roman"/>
                <a:cs typeface="Times New Roman"/>
                <a:sym typeface="Times New Roman"/>
              </a:defRPr>
            </a:pPr>
            <a:r>
              <a:t>La truffa è un </a:t>
            </a:r>
            <a:r>
              <a:rPr b="1">
                <a:solidFill>
                  <a:srgbClr val="336600"/>
                </a:solidFill>
              </a:rPr>
              <a:t>REATO COMUNE</a:t>
            </a:r>
            <a:r>
              <a:t>, per quanto riguarda il </a:t>
            </a:r>
            <a:r>
              <a:rPr b="1" u="sng"/>
              <a:t>soggetto passivo</a:t>
            </a:r>
            <a:r>
              <a:t> è colui che </a:t>
            </a:r>
            <a:r>
              <a:rPr u="sng"/>
              <a:t>subisce il danno patrimoniale</a:t>
            </a:r>
            <a:r>
              <a:t> derivante dall’azione fraudolenta posta in essere dal reo.</a:t>
            </a:r>
          </a:p>
          <a:p>
            <a:pPr algn="just">
              <a:lnSpc>
                <a:spcPct val="114000"/>
              </a:lnSpc>
              <a:spcBef>
                <a:spcPts val="1200"/>
              </a:spcBef>
              <a:defRPr b="0" sz="2200">
                <a:latin typeface="Times New Roman"/>
                <a:ea typeface="Times New Roman"/>
                <a:cs typeface="Times New Roman"/>
                <a:sym typeface="Times New Roman"/>
              </a:defRPr>
            </a:pPr>
            <a:endParaRPr/>
          </a:p>
          <a:p>
            <a:pPr algn="just">
              <a:lnSpc>
                <a:spcPct val="114000"/>
              </a:lnSpc>
              <a:spcBef>
                <a:spcPts val="1200"/>
              </a:spcBef>
              <a:defRPr b="0" sz="2200">
                <a:latin typeface="Times New Roman"/>
                <a:ea typeface="Times New Roman"/>
                <a:cs typeface="Times New Roman"/>
                <a:sym typeface="Times New Roman"/>
              </a:defRPr>
            </a:pPr>
            <a:endParaRPr/>
          </a:p>
          <a:p>
            <a:pPr algn="just">
              <a:lnSpc>
                <a:spcPct val="114000"/>
              </a:lnSpc>
              <a:spcBef>
                <a:spcPts val="1200"/>
              </a:spcBef>
              <a:defRPr sz="2200" u="sng">
                <a:latin typeface="Times New Roman"/>
                <a:ea typeface="Times New Roman"/>
                <a:cs typeface="Times New Roman"/>
                <a:sym typeface="Times New Roman"/>
              </a:defRPr>
            </a:pPr>
            <a:r>
              <a:t>ELEMENTO OGGETTIVO</a:t>
            </a:r>
            <a:r>
              <a:rPr b="0" u="none"/>
              <a:t>: si punisce chi </a:t>
            </a:r>
            <a:r>
              <a:rPr u="none">
                <a:solidFill>
                  <a:srgbClr val="336600"/>
                </a:solidFill>
              </a:rPr>
              <a:t>procura a sé o altri un ingiusto profitto con danno altrui</a:t>
            </a:r>
            <a:r>
              <a:rPr b="0" u="none"/>
              <a:t>, inducendo in errore, con artifizi e raggiri.</a:t>
            </a:r>
          </a:p>
        </p:txBody>
      </p:sp>
      <p:pic>
        <p:nvPicPr>
          <p:cNvPr descr="Immagine 6" id="317"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318"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Truffa</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Rettangolo 4"/>
          <p:cNvSpPr txBox="1"/>
          <p:nvPr/>
        </p:nvSpPr>
        <p:spPr>
          <a:xfrm>
            <a:off x="45719" y="980727"/>
            <a:ext cx="9052561" cy="5141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b="0" sz="2200">
                <a:latin typeface="Times New Roman"/>
                <a:ea typeface="Times New Roman"/>
                <a:cs typeface="Times New Roman"/>
                <a:sym typeface="Times New Roman"/>
              </a:defRPr>
            </a:pPr>
            <a:r>
              <a:t>Si tratta di un </a:t>
            </a:r>
            <a:r>
              <a:rPr b="1">
                <a:solidFill>
                  <a:srgbClr val="336600"/>
                </a:solidFill>
              </a:rPr>
              <a:t>DELITTO A FORMA VINCOLATA</a:t>
            </a:r>
            <a:r>
              <a:t>, cioè non realizzabile con qualsivoglia condotta subdola, bensì solo con quella che assume la qualità di artifizio o raggiro .</a:t>
            </a:r>
          </a:p>
          <a:p>
            <a:pPr algn="just" indent="-342900" marL="342900">
              <a:lnSpc>
                <a:spcPct val="114000"/>
              </a:lnSpc>
              <a:spcBef>
                <a:spcPts val="1200"/>
              </a:spcBef>
              <a:buSzPct val="100000"/>
              <a:buFont typeface="Arial"/>
              <a:buChar char="•"/>
              <a:defRPr b="0" sz="2200">
                <a:latin typeface="Times New Roman"/>
                <a:ea typeface="Times New Roman"/>
                <a:cs typeface="Times New Roman"/>
                <a:sym typeface="Times New Roman"/>
              </a:defRPr>
            </a:pPr>
            <a:r>
              <a:t>Per </a:t>
            </a:r>
            <a:r>
              <a:rPr b="1">
                <a:solidFill>
                  <a:srgbClr val="336600"/>
                </a:solidFill>
              </a:rPr>
              <a:t>ARTIFIZIO</a:t>
            </a:r>
            <a:r>
              <a:t> -simulazione o dissimulazione della realtà. </a:t>
            </a:r>
            <a:r>
              <a:rPr b="1" u="sng"/>
              <a:t>Far apparire come vera una situazione che non trova riscontro nei fatti.</a:t>
            </a:r>
          </a:p>
          <a:p>
            <a:pPr algn="just" indent="-342900" marL="342900">
              <a:lnSpc>
                <a:spcPct val="114000"/>
              </a:lnSpc>
              <a:spcBef>
                <a:spcPts val="1200"/>
              </a:spcBef>
              <a:buSzPct val="100000"/>
              <a:buFont typeface="Arial"/>
              <a:buChar char="•"/>
              <a:defRPr b="0" sz="2200">
                <a:latin typeface="Times New Roman"/>
                <a:ea typeface="Times New Roman"/>
                <a:cs typeface="Times New Roman"/>
                <a:sym typeface="Times New Roman"/>
              </a:defRPr>
            </a:pPr>
            <a:r>
              <a:t>Per </a:t>
            </a:r>
            <a:r>
              <a:rPr b="1">
                <a:solidFill>
                  <a:srgbClr val="336600"/>
                </a:solidFill>
              </a:rPr>
              <a:t>RAGGIRO</a:t>
            </a:r>
            <a:r>
              <a:t> invece si intende ogni </a:t>
            </a:r>
            <a:r>
              <a:rPr b="1" u="sng"/>
              <a:t>ragionamento menzognero</a:t>
            </a:r>
            <a:r>
              <a:t> destinato a convincere ed idoneo a far apparire come vera la falsità prospettata. Si agisce sulla psiche della vittima, che viene convinta mediante ragionamenti che una situazione sia in un tal modo, quando ciò non è vero.</a:t>
            </a:r>
          </a:p>
          <a:p>
            <a:pPr algn="just">
              <a:lnSpc>
                <a:spcPct val="114000"/>
              </a:lnSpc>
              <a:spcBef>
                <a:spcPts val="1200"/>
              </a:spcBef>
              <a:defRPr b="0" sz="2200">
                <a:latin typeface="Times New Roman"/>
                <a:ea typeface="Times New Roman"/>
                <a:cs typeface="Times New Roman"/>
                <a:sym typeface="Times New Roman"/>
              </a:defRPr>
            </a:pPr>
            <a:endParaRPr/>
          </a:p>
          <a:p>
            <a:pPr algn="just">
              <a:lnSpc>
                <a:spcPct val="114000"/>
              </a:lnSpc>
              <a:spcBef>
                <a:spcPts val="1200"/>
              </a:spcBef>
              <a:defRPr sz="2200">
                <a:solidFill>
                  <a:srgbClr val="336600"/>
                </a:solidFill>
                <a:latin typeface="Times New Roman"/>
                <a:ea typeface="Times New Roman"/>
                <a:cs typeface="Times New Roman"/>
                <a:sym typeface="Times New Roman"/>
              </a:defRPr>
            </a:pPr>
            <a:r>
              <a:t>L’INDUZIONE IN ERRORE </a:t>
            </a:r>
            <a:r>
              <a:rPr b="0">
                <a:solidFill>
                  <a:srgbClr val="000000"/>
                </a:solidFill>
              </a:rPr>
              <a:t>consiste nel </a:t>
            </a:r>
            <a:r>
              <a:rPr>
                <a:solidFill>
                  <a:srgbClr val="000000"/>
                </a:solidFill>
              </a:rPr>
              <a:t>determinare in altri la positiva certezza di una situazione in realtà inesistente.</a:t>
            </a:r>
          </a:p>
        </p:txBody>
      </p:sp>
      <p:pic>
        <p:nvPicPr>
          <p:cNvPr descr="Immagine 6" id="321"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322"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Truffa</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Rettangolo 4"/>
          <p:cNvSpPr txBox="1"/>
          <p:nvPr/>
        </p:nvSpPr>
        <p:spPr>
          <a:xfrm>
            <a:off x="45719" y="980728"/>
            <a:ext cx="9052561" cy="43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sz="2200" u="sng">
                <a:latin typeface="Times New Roman"/>
                <a:ea typeface="Times New Roman"/>
                <a:cs typeface="Times New Roman"/>
                <a:sym typeface="Times New Roman"/>
              </a:defRPr>
            </a:pPr>
            <a:r>
              <a:t>ELEMENTO SOGGETTIVO</a:t>
            </a:r>
            <a:r>
              <a:rPr b="0" u="none"/>
              <a:t>: è il </a:t>
            </a:r>
            <a:r>
              <a:rPr u="none">
                <a:solidFill>
                  <a:srgbClr val="336600"/>
                </a:solidFill>
              </a:rPr>
              <a:t>DOLO GENERICO</a:t>
            </a:r>
            <a:r>
              <a:rPr u="none">
                <a:solidFill>
                  <a:srgbClr val="31859C"/>
                </a:solidFill>
              </a:rPr>
              <a:t>, </a:t>
            </a:r>
            <a:r>
              <a:rPr b="0" u="none"/>
              <a:t>avente ad oggetto gli elementi costitutivi del reato (inganno, profitto, e danno ingiusto). </a:t>
            </a:r>
          </a:p>
          <a:p>
            <a:pPr algn="just">
              <a:lnSpc>
                <a:spcPct val="114000"/>
              </a:lnSpc>
              <a:spcBef>
                <a:spcPts val="1200"/>
              </a:spcBef>
              <a:defRPr b="0" sz="2200">
                <a:latin typeface="Times New Roman"/>
                <a:ea typeface="Times New Roman"/>
                <a:cs typeface="Times New Roman"/>
                <a:sym typeface="Times New Roman"/>
              </a:defRPr>
            </a:pPr>
            <a:endParaRPr b="0" u="none"/>
          </a:p>
          <a:p>
            <a:pPr algn="just">
              <a:lnSpc>
                <a:spcPct val="114000"/>
              </a:lnSpc>
              <a:spcBef>
                <a:spcPts val="1200"/>
              </a:spcBef>
              <a:defRPr b="0" sz="2200">
                <a:latin typeface="Times New Roman"/>
                <a:ea typeface="Times New Roman"/>
                <a:cs typeface="Times New Roman"/>
                <a:sym typeface="Times New Roman"/>
              </a:defRPr>
            </a:pPr>
            <a:endParaRPr b="0" u="none"/>
          </a:p>
          <a:p>
            <a:pPr algn="just">
              <a:lnSpc>
                <a:spcPct val="114000"/>
              </a:lnSpc>
              <a:spcBef>
                <a:spcPts val="1200"/>
              </a:spcBef>
              <a:defRPr b="0" sz="2200">
                <a:latin typeface="Times New Roman"/>
                <a:ea typeface="Times New Roman"/>
                <a:cs typeface="Times New Roman"/>
                <a:sym typeface="Times New Roman"/>
              </a:defRPr>
            </a:pPr>
            <a:r>
              <a:t>Questo </a:t>
            </a:r>
            <a:r>
              <a:rPr b="1" u="sng"/>
              <a:t>delitto si consuma </a:t>
            </a:r>
            <a:r>
              <a:t>nel momento in cui l’agente </a:t>
            </a:r>
            <a:r>
              <a:rPr u="sng"/>
              <a:t>realizza l’ingiusto profitto con relativo danno patrimoniale</a:t>
            </a:r>
            <a:r>
              <a:t> (Cass. II 24/10/1983).</a:t>
            </a:r>
          </a:p>
          <a:p>
            <a:pPr algn="just">
              <a:lnSpc>
                <a:spcPct val="114000"/>
              </a:lnSpc>
              <a:spcBef>
                <a:spcPts val="1200"/>
              </a:spcBef>
              <a:defRPr b="0" sz="2200">
                <a:latin typeface="Times New Roman"/>
                <a:ea typeface="Times New Roman"/>
                <a:cs typeface="Times New Roman"/>
                <a:sym typeface="Times New Roman"/>
              </a:defRPr>
            </a:pPr>
            <a:endParaRPr/>
          </a:p>
          <a:p>
            <a:pPr algn="just">
              <a:lnSpc>
                <a:spcPct val="114000"/>
              </a:lnSpc>
              <a:spcBef>
                <a:spcPts val="1200"/>
              </a:spcBef>
              <a:defRPr b="0" sz="2200">
                <a:latin typeface="Times New Roman"/>
                <a:ea typeface="Times New Roman"/>
                <a:cs typeface="Times New Roman"/>
                <a:sym typeface="Times New Roman"/>
              </a:defRPr>
            </a:pPr>
            <a:endParaRPr/>
          </a:p>
          <a:p>
            <a:pPr algn="just">
              <a:lnSpc>
                <a:spcPct val="114000"/>
              </a:lnSpc>
              <a:spcBef>
                <a:spcPts val="1200"/>
              </a:spcBef>
              <a:defRPr b="0" sz="2200">
                <a:latin typeface="Times New Roman"/>
                <a:ea typeface="Times New Roman"/>
                <a:cs typeface="Times New Roman"/>
                <a:sym typeface="Times New Roman"/>
              </a:defRPr>
            </a:pPr>
            <a:r>
              <a:t>Il tentativo è configurabile.</a:t>
            </a:r>
          </a:p>
        </p:txBody>
      </p:sp>
      <p:pic>
        <p:nvPicPr>
          <p:cNvPr descr="Immagine 6" id="325"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326"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Truffa</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CasellaDiTesto 1"/>
          <p:cNvSpPr txBox="1"/>
          <p:nvPr/>
        </p:nvSpPr>
        <p:spPr>
          <a:xfrm>
            <a:off x="229859" y="980729"/>
            <a:ext cx="8684281" cy="56214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indent="-1797050" marL="1797050">
              <a:lnSpc>
                <a:spcPct val="114000"/>
              </a:lnSpc>
              <a:spcBef>
                <a:spcPts val="600"/>
              </a:spcBef>
              <a:defRPr sz="2400">
                <a:solidFill>
                  <a:srgbClr val="00B050"/>
                </a:solidFill>
                <a:latin typeface="Book Antiqua"/>
                <a:ea typeface="Book Antiqua"/>
                <a:cs typeface="Book Antiqua"/>
                <a:sym typeface="Book Antiqua"/>
              </a:defRPr>
            </a:pPr>
            <a:r>
              <a:t>Art. 641 c.p. Insolvenza fraudolenta</a:t>
            </a:r>
            <a:endParaRPr>
              <a:latin typeface="Times New Roman"/>
              <a:ea typeface="Times New Roman"/>
              <a:cs typeface="Times New Roman"/>
              <a:sym typeface="Times New Roman"/>
            </a:endParaRPr>
          </a:p>
          <a:p>
            <a:pPr algn="just">
              <a:lnSpc>
                <a:spcPct val="114000"/>
              </a:lnSpc>
              <a:spcBef>
                <a:spcPts val="600"/>
              </a:spcBef>
              <a:defRPr b="0" sz="2200">
                <a:latin typeface="Book Antiqua"/>
                <a:ea typeface="Book Antiqua"/>
                <a:cs typeface="Book Antiqua"/>
                <a:sym typeface="Book Antiqua"/>
              </a:defRPr>
            </a:pPr>
            <a:r>
              <a:t>«</a:t>
            </a:r>
            <a:r>
              <a:rPr i="1"/>
              <a:t>Chiunque, </a:t>
            </a:r>
            <a:r>
              <a:rPr b="1" i="1" u="sng"/>
              <a:t>dissimulando</a:t>
            </a:r>
            <a:r>
              <a:rPr b="1" i="1"/>
              <a:t> il </a:t>
            </a:r>
            <a:r>
              <a:rPr b="1" i="1" u="sng"/>
              <a:t>proprio stato d'insolvenza</a:t>
            </a:r>
            <a:r>
              <a:rPr i="1"/>
              <a:t>, </a:t>
            </a:r>
            <a:r>
              <a:rPr b="1" i="1">
                <a:solidFill>
                  <a:srgbClr val="00B050"/>
                </a:solidFill>
              </a:rPr>
              <a:t>contrae un'obbligazione col proposito di non adempierla</a:t>
            </a:r>
            <a:r>
              <a:rPr i="1"/>
              <a:t> è punito, </a:t>
            </a:r>
            <a:r>
              <a:rPr b="1" i="1"/>
              <a:t>a querela della persona offesa, qualora l'obbligazione non sia adempiuta</a:t>
            </a:r>
            <a:r>
              <a:rPr i="1"/>
              <a:t>, con la reclusione fino a due anni o con la multa fino a 516 euro.</a:t>
            </a:r>
            <a:endParaRPr>
              <a:latin typeface="Times New Roman"/>
              <a:ea typeface="Times New Roman"/>
              <a:cs typeface="Times New Roman"/>
              <a:sym typeface="Times New Roman"/>
            </a:endParaRPr>
          </a:p>
          <a:p>
            <a:pPr algn="just">
              <a:lnSpc>
                <a:spcPct val="114000"/>
              </a:lnSpc>
              <a:spcBef>
                <a:spcPts val="600"/>
              </a:spcBef>
              <a:defRPr b="0" i="1" sz="2200">
                <a:latin typeface="Book Antiqua"/>
                <a:ea typeface="Book Antiqua"/>
                <a:cs typeface="Book Antiqua"/>
                <a:sym typeface="Book Antiqua"/>
              </a:defRPr>
            </a:pPr>
            <a:r>
              <a:t>L'adempimento dell'obbligazione avvenuto prima della condanna estingue il reato».</a:t>
            </a:r>
            <a:endParaRPr>
              <a:latin typeface="Times New Roman"/>
              <a:ea typeface="Times New Roman"/>
              <a:cs typeface="Times New Roman"/>
              <a:sym typeface="Times New Roman"/>
            </a:endParaRPr>
          </a:p>
          <a:p>
            <a:pPr algn="just">
              <a:lnSpc>
                <a:spcPct val="114000"/>
              </a:lnSpc>
              <a:spcBef>
                <a:spcPts val="600"/>
              </a:spcBef>
              <a:defRPr b="0" i="1" sz="2000">
                <a:latin typeface="Times New Roman"/>
                <a:ea typeface="Times New Roman"/>
                <a:cs typeface="Times New Roman"/>
                <a:sym typeface="Times New Roman"/>
              </a:defRPr>
            </a:pPr>
            <a:endParaRPr>
              <a:latin typeface="Times New Roman"/>
              <a:ea typeface="Times New Roman"/>
              <a:cs typeface="Times New Roman"/>
              <a:sym typeface="Times New Roman"/>
            </a:endParaRPr>
          </a:p>
          <a:p>
            <a:pPr algn="just">
              <a:lnSpc>
                <a:spcPct val="114000"/>
              </a:lnSpc>
              <a:spcBef>
                <a:spcPts val="600"/>
              </a:spcBef>
              <a:defRPr b="0" sz="2000">
                <a:latin typeface="Book Antiqua"/>
                <a:ea typeface="Book Antiqua"/>
                <a:cs typeface="Book Antiqua"/>
                <a:sym typeface="Book Antiqua"/>
              </a:defRPr>
            </a:pPr>
            <a:r>
              <a:t>L'interesse tutelato è il </a:t>
            </a:r>
            <a:r>
              <a:rPr b="1">
                <a:solidFill>
                  <a:srgbClr val="00B050"/>
                </a:solidFill>
              </a:rPr>
              <a:t>patrimonio</a:t>
            </a:r>
            <a:r>
              <a:t>, contro tutti quei comportamenti che ledono la buona fede contrattuale.</a:t>
            </a:r>
          </a:p>
          <a:p>
            <a:pPr algn="just">
              <a:lnSpc>
                <a:spcPct val="114000"/>
              </a:lnSpc>
              <a:spcBef>
                <a:spcPts val="600"/>
              </a:spcBef>
              <a:defRPr sz="2000">
                <a:solidFill>
                  <a:srgbClr val="3FC258"/>
                </a:solidFill>
                <a:latin typeface="Book Antiqua"/>
                <a:ea typeface="Book Antiqua"/>
                <a:cs typeface="Book Antiqua"/>
                <a:sym typeface="Book Antiqua"/>
              </a:defRPr>
            </a:pPr>
            <a:r>
              <a:t>Dissimulare</a:t>
            </a:r>
            <a:r>
              <a:rPr b="0">
                <a:solidFill>
                  <a:srgbClr val="000000"/>
                </a:solidFill>
              </a:rPr>
              <a:t> - </a:t>
            </a:r>
            <a:r>
              <a:rPr>
                <a:solidFill>
                  <a:srgbClr val="000000"/>
                </a:solidFill>
              </a:rPr>
              <a:t>mantenere la vittima in una stato di ignoranza.</a:t>
            </a:r>
            <a:endParaRPr b="0"/>
          </a:p>
          <a:p>
            <a:pPr algn="just">
              <a:lnSpc>
                <a:spcPct val="114000"/>
              </a:lnSpc>
              <a:spcBef>
                <a:spcPts val="1200"/>
              </a:spcBef>
              <a:defRPr sz="2000">
                <a:solidFill>
                  <a:srgbClr val="00B050"/>
                </a:solidFill>
                <a:latin typeface="Times New Roman"/>
                <a:ea typeface="Times New Roman"/>
                <a:cs typeface="Times New Roman"/>
                <a:sym typeface="Times New Roman"/>
              </a:defRPr>
            </a:pPr>
            <a:r>
              <a:t>stato di insolvenza</a:t>
            </a:r>
            <a:r>
              <a:rPr b="0">
                <a:solidFill>
                  <a:srgbClr val="000000"/>
                </a:solidFill>
              </a:rPr>
              <a:t> - </a:t>
            </a:r>
            <a:r>
              <a:rPr>
                <a:solidFill>
                  <a:srgbClr val="000000"/>
                </a:solidFill>
              </a:rPr>
              <a:t>situazione per la quale il soggetto si trova nella condizione di non poter adempiere alle obbligazioni assunte per motivi economico-finanziari</a:t>
            </a:r>
            <a:r>
              <a:rPr b="0">
                <a:solidFill>
                  <a:srgbClr val="000000"/>
                </a:solidFill>
              </a:rPr>
              <a:t>;</a:t>
            </a:r>
          </a:p>
        </p:txBody>
      </p:sp>
      <p:pic>
        <p:nvPicPr>
          <p:cNvPr descr="Immagine 3" id="329" name="Immagine 3"/>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330"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Insolvenza fraudolenta</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Rettangolo 4"/>
          <p:cNvSpPr txBox="1"/>
          <p:nvPr/>
        </p:nvSpPr>
        <p:spPr>
          <a:xfrm>
            <a:off x="45719" y="980729"/>
            <a:ext cx="9052561" cy="43098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sz="2200" u="sng">
                <a:latin typeface="Times New Roman"/>
                <a:ea typeface="Times New Roman"/>
                <a:cs typeface="Times New Roman"/>
                <a:sym typeface="Times New Roman"/>
              </a:defRPr>
            </a:pPr>
            <a:r>
              <a:t>ELEMENTO OGGETTIVO</a:t>
            </a:r>
            <a:r>
              <a:rPr b="0" u="none"/>
              <a:t>: la fattispecie criminosa in questione ha una struttura piuttosto articolata, in quanto costituita da:</a:t>
            </a:r>
          </a:p>
          <a:p>
            <a:pPr algn="just">
              <a:lnSpc>
                <a:spcPct val="114000"/>
              </a:lnSpc>
              <a:spcBef>
                <a:spcPts val="1200"/>
              </a:spcBef>
              <a:defRPr b="0" sz="2200">
                <a:latin typeface="Times New Roman"/>
                <a:ea typeface="Times New Roman"/>
                <a:cs typeface="Times New Roman"/>
                <a:sym typeface="Times New Roman"/>
              </a:defRPr>
            </a:pPr>
            <a:r>
              <a:t>1. </a:t>
            </a:r>
            <a:r>
              <a:rPr b="1">
                <a:solidFill>
                  <a:srgbClr val="00B050"/>
                </a:solidFill>
              </a:rPr>
              <a:t>DISSIMULAZIONE DELLO STATO DI INSOLVENZA</a:t>
            </a:r>
            <a:r>
              <a:t>: la dissimulazione consiste in un fatto che, </a:t>
            </a:r>
            <a:r>
              <a:rPr u="sng"/>
              <a:t>senza assumere le caratteristiche degli artifizi o dei raggiri</a:t>
            </a:r>
            <a:r>
              <a:t>, è tale da </a:t>
            </a:r>
            <a:r>
              <a:rPr b="1"/>
              <a:t>guadagnare la fiducia del soggetto passivo</a:t>
            </a:r>
            <a:r>
              <a:t>, così da vincere la sua normale diligenza nei rapporti contrattuali e da metterlo in condizione di non rendersi conto dello stato di insolvenza dell'agente (così Cassazione n. 714 del 1970). La dissimulazione </a:t>
            </a:r>
            <a:r>
              <a:rPr u="sng"/>
              <a:t>può estrinsecarsi anche attraverso il </a:t>
            </a:r>
            <a:r>
              <a:rPr b="1" u="sng"/>
              <a:t>silenzio</a:t>
            </a:r>
            <a:r>
              <a:t>, quando lo stato di insolvenza non è manifestato alla controparte e quando l'intenzione di non adempiere agli impegni assunti sussiste fin dal momento della conclusione del contratto.</a:t>
            </a:r>
          </a:p>
        </p:txBody>
      </p:sp>
      <p:pic>
        <p:nvPicPr>
          <p:cNvPr descr="Immagine 6" id="333"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334"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Insolvenza fraudolenta</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Rettangolo 4"/>
          <p:cNvSpPr txBox="1"/>
          <p:nvPr/>
        </p:nvSpPr>
        <p:spPr>
          <a:xfrm>
            <a:off x="45719" y="980729"/>
            <a:ext cx="9052561" cy="42398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b="0" sz="2200">
                <a:latin typeface="Times New Roman"/>
                <a:ea typeface="Times New Roman"/>
                <a:cs typeface="Times New Roman"/>
                <a:sym typeface="Times New Roman"/>
              </a:defRPr>
            </a:pPr>
            <a:r>
              <a:t>2. </a:t>
            </a:r>
            <a:r>
              <a:rPr b="1">
                <a:solidFill>
                  <a:srgbClr val="00B050"/>
                </a:solidFill>
              </a:rPr>
              <a:t>ASSUNZIONE DI UN'OBBLIGAZIONE</a:t>
            </a:r>
            <a:r>
              <a:t>:  per il quale il creditore può pretendere che il debitore esegua una determinata prestazione; </a:t>
            </a:r>
            <a:r>
              <a:rPr b="1">
                <a:solidFill>
                  <a:srgbClr val="00B050"/>
                </a:solidFill>
              </a:rPr>
              <a:t>le obbligazioni rilevanti sono quelle a prestazioni corrispettive</a:t>
            </a:r>
            <a:r>
              <a:t>. </a:t>
            </a:r>
          </a:p>
          <a:p>
            <a:pPr algn="just">
              <a:lnSpc>
                <a:spcPct val="114000"/>
              </a:lnSpc>
              <a:spcBef>
                <a:spcPts val="1200"/>
              </a:spcBef>
              <a:defRPr b="0" sz="2200">
                <a:latin typeface="Times New Roman"/>
                <a:ea typeface="Times New Roman"/>
                <a:cs typeface="Times New Roman"/>
                <a:sym typeface="Times New Roman"/>
              </a:defRPr>
            </a:pPr>
            <a:r>
              <a:t>Rimangono </a:t>
            </a:r>
            <a:r>
              <a:rPr b="1" u="sng"/>
              <a:t>escluse quelle a titolo gratuito</a:t>
            </a:r>
            <a:r>
              <a:t>, perché l'inadempimento non comporta alcuna diminuzione patrimoniale, </a:t>
            </a:r>
            <a:r>
              <a:rPr b="1" u="sng"/>
              <a:t>quelle la cui prestazione consiste in un facere</a:t>
            </a:r>
            <a:r>
              <a:t> di tipo personale e non in un dare;</a:t>
            </a:r>
          </a:p>
          <a:p>
            <a:pPr algn="just">
              <a:lnSpc>
                <a:spcPct val="114000"/>
              </a:lnSpc>
              <a:spcBef>
                <a:spcPts val="1200"/>
              </a:spcBef>
              <a:defRPr b="0" sz="2200">
                <a:latin typeface="Times New Roman"/>
                <a:ea typeface="Times New Roman"/>
                <a:cs typeface="Times New Roman"/>
                <a:sym typeface="Times New Roman"/>
              </a:defRPr>
            </a:pPr>
            <a:endParaRPr/>
          </a:p>
          <a:p>
            <a:pPr algn="just">
              <a:lnSpc>
                <a:spcPct val="114000"/>
              </a:lnSpc>
              <a:spcBef>
                <a:spcPts val="1200"/>
              </a:spcBef>
              <a:defRPr b="0" sz="2200">
                <a:latin typeface="Times New Roman"/>
                <a:ea typeface="Times New Roman"/>
                <a:cs typeface="Times New Roman"/>
                <a:sym typeface="Times New Roman"/>
              </a:defRPr>
            </a:pPr>
            <a:r>
              <a:t>3. </a:t>
            </a:r>
            <a:r>
              <a:rPr b="1">
                <a:solidFill>
                  <a:srgbClr val="00B050"/>
                </a:solidFill>
              </a:rPr>
              <a:t>INADEMPIMENTO DELL'OBBLIGAZIONE CONTRATTA</a:t>
            </a:r>
            <a:r>
              <a:t>: l'inadempimento si ha quando il soggetto obbligato </a:t>
            </a:r>
            <a:r>
              <a:rPr b="1">
                <a:solidFill>
                  <a:srgbClr val="00B050"/>
                </a:solidFill>
              </a:rPr>
              <a:t>non esegue le prestazioni contrattuali pattuite.</a:t>
            </a:r>
          </a:p>
        </p:txBody>
      </p:sp>
      <p:pic>
        <p:nvPicPr>
          <p:cNvPr descr="Immagine 6" id="337"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338"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Insolvenza fraudolenta</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 name="Rettangolo 4"/>
          <p:cNvSpPr txBox="1"/>
          <p:nvPr/>
        </p:nvSpPr>
        <p:spPr>
          <a:xfrm>
            <a:off x="45719" y="980729"/>
            <a:ext cx="9052561" cy="53088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b="0" sz="2200">
                <a:latin typeface="Times New Roman"/>
                <a:ea typeface="Times New Roman"/>
                <a:cs typeface="Times New Roman"/>
                <a:sym typeface="Times New Roman"/>
              </a:defRPr>
            </a:pPr>
            <a:r>
              <a:rPr dirty="0"/>
              <a:t>La </a:t>
            </a:r>
            <a:r>
              <a:rPr dirty="0" err="1"/>
              <a:t>punibilità</a:t>
            </a:r>
            <a:r>
              <a:rPr dirty="0"/>
              <a:t> del </a:t>
            </a:r>
            <a:r>
              <a:rPr dirty="0" err="1"/>
              <a:t>comportamento</a:t>
            </a:r>
            <a:r>
              <a:rPr dirty="0"/>
              <a:t> </a:t>
            </a:r>
            <a:r>
              <a:rPr dirty="0" err="1"/>
              <a:t>illecito</a:t>
            </a:r>
            <a:r>
              <a:rPr dirty="0"/>
              <a:t>, </a:t>
            </a:r>
            <a:r>
              <a:rPr dirty="0" err="1"/>
              <a:t>pertanto</a:t>
            </a:r>
            <a:r>
              <a:rPr dirty="0"/>
              <a:t>, </a:t>
            </a:r>
            <a:r>
              <a:rPr dirty="0" err="1"/>
              <a:t>sussiste</a:t>
            </a:r>
            <a:r>
              <a:rPr dirty="0"/>
              <a:t> </a:t>
            </a:r>
            <a:r>
              <a:rPr dirty="0" err="1"/>
              <a:t>soltanto</a:t>
            </a:r>
            <a:r>
              <a:rPr dirty="0"/>
              <a:t> </a:t>
            </a:r>
            <a:r>
              <a:rPr dirty="0" err="1"/>
              <a:t>qualora</a:t>
            </a:r>
            <a:r>
              <a:rPr dirty="0"/>
              <a:t> </a:t>
            </a:r>
            <a:r>
              <a:rPr b="1" dirty="0" err="1">
                <a:solidFill>
                  <a:srgbClr val="00B050"/>
                </a:solidFill>
              </a:rPr>
              <a:t>l'obbligazione</a:t>
            </a:r>
            <a:r>
              <a:rPr b="1" dirty="0">
                <a:solidFill>
                  <a:srgbClr val="00B050"/>
                </a:solidFill>
              </a:rPr>
              <a:t> non </a:t>
            </a:r>
            <a:r>
              <a:rPr b="1" dirty="0" err="1">
                <a:solidFill>
                  <a:srgbClr val="00B050"/>
                </a:solidFill>
              </a:rPr>
              <a:t>sia</a:t>
            </a:r>
            <a:r>
              <a:rPr b="1" dirty="0">
                <a:solidFill>
                  <a:srgbClr val="00B050"/>
                </a:solidFill>
              </a:rPr>
              <a:t> in </a:t>
            </a:r>
            <a:r>
              <a:rPr b="1" dirty="0" err="1">
                <a:solidFill>
                  <a:srgbClr val="00B050"/>
                </a:solidFill>
              </a:rPr>
              <a:t>concreto</a:t>
            </a:r>
            <a:r>
              <a:rPr b="1" dirty="0">
                <a:solidFill>
                  <a:srgbClr val="00B050"/>
                </a:solidFill>
              </a:rPr>
              <a:t> </a:t>
            </a:r>
            <a:r>
              <a:rPr b="1" dirty="0" err="1">
                <a:solidFill>
                  <a:srgbClr val="00B050"/>
                </a:solidFill>
              </a:rPr>
              <a:t>adempiuta</a:t>
            </a:r>
            <a:r>
              <a:rPr dirty="0"/>
              <a:t>.</a:t>
            </a:r>
          </a:p>
          <a:p>
            <a:pPr algn="just">
              <a:lnSpc>
                <a:spcPct val="114000"/>
              </a:lnSpc>
              <a:spcBef>
                <a:spcPts val="1200"/>
              </a:spcBef>
              <a:defRPr b="0" sz="2200">
                <a:latin typeface="Times New Roman"/>
                <a:ea typeface="Times New Roman"/>
                <a:cs typeface="Times New Roman"/>
                <a:sym typeface="Times New Roman"/>
              </a:defRPr>
            </a:pPr>
            <a:endParaRPr dirty="0"/>
          </a:p>
          <a:p>
            <a:pPr algn="just">
              <a:lnSpc>
                <a:spcPct val="114000"/>
              </a:lnSpc>
              <a:spcBef>
                <a:spcPts val="1200"/>
              </a:spcBef>
              <a:defRPr b="0" sz="2200">
                <a:latin typeface="Times New Roman"/>
                <a:ea typeface="Times New Roman"/>
                <a:cs typeface="Times New Roman"/>
                <a:sym typeface="Times New Roman"/>
              </a:defRPr>
            </a:pPr>
            <a:r>
              <a:rPr dirty="0"/>
              <a:t>Il c. 2 </a:t>
            </a:r>
            <a:r>
              <a:rPr dirty="0" err="1"/>
              <a:t>prevede</a:t>
            </a:r>
            <a:r>
              <a:rPr dirty="0"/>
              <a:t> una </a:t>
            </a:r>
            <a:r>
              <a:rPr b="1" dirty="0" u="sng">
                <a:solidFill>
                  <a:srgbClr val="FF0000"/>
                </a:solidFill>
              </a:rPr>
              <a:t>causa di non </a:t>
            </a:r>
            <a:r>
              <a:rPr b="1" dirty="0" err="1" u="sng">
                <a:solidFill>
                  <a:srgbClr val="FF0000"/>
                </a:solidFill>
              </a:rPr>
              <a:t>punibilità</a:t>
            </a:r>
            <a:r>
              <a:rPr b="1" dirty="0" u="sng">
                <a:solidFill>
                  <a:srgbClr val="FF0000"/>
                </a:solidFill>
              </a:rPr>
              <a:t> </a:t>
            </a:r>
            <a:r>
              <a:rPr b="1" dirty="0" err="1" u="sng">
                <a:solidFill>
                  <a:srgbClr val="FF0000"/>
                </a:solidFill>
              </a:rPr>
              <a:t>speciale</a:t>
            </a:r>
            <a:r>
              <a:rPr b="1" dirty="0" u="sng">
                <a:solidFill>
                  <a:srgbClr val="FF0000"/>
                </a:solidFill>
              </a:rPr>
              <a:t> </a:t>
            </a:r>
            <a:r>
              <a:rPr dirty="0" err="1"/>
              <a:t>nel</a:t>
            </a:r>
            <a:r>
              <a:rPr dirty="0"/>
              <a:t> </a:t>
            </a:r>
            <a:r>
              <a:rPr dirty="0" err="1"/>
              <a:t>fatto</a:t>
            </a:r>
            <a:r>
              <a:rPr dirty="0"/>
              <a:t> di </a:t>
            </a:r>
            <a:r>
              <a:rPr b="1" dirty="0"/>
              <a:t>chi </a:t>
            </a:r>
            <a:r>
              <a:rPr b="1" dirty="0" err="1"/>
              <a:t>adempie</a:t>
            </a:r>
            <a:r>
              <a:rPr b="1" dirty="0"/>
              <a:t> </a:t>
            </a:r>
            <a:r>
              <a:rPr b="1" dirty="0" err="1"/>
              <a:t>all'obbligazione</a:t>
            </a:r>
            <a:r>
              <a:rPr b="1" dirty="0"/>
              <a:t> prima </a:t>
            </a:r>
            <a:r>
              <a:rPr b="1" dirty="0" err="1"/>
              <a:t>che</a:t>
            </a:r>
            <a:r>
              <a:rPr b="1" dirty="0"/>
              <a:t> </a:t>
            </a:r>
            <a:r>
              <a:rPr b="1" dirty="0" err="1"/>
              <a:t>sia</a:t>
            </a:r>
            <a:r>
              <a:rPr b="1" dirty="0"/>
              <a:t> </a:t>
            </a:r>
            <a:r>
              <a:rPr b="1" dirty="0" err="1"/>
              <a:t>stata</a:t>
            </a:r>
            <a:r>
              <a:rPr b="1" dirty="0"/>
              <a:t> </a:t>
            </a:r>
            <a:r>
              <a:rPr b="1" dirty="0" err="1"/>
              <a:t>pronunciata</a:t>
            </a:r>
            <a:r>
              <a:rPr b="1" dirty="0"/>
              <a:t> la </a:t>
            </a:r>
            <a:r>
              <a:rPr b="1" dirty="0" err="1"/>
              <a:t>sentenza</a:t>
            </a:r>
            <a:r>
              <a:rPr b="1" dirty="0"/>
              <a:t> di </a:t>
            </a:r>
            <a:r>
              <a:rPr b="1" dirty="0" err="1"/>
              <a:t>condanna</a:t>
            </a:r>
            <a:r>
              <a:rPr dirty="0"/>
              <a:t>: ossia </a:t>
            </a:r>
            <a:r>
              <a:rPr dirty="0" err="1"/>
              <a:t>fino</a:t>
            </a:r>
            <a:r>
              <a:rPr dirty="0"/>
              <a:t> al </a:t>
            </a:r>
            <a:r>
              <a:rPr dirty="0" err="1"/>
              <a:t>momento</a:t>
            </a:r>
            <a:r>
              <a:rPr dirty="0"/>
              <a:t> in cui la </a:t>
            </a:r>
            <a:r>
              <a:rPr dirty="0" err="1"/>
              <a:t>sentenza</a:t>
            </a:r>
            <a:r>
              <a:rPr dirty="0"/>
              <a:t> </a:t>
            </a:r>
            <a:r>
              <a:rPr dirty="0" err="1"/>
              <a:t>passa</a:t>
            </a:r>
            <a:r>
              <a:rPr dirty="0"/>
              <a:t> in </a:t>
            </a:r>
            <a:r>
              <a:rPr dirty="0" err="1"/>
              <a:t>giudicato</a:t>
            </a:r>
            <a:r>
              <a:rPr dirty="0"/>
              <a:t>.</a:t>
            </a:r>
          </a:p>
          <a:p>
            <a:pPr algn="just">
              <a:lnSpc>
                <a:spcPct val="114000"/>
              </a:lnSpc>
              <a:spcBef>
                <a:spcPts val="1200"/>
              </a:spcBef>
              <a:defRPr b="0" sz="2200">
                <a:latin typeface="Times New Roman"/>
                <a:ea typeface="Times New Roman"/>
                <a:cs typeface="Times New Roman"/>
                <a:sym typeface="Times New Roman"/>
              </a:defRPr>
            </a:pPr>
            <a:endParaRPr dirty="0"/>
          </a:p>
          <a:p>
            <a:pPr algn="just">
              <a:lnSpc>
                <a:spcPct val="114000"/>
              </a:lnSpc>
              <a:spcBef>
                <a:spcPts val="1200"/>
              </a:spcBef>
              <a:defRPr sz="2200">
                <a:latin typeface="Times New Roman"/>
                <a:ea typeface="Times New Roman"/>
                <a:cs typeface="Times New Roman"/>
                <a:sym typeface="Times New Roman"/>
              </a:defRPr>
            </a:pPr>
            <a:r>
              <a:rPr dirty="0"/>
              <a:t>ELEMENTO SOGGETTIVO</a:t>
            </a:r>
            <a:r>
              <a:rPr b="0" dirty="0"/>
              <a:t>: è </a:t>
            </a:r>
            <a:r>
              <a:rPr b="0" dirty="0" err="1"/>
              <a:t>dubbio</a:t>
            </a:r>
            <a:r>
              <a:rPr b="0" dirty="0"/>
              <a:t>: </a:t>
            </a:r>
            <a:r>
              <a:rPr dirty="0">
                <a:solidFill>
                  <a:srgbClr val="00B050"/>
                </a:solidFill>
              </a:rPr>
              <a:t>DOLO GENERICO</a:t>
            </a:r>
            <a:r>
              <a:rPr b="0" dirty="0"/>
              <a:t>, secondo </a:t>
            </a:r>
            <a:r>
              <a:rPr b="0" dirty="0" err="1"/>
              <a:t>alcuni</a:t>
            </a:r>
            <a:r>
              <a:rPr b="0" dirty="0"/>
              <a:t>, </a:t>
            </a:r>
            <a:r>
              <a:rPr altLang="it-IT" b="0" dirty="0" lang="it-IT"/>
              <a:t>( ritengono che l’inadempimento costituisca elemento del reato) </a:t>
            </a:r>
            <a:r>
              <a:rPr b="0" dirty="0" err="1"/>
              <a:t>perché</a:t>
            </a:r>
            <a:r>
              <a:rPr b="0" dirty="0"/>
              <a:t> vi è la </a:t>
            </a:r>
            <a:r>
              <a:rPr b="0" dirty="0" err="1"/>
              <a:t>coscienza</a:t>
            </a:r>
            <a:r>
              <a:rPr b="0" dirty="0"/>
              <a:t> e </a:t>
            </a:r>
            <a:r>
              <a:rPr b="0" dirty="0" err="1"/>
              <a:t>volontà</a:t>
            </a:r>
            <a:r>
              <a:rPr b="0" dirty="0"/>
              <a:t> del </a:t>
            </a:r>
            <a:r>
              <a:rPr b="0" dirty="0" err="1"/>
              <a:t>fatto</a:t>
            </a:r>
            <a:r>
              <a:rPr b="0" dirty="0"/>
              <a:t> </a:t>
            </a:r>
            <a:r>
              <a:rPr b="0" dirty="0" err="1"/>
              <a:t>tipico</a:t>
            </a:r>
            <a:r>
              <a:rPr b="0" dirty="0"/>
              <a:t> </a:t>
            </a:r>
            <a:r>
              <a:rPr b="0" dirty="0" err="1"/>
              <a:t>previsto</a:t>
            </a:r>
            <a:r>
              <a:rPr b="0" dirty="0"/>
              <a:t> </a:t>
            </a:r>
            <a:r>
              <a:rPr b="0" dirty="0" err="1"/>
              <a:t>dalla</a:t>
            </a:r>
            <a:r>
              <a:rPr b="0" dirty="0"/>
              <a:t> </a:t>
            </a:r>
            <a:r>
              <a:rPr b="0" dirty="0" err="1"/>
              <a:t>norma</a:t>
            </a:r>
            <a:r>
              <a:rPr b="0" dirty="0"/>
              <a:t> </a:t>
            </a:r>
            <a:r>
              <a:rPr b="0" dirty="0" err="1"/>
              <a:t>incriminatrice</a:t>
            </a:r>
            <a:r>
              <a:rPr b="0" dirty="0"/>
              <a:t>; </a:t>
            </a:r>
            <a:r>
              <a:rPr dirty="0">
                <a:solidFill>
                  <a:srgbClr val="00B050"/>
                </a:solidFill>
              </a:rPr>
              <a:t>DOLO SPECIFICO</a:t>
            </a:r>
            <a:r>
              <a:rPr b="0" dirty="0"/>
              <a:t>, secondo </a:t>
            </a:r>
            <a:r>
              <a:rPr b="0" dirty="0" err="1"/>
              <a:t>altri</a:t>
            </a:r>
            <a:r>
              <a:rPr b="0" dirty="0"/>
              <a:t>, </a:t>
            </a:r>
            <a:r>
              <a:rPr b="0" dirty="0" err="1"/>
              <a:t>perché</a:t>
            </a:r>
            <a:r>
              <a:rPr b="0" dirty="0"/>
              <a:t> vi è lo </a:t>
            </a:r>
            <a:r>
              <a:rPr b="0" dirty="0" err="1"/>
              <a:t>scopo</a:t>
            </a:r>
            <a:r>
              <a:rPr b="0" dirty="0"/>
              <a:t> di non </a:t>
            </a:r>
            <a:r>
              <a:rPr b="0" dirty="0" err="1"/>
              <a:t>adempiere</a:t>
            </a:r>
            <a:r>
              <a:rPr b="0" dirty="0"/>
              <a:t> </a:t>
            </a:r>
            <a:r>
              <a:rPr b="0" dirty="0" err="1"/>
              <a:t>all'obbligazione</a:t>
            </a:r>
            <a:r>
              <a:rPr altLang="it-IT" b="0" dirty="0" lang="it-IT"/>
              <a:t>- ricavando cosi profitto</a:t>
            </a:r>
            <a:r>
              <a:rPr b="0" dirty="0"/>
              <a:t>.</a:t>
            </a:r>
          </a:p>
        </p:txBody>
      </p:sp>
      <p:pic>
        <p:nvPicPr>
          <p:cNvPr descr="Immagine 6" id="341"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342"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Insolvenza fraudolenta</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Rettangolo 4"/>
          <p:cNvSpPr txBox="1"/>
          <p:nvPr/>
        </p:nvSpPr>
        <p:spPr>
          <a:xfrm>
            <a:off x="172106" y="1576109"/>
            <a:ext cx="8649797" cy="32253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b="0" sz="2200">
                <a:latin typeface="Times New Roman"/>
                <a:ea typeface="Times New Roman"/>
                <a:cs typeface="Times New Roman"/>
                <a:sym typeface="Times New Roman"/>
              </a:defRPr>
            </a:pPr>
            <a:r>
              <a:rPr dirty="0"/>
              <a:t>È un </a:t>
            </a:r>
            <a:r>
              <a:rPr b="1" dirty="0">
                <a:solidFill>
                  <a:srgbClr val="00B050"/>
                </a:solidFill>
              </a:rPr>
              <a:t>REATO COMUNE</a:t>
            </a:r>
            <a:r>
              <a:rPr dirty="0"/>
              <a:t>, </a:t>
            </a:r>
            <a:r>
              <a:rPr b="1" dirty="0">
                <a:solidFill>
                  <a:srgbClr val="00B050"/>
                </a:solidFill>
              </a:rPr>
              <a:t>DI DANNO</a:t>
            </a:r>
            <a:r>
              <a:rPr dirty="0"/>
              <a:t>, </a:t>
            </a:r>
            <a:r>
              <a:rPr dirty="0" err="1"/>
              <a:t>perché</a:t>
            </a:r>
            <a:r>
              <a:rPr dirty="0"/>
              <a:t> </a:t>
            </a:r>
            <a:r>
              <a:rPr dirty="0" err="1"/>
              <a:t>richiede</a:t>
            </a:r>
            <a:r>
              <a:rPr dirty="0"/>
              <a:t> </a:t>
            </a:r>
            <a:r>
              <a:rPr dirty="0" err="1"/>
              <a:t>l'offesa</a:t>
            </a:r>
            <a:r>
              <a:rPr dirty="0"/>
              <a:t> in </a:t>
            </a:r>
            <a:r>
              <a:rPr dirty="0" err="1"/>
              <a:t>senso</a:t>
            </a:r>
            <a:r>
              <a:rPr dirty="0"/>
              <a:t> </a:t>
            </a:r>
            <a:r>
              <a:rPr dirty="0" err="1"/>
              <a:t>naturalistico</a:t>
            </a:r>
            <a:r>
              <a:rPr dirty="0"/>
              <a:t> del bene </a:t>
            </a:r>
            <a:r>
              <a:rPr dirty="0" err="1"/>
              <a:t>protetto</a:t>
            </a:r>
            <a:r>
              <a:rPr dirty="0"/>
              <a:t>; </a:t>
            </a:r>
            <a:r>
              <a:rPr b="1" dirty="0">
                <a:solidFill>
                  <a:srgbClr val="00B050"/>
                </a:solidFill>
              </a:rPr>
              <a:t>DI MERA CONDOTTA</a:t>
            </a:r>
            <a:r>
              <a:rPr dirty="0"/>
              <a:t>, </a:t>
            </a:r>
            <a:r>
              <a:rPr dirty="0" err="1"/>
              <a:t>perché</a:t>
            </a:r>
            <a:r>
              <a:rPr dirty="0"/>
              <a:t> </a:t>
            </a:r>
            <a:r>
              <a:rPr dirty="0" err="1"/>
              <a:t>si</a:t>
            </a:r>
            <a:r>
              <a:rPr dirty="0"/>
              <a:t> </a:t>
            </a:r>
            <a:r>
              <a:rPr dirty="0" err="1"/>
              <a:t>perfeziona</a:t>
            </a:r>
            <a:r>
              <a:rPr dirty="0"/>
              <a:t> con la semplice </a:t>
            </a:r>
            <a:r>
              <a:rPr dirty="0" err="1"/>
              <a:t>esecuzione</a:t>
            </a:r>
            <a:r>
              <a:rPr dirty="0"/>
              <a:t> </a:t>
            </a:r>
            <a:r>
              <a:rPr dirty="0" err="1"/>
              <a:t>dell'azione</a:t>
            </a:r>
            <a:r>
              <a:rPr dirty="0"/>
              <a:t> </a:t>
            </a:r>
            <a:r>
              <a:rPr dirty="0" err="1"/>
              <a:t>illecita</a:t>
            </a:r>
            <a:r>
              <a:rPr dirty="0"/>
              <a:t>; </a:t>
            </a:r>
            <a:r>
              <a:rPr b="1" dirty="0">
                <a:solidFill>
                  <a:srgbClr val="00B050"/>
                </a:solidFill>
              </a:rPr>
              <a:t>A FORMA VINCOLATA</a:t>
            </a:r>
            <a:r>
              <a:rPr dirty="0"/>
              <a:t>, </a:t>
            </a:r>
            <a:r>
              <a:rPr dirty="0" err="1"/>
              <a:t>perché</a:t>
            </a:r>
            <a:r>
              <a:rPr dirty="0"/>
              <a:t> la </a:t>
            </a:r>
            <a:r>
              <a:rPr dirty="0" err="1"/>
              <a:t>condotta</a:t>
            </a:r>
            <a:r>
              <a:rPr dirty="0"/>
              <a:t> </a:t>
            </a:r>
            <a:r>
              <a:rPr dirty="0" err="1"/>
              <a:t>tipica</a:t>
            </a:r>
            <a:r>
              <a:rPr dirty="0"/>
              <a:t> è </a:t>
            </a:r>
            <a:r>
              <a:rPr dirty="0" err="1"/>
              <a:t>prestabilita</a:t>
            </a:r>
            <a:r>
              <a:rPr dirty="0"/>
              <a:t> dal </a:t>
            </a:r>
            <a:r>
              <a:rPr dirty="0" err="1"/>
              <a:t>legislatore</a:t>
            </a:r>
            <a:r>
              <a:rPr dirty="0"/>
              <a:t>.</a:t>
            </a:r>
          </a:p>
          <a:p>
            <a:pPr algn="just">
              <a:lnSpc>
                <a:spcPct val="114000"/>
              </a:lnSpc>
              <a:spcBef>
                <a:spcPts val="1200"/>
              </a:spcBef>
              <a:defRPr b="0" sz="2200">
                <a:latin typeface="Times New Roman"/>
                <a:ea typeface="Times New Roman"/>
                <a:cs typeface="Times New Roman"/>
                <a:sym typeface="Times New Roman"/>
              </a:defRPr>
            </a:pPr>
            <a:endParaRPr dirty="0"/>
          </a:p>
          <a:p>
            <a:pPr algn="just">
              <a:lnSpc>
                <a:spcPct val="114000"/>
              </a:lnSpc>
              <a:spcBef>
                <a:spcPts val="1200"/>
              </a:spcBef>
              <a:defRPr b="0" sz="2200">
                <a:latin typeface="Times New Roman"/>
                <a:ea typeface="Times New Roman"/>
                <a:cs typeface="Times New Roman"/>
                <a:sym typeface="Times New Roman"/>
              </a:defRPr>
            </a:pPr>
            <a:r>
              <a:rPr dirty="0"/>
              <a:t>Si </a:t>
            </a:r>
            <a:r>
              <a:rPr dirty="0" err="1"/>
              <a:t>consuma</a:t>
            </a:r>
            <a:r>
              <a:rPr dirty="0"/>
              <a:t> </a:t>
            </a:r>
            <a:r>
              <a:rPr dirty="0" err="1"/>
              <a:t>nel</a:t>
            </a:r>
            <a:r>
              <a:rPr dirty="0"/>
              <a:t> </a:t>
            </a:r>
            <a:r>
              <a:rPr dirty="0" err="1"/>
              <a:t>momento</a:t>
            </a:r>
            <a:r>
              <a:rPr dirty="0"/>
              <a:t> in cui </a:t>
            </a:r>
            <a:r>
              <a:rPr dirty="0" err="1"/>
              <a:t>viene</a:t>
            </a:r>
            <a:r>
              <a:rPr dirty="0"/>
              <a:t> </a:t>
            </a:r>
            <a:r>
              <a:rPr b="1" dirty="0" err="1"/>
              <a:t>realizzato</a:t>
            </a:r>
            <a:r>
              <a:rPr b="1" dirty="0"/>
              <a:t> </a:t>
            </a:r>
            <a:r>
              <a:rPr b="1" dirty="0" err="1"/>
              <a:t>l’inadempimento</a:t>
            </a:r>
            <a:r>
              <a:rPr b="1" dirty="0"/>
              <a:t>.</a:t>
            </a:r>
          </a:p>
          <a:p>
            <a:pPr algn="just">
              <a:lnSpc>
                <a:spcPct val="114000"/>
              </a:lnSpc>
              <a:spcBef>
                <a:spcPts val="1200"/>
              </a:spcBef>
              <a:defRPr sz="2200">
                <a:latin typeface="Times New Roman"/>
                <a:ea typeface="Times New Roman"/>
                <a:cs typeface="Times New Roman"/>
                <a:sym typeface="Times New Roman"/>
              </a:defRPr>
            </a:pPr>
            <a:endParaRPr b="1" dirty="0"/>
          </a:p>
        </p:txBody>
      </p:sp>
      <p:pic>
        <p:nvPicPr>
          <p:cNvPr descr="Immagine 6" id="345"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346"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Insolvenza fraudolenta</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Insolvenza fraudolenta"/>
          <p:cNvSpPr txBox="1">
            <a:spLocks noGrp="1"/>
          </p:cNvSpPr>
          <p:nvPr>
            <p:ph type="title"/>
          </p:nvPr>
        </p:nvSpPr>
        <p:spPr>
          <a:xfrm>
            <a:off x="697130" y="-125246"/>
            <a:ext cx="8229601" cy="1143001"/>
          </a:xfrm>
          <a:prstGeom prst="rect">
            <a:avLst/>
          </a:prstGeom>
        </p:spPr>
        <p:txBody>
          <a:bodyPr numCol="1"/>
          <a:lstStyle>
            <a:lvl1pPr algn="l">
              <a:defRPr sz="3200">
                <a:solidFill>
                  <a:srgbClr val="FFFFFF"/>
                </a:solidFill>
                <a:latin typeface="Book Antiqua"/>
                <a:ea typeface="Book Antiqua"/>
                <a:cs typeface="Book Antiqua"/>
                <a:sym typeface="Book Antiqua"/>
              </a:defRPr>
            </a:lvl1pPr>
          </a:lstStyle>
          <a:p>
            <a:r>
              <a:t>Insolvenza fraudolenta</a:t>
            </a:r>
          </a:p>
        </p:txBody>
      </p:sp>
      <p:sp>
        <p:nvSpPr>
          <p:cNvPr id="349" name="LA DIFFERENZA CON IL REATO DI TRUFFA…"/>
          <p:cNvSpPr txBox="1">
            <a:spLocks noGrp="1"/>
          </p:cNvSpPr>
          <p:nvPr>
            <p:ph idx="1" type="body"/>
          </p:nvPr>
        </p:nvSpPr>
        <p:spPr>
          <a:xfrm>
            <a:off x="457200" y="1600200"/>
            <a:ext cx="8229600" cy="4525963"/>
          </a:xfrm>
          <a:prstGeom prst="rect">
            <a:avLst/>
          </a:prstGeom>
        </p:spPr>
        <p:txBody>
          <a:bodyPr numCol="1"/>
          <a:lstStyle/>
          <a:p>
            <a:pPr algn="just" indent="0" marL="0">
              <a:lnSpc>
                <a:spcPct val="114000"/>
              </a:lnSpc>
              <a:spcBef>
                <a:spcPts val="1200"/>
              </a:spcBef>
              <a:buSzTx/>
              <a:buNone/>
              <a:defRPr b="1" sz="2200">
                <a:solidFill>
                  <a:srgbClr val="00B050"/>
                </a:solidFill>
                <a:latin typeface="Times New Roman"/>
                <a:ea typeface="Times New Roman"/>
                <a:cs typeface="Times New Roman"/>
                <a:sym typeface="Times New Roman"/>
              </a:defRPr>
            </a:pPr>
            <a:r>
              <a:t>LA DIFFERENZA CON IL REATO DI TRUFFA </a:t>
            </a:r>
          </a:p>
          <a:p>
            <a:pPr algn="just" indent="0" marL="0">
              <a:lnSpc>
                <a:spcPct val="114000"/>
              </a:lnSpc>
              <a:spcBef>
                <a:spcPts val="1200"/>
              </a:spcBef>
              <a:buSzTx/>
              <a:buNone/>
              <a:defRPr sz="2200">
                <a:latin typeface="Times New Roman"/>
                <a:ea typeface="Times New Roman"/>
                <a:cs typeface="Times New Roman"/>
                <a:sym typeface="Times New Roman"/>
              </a:defRPr>
            </a:pPr>
            <a:endParaRPr/>
          </a:p>
          <a:p>
            <a:pPr algn="just" indent="0" marL="0">
              <a:lnSpc>
                <a:spcPct val="114000"/>
              </a:lnSpc>
              <a:spcBef>
                <a:spcPts val="1200"/>
              </a:spcBef>
              <a:buSzTx/>
              <a:buNone/>
              <a:defRPr b="1" sz="2200">
                <a:latin typeface="Times New Roman"/>
                <a:ea typeface="Times New Roman"/>
                <a:cs typeface="Times New Roman"/>
                <a:sym typeface="Times New Roman"/>
              </a:defRPr>
            </a:pPr>
            <a:r>
              <a:t>nell’insolvenza fraudolenta il fine illecito viene conseguito mediante la </a:t>
            </a:r>
            <a:r>
              <a:rPr u="sng"/>
              <a:t>dissimulazione di una condizione vera </a:t>
            </a:r>
            <a:r>
              <a:t>e, precisamente, dell'insolvibilità dell'agente,</a:t>
            </a:r>
            <a:r>
              <a:rPr b="0"/>
              <a:t> il quale rende impossibile l'adempimento dell'obbligazione assunta. </a:t>
            </a:r>
            <a:endParaRPr>
              <a:solidFill>
                <a:srgbClr val="00B050"/>
              </a:solidFill>
            </a:endParaRPr>
          </a:p>
          <a:p>
            <a:pPr algn="just" indent="0" marL="0">
              <a:lnSpc>
                <a:spcPct val="114000"/>
              </a:lnSpc>
              <a:spcBef>
                <a:spcPts val="1200"/>
              </a:spcBef>
              <a:buSzTx/>
              <a:buNone/>
              <a:defRPr sz="2200">
                <a:latin typeface="Times New Roman"/>
                <a:ea typeface="Times New Roman"/>
                <a:cs typeface="Times New Roman"/>
                <a:sym typeface="Times New Roman"/>
              </a:defRPr>
            </a:pPr>
            <a:endParaRPr>
              <a:solidFill>
                <a:srgbClr val="00B050"/>
              </a:solidFill>
            </a:endParaRPr>
          </a:p>
          <a:p>
            <a:pPr algn="just" indent="0" marL="0">
              <a:lnSpc>
                <a:spcPct val="114000"/>
              </a:lnSpc>
              <a:spcBef>
                <a:spcPts val="1200"/>
              </a:spcBef>
              <a:buSzTx/>
              <a:buNone/>
              <a:defRPr b="1" sz="2200">
                <a:latin typeface="Times New Roman"/>
                <a:ea typeface="Times New Roman"/>
                <a:cs typeface="Times New Roman"/>
                <a:sym typeface="Times New Roman"/>
              </a:defRPr>
            </a:pPr>
            <a:r>
              <a:t>Se, peraltro,</a:t>
            </a:r>
            <a:r>
              <a:rPr u="sng">
                <a:solidFill>
                  <a:srgbClr val="FF0000"/>
                </a:solidFill>
              </a:rPr>
              <a:t> la dissimulazione è operata con raggiri ricorre il reato di truffa</a:t>
            </a:r>
            <a:r>
              <a:rPr b="0"/>
              <a:t> (Cassazione n. 11731 del 1977).</a:t>
            </a:r>
          </a:p>
        </p:txBody>
      </p:sp>
      <p:sp>
        <p:nvSpPr>
          <p:cNvPr id="350" name="Numero diapositiva"/>
          <p:cNvSpPr txBox="1">
            <a:spLocks noGrp="1"/>
          </p:cNvSpPr>
          <p:nvPr>
            <p:ph idx="2147483647" sz="quarter" type="sldNum"/>
          </p:nvPr>
        </p:nvSpPr>
        <p:spPr>
          <a:xfrm>
            <a:off x="8430259" y="6401179"/>
            <a:ext cx="256539" cy="27546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numCol="1"/>
          <a:lstStyle/>
          <a:p>
            <a:fld id="{86CB4B4D-7CA3-9044-876B-883B54F8677D}" type="slidenum">
              <a:t>30</a:t>
            </a:fld>
            <a:endParaRPr/>
          </a:p>
        </p:txBody>
      </p:sp>
      <p:pic>
        <p:nvPicPr>
          <p:cNvPr descr="Immagine 6" id="351"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CasellaDiTesto 1"/>
          <p:cNvSpPr txBox="1"/>
          <p:nvPr/>
        </p:nvSpPr>
        <p:spPr>
          <a:xfrm>
            <a:off x="229859" y="980728"/>
            <a:ext cx="8684281" cy="39124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indent="-1797050" marL="1797050">
              <a:lnSpc>
                <a:spcPct val="114000"/>
              </a:lnSpc>
              <a:spcBef>
                <a:spcPts val="600"/>
              </a:spcBef>
              <a:defRPr sz="2300">
                <a:solidFill>
                  <a:srgbClr val="008000"/>
                </a:solidFill>
                <a:latin typeface="Book Antiqua"/>
                <a:ea typeface="Book Antiqua"/>
                <a:cs typeface="Book Antiqua"/>
                <a:sym typeface="Book Antiqua"/>
              </a:defRPr>
            </a:pPr>
            <a:r>
              <a:rPr dirty="0"/>
              <a:t>Art. 643 </a:t>
            </a:r>
            <a:r>
              <a:rPr dirty="0" err="1"/>
              <a:t>c.p.</a:t>
            </a:r>
            <a:r>
              <a:rPr dirty="0"/>
              <a:t> </a:t>
            </a:r>
            <a:r>
              <a:rPr dirty="0" err="1"/>
              <a:t>Circonvenzione</a:t>
            </a:r>
            <a:r>
              <a:rPr dirty="0"/>
              <a:t> </a:t>
            </a:r>
            <a:r>
              <a:rPr dirty="0" err="1"/>
              <a:t>d’incapace</a:t>
            </a:r>
            <a:endParaRPr dirty="0">
              <a:latin typeface="Times New Roman"/>
              <a:ea typeface="Times New Roman"/>
              <a:cs typeface="Times New Roman"/>
              <a:sym typeface="Times New Roman"/>
            </a:endParaRPr>
          </a:p>
          <a:p>
            <a:pPr algn="just">
              <a:lnSpc>
                <a:spcPct val="114000"/>
              </a:lnSpc>
              <a:spcBef>
                <a:spcPts val="600"/>
              </a:spcBef>
              <a:defRPr b="0" sz="2100">
                <a:latin typeface="Book Antiqua"/>
                <a:ea typeface="Book Antiqua"/>
                <a:cs typeface="Book Antiqua"/>
                <a:sym typeface="Book Antiqua"/>
              </a:defRPr>
            </a:pPr>
            <a:r>
              <a:rPr dirty="0"/>
              <a:t>«</a:t>
            </a:r>
            <a:r>
              <a:rPr dirty="0" err="1" i="1"/>
              <a:t>Chiunque</a:t>
            </a:r>
            <a:r>
              <a:rPr dirty="0" i="1"/>
              <a:t>, </a:t>
            </a:r>
            <a:r>
              <a:rPr b="1" dirty="0" i="1"/>
              <a:t>per </a:t>
            </a:r>
            <a:r>
              <a:rPr b="1" dirty="0" err="1" i="1"/>
              <a:t>procurare</a:t>
            </a:r>
            <a:r>
              <a:rPr b="1" dirty="0" i="1"/>
              <a:t> a </a:t>
            </a:r>
            <a:r>
              <a:rPr b="1" dirty="0" err="1" i="1"/>
              <a:t>sé</a:t>
            </a:r>
            <a:r>
              <a:rPr b="1" dirty="0" i="1"/>
              <a:t> o ad </a:t>
            </a:r>
            <a:r>
              <a:rPr b="1" dirty="0" err="1" i="1"/>
              <a:t>altri</a:t>
            </a:r>
            <a:r>
              <a:rPr b="1" dirty="0" i="1"/>
              <a:t> un </a:t>
            </a:r>
            <a:r>
              <a:rPr b="1" dirty="0" err="1" i="1"/>
              <a:t>profitto</a:t>
            </a:r>
            <a:r>
              <a:rPr dirty="0" i="1"/>
              <a:t>, </a:t>
            </a:r>
            <a:r>
              <a:rPr b="1" dirty="0" err="1" i="1">
                <a:solidFill>
                  <a:srgbClr val="008000"/>
                </a:solidFill>
              </a:rPr>
              <a:t>abusando</a:t>
            </a:r>
            <a:r>
              <a:rPr b="1" dirty="0" i="1">
                <a:solidFill>
                  <a:srgbClr val="008000"/>
                </a:solidFill>
              </a:rPr>
              <a:t> </a:t>
            </a:r>
            <a:r>
              <a:rPr b="1" dirty="0" err="1" i="1">
                <a:solidFill>
                  <a:srgbClr val="008000"/>
                </a:solidFill>
              </a:rPr>
              <a:t>dei</a:t>
            </a:r>
            <a:r>
              <a:rPr b="1" dirty="0" i="1">
                <a:solidFill>
                  <a:srgbClr val="008000"/>
                </a:solidFill>
              </a:rPr>
              <a:t> </a:t>
            </a:r>
            <a:r>
              <a:rPr b="1" dirty="0" err="1" i="1" u="sng">
                <a:solidFill>
                  <a:srgbClr val="008000"/>
                </a:solidFill>
              </a:rPr>
              <a:t>bisogni</a:t>
            </a:r>
            <a:r>
              <a:rPr b="1" dirty="0" i="1">
                <a:solidFill>
                  <a:srgbClr val="008000"/>
                </a:solidFill>
              </a:rPr>
              <a:t>, </a:t>
            </a:r>
            <a:r>
              <a:rPr b="1" dirty="0" err="1" i="1">
                <a:solidFill>
                  <a:srgbClr val="008000"/>
                </a:solidFill>
              </a:rPr>
              <a:t>delle</a:t>
            </a:r>
            <a:r>
              <a:rPr b="1" dirty="0" i="1">
                <a:solidFill>
                  <a:srgbClr val="008000"/>
                </a:solidFill>
              </a:rPr>
              <a:t> </a:t>
            </a:r>
            <a:r>
              <a:rPr b="1" dirty="0" err="1" i="1" u="sng">
                <a:solidFill>
                  <a:srgbClr val="008000"/>
                </a:solidFill>
              </a:rPr>
              <a:t>passioni</a:t>
            </a:r>
            <a:r>
              <a:rPr b="1" dirty="0" i="1">
                <a:solidFill>
                  <a:srgbClr val="008000"/>
                </a:solidFill>
              </a:rPr>
              <a:t> o </a:t>
            </a:r>
            <a:r>
              <a:rPr b="1" dirty="0" err="1" i="1">
                <a:solidFill>
                  <a:srgbClr val="008000"/>
                </a:solidFill>
              </a:rPr>
              <a:t>della</a:t>
            </a:r>
            <a:r>
              <a:rPr b="1" dirty="0" i="1">
                <a:solidFill>
                  <a:srgbClr val="008000"/>
                </a:solidFill>
              </a:rPr>
              <a:t> </a:t>
            </a:r>
            <a:r>
              <a:rPr b="1" dirty="0" err="1" i="1" u="sng">
                <a:solidFill>
                  <a:srgbClr val="008000"/>
                </a:solidFill>
              </a:rPr>
              <a:t>inesperienza</a:t>
            </a:r>
            <a:r>
              <a:rPr b="1" dirty="0" i="1">
                <a:solidFill>
                  <a:srgbClr val="008000"/>
                </a:solidFill>
              </a:rPr>
              <a:t> di una persona </a:t>
            </a:r>
            <a:r>
              <a:rPr b="1" dirty="0" err="1" i="1">
                <a:solidFill>
                  <a:srgbClr val="008000"/>
                </a:solidFill>
              </a:rPr>
              <a:t>minore</a:t>
            </a:r>
            <a:r>
              <a:rPr dirty="0" i="1">
                <a:solidFill>
                  <a:srgbClr val="008000"/>
                </a:solidFill>
              </a:rPr>
              <a:t>, </a:t>
            </a:r>
            <a:r>
              <a:rPr b="1" dirty="0" err="1" i="1">
                <a:solidFill>
                  <a:srgbClr val="008000"/>
                </a:solidFill>
              </a:rPr>
              <a:t>ovvero</a:t>
            </a:r>
            <a:r>
              <a:rPr b="1" dirty="0" i="1">
                <a:solidFill>
                  <a:srgbClr val="008000"/>
                </a:solidFill>
              </a:rPr>
              <a:t> </a:t>
            </a:r>
            <a:r>
              <a:rPr b="1" dirty="0" err="1" i="1">
                <a:solidFill>
                  <a:srgbClr val="008000"/>
                </a:solidFill>
              </a:rPr>
              <a:t>abusando</a:t>
            </a:r>
            <a:r>
              <a:rPr b="1" dirty="0" i="1">
                <a:solidFill>
                  <a:srgbClr val="008000"/>
                </a:solidFill>
              </a:rPr>
              <a:t> </a:t>
            </a:r>
            <a:r>
              <a:rPr b="1" dirty="0" err="1" i="1">
                <a:solidFill>
                  <a:srgbClr val="008000"/>
                </a:solidFill>
              </a:rPr>
              <a:t>dello</a:t>
            </a:r>
            <a:r>
              <a:rPr b="1" dirty="0" i="1">
                <a:solidFill>
                  <a:srgbClr val="008000"/>
                </a:solidFill>
              </a:rPr>
              <a:t> </a:t>
            </a:r>
            <a:r>
              <a:rPr b="1" dirty="0" err="1" i="1">
                <a:solidFill>
                  <a:srgbClr val="008000"/>
                </a:solidFill>
              </a:rPr>
              <a:t>stato</a:t>
            </a:r>
            <a:r>
              <a:rPr b="1" dirty="0" i="1">
                <a:solidFill>
                  <a:srgbClr val="008000"/>
                </a:solidFill>
              </a:rPr>
              <a:t> </a:t>
            </a:r>
            <a:r>
              <a:rPr b="1" dirty="0" err="1" i="1">
                <a:solidFill>
                  <a:srgbClr val="008000"/>
                </a:solidFill>
              </a:rPr>
              <a:t>d'infermità</a:t>
            </a:r>
            <a:r>
              <a:rPr b="1" dirty="0" i="1">
                <a:solidFill>
                  <a:srgbClr val="008000"/>
                </a:solidFill>
              </a:rPr>
              <a:t> o </a:t>
            </a:r>
            <a:r>
              <a:rPr b="1" dirty="0" err="1" i="1">
                <a:solidFill>
                  <a:srgbClr val="008000"/>
                </a:solidFill>
              </a:rPr>
              <a:t>deficienza</a:t>
            </a:r>
            <a:r>
              <a:rPr b="1" dirty="0" i="1">
                <a:solidFill>
                  <a:srgbClr val="008000"/>
                </a:solidFill>
              </a:rPr>
              <a:t> </a:t>
            </a:r>
            <a:r>
              <a:rPr b="1" dirty="0" err="1" i="1">
                <a:solidFill>
                  <a:srgbClr val="008000"/>
                </a:solidFill>
              </a:rPr>
              <a:t>psichica</a:t>
            </a:r>
            <a:r>
              <a:rPr b="1" dirty="0" i="1">
                <a:solidFill>
                  <a:srgbClr val="008000"/>
                </a:solidFill>
              </a:rPr>
              <a:t> di una persona</a:t>
            </a:r>
            <a:r>
              <a:rPr dirty="0" i="1"/>
              <a:t>, </a:t>
            </a:r>
            <a:r>
              <a:rPr dirty="0" err="1" i="1"/>
              <a:t>anche</a:t>
            </a:r>
            <a:r>
              <a:rPr dirty="0" i="1"/>
              <a:t> se non </a:t>
            </a:r>
            <a:r>
              <a:rPr dirty="0" err="1" i="1"/>
              <a:t>interdetta</a:t>
            </a:r>
            <a:r>
              <a:rPr dirty="0" i="1"/>
              <a:t> o </a:t>
            </a:r>
            <a:r>
              <a:rPr dirty="0" err="1" i="1"/>
              <a:t>inabilitata</a:t>
            </a:r>
            <a:r>
              <a:rPr dirty="0" i="1"/>
              <a:t>, </a:t>
            </a:r>
            <a:r>
              <a:rPr b="1" dirty="0" i="1">
                <a:solidFill>
                  <a:srgbClr val="008000"/>
                </a:solidFill>
              </a:rPr>
              <a:t>la induce a </a:t>
            </a:r>
            <a:r>
              <a:rPr b="1" dirty="0" err="1" i="1">
                <a:solidFill>
                  <a:srgbClr val="008000"/>
                </a:solidFill>
              </a:rPr>
              <a:t>compiere</a:t>
            </a:r>
            <a:r>
              <a:rPr b="1" dirty="0" i="1">
                <a:solidFill>
                  <a:srgbClr val="008000"/>
                </a:solidFill>
              </a:rPr>
              <a:t> un </a:t>
            </a:r>
            <a:r>
              <a:rPr b="1" dirty="0" err="1" i="1">
                <a:solidFill>
                  <a:srgbClr val="008000"/>
                </a:solidFill>
              </a:rPr>
              <a:t>atto</a:t>
            </a:r>
            <a:r>
              <a:rPr b="1" dirty="0" i="1">
                <a:solidFill>
                  <a:srgbClr val="008000"/>
                </a:solidFill>
              </a:rPr>
              <a:t> </a:t>
            </a:r>
            <a:r>
              <a:rPr b="1" dirty="0" err="1" i="1">
                <a:solidFill>
                  <a:srgbClr val="008000"/>
                </a:solidFill>
              </a:rPr>
              <a:t>che</a:t>
            </a:r>
            <a:r>
              <a:rPr b="1" dirty="0" i="1">
                <a:solidFill>
                  <a:srgbClr val="008000"/>
                </a:solidFill>
              </a:rPr>
              <a:t> </a:t>
            </a:r>
            <a:r>
              <a:rPr b="1" dirty="0" err="1" i="1">
                <a:solidFill>
                  <a:srgbClr val="008000"/>
                </a:solidFill>
              </a:rPr>
              <a:t>importi</a:t>
            </a:r>
            <a:r>
              <a:rPr b="1" dirty="0" i="1">
                <a:solidFill>
                  <a:srgbClr val="008000"/>
                </a:solidFill>
              </a:rPr>
              <a:t> </a:t>
            </a:r>
            <a:r>
              <a:rPr b="1" dirty="0" err="1" i="1">
                <a:solidFill>
                  <a:srgbClr val="008000"/>
                </a:solidFill>
              </a:rPr>
              <a:t>qualsiasi</a:t>
            </a:r>
            <a:r>
              <a:rPr b="1" dirty="0" i="1">
                <a:solidFill>
                  <a:srgbClr val="008000"/>
                </a:solidFill>
              </a:rPr>
              <a:t> </a:t>
            </a:r>
            <a:r>
              <a:rPr b="1" dirty="0" err="1" i="1">
                <a:solidFill>
                  <a:srgbClr val="008000"/>
                </a:solidFill>
              </a:rPr>
              <a:t>effetto</a:t>
            </a:r>
            <a:r>
              <a:rPr b="1" dirty="0" i="1">
                <a:solidFill>
                  <a:srgbClr val="008000"/>
                </a:solidFill>
              </a:rPr>
              <a:t> </a:t>
            </a:r>
            <a:r>
              <a:rPr b="1" dirty="0" err="1" i="1">
                <a:solidFill>
                  <a:srgbClr val="008000"/>
                </a:solidFill>
              </a:rPr>
              <a:t>giuridico</a:t>
            </a:r>
            <a:r>
              <a:rPr b="1" dirty="0" i="1">
                <a:solidFill>
                  <a:srgbClr val="008000"/>
                </a:solidFill>
              </a:rPr>
              <a:t> per lei o per </a:t>
            </a:r>
            <a:r>
              <a:rPr b="1" dirty="0" err="1" i="1">
                <a:solidFill>
                  <a:srgbClr val="008000"/>
                </a:solidFill>
              </a:rPr>
              <a:t>altri</a:t>
            </a:r>
            <a:r>
              <a:rPr b="1" dirty="0" i="1">
                <a:solidFill>
                  <a:srgbClr val="008000"/>
                </a:solidFill>
              </a:rPr>
              <a:t> </a:t>
            </a:r>
            <a:r>
              <a:rPr b="1" dirty="0" err="1" i="1">
                <a:solidFill>
                  <a:srgbClr val="008000"/>
                </a:solidFill>
              </a:rPr>
              <a:t>dannoso</a:t>
            </a:r>
            <a:r>
              <a:rPr dirty="0" i="1"/>
              <a:t>, è </a:t>
            </a:r>
            <a:r>
              <a:rPr dirty="0" err="1" i="1"/>
              <a:t>punito</a:t>
            </a:r>
            <a:r>
              <a:rPr dirty="0" i="1"/>
              <a:t> con la </a:t>
            </a:r>
            <a:r>
              <a:rPr dirty="0" err="1" i="1"/>
              <a:t>reclusione</a:t>
            </a:r>
            <a:r>
              <a:rPr dirty="0" i="1"/>
              <a:t> da due a sei </a:t>
            </a:r>
            <a:r>
              <a:rPr dirty="0" err="1" i="1"/>
              <a:t>anni</a:t>
            </a:r>
            <a:r>
              <a:rPr dirty="0" i="1"/>
              <a:t> e con la </a:t>
            </a:r>
            <a:r>
              <a:rPr dirty="0" err="1" i="1"/>
              <a:t>multa</a:t>
            </a:r>
            <a:r>
              <a:rPr dirty="0" i="1"/>
              <a:t> da 206 euro a 2065 euro».</a:t>
            </a:r>
            <a:endParaRPr dirty="0">
              <a:latin typeface="Times New Roman"/>
              <a:ea typeface="Times New Roman"/>
              <a:cs typeface="Times New Roman"/>
              <a:sym typeface="Times New Roman"/>
            </a:endParaRPr>
          </a:p>
          <a:p>
            <a:pPr algn="just">
              <a:lnSpc>
                <a:spcPct val="114000"/>
              </a:lnSpc>
              <a:spcBef>
                <a:spcPts val="600"/>
              </a:spcBef>
              <a:defRPr sz="2000">
                <a:latin typeface="Book Antiqua"/>
                <a:ea typeface="Book Antiqua"/>
                <a:cs typeface="Book Antiqua"/>
                <a:sym typeface="Book Antiqua"/>
              </a:defRPr>
            </a:pPr>
            <a:r>
              <a:rPr dirty="0" err="1"/>
              <a:t>L'interesse</a:t>
            </a:r>
            <a:r>
              <a:rPr dirty="0"/>
              <a:t> </a:t>
            </a:r>
            <a:r>
              <a:rPr dirty="0" err="1"/>
              <a:t>tutelato</a:t>
            </a:r>
            <a:r>
              <a:rPr b="0" dirty="0"/>
              <a:t> è </a:t>
            </a:r>
            <a:r>
              <a:rPr b="0" dirty="0" err="1"/>
              <a:t>il</a:t>
            </a:r>
            <a:r>
              <a:rPr b="0" dirty="0"/>
              <a:t> </a:t>
            </a:r>
            <a:r>
              <a:rPr dirty="0" err="1">
                <a:solidFill>
                  <a:srgbClr val="008000"/>
                </a:solidFill>
              </a:rPr>
              <a:t>patrimonio</a:t>
            </a:r>
            <a:r>
              <a:rPr b="0" dirty="0"/>
              <a:t> </a:t>
            </a:r>
            <a:r>
              <a:rPr dirty="0">
                <a:solidFill>
                  <a:srgbClr val="008000"/>
                </a:solidFill>
              </a:rPr>
              <a:t>di </a:t>
            </a:r>
            <a:r>
              <a:rPr dirty="0" err="1">
                <a:solidFill>
                  <a:srgbClr val="008000"/>
                </a:solidFill>
              </a:rPr>
              <a:t>soggetti</a:t>
            </a:r>
            <a:r>
              <a:rPr dirty="0">
                <a:solidFill>
                  <a:srgbClr val="008000"/>
                </a:solidFill>
              </a:rPr>
              <a:t> </a:t>
            </a:r>
            <a:r>
              <a:rPr dirty="0" err="1">
                <a:solidFill>
                  <a:srgbClr val="008000"/>
                </a:solidFill>
              </a:rPr>
              <a:t>che</a:t>
            </a:r>
            <a:r>
              <a:rPr dirty="0">
                <a:solidFill>
                  <a:srgbClr val="008000"/>
                </a:solidFill>
              </a:rPr>
              <a:t>, </a:t>
            </a:r>
            <a:r>
              <a:rPr dirty="0" err="1">
                <a:solidFill>
                  <a:srgbClr val="008000"/>
                </a:solidFill>
              </a:rPr>
              <a:t>trovandosi</a:t>
            </a:r>
            <a:r>
              <a:rPr dirty="0">
                <a:solidFill>
                  <a:srgbClr val="008000"/>
                </a:solidFill>
              </a:rPr>
              <a:t> in </a:t>
            </a:r>
            <a:r>
              <a:rPr dirty="0" err="1">
                <a:solidFill>
                  <a:srgbClr val="008000"/>
                </a:solidFill>
              </a:rPr>
              <a:t>condizioni</a:t>
            </a:r>
            <a:r>
              <a:rPr dirty="0">
                <a:solidFill>
                  <a:srgbClr val="008000"/>
                </a:solidFill>
              </a:rPr>
              <a:t> </a:t>
            </a:r>
            <a:r>
              <a:rPr dirty="0" err="1">
                <a:solidFill>
                  <a:srgbClr val="008000"/>
                </a:solidFill>
              </a:rPr>
              <a:t>particolari</a:t>
            </a:r>
            <a:r>
              <a:rPr b="0" dirty="0"/>
              <a:t>, </a:t>
            </a:r>
            <a:r>
              <a:rPr b="0" dirty="0" err="1"/>
              <a:t>sono</a:t>
            </a:r>
            <a:r>
              <a:rPr b="0" dirty="0"/>
              <a:t> </a:t>
            </a:r>
            <a:r>
              <a:rPr b="0" dirty="0" err="1"/>
              <a:t>più</a:t>
            </a:r>
            <a:r>
              <a:rPr b="0" dirty="0"/>
              <a:t> </a:t>
            </a:r>
            <a:r>
              <a:rPr b="0" dirty="0" err="1"/>
              <a:t>esposti</a:t>
            </a:r>
            <a:r>
              <a:rPr b="0" dirty="0"/>
              <a:t> </a:t>
            </a:r>
            <a:r>
              <a:rPr b="0" dirty="0" err="1"/>
              <a:t>allo</a:t>
            </a:r>
            <a:r>
              <a:rPr b="0" dirty="0"/>
              <a:t> </a:t>
            </a:r>
            <a:r>
              <a:rPr b="0" dirty="0" err="1"/>
              <a:t>sfruttamento</a:t>
            </a:r>
            <a:r>
              <a:rPr b="0" dirty="0"/>
              <a:t> </a:t>
            </a:r>
            <a:r>
              <a:rPr b="0" dirty="0" err="1"/>
              <a:t>illecito</a:t>
            </a:r>
            <a:r>
              <a:rPr b="0" dirty="0"/>
              <a:t> </a:t>
            </a:r>
            <a:r>
              <a:rPr b="0" dirty="0" err="1"/>
              <a:t>altrui</a:t>
            </a:r>
            <a:r>
              <a:rPr b="0" dirty="0"/>
              <a:t>.</a:t>
            </a:r>
          </a:p>
        </p:txBody>
      </p:sp>
      <p:pic>
        <p:nvPicPr>
          <p:cNvPr descr="Immagine 3" id="354" name="Immagine 3"/>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355"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rPr dirty="0" err="1"/>
              <a:t>Circonvenzione</a:t>
            </a:r>
            <a:r>
              <a:rPr dirty="0"/>
              <a:t> di </a:t>
            </a:r>
            <a:r>
              <a:rPr dirty="0" err="1"/>
              <a:t>persone</a:t>
            </a:r>
            <a:r>
              <a:rPr dirty="0"/>
              <a:t> </a:t>
            </a:r>
            <a:r>
              <a:rPr dirty="0" err="1"/>
              <a:t>incapaci</a:t>
            </a:r>
            <a:endParaRPr dirty="0"/>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34D87C7B-C79E-4694-928F-5FC66DF38A47}"/>
              </a:ext>
            </a:extLst>
          </p:cNvPr>
          <p:cNvSpPr>
            <a:spLocks noGrp="1"/>
          </p:cNvSpPr>
          <p:nvPr>
            <p:ph idx="1" type="body"/>
          </p:nvPr>
        </p:nvSpPr>
        <p:spPr>
          <a:xfrm>
            <a:off x="527467" y="-1468963"/>
            <a:ext cx="8229600" cy="4525718"/>
          </a:xfrm>
        </p:spPr>
        <p:txBody>
          <a:bodyPr numCol="1"/>
          <a:lstStyle/>
          <a:p>
            <a:pPr algn="just">
              <a:lnSpc>
                <a:spcPct val="114000"/>
              </a:lnSpc>
              <a:spcBef>
                <a:spcPts val="600"/>
              </a:spcBef>
              <a:defRPr b="0" sz="2000">
                <a:latin typeface="Book Antiqua"/>
                <a:ea typeface="Book Antiqua"/>
                <a:cs typeface="Book Antiqua"/>
                <a:sym typeface="Book Antiqua"/>
              </a:defRPr>
            </a:pPr>
            <a:endParaRPr altLang="it-IT" dirty="0" lang="it-IT">
              <a:solidFill>
                <a:schemeClr val="tx1"/>
              </a:solidFill>
            </a:endParaRPr>
          </a:p>
          <a:p>
            <a:pPr algn="just">
              <a:lnSpc>
                <a:spcPct val="114000"/>
              </a:lnSpc>
              <a:spcBef>
                <a:spcPts val="600"/>
              </a:spcBef>
              <a:defRPr b="0" sz="1700">
                <a:solidFill>
                  <a:srgbClr val="FF0000"/>
                </a:solidFill>
                <a:latin typeface="Book Antiqua"/>
                <a:ea typeface="Book Antiqua"/>
                <a:cs typeface="Book Antiqua"/>
                <a:sym typeface="Book Antiqua"/>
              </a:defRPr>
            </a:pPr>
            <a:r>
              <a:rPr altLang="it-IT" b="1" dirty="0" lang="it-IT" sz="2400">
                <a:solidFill>
                  <a:srgbClr val="00B050"/>
                </a:solidFill>
              </a:rPr>
              <a:t>Inabilitato - </a:t>
            </a:r>
            <a:r>
              <a:rPr altLang="it-IT" dirty="0" lang="it-IT">
                <a:solidFill>
                  <a:schemeClr val="tx1"/>
                </a:solidFill>
              </a:rPr>
              <a:t>infermo di mente il cui stato non è talmente grave da dar luogo ad una interdizione </a:t>
            </a:r>
          </a:p>
          <a:p>
            <a:pPr algn="just">
              <a:lnSpc>
                <a:spcPct val="114000"/>
              </a:lnSpc>
              <a:spcBef>
                <a:spcPts val="600"/>
              </a:spcBef>
              <a:defRPr b="0" sz="1700">
                <a:solidFill>
                  <a:srgbClr val="FF0000"/>
                </a:solidFill>
                <a:latin typeface="Book Antiqua"/>
                <a:ea typeface="Book Antiqua"/>
                <a:cs typeface="Book Antiqua"/>
                <a:sym typeface="Book Antiqua"/>
              </a:defRPr>
            </a:pPr>
            <a:r>
              <a:rPr altLang="it-IT" b="1" dirty="0" i="1" lang="it-IT">
                <a:solidFill>
                  <a:schemeClr val="tx1"/>
                </a:solidFill>
              </a:rPr>
              <a:t>( es. coloro che, per prodigalità o per abuso abituale di bevande alcooliche o stupefacenti, espongono sé o la loro famiglia a gravi pregiudizi economici)</a:t>
            </a:r>
          </a:p>
          <a:p>
            <a:pPr algn="just" indent="0" marL="0">
              <a:lnSpc>
                <a:spcPct val="114000"/>
              </a:lnSpc>
              <a:spcBef>
                <a:spcPts val="600"/>
              </a:spcBef>
              <a:buNone/>
              <a:defRPr b="0" sz="1700">
                <a:solidFill>
                  <a:srgbClr val="FF0000"/>
                </a:solidFill>
                <a:latin typeface="Book Antiqua"/>
                <a:ea typeface="Book Antiqua"/>
                <a:cs typeface="Book Antiqua"/>
                <a:sym typeface="Book Antiqua"/>
              </a:defRPr>
            </a:pPr>
            <a:r>
              <a:rPr altLang="it-IT" dirty="0" lang="it-IT">
                <a:solidFill>
                  <a:schemeClr val="tx1"/>
                </a:solidFill>
              </a:rPr>
              <a:t>quindi l’inabile può compiere atti di ordinaria amministrazione, mentre per quelli di straordinaria amministrazione ( atti di disposizione del patrimonio, come la compravendita di immobili) è necessaria l’assistenza del tutore.</a:t>
            </a:r>
          </a:p>
          <a:p>
            <a:pPr algn="just" indent="0" marL="0">
              <a:lnSpc>
                <a:spcPct val="114000"/>
              </a:lnSpc>
              <a:spcBef>
                <a:spcPts val="600"/>
              </a:spcBef>
              <a:buNone/>
              <a:defRPr b="0" sz="1700">
                <a:solidFill>
                  <a:srgbClr val="FF0000"/>
                </a:solidFill>
                <a:latin typeface="Book Antiqua"/>
                <a:ea typeface="Book Antiqua"/>
                <a:cs typeface="Book Antiqua"/>
                <a:sym typeface="Book Antiqua"/>
              </a:defRPr>
            </a:pPr>
            <a:endParaRPr altLang="it-IT" dirty="0" lang="it-IT">
              <a:solidFill>
                <a:schemeClr val="tx1"/>
              </a:solidFill>
            </a:endParaRPr>
          </a:p>
          <a:p>
            <a:pPr algn="just" indent="0" marL="0">
              <a:lnSpc>
                <a:spcPct val="114000"/>
              </a:lnSpc>
              <a:spcBef>
                <a:spcPts val="600"/>
              </a:spcBef>
              <a:buNone/>
              <a:defRPr b="0" sz="1700">
                <a:solidFill>
                  <a:srgbClr val="FF0000"/>
                </a:solidFill>
                <a:latin typeface="Book Antiqua"/>
                <a:ea typeface="Book Antiqua"/>
                <a:cs typeface="Book Antiqua"/>
                <a:sym typeface="Book Antiqua"/>
              </a:defRPr>
            </a:pPr>
            <a:endParaRPr altLang="it-IT" dirty="0" lang="it-IT">
              <a:solidFill>
                <a:schemeClr val="tx1"/>
              </a:solidFill>
            </a:endParaRPr>
          </a:p>
          <a:p>
            <a:pPr algn="just">
              <a:lnSpc>
                <a:spcPct val="114000"/>
              </a:lnSpc>
              <a:spcBef>
                <a:spcPts val="600"/>
              </a:spcBef>
              <a:defRPr b="0" sz="1700">
                <a:solidFill>
                  <a:srgbClr val="FF0000"/>
                </a:solidFill>
                <a:latin typeface="Book Antiqua"/>
                <a:ea typeface="Book Antiqua"/>
                <a:cs typeface="Book Antiqua"/>
                <a:sym typeface="Book Antiqua"/>
              </a:defRPr>
            </a:pPr>
            <a:r>
              <a:rPr altLang="it-IT" b="1" dirty="0" lang="it-IT" sz="2400">
                <a:solidFill>
                  <a:srgbClr val="00B050"/>
                </a:solidFill>
              </a:rPr>
              <a:t>Interdetto</a:t>
            </a:r>
            <a:r>
              <a:rPr altLang="it-IT" dirty="0" lang="it-IT">
                <a:solidFill>
                  <a:schemeClr val="tx1"/>
                </a:solidFill>
              </a:rPr>
              <a:t> - il maggiorenne che si trova in condizioni di abituale infermità di mente ed è quindi incapace di provvedere ai propri interessi.</a:t>
            </a:r>
          </a:p>
          <a:p>
            <a:endParaRPr altLang="it-IT" dirty="0" lang="it-IT"/>
          </a:p>
        </p:txBody>
      </p:sp>
      <p:sp>
        <p:nvSpPr>
          <p:cNvPr id="4" name="Text Box 5">
            <a:extLst>
              <a:ext uri="{FF2B5EF4-FFF2-40B4-BE49-F238E27FC236}">
                <a16:creationId xmlns:a16="http://schemas.microsoft.com/office/drawing/2014/main" id="{5830302A-ECF2-418D-A09D-14E5950B2987}"/>
              </a:ext>
            </a:extLst>
          </p:cNvPr>
          <p:cNvSpPr txBox="1">
            <a:spLocks noGrp="1"/>
          </p:cNvSpPr>
          <p:nvPr>
            <p:ph type="title"/>
          </p:nvPr>
        </p:nvSpPr>
        <p:spPr>
          <a:xfrm>
            <a:off x="572521" y="67097"/>
            <a:ext cx="7682089" cy="582451"/>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wrap="square">
            <a:spAutoFit/>
          </a:bodyPr>
          <a:lstStyle>
            <a:lvl1pPr>
              <a:defRPr b="0" sz="3200">
                <a:solidFill>
                  <a:srgbClr val="FFFFFF"/>
                </a:solidFill>
                <a:latin typeface="Book Antiqua"/>
                <a:ea typeface="Book Antiqua"/>
                <a:cs typeface="Book Antiqua"/>
                <a:sym typeface="Book Antiqua"/>
              </a:defRPr>
            </a:lvl1pPr>
          </a:lstStyle>
          <a:p>
            <a:r>
              <a:rPr dirty="0" err="1"/>
              <a:t>Circonvenzione</a:t>
            </a:r>
            <a:r>
              <a:rPr dirty="0"/>
              <a:t> di </a:t>
            </a:r>
            <a:r>
              <a:rPr dirty="0" err="1"/>
              <a:t>persone</a:t>
            </a:r>
            <a:r>
              <a:rPr dirty="0"/>
              <a:t> </a:t>
            </a:r>
            <a:r>
              <a:rPr dirty="0" err="1"/>
              <a:t>incapaci</a:t>
            </a:r>
            <a:endParaRPr dirty="0"/>
          </a:p>
        </p:txBody>
      </p:sp>
      <p:pic>
        <p:nvPicPr>
          <p:cNvPr descr="Immagine 3" id="5" name="Immagine 3">
            <a:extLst>
              <a:ext uri="{FF2B5EF4-FFF2-40B4-BE49-F238E27FC236}">
                <a16:creationId xmlns:a16="http://schemas.microsoft.com/office/drawing/2014/main" id="{3FB6E188-01D4-4965-BD8B-19F7F1E9C123}"/>
              </a:ext>
            </a:extLst>
          </p:cNvPr>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Tree>
    <p:extLst>
      <p:ext uri="{BB962C8B-B14F-4D97-AF65-F5344CB8AC3E}">
        <p14:creationId xmlns:p14="http://schemas.microsoft.com/office/powerpoint/2010/main" val="2876035115"/>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Rettangolo 4"/>
          <p:cNvSpPr txBox="1"/>
          <p:nvPr/>
        </p:nvSpPr>
        <p:spPr>
          <a:xfrm>
            <a:off x="36907" y="980629"/>
            <a:ext cx="12031346" cy="56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sz="2200" u="sng">
                <a:latin typeface="Times New Roman"/>
                <a:ea typeface="Times New Roman"/>
                <a:cs typeface="Times New Roman"/>
                <a:sym typeface="Times New Roman"/>
              </a:defRPr>
            </a:pPr>
            <a:r>
              <a:t>ELEMENTO OGGETTIVO</a:t>
            </a:r>
            <a:r>
              <a:rPr b="0" u="none"/>
              <a:t>: consiste nell'</a:t>
            </a:r>
            <a:r>
              <a:rPr u="none">
                <a:solidFill>
                  <a:srgbClr val="008000"/>
                </a:solidFill>
              </a:rPr>
              <a:t>indurre un soggetto a compiere un atto che importa qualsiasi effetto giuridico per lui o per altri dannoso</a:t>
            </a:r>
            <a:r>
              <a:rPr b="0" u="none"/>
              <a:t>: </a:t>
            </a:r>
          </a:p>
          <a:p>
            <a:pPr algn="just" indent="-342900" marL="342900">
              <a:lnSpc>
                <a:spcPct val="114000"/>
              </a:lnSpc>
              <a:spcBef>
                <a:spcPts val="1200"/>
              </a:spcBef>
              <a:buSzPct val="100000"/>
              <a:buFont typeface="Arial"/>
              <a:buChar char="•"/>
              <a:defRPr sz="2200">
                <a:solidFill>
                  <a:srgbClr val="008000"/>
                </a:solidFill>
                <a:latin typeface="Times New Roman"/>
                <a:ea typeface="Times New Roman"/>
                <a:cs typeface="Times New Roman"/>
                <a:sym typeface="Times New Roman"/>
              </a:defRPr>
            </a:pPr>
            <a:r>
              <a:t>INDURRE</a:t>
            </a:r>
            <a:r>
              <a:rPr b="0">
                <a:solidFill>
                  <a:srgbClr val="000000"/>
                </a:solidFill>
              </a:rPr>
              <a:t> significa suggestionare e convincere il soggetto passivo a porre in essere una determinata attività per evitare un danno maggiore</a:t>
            </a:r>
          </a:p>
          <a:p>
            <a:pPr algn="just" indent="-342900" marL="342900">
              <a:lnSpc>
                <a:spcPct val="114000"/>
              </a:lnSpc>
              <a:spcBef>
                <a:spcPts val="1200"/>
              </a:spcBef>
              <a:buSzPct val="100000"/>
              <a:buFont typeface="Arial"/>
              <a:buChar char="•"/>
              <a:defRPr sz="2200">
                <a:solidFill>
                  <a:srgbClr val="008000"/>
                </a:solidFill>
                <a:latin typeface="Times New Roman"/>
                <a:ea typeface="Times New Roman"/>
                <a:cs typeface="Times New Roman"/>
                <a:sym typeface="Times New Roman"/>
              </a:defRPr>
            </a:pPr>
            <a:r>
              <a:t>“ATTO” </a:t>
            </a:r>
            <a:r>
              <a:rPr b="0">
                <a:solidFill>
                  <a:srgbClr val="000000"/>
                </a:solidFill>
              </a:rPr>
              <a:t>è qualunque comportamento umano, purché idoneo a produrre effetti giuridicamente rilevanti </a:t>
            </a:r>
          </a:p>
          <a:p>
            <a:pPr algn="just" indent="-342900" marL="342900">
              <a:lnSpc>
                <a:spcPct val="114000"/>
              </a:lnSpc>
              <a:spcBef>
                <a:spcPts val="1200"/>
              </a:spcBef>
              <a:buSzPct val="100000"/>
              <a:buFont typeface="Arial"/>
              <a:buChar char="•"/>
              <a:defRPr sz="2200">
                <a:solidFill>
                  <a:srgbClr val="008000"/>
                </a:solidFill>
                <a:latin typeface="Times New Roman"/>
                <a:ea typeface="Times New Roman"/>
                <a:cs typeface="Times New Roman"/>
                <a:sym typeface="Times New Roman"/>
              </a:defRPr>
            </a:pPr>
            <a:r>
              <a:t>DANNO</a:t>
            </a:r>
            <a:r>
              <a:rPr b="0">
                <a:solidFill>
                  <a:srgbClr val="000000"/>
                </a:solidFill>
              </a:rPr>
              <a:t> consiste in un pregiudizio non necessariamente di carattere patrimoniale, ma anche di tipo morale, psicologico, ecc.</a:t>
            </a:r>
          </a:p>
        </p:txBody>
      </p:sp>
      <p:pic>
        <p:nvPicPr>
          <p:cNvPr descr="Immagine 6" id="358"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359"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Circonvenzione di persone incapaci</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Rettangolo 4"/>
          <p:cNvSpPr txBox="1"/>
          <p:nvPr/>
        </p:nvSpPr>
        <p:spPr>
          <a:xfrm>
            <a:off x="45719" y="980727"/>
            <a:ext cx="9052561" cy="4989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b="0" sz="2200">
                <a:latin typeface="Times New Roman"/>
                <a:ea typeface="Times New Roman"/>
                <a:cs typeface="Times New Roman"/>
                <a:sym typeface="Times New Roman"/>
              </a:defRPr>
            </a:pPr>
            <a:r>
              <a:t>La </a:t>
            </a:r>
            <a:r>
              <a:rPr b="1">
                <a:solidFill>
                  <a:srgbClr val="008000"/>
                </a:solidFill>
              </a:rPr>
              <a:t>CONDOTTA ILLECITA </a:t>
            </a:r>
            <a:r>
              <a:t>deve essere eseguita nei confronti di una persona di età inferiore ai 18 anni o nei confronti di un soggetto che si trova in una condizione di infermità o deficienza psichica, anche se non è né interdetto, né inabilitato e deve concretizzarsi in un:</a:t>
            </a:r>
          </a:p>
          <a:p>
            <a:pPr algn="just" indent="-342900" marL="342900">
              <a:lnSpc>
                <a:spcPct val="114000"/>
              </a:lnSpc>
              <a:spcBef>
                <a:spcPts val="1200"/>
              </a:spcBef>
              <a:buSzPct val="100000"/>
              <a:buFont typeface="Times New Roman"/>
              <a:buChar char="❑"/>
              <a:defRPr sz="2200">
                <a:solidFill>
                  <a:srgbClr val="008000"/>
                </a:solidFill>
                <a:latin typeface="Times New Roman"/>
                <a:ea typeface="Times New Roman"/>
                <a:cs typeface="Times New Roman"/>
                <a:sym typeface="Times New Roman"/>
              </a:defRPr>
            </a:pPr>
            <a:r>
              <a:t>abuso dei bisogni</a:t>
            </a:r>
            <a:r>
              <a:rPr b="0">
                <a:solidFill>
                  <a:srgbClr val="000000"/>
                </a:solidFill>
              </a:rPr>
              <a:t>, </a:t>
            </a:r>
            <a:r>
              <a:t>delle passioni </a:t>
            </a:r>
            <a:r>
              <a:rPr b="0">
                <a:solidFill>
                  <a:srgbClr val="000000"/>
                </a:solidFill>
              </a:rPr>
              <a:t>e </a:t>
            </a:r>
            <a:r>
              <a:t>dell'inesperienza del minore</a:t>
            </a:r>
            <a:r>
              <a:rPr b="0">
                <a:solidFill>
                  <a:srgbClr val="000000"/>
                </a:solidFill>
              </a:rPr>
              <a:t>: abusare significa approfittarsi, in qualunque modo, della condizione di vulnerabilità in cui versa la persona, per fargli compiere determinati atti che altrimenti non realizzerebbe;</a:t>
            </a:r>
          </a:p>
          <a:p>
            <a:pPr algn="just" indent="-342900" marL="342900">
              <a:lnSpc>
                <a:spcPct val="114000"/>
              </a:lnSpc>
              <a:spcBef>
                <a:spcPts val="1200"/>
              </a:spcBef>
              <a:buSzPct val="100000"/>
              <a:buFont typeface="Times New Roman"/>
              <a:buChar char="❑"/>
              <a:defRPr sz="2200">
                <a:solidFill>
                  <a:srgbClr val="008000"/>
                </a:solidFill>
                <a:latin typeface="Times New Roman"/>
                <a:ea typeface="Times New Roman"/>
                <a:cs typeface="Times New Roman"/>
                <a:sym typeface="Times New Roman"/>
              </a:defRPr>
            </a:pPr>
            <a:r>
              <a:t>abuso di quelle condizione di minorazione psichica </a:t>
            </a:r>
            <a:r>
              <a:rPr b="0">
                <a:solidFill>
                  <a:srgbClr val="000000"/>
                </a:solidFill>
              </a:rPr>
              <a:t>che limitano le facoltà mentali del soggetto.</a:t>
            </a:r>
          </a:p>
          <a:p>
            <a:pPr algn="just">
              <a:lnSpc>
                <a:spcPct val="114000"/>
              </a:lnSpc>
              <a:spcBef>
                <a:spcPts val="1200"/>
              </a:spcBef>
              <a:defRPr b="0" sz="2200">
                <a:latin typeface="Times New Roman"/>
                <a:ea typeface="Times New Roman"/>
                <a:cs typeface="Times New Roman"/>
                <a:sym typeface="Times New Roman"/>
              </a:defRPr>
            </a:pPr>
            <a:r>
              <a:t>Per la </a:t>
            </a:r>
            <a:r>
              <a:rPr b="1">
                <a:solidFill>
                  <a:srgbClr val="008000"/>
                </a:solidFill>
              </a:rPr>
              <a:t>configurabilità del reato</a:t>
            </a:r>
            <a:r>
              <a:t> è necessario, altresì, che il soggetto si attivi al fine di procurare a sé o ad altri un profitto.</a:t>
            </a:r>
          </a:p>
        </p:txBody>
      </p:sp>
      <p:pic>
        <p:nvPicPr>
          <p:cNvPr descr="Immagine 6" id="362"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363"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Circonvenzione di persone incapaci</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 name="Rettangolo 4"/>
          <p:cNvSpPr txBox="1"/>
          <p:nvPr/>
        </p:nvSpPr>
        <p:spPr>
          <a:xfrm>
            <a:off x="203901" y="1196751"/>
            <a:ext cx="8736198" cy="50613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b="0" sz="2200">
                <a:latin typeface="Times New Roman"/>
                <a:ea typeface="Times New Roman"/>
                <a:cs typeface="Times New Roman"/>
                <a:sym typeface="Times New Roman"/>
              </a:defRPr>
            </a:pPr>
            <a:r>
              <a:t>Lo </a:t>
            </a:r>
            <a:r>
              <a:rPr b="1" sz="2400">
                <a:solidFill>
                  <a:srgbClr val="008000"/>
                </a:solidFill>
              </a:rPr>
              <a:t>stato di deficienza psichica</a:t>
            </a:r>
            <a:r>
              <a:rPr sz="2400"/>
              <a:t>,</a:t>
            </a:r>
            <a:r>
              <a:t> previsto come elemento costitutivo del reato di circonvenzione di incapaci, va inteso in senso ampio, comprensivo di </a:t>
            </a:r>
            <a:r>
              <a:rPr b="1"/>
              <a:t>qualsiasi minorazione, </a:t>
            </a:r>
            <a:r>
              <a:rPr b="1" sz="2600" u="sng">
                <a:solidFill>
                  <a:srgbClr val="FF0000"/>
                </a:solidFill>
              </a:rPr>
              <a:t>anche temporanea</a:t>
            </a:r>
            <a:r>
              <a:rPr b="1"/>
              <a:t>, della sfera intellettiva, volitiva, o affettiva del soggetto passivo</a:t>
            </a:r>
            <a:r>
              <a:t>.</a:t>
            </a:r>
          </a:p>
          <a:p>
            <a:pPr algn="just">
              <a:lnSpc>
                <a:spcPct val="114000"/>
              </a:lnSpc>
              <a:spcBef>
                <a:spcPts val="1200"/>
              </a:spcBef>
              <a:defRPr b="0" i="1" sz="2200">
                <a:latin typeface="Times New Roman"/>
                <a:ea typeface="Times New Roman"/>
                <a:cs typeface="Times New Roman"/>
                <a:sym typeface="Times New Roman"/>
              </a:defRPr>
            </a:pPr>
            <a:r>
              <a:t>(Es. può derivare dalla fragilità del carattere, anzianità etc…)</a:t>
            </a:r>
          </a:p>
          <a:p>
            <a:pPr algn="just">
              <a:lnSpc>
                <a:spcPct val="114000"/>
              </a:lnSpc>
              <a:spcBef>
                <a:spcPts val="1200"/>
              </a:spcBef>
              <a:defRPr b="0" sz="2200">
                <a:latin typeface="Times New Roman"/>
                <a:ea typeface="Times New Roman"/>
                <a:cs typeface="Times New Roman"/>
                <a:sym typeface="Times New Roman"/>
              </a:defRPr>
            </a:pPr>
            <a:endParaRPr/>
          </a:p>
          <a:p>
            <a:pPr algn="just">
              <a:lnSpc>
                <a:spcPct val="114000"/>
              </a:lnSpc>
              <a:spcBef>
                <a:spcPts val="1200"/>
              </a:spcBef>
              <a:defRPr b="0" sz="2200">
                <a:latin typeface="Times New Roman"/>
                <a:ea typeface="Times New Roman"/>
                <a:cs typeface="Times New Roman"/>
                <a:sym typeface="Times New Roman"/>
              </a:defRPr>
            </a:pPr>
            <a:r>
              <a:t>Lo stato di infermità o deficienza psichica </a:t>
            </a:r>
            <a:r>
              <a:rPr b="1" u="sng"/>
              <a:t>non deve necessariamente consistere in una vera e propria malattia mentale,</a:t>
            </a:r>
            <a:r>
              <a:t> ben potendo configurarsi in uno stato che provochi </a:t>
            </a:r>
            <a:r>
              <a:rPr b="1">
                <a:solidFill>
                  <a:srgbClr val="008000"/>
                </a:solidFill>
              </a:rPr>
              <a:t>un'incisiva limitazione delle facoltà di discernimento e autodeterminazione nonché della capacità di prendersi cura dei propri interessi </a:t>
            </a:r>
            <a:r>
              <a:t>cosicché si renda possibile l'intervento suggestivo dell'agente.</a:t>
            </a:r>
          </a:p>
        </p:txBody>
      </p:sp>
      <p:pic>
        <p:nvPicPr>
          <p:cNvPr descr="Immagine 6" id="366"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367"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Circonvenzione di persone incapaci</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Rettangolo 4"/>
          <p:cNvSpPr txBox="1"/>
          <p:nvPr/>
        </p:nvSpPr>
        <p:spPr>
          <a:xfrm>
            <a:off x="182570" y="980728"/>
            <a:ext cx="8736198" cy="3712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b="0" sz="2200">
                <a:latin typeface="Times New Roman"/>
                <a:ea typeface="Times New Roman"/>
                <a:cs typeface="Times New Roman"/>
                <a:sym typeface="Times New Roman"/>
              </a:defRPr>
            </a:pPr>
            <a:r>
              <a:t>È un </a:t>
            </a:r>
            <a:r>
              <a:rPr b="1">
                <a:solidFill>
                  <a:srgbClr val="008000"/>
                </a:solidFill>
              </a:rPr>
              <a:t>REATO COMUNE</a:t>
            </a:r>
            <a:r>
              <a:t>, </a:t>
            </a:r>
            <a:r>
              <a:rPr b="1">
                <a:solidFill>
                  <a:srgbClr val="008000"/>
                </a:solidFill>
              </a:rPr>
              <a:t>DI DANNO</a:t>
            </a:r>
            <a:r>
              <a:t>, perché richiede l'offesa in senso naturalistico del bene protetto; </a:t>
            </a:r>
            <a:r>
              <a:rPr b="1">
                <a:solidFill>
                  <a:srgbClr val="008000"/>
                </a:solidFill>
              </a:rPr>
              <a:t>DI EVENTO</a:t>
            </a:r>
            <a:r>
              <a:t>, perché si perfeziona con la verificazione dell'evento dannoso; </a:t>
            </a:r>
            <a:r>
              <a:rPr b="1">
                <a:solidFill>
                  <a:srgbClr val="008000"/>
                </a:solidFill>
              </a:rPr>
              <a:t>A FORMA LIBERA</a:t>
            </a:r>
            <a:r>
              <a:t>, perché la condotta non è tipizzata dal legislatore.</a:t>
            </a:r>
          </a:p>
          <a:p>
            <a:pPr algn="just">
              <a:lnSpc>
                <a:spcPct val="114000"/>
              </a:lnSpc>
              <a:spcBef>
                <a:spcPts val="1200"/>
              </a:spcBef>
              <a:defRPr b="0" sz="2200">
                <a:latin typeface="Times New Roman"/>
                <a:ea typeface="Times New Roman"/>
                <a:cs typeface="Times New Roman"/>
                <a:sym typeface="Times New Roman"/>
              </a:defRPr>
            </a:pPr>
            <a:r>
              <a:t>Si consuma nel momento in cui l'atto dannoso viene realizzato e il tentativo è ipotizzabile.</a:t>
            </a:r>
          </a:p>
          <a:p>
            <a:pPr algn="just">
              <a:lnSpc>
                <a:spcPct val="114000"/>
              </a:lnSpc>
              <a:spcBef>
                <a:spcPts val="1200"/>
              </a:spcBef>
              <a:defRPr sz="2200" u="sng">
                <a:latin typeface="Times New Roman"/>
                <a:ea typeface="Times New Roman"/>
                <a:cs typeface="Times New Roman"/>
                <a:sym typeface="Times New Roman"/>
              </a:defRPr>
            </a:pPr>
            <a:r>
              <a:t>ELEMENTO SOGGETTIVO</a:t>
            </a:r>
            <a:r>
              <a:rPr u="none"/>
              <a:t> </a:t>
            </a:r>
            <a:r>
              <a:rPr b="0" u="none"/>
              <a:t>è il </a:t>
            </a:r>
            <a:r>
              <a:rPr u="none">
                <a:solidFill>
                  <a:srgbClr val="008000"/>
                </a:solidFill>
              </a:rPr>
              <a:t>DOLO SPECIFICO</a:t>
            </a:r>
            <a:r>
              <a:rPr b="0" u="none"/>
              <a:t>, inteso come coscienza e volontà del fatto tipico, con l'ulteriore scopo di conseguire un profitto.</a:t>
            </a:r>
          </a:p>
        </p:txBody>
      </p:sp>
      <p:pic>
        <p:nvPicPr>
          <p:cNvPr descr="Immagine 6" id="370"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371"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Circonvenzione di persone incapaci</a:t>
            </a: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CasellaDiTesto 1"/>
          <p:cNvSpPr txBox="1"/>
          <p:nvPr/>
        </p:nvSpPr>
        <p:spPr>
          <a:xfrm>
            <a:off x="229859" y="1633950"/>
            <a:ext cx="8684281" cy="34603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indent="-1797050" marL="1797050">
              <a:lnSpc>
                <a:spcPct val="114000"/>
              </a:lnSpc>
              <a:spcBef>
                <a:spcPts val="600"/>
              </a:spcBef>
              <a:defRPr sz="2400">
                <a:solidFill>
                  <a:srgbClr val="E46C0A"/>
                </a:solidFill>
                <a:latin typeface="Book Antiqua"/>
                <a:ea typeface="Book Antiqua"/>
                <a:cs typeface="Book Antiqua"/>
                <a:sym typeface="Book Antiqua"/>
              </a:defRPr>
            </a:pPr>
            <a:r>
              <a:rPr dirty="0"/>
              <a:t>Art. 646 </a:t>
            </a:r>
            <a:r>
              <a:rPr dirty="0" err="1"/>
              <a:t>c.p.</a:t>
            </a:r>
            <a:r>
              <a:rPr dirty="0"/>
              <a:t> </a:t>
            </a:r>
            <a:r>
              <a:rPr dirty="0" err="1"/>
              <a:t>Appropriazione</a:t>
            </a:r>
            <a:r>
              <a:rPr dirty="0"/>
              <a:t> </a:t>
            </a:r>
            <a:r>
              <a:rPr dirty="0" err="1"/>
              <a:t>indebita</a:t>
            </a:r>
            <a:endParaRPr altLang="it-IT" dirty="0" lang="it-IT"/>
          </a:p>
          <a:p>
            <a:pPr algn="just" indent="-1797050" marL="1797050">
              <a:lnSpc>
                <a:spcPct val="114000"/>
              </a:lnSpc>
              <a:spcBef>
                <a:spcPts val="600"/>
              </a:spcBef>
              <a:defRPr sz="2400">
                <a:solidFill>
                  <a:srgbClr val="E46C0A"/>
                </a:solidFill>
                <a:latin typeface="Book Antiqua"/>
                <a:ea typeface="Book Antiqua"/>
                <a:cs typeface="Book Antiqua"/>
                <a:sym typeface="Book Antiqua"/>
              </a:defRPr>
            </a:pPr>
            <a:endParaRPr dirty="0">
              <a:latin typeface="Times New Roman"/>
              <a:ea typeface="Times New Roman"/>
              <a:cs typeface="Times New Roman"/>
              <a:sym typeface="Times New Roman"/>
            </a:endParaRPr>
          </a:p>
          <a:p>
            <a:pPr algn="just">
              <a:lnSpc>
                <a:spcPct val="114000"/>
              </a:lnSpc>
              <a:spcBef>
                <a:spcPts val="600"/>
              </a:spcBef>
              <a:defRPr b="0" sz="2200">
                <a:latin typeface="Book Antiqua"/>
                <a:ea typeface="Book Antiqua"/>
                <a:cs typeface="Book Antiqua"/>
                <a:sym typeface="Book Antiqua"/>
              </a:defRPr>
            </a:pPr>
            <a:r>
              <a:rPr dirty="0"/>
              <a:t>«</a:t>
            </a:r>
            <a:r>
              <a:rPr dirty="0" err="1" i="1"/>
              <a:t>Chiunque</a:t>
            </a:r>
            <a:r>
              <a:rPr dirty="0" i="1"/>
              <a:t>, </a:t>
            </a:r>
            <a:r>
              <a:rPr b="1" dirty="0" i="1"/>
              <a:t>per </a:t>
            </a:r>
            <a:r>
              <a:rPr b="1" dirty="0" err="1" i="1"/>
              <a:t>procurare</a:t>
            </a:r>
            <a:r>
              <a:rPr b="1" dirty="0" i="1"/>
              <a:t> a </a:t>
            </a:r>
            <a:r>
              <a:rPr b="1" dirty="0" err="1" i="1"/>
              <a:t>sé</a:t>
            </a:r>
            <a:r>
              <a:rPr b="1" dirty="0" i="1"/>
              <a:t> o ad </a:t>
            </a:r>
            <a:r>
              <a:rPr b="1" dirty="0" err="1" i="1"/>
              <a:t>altri</a:t>
            </a:r>
            <a:r>
              <a:rPr b="1" dirty="0" i="1"/>
              <a:t> un </a:t>
            </a:r>
            <a:r>
              <a:rPr b="1" dirty="0" err="1" i="1"/>
              <a:t>ingiusto</a:t>
            </a:r>
            <a:r>
              <a:rPr b="1" dirty="0" i="1"/>
              <a:t> </a:t>
            </a:r>
            <a:r>
              <a:rPr b="1" dirty="0" err="1" i="1"/>
              <a:t>profitto</a:t>
            </a:r>
            <a:r>
              <a:rPr dirty="0" i="1"/>
              <a:t>, </a:t>
            </a:r>
            <a:r>
              <a:rPr dirty="0" err="1" i="1"/>
              <a:t>si</a:t>
            </a:r>
            <a:r>
              <a:rPr dirty="0" i="1"/>
              <a:t> </a:t>
            </a:r>
            <a:r>
              <a:rPr b="1" dirty="0" err="1" i="1">
                <a:solidFill>
                  <a:srgbClr val="E46C0A"/>
                </a:solidFill>
              </a:rPr>
              <a:t>appropria</a:t>
            </a:r>
            <a:r>
              <a:rPr b="1" dirty="0" i="1">
                <a:solidFill>
                  <a:srgbClr val="E46C0A"/>
                </a:solidFill>
              </a:rPr>
              <a:t> </a:t>
            </a:r>
            <a:r>
              <a:rPr b="1" dirty="0" err="1" i="1">
                <a:solidFill>
                  <a:srgbClr val="E46C0A"/>
                </a:solidFill>
              </a:rPr>
              <a:t>il</a:t>
            </a:r>
            <a:r>
              <a:rPr b="1" dirty="0" i="1">
                <a:solidFill>
                  <a:srgbClr val="E46C0A"/>
                </a:solidFill>
              </a:rPr>
              <a:t> </a:t>
            </a:r>
            <a:r>
              <a:rPr b="1" dirty="0" err="1" i="1">
                <a:solidFill>
                  <a:srgbClr val="E46C0A"/>
                </a:solidFill>
              </a:rPr>
              <a:t>denaro</a:t>
            </a:r>
            <a:r>
              <a:rPr b="1" dirty="0" i="1">
                <a:solidFill>
                  <a:srgbClr val="E46C0A"/>
                </a:solidFill>
              </a:rPr>
              <a:t> o la </a:t>
            </a:r>
            <a:r>
              <a:rPr b="1" dirty="0" err="1" i="1">
                <a:solidFill>
                  <a:srgbClr val="E46C0A"/>
                </a:solidFill>
              </a:rPr>
              <a:t>cosa</a:t>
            </a:r>
            <a:r>
              <a:rPr b="1" dirty="0" i="1">
                <a:solidFill>
                  <a:srgbClr val="E46C0A"/>
                </a:solidFill>
              </a:rPr>
              <a:t> mobile </a:t>
            </a:r>
            <a:r>
              <a:rPr b="1" dirty="0" err="1" i="1">
                <a:solidFill>
                  <a:srgbClr val="E46C0A"/>
                </a:solidFill>
              </a:rPr>
              <a:t>altrui</a:t>
            </a:r>
            <a:r>
              <a:rPr b="1" dirty="0" i="1">
                <a:solidFill>
                  <a:srgbClr val="E46C0A"/>
                </a:solidFill>
              </a:rPr>
              <a:t> di cui </a:t>
            </a:r>
            <a:r>
              <a:rPr b="1" dirty="0" err="1" i="1">
                <a:solidFill>
                  <a:srgbClr val="E46C0A"/>
                </a:solidFill>
              </a:rPr>
              <a:t>abbia</a:t>
            </a:r>
            <a:r>
              <a:rPr b="1" dirty="0" i="1">
                <a:solidFill>
                  <a:srgbClr val="E46C0A"/>
                </a:solidFill>
              </a:rPr>
              <a:t>, a </a:t>
            </a:r>
            <a:r>
              <a:rPr b="1" dirty="0" err="1" i="1">
                <a:solidFill>
                  <a:srgbClr val="E46C0A"/>
                </a:solidFill>
              </a:rPr>
              <a:t>qualsiasi</a:t>
            </a:r>
            <a:r>
              <a:rPr b="1" dirty="0" i="1">
                <a:solidFill>
                  <a:srgbClr val="E46C0A"/>
                </a:solidFill>
              </a:rPr>
              <a:t> </a:t>
            </a:r>
            <a:r>
              <a:rPr b="1" dirty="0" err="1" i="1">
                <a:solidFill>
                  <a:srgbClr val="E46C0A"/>
                </a:solidFill>
              </a:rPr>
              <a:t>titolo</a:t>
            </a:r>
            <a:r>
              <a:rPr b="1" dirty="0" i="1">
                <a:solidFill>
                  <a:srgbClr val="E46C0A"/>
                </a:solidFill>
              </a:rPr>
              <a:t>, </a:t>
            </a:r>
            <a:r>
              <a:rPr b="1" dirty="0" err="1" i="1">
                <a:solidFill>
                  <a:srgbClr val="E46C0A"/>
                </a:solidFill>
              </a:rPr>
              <a:t>il</a:t>
            </a:r>
            <a:r>
              <a:rPr b="1" dirty="0" i="1">
                <a:solidFill>
                  <a:srgbClr val="E46C0A"/>
                </a:solidFill>
              </a:rPr>
              <a:t> </a:t>
            </a:r>
            <a:r>
              <a:rPr b="1" dirty="0" err="1" i="1">
                <a:solidFill>
                  <a:srgbClr val="E46C0A"/>
                </a:solidFill>
              </a:rPr>
              <a:t>possesso</a:t>
            </a:r>
            <a:r>
              <a:rPr dirty="0" i="1"/>
              <a:t>, è </a:t>
            </a:r>
            <a:r>
              <a:rPr dirty="0" err="1" i="1"/>
              <a:t>punito</a:t>
            </a:r>
            <a:r>
              <a:rPr dirty="0" i="1"/>
              <a:t>, </a:t>
            </a:r>
            <a:r>
              <a:rPr b="1" dirty="0" i="1"/>
              <a:t>a querela </a:t>
            </a:r>
            <a:r>
              <a:rPr b="1" dirty="0" err="1" i="1"/>
              <a:t>della</a:t>
            </a:r>
            <a:r>
              <a:rPr b="1" dirty="0" i="1"/>
              <a:t> persona </a:t>
            </a:r>
            <a:r>
              <a:rPr b="1" dirty="0" err="1" i="1"/>
              <a:t>offesa</a:t>
            </a:r>
            <a:r>
              <a:rPr dirty="0" i="1"/>
              <a:t>, con la </a:t>
            </a:r>
            <a:r>
              <a:rPr dirty="0" err="1" i="1"/>
              <a:t>reclusione</a:t>
            </a:r>
            <a:r>
              <a:rPr dirty="0" i="1"/>
              <a:t> da due a cinque </a:t>
            </a:r>
            <a:r>
              <a:rPr dirty="0" err="1" i="1"/>
              <a:t>anni</a:t>
            </a:r>
            <a:r>
              <a:rPr dirty="0" i="1"/>
              <a:t> e con la </a:t>
            </a:r>
            <a:r>
              <a:rPr dirty="0" err="1" i="1"/>
              <a:t>multa</a:t>
            </a:r>
            <a:r>
              <a:rPr dirty="0" i="1"/>
              <a:t> da euro </a:t>
            </a:r>
            <a:r>
              <a:rPr dirty="0" err="1" i="1"/>
              <a:t>mille</a:t>
            </a:r>
            <a:r>
              <a:rPr dirty="0" i="1"/>
              <a:t> a euro </a:t>
            </a:r>
            <a:r>
              <a:rPr dirty="0" err="1" i="1"/>
              <a:t>tremila</a:t>
            </a:r>
            <a:r>
              <a:rPr dirty="0" i="1"/>
              <a:t>.</a:t>
            </a:r>
            <a:endParaRPr dirty="0">
              <a:latin typeface="Times New Roman"/>
              <a:ea typeface="Times New Roman"/>
              <a:cs typeface="Times New Roman"/>
              <a:sym typeface="Times New Roman"/>
            </a:endParaRPr>
          </a:p>
          <a:p>
            <a:pPr algn="just">
              <a:lnSpc>
                <a:spcPct val="114000"/>
              </a:lnSpc>
              <a:spcBef>
                <a:spcPts val="600"/>
              </a:spcBef>
              <a:defRPr b="0" i="1" sz="2200">
                <a:latin typeface="Book Antiqua"/>
                <a:ea typeface="Book Antiqua"/>
                <a:cs typeface="Book Antiqua"/>
                <a:sym typeface="Book Antiqua"/>
              </a:defRPr>
            </a:pPr>
            <a:r>
              <a:rPr dirty="0"/>
              <a:t>Se </a:t>
            </a:r>
            <a:r>
              <a:rPr dirty="0" err="1"/>
              <a:t>il</a:t>
            </a:r>
            <a:r>
              <a:rPr dirty="0"/>
              <a:t> </a:t>
            </a:r>
            <a:r>
              <a:rPr dirty="0" err="1"/>
              <a:t>fatto</a:t>
            </a:r>
            <a:r>
              <a:rPr dirty="0"/>
              <a:t> è </a:t>
            </a:r>
            <a:r>
              <a:rPr dirty="0" err="1"/>
              <a:t>commesso</a:t>
            </a:r>
            <a:r>
              <a:rPr dirty="0"/>
              <a:t> </a:t>
            </a:r>
            <a:r>
              <a:rPr dirty="0" err="1"/>
              <a:t>su</a:t>
            </a:r>
            <a:r>
              <a:rPr dirty="0"/>
              <a:t> </a:t>
            </a:r>
            <a:r>
              <a:rPr dirty="0" err="1"/>
              <a:t>cose</a:t>
            </a:r>
            <a:r>
              <a:rPr dirty="0"/>
              <a:t> </a:t>
            </a:r>
            <a:r>
              <a:rPr dirty="0" err="1"/>
              <a:t>possedute</a:t>
            </a:r>
            <a:r>
              <a:rPr dirty="0"/>
              <a:t> a </a:t>
            </a:r>
            <a:r>
              <a:rPr dirty="0" err="1"/>
              <a:t>titolo</a:t>
            </a:r>
            <a:r>
              <a:rPr dirty="0"/>
              <a:t> di </a:t>
            </a:r>
            <a:r>
              <a:rPr dirty="0" err="1"/>
              <a:t>deposito</a:t>
            </a:r>
            <a:r>
              <a:rPr dirty="0"/>
              <a:t> </a:t>
            </a:r>
            <a:r>
              <a:rPr dirty="0" err="1"/>
              <a:t>necessario</a:t>
            </a:r>
            <a:r>
              <a:rPr dirty="0"/>
              <a:t>, la </a:t>
            </a:r>
            <a:r>
              <a:rPr dirty="0" err="1"/>
              <a:t>pena</a:t>
            </a:r>
            <a:r>
              <a:rPr dirty="0"/>
              <a:t> è </a:t>
            </a:r>
            <a:r>
              <a:rPr dirty="0" err="1"/>
              <a:t>aumentata</a:t>
            </a:r>
            <a:r>
              <a:rPr dirty="0"/>
              <a:t>.</a:t>
            </a:r>
            <a:endParaRPr dirty="0">
              <a:latin typeface="Times New Roman"/>
              <a:ea typeface="Times New Roman"/>
              <a:cs typeface="Times New Roman"/>
              <a:sym typeface="Times New Roman"/>
            </a:endParaRPr>
          </a:p>
        </p:txBody>
      </p:sp>
      <p:pic>
        <p:nvPicPr>
          <p:cNvPr descr="Immagine 3" id="374" name="Immagine 3"/>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375"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Appropriazione indebita</a:t>
            </a: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Appropriazione indebita"/>
          <p:cNvSpPr txBox="1">
            <a:spLocks noGrp="1"/>
          </p:cNvSpPr>
          <p:nvPr>
            <p:ph type="title"/>
          </p:nvPr>
        </p:nvSpPr>
        <p:spPr>
          <a:xfrm>
            <a:off x="679357" y="-169677"/>
            <a:ext cx="8229601" cy="1143001"/>
          </a:xfrm>
          <a:prstGeom prst="rect">
            <a:avLst/>
          </a:prstGeom>
        </p:spPr>
        <p:txBody>
          <a:bodyPr numCol="1"/>
          <a:lstStyle>
            <a:lvl1pPr algn="l">
              <a:defRPr sz="3200">
                <a:solidFill>
                  <a:srgbClr val="FFFFFF"/>
                </a:solidFill>
                <a:latin typeface="Book Antiqua"/>
                <a:ea typeface="Book Antiqua"/>
                <a:cs typeface="Book Antiqua"/>
                <a:sym typeface="Book Antiqua"/>
              </a:defRPr>
            </a:lvl1pPr>
          </a:lstStyle>
          <a:p>
            <a:r>
              <a:t>Appropriazione indebita</a:t>
            </a:r>
          </a:p>
        </p:txBody>
      </p:sp>
      <p:sp>
        <p:nvSpPr>
          <p:cNvPr id="378" name="Il reato di appropriazione indebita tutela il diritto di proprietà quando esso sia disgiunto dal possesso sanzionando il comportamento di chi, esercitando sulla cosa altrui un potere di fatto autonomo, se ne approfitti per compiere sulla stessa atti di d"/>
          <p:cNvSpPr txBox="1">
            <a:spLocks noGrp="1"/>
          </p:cNvSpPr>
          <p:nvPr>
            <p:ph idx="1" type="body"/>
          </p:nvPr>
        </p:nvSpPr>
        <p:spPr>
          <a:xfrm>
            <a:off x="457200" y="1351382"/>
            <a:ext cx="8229600" cy="4525966"/>
          </a:xfrm>
          <a:prstGeom prst="rect">
            <a:avLst/>
          </a:prstGeom>
        </p:spPr>
        <p:txBody>
          <a:bodyPr numCol="1"/>
          <a:lstStyle/>
          <a:p>
            <a:pPr algn="just" indent="0" marL="0">
              <a:lnSpc>
                <a:spcPct val="114000"/>
              </a:lnSpc>
              <a:spcBef>
                <a:spcPts val="600"/>
              </a:spcBef>
              <a:buSzTx/>
              <a:buNone/>
              <a:defRPr sz="2400">
                <a:latin typeface="Book Antiqua"/>
                <a:ea typeface="Book Antiqua"/>
                <a:cs typeface="Book Antiqua"/>
                <a:sym typeface="Book Antiqua"/>
              </a:defRPr>
            </a:pPr>
            <a:r>
              <a:t>Il reato di appropriazione indebita </a:t>
            </a:r>
            <a:r>
              <a:rPr b="1" u="sng"/>
              <a:t>tutela</a:t>
            </a:r>
            <a:r>
              <a:t> il </a:t>
            </a:r>
            <a:r>
              <a:rPr b="1" u="sng"/>
              <a:t>diritto di proprietà</a:t>
            </a:r>
            <a:r>
              <a:t> quando esso sia disgiunto dal possesso </a:t>
            </a:r>
            <a:r>
              <a:rPr u="sng"/>
              <a:t>sanzionando il comportamento di chi, esercitando sulla cosa altrui un potere di fatto autonomo, se ne approfitti per compiere sulla stessa atti di disposizione riservati al proprietario.</a:t>
            </a:r>
          </a:p>
        </p:txBody>
      </p:sp>
      <p:sp>
        <p:nvSpPr>
          <p:cNvPr id="379" name="Numero diapositiva"/>
          <p:cNvSpPr txBox="1">
            <a:spLocks noGrp="1"/>
          </p:cNvSpPr>
          <p:nvPr>
            <p:ph idx="2147483647" sz="quarter" type="sldNum"/>
          </p:nvPr>
        </p:nvSpPr>
        <p:spPr>
          <a:xfrm>
            <a:off x="8430259" y="6401179"/>
            <a:ext cx="256539" cy="27546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numCol="1"/>
          <a:lstStyle/>
          <a:p>
            <a:fld id="{86CB4B4D-7CA3-9044-876B-883B54F8677D}" type="slidenum">
              <a:t>38</a:t>
            </a:fld>
            <a:endParaRPr/>
          </a:p>
        </p:txBody>
      </p:sp>
      <p:pic>
        <p:nvPicPr>
          <p:cNvPr descr="Immagine 3" id="380" name="Immagine 3"/>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 name="Rettangolo 4"/>
          <p:cNvSpPr txBox="1"/>
          <p:nvPr/>
        </p:nvSpPr>
        <p:spPr>
          <a:xfrm>
            <a:off x="295161" y="980729"/>
            <a:ext cx="8553678" cy="41178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r>
              <a:rPr altLang="it-IT" dirty="0" lang="it-IT" sz="2400">
                <a:solidFill>
                  <a:srgbClr val="FF0000"/>
                </a:solidFill>
                <a:latin charset="0" panose="02020603050405020304" pitchFamily="18" typeface="Times New Roman"/>
                <a:cs charset="0" panose="02020603050405020304" pitchFamily="18" typeface="Times New Roman"/>
              </a:rPr>
              <a:t>REATO COMUNE</a:t>
            </a:r>
            <a:r>
              <a:rPr altLang="it-IT" b="0" dirty="0" lang="it-IT" sz="2400">
                <a:latin charset="0" panose="02020603050405020304" pitchFamily="18" typeface="Times New Roman"/>
                <a:cs charset="0" panose="02020603050405020304" pitchFamily="18" typeface="Times New Roman"/>
              </a:rPr>
              <a:t>, soggetto attivo può essere chiunque si trovi in quel particolare rapporto di signoria con la cosa altrui. </a:t>
            </a:r>
          </a:p>
          <a:p>
            <a:pPr algn="just">
              <a:lnSpc>
                <a:spcPct val="114000"/>
              </a:lnSpc>
              <a:spcBef>
                <a:spcPts val="1200"/>
              </a:spcBef>
              <a:defRPr b="0" sz="2200">
                <a:latin typeface="Times New Roman"/>
                <a:ea typeface="Times New Roman"/>
                <a:cs typeface="Times New Roman"/>
                <a:sym typeface="Times New Roman"/>
              </a:defRPr>
            </a:pPr>
            <a:endParaRPr dirty="0"/>
          </a:p>
          <a:p>
            <a:pPr algn="just">
              <a:lnSpc>
                <a:spcPct val="114000"/>
              </a:lnSpc>
              <a:spcBef>
                <a:spcPts val="1200"/>
              </a:spcBef>
              <a:defRPr b="0" sz="2200">
                <a:solidFill>
                  <a:srgbClr val="FF0000"/>
                </a:solidFill>
                <a:latin typeface="Times New Roman"/>
                <a:ea typeface="Times New Roman"/>
                <a:cs typeface="Times New Roman"/>
                <a:sym typeface="Times New Roman"/>
              </a:defRPr>
            </a:pPr>
            <a:r>
              <a:rPr dirty="0"/>
              <a:t>DIFFERENZA</a:t>
            </a:r>
            <a:r>
              <a:rPr dirty="0">
                <a:solidFill>
                  <a:srgbClr val="000000"/>
                </a:solidFill>
              </a:rPr>
              <a:t> </a:t>
            </a:r>
            <a:r>
              <a:rPr dirty="0" err="1">
                <a:solidFill>
                  <a:srgbClr val="000000"/>
                </a:solidFill>
              </a:rPr>
              <a:t>tra</a:t>
            </a:r>
            <a:r>
              <a:rPr dirty="0">
                <a:solidFill>
                  <a:srgbClr val="000000"/>
                </a:solidFill>
              </a:rPr>
              <a:t> </a:t>
            </a:r>
            <a:r>
              <a:rPr b="1" dirty="0">
                <a:solidFill>
                  <a:srgbClr val="000000"/>
                </a:solidFill>
              </a:rPr>
              <a:t>FURTO</a:t>
            </a:r>
            <a:r>
              <a:rPr dirty="0">
                <a:solidFill>
                  <a:srgbClr val="000000"/>
                </a:solidFill>
              </a:rPr>
              <a:t> e </a:t>
            </a:r>
            <a:r>
              <a:rPr b="1" dirty="0">
                <a:solidFill>
                  <a:srgbClr val="000000"/>
                </a:solidFill>
              </a:rPr>
              <a:t>APPROPRIAZIONE</a:t>
            </a:r>
            <a:r>
              <a:rPr dirty="0">
                <a:solidFill>
                  <a:srgbClr val="000000"/>
                </a:solidFill>
              </a:rPr>
              <a:t> </a:t>
            </a:r>
            <a:r>
              <a:rPr b="1" dirty="0">
                <a:solidFill>
                  <a:srgbClr val="000000"/>
                </a:solidFill>
              </a:rPr>
              <a:t>INDEBITA</a:t>
            </a:r>
          </a:p>
          <a:p>
            <a:pPr algn="just">
              <a:lnSpc>
                <a:spcPct val="114000"/>
              </a:lnSpc>
              <a:spcBef>
                <a:spcPts val="1200"/>
              </a:spcBef>
              <a:defRPr b="0" sz="2200">
                <a:latin typeface="Times New Roman"/>
                <a:ea typeface="Times New Roman"/>
                <a:cs typeface="Times New Roman"/>
                <a:sym typeface="Times New Roman"/>
              </a:defRPr>
            </a:pPr>
            <a:r>
              <a:rPr dirty="0"/>
              <a:t>-Nel </a:t>
            </a:r>
            <a:r>
              <a:rPr dirty="0" err="1"/>
              <a:t>furto</a:t>
            </a:r>
            <a:r>
              <a:rPr dirty="0"/>
              <a:t> </a:t>
            </a:r>
            <a:r>
              <a:rPr dirty="0" err="1"/>
              <a:t>il</a:t>
            </a:r>
            <a:r>
              <a:rPr dirty="0"/>
              <a:t> </a:t>
            </a:r>
            <a:r>
              <a:rPr dirty="0" err="1"/>
              <a:t>ladro</a:t>
            </a:r>
            <a:r>
              <a:rPr dirty="0"/>
              <a:t> non ha </a:t>
            </a:r>
            <a:r>
              <a:rPr dirty="0" err="1"/>
              <a:t>il</a:t>
            </a:r>
            <a:r>
              <a:rPr dirty="0"/>
              <a:t> </a:t>
            </a:r>
            <a:r>
              <a:rPr dirty="0" err="1"/>
              <a:t>possesso</a:t>
            </a:r>
            <a:r>
              <a:rPr dirty="0"/>
              <a:t> </a:t>
            </a:r>
            <a:r>
              <a:rPr dirty="0" err="1"/>
              <a:t>della</a:t>
            </a:r>
            <a:r>
              <a:rPr dirty="0"/>
              <a:t> </a:t>
            </a:r>
            <a:r>
              <a:rPr dirty="0" err="1"/>
              <a:t>cosa</a:t>
            </a:r>
            <a:r>
              <a:rPr dirty="0"/>
              <a:t> mobile, </a:t>
            </a:r>
            <a:r>
              <a:rPr dirty="0" err="1"/>
              <a:t>tant’è</a:t>
            </a:r>
            <a:r>
              <a:rPr dirty="0"/>
              <a:t> </a:t>
            </a:r>
            <a:r>
              <a:rPr dirty="0" err="1"/>
              <a:t>che</a:t>
            </a:r>
            <a:r>
              <a:rPr dirty="0"/>
              <a:t> la </a:t>
            </a:r>
            <a:r>
              <a:rPr dirty="0" err="1"/>
              <a:t>condotta</a:t>
            </a:r>
            <a:r>
              <a:rPr dirty="0"/>
              <a:t> del </a:t>
            </a:r>
            <a:r>
              <a:rPr dirty="0" err="1"/>
              <a:t>furto</a:t>
            </a:r>
            <a:r>
              <a:rPr dirty="0"/>
              <a:t> </a:t>
            </a:r>
            <a:r>
              <a:rPr dirty="0" err="1"/>
              <a:t>consiste</a:t>
            </a:r>
            <a:r>
              <a:rPr dirty="0"/>
              <a:t> </a:t>
            </a:r>
            <a:r>
              <a:rPr dirty="0" err="1"/>
              <a:t>nella</a:t>
            </a:r>
            <a:r>
              <a:rPr dirty="0"/>
              <a:t> </a:t>
            </a:r>
            <a:r>
              <a:rPr dirty="0" err="1"/>
              <a:t>sottrazione</a:t>
            </a:r>
            <a:r>
              <a:rPr dirty="0"/>
              <a:t> e </a:t>
            </a:r>
            <a:r>
              <a:rPr dirty="0" err="1"/>
              <a:t>nel</a:t>
            </a:r>
            <a:r>
              <a:rPr dirty="0"/>
              <a:t> </a:t>
            </a:r>
            <a:r>
              <a:rPr dirty="0" err="1"/>
              <a:t>conseguente</a:t>
            </a:r>
            <a:r>
              <a:rPr dirty="0"/>
              <a:t> </a:t>
            </a:r>
            <a:r>
              <a:rPr dirty="0" err="1"/>
              <a:t>impossessamento</a:t>
            </a:r>
            <a:r>
              <a:rPr dirty="0"/>
              <a:t> del </a:t>
            </a:r>
            <a:r>
              <a:rPr dirty="0" err="1"/>
              <a:t>denaro</a:t>
            </a:r>
            <a:r>
              <a:rPr dirty="0"/>
              <a:t> o </a:t>
            </a:r>
            <a:r>
              <a:rPr dirty="0" err="1"/>
              <a:t>della</a:t>
            </a:r>
            <a:r>
              <a:rPr dirty="0"/>
              <a:t> </a:t>
            </a:r>
            <a:r>
              <a:rPr dirty="0" err="1"/>
              <a:t>cosa</a:t>
            </a:r>
            <a:r>
              <a:rPr dirty="0"/>
              <a:t> mobile.</a:t>
            </a:r>
          </a:p>
          <a:p>
            <a:pPr algn="just">
              <a:lnSpc>
                <a:spcPct val="114000"/>
              </a:lnSpc>
              <a:spcBef>
                <a:spcPts val="1200"/>
              </a:spcBef>
              <a:defRPr b="0" sz="2200">
                <a:latin typeface="Times New Roman"/>
                <a:ea typeface="Times New Roman"/>
                <a:cs typeface="Times New Roman"/>
                <a:sym typeface="Times New Roman"/>
              </a:defRPr>
            </a:pPr>
            <a:r>
              <a:rPr dirty="0"/>
              <a:t>-</a:t>
            </a:r>
            <a:r>
              <a:rPr dirty="0" err="1"/>
              <a:t>N</a:t>
            </a:r>
            <a:r>
              <a:rPr b="1" dirty="0" err="1"/>
              <a:t>ell’appropriazione</a:t>
            </a:r>
            <a:r>
              <a:rPr b="1" dirty="0"/>
              <a:t> </a:t>
            </a:r>
            <a:r>
              <a:rPr b="1" dirty="0" err="1"/>
              <a:t>indebita</a:t>
            </a:r>
            <a:r>
              <a:rPr b="1" dirty="0"/>
              <a:t> </a:t>
            </a:r>
            <a:r>
              <a:rPr b="1" dirty="0" err="1"/>
              <a:t>il</a:t>
            </a:r>
            <a:r>
              <a:rPr b="1" dirty="0"/>
              <a:t> </a:t>
            </a:r>
            <a:r>
              <a:rPr b="1" dirty="0" err="1"/>
              <a:t>soggetto</a:t>
            </a:r>
            <a:r>
              <a:rPr b="1" dirty="0"/>
              <a:t> </a:t>
            </a:r>
            <a:r>
              <a:rPr b="1" dirty="0" err="1"/>
              <a:t>attivo</a:t>
            </a:r>
            <a:r>
              <a:rPr b="1" dirty="0"/>
              <a:t> ha </a:t>
            </a:r>
            <a:r>
              <a:rPr b="1" dirty="0" err="1"/>
              <a:t>già</a:t>
            </a:r>
            <a:r>
              <a:rPr b="1" dirty="0"/>
              <a:t> </a:t>
            </a:r>
            <a:r>
              <a:rPr b="1" dirty="0" err="1"/>
              <a:t>il</a:t>
            </a:r>
            <a:r>
              <a:rPr b="1" dirty="0"/>
              <a:t> </a:t>
            </a:r>
            <a:r>
              <a:rPr b="1" dirty="0" err="1"/>
              <a:t>possesso</a:t>
            </a:r>
            <a:r>
              <a:rPr b="1" dirty="0"/>
              <a:t> del </a:t>
            </a:r>
            <a:r>
              <a:rPr b="1" dirty="0" err="1"/>
              <a:t>denaro</a:t>
            </a:r>
            <a:r>
              <a:rPr b="1" dirty="0"/>
              <a:t> o </a:t>
            </a:r>
            <a:r>
              <a:rPr b="1" dirty="0" err="1"/>
              <a:t>della</a:t>
            </a:r>
            <a:r>
              <a:rPr b="1" dirty="0"/>
              <a:t> </a:t>
            </a:r>
            <a:r>
              <a:rPr b="1" dirty="0" err="1"/>
              <a:t>cosa</a:t>
            </a:r>
            <a:r>
              <a:rPr b="1" dirty="0"/>
              <a:t> mobile, e se ne </a:t>
            </a:r>
            <a:r>
              <a:rPr b="1" dirty="0" err="1"/>
              <a:t>appropria</a:t>
            </a:r>
            <a:r>
              <a:rPr b="1" dirty="0"/>
              <a:t>.</a:t>
            </a:r>
            <a:r>
              <a:rPr dirty="0"/>
              <a:t> </a:t>
            </a:r>
          </a:p>
        </p:txBody>
      </p:sp>
      <p:pic>
        <p:nvPicPr>
          <p:cNvPr descr="Immagine 6" id="383"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384"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Appropriazione indebita</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 name="Appropriazione indebita"/>
          <p:cNvSpPr txBox="1">
            <a:spLocks noGrp="1"/>
          </p:cNvSpPr>
          <p:nvPr>
            <p:ph type="title"/>
          </p:nvPr>
        </p:nvSpPr>
        <p:spPr>
          <a:xfrm>
            <a:off x="706016" y="-134132"/>
            <a:ext cx="8229601" cy="1143001"/>
          </a:xfrm>
          <a:prstGeom prst="rect">
            <a:avLst/>
          </a:prstGeom>
        </p:spPr>
        <p:txBody>
          <a:bodyPr numCol="1"/>
          <a:lstStyle>
            <a:lvl1pPr algn="l">
              <a:defRPr sz="3200">
                <a:solidFill>
                  <a:srgbClr val="FFFFFF"/>
                </a:solidFill>
                <a:latin typeface="Book Antiqua"/>
                <a:ea typeface="Book Antiqua"/>
                <a:cs typeface="Book Antiqua"/>
                <a:sym typeface="Book Antiqua"/>
              </a:defRPr>
            </a:lvl1pPr>
          </a:lstStyle>
          <a:p>
            <a:r>
              <a:t>Appropriazione indebita</a:t>
            </a:r>
          </a:p>
        </p:txBody>
      </p:sp>
      <p:sp>
        <p:nvSpPr>
          <p:cNvPr id="387" name="ELEMENTO OGGETTIVO: la condotta di questo delitto consiste nell’appropriarsi di un qualcosa di cui si abbia già il possesso.…"/>
          <p:cNvSpPr txBox="1">
            <a:spLocks noGrp="1"/>
          </p:cNvSpPr>
          <p:nvPr>
            <p:ph idx="1" type="body"/>
          </p:nvPr>
        </p:nvSpPr>
        <p:spPr>
          <a:xfrm>
            <a:off x="457200" y="36773"/>
            <a:ext cx="8229600" cy="4525718"/>
          </a:xfrm>
          <a:prstGeom prst="rect">
            <a:avLst/>
          </a:prstGeom>
        </p:spPr>
        <p:txBody>
          <a:bodyPr numCol="1"/>
          <a:lstStyle/>
          <a:p>
            <a:pPr algn="just" indent="0" marL="0">
              <a:lnSpc>
                <a:spcPct val="114000"/>
              </a:lnSpc>
              <a:spcBef>
                <a:spcPts val="1200"/>
              </a:spcBef>
              <a:buSzTx/>
              <a:buNone/>
              <a:defRPr b="1" sz="2200" u="sng">
                <a:latin typeface="Times New Roman"/>
                <a:ea typeface="Times New Roman"/>
                <a:cs typeface="Times New Roman"/>
                <a:sym typeface="Times New Roman"/>
              </a:defRPr>
            </a:pPr>
            <a:r>
              <a:rPr dirty="0"/>
              <a:t>ELEMENTO OGGETTIVO</a:t>
            </a:r>
            <a:r>
              <a:rPr b="0" dirty="0" u="none"/>
              <a:t>: la </a:t>
            </a:r>
            <a:r>
              <a:rPr b="0" dirty="0" err="1" u="none"/>
              <a:t>condotta</a:t>
            </a:r>
            <a:r>
              <a:rPr b="0" dirty="0" u="none"/>
              <a:t> di </a:t>
            </a:r>
            <a:r>
              <a:rPr b="0" dirty="0" err="1" u="none"/>
              <a:t>questo</a:t>
            </a:r>
            <a:r>
              <a:rPr b="0" dirty="0" u="none"/>
              <a:t> </a:t>
            </a:r>
            <a:r>
              <a:rPr b="0" dirty="0" err="1" u="none"/>
              <a:t>delitto</a:t>
            </a:r>
            <a:r>
              <a:rPr b="0" dirty="0" u="none"/>
              <a:t> </a:t>
            </a:r>
            <a:r>
              <a:rPr b="0" dirty="0" err="1" u="none"/>
              <a:t>consiste</a:t>
            </a:r>
            <a:r>
              <a:rPr b="0" dirty="0" u="none"/>
              <a:t> </a:t>
            </a:r>
            <a:r>
              <a:rPr dirty="0" err="1" u="none">
                <a:solidFill>
                  <a:srgbClr val="E46C0A"/>
                </a:solidFill>
              </a:rPr>
              <a:t>nell’appropriarsi</a:t>
            </a:r>
            <a:r>
              <a:rPr dirty="0" u="none">
                <a:solidFill>
                  <a:srgbClr val="E46C0A"/>
                </a:solidFill>
              </a:rPr>
              <a:t> di un </a:t>
            </a:r>
            <a:r>
              <a:rPr dirty="0" err="1" u="none">
                <a:solidFill>
                  <a:srgbClr val="E46C0A"/>
                </a:solidFill>
              </a:rPr>
              <a:t>qualcosa</a:t>
            </a:r>
            <a:r>
              <a:rPr dirty="0" u="none">
                <a:solidFill>
                  <a:srgbClr val="E46C0A"/>
                </a:solidFill>
              </a:rPr>
              <a:t> di cui </a:t>
            </a:r>
            <a:r>
              <a:rPr dirty="0" err="1" u="none">
                <a:solidFill>
                  <a:srgbClr val="E46C0A"/>
                </a:solidFill>
              </a:rPr>
              <a:t>si</a:t>
            </a:r>
            <a:r>
              <a:rPr dirty="0" u="none">
                <a:solidFill>
                  <a:srgbClr val="E46C0A"/>
                </a:solidFill>
              </a:rPr>
              <a:t> </a:t>
            </a:r>
            <a:r>
              <a:rPr dirty="0" err="1" u="none">
                <a:solidFill>
                  <a:srgbClr val="E46C0A"/>
                </a:solidFill>
              </a:rPr>
              <a:t>abbia</a:t>
            </a:r>
            <a:r>
              <a:rPr dirty="0" u="none">
                <a:solidFill>
                  <a:srgbClr val="E46C0A"/>
                </a:solidFill>
              </a:rPr>
              <a:t> </a:t>
            </a:r>
            <a:r>
              <a:rPr dirty="0" err="1" u="none">
                <a:solidFill>
                  <a:srgbClr val="E46C0A"/>
                </a:solidFill>
              </a:rPr>
              <a:t>già</a:t>
            </a:r>
            <a:r>
              <a:rPr dirty="0" u="none">
                <a:solidFill>
                  <a:srgbClr val="E46C0A"/>
                </a:solidFill>
              </a:rPr>
              <a:t> </a:t>
            </a:r>
            <a:r>
              <a:rPr dirty="0" err="1" u="none">
                <a:solidFill>
                  <a:srgbClr val="E46C0A"/>
                </a:solidFill>
              </a:rPr>
              <a:t>il</a:t>
            </a:r>
            <a:r>
              <a:rPr dirty="0" u="none">
                <a:solidFill>
                  <a:srgbClr val="E46C0A"/>
                </a:solidFill>
              </a:rPr>
              <a:t> </a:t>
            </a:r>
            <a:r>
              <a:rPr dirty="0" err="1" u="none">
                <a:solidFill>
                  <a:srgbClr val="E46C0A"/>
                </a:solidFill>
              </a:rPr>
              <a:t>possesso</a:t>
            </a:r>
            <a:r>
              <a:rPr b="0" dirty="0" u="none"/>
              <a:t>.</a:t>
            </a:r>
          </a:p>
          <a:p>
            <a:pPr algn="just" indent="0" marL="0">
              <a:lnSpc>
                <a:spcPct val="114000"/>
              </a:lnSpc>
              <a:spcBef>
                <a:spcPts val="1200"/>
              </a:spcBef>
              <a:buSzTx/>
              <a:buNone/>
              <a:defRPr b="1" sz="2200">
                <a:solidFill>
                  <a:srgbClr val="FF0000"/>
                </a:solidFill>
                <a:latin typeface="Times New Roman"/>
                <a:ea typeface="Times New Roman"/>
                <a:cs typeface="Times New Roman"/>
                <a:sym typeface="Times New Roman"/>
              </a:defRPr>
            </a:pPr>
            <a:r>
              <a:rPr dirty="0" err="1"/>
              <a:t>Possessori</a:t>
            </a:r>
            <a:r>
              <a:rPr b="0" dirty="0">
                <a:solidFill>
                  <a:srgbClr val="000000"/>
                </a:solidFill>
              </a:rPr>
              <a:t>: </a:t>
            </a:r>
            <a:r>
              <a:rPr b="0" dirty="0" err="1" i="1">
                <a:solidFill>
                  <a:srgbClr val="000000"/>
                </a:solidFill>
              </a:rPr>
              <a:t>il</a:t>
            </a:r>
            <a:r>
              <a:rPr b="0" dirty="0" i="1">
                <a:solidFill>
                  <a:srgbClr val="000000"/>
                </a:solidFill>
              </a:rPr>
              <a:t> </a:t>
            </a:r>
            <a:r>
              <a:rPr b="0" dirty="0" err="1" i="1">
                <a:solidFill>
                  <a:srgbClr val="000000"/>
                </a:solidFill>
              </a:rPr>
              <a:t>vettore</a:t>
            </a:r>
            <a:r>
              <a:rPr b="0" dirty="0" i="1">
                <a:solidFill>
                  <a:srgbClr val="000000"/>
                </a:solidFill>
              </a:rPr>
              <a:t>, </a:t>
            </a:r>
            <a:r>
              <a:rPr b="0" dirty="0" err="1" i="1" u="sng">
                <a:solidFill>
                  <a:srgbClr val="000000"/>
                </a:solidFill>
              </a:rPr>
              <a:t>proprietario</a:t>
            </a:r>
            <a:r>
              <a:rPr b="0" dirty="0" i="1" u="sng">
                <a:solidFill>
                  <a:srgbClr val="000000"/>
                </a:solidFill>
              </a:rPr>
              <a:t> del mezzo di </a:t>
            </a:r>
            <a:r>
              <a:rPr b="0" dirty="0" err="1" i="1" u="sng">
                <a:solidFill>
                  <a:srgbClr val="000000"/>
                </a:solidFill>
              </a:rPr>
              <a:t>trasporto</a:t>
            </a:r>
            <a:r>
              <a:rPr b="0" dirty="0" i="1">
                <a:solidFill>
                  <a:srgbClr val="000000"/>
                </a:solidFill>
              </a:rPr>
              <a:t>, rispetto </a:t>
            </a:r>
            <a:r>
              <a:rPr b="0" dirty="0" err="1" i="1">
                <a:solidFill>
                  <a:srgbClr val="000000"/>
                </a:solidFill>
              </a:rPr>
              <a:t>alla</a:t>
            </a:r>
            <a:r>
              <a:rPr b="0" dirty="0" i="1">
                <a:solidFill>
                  <a:srgbClr val="000000"/>
                </a:solidFill>
              </a:rPr>
              <a:t> </a:t>
            </a:r>
            <a:r>
              <a:rPr b="0" dirty="0" err="1" i="1">
                <a:solidFill>
                  <a:srgbClr val="000000"/>
                </a:solidFill>
              </a:rPr>
              <a:t>merce</a:t>
            </a:r>
            <a:r>
              <a:rPr b="0" dirty="0" i="1">
                <a:solidFill>
                  <a:srgbClr val="000000"/>
                </a:solidFill>
              </a:rPr>
              <a:t> </a:t>
            </a:r>
            <a:r>
              <a:rPr b="0" dirty="0" err="1" i="1">
                <a:solidFill>
                  <a:srgbClr val="000000"/>
                </a:solidFill>
              </a:rPr>
              <a:t>che</a:t>
            </a:r>
            <a:r>
              <a:rPr b="0" dirty="0" i="1">
                <a:solidFill>
                  <a:srgbClr val="000000"/>
                </a:solidFill>
              </a:rPr>
              <a:t> </a:t>
            </a:r>
            <a:r>
              <a:rPr b="0" dirty="0" err="1" i="1">
                <a:solidFill>
                  <a:srgbClr val="000000"/>
                </a:solidFill>
              </a:rPr>
              <a:t>gli</a:t>
            </a:r>
            <a:r>
              <a:rPr b="0" dirty="0" i="1">
                <a:solidFill>
                  <a:srgbClr val="000000"/>
                </a:solidFill>
              </a:rPr>
              <a:t> è </a:t>
            </a:r>
            <a:r>
              <a:rPr b="0" dirty="0" err="1" i="1">
                <a:solidFill>
                  <a:srgbClr val="000000"/>
                </a:solidFill>
              </a:rPr>
              <a:t>stata</a:t>
            </a:r>
            <a:r>
              <a:rPr b="0" dirty="0" i="1">
                <a:solidFill>
                  <a:srgbClr val="000000"/>
                </a:solidFill>
              </a:rPr>
              <a:t> </a:t>
            </a:r>
            <a:r>
              <a:rPr b="0" dirty="0" err="1" i="1">
                <a:solidFill>
                  <a:srgbClr val="000000"/>
                </a:solidFill>
              </a:rPr>
              <a:t>affidata</a:t>
            </a:r>
            <a:r>
              <a:rPr b="0" dirty="0" i="1">
                <a:solidFill>
                  <a:srgbClr val="000000"/>
                </a:solidFill>
              </a:rPr>
              <a:t>; </a:t>
            </a:r>
            <a:r>
              <a:rPr b="0" dirty="0" err="1" i="1">
                <a:solidFill>
                  <a:srgbClr val="000000"/>
                </a:solidFill>
              </a:rPr>
              <a:t>amministratore</a:t>
            </a:r>
            <a:r>
              <a:rPr b="0" dirty="0" i="1">
                <a:solidFill>
                  <a:srgbClr val="000000"/>
                </a:solidFill>
              </a:rPr>
              <a:t> di </a:t>
            </a:r>
            <a:r>
              <a:rPr b="0" dirty="0" err="1" i="1">
                <a:solidFill>
                  <a:srgbClr val="000000"/>
                </a:solidFill>
              </a:rPr>
              <a:t>condominio</a:t>
            </a:r>
            <a:r>
              <a:rPr b="0" dirty="0" i="1">
                <a:solidFill>
                  <a:srgbClr val="000000"/>
                </a:solidFill>
              </a:rPr>
              <a:t> con </a:t>
            </a:r>
            <a:r>
              <a:rPr b="0" dirty="0" err="1" i="1">
                <a:solidFill>
                  <a:srgbClr val="000000"/>
                </a:solidFill>
              </a:rPr>
              <a:t>riferimento</a:t>
            </a:r>
            <a:r>
              <a:rPr b="0" dirty="0" i="1">
                <a:solidFill>
                  <a:srgbClr val="000000"/>
                </a:solidFill>
              </a:rPr>
              <a:t> </a:t>
            </a:r>
            <a:r>
              <a:rPr b="0" dirty="0" err="1" i="1">
                <a:solidFill>
                  <a:srgbClr val="000000"/>
                </a:solidFill>
              </a:rPr>
              <a:t>alle</a:t>
            </a:r>
            <a:r>
              <a:rPr b="0" dirty="0" i="1">
                <a:solidFill>
                  <a:srgbClr val="000000"/>
                </a:solidFill>
              </a:rPr>
              <a:t> </a:t>
            </a:r>
            <a:r>
              <a:rPr b="0" dirty="0" err="1" i="1">
                <a:solidFill>
                  <a:srgbClr val="000000"/>
                </a:solidFill>
              </a:rPr>
              <a:t>somme</a:t>
            </a:r>
            <a:r>
              <a:rPr b="0" dirty="0" i="1">
                <a:solidFill>
                  <a:srgbClr val="000000"/>
                </a:solidFill>
              </a:rPr>
              <a:t> </a:t>
            </a:r>
            <a:r>
              <a:rPr b="0" dirty="0" err="1" i="1">
                <a:solidFill>
                  <a:srgbClr val="000000"/>
                </a:solidFill>
              </a:rPr>
              <a:t>versate</a:t>
            </a:r>
            <a:r>
              <a:rPr b="0" dirty="0" i="1">
                <a:solidFill>
                  <a:srgbClr val="000000"/>
                </a:solidFill>
              </a:rPr>
              <a:t> </a:t>
            </a:r>
            <a:r>
              <a:rPr b="0" dirty="0" err="1" i="1">
                <a:solidFill>
                  <a:srgbClr val="000000"/>
                </a:solidFill>
              </a:rPr>
              <a:t>dai</a:t>
            </a:r>
            <a:r>
              <a:rPr b="0" dirty="0" i="1">
                <a:solidFill>
                  <a:srgbClr val="000000"/>
                </a:solidFill>
              </a:rPr>
              <a:t> </a:t>
            </a:r>
            <a:r>
              <a:rPr b="0" dirty="0" err="1" i="1">
                <a:solidFill>
                  <a:srgbClr val="000000"/>
                </a:solidFill>
              </a:rPr>
              <a:t>condomini</a:t>
            </a:r>
            <a:r>
              <a:rPr b="0" dirty="0" i="1">
                <a:solidFill>
                  <a:srgbClr val="000000"/>
                </a:solidFill>
              </a:rPr>
              <a:t>; </a:t>
            </a:r>
            <a:r>
              <a:rPr b="0" dirty="0" err="1" i="1">
                <a:solidFill>
                  <a:srgbClr val="000000"/>
                </a:solidFill>
              </a:rPr>
              <a:t>il</a:t>
            </a:r>
            <a:r>
              <a:rPr b="0" dirty="0" i="1">
                <a:solidFill>
                  <a:srgbClr val="000000"/>
                </a:solidFill>
              </a:rPr>
              <a:t> </a:t>
            </a:r>
            <a:r>
              <a:rPr b="0" dirty="0" err="1" i="1">
                <a:solidFill>
                  <a:srgbClr val="000000"/>
                </a:solidFill>
              </a:rPr>
              <a:t>noleggiatore</a:t>
            </a:r>
            <a:r>
              <a:rPr b="0" dirty="0" i="1">
                <a:solidFill>
                  <a:srgbClr val="000000"/>
                </a:solidFill>
              </a:rPr>
              <a:t> rispetto al </a:t>
            </a:r>
            <a:r>
              <a:rPr b="0" dirty="0" err="1" i="1">
                <a:solidFill>
                  <a:srgbClr val="000000"/>
                </a:solidFill>
              </a:rPr>
              <a:t>veicolo</a:t>
            </a:r>
            <a:r>
              <a:rPr b="0" dirty="0" i="1">
                <a:solidFill>
                  <a:srgbClr val="000000"/>
                </a:solidFill>
              </a:rPr>
              <a:t> </a:t>
            </a:r>
            <a:r>
              <a:rPr b="0" dirty="0" err="1" i="1">
                <a:solidFill>
                  <a:srgbClr val="000000"/>
                </a:solidFill>
              </a:rPr>
              <a:t>preso</a:t>
            </a:r>
            <a:r>
              <a:rPr b="0" dirty="0" i="1">
                <a:solidFill>
                  <a:srgbClr val="000000"/>
                </a:solidFill>
              </a:rPr>
              <a:t> a nolo.</a:t>
            </a:r>
          </a:p>
          <a:p>
            <a:pPr algn="just" indent="0" marL="0">
              <a:lnSpc>
                <a:spcPct val="114000"/>
              </a:lnSpc>
              <a:spcBef>
                <a:spcPts val="1200"/>
              </a:spcBef>
              <a:buSzTx/>
              <a:buNone/>
              <a:defRPr sz="2200">
                <a:latin typeface="Times New Roman"/>
                <a:ea typeface="Times New Roman"/>
                <a:cs typeface="Times New Roman"/>
                <a:sym typeface="Times New Roman"/>
              </a:defRPr>
            </a:pPr>
            <a:r>
              <a:rPr dirty="0"/>
              <a:t>Il </a:t>
            </a:r>
            <a:r>
              <a:rPr b="1" dirty="0" err="1" u="sng"/>
              <a:t>soggetto</a:t>
            </a:r>
            <a:r>
              <a:rPr b="1" dirty="0" u="sng"/>
              <a:t> </a:t>
            </a:r>
            <a:r>
              <a:rPr b="1" dirty="0" err="1" u="sng"/>
              <a:t>passivo</a:t>
            </a:r>
            <a:r>
              <a:rPr b="1" dirty="0"/>
              <a:t> </a:t>
            </a:r>
            <a:r>
              <a:rPr dirty="0" err="1"/>
              <a:t>invece</a:t>
            </a:r>
            <a:r>
              <a:rPr dirty="0"/>
              <a:t>, </a:t>
            </a:r>
            <a:r>
              <a:rPr dirty="0" err="1"/>
              <a:t>oltre</a:t>
            </a:r>
            <a:r>
              <a:rPr dirty="0"/>
              <a:t> </a:t>
            </a:r>
            <a:r>
              <a:rPr dirty="0" err="1"/>
              <a:t>che</a:t>
            </a:r>
            <a:r>
              <a:rPr dirty="0"/>
              <a:t> </a:t>
            </a:r>
            <a:r>
              <a:rPr dirty="0" err="1"/>
              <a:t>il</a:t>
            </a:r>
            <a:r>
              <a:rPr dirty="0"/>
              <a:t> </a:t>
            </a:r>
            <a:r>
              <a:rPr dirty="0" err="1"/>
              <a:t>proprietario</a:t>
            </a:r>
            <a:r>
              <a:rPr dirty="0"/>
              <a:t> </a:t>
            </a:r>
            <a:r>
              <a:rPr dirty="0" err="1"/>
              <a:t>della</a:t>
            </a:r>
            <a:r>
              <a:rPr dirty="0"/>
              <a:t> </a:t>
            </a:r>
            <a:r>
              <a:rPr dirty="0" err="1"/>
              <a:t>cosa</a:t>
            </a:r>
            <a:r>
              <a:rPr dirty="0"/>
              <a:t>, </a:t>
            </a:r>
            <a:r>
              <a:rPr dirty="0" err="1"/>
              <a:t>può</a:t>
            </a:r>
            <a:r>
              <a:rPr dirty="0"/>
              <a:t> </a:t>
            </a:r>
            <a:r>
              <a:rPr dirty="0" err="1"/>
              <a:t>essere</a:t>
            </a:r>
            <a:r>
              <a:rPr dirty="0"/>
              <a:t> pure una persona </a:t>
            </a:r>
            <a:r>
              <a:rPr dirty="0" err="1"/>
              <a:t>diversa</a:t>
            </a:r>
            <a:r>
              <a:rPr dirty="0"/>
              <a:t> da </a:t>
            </a:r>
            <a:r>
              <a:rPr dirty="0" err="1"/>
              <a:t>esso</a:t>
            </a:r>
            <a:r>
              <a:rPr dirty="0"/>
              <a:t> </a:t>
            </a:r>
            <a:r>
              <a:rPr dirty="0" err="1"/>
              <a:t>che</a:t>
            </a:r>
            <a:r>
              <a:rPr dirty="0"/>
              <a:t> </a:t>
            </a:r>
            <a:r>
              <a:rPr dirty="0" err="1"/>
              <a:t>abbia</a:t>
            </a:r>
            <a:r>
              <a:rPr dirty="0"/>
              <a:t> </a:t>
            </a:r>
            <a:r>
              <a:rPr dirty="0" err="1"/>
              <a:t>su</a:t>
            </a:r>
            <a:r>
              <a:rPr dirty="0"/>
              <a:t> </a:t>
            </a:r>
            <a:r>
              <a:rPr dirty="0" err="1"/>
              <a:t>questa</a:t>
            </a:r>
            <a:r>
              <a:rPr dirty="0"/>
              <a:t> </a:t>
            </a:r>
            <a:r>
              <a:rPr dirty="0" err="1"/>
              <a:t>cosa</a:t>
            </a:r>
            <a:r>
              <a:rPr dirty="0"/>
              <a:t> un </a:t>
            </a:r>
            <a:r>
              <a:rPr dirty="0" err="1"/>
              <a:t>diritto</a:t>
            </a:r>
            <a:r>
              <a:rPr dirty="0"/>
              <a:t> </a:t>
            </a:r>
            <a:r>
              <a:rPr dirty="0" err="1"/>
              <a:t>reale</a:t>
            </a:r>
            <a:r>
              <a:rPr dirty="0"/>
              <a:t> o </a:t>
            </a:r>
            <a:r>
              <a:rPr dirty="0" err="1"/>
              <a:t>personale</a:t>
            </a:r>
            <a:r>
              <a:rPr dirty="0"/>
              <a:t>.</a:t>
            </a:r>
          </a:p>
        </p:txBody>
      </p:sp>
      <p:sp>
        <p:nvSpPr>
          <p:cNvPr id="388" name="Numero diapositiva"/>
          <p:cNvSpPr txBox="1">
            <a:spLocks noGrp="1"/>
          </p:cNvSpPr>
          <p:nvPr>
            <p:ph idx="2147483647" sz="quarter" type="sldNum"/>
          </p:nvPr>
        </p:nvSpPr>
        <p:spPr>
          <a:xfrm>
            <a:off x="8430259" y="6401179"/>
            <a:ext cx="256539" cy="27546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numCol="1"/>
          <a:lstStyle/>
          <a:p>
            <a:fld id="{86CB4B4D-7CA3-9044-876B-883B54F8677D}" type="slidenum">
              <a:t>40</a:t>
            </a:fld>
            <a:endParaRPr/>
          </a:p>
        </p:txBody>
      </p:sp>
      <p:pic>
        <p:nvPicPr>
          <p:cNvPr descr="Immagine 6" id="389"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 name="Rettangolo 4"/>
          <p:cNvSpPr txBox="1"/>
          <p:nvPr/>
        </p:nvSpPr>
        <p:spPr>
          <a:xfrm>
            <a:off x="45719" y="980729"/>
            <a:ext cx="9052561" cy="50011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b="0" sz="2200">
                <a:latin typeface="Times New Roman"/>
                <a:ea typeface="Times New Roman"/>
                <a:cs typeface="Times New Roman"/>
                <a:sym typeface="Times New Roman"/>
              </a:defRPr>
            </a:pPr>
            <a:r>
              <a:rPr dirty="0"/>
              <a:t>Il </a:t>
            </a:r>
            <a:r>
              <a:rPr dirty="0" err="1"/>
              <a:t>delitto</a:t>
            </a:r>
            <a:r>
              <a:rPr dirty="0"/>
              <a:t> di </a:t>
            </a:r>
            <a:r>
              <a:rPr dirty="0" err="1"/>
              <a:t>appropriazione</a:t>
            </a:r>
            <a:r>
              <a:rPr dirty="0"/>
              <a:t> è un </a:t>
            </a:r>
            <a:r>
              <a:rPr b="1" dirty="0">
                <a:solidFill>
                  <a:srgbClr val="E46C0A"/>
                </a:solidFill>
              </a:rPr>
              <a:t>REATO ISTANTANEO</a:t>
            </a:r>
            <a:r>
              <a:rPr dirty="0">
                <a:solidFill>
                  <a:srgbClr val="E46C0A"/>
                </a:solidFill>
              </a:rPr>
              <a:t>:</a:t>
            </a:r>
            <a:r>
              <a:rPr dirty="0"/>
              <a:t> </a:t>
            </a:r>
            <a:r>
              <a:rPr dirty="0" err="1"/>
              <a:t>si</a:t>
            </a:r>
            <a:r>
              <a:rPr dirty="0"/>
              <a:t> </a:t>
            </a:r>
            <a:r>
              <a:rPr dirty="0" err="1"/>
              <a:t>consuma</a:t>
            </a:r>
            <a:r>
              <a:rPr dirty="0"/>
              <a:t> con la </a:t>
            </a:r>
            <a:r>
              <a:rPr b="1" dirty="0"/>
              <a:t>prima </a:t>
            </a:r>
            <a:r>
              <a:rPr b="1" dirty="0" err="1"/>
              <a:t>condotta</a:t>
            </a:r>
            <a:r>
              <a:rPr b="1" dirty="0"/>
              <a:t> </a:t>
            </a:r>
            <a:r>
              <a:rPr b="1" dirty="0" err="1"/>
              <a:t>appropriativa</a:t>
            </a:r>
            <a:r>
              <a:rPr dirty="0"/>
              <a:t>, </a:t>
            </a:r>
            <a:r>
              <a:rPr dirty="0" err="1"/>
              <a:t>nel</a:t>
            </a:r>
            <a:r>
              <a:rPr dirty="0"/>
              <a:t> </a:t>
            </a:r>
            <a:r>
              <a:rPr dirty="0" err="1"/>
              <a:t>momento</a:t>
            </a:r>
            <a:r>
              <a:rPr dirty="0"/>
              <a:t> in cui </a:t>
            </a:r>
            <a:r>
              <a:rPr dirty="0" err="1"/>
              <a:t>l’agente</a:t>
            </a:r>
            <a:r>
              <a:rPr dirty="0"/>
              <a:t> </a:t>
            </a:r>
            <a:r>
              <a:rPr dirty="0" err="1"/>
              <a:t>compie</a:t>
            </a:r>
            <a:r>
              <a:rPr dirty="0"/>
              <a:t> un </a:t>
            </a:r>
            <a:r>
              <a:rPr dirty="0" err="1"/>
              <a:t>atto</a:t>
            </a:r>
            <a:r>
              <a:rPr dirty="0"/>
              <a:t> di </a:t>
            </a:r>
            <a:r>
              <a:rPr dirty="0" err="1"/>
              <a:t>dominio</a:t>
            </a:r>
            <a:r>
              <a:rPr dirty="0"/>
              <a:t> </a:t>
            </a:r>
            <a:r>
              <a:rPr dirty="0" err="1"/>
              <a:t>sulla</a:t>
            </a:r>
            <a:r>
              <a:rPr dirty="0"/>
              <a:t> </a:t>
            </a:r>
            <a:r>
              <a:rPr dirty="0" err="1"/>
              <a:t>cosa</a:t>
            </a:r>
            <a:r>
              <a:rPr dirty="0"/>
              <a:t> con la </a:t>
            </a:r>
            <a:r>
              <a:rPr dirty="0" err="1"/>
              <a:t>volontà</a:t>
            </a:r>
            <a:r>
              <a:rPr dirty="0"/>
              <a:t> </a:t>
            </a:r>
            <a:r>
              <a:rPr dirty="0" err="1"/>
              <a:t>espressa</a:t>
            </a:r>
            <a:r>
              <a:rPr dirty="0"/>
              <a:t> o </a:t>
            </a:r>
            <a:r>
              <a:rPr dirty="0" err="1"/>
              <a:t>implicita</a:t>
            </a:r>
            <a:r>
              <a:rPr dirty="0"/>
              <a:t> di </a:t>
            </a:r>
            <a:r>
              <a:rPr dirty="0" err="1"/>
              <a:t>tenere</a:t>
            </a:r>
            <a:r>
              <a:rPr dirty="0"/>
              <a:t> </a:t>
            </a:r>
            <a:r>
              <a:rPr dirty="0" err="1"/>
              <a:t>questa</a:t>
            </a:r>
            <a:r>
              <a:rPr dirty="0"/>
              <a:t> come propria. Si </a:t>
            </a:r>
            <a:r>
              <a:rPr dirty="0" err="1"/>
              <a:t>parla</a:t>
            </a:r>
            <a:r>
              <a:rPr dirty="0"/>
              <a:t> a </a:t>
            </a:r>
            <a:r>
              <a:rPr dirty="0" err="1"/>
              <a:t>tal</a:t>
            </a:r>
            <a:r>
              <a:rPr dirty="0"/>
              <a:t> </a:t>
            </a:r>
            <a:r>
              <a:rPr dirty="0" err="1"/>
              <a:t>proposito</a:t>
            </a:r>
            <a:r>
              <a:rPr dirty="0"/>
              <a:t> di </a:t>
            </a:r>
            <a:r>
              <a:rPr b="1" dirty="0" err="1">
                <a:solidFill>
                  <a:srgbClr val="E46C0A"/>
                </a:solidFill>
              </a:rPr>
              <a:t>atto</a:t>
            </a:r>
            <a:r>
              <a:rPr b="1" dirty="0">
                <a:solidFill>
                  <a:srgbClr val="E46C0A"/>
                </a:solidFill>
              </a:rPr>
              <a:t> </a:t>
            </a:r>
            <a:r>
              <a:rPr b="1" dirty="0" err="1" i="1">
                <a:solidFill>
                  <a:srgbClr val="E46C0A"/>
                </a:solidFill>
              </a:rPr>
              <a:t>uti</a:t>
            </a:r>
            <a:r>
              <a:rPr b="1" dirty="0" i="1">
                <a:solidFill>
                  <a:srgbClr val="E46C0A"/>
                </a:solidFill>
              </a:rPr>
              <a:t> dominus</a:t>
            </a:r>
            <a:r>
              <a:rPr dirty="0"/>
              <a:t>, </a:t>
            </a:r>
            <a:r>
              <a:rPr dirty="0" err="1"/>
              <a:t>cioè</a:t>
            </a:r>
            <a:r>
              <a:rPr dirty="0"/>
              <a:t> come se </a:t>
            </a:r>
            <a:r>
              <a:rPr dirty="0" err="1"/>
              <a:t>il</a:t>
            </a:r>
            <a:r>
              <a:rPr dirty="0"/>
              <a:t> </a:t>
            </a:r>
            <a:r>
              <a:rPr dirty="0" err="1"/>
              <a:t>possessore</a:t>
            </a:r>
            <a:r>
              <a:rPr dirty="0"/>
              <a:t> ne fosse </a:t>
            </a:r>
            <a:r>
              <a:rPr dirty="0" err="1"/>
              <a:t>il</a:t>
            </a:r>
            <a:r>
              <a:rPr dirty="0"/>
              <a:t> </a:t>
            </a:r>
            <a:r>
              <a:rPr dirty="0" err="1"/>
              <a:t>proprietario</a:t>
            </a:r>
            <a:r>
              <a:rPr dirty="0"/>
              <a:t>. </a:t>
            </a:r>
            <a:r>
              <a:rPr dirty="0" err="1" i="1"/>
              <a:t>Esempio</a:t>
            </a:r>
            <a:r>
              <a:rPr altLang="it-IT" dirty="0" i="1" lang="it-IT"/>
              <a:t>:</a:t>
            </a:r>
            <a:r>
              <a:rPr dirty="0" i="1"/>
              <a:t> la </a:t>
            </a:r>
            <a:r>
              <a:rPr dirty="0" err="1" i="1"/>
              <a:t>condotta</a:t>
            </a:r>
            <a:r>
              <a:rPr dirty="0" i="1"/>
              <a:t> del </a:t>
            </a:r>
            <a:r>
              <a:rPr dirty="0" err="1" i="1"/>
              <a:t>soggetto</a:t>
            </a:r>
            <a:r>
              <a:rPr dirty="0" i="1"/>
              <a:t> </a:t>
            </a:r>
            <a:r>
              <a:rPr dirty="0" err="1" i="1"/>
              <a:t>che</a:t>
            </a:r>
            <a:r>
              <a:rPr dirty="0" i="1"/>
              <a:t> </a:t>
            </a:r>
            <a:r>
              <a:rPr dirty="0" err="1" i="1"/>
              <a:t>vende</a:t>
            </a:r>
            <a:r>
              <a:rPr dirty="0" i="1"/>
              <a:t> a </a:t>
            </a:r>
            <a:r>
              <a:rPr dirty="0" err="1" i="1"/>
              <a:t>terzi</a:t>
            </a:r>
            <a:r>
              <a:rPr dirty="0" i="1"/>
              <a:t>, senza </a:t>
            </a:r>
            <a:r>
              <a:rPr dirty="0" err="1" i="1"/>
              <a:t>il</a:t>
            </a:r>
            <a:r>
              <a:rPr dirty="0" i="1"/>
              <a:t> </a:t>
            </a:r>
            <a:r>
              <a:rPr dirty="0" err="1" i="1"/>
              <a:t>consenso</a:t>
            </a:r>
            <a:r>
              <a:rPr dirty="0" i="1"/>
              <a:t> del </a:t>
            </a:r>
            <a:r>
              <a:rPr dirty="0" err="1" i="1"/>
              <a:t>proprietario</a:t>
            </a:r>
            <a:r>
              <a:rPr dirty="0" i="1"/>
              <a:t>, una </a:t>
            </a:r>
            <a:r>
              <a:rPr dirty="0" err="1" i="1"/>
              <a:t>cosa</a:t>
            </a:r>
            <a:r>
              <a:rPr dirty="0" i="1"/>
              <a:t> </a:t>
            </a:r>
            <a:r>
              <a:rPr dirty="0" err="1" i="1"/>
              <a:t>datagli</a:t>
            </a:r>
            <a:r>
              <a:rPr dirty="0" i="1"/>
              <a:t> in </a:t>
            </a:r>
            <a:r>
              <a:rPr dirty="0" err="1" i="1"/>
              <a:t>prestito</a:t>
            </a:r>
            <a:r>
              <a:rPr dirty="0" i="1"/>
              <a:t>.</a:t>
            </a:r>
          </a:p>
          <a:p>
            <a:pPr algn="just">
              <a:lnSpc>
                <a:spcPct val="114000"/>
              </a:lnSpc>
              <a:spcBef>
                <a:spcPts val="1200"/>
              </a:spcBef>
              <a:defRPr b="0" sz="2200">
                <a:latin typeface="Times New Roman"/>
                <a:ea typeface="Times New Roman"/>
                <a:cs typeface="Times New Roman"/>
                <a:sym typeface="Times New Roman"/>
              </a:defRPr>
            </a:pPr>
            <a:endParaRPr dirty="0" i="1"/>
          </a:p>
          <a:p>
            <a:pPr algn="just">
              <a:lnSpc>
                <a:spcPct val="114000"/>
              </a:lnSpc>
              <a:spcBef>
                <a:spcPts val="1200"/>
              </a:spcBef>
              <a:defRPr sz="2200" u="sng">
                <a:latin typeface="Times New Roman"/>
                <a:ea typeface="Times New Roman"/>
                <a:cs typeface="Times New Roman"/>
                <a:sym typeface="Times New Roman"/>
              </a:defRPr>
            </a:pPr>
            <a:r>
              <a:rPr dirty="0"/>
              <a:t>ELEMENTO SOGGETTIVO</a:t>
            </a:r>
            <a:r>
              <a:rPr dirty="0" u="none"/>
              <a:t> </a:t>
            </a:r>
            <a:r>
              <a:rPr b="0" dirty="0" u="none"/>
              <a:t>è </a:t>
            </a:r>
            <a:r>
              <a:rPr b="0" dirty="0" err="1" u="none"/>
              <a:t>il</a:t>
            </a:r>
            <a:r>
              <a:rPr b="0" dirty="0" u="none"/>
              <a:t> </a:t>
            </a:r>
            <a:r>
              <a:rPr dirty="0" u="none">
                <a:solidFill>
                  <a:srgbClr val="E46C0A"/>
                </a:solidFill>
              </a:rPr>
              <a:t>DOLO SPECIFICO</a:t>
            </a:r>
            <a:r>
              <a:rPr b="0" dirty="0" u="none"/>
              <a:t>, </a:t>
            </a:r>
            <a:r>
              <a:rPr b="0" dirty="0" err="1" u="none"/>
              <a:t>consistente</a:t>
            </a:r>
            <a:r>
              <a:rPr b="0" dirty="0" u="none"/>
              <a:t> </a:t>
            </a:r>
            <a:r>
              <a:rPr b="0" dirty="0" err="1" u="none"/>
              <a:t>nella</a:t>
            </a:r>
            <a:r>
              <a:rPr b="0" dirty="0" u="none"/>
              <a:t> </a:t>
            </a:r>
            <a:r>
              <a:rPr b="0" dirty="0" err="1" u="none"/>
              <a:t>volontà</a:t>
            </a:r>
            <a:r>
              <a:rPr b="0" dirty="0" u="none"/>
              <a:t> e </a:t>
            </a:r>
            <a:r>
              <a:rPr b="0" dirty="0" err="1" u="none"/>
              <a:t>coscienza</a:t>
            </a:r>
            <a:r>
              <a:rPr b="0" dirty="0" u="none"/>
              <a:t> di </a:t>
            </a:r>
            <a:r>
              <a:rPr b="0" dirty="0" err="1" u="none"/>
              <a:t>appropriarsi</a:t>
            </a:r>
            <a:r>
              <a:rPr b="0" dirty="0" u="none"/>
              <a:t> </a:t>
            </a:r>
            <a:r>
              <a:rPr b="0" dirty="0" err="1" u="none"/>
              <a:t>della</a:t>
            </a:r>
            <a:r>
              <a:rPr b="0" dirty="0" u="none"/>
              <a:t> </a:t>
            </a:r>
            <a:r>
              <a:rPr b="0" dirty="0" err="1" u="none"/>
              <a:t>cosa</a:t>
            </a:r>
            <a:r>
              <a:rPr b="0" dirty="0" u="none"/>
              <a:t> mobile </a:t>
            </a:r>
            <a:r>
              <a:rPr b="0" dirty="0" err="1" u="none"/>
              <a:t>altrui</a:t>
            </a:r>
            <a:r>
              <a:rPr b="0" dirty="0" u="none"/>
              <a:t> al </a:t>
            </a:r>
            <a:r>
              <a:rPr b="0" dirty="0" err="1" u="none"/>
              <a:t>momento</a:t>
            </a:r>
            <a:r>
              <a:rPr b="0" dirty="0" u="none"/>
              <a:t> </a:t>
            </a:r>
            <a:r>
              <a:rPr b="0" dirty="0" err="1" u="none"/>
              <a:t>posseduta</a:t>
            </a:r>
            <a:r>
              <a:rPr b="0" dirty="0" u="none"/>
              <a:t>, </a:t>
            </a:r>
            <a:r>
              <a:rPr b="0" dirty="0" err="1" u="none"/>
              <a:t>sapendo</a:t>
            </a:r>
            <a:r>
              <a:rPr b="0" dirty="0" u="none"/>
              <a:t> di non </a:t>
            </a:r>
            <a:r>
              <a:rPr b="0" dirty="0" err="1" u="none"/>
              <a:t>avere</a:t>
            </a:r>
            <a:r>
              <a:rPr b="0" dirty="0" u="none"/>
              <a:t> </a:t>
            </a:r>
            <a:r>
              <a:rPr b="0" dirty="0" err="1" u="none"/>
              <a:t>nessun</a:t>
            </a:r>
            <a:r>
              <a:rPr b="0" dirty="0" u="none"/>
              <a:t> </a:t>
            </a:r>
            <a:r>
              <a:rPr b="0" dirty="0" err="1" u="none"/>
              <a:t>titolo</a:t>
            </a:r>
            <a:r>
              <a:rPr b="0" dirty="0" u="none"/>
              <a:t> di </a:t>
            </a:r>
            <a:r>
              <a:rPr b="0" dirty="0" err="1" u="none"/>
              <a:t>disporre</a:t>
            </a:r>
            <a:r>
              <a:rPr b="0" dirty="0" u="none"/>
              <a:t> </a:t>
            </a:r>
            <a:r>
              <a:rPr b="0" dirty="0" err="1" u="none"/>
              <a:t>liberamente</a:t>
            </a:r>
            <a:r>
              <a:rPr b="0" dirty="0" u="none"/>
              <a:t> </a:t>
            </a:r>
            <a:r>
              <a:rPr b="0" dirty="0" err="1" u="none"/>
              <a:t>su</a:t>
            </a:r>
            <a:r>
              <a:rPr b="0" dirty="0" u="none"/>
              <a:t> </a:t>
            </a:r>
            <a:r>
              <a:rPr b="0" dirty="0" err="1" u="none"/>
              <a:t>quella</a:t>
            </a:r>
            <a:r>
              <a:rPr b="0" dirty="0" u="none"/>
              <a:t> </a:t>
            </a:r>
            <a:r>
              <a:rPr b="0" dirty="0" err="1" u="none"/>
              <a:t>cosa</a:t>
            </a:r>
            <a:r>
              <a:rPr b="0" dirty="0" u="none"/>
              <a:t> e </a:t>
            </a:r>
            <a:r>
              <a:rPr b="0" dirty="0" err="1" u="none"/>
              <a:t>conseguentemente</a:t>
            </a:r>
            <a:r>
              <a:rPr b="0" dirty="0" u="none"/>
              <a:t> </a:t>
            </a:r>
            <a:r>
              <a:rPr dirty="0" u="none">
                <a:solidFill>
                  <a:srgbClr val="E46C0A"/>
                </a:solidFill>
              </a:rPr>
              <a:t>con lo </a:t>
            </a:r>
            <a:r>
              <a:rPr dirty="0" err="1" u="none">
                <a:solidFill>
                  <a:srgbClr val="E46C0A"/>
                </a:solidFill>
              </a:rPr>
              <a:t>scopo</a:t>
            </a:r>
            <a:r>
              <a:rPr dirty="0" u="none">
                <a:solidFill>
                  <a:srgbClr val="E46C0A"/>
                </a:solidFill>
              </a:rPr>
              <a:t> di </a:t>
            </a:r>
            <a:r>
              <a:rPr dirty="0" err="1" u="none">
                <a:solidFill>
                  <a:srgbClr val="E46C0A"/>
                </a:solidFill>
              </a:rPr>
              <a:t>trarne</a:t>
            </a:r>
            <a:r>
              <a:rPr dirty="0" u="none">
                <a:solidFill>
                  <a:srgbClr val="E46C0A"/>
                </a:solidFill>
              </a:rPr>
              <a:t> </a:t>
            </a:r>
            <a:r>
              <a:rPr dirty="0" err="1" u="none">
                <a:solidFill>
                  <a:srgbClr val="E46C0A"/>
                </a:solidFill>
              </a:rPr>
              <a:t>un’ingiusta</a:t>
            </a:r>
            <a:r>
              <a:rPr dirty="0" u="none">
                <a:solidFill>
                  <a:srgbClr val="E46C0A"/>
                </a:solidFill>
              </a:rPr>
              <a:t> </a:t>
            </a:r>
            <a:r>
              <a:rPr dirty="0" err="1" u="none">
                <a:solidFill>
                  <a:srgbClr val="E46C0A"/>
                </a:solidFill>
              </a:rPr>
              <a:t>utilità</a:t>
            </a:r>
            <a:r>
              <a:rPr dirty="0" u="none">
                <a:solidFill>
                  <a:srgbClr val="E46C0A"/>
                </a:solidFill>
              </a:rPr>
              <a:t> </a:t>
            </a:r>
            <a:r>
              <a:rPr b="0" dirty="0" u="none"/>
              <a:t>(Cass. II, 25/03/1974).</a:t>
            </a:r>
          </a:p>
        </p:txBody>
      </p:sp>
      <p:pic>
        <p:nvPicPr>
          <p:cNvPr descr="Immagine 6" id="392"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393"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Appropriazione indebita</a:t>
            </a: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 name="CasellaDiTesto 1"/>
          <p:cNvSpPr txBox="1"/>
          <p:nvPr/>
        </p:nvSpPr>
        <p:spPr>
          <a:xfrm>
            <a:off x="229859" y="980727"/>
            <a:ext cx="8684281" cy="53655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indent="-1797050" marL="1797050">
              <a:lnSpc>
                <a:spcPct val="114000"/>
              </a:lnSpc>
              <a:spcBef>
                <a:spcPts val="600"/>
              </a:spcBef>
              <a:defRPr sz="2400">
                <a:solidFill>
                  <a:srgbClr val="C00000"/>
                </a:solidFill>
                <a:latin typeface="Book Antiqua"/>
                <a:ea typeface="Book Antiqua"/>
                <a:cs typeface="Book Antiqua"/>
                <a:sym typeface="Book Antiqua"/>
              </a:defRPr>
            </a:pPr>
            <a:r>
              <a:rPr dirty="0"/>
              <a:t>Art. 630 </a:t>
            </a:r>
            <a:r>
              <a:rPr dirty="0" err="1"/>
              <a:t>c.p.</a:t>
            </a:r>
            <a:r>
              <a:rPr dirty="0"/>
              <a:t> </a:t>
            </a:r>
            <a:r>
              <a:rPr dirty="0" err="1"/>
              <a:t>Sequestro</a:t>
            </a:r>
            <a:r>
              <a:rPr dirty="0"/>
              <a:t> di persona a </a:t>
            </a:r>
            <a:r>
              <a:rPr dirty="0" err="1"/>
              <a:t>scopo</a:t>
            </a:r>
            <a:r>
              <a:rPr dirty="0"/>
              <a:t> di </a:t>
            </a:r>
            <a:r>
              <a:rPr dirty="0" err="1"/>
              <a:t>estorsione</a:t>
            </a:r>
            <a:endParaRPr dirty="0">
              <a:latin typeface="Times New Roman"/>
              <a:ea typeface="Times New Roman"/>
              <a:cs typeface="Times New Roman"/>
              <a:sym typeface="Times New Roman"/>
            </a:endParaRPr>
          </a:p>
          <a:p>
            <a:pPr algn="just">
              <a:lnSpc>
                <a:spcPct val="114000"/>
              </a:lnSpc>
              <a:spcBef>
                <a:spcPts val="600"/>
              </a:spcBef>
              <a:defRPr b="0" sz="2200">
                <a:latin typeface="Book Antiqua"/>
                <a:ea typeface="Book Antiqua"/>
                <a:cs typeface="Book Antiqua"/>
                <a:sym typeface="Book Antiqua"/>
              </a:defRPr>
            </a:pPr>
            <a:r>
              <a:rPr dirty="0"/>
              <a:t>«</a:t>
            </a:r>
            <a:r>
              <a:rPr dirty="0" err="1" i="1"/>
              <a:t>Chiunque</a:t>
            </a:r>
            <a:r>
              <a:rPr dirty="0" i="1"/>
              <a:t> </a:t>
            </a:r>
            <a:r>
              <a:rPr b="1" dirty="0" err="1" i="1">
                <a:solidFill>
                  <a:srgbClr val="C00000"/>
                </a:solidFill>
              </a:rPr>
              <a:t>sequestra</a:t>
            </a:r>
            <a:r>
              <a:rPr b="1" dirty="0" i="1">
                <a:solidFill>
                  <a:srgbClr val="C00000"/>
                </a:solidFill>
              </a:rPr>
              <a:t> una persona </a:t>
            </a:r>
            <a:r>
              <a:rPr b="1" dirty="0" err="1" i="1">
                <a:solidFill>
                  <a:srgbClr val="C00000"/>
                </a:solidFill>
              </a:rPr>
              <a:t>allo</a:t>
            </a:r>
            <a:r>
              <a:rPr b="1" dirty="0" i="1">
                <a:solidFill>
                  <a:srgbClr val="C00000"/>
                </a:solidFill>
              </a:rPr>
              <a:t> </a:t>
            </a:r>
            <a:r>
              <a:rPr b="1" dirty="0" err="1" i="1">
                <a:solidFill>
                  <a:srgbClr val="C00000"/>
                </a:solidFill>
              </a:rPr>
              <a:t>scopo</a:t>
            </a:r>
            <a:r>
              <a:rPr b="1" dirty="0" i="1">
                <a:solidFill>
                  <a:srgbClr val="C00000"/>
                </a:solidFill>
              </a:rPr>
              <a:t> di </a:t>
            </a:r>
            <a:r>
              <a:rPr b="1" dirty="0" err="1" i="1">
                <a:solidFill>
                  <a:srgbClr val="C00000"/>
                </a:solidFill>
              </a:rPr>
              <a:t>conseguire</a:t>
            </a:r>
            <a:r>
              <a:rPr dirty="0" i="1"/>
              <a:t>, per </a:t>
            </a:r>
            <a:r>
              <a:rPr dirty="0" err="1" i="1"/>
              <a:t>sé</a:t>
            </a:r>
            <a:r>
              <a:rPr dirty="0" i="1"/>
              <a:t> o per </a:t>
            </a:r>
            <a:r>
              <a:rPr dirty="0" err="1" i="1"/>
              <a:t>altri</a:t>
            </a:r>
            <a:r>
              <a:rPr dirty="0" i="1"/>
              <a:t>, </a:t>
            </a:r>
            <a:r>
              <a:rPr b="1" dirty="0" i="1">
                <a:solidFill>
                  <a:srgbClr val="C00000"/>
                </a:solidFill>
              </a:rPr>
              <a:t>un </a:t>
            </a:r>
            <a:r>
              <a:rPr b="1" dirty="0" err="1" i="1">
                <a:solidFill>
                  <a:srgbClr val="C00000"/>
                </a:solidFill>
              </a:rPr>
              <a:t>ingiusto</a:t>
            </a:r>
            <a:r>
              <a:rPr b="1" dirty="0" i="1">
                <a:solidFill>
                  <a:srgbClr val="C00000"/>
                </a:solidFill>
              </a:rPr>
              <a:t> </a:t>
            </a:r>
            <a:r>
              <a:rPr b="1" dirty="0" err="1" i="1">
                <a:solidFill>
                  <a:srgbClr val="C00000"/>
                </a:solidFill>
              </a:rPr>
              <a:t>profitto</a:t>
            </a:r>
            <a:r>
              <a:rPr b="1" dirty="0" i="1">
                <a:solidFill>
                  <a:srgbClr val="C00000"/>
                </a:solidFill>
              </a:rPr>
              <a:t> come </a:t>
            </a:r>
            <a:r>
              <a:rPr b="1" dirty="0" err="1" i="1">
                <a:solidFill>
                  <a:srgbClr val="C00000"/>
                </a:solidFill>
              </a:rPr>
              <a:t>prezzo</a:t>
            </a:r>
            <a:r>
              <a:rPr b="1" dirty="0" i="1">
                <a:solidFill>
                  <a:srgbClr val="C00000"/>
                </a:solidFill>
              </a:rPr>
              <a:t> </a:t>
            </a:r>
            <a:r>
              <a:rPr b="1" dirty="0" err="1" i="1">
                <a:solidFill>
                  <a:srgbClr val="C00000"/>
                </a:solidFill>
              </a:rPr>
              <a:t>della</a:t>
            </a:r>
            <a:r>
              <a:rPr b="1" dirty="0" i="1">
                <a:solidFill>
                  <a:srgbClr val="C00000"/>
                </a:solidFill>
              </a:rPr>
              <a:t> </a:t>
            </a:r>
            <a:r>
              <a:rPr b="1" dirty="0" err="1" i="1">
                <a:solidFill>
                  <a:srgbClr val="C00000"/>
                </a:solidFill>
              </a:rPr>
              <a:t>liberazione</a:t>
            </a:r>
            <a:r>
              <a:rPr dirty="0" i="1"/>
              <a:t>, è </a:t>
            </a:r>
            <a:r>
              <a:rPr dirty="0" err="1" i="1"/>
              <a:t>punito</a:t>
            </a:r>
            <a:r>
              <a:rPr dirty="0" i="1"/>
              <a:t> con la </a:t>
            </a:r>
            <a:r>
              <a:rPr dirty="0" err="1" i="1"/>
              <a:t>reclusione</a:t>
            </a:r>
            <a:r>
              <a:rPr dirty="0" i="1"/>
              <a:t> da </a:t>
            </a:r>
            <a:r>
              <a:rPr dirty="0" err="1" i="1"/>
              <a:t>venticinque</a:t>
            </a:r>
            <a:r>
              <a:rPr dirty="0" i="1"/>
              <a:t> a </a:t>
            </a:r>
            <a:r>
              <a:rPr dirty="0" err="1" i="1"/>
              <a:t>trenta</a:t>
            </a:r>
            <a:r>
              <a:rPr dirty="0" i="1"/>
              <a:t> </a:t>
            </a:r>
            <a:r>
              <a:rPr dirty="0" err="1" i="1"/>
              <a:t>anni</a:t>
            </a:r>
            <a:r>
              <a:rPr dirty="0" i="1"/>
              <a:t>.</a:t>
            </a:r>
            <a:endParaRPr dirty="0">
              <a:latin typeface="Times New Roman"/>
              <a:ea typeface="Times New Roman"/>
              <a:cs typeface="Times New Roman"/>
              <a:sym typeface="Times New Roman"/>
            </a:endParaRPr>
          </a:p>
          <a:p>
            <a:pPr algn="just">
              <a:lnSpc>
                <a:spcPct val="114000"/>
              </a:lnSpc>
              <a:spcBef>
                <a:spcPts val="600"/>
              </a:spcBef>
              <a:defRPr b="0" i="1" sz="2000">
                <a:latin typeface="Book Antiqua"/>
                <a:ea typeface="Book Antiqua"/>
                <a:cs typeface="Book Antiqua"/>
                <a:sym typeface="Book Antiqua"/>
              </a:defRPr>
            </a:pPr>
            <a:r>
              <a:rPr dirty="0"/>
              <a:t>Se dal </a:t>
            </a:r>
            <a:r>
              <a:rPr dirty="0" err="1"/>
              <a:t>sequestro</a:t>
            </a:r>
            <a:r>
              <a:rPr dirty="0"/>
              <a:t> </a:t>
            </a:r>
            <a:r>
              <a:rPr b="1" dirty="0" err="1"/>
              <a:t>deriva</a:t>
            </a:r>
            <a:r>
              <a:rPr b="1" dirty="0"/>
              <a:t> </a:t>
            </a:r>
            <a:r>
              <a:rPr b="1" dirty="0" err="1"/>
              <a:t>comunque</a:t>
            </a:r>
            <a:r>
              <a:rPr b="1" dirty="0"/>
              <a:t> la </a:t>
            </a:r>
            <a:r>
              <a:rPr b="1" dirty="0" err="1"/>
              <a:t>morte</a:t>
            </a:r>
            <a:r>
              <a:rPr dirty="0"/>
              <a:t>, quale </a:t>
            </a:r>
            <a:r>
              <a:rPr dirty="0" err="1"/>
              <a:t>conseguenza</a:t>
            </a:r>
            <a:r>
              <a:rPr dirty="0"/>
              <a:t> non </a:t>
            </a:r>
            <a:r>
              <a:rPr dirty="0" err="1"/>
              <a:t>voluta</a:t>
            </a:r>
            <a:r>
              <a:rPr dirty="0"/>
              <a:t> dal </a:t>
            </a:r>
            <a:r>
              <a:rPr dirty="0" err="1"/>
              <a:t>reo</a:t>
            </a:r>
            <a:r>
              <a:rPr dirty="0"/>
              <a:t>, </a:t>
            </a:r>
            <a:r>
              <a:rPr b="1" dirty="0" err="1"/>
              <a:t>della</a:t>
            </a:r>
            <a:r>
              <a:rPr b="1" dirty="0"/>
              <a:t> persona </a:t>
            </a:r>
            <a:r>
              <a:rPr b="1" dirty="0" err="1"/>
              <a:t>sequestrata</a:t>
            </a:r>
            <a:r>
              <a:rPr dirty="0"/>
              <a:t>, </a:t>
            </a:r>
            <a:r>
              <a:rPr dirty="0" err="1"/>
              <a:t>il</a:t>
            </a:r>
            <a:r>
              <a:rPr dirty="0"/>
              <a:t> </a:t>
            </a:r>
            <a:r>
              <a:rPr dirty="0" err="1"/>
              <a:t>colpevole</a:t>
            </a:r>
            <a:r>
              <a:rPr dirty="0"/>
              <a:t> è </a:t>
            </a:r>
            <a:r>
              <a:rPr dirty="0" err="1"/>
              <a:t>punito</a:t>
            </a:r>
            <a:r>
              <a:rPr dirty="0"/>
              <a:t> con la </a:t>
            </a:r>
            <a:r>
              <a:rPr dirty="0" err="1"/>
              <a:t>reclusione</a:t>
            </a:r>
            <a:r>
              <a:rPr dirty="0"/>
              <a:t> di </a:t>
            </a:r>
            <a:r>
              <a:rPr dirty="0" err="1"/>
              <a:t>anni</a:t>
            </a:r>
            <a:r>
              <a:rPr dirty="0"/>
              <a:t> </a:t>
            </a:r>
            <a:r>
              <a:rPr dirty="0" err="1"/>
              <a:t>trenta</a:t>
            </a:r>
            <a:r>
              <a:rPr dirty="0"/>
              <a:t>.</a:t>
            </a:r>
            <a:endParaRPr dirty="0">
              <a:latin typeface="Times New Roman"/>
              <a:ea typeface="Times New Roman"/>
              <a:cs typeface="Times New Roman"/>
              <a:sym typeface="Times New Roman"/>
            </a:endParaRPr>
          </a:p>
          <a:p>
            <a:pPr algn="just">
              <a:lnSpc>
                <a:spcPct val="114000"/>
              </a:lnSpc>
              <a:spcBef>
                <a:spcPts val="600"/>
              </a:spcBef>
              <a:defRPr b="0" i="1" sz="2000">
                <a:latin typeface="Book Antiqua"/>
                <a:ea typeface="Book Antiqua"/>
                <a:cs typeface="Book Antiqua"/>
                <a:sym typeface="Book Antiqua"/>
              </a:defRPr>
            </a:pPr>
            <a:r>
              <a:rPr dirty="0"/>
              <a:t>Se </a:t>
            </a:r>
            <a:r>
              <a:rPr dirty="0" err="1"/>
              <a:t>il</a:t>
            </a:r>
            <a:r>
              <a:rPr dirty="0"/>
              <a:t> </a:t>
            </a:r>
            <a:r>
              <a:rPr dirty="0" err="1"/>
              <a:t>colpevole</a:t>
            </a:r>
            <a:r>
              <a:rPr dirty="0"/>
              <a:t> </a:t>
            </a:r>
            <a:r>
              <a:rPr b="1" dirty="0" err="1"/>
              <a:t>cagiona</a:t>
            </a:r>
            <a:r>
              <a:rPr b="1" dirty="0"/>
              <a:t> la </a:t>
            </a:r>
            <a:r>
              <a:rPr b="1" dirty="0" err="1"/>
              <a:t>morte</a:t>
            </a:r>
            <a:r>
              <a:rPr b="1" dirty="0"/>
              <a:t> del </a:t>
            </a:r>
            <a:r>
              <a:rPr b="1" dirty="0" err="1"/>
              <a:t>sequestrato</a:t>
            </a:r>
            <a:r>
              <a:rPr b="1" dirty="0"/>
              <a:t> </a:t>
            </a:r>
            <a:r>
              <a:rPr dirty="0" err="1"/>
              <a:t>si</a:t>
            </a:r>
            <a:r>
              <a:rPr dirty="0"/>
              <a:t> </a:t>
            </a:r>
            <a:r>
              <a:rPr dirty="0" err="1"/>
              <a:t>applica</a:t>
            </a:r>
            <a:r>
              <a:rPr dirty="0"/>
              <a:t> la </a:t>
            </a:r>
            <a:r>
              <a:rPr dirty="0" err="1"/>
              <a:t>pena</a:t>
            </a:r>
            <a:r>
              <a:rPr dirty="0"/>
              <a:t> </a:t>
            </a:r>
            <a:r>
              <a:rPr dirty="0" err="1"/>
              <a:t>dell'ergastolo</a:t>
            </a:r>
            <a:r>
              <a:rPr dirty="0"/>
              <a:t>.</a:t>
            </a:r>
          </a:p>
          <a:p>
            <a:pPr algn="just">
              <a:lnSpc>
                <a:spcPct val="114000"/>
              </a:lnSpc>
              <a:spcBef>
                <a:spcPts val="600"/>
              </a:spcBef>
              <a:defRPr b="0" i="1" sz="1600">
                <a:solidFill>
                  <a:srgbClr val="FF0000"/>
                </a:solidFill>
                <a:latin typeface="Times New Roman"/>
                <a:ea typeface="Times New Roman"/>
                <a:cs typeface="Times New Roman"/>
                <a:sym typeface="Times New Roman"/>
              </a:defRPr>
            </a:pPr>
            <a:r>
              <a:rPr dirty="0"/>
              <a:t>(in </a:t>
            </a:r>
            <a:r>
              <a:rPr dirty="0" err="1"/>
              <a:t>ragione</a:t>
            </a:r>
            <a:r>
              <a:rPr dirty="0"/>
              <a:t> del principio </a:t>
            </a:r>
            <a:r>
              <a:rPr dirty="0" err="1"/>
              <a:t>dell’assorbimento</a:t>
            </a:r>
            <a:r>
              <a:rPr dirty="0"/>
              <a:t> non </a:t>
            </a:r>
            <a:r>
              <a:rPr dirty="0" err="1"/>
              <a:t>concorre</a:t>
            </a:r>
            <a:r>
              <a:rPr dirty="0"/>
              <a:t> </a:t>
            </a:r>
            <a:r>
              <a:rPr dirty="0" err="1"/>
              <a:t>il</a:t>
            </a:r>
            <a:r>
              <a:rPr dirty="0"/>
              <a:t> </a:t>
            </a:r>
            <a:r>
              <a:rPr dirty="0" err="1"/>
              <a:t>delitto</a:t>
            </a:r>
            <a:r>
              <a:rPr dirty="0"/>
              <a:t> ex art.575 cp.)</a:t>
            </a:r>
            <a:endParaRPr dirty="0" sz="2000">
              <a:latin typeface="Book Antiqua"/>
              <a:ea typeface="Book Antiqua"/>
              <a:cs typeface="Book Antiqua"/>
              <a:sym typeface="Book Antiqua"/>
            </a:endParaRPr>
          </a:p>
          <a:p>
            <a:pPr algn="just">
              <a:lnSpc>
                <a:spcPct val="114000"/>
              </a:lnSpc>
              <a:spcBef>
                <a:spcPts val="600"/>
              </a:spcBef>
              <a:defRPr b="0" i="1" sz="2000">
                <a:latin typeface="Book Antiqua"/>
                <a:ea typeface="Book Antiqua"/>
                <a:cs typeface="Book Antiqua"/>
                <a:sym typeface="Book Antiqua"/>
              </a:defRPr>
            </a:pPr>
            <a:r>
              <a:rPr dirty="0"/>
              <a:t>Al </a:t>
            </a:r>
            <a:r>
              <a:rPr b="1" dirty="0" err="1"/>
              <a:t>concorrente</a:t>
            </a:r>
            <a:r>
              <a:rPr dirty="0"/>
              <a:t> </a:t>
            </a:r>
            <a:r>
              <a:rPr dirty="0" err="1"/>
              <a:t>che</a:t>
            </a:r>
            <a:r>
              <a:rPr dirty="0"/>
              <a:t>, </a:t>
            </a:r>
            <a:r>
              <a:rPr dirty="0" err="1"/>
              <a:t>dissociandosi</a:t>
            </a:r>
            <a:r>
              <a:rPr dirty="0"/>
              <a:t> </a:t>
            </a:r>
            <a:r>
              <a:rPr dirty="0" err="1"/>
              <a:t>dagli</a:t>
            </a:r>
            <a:r>
              <a:rPr dirty="0"/>
              <a:t> </a:t>
            </a:r>
            <a:r>
              <a:rPr dirty="0" err="1"/>
              <a:t>altri</a:t>
            </a:r>
            <a:r>
              <a:rPr dirty="0"/>
              <a:t>, </a:t>
            </a:r>
            <a:r>
              <a:rPr dirty="0" err="1"/>
              <a:t>si</a:t>
            </a:r>
            <a:r>
              <a:rPr dirty="0"/>
              <a:t> </a:t>
            </a:r>
            <a:r>
              <a:rPr dirty="0" err="1"/>
              <a:t>adopera</a:t>
            </a:r>
            <a:r>
              <a:rPr dirty="0"/>
              <a:t> in modo </a:t>
            </a:r>
            <a:r>
              <a:rPr dirty="0" err="1"/>
              <a:t>che</a:t>
            </a:r>
            <a:r>
              <a:rPr dirty="0"/>
              <a:t> </a:t>
            </a:r>
            <a:r>
              <a:rPr dirty="0" err="1"/>
              <a:t>il</a:t>
            </a:r>
            <a:r>
              <a:rPr dirty="0"/>
              <a:t> </a:t>
            </a:r>
            <a:r>
              <a:rPr dirty="0" err="1"/>
              <a:t>soggetto</a:t>
            </a:r>
            <a:r>
              <a:rPr dirty="0"/>
              <a:t> </a:t>
            </a:r>
            <a:r>
              <a:rPr dirty="0" err="1"/>
              <a:t>passivo</a:t>
            </a:r>
            <a:r>
              <a:rPr dirty="0"/>
              <a:t> </a:t>
            </a:r>
            <a:r>
              <a:rPr dirty="0" err="1"/>
              <a:t>riacquisti</a:t>
            </a:r>
            <a:r>
              <a:rPr dirty="0"/>
              <a:t> la </a:t>
            </a:r>
            <a:r>
              <a:rPr dirty="0" err="1"/>
              <a:t>libertà</a:t>
            </a:r>
            <a:r>
              <a:rPr dirty="0"/>
              <a:t>, senza </a:t>
            </a:r>
            <a:r>
              <a:rPr dirty="0" err="1"/>
              <a:t>che</a:t>
            </a:r>
            <a:r>
              <a:rPr dirty="0"/>
              <a:t> tale </a:t>
            </a:r>
            <a:r>
              <a:rPr dirty="0" err="1"/>
              <a:t>risultato</a:t>
            </a:r>
            <a:r>
              <a:rPr dirty="0"/>
              <a:t> </a:t>
            </a:r>
            <a:r>
              <a:rPr dirty="0" err="1"/>
              <a:t>sia</a:t>
            </a:r>
            <a:r>
              <a:rPr dirty="0"/>
              <a:t> </a:t>
            </a:r>
            <a:r>
              <a:rPr dirty="0" err="1"/>
              <a:t>conseguenza</a:t>
            </a:r>
            <a:r>
              <a:rPr dirty="0"/>
              <a:t> del </a:t>
            </a:r>
            <a:r>
              <a:rPr dirty="0" err="1"/>
              <a:t>prezzo</a:t>
            </a:r>
            <a:r>
              <a:rPr dirty="0"/>
              <a:t> </a:t>
            </a:r>
            <a:r>
              <a:rPr dirty="0" err="1"/>
              <a:t>della</a:t>
            </a:r>
            <a:r>
              <a:rPr dirty="0"/>
              <a:t> </a:t>
            </a:r>
            <a:r>
              <a:rPr dirty="0" err="1"/>
              <a:t>liberazione</a:t>
            </a:r>
            <a:r>
              <a:rPr dirty="0"/>
              <a:t>, </a:t>
            </a:r>
            <a:r>
              <a:rPr dirty="0" err="1"/>
              <a:t>si</a:t>
            </a:r>
            <a:r>
              <a:rPr dirty="0"/>
              <a:t> </a:t>
            </a:r>
            <a:r>
              <a:rPr dirty="0" err="1"/>
              <a:t>applicano</a:t>
            </a:r>
            <a:r>
              <a:rPr dirty="0"/>
              <a:t> le </a:t>
            </a:r>
            <a:r>
              <a:rPr dirty="0" err="1"/>
              <a:t>pene</a:t>
            </a:r>
            <a:r>
              <a:rPr dirty="0"/>
              <a:t> </a:t>
            </a:r>
            <a:r>
              <a:rPr dirty="0" err="1"/>
              <a:t>previste</a:t>
            </a:r>
            <a:r>
              <a:rPr dirty="0"/>
              <a:t> </a:t>
            </a:r>
            <a:r>
              <a:rPr dirty="0" err="1"/>
              <a:t>dall'articolo</a:t>
            </a:r>
            <a:r>
              <a:rPr dirty="0"/>
              <a:t> 605 (</a:t>
            </a:r>
            <a:r>
              <a:rPr dirty="0" err="1"/>
              <a:t>sequestro</a:t>
            </a:r>
            <a:r>
              <a:rPr dirty="0"/>
              <a:t> di persona). Se </a:t>
            </a:r>
            <a:r>
              <a:rPr dirty="0" err="1"/>
              <a:t>tuttavia</a:t>
            </a:r>
            <a:r>
              <a:rPr dirty="0"/>
              <a:t> </a:t>
            </a:r>
            <a:r>
              <a:rPr dirty="0" err="1"/>
              <a:t>il</a:t>
            </a:r>
            <a:r>
              <a:rPr dirty="0"/>
              <a:t> </a:t>
            </a:r>
            <a:r>
              <a:rPr dirty="0" err="1"/>
              <a:t>soggetto</a:t>
            </a:r>
            <a:r>
              <a:rPr dirty="0"/>
              <a:t> </a:t>
            </a:r>
            <a:r>
              <a:rPr dirty="0" err="1"/>
              <a:t>passivo</a:t>
            </a:r>
            <a:r>
              <a:rPr dirty="0"/>
              <a:t> </a:t>
            </a:r>
            <a:r>
              <a:rPr dirty="0" err="1"/>
              <a:t>muore</a:t>
            </a:r>
            <a:r>
              <a:rPr dirty="0"/>
              <a:t>, in </a:t>
            </a:r>
            <a:r>
              <a:rPr dirty="0" err="1"/>
              <a:t>conseguenza</a:t>
            </a:r>
            <a:r>
              <a:rPr dirty="0"/>
              <a:t> del </a:t>
            </a:r>
            <a:r>
              <a:rPr dirty="0" err="1"/>
              <a:t>sequestro</a:t>
            </a:r>
            <a:r>
              <a:rPr dirty="0"/>
              <a:t>, </a:t>
            </a:r>
            <a:r>
              <a:rPr dirty="0" err="1"/>
              <a:t>dopo</a:t>
            </a:r>
            <a:r>
              <a:rPr dirty="0"/>
              <a:t> la </a:t>
            </a:r>
            <a:r>
              <a:rPr dirty="0" err="1"/>
              <a:t>liberazione</a:t>
            </a:r>
            <a:r>
              <a:rPr dirty="0"/>
              <a:t>, la </a:t>
            </a:r>
            <a:r>
              <a:rPr dirty="0" err="1"/>
              <a:t>pena</a:t>
            </a:r>
            <a:r>
              <a:rPr dirty="0"/>
              <a:t> è </a:t>
            </a:r>
            <a:r>
              <a:rPr dirty="0" err="1"/>
              <a:t>della</a:t>
            </a:r>
            <a:r>
              <a:rPr dirty="0"/>
              <a:t> </a:t>
            </a:r>
            <a:r>
              <a:rPr dirty="0" err="1"/>
              <a:t>reclusione</a:t>
            </a:r>
            <a:r>
              <a:rPr dirty="0"/>
              <a:t> da sei a </a:t>
            </a:r>
            <a:r>
              <a:rPr dirty="0" err="1"/>
              <a:t>quindici</a:t>
            </a:r>
            <a:r>
              <a:rPr dirty="0"/>
              <a:t> </a:t>
            </a:r>
            <a:r>
              <a:rPr dirty="0" err="1"/>
              <a:t>anni</a:t>
            </a:r>
            <a:r>
              <a:rPr dirty="0"/>
              <a:t>. …</a:t>
            </a:r>
          </a:p>
        </p:txBody>
      </p:sp>
      <p:pic>
        <p:nvPicPr>
          <p:cNvPr descr="Immagine 3" id="396" name="Immagine 3"/>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397"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Sequestro di persona a scopo di estorsione</a:t>
            </a: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CasellaDiTesto 1"/>
          <p:cNvSpPr txBox="1"/>
          <p:nvPr/>
        </p:nvSpPr>
        <p:spPr>
          <a:xfrm>
            <a:off x="229859" y="980728"/>
            <a:ext cx="8684281" cy="59093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indent="-1797050" marL="1797050">
              <a:lnSpc>
                <a:spcPct val="114000"/>
              </a:lnSpc>
              <a:spcBef>
                <a:spcPts val="600"/>
              </a:spcBef>
              <a:defRPr sz="2400">
                <a:solidFill>
                  <a:srgbClr val="C00000"/>
                </a:solidFill>
                <a:latin typeface="Book Antiqua"/>
                <a:ea typeface="Book Antiqua"/>
                <a:cs typeface="Book Antiqua"/>
                <a:sym typeface="Book Antiqua"/>
              </a:defRPr>
            </a:pPr>
            <a:r>
              <a:t>Art. 630 c.p. Sequestro di persona a scopo di estorsione</a:t>
            </a:r>
            <a:endParaRPr>
              <a:latin typeface="Times New Roman"/>
              <a:ea typeface="Times New Roman"/>
              <a:cs typeface="Times New Roman"/>
              <a:sym typeface="Times New Roman"/>
            </a:endParaRPr>
          </a:p>
          <a:p>
            <a:pPr algn="just">
              <a:lnSpc>
                <a:spcPct val="114000"/>
              </a:lnSpc>
              <a:spcBef>
                <a:spcPts val="600"/>
              </a:spcBef>
              <a:defRPr b="0" sz="2000">
                <a:latin typeface="Book Antiqua"/>
                <a:ea typeface="Book Antiqua"/>
                <a:cs typeface="Book Antiqua"/>
                <a:sym typeface="Book Antiqua"/>
              </a:defRPr>
            </a:pPr>
            <a:r>
              <a:t>… </a:t>
            </a:r>
            <a:r>
              <a:rPr i="1"/>
              <a:t>Nei confronti del </a:t>
            </a:r>
            <a:r>
              <a:rPr b="1" i="1"/>
              <a:t>concorrente</a:t>
            </a:r>
            <a:r>
              <a:rPr i="1"/>
              <a:t> che, dissociandosi dagli altri, si adopera, al di fuori del caso previsto dal comma precedente, per evitare che l'attività delittuosa sia portata a conseguenze ulteriori ovvero aiuta concretamente l'autorità di polizia o l'autorità giudiziaria nella raccolta di prove decisive per l'individuazione o la cattura dei concorrenti, la pena dell'ergastolo è sostituita da quella della reclusione da dodici a vent'anni e le altre pene sono diminuite da un terzo a due terzi.</a:t>
            </a:r>
            <a:endParaRPr>
              <a:latin typeface="Times New Roman"/>
              <a:ea typeface="Times New Roman"/>
              <a:cs typeface="Times New Roman"/>
              <a:sym typeface="Times New Roman"/>
            </a:endParaRPr>
          </a:p>
          <a:p>
            <a:pPr algn="just">
              <a:lnSpc>
                <a:spcPct val="114000"/>
              </a:lnSpc>
              <a:spcBef>
                <a:spcPts val="600"/>
              </a:spcBef>
              <a:defRPr b="0" i="1" sz="2000">
                <a:latin typeface="Book Antiqua"/>
                <a:ea typeface="Book Antiqua"/>
                <a:cs typeface="Book Antiqua"/>
                <a:sym typeface="Book Antiqua"/>
              </a:defRPr>
            </a:pPr>
            <a:r>
              <a:t>Quando ricorre </a:t>
            </a:r>
            <a:r>
              <a:rPr b="1"/>
              <a:t>una circostanza attenuante</a:t>
            </a:r>
            <a:r>
              <a:t>, alla pena prevista dal secondo comma è sostituita la reclusione da venti a ventiquattro anni; alla pena prevista dal terzo comma è sostituita la reclusione da ventiquattro a trenta anni. Se concorrono più circostanze attenuanti, la pena da applicare per effetto delle diminuzioni non può essere inferiore a dieci anni, nell'ipotesi prevista dal secondo comma, ed a quindici anni, nell'ipotesi prevista dal terzo comma.</a:t>
            </a:r>
            <a:endParaRPr>
              <a:latin typeface="Times New Roman"/>
              <a:ea typeface="Times New Roman"/>
              <a:cs typeface="Times New Roman"/>
              <a:sym typeface="Times New Roman"/>
            </a:endParaRPr>
          </a:p>
          <a:p>
            <a:pPr algn="just">
              <a:lnSpc>
                <a:spcPct val="114000"/>
              </a:lnSpc>
              <a:spcBef>
                <a:spcPts val="600"/>
              </a:spcBef>
              <a:defRPr i="1" sz="2000">
                <a:latin typeface="Book Antiqua"/>
                <a:ea typeface="Book Antiqua"/>
                <a:cs typeface="Book Antiqua"/>
                <a:sym typeface="Book Antiqua"/>
              </a:defRPr>
            </a:pPr>
            <a:r>
              <a:t>I limiti di pena preveduti nel comma precedente possono essere superati allorché ricorrono le circostanze attenuanti di cui al quinto comma del presente articolo</a:t>
            </a:r>
            <a:r>
              <a:rPr b="0"/>
              <a:t>».</a:t>
            </a:r>
          </a:p>
        </p:txBody>
      </p:sp>
      <p:pic>
        <p:nvPicPr>
          <p:cNvPr descr="Immagine 3" id="400" name="Immagine 3"/>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401"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Sequestro di persona a scopo di estorsione</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Rettangolo 4"/>
          <p:cNvSpPr txBox="1"/>
          <p:nvPr/>
        </p:nvSpPr>
        <p:spPr>
          <a:xfrm>
            <a:off x="45719" y="836713"/>
            <a:ext cx="9052561" cy="59268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b="0" sz="2200">
                <a:latin typeface="Times New Roman"/>
                <a:ea typeface="Times New Roman"/>
                <a:cs typeface="Times New Roman"/>
                <a:sym typeface="Times New Roman"/>
              </a:defRPr>
            </a:pPr>
            <a:r>
              <a:rPr dirty="0"/>
              <a:t>Il </a:t>
            </a:r>
            <a:r>
              <a:rPr dirty="0" err="1"/>
              <a:t>delitto</a:t>
            </a:r>
            <a:r>
              <a:rPr dirty="0"/>
              <a:t> in </a:t>
            </a:r>
            <a:r>
              <a:rPr dirty="0" err="1"/>
              <a:t>esame</a:t>
            </a:r>
            <a:r>
              <a:rPr dirty="0"/>
              <a:t> </a:t>
            </a:r>
            <a:r>
              <a:rPr dirty="0" err="1"/>
              <a:t>si</a:t>
            </a:r>
            <a:r>
              <a:rPr dirty="0"/>
              <a:t> </a:t>
            </a:r>
            <a:r>
              <a:rPr dirty="0" err="1"/>
              <a:t>presenta</a:t>
            </a:r>
            <a:r>
              <a:rPr dirty="0"/>
              <a:t> come </a:t>
            </a:r>
            <a:r>
              <a:rPr b="1" dirty="0">
                <a:solidFill>
                  <a:srgbClr val="C00000"/>
                </a:solidFill>
              </a:rPr>
              <a:t>PLURIOFFENSIVO</a:t>
            </a:r>
            <a:r>
              <a:rPr dirty="0"/>
              <a:t> (Cass. I, 15/11/1977), in </a:t>
            </a:r>
            <a:r>
              <a:rPr dirty="0" err="1"/>
              <a:t>quanto</a:t>
            </a:r>
            <a:r>
              <a:rPr dirty="0"/>
              <a:t> </a:t>
            </a:r>
            <a:r>
              <a:rPr dirty="0" err="1"/>
              <a:t>lede</a:t>
            </a:r>
            <a:r>
              <a:rPr dirty="0"/>
              <a:t> </a:t>
            </a:r>
            <a:r>
              <a:rPr dirty="0" err="1"/>
              <a:t>sia</a:t>
            </a:r>
            <a:r>
              <a:rPr dirty="0"/>
              <a:t> </a:t>
            </a:r>
            <a:r>
              <a:rPr b="1" dirty="0" err="1">
                <a:solidFill>
                  <a:srgbClr val="C00000"/>
                </a:solidFill>
              </a:rPr>
              <a:t>l’interesse</a:t>
            </a:r>
            <a:r>
              <a:rPr b="1" dirty="0">
                <a:solidFill>
                  <a:srgbClr val="C00000"/>
                </a:solidFill>
              </a:rPr>
              <a:t> </a:t>
            </a:r>
            <a:r>
              <a:rPr b="1" dirty="0" err="1">
                <a:solidFill>
                  <a:srgbClr val="C00000"/>
                </a:solidFill>
              </a:rPr>
              <a:t>all’inviolabilità</a:t>
            </a:r>
            <a:r>
              <a:rPr b="1" dirty="0">
                <a:solidFill>
                  <a:srgbClr val="C00000"/>
                </a:solidFill>
              </a:rPr>
              <a:t> del </a:t>
            </a:r>
            <a:r>
              <a:rPr b="1" dirty="0" err="1">
                <a:solidFill>
                  <a:srgbClr val="C00000"/>
                </a:solidFill>
              </a:rPr>
              <a:t>patrimonio</a:t>
            </a:r>
            <a:r>
              <a:rPr dirty="0"/>
              <a:t>, </a:t>
            </a:r>
            <a:r>
              <a:rPr dirty="0" err="1"/>
              <a:t>sia</a:t>
            </a:r>
            <a:r>
              <a:rPr dirty="0"/>
              <a:t> la </a:t>
            </a:r>
            <a:r>
              <a:rPr b="1" dirty="0" err="1">
                <a:solidFill>
                  <a:srgbClr val="C00000"/>
                </a:solidFill>
              </a:rPr>
              <a:t>libertà</a:t>
            </a:r>
            <a:r>
              <a:rPr b="1" dirty="0">
                <a:solidFill>
                  <a:srgbClr val="C00000"/>
                </a:solidFill>
              </a:rPr>
              <a:t> </a:t>
            </a:r>
            <a:r>
              <a:rPr b="1" dirty="0" err="1">
                <a:solidFill>
                  <a:srgbClr val="C00000"/>
                </a:solidFill>
              </a:rPr>
              <a:t>personale</a:t>
            </a:r>
            <a:r>
              <a:rPr b="1" dirty="0">
                <a:solidFill>
                  <a:srgbClr val="C00000"/>
                </a:solidFill>
              </a:rPr>
              <a:t> </a:t>
            </a:r>
            <a:r>
              <a:rPr dirty="0" err="1"/>
              <a:t>intesa</a:t>
            </a:r>
            <a:r>
              <a:rPr dirty="0"/>
              <a:t> come </a:t>
            </a:r>
            <a:r>
              <a:rPr dirty="0" err="1"/>
              <a:t>libertà</a:t>
            </a:r>
            <a:r>
              <a:rPr dirty="0"/>
              <a:t> di </a:t>
            </a:r>
            <a:r>
              <a:rPr dirty="0" err="1"/>
              <a:t>muoversi</a:t>
            </a:r>
            <a:r>
              <a:rPr dirty="0"/>
              <a:t> </a:t>
            </a:r>
            <a:r>
              <a:rPr dirty="0" err="1"/>
              <a:t>nello</a:t>
            </a:r>
            <a:r>
              <a:rPr dirty="0"/>
              <a:t> </a:t>
            </a:r>
            <a:r>
              <a:rPr dirty="0" err="1"/>
              <a:t>spazio</a:t>
            </a:r>
            <a:r>
              <a:rPr dirty="0"/>
              <a:t> secondo le </a:t>
            </a:r>
            <a:r>
              <a:rPr dirty="0" err="1"/>
              <a:t>proprie</a:t>
            </a:r>
            <a:r>
              <a:rPr dirty="0"/>
              <a:t> </a:t>
            </a:r>
            <a:r>
              <a:rPr dirty="0" err="1"/>
              <a:t>autonome</a:t>
            </a:r>
            <a:r>
              <a:rPr dirty="0"/>
              <a:t> </a:t>
            </a:r>
            <a:r>
              <a:rPr dirty="0" err="1"/>
              <a:t>determinazioni</a:t>
            </a:r>
            <a:r>
              <a:rPr dirty="0"/>
              <a:t>. </a:t>
            </a:r>
          </a:p>
          <a:p>
            <a:pPr algn="just">
              <a:lnSpc>
                <a:spcPct val="114000"/>
              </a:lnSpc>
              <a:spcBef>
                <a:spcPts val="1200"/>
              </a:spcBef>
              <a:defRPr sz="2200" u="sng">
                <a:latin typeface="Times New Roman"/>
                <a:ea typeface="Times New Roman"/>
                <a:cs typeface="Times New Roman"/>
                <a:sym typeface="Times New Roman"/>
              </a:defRPr>
            </a:pPr>
            <a:r>
              <a:rPr dirty="0"/>
              <a:t>ELEMENTO OGGETTIVO</a:t>
            </a:r>
            <a:r>
              <a:rPr b="0" dirty="0" u="none"/>
              <a:t>: </a:t>
            </a:r>
            <a:r>
              <a:rPr b="0" dirty="0" err="1" u="none"/>
              <a:t>consiste</a:t>
            </a:r>
            <a:r>
              <a:rPr b="0" dirty="0" u="none"/>
              <a:t> </a:t>
            </a:r>
            <a:r>
              <a:rPr b="0" dirty="0" err="1" u="none"/>
              <a:t>nel</a:t>
            </a:r>
            <a:r>
              <a:rPr b="0" dirty="0" u="none"/>
              <a:t> </a:t>
            </a:r>
            <a:r>
              <a:rPr dirty="0" err="1" u="none">
                <a:solidFill>
                  <a:srgbClr val="C00000"/>
                </a:solidFill>
              </a:rPr>
              <a:t>privare</a:t>
            </a:r>
            <a:r>
              <a:rPr dirty="0" u="none">
                <a:solidFill>
                  <a:srgbClr val="C00000"/>
                </a:solidFill>
              </a:rPr>
              <a:t> la </a:t>
            </a:r>
            <a:r>
              <a:rPr dirty="0" err="1" u="none">
                <a:solidFill>
                  <a:srgbClr val="C00000"/>
                </a:solidFill>
              </a:rPr>
              <a:t>libertà</a:t>
            </a:r>
            <a:r>
              <a:rPr dirty="0" u="none">
                <a:solidFill>
                  <a:srgbClr val="C00000"/>
                </a:solidFill>
              </a:rPr>
              <a:t> </a:t>
            </a:r>
            <a:r>
              <a:rPr dirty="0" err="1" u="none">
                <a:solidFill>
                  <a:srgbClr val="C00000"/>
                </a:solidFill>
              </a:rPr>
              <a:t>personale</a:t>
            </a:r>
            <a:r>
              <a:rPr dirty="0" u="none">
                <a:solidFill>
                  <a:srgbClr val="C00000"/>
                </a:solidFill>
              </a:rPr>
              <a:t> </a:t>
            </a:r>
            <a:r>
              <a:rPr b="0" dirty="0" u="none"/>
              <a:t>al fine di </a:t>
            </a:r>
            <a:r>
              <a:rPr b="0" dirty="0" err="1" u="none"/>
              <a:t>ottenere</a:t>
            </a:r>
            <a:r>
              <a:rPr b="0" dirty="0" u="none"/>
              <a:t> un </a:t>
            </a:r>
            <a:r>
              <a:rPr b="0" dirty="0" err="1" u="none"/>
              <a:t>ingiusto</a:t>
            </a:r>
            <a:r>
              <a:rPr b="0" dirty="0" u="none"/>
              <a:t> </a:t>
            </a:r>
            <a:r>
              <a:rPr b="0" dirty="0" err="1" u="none"/>
              <a:t>profitto</a:t>
            </a:r>
            <a:r>
              <a:rPr b="0" dirty="0" u="none"/>
              <a:t> come </a:t>
            </a:r>
            <a:r>
              <a:rPr b="0" dirty="0" err="1" u="none"/>
              <a:t>prezzo</a:t>
            </a:r>
            <a:r>
              <a:rPr b="0" dirty="0" u="none"/>
              <a:t> </a:t>
            </a:r>
            <a:r>
              <a:rPr b="0" dirty="0" err="1" u="none"/>
              <a:t>della</a:t>
            </a:r>
            <a:r>
              <a:rPr b="0" dirty="0" u="none"/>
              <a:t> </a:t>
            </a:r>
            <a:r>
              <a:rPr b="0" dirty="0" err="1" u="none"/>
              <a:t>liberazione</a:t>
            </a:r>
            <a:r>
              <a:rPr b="0" dirty="0" u="none"/>
              <a:t>.</a:t>
            </a:r>
          </a:p>
          <a:p>
            <a:pPr algn="just">
              <a:lnSpc>
                <a:spcPct val="114000"/>
              </a:lnSpc>
              <a:spcBef>
                <a:spcPts val="1200"/>
              </a:spcBef>
              <a:defRPr b="0" sz="2200">
                <a:latin typeface="Times New Roman"/>
                <a:ea typeface="Times New Roman"/>
                <a:cs typeface="Times New Roman"/>
                <a:sym typeface="Times New Roman"/>
              </a:defRPr>
            </a:pPr>
            <a:r>
              <a:rPr dirty="0"/>
              <a:t>Per </a:t>
            </a:r>
            <a:r>
              <a:rPr dirty="0" err="1"/>
              <a:t>quanto</a:t>
            </a:r>
            <a:r>
              <a:rPr dirty="0"/>
              <a:t> </a:t>
            </a:r>
            <a:r>
              <a:rPr dirty="0" err="1"/>
              <a:t>riguarda</a:t>
            </a:r>
            <a:r>
              <a:rPr dirty="0"/>
              <a:t> </a:t>
            </a:r>
            <a:r>
              <a:rPr dirty="0" err="1"/>
              <a:t>questa</a:t>
            </a:r>
            <a:r>
              <a:rPr dirty="0"/>
              <a:t> </a:t>
            </a:r>
            <a:r>
              <a:rPr dirty="0" err="1"/>
              <a:t>figura</a:t>
            </a:r>
            <a:r>
              <a:rPr dirty="0"/>
              <a:t> di </a:t>
            </a:r>
            <a:r>
              <a:rPr dirty="0" err="1"/>
              <a:t>reato</a:t>
            </a:r>
            <a:r>
              <a:rPr dirty="0"/>
              <a:t>, la </a:t>
            </a:r>
            <a:r>
              <a:rPr dirty="0" err="1"/>
              <a:t>limitazione</a:t>
            </a:r>
            <a:r>
              <a:rPr dirty="0"/>
              <a:t> </a:t>
            </a:r>
            <a:r>
              <a:rPr dirty="0" err="1"/>
              <a:t>della</a:t>
            </a:r>
            <a:r>
              <a:rPr dirty="0"/>
              <a:t> </a:t>
            </a:r>
            <a:r>
              <a:rPr dirty="0" err="1"/>
              <a:t>libertà</a:t>
            </a:r>
            <a:r>
              <a:rPr dirty="0"/>
              <a:t> </a:t>
            </a:r>
            <a:r>
              <a:rPr dirty="0" err="1"/>
              <a:t>personale</a:t>
            </a:r>
            <a:r>
              <a:rPr dirty="0"/>
              <a:t> </a:t>
            </a:r>
            <a:r>
              <a:rPr dirty="0" err="1"/>
              <a:t>della</a:t>
            </a:r>
            <a:r>
              <a:rPr dirty="0"/>
              <a:t> </a:t>
            </a:r>
            <a:r>
              <a:rPr dirty="0" err="1"/>
              <a:t>vittima</a:t>
            </a:r>
            <a:r>
              <a:rPr dirty="0"/>
              <a:t> </a:t>
            </a:r>
            <a:r>
              <a:rPr b="1" dirty="0" err="1">
                <a:solidFill>
                  <a:srgbClr val="C00000"/>
                </a:solidFill>
              </a:rPr>
              <a:t>può</a:t>
            </a:r>
            <a:r>
              <a:rPr b="1" dirty="0">
                <a:solidFill>
                  <a:srgbClr val="C00000"/>
                </a:solidFill>
              </a:rPr>
              <a:t> </a:t>
            </a:r>
            <a:r>
              <a:rPr b="1" dirty="0" err="1">
                <a:solidFill>
                  <a:srgbClr val="C00000"/>
                </a:solidFill>
              </a:rPr>
              <a:t>realizzarsi</a:t>
            </a:r>
            <a:r>
              <a:rPr b="1" dirty="0">
                <a:solidFill>
                  <a:srgbClr val="C00000"/>
                </a:solidFill>
              </a:rPr>
              <a:t>, </a:t>
            </a:r>
            <a:r>
              <a:rPr b="1" dirty="0" err="1">
                <a:solidFill>
                  <a:srgbClr val="C00000"/>
                </a:solidFill>
              </a:rPr>
              <a:t>oltre</a:t>
            </a:r>
            <a:r>
              <a:rPr b="1" dirty="0">
                <a:solidFill>
                  <a:srgbClr val="C00000"/>
                </a:solidFill>
              </a:rPr>
              <a:t> </a:t>
            </a:r>
            <a:r>
              <a:rPr b="1" dirty="0" err="1">
                <a:solidFill>
                  <a:srgbClr val="C00000"/>
                </a:solidFill>
              </a:rPr>
              <a:t>che</a:t>
            </a:r>
            <a:r>
              <a:rPr b="1" dirty="0">
                <a:solidFill>
                  <a:srgbClr val="C00000"/>
                </a:solidFill>
              </a:rPr>
              <a:t> con la </a:t>
            </a:r>
            <a:r>
              <a:rPr b="1" dirty="0" err="1">
                <a:solidFill>
                  <a:srgbClr val="C00000"/>
                </a:solidFill>
              </a:rPr>
              <a:t>coercizione</a:t>
            </a:r>
            <a:r>
              <a:rPr b="1" dirty="0">
                <a:solidFill>
                  <a:srgbClr val="C00000"/>
                </a:solidFill>
              </a:rPr>
              <a:t> </a:t>
            </a:r>
            <a:r>
              <a:rPr b="1" dirty="0" err="1">
                <a:solidFill>
                  <a:srgbClr val="C00000"/>
                </a:solidFill>
              </a:rPr>
              <a:t>fisica</a:t>
            </a:r>
            <a:r>
              <a:rPr b="1" dirty="0">
                <a:solidFill>
                  <a:srgbClr val="C00000"/>
                </a:solidFill>
              </a:rPr>
              <a:t>, </a:t>
            </a:r>
            <a:r>
              <a:rPr b="1" dirty="0" err="1">
                <a:solidFill>
                  <a:srgbClr val="C00000"/>
                </a:solidFill>
              </a:rPr>
              <a:t>anche</a:t>
            </a:r>
            <a:r>
              <a:rPr b="1" dirty="0">
                <a:solidFill>
                  <a:srgbClr val="C00000"/>
                </a:solidFill>
              </a:rPr>
              <a:t> </a:t>
            </a:r>
            <a:r>
              <a:rPr b="1" dirty="0" err="1">
                <a:solidFill>
                  <a:srgbClr val="C00000"/>
                </a:solidFill>
              </a:rPr>
              <a:t>attraverso</a:t>
            </a:r>
            <a:r>
              <a:rPr b="1" dirty="0">
                <a:solidFill>
                  <a:srgbClr val="C00000"/>
                </a:solidFill>
              </a:rPr>
              <a:t> </a:t>
            </a:r>
            <a:r>
              <a:rPr b="1" dirty="0" err="1">
                <a:solidFill>
                  <a:srgbClr val="C00000"/>
                </a:solidFill>
              </a:rPr>
              <a:t>l’inganno</a:t>
            </a:r>
            <a:r>
              <a:rPr dirty="0"/>
              <a:t>, </a:t>
            </a:r>
            <a:r>
              <a:rPr dirty="0" err="1"/>
              <a:t>sempre</a:t>
            </a:r>
            <a:r>
              <a:rPr dirty="0"/>
              <a:t> </a:t>
            </a:r>
            <a:r>
              <a:rPr dirty="0" err="1"/>
              <a:t>che</a:t>
            </a:r>
            <a:r>
              <a:rPr dirty="0"/>
              <a:t> </a:t>
            </a:r>
            <a:r>
              <a:rPr dirty="0" err="1"/>
              <a:t>questo</a:t>
            </a:r>
            <a:r>
              <a:rPr dirty="0"/>
              <a:t> </a:t>
            </a:r>
            <a:r>
              <a:rPr dirty="0" err="1"/>
              <a:t>sia</a:t>
            </a:r>
            <a:r>
              <a:rPr dirty="0"/>
              <a:t> </a:t>
            </a:r>
            <a:r>
              <a:rPr dirty="0" err="1"/>
              <a:t>idoneo</a:t>
            </a:r>
            <a:r>
              <a:rPr dirty="0"/>
              <a:t> a </a:t>
            </a:r>
            <a:r>
              <a:rPr dirty="0" err="1"/>
              <a:t>creare</a:t>
            </a:r>
            <a:r>
              <a:rPr dirty="0"/>
              <a:t> </a:t>
            </a:r>
            <a:r>
              <a:rPr dirty="0" err="1"/>
              <a:t>nel</a:t>
            </a:r>
            <a:r>
              <a:rPr dirty="0"/>
              <a:t> </a:t>
            </a:r>
            <a:r>
              <a:rPr dirty="0" err="1"/>
              <a:t>soggetto</a:t>
            </a:r>
            <a:r>
              <a:rPr dirty="0"/>
              <a:t> </a:t>
            </a:r>
            <a:r>
              <a:rPr dirty="0" err="1"/>
              <a:t>passivo</a:t>
            </a:r>
            <a:r>
              <a:rPr dirty="0"/>
              <a:t> </a:t>
            </a:r>
            <a:r>
              <a:rPr dirty="0" err="1" u="sng"/>
              <a:t>l’apparenza</a:t>
            </a:r>
            <a:r>
              <a:rPr dirty="0" u="sng"/>
              <a:t> di un </a:t>
            </a:r>
            <a:r>
              <a:rPr dirty="0" err="1" u="sng"/>
              <a:t>pericolo</a:t>
            </a:r>
            <a:r>
              <a:rPr dirty="0" u="sng"/>
              <a:t> per la </a:t>
            </a:r>
            <a:r>
              <a:rPr dirty="0" err="1" u="sng"/>
              <a:t>sua</a:t>
            </a:r>
            <a:r>
              <a:rPr dirty="0" u="sng"/>
              <a:t> </a:t>
            </a:r>
            <a:r>
              <a:rPr dirty="0" err="1" u="sng"/>
              <a:t>incolumità</a:t>
            </a:r>
            <a:r>
              <a:rPr dirty="0" u="sng"/>
              <a:t> o per </a:t>
            </a:r>
            <a:r>
              <a:rPr dirty="0" err="1" u="sng"/>
              <a:t>il</a:t>
            </a:r>
            <a:r>
              <a:rPr dirty="0" u="sng"/>
              <a:t> </a:t>
            </a:r>
            <a:r>
              <a:rPr dirty="0" err="1" u="sng"/>
              <a:t>suo</a:t>
            </a:r>
            <a:r>
              <a:rPr dirty="0" u="sng"/>
              <a:t> </a:t>
            </a:r>
            <a:r>
              <a:rPr dirty="0" err="1" u="sng"/>
              <a:t>patrimonio</a:t>
            </a:r>
            <a:r>
              <a:rPr dirty="0"/>
              <a:t>, tale da </a:t>
            </a:r>
            <a:r>
              <a:rPr dirty="0" err="1"/>
              <a:t>indurlo</a:t>
            </a:r>
            <a:r>
              <a:rPr dirty="0"/>
              <a:t> ad </a:t>
            </a:r>
            <a:r>
              <a:rPr dirty="0" err="1"/>
              <a:t>autolimitarsi</a:t>
            </a:r>
            <a:r>
              <a:rPr dirty="0"/>
              <a:t>.</a:t>
            </a:r>
          </a:p>
          <a:p>
            <a:pPr algn="just">
              <a:lnSpc>
                <a:spcPct val="114000"/>
              </a:lnSpc>
              <a:spcBef>
                <a:spcPts val="1200"/>
              </a:spcBef>
              <a:defRPr sz="2200" u="sng">
                <a:latin typeface="Times New Roman"/>
                <a:ea typeface="Times New Roman"/>
                <a:cs typeface="Times New Roman"/>
                <a:sym typeface="Times New Roman"/>
              </a:defRPr>
            </a:pPr>
            <a:r>
              <a:rPr dirty="0"/>
              <a:t>ELEMENTO SOGGETTIVO</a:t>
            </a:r>
            <a:r>
              <a:rPr dirty="0" u="none"/>
              <a:t> </a:t>
            </a:r>
            <a:r>
              <a:rPr b="0" dirty="0" u="none"/>
              <a:t>è </a:t>
            </a:r>
            <a:r>
              <a:rPr b="0" dirty="0" err="1" u="none"/>
              <a:t>il</a:t>
            </a:r>
            <a:r>
              <a:rPr b="0" dirty="0" u="none"/>
              <a:t> </a:t>
            </a:r>
            <a:r>
              <a:rPr dirty="0" u="none">
                <a:solidFill>
                  <a:srgbClr val="C00000"/>
                </a:solidFill>
              </a:rPr>
              <a:t>DOLO SPECIFICO</a:t>
            </a:r>
            <a:r>
              <a:rPr b="0" dirty="0" u="none"/>
              <a:t>, </a:t>
            </a:r>
            <a:r>
              <a:rPr b="0" dirty="0" err="1" u="none"/>
              <a:t>venendo</a:t>
            </a:r>
            <a:r>
              <a:rPr b="0" dirty="0" u="none"/>
              <a:t> in </a:t>
            </a:r>
            <a:r>
              <a:rPr b="0" dirty="0" err="1" u="none"/>
              <a:t>rilievo</a:t>
            </a:r>
            <a:r>
              <a:rPr b="0" dirty="0" u="none"/>
              <a:t> </a:t>
            </a:r>
            <a:r>
              <a:rPr b="0" dirty="0" err="1" u="none"/>
              <a:t>il</a:t>
            </a:r>
            <a:r>
              <a:rPr b="0" dirty="0" u="none"/>
              <a:t> fine di </a:t>
            </a:r>
            <a:r>
              <a:rPr b="0" dirty="0" err="1" u="none"/>
              <a:t>conseguire</a:t>
            </a:r>
            <a:r>
              <a:rPr b="0" dirty="0" u="none"/>
              <a:t> un </a:t>
            </a:r>
            <a:r>
              <a:rPr dirty="0" err="1" u="none">
                <a:solidFill>
                  <a:srgbClr val="C00000"/>
                </a:solidFill>
              </a:rPr>
              <a:t>ingiusto</a:t>
            </a:r>
            <a:r>
              <a:rPr dirty="0" u="none">
                <a:solidFill>
                  <a:srgbClr val="C00000"/>
                </a:solidFill>
              </a:rPr>
              <a:t> </a:t>
            </a:r>
            <a:r>
              <a:rPr dirty="0" err="1" u="none">
                <a:solidFill>
                  <a:srgbClr val="C00000"/>
                </a:solidFill>
              </a:rPr>
              <a:t>profitto</a:t>
            </a:r>
            <a:r>
              <a:rPr dirty="0" u="none">
                <a:solidFill>
                  <a:srgbClr val="C00000"/>
                </a:solidFill>
              </a:rPr>
              <a:t> </a:t>
            </a:r>
            <a:r>
              <a:rPr b="0" dirty="0" err="1" u="none"/>
              <a:t>collegato</a:t>
            </a:r>
            <a:r>
              <a:rPr b="0" dirty="0" u="none"/>
              <a:t> </a:t>
            </a:r>
            <a:r>
              <a:rPr b="0" dirty="0" err="1" u="none"/>
              <a:t>casualmente</a:t>
            </a:r>
            <a:r>
              <a:rPr b="0" dirty="0" u="none"/>
              <a:t> </a:t>
            </a:r>
            <a:r>
              <a:rPr b="0" dirty="0" err="1" u="none"/>
              <a:t>alla</a:t>
            </a:r>
            <a:r>
              <a:rPr b="0" dirty="0" u="none"/>
              <a:t> </a:t>
            </a:r>
            <a:r>
              <a:rPr b="0" dirty="0" err="1" u="none"/>
              <a:t>liberazione</a:t>
            </a:r>
            <a:r>
              <a:rPr b="0" dirty="0" u="none"/>
              <a:t> </a:t>
            </a:r>
            <a:r>
              <a:rPr b="0" dirty="0" err="1" u="none"/>
              <a:t>della</a:t>
            </a:r>
            <a:r>
              <a:rPr b="0" dirty="0" u="none"/>
              <a:t> </a:t>
            </a:r>
            <a:r>
              <a:rPr b="0" dirty="0" err="1" u="none"/>
              <a:t>vittima</a:t>
            </a:r>
            <a:r>
              <a:rPr b="0" dirty="0" u="none"/>
              <a:t>. </a:t>
            </a:r>
          </a:p>
        </p:txBody>
      </p:sp>
      <p:pic>
        <p:nvPicPr>
          <p:cNvPr descr="Immagine 6" id="404"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405"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Sequestro di persona a scopo di estorsione</a:t>
            </a: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 name="Rettangolo 4"/>
          <p:cNvSpPr txBox="1"/>
          <p:nvPr/>
        </p:nvSpPr>
        <p:spPr>
          <a:xfrm>
            <a:off x="182570" y="1133645"/>
            <a:ext cx="8736198" cy="31855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b="0" sz="2200">
                <a:latin typeface="Times New Roman"/>
                <a:ea typeface="Times New Roman"/>
                <a:cs typeface="Times New Roman"/>
                <a:sym typeface="Times New Roman"/>
              </a:defRPr>
            </a:pPr>
            <a:r>
              <a:t>Per quanto riguarda la consumazione il delitto in esame rientra tra i </a:t>
            </a:r>
            <a:r>
              <a:rPr b="1">
                <a:solidFill>
                  <a:srgbClr val="C00000"/>
                </a:solidFill>
              </a:rPr>
              <a:t>REATI DI PERICOLO A CONSUMAZIONE ANTICIPATA </a:t>
            </a:r>
            <a:r>
              <a:rPr u="sng"/>
              <a:t>non essendo richiesto il conseguimento effettivo del riscatto da parte del reo, </a:t>
            </a:r>
            <a:r>
              <a:rPr b="1"/>
              <a:t>perfezionandosi già con la privazione della libertà </a:t>
            </a:r>
            <a:r>
              <a:t>a prescindere dalla durata, dal luogo in cui è avvenuta e dai mezzi utilizzati.</a:t>
            </a:r>
          </a:p>
          <a:p>
            <a:pPr algn="just">
              <a:lnSpc>
                <a:spcPct val="114000"/>
              </a:lnSpc>
              <a:spcBef>
                <a:spcPts val="1200"/>
              </a:spcBef>
              <a:defRPr b="0" sz="2200">
                <a:latin typeface="Times New Roman"/>
                <a:ea typeface="Times New Roman"/>
                <a:cs typeface="Times New Roman"/>
                <a:sym typeface="Times New Roman"/>
              </a:defRPr>
            </a:pPr>
            <a:r>
              <a:t>Il </a:t>
            </a:r>
            <a:r>
              <a:rPr b="1"/>
              <a:t>tentativo è configurabile </a:t>
            </a:r>
            <a:r>
              <a:rPr u="sng"/>
              <a:t>finché non sia iniziata la privazione della libertà </a:t>
            </a:r>
            <a:r>
              <a:t>personale, ovviamente una volta accertata la inequivoca direzione degli atti e l’idoneità degli stessi alla potenziale produzione dell’evento. </a:t>
            </a:r>
          </a:p>
        </p:txBody>
      </p:sp>
      <p:pic>
        <p:nvPicPr>
          <p:cNvPr descr="Immagine 6" id="408"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409"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Sequestro di persona a scopo di estorsione</a:t>
            </a: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 name="CasellaDiTesto 1"/>
          <p:cNvSpPr txBox="1"/>
          <p:nvPr/>
        </p:nvSpPr>
        <p:spPr>
          <a:xfrm>
            <a:off x="229859" y="980728"/>
            <a:ext cx="8684281" cy="54353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indent="-1797050" marL="1797050">
              <a:lnSpc>
                <a:spcPct val="114000"/>
              </a:lnSpc>
              <a:spcBef>
                <a:spcPts val="600"/>
              </a:spcBef>
              <a:defRPr sz="2400">
                <a:solidFill>
                  <a:srgbClr val="7030A0"/>
                </a:solidFill>
                <a:latin typeface="Book Antiqua"/>
                <a:ea typeface="Book Antiqua"/>
                <a:cs typeface="Book Antiqua"/>
                <a:sym typeface="Book Antiqua"/>
              </a:defRPr>
            </a:pPr>
            <a:r>
              <a:rPr dirty="0"/>
              <a:t>Art. 635 </a:t>
            </a:r>
            <a:r>
              <a:rPr dirty="0" err="1"/>
              <a:t>c.p.</a:t>
            </a:r>
            <a:r>
              <a:rPr dirty="0"/>
              <a:t> </a:t>
            </a:r>
            <a:r>
              <a:rPr dirty="0" err="1"/>
              <a:t>Danneggiamento</a:t>
            </a:r>
            <a:endParaRPr dirty="0">
              <a:latin typeface="Times New Roman"/>
              <a:ea typeface="Times New Roman"/>
              <a:cs typeface="Times New Roman"/>
              <a:sym typeface="Times New Roman"/>
            </a:endParaRPr>
          </a:p>
          <a:p>
            <a:pPr algn="just">
              <a:lnSpc>
                <a:spcPct val="114000"/>
              </a:lnSpc>
              <a:spcBef>
                <a:spcPts val="600"/>
              </a:spcBef>
              <a:defRPr b="0" sz="2200">
                <a:latin typeface="Book Antiqua"/>
                <a:ea typeface="Book Antiqua"/>
                <a:cs typeface="Book Antiqua"/>
                <a:sym typeface="Book Antiqua"/>
              </a:defRPr>
            </a:pPr>
            <a:r>
              <a:rPr dirty="0"/>
              <a:t>«</a:t>
            </a:r>
            <a:r>
              <a:rPr dirty="0" err="1" i="1"/>
              <a:t>Chiunque</a:t>
            </a:r>
            <a:r>
              <a:rPr dirty="0" i="1"/>
              <a:t> </a:t>
            </a:r>
            <a:r>
              <a:rPr b="1" dirty="0" err="1" i="1">
                <a:solidFill>
                  <a:srgbClr val="7030A0"/>
                </a:solidFill>
              </a:rPr>
              <a:t>distrugge</a:t>
            </a:r>
            <a:r>
              <a:rPr dirty="0" i="1"/>
              <a:t>, </a:t>
            </a:r>
            <a:r>
              <a:rPr b="1" dirty="0" err="1" i="1">
                <a:solidFill>
                  <a:srgbClr val="7030A0"/>
                </a:solidFill>
              </a:rPr>
              <a:t>disperde</a:t>
            </a:r>
            <a:r>
              <a:rPr dirty="0" i="1"/>
              <a:t>, </a:t>
            </a:r>
            <a:r>
              <a:rPr b="1" dirty="0" err="1" i="1">
                <a:solidFill>
                  <a:srgbClr val="7030A0"/>
                </a:solidFill>
              </a:rPr>
              <a:t>deteriora</a:t>
            </a:r>
            <a:r>
              <a:rPr dirty="0" i="1"/>
              <a:t> o </a:t>
            </a:r>
            <a:r>
              <a:rPr b="1" dirty="0" err="1" i="1">
                <a:solidFill>
                  <a:srgbClr val="7030A0"/>
                </a:solidFill>
              </a:rPr>
              <a:t>rende</a:t>
            </a:r>
            <a:r>
              <a:rPr dirty="0" i="1"/>
              <a:t>, in </a:t>
            </a:r>
            <a:r>
              <a:rPr dirty="0" err="1" i="1"/>
              <a:t>tutto</a:t>
            </a:r>
            <a:r>
              <a:rPr dirty="0" i="1"/>
              <a:t> o in </a:t>
            </a:r>
            <a:r>
              <a:rPr dirty="0" err="1" i="1"/>
              <a:t>parte</a:t>
            </a:r>
            <a:r>
              <a:rPr dirty="0" i="1"/>
              <a:t>, </a:t>
            </a:r>
            <a:r>
              <a:rPr b="1" dirty="0" err="1" i="1">
                <a:solidFill>
                  <a:srgbClr val="7030A0"/>
                </a:solidFill>
              </a:rPr>
              <a:t>inservibili</a:t>
            </a:r>
            <a:r>
              <a:rPr b="1" dirty="0" i="1">
                <a:solidFill>
                  <a:srgbClr val="7030A0"/>
                </a:solidFill>
              </a:rPr>
              <a:t> </a:t>
            </a:r>
            <a:r>
              <a:rPr b="1" dirty="0" err="1" i="1">
                <a:solidFill>
                  <a:srgbClr val="7030A0"/>
                </a:solidFill>
              </a:rPr>
              <a:t>cose</a:t>
            </a:r>
            <a:r>
              <a:rPr b="1" dirty="0" i="1">
                <a:solidFill>
                  <a:srgbClr val="7030A0"/>
                </a:solidFill>
              </a:rPr>
              <a:t> </a:t>
            </a:r>
            <a:r>
              <a:rPr b="1" dirty="0" err="1" i="1">
                <a:solidFill>
                  <a:srgbClr val="7030A0"/>
                </a:solidFill>
              </a:rPr>
              <a:t>mobili</a:t>
            </a:r>
            <a:r>
              <a:rPr b="1" dirty="0" i="1">
                <a:solidFill>
                  <a:srgbClr val="7030A0"/>
                </a:solidFill>
              </a:rPr>
              <a:t> o </a:t>
            </a:r>
            <a:r>
              <a:rPr b="1" dirty="0" err="1" i="1">
                <a:solidFill>
                  <a:srgbClr val="7030A0"/>
                </a:solidFill>
              </a:rPr>
              <a:t>immobili</a:t>
            </a:r>
            <a:r>
              <a:rPr b="1" dirty="0" i="1">
                <a:solidFill>
                  <a:srgbClr val="7030A0"/>
                </a:solidFill>
              </a:rPr>
              <a:t> </a:t>
            </a:r>
            <a:r>
              <a:rPr b="1" dirty="0" err="1" i="1">
                <a:solidFill>
                  <a:srgbClr val="7030A0"/>
                </a:solidFill>
              </a:rPr>
              <a:t>altrui</a:t>
            </a:r>
            <a:r>
              <a:rPr b="1" dirty="0" i="1">
                <a:solidFill>
                  <a:srgbClr val="7030A0"/>
                </a:solidFill>
              </a:rPr>
              <a:t> con </a:t>
            </a:r>
            <a:r>
              <a:rPr b="1" dirty="0" err="1" i="1">
                <a:solidFill>
                  <a:srgbClr val="7030A0"/>
                </a:solidFill>
              </a:rPr>
              <a:t>violenza</a:t>
            </a:r>
            <a:r>
              <a:rPr b="1" dirty="0" i="1">
                <a:solidFill>
                  <a:srgbClr val="7030A0"/>
                </a:solidFill>
              </a:rPr>
              <a:t> </a:t>
            </a:r>
            <a:r>
              <a:rPr b="1" dirty="0" err="1" i="1">
                <a:solidFill>
                  <a:srgbClr val="7030A0"/>
                </a:solidFill>
              </a:rPr>
              <a:t>alla</a:t>
            </a:r>
            <a:r>
              <a:rPr b="1" dirty="0" i="1">
                <a:solidFill>
                  <a:srgbClr val="7030A0"/>
                </a:solidFill>
              </a:rPr>
              <a:t> persona o con </a:t>
            </a:r>
            <a:r>
              <a:rPr b="1" dirty="0" err="1" i="1">
                <a:solidFill>
                  <a:srgbClr val="7030A0"/>
                </a:solidFill>
              </a:rPr>
              <a:t>minaccia</a:t>
            </a:r>
            <a:r>
              <a:rPr b="1" dirty="0" i="1">
                <a:solidFill>
                  <a:srgbClr val="7030A0"/>
                </a:solidFill>
              </a:rPr>
              <a:t> </a:t>
            </a:r>
            <a:r>
              <a:rPr b="1" dirty="0" err="1" i="1">
                <a:solidFill>
                  <a:srgbClr val="7030A0"/>
                </a:solidFill>
              </a:rPr>
              <a:t>ovvero</a:t>
            </a:r>
            <a:r>
              <a:rPr b="1" dirty="0" i="1">
                <a:solidFill>
                  <a:srgbClr val="7030A0"/>
                </a:solidFill>
              </a:rPr>
              <a:t> in </a:t>
            </a:r>
            <a:r>
              <a:rPr b="1" dirty="0" err="1" i="1">
                <a:solidFill>
                  <a:srgbClr val="7030A0"/>
                </a:solidFill>
              </a:rPr>
              <a:t>occasione</a:t>
            </a:r>
            <a:r>
              <a:rPr b="1" dirty="0" i="1">
                <a:solidFill>
                  <a:srgbClr val="7030A0"/>
                </a:solidFill>
              </a:rPr>
              <a:t> del </a:t>
            </a:r>
            <a:r>
              <a:rPr b="1" dirty="0" err="1" i="1">
                <a:solidFill>
                  <a:srgbClr val="7030A0"/>
                </a:solidFill>
              </a:rPr>
              <a:t>delitto</a:t>
            </a:r>
            <a:r>
              <a:rPr b="1" dirty="0" i="1">
                <a:solidFill>
                  <a:srgbClr val="7030A0"/>
                </a:solidFill>
              </a:rPr>
              <a:t> </a:t>
            </a:r>
            <a:r>
              <a:rPr b="1" dirty="0" err="1" i="1">
                <a:solidFill>
                  <a:srgbClr val="7030A0"/>
                </a:solidFill>
              </a:rPr>
              <a:t>previsto</a:t>
            </a:r>
            <a:r>
              <a:rPr b="1" dirty="0" i="1">
                <a:solidFill>
                  <a:srgbClr val="7030A0"/>
                </a:solidFill>
              </a:rPr>
              <a:t> </a:t>
            </a:r>
            <a:r>
              <a:rPr b="1" dirty="0" err="1" i="1">
                <a:solidFill>
                  <a:srgbClr val="7030A0"/>
                </a:solidFill>
              </a:rPr>
              <a:t>dall'articolo</a:t>
            </a:r>
            <a:r>
              <a:rPr b="1" dirty="0" i="1">
                <a:solidFill>
                  <a:srgbClr val="7030A0"/>
                </a:solidFill>
              </a:rPr>
              <a:t> 331</a:t>
            </a:r>
            <a:r>
              <a:rPr dirty="0"/>
              <a:t> (</a:t>
            </a:r>
            <a:r>
              <a:rPr dirty="0" err="1"/>
              <a:t>interruzione</a:t>
            </a:r>
            <a:r>
              <a:rPr dirty="0"/>
              <a:t> di un </a:t>
            </a:r>
            <a:r>
              <a:rPr dirty="0" err="1"/>
              <a:t>servizio</a:t>
            </a:r>
            <a:r>
              <a:rPr dirty="0"/>
              <a:t> </a:t>
            </a:r>
            <a:r>
              <a:rPr dirty="0" err="1"/>
              <a:t>pubblico</a:t>
            </a:r>
            <a:r>
              <a:rPr dirty="0"/>
              <a:t> o di </a:t>
            </a:r>
            <a:r>
              <a:rPr dirty="0" err="1"/>
              <a:t>pubblica</a:t>
            </a:r>
            <a:r>
              <a:rPr dirty="0"/>
              <a:t> </a:t>
            </a:r>
            <a:r>
              <a:rPr dirty="0" err="1"/>
              <a:t>necessità</a:t>
            </a:r>
            <a:r>
              <a:rPr dirty="0"/>
              <a:t>)</a:t>
            </a:r>
            <a:r>
              <a:rPr dirty="0" i="1"/>
              <a:t>, è </a:t>
            </a:r>
            <a:r>
              <a:rPr dirty="0" err="1" i="1"/>
              <a:t>punito</a:t>
            </a:r>
            <a:r>
              <a:rPr dirty="0" i="1"/>
              <a:t> con la </a:t>
            </a:r>
            <a:r>
              <a:rPr dirty="0" err="1" i="1"/>
              <a:t>reclusione</a:t>
            </a:r>
            <a:r>
              <a:rPr dirty="0" i="1"/>
              <a:t> da sei </a:t>
            </a:r>
            <a:r>
              <a:rPr dirty="0" err="1" i="1"/>
              <a:t>mesi</a:t>
            </a:r>
            <a:r>
              <a:rPr dirty="0" i="1"/>
              <a:t> a </a:t>
            </a:r>
            <a:r>
              <a:rPr dirty="0" err="1" i="1"/>
              <a:t>tre</a:t>
            </a:r>
            <a:r>
              <a:rPr dirty="0" i="1"/>
              <a:t> </a:t>
            </a:r>
            <a:r>
              <a:rPr dirty="0" err="1" i="1"/>
              <a:t>anni</a:t>
            </a:r>
            <a:r>
              <a:rPr dirty="0" i="1"/>
              <a:t>.</a:t>
            </a:r>
            <a:endParaRPr dirty="0">
              <a:latin typeface="Times New Roman"/>
              <a:ea typeface="Times New Roman"/>
              <a:cs typeface="Times New Roman"/>
              <a:sym typeface="Times New Roman"/>
            </a:endParaRPr>
          </a:p>
          <a:p>
            <a:pPr algn="just">
              <a:lnSpc>
                <a:spcPct val="114000"/>
              </a:lnSpc>
              <a:spcBef>
                <a:spcPts val="600"/>
              </a:spcBef>
              <a:defRPr b="0" i="1" sz="2000">
                <a:latin typeface="Book Antiqua"/>
                <a:ea typeface="Book Antiqua"/>
                <a:cs typeface="Book Antiqua"/>
                <a:sym typeface="Book Antiqua"/>
              </a:defRPr>
            </a:pPr>
            <a:r>
              <a:rPr dirty="0" err="1"/>
              <a:t>Alla</a:t>
            </a:r>
            <a:r>
              <a:rPr dirty="0"/>
              <a:t> </a:t>
            </a:r>
            <a:r>
              <a:rPr dirty="0" err="1"/>
              <a:t>stessa</a:t>
            </a:r>
            <a:r>
              <a:rPr dirty="0"/>
              <a:t> </a:t>
            </a:r>
            <a:r>
              <a:rPr dirty="0" err="1"/>
              <a:t>pena</a:t>
            </a:r>
            <a:r>
              <a:rPr dirty="0"/>
              <a:t> </a:t>
            </a:r>
            <a:r>
              <a:rPr dirty="0" err="1"/>
              <a:t>soggiace</a:t>
            </a:r>
            <a:r>
              <a:rPr dirty="0"/>
              <a:t> </a:t>
            </a:r>
            <a:r>
              <a:rPr dirty="0" err="1"/>
              <a:t>chiunque</a:t>
            </a:r>
            <a:r>
              <a:rPr dirty="0"/>
              <a:t> </a:t>
            </a:r>
            <a:r>
              <a:rPr dirty="0" err="1"/>
              <a:t>distrugge</a:t>
            </a:r>
            <a:r>
              <a:rPr dirty="0"/>
              <a:t>, </a:t>
            </a:r>
            <a:r>
              <a:rPr dirty="0" err="1"/>
              <a:t>disperde</a:t>
            </a:r>
            <a:r>
              <a:rPr dirty="0"/>
              <a:t>, </a:t>
            </a:r>
            <a:r>
              <a:rPr dirty="0" err="1"/>
              <a:t>deteriora</a:t>
            </a:r>
            <a:r>
              <a:rPr dirty="0"/>
              <a:t> o </a:t>
            </a:r>
            <a:r>
              <a:rPr dirty="0" err="1"/>
              <a:t>rende</a:t>
            </a:r>
            <a:r>
              <a:rPr dirty="0"/>
              <a:t>, in </a:t>
            </a:r>
            <a:r>
              <a:rPr dirty="0" err="1"/>
              <a:t>tutto</a:t>
            </a:r>
            <a:r>
              <a:rPr dirty="0"/>
              <a:t> o in </a:t>
            </a:r>
            <a:r>
              <a:rPr dirty="0" err="1"/>
              <a:t>parte</a:t>
            </a:r>
            <a:r>
              <a:rPr dirty="0"/>
              <a:t>, </a:t>
            </a:r>
            <a:r>
              <a:rPr dirty="0" err="1"/>
              <a:t>inservibili</a:t>
            </a:r>
            <a:r>
              <a:rPr dirty="0"/>
              <a:t> </a:t>
            </a:r>
            <a:r>
              <a:rPr b="1" dirty="0">
                <a:solidFill>
                  <a:srgbClr val="7030A0"/>
                </a:solidFill>
              </a:rPr>
              <a:t>le </a:t>
            </a:r>
            <a:r>
              <a:rPr b="1" dirty="0" err="1">
                <a:solidFill>
                  <a:srgbClr val="7030A0"/>
                </a:solidFill>
              </a:rPr>
              <a:t>seguenti</a:t>
            </a:r>
            <a:r>
              <a:rPr b="1" dirty="0">
                <a:solidFill>
                  <a:srgbClr val="7030A0"/>
                </a:solidFill>
              </a:rPr>
              <a:t> </a:t>
            </a:r>
            <a:r>
              <a:rPr b="1" dirty="0" err="1">
                <a:solidFill>
                  <a:srgbClr val="7030A0"/>
                </a:solidFill>
              </a:rPr>
              <a:t>cose</a:t>
            </a:r>
            <a:r>
              <a:rPr b="1" dirty="0">
                <a:solidFill>
                  <a:srgbClr val="7030A0"/>
                </a:solidFill>
              </a:rPr>
              <a:t> </a:t>
            </a:r>
            <a:r>
              <a:rPr b="1" dirty="0" err="1">
                <a:solidFill>
                  <a:srgbClr val="7030A0"/>
                </a:solidFill>
              </a:rPr>
              <a:t>altrui</a:t>
            </a:r>
            <a:r>
              <a:rPr dirty="0"/>
              <a:t>:</a:t>
            </a:r>
            <a:endParaRPr dirty="0">
              <a:latin typeface="Times New Roman"/>
              <a:ea typeface="Times New Roman"/>
              <a:cs typeface="Times New Roman"/>
              <a:sym typeface="Times New Roman"/>
            </a:endParaRPr>
          </a:p>
          <a:p>
            <a:pPr algn="just">
              <a:lnSpc>
                <a:spcPct val="114000"/>
              </a:lnSpc>
              <a:spcBef>
                <a:spcPts val="600"/>
              </a:spcBef>
              <a:defRPr b="0" i="1" sz="2000">
                <a:latin typeface="Book Antiqua"/>
                <a:ea typeface="Book Antiqua"/>
                <a:cs typeface="Book Antiqua"/>
                <a:sym typeface="Book Antiqua"/>
              </a:defRPr>
            </a:pPr>
            <a:r>
              <a:rPr dirty="0"/>
              <a:t>1. </a:t>
            </a:r>
            <a:r>
              <a:rPr b="1" dirty="0" err="1"/>
              <a:t>edifici</a:t>
            </a:r>
            <a:r>
              <a:rPr b="1" dirty="0"/>
              <a:t> </a:t>
            </a:r>
            <a:r>
              <a:rPr b="1" dirty="0" err="1"/>
              <a:t>pubblici</a:t>
            </a:r>
            <a:r>
              <a:rPr b="1" dirty="0"/>
              <a:t> o </a:t>
            </a:r>
            <a:r>
              <a:rPr b="1" dirty="0" err="1"/>
              <a:t>destinati</a:t>
            </a:r>
            <a:r>
              <a:rPr b="1" dirty="0"/>
              <a:t> a </a:t>
            </a:r>
            <a:r>
              <a:rPr b="1" dirty="0" err="1"/>
              <a:t>uso</a:t>
            </a:r>
            <a:r>
              <a:rPr b="1" dirty="0"/>
              <a:t> </a:t>
            </a:r>
            <a:r>
              <a:rPr b="1" dirty="0" err="1"/>
              <a:t>pubblico</a:t>
            </a:r>
            <a:r>
              <a:rPr b="1" dirty="0"/>
              <a:t> o </a:t>
            </a:r>
            <a:r>
              <a:rPr b="1" dirty="0" err="1"/>
              <a:t>all'esercizio</a:t>
            </a:r>
            <a:r>
              <a:rPr b="1" dirty="0"/>
              <a:t> di un </a:t>
            </a:r>
            <a:r>
              <a:rPr b="1" dirty="0" err="1"/>
              <a:t>culto</a:t>
            </a:r>
            <a:r>
              <a:rPr dirty="0"/>
              <a:t>, o </a:t>
            </a:r>
            <a:r>
              <a:rPr dirty="0" err="1"/>
              <a:t>su</a:t>
            </a:r>
            <a:r>
              <a:rPr dirty="0"/>
              <a:t> </a:t>
            </a:r>
            <a:r>
              <a:rPr dirty="0" err="1"/>
              <a:t>cose</a:t>
            </a:r>
            <a:r>
              <a:rPr dirty="0"/>
              <a:t> di </a:t>
            </a:r>
            <a:r>
              <a:rPr b="1" dirty="0"/>
              <a:t>interesse </a:t>
            </a:r>
            <a:r>
              <a:rPr b="1" dirty="0" err="1"/>
              <a:t>storico</a:t>
            </a:r>
            <a:r>
              <a:rPr b="1" dirty="0"/>
              <a:t> o </a:t>
            </a:r>
            <a:r>
              <a:rPr b="1" dirty="0" err="1"/>
              <a:t>artistico</a:t>
            </a:r>
            <a:r>
              <a:rPr b="1" dirty="0"/>
              <a:t> </a:t>
            </a:r>
            <a:r>
              <a:rPr dirty="0" err="1"/>
              <a:t>ovunque</a:t>
            </a:r>
            <a:r>
              <a:rPr dirty="0"/>
              <a:t> </a:t>
            </a:r>
            <a:r>
              <a:rPr dirty="0" err="1"/>
              <a:t>siano</a:t>
            </a:r>
            <a:r>
              <a:rPr dirty="0"/>
              <a:t> ubicate o </a:t>
            </a:r>
            <a:r>
              <a:rPr dirty="0" err="1"/>
              <a:t>su</a:t>
            </a:r>
            <a:r>
              <a:rPr dirty="0"/>
              <a:t> </a:t>
            </a:r>
            <a:r>
              <a:rPr dirty="0" err="1"/>
              <a:t>immobili</a:t>
            </a:r>
            <a:r>
              <a:rPr dirty="0"/>
              <a:t> </a:t>
            </a:r>
            <a:r>
              <a:rPr dirty="0" err="1"/>
              <a:t>compresi</a:t>
            </a:r>
            <a:r>
              <a:rPr dirty="0"/>
              <a:t> </a:t>
            </a:r>
            <a:r>
              <a:rPr dirty="0" err="1"/>
              <a:t>nel</a:t>
            </a:r>
            <a:r>
              <a:rPr dirty="0"/>
              <a:t> </a:t>
            </a:r>
            <a:r>
              <a:rPr dirty="0" err="1"/>
              <a:t>perimetro</a:t>
            </a:r>
            <a:r>
              <a:rPr dirty="0"/>
              <a:t> </a:t>
            </a:r>
            <a:r>
              <a:rPr dirty="0" err="1"/>
              <a:t>dei</a:t>
            </a:r>
            <a:r>
              <a:rPr dirty="0"/>
              <a:t> </a:t>
            </a:r>
            <a:r>
              <a:rPr dirty="0" err="1"/>
              <a:t>centri</a:t>
            </a:r>
            <a:r>
              <a:rPr dirty="0"/>
              <a:t> </a:t>
            </a:r>
            <a:r>
              <a:rPr dirty="0" err="1"/>
              <a:t>storici</a:t>
            </a:r>
            <a:r>
              <a:rPr dirty="0"/>
              <a:t> </a:t>
            </a:r>
            <a:r>
              <a:rPr dirty="0" err="1"/>
              <a:t>ovvero</a:t>
            </a:r>
            <a:r>
              <a:rPr dirty="0"/>
              <a:t> </a:t>
            </a:r>
            <a:r>
              <a:rPr dirty="0" err="1"/>
              <a:t>su</a:t>
            </a:r>
            <a:r>
              <a:rPr dirty="0"/>
              <a:t> </a:t>
            </a:r>
            <a:r>
              <a:rPr dirty="0" err="1"/>
              <a:t>immobili</a:t>
            </a:r>
            <a:r>
              <a:rPr dirty="0"/>
              <a:t> </a:t>
            </a:r>
            <a:r>
              <a:rPr dirty="0" err="1"/>
              <a:t>i</a:t>
            </a:r>
            <a:r>
              <a:rPr dirty="0"/>
              <a:t> cui </a:t>
            </a:r>
            <a:r>
              <a:rPr dirty="0" err="1"/>
              <a:t>lavori</a:t>
            </a:r>
            <a:r>
              <a:rPr dirty="0"/>
              <a:t> di </a:t>
            </a:r>
            <a:r>
              <a:rPr dirty="0" err="1"/>
              <a:t>costruzione</a:t>
            </a:r>
            <a:r>
              <a:rPr dirty="0"/>
              <a:t>, di </a:t>
            </a:r>
            <a:r>
              <a:rPr dirty="0" err="1"/>
              <a:t>ristrutturazione</a:t>
            </a:r>
            <a:r>
              <a:rPr dirty="0"/>
              <a:t>, di </a:t>
            </a:r>
            <a:r>
              <a:rPr dirty="0" err="1"/>
              <a:t>recupero</a:t>
            </a:r>
            <a:r>
              <a:rPr dirty="0"/>
              <a:t> o di </a:t>
            </a:r>
            <a:r>
              <a:rPr dirty="0" err="1"/>
              <a:t>risanamento</a:t>
            </a:r>
            <a:r>
              <a:rPr dirty="0"/>
              <a:t> </a:t>
            </a:r>
            <a:r>
              <a:rPr dirty="0" err="1"/>
              <a:t>sono</a:t>
            </a:r>
            <a:r>
              <a:rPr dirty="0"/>
              <a:t> in </a:t>
            </a:r>
            <a:r>
              <a:rPr dirty="0" err="1"/>
              <a:t>corso</a:t>
            </a:r>
            <a:r>
              <a:rPr dirty="0"/>
              <a:t> o </a:t>
            </a:r>
            <a:r>
              <a:rPr dirty="0" err="1"/>
              <a:t>risultano</a:t>
            </a:r>
            <a:r>
              <a:rPr dirty="0"/>
              <a:t> </a:t>
            </a:r>
            <a:r>
              <a:rPr dirty="0" err="1"/>
              <a:t>ultimati</a:t>
            </a:r>
            <a:r>
              <a:rPr dirty="0"/>
              <a:t>, o </a:t>
            </a:r>
            <a:r>
              <a:rPr dirty="0" err="1"/>
              <a:t>su</a:t>
            </a:r>
            <a:r>
              <a:rPr dirty="0"/>
              <a:t> </a:t>
            </a:r>
            <a:r>
              <a:rPr dirty="0" err="1"/>
              <a:t>altre</a:t>
            </a:r>
            <a:r>
              <a:rPr dirty="0"/>
              <a:t> </a:t>
            </a:r>
            <a:r>
              <a:rPr dirty="0" err="1"/>
              <a:t>delle</a:t>
            </a:r>
            <a:r>
              <a:rPr dirty="0"/>
              <a:t> </a:t>
            </a:r>
            <a:r>
              <a:rPr dirty="0" err="1"/>
              <a:t>cose</a:t>
            </a:r>
            <a:r>
              <a:rPr dirty="0"/>
              <a:t> indicate </a:t>
            </a:r>
            <a:r>
              <a:rPr dirty="0" err="1"/>
              <a:t>nel</a:t>
            </a:r>
            <a:r>
              <a:rPr dirty="0"/>
              <a:t> </a:t>
            </a:r>
            <a:r>
              <a:rPr dirty="0" err="1"/>
              <a:t>numero</a:t>
            </a:r>
            <a:r>
              <a:rPr dirty="0"/>
              <a:t> 7 </a:t>
            </a:r>
            <a:r>
              <a:rPr dirty="0" err="1"/>
              <a:t>dell'articolo</a:t>
            </a:r>
            <a:r>
              <a:rPr dirty="0"/>
              <a:t> 625;</a:t>
            </a:r>
            <a:endParaRPr dirty="0">
              <a:latin typeface="Times New Roman"/>
              <a:ea typeface="Times New Roman"/>
              <a:cs typeface="Times New Roman"/>
              <a:sym typeface="Times New Roman"/>
            </a:endParaRPr>
          </a:p>
          <a:p>
            <a:pPr algn="just">
              <a:lnSpc>
                <a:spcPct val="114000"/>
              </a:lnSpc>
              <a:spcBef>
                <a:spcPts val="600"/>
              </a:spcBef>
              <a:defRPr b="0" i="1" sz="2000">
                <a:latin typeface="Book Antiqua"/>
                <a:ea typeface="Book Antiqua"/>
                <a:cs typeface="Book Antiqua"/>
                <a:sym typeface="Book Antiqua"/>
              </a:defRPr>
            </a:pPr>
            <a:r>
              <a:rPr dirty="0"/>
              <a:t>2. </a:t>
            </a:r>
            <a:r>
              <a:rPr dirty="0" err="1"/>
              <a:t>opere</a:t>
            </a:r>
            <a:r>
              <a:rPr dirty="0"/>
              <a:t> </a:t>
            </a:r>
            <a:r>
              <a:rPr dirty="0" err="1"/>
              <a:t>destinate</a:t>
            </a:r>
            <a:r>
              <a:rPr dirty="0"/>
              <a:t> </a:t>
            </a:r>
            <a:r>
              <a:rPr b="1" dirty="0" err="1"/>
              <a:t>all'irrigazione</a:t>
            </a:r>
            <a:r>
              <a:rPr dirty="0"/>
              <a:t>; …</a:t>
            </a:r>
          </a:p>
        </p:txBody>
      </p:sp>
      <p:pic>
        <p:nvPicPr>
          <p:cNvPr descr="Immagine 3" id="412" name="Immagine 3"/>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413"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Danneggiamento</a:t>
            </a: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CasellaDiTesto 1"/>
          <p:cNvSpPr txBox="1"/>
          <p:nvPr/>
        </p:nvSpPr>
        <p:spPr>
          <a:xfrm>
            <a:off x="229859" y="980729"/>
            <a:ext cx="8684281" cy="56380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indent="-1797050" marL="1797050">
              <a:lnSpc>
                <a:spcPct val="114000"/>
              </a:lnSpc>
              <a:spcBef>
                <a:spcPts val="600"/>
              </a:spcBef>
              <a:defRPr sz="2400">
                <a:solidFill>
                  <a:srgbClr val="7030A0"/>
                </a:solidFill>
                <a:latin typeface="Book Antiqua"/>
                <a:ea typeface="Book Antiqua"/>
                <a:cs typeface="Book Antiqua"/>
                <a:sym typeface="Book Antiqua"/>
              </a:defRPr>
            </a:pPr>
            <a:r>
              <a:t>Art. 635 c.p. Danneggiamento</a:t>
            </a:r>
            <a:endParaRPr>
              <a:latin typeface="Times New Roman"/>
              <a:ea typeface="Times New Roman"/>
              <a:cs typeface="Times New Roman"/>
              <a:sym typeface="Times New Roman"/>
            </a:endParaRPr>
          </a:p>
          <a:p>
            <a:pPr algn="just">
              <a:lnSpc>
                <a:spcPct val="114000"/>
              </a:lnSpc>
              <a:spcBef>
                <a:spcPts val="600"/>
              </a:spcBef>
              <a:defRPr b="0" i="1" sz="2000">
                <a:latin typeface="Book Antiqua"/>
                <a:ea typeface="Book Antiqua"/>
                <a:cs typeface="Book Antiqua"/>
                <a:sym typeface="Book Antiqua"/>
              </a:defRPr>
            </a:pPr>
            <a:r>
              <a:t>3. </a:t>
            </a:r>
            <a:r>
              <a:rPr b="1"/>
              <a:t>piantate di viti, di alberi o arbusti fruttiferi, o su boschi, selve o foreste</a:t>
            </a:r>
            <a:r>
              <a:t>, ovvero su </a:t>
            </a:r>
            <a:r>
              <a:rPr b="1"/>
              <a:t>vivai forestali destinati al rimboschimento</a:t>
            </a:r>
            <a:r>
              <a:t>;</a:t>
            </a:r>
            <a:endParaRPr>
              <a:latin typeface="Times New Roman"/>
              <a:ea typeface="Times New Roman"/>
              <a:cs typeface="Times New Roman"/>
              <a:sym typeface="Times New Roman"/>
            </a:endParaRPr>
          </a:p>
          <a:p>
            <a:pPr algn="just">
              <a:lnSpc>
                <a:spcPct val="114000"/>
              </a:lnSpc>
              <a:spcBef>
                <a:spcPts val="600"/>
              </a:spcBef>
              <a:defRPr b="0" i="1" sz="2000">
                <a:latin typeface="Book Antiqua"/>
                <a:ea typeface="Book Antiqua"/>
                <a:cs typeface="Book Antiqua"/>
                <a:sym typeface="Book Antiqua"/>
              </a:defRPr>
            </a:pPr>
            <a:r>
              <a:t>4. </a:t>
            </a:r>
            <a:r>
              <a:rPr b="1"/>
              <a:t>attrezzature e impianti sportivi</a:t>
            </a:r>
            <a:r>
              <a:t> al fine di impedire o interrompere lo svolgimento di manifestazioni sportive.</a:t>
            </a:r>
            <a:endParaRPr>
              <a:latin typeface="Times New Roman"/>
              <a:ea typeface="Times New Roman"/>
              <a:cs typeface="Times New Roman"/>
              <a:sym typeface="Times New Roman"/>
            </a:endParaRPr>
          </a:p>
          <a:p>
            <a:pPr algn="just">
              <a:lnSpc>
                <a:spcPct val="114000"/>
              </a:lnSpc>
              <a:spcBef>
                <a:spcPts val="600"/>
              </a:spcBef>
              <a:defRPr b="0" i="1" sz="2000">
                <a:latin typeface="Book Antiqua"/>
                <a:ea typeface="Book Antiqua"/>
                <a:cs typeface="Book Antiqua"/>
                <a:sym typeface="Book Antiqua"/>
              </a:defRPr>
            </a:pPr>
            <a:r>
              <a:t>Chiunque distrugge, disperde, deteriora o rende, in tutto o in parte, inservibili cose mobili o immobili altrui </a:t>
            </a:r>
            <a:r>
              <a:rPr b="1">
                <a:solidFill>
                  <a:srgbClr val="7030A0"/>
                </a:solidFill>
              </a:rPr>
              <a:t>in occasione di manifestazioni che si svolgono in luogo pubblico o aperto al pubblico </a:t>
            </a:r>
            <a:r>
              <a:t>è punito con la reclusione da uno a cinque anni e con la multa fino a 10.000 euro.</a:t>
            </a:r>
            <a:endParaRPr>
              <a:latin typeface="Times New Roman"/>
              <a:ea typeface="Times New Roman"/>
              <a:cs typeface="Times New Roman"/>
              <a:sym typeface="Times New Roman"/>
            </a:endParaRPr>
          </a:p>
          <a:p>
            <a:pPr algn="just">
              <a:lnSpc>
                <a:spcPct val="114000"/>
              </a:lnSpc>
              <a:spcBef>
                <a:spcPts val="600"/>
              </a:spcBef>
              <a:defRPr b="0" i="1" sz="2000">
                <a:latin typeface="Book Antiqua"/>
                <a:ea typeface="Book Antiqua"/>
                <a:cs typeface="Book Antiqua"/>
                <a:sym typeface="Book Antiqua"/>
              </a:defRPr>
            </a:pPr>
            <a:r>
              <a:t>Per i reati, di cui ai commi precedenti, la sospensione condizionale della pena è subordinata all'eliminazione delle conseguenze dannose o pericolose del reato, ovvero, se il condannato non si oppone, alla prestazione di attività non retribuita a favore della collettività per un tempo determinato, comunque non superiore alla durata della pena sospesa, secondo le modalità indicate dal giudice nella sentenza di condanna.</a:t>
            </a:r>
          </a:p>
        </p:txBody>
      </p:sp>
      <p:pic>
        <p:nvPicPr>
          <p:cNvPr descr="Immagine 3" id="416" name="Immagine 3"/>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417"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Danneggiamento</a:t>
            </a: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 name="Rettangolo 4"/>
          <p:cNvSpPr txBox="1"/>
          <p:nvPr/>
        </p:nvSpPr>
        <p:spPr>
          <a:xfrm>
            <a:off x="291225" y="888007"/>
            <a:ext cx="8808206" cy="56597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sz="2000">
                <a:solidFill>
                  <a:srgbClr val="7030A0"/>
                </a:solidFill>
                <a:latin typeface="Book Antiqua"/>
                <a:ea typeface="Book Antiqua"/>
                <a:cs typeface="Book Antiqua"/>
                <a:sym typeface="Book Antiqua"/>
              </a:defRPr>
            </a:pPr>
            <a:r>
              <a:rPr dirty="0"/>
              <a:t>Art. 635 </a:t>
            </a:r>
            <a:r>
              <a:rPr dirty="0" err="1"/>
              <a:t>c.p.</a:t>
            </a:r>
            <a:r>
              <a:rPr dirty="0"/>
              <a:t> </a:t>
            </a:r>
            <a:r>
              <a:rPr dirty="0" err="1"/>
              <a:t>Danneggiamento</a:t>
            </a:r>
            <a:endParaRPr b="0" dirty="0" i="1" sz="2200">
              <a:latin typeface="Times New Roman"/>
              <a:ea typeface="Times New Roman"/>
              <a:cs typeface="Times New Roman"/>
              <a:sym typeface="Times New Roman"/>
            </a:endParaRPr>
          </a:p>
          <a:p>
            <a:pPr algn="just">
              <a:lnSpc>
                <a:spcPct val="114000"/>
              </a:lnSpc>
              <a:spcBef>
                <a:spcPts val="1200"/>
              </a:spcBef>
              <a:defRPr b="0" i="1" sz="2200">
                <a:latin typeface="Times New Roman"/>
                <a:ea typeface="Times New Roman"/>
                <a:cs typeface="Times New Roman"/>
                <a:sym typeface="Times New Roman"/>
              </a:defRPr>
            </a:pPr>
            <a:r>
              <a:rPr dirty="0" err="1"/>
              <a:t>Nei</a:t>
            </a:r>
            <a:r>
              <a:rPr dirty="0"/>
              <a:t> </a:t>
            </a:r>
            <a:r>
              <a:rPr dirty="0" err="1"/>
              <a:t>casi</a:t>
            </a:r>
            <a:r>
              <a:rPr dirty="0"/>
              <a:t> </a:t>
            </a:r>
            <a:r>
              <a:rPr dirty="0" err="1"/>
              <a:t>previsti</a:t>
            </a:r>
            <a:r>
              <a:rPr dirty="0"/>
              <a:t> dal primo comma </a:t>
            </a:r>
            <a:r>
              <a:rPr dirty="0" err="1"/>
              <a:t>il</a:t>
            </a:r>
            <a:r>
              <a:rPr dirty="0"/>
              <a:t> </a:t>
            </a:r>
            <a:r>
              <a:rPr dirty="0" err="1"/>
              <a:t>delitto</a:t>
            </a:r>
            <a:r>
              <a:rPr dirty="0"/>
              <a:t> è </a:t>
            </a:r>
            <a:r>
              <a:rPr dirty="0" err="1"/>
              <a:t>punibile</a:t>
            </a:r>
            <a:r>
              <a:rPr dirty="0"/>
              <a:t> a </a:t>
            </a:r>
            <a:r>
              <a:rPr b="1" dirty="0" u="sng"/>
              <a:t>querela </a:t>
            </a:r>
            <a:r>
              <a:rPr b="1" dirty="0" err="1" u="sng"/>
              <a:t>della</a:t>
            </a:r>
            <a:r>
              <a:rPr b="1" dirty="0" u="sng"/>
              <a:t> persona </a:t>
            </a:r>
            <a:r>
              <a:rPr b="1" dirty="0" err="1" u="sng"/>
              <a:t>offesa</a:t>
            </a:r>
            <a:r>
              <a:rPr dirty="0" u="sng"/>
              <a:t>.</a:t>
            </a:r>
            <a:r>
              <a:rPr dirty="0"/>
              <a:t> </a:t>
            </a:r>
            <a:r>
              <a:rPr dirty="0" u="sng">
                <a:solidFill>
                  <a:srgbClr val="00B050"/>
                </a:solidFill>
              </a:rPr>
              <a:t>Si </a:t>
            </a:r>
            <a:r>
              <a:rPr dirty="0" err="1" u="sng">
                <a:solidFill>
                  <a:srgbClr val="00B050"/>
                </a:solidFill>
              </a:rPr>
              <a:t>procede</a:t>
            </a:r>
            <a:r>
              <a:rPr dirty="0" u="sng">
                <a:solidFill>
                  <a:srgbClr val="00B050"/>
                </a:solidFill>
              </a:rPr>
              <a:t> </a:t>
            </a:r>
            <a:r>
              <a:rPr dirty="0" err="1" u="sng">
                <a:solidFill>
                  <a:srgbClr val="00B050"/>
                </a:solidFill>
              </a:rPr>
              <a:t>tuttavia</a:t>
            </a:r>
            <a:r>
              <a:rPr dirty="0" u="sng">
                <a:solidFill>
                  <a:srgbClr val="00B050"/>
                </a:solidFill>
              </a:rPr>
              <a:t> </a:t>
            </a:r>
            <a:r>
              <a:rPr dirty="0" err="1" u="sng">
                <a:solidFill>
                  <a:srgbClr val="00B050"/>
                </a:solidFill>
              </a:rPr>
              <a:t>d'ufficio</a:t>
            </a:r>
            <a:r>
              <a:rPr dirty="0" u="sng">
                <a:solidFill>
                  <a:srgbClr val="00B050"/>
                </a:solidFill>
              </a:rPr>
              <a:t> </a:t>
            </a:r>
            <a:r>
              <a:rPr dirty="0"/>
              <a:t>se </a:t>
            </a:r>
            <a:r>
              <a:rPr dirty="0" err="1"/>
              <a:t>il</a:t>
            </a:r>
            <a:r>
              <a:rPr dirty="0"/>
              <a:t> </a:t>
            </a:r>
            <a:r>
              <a:rPr dirty="0" err="1"/>
              <a:t>fatto</a:t>
            </a:r>
            <a:r>
              <a:rPr dirty="0"/>
              <a:t> è </a:t>
            </a:r>
            <a:r>
              <a:rPr dirty="0" err="1"/>
              <a:t>commesso</a:t>
            </a:r>
            <a:r>
              <a:rPr dirty="0"/>
              <a:t> in </a:t>
            </a:r>
            <a:r>
              <a:rPr dirty="0" err="1"/>
              <a:t>occasione</a:t>
            </a:r>
            <a:r>
              <a:rPr dirty="0"/>
              <a:t> del </a:t>
            </a:r>
            <a:r>
              <a:rPr dirty="0" err="1"/>
              <a:t>delitto</a:t>
            </a:r>
            <a:r>
              <a:rPr dirty="0"/>
              <a:t> </a:t>
            </a:r>
            <a:r>
              <a:rPr dirty="0" err="1"/>
              <a:t>previsto</a:t>
            </a:r>
            <a:r>
              <a:rPr dirty="0"/>
              <a:t> </a:t>
            </a:r>
            <a:r>
              <a:rPr dirty="0" err="1"/>
              <a:t>dall'articolo</a:t>
            </a:r>
            <a:r>
              <a:rPr dirty="0"/>
              <a:t> </a:t>
            </a:r>
            <a:r>
              <a:rPr dirty="0" u="sng">
                <a:solidFill>
                  <a:srgbClr val="183025"/>
                </a:solidFill>
              </a:rPr>
              <a:t>331</a:t>
            </a:r>
            <a:r>
              <a:rPr dirty="0"/>
              <a:t> </a:t>
            </a:r>
            <a:r>
              <a:rPr dirty="0" err="1"/>
              <a:t>ovvero</a:t>
            </a:r>
            <a:r>
              <a:rPr dirty="0"/>
              <a:t> se la persona </a:t>
            </a:r>
            <a:r>
              <a:rPr dirty="0" err="1"/>
              <a:t>offesa</a:t>
            </a:r>
            <a:r>
              <a:rPr dirty="0"/>
              <a:t> è </a:t>
            </a:r>
            <a:r>
              <a:rPr dirty="0" err="1"/>
              <a:t>incapace</a:t>
            </a:r>
            <a:r>
              <a:rPr dirty="0"/>
              <a:t>, per </a:t>
            </a:r>
            <a:r>
              <a:rPr dirty="0" err="1"/>
              <a:t>età</a:t>
            </a:r>
            <a:r>
              <a:rPr dirty="0"/>
              <a:t> o per </a:t>
            </a:r>
            <a:r>
              <a:rPr dirty="0" err="1"/>
              <a:t>infermità</a:t>
            </a:r>
            <a:r>
              <a:rPr dirty="0"/>
              <a:t>».</a:t>
            </a:r>
            <a:r>
              <a:rPr dirty="0">
                <a:solidFill>
                  <a:srgbClr val="FF3300"/>
                </a:solidFill>
              </a:rPr>
              <a:t>(</a:t>
            </a:r>
            <a:r>
              <a:rPr dirty="0" err="1">
                <a:solidFill>
                  <a:srgbClr val="FF3300"/>
                </a:solidFill>
              </a:rPr>
              <a:t>D.Lgs</a:t>
            </a:r>
            <a:r>
              <a:rPr dirty="0">
                <a:solidFill>
                  <a:srgbClr val="FF3300"/>
                </a:solidFill>
              </a:rPr>
              <a:t> 10 </a:t>
            </a:r>
            <a:r>
              <a:rPr dirty="0" err="1">
                <a:solidFill>
                  <a:srgbClr val="FF3300"/>
                </a:solidFill>
              </a:rPr>
              <a:t>ottobre</a:t>
            </a:r>
            <a:r>
              <a:rPr dirty="0">
                <a:solidFill>
                  <a:srgbClr val="FF3300"/>
                </a:solidFill>
              </a:rPr>
              <a:t> 2022 n.150 (</a:t>
            </a:r>
            <a:r>
              <a:rPr dirty="0" err="1">
                <a:solidFill>
                  <a:srgbClr val="FF3300"/>
                </a:solidFill>
              </a:rPr>
              <a:t>Riforma</a:t>
            </a:r>
            <a:r>
              <a:rPr dirty="0">
                <a:solidFill>
                  <a:srgbClr val="FF3300"/>
                </a:solidFill>
              </a:rPr>
              <a:t> </a:t>
            </a:r>
            <a:r>
              <a:rPr dirty="0" err="1">
                <a:solidFill>
                  <a:srgbClr val="FF3300"/>
                </a:solidFill>
              </a:rPr>
              <a:t>Cartabia</a:t>
            </a:r>
            <a:r>
              <a:rPr dirty="0">
                <a:solidFill>
                  <a:srgbClr val="FF3300"/>
                </a:solidFill>
              </a:rPr>
              <a:t>))</a:t>
            </a:r>
          </a:p>
          <a:p>
            <a:pPr algn="just">
              <a:lnSpc>
                <a:spcPct val="114000"/>
              </a:lnSpc>
              <a:spcBef>
                <a:spcPts val="1200"/>
              </a:spcBef>
              <a:defRPr b="0" sz="2200">
                <a:solidFill>
                  <a:srgbClr val="FF3300"/>
                </a:solidFill>
                <a:latin typeface="Times New Roman"/>
                <a:ea typeface="Times New Roman"/>
                <a:cs typeface="Times New Roman"/>
                <a:sym typeface="Times New Roman"/>
              </a:defRPr>
            </a:pPr>
            <a:endParaRPr dirty="0">
              <a:solidFill>
                <a:srgbClr val="FF3300"/>
              </a:solidFill>
            </a:endParaRPr>
          </a:p>
          <a:p>
            <a:pPr algn="just">
              <a:lnSpc>
                <a:spcPct val="114000"/>
              </a:lnSpc>
              <a:spcBef>
                <a:spcPts val="1200"/>
              </a:spcBef>
              <a:defRPr b="0" sz="2200">
                <a:latin typeface="Times New Roman"/>
                <a:ea typeface="Times New Roman"/>
                <a:cs typeface="Times New Roman"/>
                <a:sym typeface="Times New Roman"/>
              </a:defRPr>
            </a:pPr>
            <a:r>
              <a:rPr dirty="0"/>
              <a:t>Il </a:t>
            </a:r>
            <a:r>
              <a:rPr dirty="0" err="1"/>
              <a:t>delitto</a:t>
            </a:r>
            <a:r>
              <a:rPr dirty="0"/>
              <a:t> in </a:t>
            </a:r>
            <a:r>
              <a:rPr dirty="0" err="1"/>
              <a:t>esame</a:t>
            </a:r>
            <a:r>
              <a:rPr dirty="0"/>
              <a:t> tutela </a:t>
            </a:r>
            <a:r>
              <a:rPr b="1" dirty="0" err="1">
                <a:solidFill>
                  <a:srgbClr val="7030A0"/>
                </a:solidFill>
              </a:rPr>
              <a:t>l’inviolabilità</a:t>
            </a:r>
            <a:r>
              <a:rPr b="1" dirty="0">
                <a:solidFill>
                  <a:srgbClr val="7030A0"/>
                </a:solidFill>
              </a:rPr>
              <a:t> del </a:t>
            </a:r>
            <a:r>
              <a:rPr b="1" dirty="0" err="1">
                <a:solidFill>
                  <a:srgbClr val="7030A0"/>
                </a:solidFill>
              </a:rPr>
              <a:t>patrimonio</a:t>
            </a:r>
            <a:r>
              <a:rPr b="1" dirty="0">
                <a:solidFill>
                  <a:srgbClr val="7030A0"/>
                </a:solidFill>
              </a:rPr>
              <a:t> </a:t>
            </a:r>
            <a:r>
              <a:rPr b="1" dirty="0" err="1">
                <a:solidFill>
                  <a:srgbClr val="7030A0"/>
                </a:solidFill>
              </a:rPr>
              <a:t>mobiliare</a:t>
            </a:r>
            <a:r>
              <a:rPr b="1" dirty="0">
                <a:solidFill>
                  <a:srgbClr val="7030A0"/>
                </a:solidFill>
              </a:rPr>
              <a:t> ed </a:t>
            </a:r>
            <a:r>
              <a:rPr b="1" dirty="0" err="1">
                <a:solidFill>
                  <a:srgbClr val="7030A0"/>
                </a:solidFill>
              </a:rPr>
              <a:t>immobiliare</a:t>
            </a:r>
            <a:r>
              <a:rPr b="1" dirty="0">
                <a:solidFill>
                  <a:srgbClr val="7030A0"/>
                </a:solidFill>
              </a:rPr>
              <a:t> rispetto ai </a:t>
            </a:r>
            <a:r>
              <a:rPr b="1" dirty="0" err="1">
                <a:solidFill>
                  <a:srgbClr val="7030A0"/>
                </a:solidFill>
              </a:rPr>
              <a:t>fatti</a:t>
            </a:r>
            <a:r>
              <a:rPr b="1" dirty="0">
                <a:solidFill>
                  <a:srgbClr val="7030A0"/>
                </a:solidFill>
              </a:rPr>
              <a:t> </a:t>
            </a:r>
            <a:r>
              <a:rPr b="1" dirty="0" err="1">
                <a:solidFill>
                  <a:srgbClr val="7030A0"/>
                </a:solidFill>
              </a:rPr>
              <a:t>che</a:t>
            </a:r>
            <a:r>
              <a:rPr b="1" dirty="0">
                <a:solidFill>
                  <a:srgbClr val="7030A0"/>
                </a:solidFill>
              </a:rPr>
              <a:t> ne </a:t>
            </a:r>
            <a:r>
              <a:rPr b="1" dirty="0" err="1">
                <a:solidFill>
                  <a:srgbClr val="7030A0"/>
                </a:solidFill>
              </a:rPr>
              <a:t>compromettano</a:t>
            </a:r>
            <a:r>
              <a:rPr b="1" dirty="0">
                <a:solidFill>
                  <a:srgbClr val="7030A0"/>
                </a:solidFill>
              </a:rPr>
              <a:t> la </a:t>
            </a:r>
            <a:r>
              <a:rPr b="1" dirty="0" err="1">
                <a:solidFill>
                  <a:srgbClr val="7030A0"/>
                </a:solidFill>
              </a:rPr>
              <a:t>sostanza</a:t>
            </a:r>
            <a:r>
              <a:rPr b="1" dirty="0">
                <a:solidFill>
                  <a:srgbClr val="7030A0"/>
                </a:solidFill>
              </a:rPr>
              <a:t> o </a:t>
            </a:r>
            <a:r>
              <a:rPr b="1" dirty="0" err="1">
                <a:solidFill>
                  <a:srgbClr val="7030A0"/>
                </a:solidFill>
              </a:rPr>
              <a:t>l’utilizzabilità</a:t>
            </a:r>
            <a:r>
              <a:rPr dirty="0"/>
              <a:t>. </a:t>
            </a:r>
          </a:p>
          <a:p>
            <a:pPr algn="just">
              <a:lnSpc>
                <a:spcPct val="114000"/>
              </a:lnSpc>
              <a:spcBef>
                <a:spcPts val="1200"/>
              </a:spcBef>
              <a:defRPr b="0" sz="2200">
                <a:latin typeface="Times New Roman"/>
                <a:ea typeface="Times New Roman"/>
                <a:cs typeface="Times New Roman"/>
                <a:sym typeface="Times New Roman"/>
              </a:defRPr>
            </a:pPr>
            <a:r>
              <a:rPr dirty="0"/>
              <a:t>E’ un </a:t>
            </a:r>
            <a:r>
              <a:rPr b="1" dirty="0">
                <a:solidFill>
                  <a:srgbClr val="7030A0"/>
                </a:solidFill>
              </a:rPr>
              <a:t>REATO COMUNE</a:t>
            </a:r>
            <a:r>
              <a:rPr dirty="0"/>
              <a:t>, </a:t>
            </a:r>
            <a:r>
              <a:rPr dirty="0" err="1"/>
              <a:t>il</a:t>
            </a:r>
            <a:r>
              <a:rPr dirty="0"/>
              <a:t> </a:t>
            </a:r>
            <a:r>
              <a:rPr dirty="0" err="1"/>
              <a:t>soggetto</a:t>
            </a:r>
            <a:r>
              <a:rPr dirty="0"/>
              <a:t> </a:t>
            </a:r>
            <a:r>
              <a:rPr dirty="0" err="1"/>
              <a:t>passivo</a:t>
            </a:r>
            <a:r>
              <a:rPr dirty="0"/>
              <a:t> </a:t>
            </a:r>
            <a:r>
              <a:rPr dirty="0" err="1"/>
              <a:t>si</a:t>
            </a:r>
            <a:r>
              <a:rPr dirty="0"/>
              <a:t> </a:t>
            </a:r>
            <a:r>
              <a:rPr dirty="0" err="1"/>
              <a:t>identifica</a:t>
            </a:r>
            <a:r>
              <a:rPr dirty="0"/>
              <a:t> </a:t>
            </a:r>
            <a:r>
              <a:rPr dirty="0" err="1"/>
              <a:t>nel</a:t>
            </a:r>
            <a:r>
              <a:rPr dirty="0"/>
              <a:t> </a:t>
            </a:r>
            <a:r>
              <a:rPr dirty="0" err="1"/>
              <a:t>titolare</a:t>
            </a:r>
            <a:r>
              <a:rPr dirty="0"/>
              <a:t> del bene-interesse </a:t>
            </a:r>
            <a:r>
              <a:rPr dirty="0" err="1"/>
              <a:t>tutelato</a:t>
            </a:r>
            <a:r>
              <a:rPr dirty="0"/>
              <a:t> </a:t>
            </a:r>
            <a:r>
              <a:rPr dirty="0" err="1"/>
              <a:t>dalle</a:t>
            </a:r>
            <a:r>
              <a:rPr dirty="0"/>
              <a:t> </a:t>
            </a:r>
            <a:r>
              <a:rPr dirty="0" err="1"/>
              <a:t>norme</a:t>
            </a:r>
            <a:r>
              <a:rPr dirty="0"/>
              <a:t> </a:t>
            </a:r>
            <a:r>
              <a:rPr dirty="0" err="1"/>
              <a:t>penali</a:t>
            </a:r>
            <a:r>
              <a:rPr dirty="0"/>
              <a:t>, </a:t>
            </a:r>
            <a:r>
              <a:rPr dirty="0" err="1"/>
              <a:t>pertanto</a:t>
            </a:r>
            <a:r>
              <a:rPr dirty="0"/>
              <a:t> </a:t>
            </a:r>
            <a:r>
              <a:rPr dirty="0" err="1"/>
              <a:t>quando</a:t>
            </a:r>
            <a:r>
              <a:rPr dirty="0"/>
              <a:t> </a:t>
            </a:r>
            <a:r>
              <a:rPr dirty="0" err="1"/>
              <a:t>il</a:t>
            </a:r>
            <a:r>
              <a:rPr dirty="0"/>
              <a:t> </a:t>
            </a:r>
            <a:r>
              <a:rPr dirty="0" err="1"/>
              <a:t>codice</a:t>
            </a:r>
            <a:r>
              <a:rPr dirty="0"/>
              <a:t> </a:t>
            </a:r>
            <a:r>
              <a:rPr dirty="0" err="1"/>
              <a:t>si</a:t>
            </a:r>
            <a:r>
              <a:rPr dirty="0"/>
              <a:t> </a:t>
            </a:r>
            <a:r>
              <a:rPr dirty="0" err="1"/>
              <a:t>riferisce</a:t>
            </a:r>
            <a:r>
              <a:rPr dirty="0"/>
              <a:t> </a:t>
            </a:r>
            <a:r>
              <a:rPr dirty="0" err="1"/>
              <a:t>alla</a:t>
            </a:r>
            <a:r>
              <a:rPr dirty="0"/>
              <a:t> </a:t>
            </a:r>
            <a:r>
              <a:rPr dirty="0" err="1"/>
              <a:t>cosa</a:t>
            </a:r>
            <a:r>
              <a:rPr dirty="0"/>
              <a:t> </a:t>
            </a:r>
            <a:r>
              <a:rPr dirty="0" err="1"/>
              <a:t>altrui</a:t>
            </a:r>
            <a:r>
              <a:rPr dirty="0"/>
              <a:t> </a:t>
            </a:r>
            <a:r>
              <a:rPr dirty="0" err="1"/>
              <a:t>c</a:t>
            </a:r>
            <a:r>
              <a:rPr b="1" dirty="0" err="1"/>
              <a:t>omprende</a:t>
            </a:r>
            <a:r>
              <a:rPr b="1" dirty="0"/>
              <a:t> </a:t>
            </a:r>
            <a:r>
              <a:rPr b="1" dirty="0" err="1"/>
              <a:t>anche</a:t>
            </a:r>
            <a:r>
              <a:rPr b="1" dirty="0"/>
              <a:t> </a:t>
            </a:r>
            <a:r>
              <a:rPr b="1" dirty="0" err="1"/>
              <a:t>il</a:t>
            </a:r>
            <a:r>
              <a:rPr b="1" dirty="0"/>
              <a:t> mero </a:t>
            </a:r>
            <a:r>
              <a:rPr b="1" dirty="0" err="1"/>
              <a:t>detentore</a:t>
            </a:r>
            <a:r>
              <a:rPr dirty="0"/>
              <a:t>.</a:t>
            </a:r>
          </a:p>
        </p:txBody>
      </p:sp>
      <p:pic>
        <p:nvPicPr>
          <p:cNvPr descr="Immagine 6" id="420"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421"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Danneggiamento</a:t>
            </a: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 name="Rettangolo 4"/>
          <p:cNvSpPr txBox="1"/>
          <p:nvPr/>
        </p:nvSpPr>
        <p:spPr>
          <a:xfrm>
            <a:off x="45719" y="836713"/>
            <a:ext cx="9052561" cy="58634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sz="2200" u="sng">
                <a:latin typeface="Times New Roman"/>
                <a:ea typeface="Times New Roman"/>
                <a:cs typeface="Times New Roman"/>
                <a:sym typeface="Times New Roman"/>
              </a:defRPr>
            </a:pPr>
            <a:r>
              <a:rPr dirty="0" sz="2000"/>
              <a:t>ELEMENTO OGGETTIVO</a:t>
            </a:r>
            <a:r>
              <a:rPr b="0" dirty="0" sz="2000" u="none"/>
              <a:t>: Le </a:t>
            </a:r>
            <a:r>
              <a:rPr b="0" dirty="0" err="1" sz="2000" u="none"/>
              <a:t>condotte</a:t>
            </a:r>
            <a:r>
              <a:rPr b="0" dirty="0" sz="2000" u="none"/>
              <a:t> </a:t>
            </a:r>
            <a:r>
              <a:rPr b="0" dirty="0" err="1" sz="2000" u="none"/>
              <a:t>sono</a:t>
            </a:r>
            <a:r>
              <a:rPr b="0" dirty="0" sz="2000" u="none"/>
              <a:t> </a:t>
            </a:r>
            <a:r>
              <a:rPr b="0" dirty="0" err="1" sz="2000" u="none"/>
              <a:t>accomunate</a:t>
            </a:r>
            <a:r>
              <a:rPr b="0" dirty="0" sz="2000" u="none"/>
              <a:t> </a:t>
            </a:r>
            <a:r>
              <a:rPr b="0" dirty="0" err="1" sz="2000" u="none"/>
              <a:t>dalla</a:t>
            </a:r>
            <a:r>
              <a:rPr b="0" dirty="0" sz="2000" u="none"/>
              <a:t> </a:t>
            </a:r>
            <a:r>
              <a:rPr b="0" dirty="0" err="1" sz="2000" u="none"/>
              <a:t>eguale</a:t>
            </a:r>
            <a:r>
              <a:rPr b="0" dirty="0" sz="2000" u="none"/>
              <a:t> </a:t>
            </a:r>
            <a:r>
              <a:rPr b="0" dirty="0" err="1" sz="2000" u="none"/>
              <a:t>attitudine</a:t>
            </a:r>
            <a:r>
              <a:rPr b="0" dirty="0" sz="2000" u="none"/>
              <a:t> a </a:t>
            </a:r>
            <a:r>
              <a:rPr b="0" dirty="0" err="1" sz="2000" u="none"/>
              <a:t>produrre</a:t>
            </a:r>
            <a:r>
              <a:rPr b="0" dirty="0" sz="2000" u="none"/>
              <a:t> </a:t>
            </a:r>
            <a:r>
              <a:rPr b="0" dirty="0" err="1" sz="2000" u="none"/>
              <a:t>il</a:t>
            </a:r>
            <a:r>
              <a:rPr b="0" dirty="0" sz="2000" u="none"/>
              <a:t> </a:t>
            </a:r>
            <a:r>
              <a:rPr b="0" dirty="0" err="1" sz="2000" u="none"/>
              <a:t>medesimo</a:t>
            </a:r>
            <a:r>
              <a:rPr b="0" dirty="0" sz="2000" u="none"/>
              <a:t> </a:t>
            </a:r>
            <a:r>
              <a:rPr b="0" dirty="0" err="1" sz="2000" u="none"/>
              <a:t>risultato</a:t>
            </a:r>
            <a:r>
              <a:rPr b="0" dirty="0" sz="2000" u="none"/>
              <a:t>  — ossia </a:t>
            </a:r>
            <a:r>
              <a:rPr b="0" dirty="0" err="1" sz="2000" u="none"/>
              <a:t>l’alterazione</a:t>
            </a:r>
            <a:r>
              <a:rPr b="0" dirty="0" sz="2000" u="none"/>
              <a:t> </a:t>
            </a:r>
            <a:r>
              <a:rPr b="0" dirty="0" err="1" sz="2000" u="none"/>
              <a:t>strutturale</a:t>
            </a:r>
            <a:r>
              <a:rPr b="0" dirty="0" sz="2000" u="none"/>
              <a:t> o </a:t>
            </a:r>
            <a:r>
              <a:rPr b="0" dirty="0" err="1" sz="2000" u="none"/>
              <a:t>funzionale</a:t>
            </a:r>
            <a:r>
              <a:rPr b="0" dirty="0" sz="2000" u="none"/>
              <a:t> </a:t>
            </a:r>
            <a:r>
              <a:rPr b="0" dirty="0" err="1" sz="2000" u="none"/>
              <a:t>della</a:t>
            </a:r>
            <a:r>
              <a:rPr b="0" dirty="0" sz="2000" u="none"/>
              <a:t> </a:t>
            </a:r>
            <a:r>
              <a:rPr b="0" dirty="0" err="1" sz="2000" u="none"/>
              <a:t>cosa</a:t>
            </a:r>
            <a:r>
              <a:rPr b="0" dirty="0" sz="2000" u="none"/>
              <a:t>, </a:t>
            </a:r>
            <a:r>
              <a:rPr b="0" dirty="0" err="1" sz="2000" u="none"/>
              <a:t>ovvero</a:t>
            </a:r>
            <a:r>
              <a:rPr b="0" dirty="0" sz="2000" u="none"/>
              <a:t> un </a:t>
            </a:r>
            <a:r>
              <a:rPr b="0" dirty="0" err="1" sz="2000" u="none"/>
              <a:t>suo</a:t>
            </a:r>
            <a:r>
              <a:rPr b="0" dirty="0" sz="2000" u="none"/>
              <a:t> </a:t>
            </a:r>
            <a:r>
              <a:rPr b="0" dirty="0" err="1" sz="2000" u="none"/>
              <a:t>deterioramento</a:t>
            </a:r>
            <a:r>
              <a:rPr b="0" dirty="0" sz="2000" u="none"/>
              <a:t> una </a:t>
            </a:r>
            <a:r>
              <a:rPr b="0" dirty="0" err="1" sz="2000" u="none"/>
              <a:t>certa</a:t>
            </a:r>
            <a:r>
              <a:rPr b="0" dirty="0" sz="2000" u="none"/>
              <a:t> </a:t>
            </a:r>
            <a:r>
              <a:rPr b="0" dirty="0" err="1" sz="2000" u="none"/>
              <a:t>consistenza</a:t>
            </a:r>
            <a:r>
              <a:rPr b="0" dirty="0" sz="2000" u="none"/>
              <a:t> ed </a:t>
            </a:r>
            <a:r>
              <a:rPr b="0" dirty="0" err="1" sz="2000" u="none"/>
              <a:t>evidenza</a:t>
            </a:r>
            <a:r>
              <a:rPr b="0" dirty="0" sz="2000" u="none"/>
              <a:t>.</a:t>
            </a:r>
            <a:r>
              <a:rPr altLang="it-IT" b="0" dirty="0" lang="it-IT" sz="2000" u="none"/>
              <a:t>   </a:t>
            </a:r>
          </a:p>
          <a:p>
            <a:pPr algn="just">
              <a:lnSpc>
                <a:spcPct val="114000"/>
              </a:lnSpc>
              <a:spcBef>
                <a:spcPts val="1200"/>
              </a:spcBef>
              <a:defRPr sz="2200" u="sng">
                <a:latin typeface="Times New Roman"/>
                <a:ea typeface="Times New Roman"/>
                <a:cs typeface="Times New Roman"/>
                <a:sym typeface="Times New Roman"/>
              </a:defRPr>
            </a:pPr>
            <a:r>
              <a:rPr altLang="it-IT" dirty="0" lang="it-IT" u="none">
                <a:solidFill>
                  <a:srgbClr val="00B050"/>
                </a:solidFill>
              </a:rPr>
              <a:t>- Per la realizzazione del reato basta che ne venga  realizzata una soltanto-</a:t>
            </a:r>
            <a:endParaRPr dirty="0" u="none">
              <a:solidFill>
                <a:srgbClr val="00B050"/>
              </a:solidFill>
            </a:endParaRPr>
          </a:p>
          <a:p>
            <a:pPr algn="just">
              <a:lnSpc>
                <a:spcPct val="114000"/>
              </a:lnSpc>
              <a:spcBef>
                <a:spcPts val="1200"/>
              </a:spcBef>
              <a:defRPr sz="2200" u="sng">
                <a:latin typeface="Times New Roman"/>
                <a:ea typeface="Times New Roman"/>
                <a:cs typeface="Times New Roman"/>
                <a:sym typeface="Times New Roman"/>
              </a:defRPr>
            </a:pPr>
            <a:r>
              <a:rPr b="0" dirty="0" err="1" sz="1900" u="none"/>
              <a:t>Pertanto</a:t>
            </a:r>
            <a:r>
              <a:rPr b="0" dirty="0" sz="1900" u="none"/>
              <a:t> le </a:t>
            </a:r>
            <a:r>
              <a:rPr b="0" dirty="0" err="1" sz="1900" u="none"/>
              <a:t>condotte</a:t>
            </a:r>
            <a:r>
              <a:rPr b="0" dirty="0" sz="1900" u="none"/>
              <a:t> </a:t>
            </a:r>
            <a:r>
              <a:rPr b="0" dirty="0" err="1" sz="1900" u="none"/>
              <a:t>sanzionate</a:t>
            </a:r>
            <a:r>
              <a:rPr b="0" dirty="0" sz="1900" u="none"/>
              <a:t> </a:t>
            </a:r>
            <a:r>
              <a:rPr b="0" dirty="0" err="1" sz="1900" u="none"/>
              <a:t>sono</a:t>
            </a:r>
            <a:r>
              <a:rPr b="0" dirty="0" sz="1900" u="none"/>
              <a:t>:</a:t>
            </a:r>
          </a:p>
          <a:p>
            <a:pPr algn="just" indent="-182562" marL="182562">
              <a:lnSpc>
                <a:spcPct val="114000"/>
              </a:lnSpc>
              <a:spcBef>
                <a:spcPts val="600"/>
              </a:spcBef>
              <a:buSzPct val="100000"/>
              <a:buFont typeface="Arial"/>
              <a:buChar char="•"/>
              <a:defRPr sz="2000">
                <a:solidFill>
                  <a:srgbClr val="7030A0"/>
                </a:solidFill>
                <a:latin typeface="Times New Roman"/>
                <a:ea typeface="Times New Roman"/>
                <a:cs typeface="Times New Roman"/>
                <a:sym typeface="Times New Roman"/>
              </a:defRPr>
            </a:pPr>
            <a:r>
              <a:rPr dirty="0" err="1" sz="1900"/>
              <a:t>DISTRUGGERE</a:t>
            </a:r>
            <a:r>
              <a:rPr b="0" dirty="0" err="1" sz="1900">
                <a:solidFill>
                  <a:srgbClr val="000000"/>
                </a:solidFill>
              </a:rPr>
              <a:t>:la</a:t>
            </a:r>
            <a:r>
              <a:rPr b="0" dirty="0" sz="1900">
                <a:solidFill>
                  <a:srgbClr val="000000"/>
                </a:solidFill>
              </a:rPr>
              <a:t> </a:t>
            </a:r>
            <a:r>
              <a:rPr b="0" dirty="0" err="1" sz="1900">
                <a:solidFill>
                  <a:srgbClr val="000000"/>
                </a:solidFill>
              </a:rPr>
              <a:t>distruzione</a:t>
            </a:r>
            <a:r>
              <a:rPr b="0" dirty="0" sz="1900">
                <a:solidFill>
                  <a:srgbClr val="000000"/>
                </a:solidFill>
              </a:rPr>
              <a:t> </a:t>
            </a:r>
            <a:r>
              <a:rPr b="0" dirty="0" err="1" sz="1900">
                <a:solidFill>
                  <a:srgbClr val="000000"/>
                </a:solidFill>
              </a:rPr>
              <a:t>comporta</a:t>
            </a:r>
            <a:r>
              <a:rPr b="0" dirty="0" sz="1900">
                <a:solidFill>
                  <a:srgbClr val="000000"/>
                </a:solidFill>
              </a:rPr>
              <a:t> </a:t>
            </a:r>
            <a:r>
              <a:rPr b="0" dirty="0" err="1" sz="1900">
                <a:solidFill>
                  <a:srgbClr val="000000"/>
                </a:solidFill>
              </a:rPr>
              <a:t>il</a:t>
            </a:r>
            <a:r>
              <a:rPr b="0" dirty="0" sz="1900">
                <a:solidFill>
                  <a:srgbClr val="000000"/>
                </a:solidFill>
              </a:rPr>
              <a:t> </a:t>
            </a:r>
            <a:r>
              <a:rPr b="0" dirty="0" err="1" sz="1900">
                <a:solidFill>
                  <a:srgbClr val="000000"/>
                </a:solidFill>
              </a:rPr>
              <a:t>completo</a:t>
            </a:r>
            <a:r>
              <a:rPr b="0" dirty="0" sz="1900">
                <a:solidFill>
                  <a:srgbClr val="000000"/>
                </a:solidFill>
              </a:rPr>
              <a:t> </a:t>
            </a:r>
            <a:r>
              <a:rPr b="0" dirty="0" err="1" sz="1900">
                <a:solidFill>
                  <a:srgbClr val="000000"/>
                </a:solidFill>
              </a:rPr>
              <a:t>annientamento</a:t>
            </a:r>
            <a:r>
              <a:rPr b="0" dirty="0" sz="1900">
                <a:solidFill>
                  <a:srgbClr val="000000"/>
                </a:solidFill>
              </a:rPr>
              <a:t> </a:t>
            </a:r>
            <a:r>
              <a:rPr b="0" dirty="0" err="1" sz="1900">
                <a:solidFill>
                  <a:srgbClr val="000000"/>
                </a:solidFill>
              </a:rPr>
              <a:t>della</a:t>
            </a:r>
            <a:r>
              <a:rPr b="0" dirty="0" sz="1900">
                <a:solidFill>
                  <a:srgbClr val="000000"/>
                </a:solidFill>
              </a:rPr>
              <a:t> </a:t>
            </a:r>
            <a:r>
              <a:rPr b="0" dirty="0" err="1" sz="1900">
                <a:solidFill>
                  <a:srgbClr val="000000"/>
                </a:solidFill>
              </a:rPr>
              <a:t>cosa</a:t>
            </a:r>
            <a:r>
              <a:rPr b="0" dirty="0" sz="1900">
                <a:solidFill>
                  <a:srgbClr val="000000"/>
                </a:solidFill>
              </a:rPr>
              <a:t> - </a:t>
            </a:r>
            <a:r>
              <a:rPr b="0" dirty="0" i="1" sz="1900">
                <a:solidFill>
                  <a:srgbClr val="000000"/>
                </a:solidFill>
              </a:rPr>
              <a:t>es: </a:t>
            </a:r>
            <a:r>
              <a:rPr b="0" dirty="0" err="1" i="1" sz="1900">
                <a:solidFill>
                  <a:srgbClr val="000000"/>
                </a:solidFill>
              </a:rPr>
              <a:t>demolizione</a:t>
            </a:r>
            <a:r>
              <a:rPr b="0" dirty="0" i="1" sz="1900">
                <a:solidFill>
                  <a:srgbClr val="000000"/>
                </a:solidFill>
              </a:rPr>
              <a:t> di un </a:t>
            </a:r>
            <a:r>
              <a:rPr b="0" dirty="0" err="1" i="1" sz="1900">
                <a:solidFill>
                  <a:srgbClr val="000000"/>
                </a:solidFill>
              </a:rPr>
              <a:t>edificio</a:t>
            </a:r>
            <a:r>
              <a:rPr b="0" dirty="0" i="1" sz="1900">
                <a:solidFill>
                  <a:srgbClr val="000000"/>
                </a:solidFill>
              </a:rPr>
              <a:t>- </a:t>
            </a:r>
            <a:r>
              <a:rPr b="0" dirty="0" err="1" i="1" sz="1900">
                <a:solidFill>
                  <a:srgbClr val="000000"/>
                </a:solidFill>
              </a:rPr>
              <a:t>frantumazione</a:t>
            </a:r>
            <a:r>
              <a:rPr b="0" dirty="0" i="1" sz="1900">
                <a:solidFill>
                  <a:srgbClr val="000000"/>
                </a:solidFill>
              </a:rPr>
              <a:t> di un </a:t>
            </a:r>
            <a:r>
              <a:rPr b="0" dirty="0" err="1" i="1" sz="1900">
                <a:solidFill>
                  <a:srgbClr val="000000"/>
                </a:solidFill>
              </a:rPr>
              <a:t>oggetto</a:t>
            </a:r>
            <a:r>
              <a:rPr b="0" dirty="0" i="1" sz="1900">
                <a:solidFill>
                  <a:srgbClr val="000000"/>
                </a:solidFill>
              </a:rPr>
              <a:t> di </a:t>
            </a:r>
            <a:r>
              <a:rPr b="0" dirty="0" err="1" i="1" sz="1900">
                <a:solidFill>
                  <a:srgbClr val="000000"/>
                </a:solidFill>
              </a:rPr>
              <a:t>vetro</a:t>
            </a:r>
            <a:r>
              <a:rPr b="0" dirty="0" i="1" sz="1900">
                <a:solidFill>
                  <a:srgbClr val="000000"/>
                </a:solidFill>
              </a:rPr>
              <a:t> </a:t>
            </a:r>
            <a:r>
              <a:rPr b="0" dirty="0" err="1" i="1" sz="1900">
                <a:solidFill>
                  <a:srgbClr val="000000"/>
                </a:solidFill>
              </a:rPr>
              <a:t>ecc</a:t>
            </a:r>
            <a:r>
              <a:rPr b="0" dirty="0" i="1" sz="1900">
                <a:solidFill>
                  <a:srgbClr val="000000"/>
                </a:solidFill>
              </a:rPr>
              <a:t>..;</a:t>
            </a:r>
            <a:endParaRPr dirty="0" i="1" sz="1900"/>
          </a:p>
          <a:p>
            <a:pPr algn="just" indent="-182562" marL="182562">
              <a:lnSpc>
                <a:spcPct val="114000"/>
              </a:lnSpc>
              <a:spcBef>
                <a:spcPts val="600"/>
              </a:spcBef>
              <a:buSzPct val="100000"/>
              <a:buFont typeface="Arial"/>
              <a:buChar char="•"/>
              <a:defRPr sz="2000">
                <a:solidFill>
                  <a:srgbClr val="7030A0"/>
                </a:solidFill>
                <a:latin typeface="Times New Roman"/>
                <a:ea typeface="Times New Roman"/>
                <a:cs typeface="Times New Roman"/>
                <a:sym typeface="Times New Roman"/>
              </a:defRPr>
            </a:pPr>
            <a:r>
              <a:rPr dirty="0" sz="1900"/>
              <a:t>DISPERDERE</a:t>
            </a:r>
            <a:r>
              <a:rPr b="0" dirty="0" sz="1900">
                <a:solidFill>
                  <a:srgbClr val="000000"/>
                </a:solidFill>
              </a:rPr>
              <a:t>: </a:t>
            </a:r>
            <a:r>
              <a:rPr b="0" dirty="0" err="1" sz="1900">
                <a:solidFill>
                  <a:srgbClr val="000000"/>
                </a:solidFill>
              </a:rPr>
              <a:t>concernente</a:t>
            </a:r>
            <a:r>
              <a:rPr b="0" dirty="0" sz="1900">
                <a:solidFill>
                  <a:srgbClr val="000000"/>
                </a:solidFill>
              </a:rPr>
              <a:t> solo le </a:t>
            </a:r>
            <a:r>
              <a:rPr b="0" dirty="0" err="1" sz="1900">
                <a:solidFill>
                  <a:srgbClr val="000000"/>
                </a:solidFill>
              </a:rPr>
              <a:t>cose</a:t>
            </a:r>
            <a:r>
              <a:rPr b="0" dirty="0" sz="1900">
                <a:solidFill>
                  <a:srgbClr val="000000"/>
                </a:solidFill>
              </a:rPr>
              <a:t> </a:t>
            </a:r>
            <a:r>
              <a:rPr b="0" dirty="0" err="1" sz="1900">
                <a:solidFill>
                  <a:srgbClr val="000000"/>
                </a:solidFill>
              </a:rPr>
              <a:t>mobili</a:t>
            </a:r>
            <a:r>
              <a:rPr b="0" dirty="0" sz="1900">
                <a:solidFill>
                  <a:srgbClr val="000000"/>
                </a:solidFill>
              </a:rPr>
              <a:t>, </a:t>
            </a:r>
            <a:r>
              <a:rPr b="0" dirty="0" err="1" sz="1900">
                <a:solidFill>
                  <a:srgbClr val="000000"/>
                </a:solidFill>
              </a:rPr>
              <a:t>consiste</a:t>
            </a:r>
            <a:r>
              <a:rPr b="0" dirty="0" sz="1900">
                <a:solidFill>
                  <a:srgbClr val="000000"/>
                </a:solidFill>
              </a:rPr>
              <a:t> </a:t>
            </a:r>
            <a:r>
              <a:rPr b="0" dirty="0" err="1" sz="1900">
                <a:solidFill>
                  <a:srgbClr val="000000"/>
                </a:solidFill>
              </a:rPr>
              <a:t>nel</a:t>
            </a:r>
            <a:r>
              <a:rPr b="0" dirty="0" sz="1900">
                <a:solidFill>
                  <a:srgbClr val="000000"/>
                </a:solidFill>
              </a:rPr>
              <a:t> far </a:t>
            </a:r>
            <a:r>
              <a:rPr b="0" dirty="0" err="1" sz="1900">
                <a:solidFill>
                  <a:srgbClr val="000000"/>
                </a:solidFill>
              </a:rPr>
              <a:t>uscire</a:t>
            </a:r>
            <a:r>
              <a:rPr b="0" dirty="0" sz="1900">
                <a:solidFill>
                  <a:srgbClr val="000000"/>
                </a:solidFill>
              </a:rPr>
              <a:t> la </a:t>
            </a:r>
            <a:r>
              <a:rPr b="0" dirty="0" err="1" sz="1900">
                <a:solidFill>
                  <a:srgbClr val="000000"/>
                </a:solidFill>
              </a:rPr>
              <a:t>cosa</a:t>
            </a:r>
            <a:r>
              <a:rPr b="0" dirty="0" sz="1900">
                <a:solidFill>
                  <a:srgbClr val="000000"/>
                </a:solidFill>
              </a:rPr>
              <a:t> </a:t>
            </a:r>
            <a:r>
              <a:rPr b="0" dirty="0" err="1" sz="1900">
                <a:solidFill>
                  <a:srgbClr val="000000"/>
                </a:solidFill>
              </a:rPr>
              <a:t>dalla</a:t>
            </a:r>
            <a:r>
              <a:rPr b="0" dirty="0" sz="1900">
                <a:solidFill>
                  <a:srgbClr val="000000"/>
                </a:solidFill>
              </a:rPr>
              <a:t> </a:t>
            </a:r>
            <a:r>
              <a:rPr b="0" dirty="0" err="1" sz="1900">
                <a:solidFill>
                  <a:srgbClr val="000000"/>
                </a:solidFill>
              </a:rPr>
              <a:t>disponibilità</a:t>
            </a:r>
            <a:r>
              <a:rPr b="0" dirty="0" sz="1900">
                <a:solidFill>
                  <a:srgbClr val="000000"/>
                </a:solidFill>
              </a:rPr>
              <a:t> </a:t>
            </a:r>
            <a:r>
              <a:rPr b="0" dirty="0" err="1" sz="1900">
                <a:solidFill>
                  <a:srgbClr val="000000"/>
                </a:solidFill>
              </a:rPr>
              <a:t>dell’avente</a:t>
            </a:r>
            <a:r>
              <a:rPr b="0" dirty="0" sz="1900">
                <a:solidFill>
                  <a:srgbClr val="000000"/>
                </a:solidFill>
              </a:rPr>
              <a:t> </a:t>
            </a:r>
            <a:r>
              <a:rPr b="0" dirty="0" err="1" sz="1900">
                <a:solidFill>
                  <a:srgbClr val="000000"/>
                </a:solidFill>
              </a:rPr>
              <a:t>diritto</a:t>
            </a:r>
            <a:r>
              <a:rPr b="0" dirty="0" sz="1900">
                <a:solidFill>
                  <a:srgbClr val="000000"/>
                </a:solidFill>
              </a:rPr>
              <a:t> in modo </a:t>
            </a:r>
            <a:r>
              <a:rPr b="0" dirty="0" err="1" sz="1900">
                <a:solidFill>
                  <a:srgbClr val="000000"/>
                </a:solidFill>
              </a:rPr>
              <a:t>che</a:t>
            </a:r>
            <a:r>
              <a:rPr b="0" dirty="0" sz="1900">
                <a:solidFill>
                  <a:srgbClr val="000000"/>
                </a:solidFill>
              </a:rPr>
              <a:t> </a:t>
            </a:r>
            <a:r>
              <a:rPr b="0" dirty="0" err="1" sz="1900">
                <a:solidFill>
                  <a:srgbClr val="000000"/>
                </a:solidFill>
              </a:rPr>
              <a:t>costui</a:t>
            </a:r>
            <a:r>
              <a:rPr b="0" dirty="0" sz="1900">
                <a:solidFill>
                  <a:srgbClr val="000000"/>
                </a:solidFill>
              </a:rPr>
              <a:t> non </a:t>
            </a:r>
            <a:r>
              <a:rPr b="0" dirty="0" err="1" sz="1900">
                <a:solidFill>
                  <a:srgbClr val="000000"/>
                </a:solidFill>
              </a:rPr>
              <a:t>possa</a:t>
            </a:r>
            <a:r>
              <a:rPr b="0" dirty="0" sz="1900">
                <a:solidFill>
                  <a:srgbClr val="000000"/>
                </a:solidFill>
              </a:rPr>
              <a:t> </a:t>
            </a:r>
            <a:r>
              <a:rPr b="0" dirty="0" err="1" sz="1900">
                <a:solidFill>
                  <a:srgbClr val="000000"/>
                </a:solidFill>
              </a:rPr>
              <a:t>più</a:t>
            </a:r>
            <a:r>
              <a:rPr b="0" dirty="0" sz="1900">
                <a:solidFill>
                  <a:srgbClr val="000000"/>
                </a:solidFill>
              </a:rPr>
              <a:t> </a:t>
            </a:r>
            <a:r>
              <a:rPr b="0" dirty="0" err="1" sz="1900">
                <a:solidFill>
                  <a:srgbClr val="000000"/>
                </a:solidFill>
              </a:rPr>
              <a:t>recuperarla</a:t>
            </a:r>
            <a:r>
              <a:rPr b="0" dirty="0" sz="1900">
                <a:solidFill>
                  <a:srgbClr val="000000"/>
                </a:solidFill>
              </a:rPr>
              <a:t> o </a:t>
            </a:r>
            <a:r>
              <a:rPr b="0" dirty="0" err="1" sz="1900">
                <a:solidFill>
                  <a:srgbClr val="000000"/>
                </a:solidFill>
              </a:rPr>
              <a:t>possa</a:t>
            </a:r>
            <a:r>
              <a:rPr b="0" dirty="0" sz="1900">
                <a:solidFill>
                  <a:srgbClr val="000000"/>
                </a:solidFill>
              </a:rPr>
              <a:t> </a:t>
            </a:r>
            <a:r>
              <a:rPr b="0" dirty="0" err="1" sz="1900">
                <a:solidFill>
                  <a:srgbClr val="000000"/>
                </a:solidFill>
              </a:rPr>
              <a:t>farlo</a:t>
            </a:r>
            <a:r>
              <a:rPr b="0" dirty="0" sz="1900">
                <a:solidFill>
                  <a:srgbClr val="000000"/>
                </a:solidFill>
              </a:rPr>
              <a:t> </a:t>
            </a:r>
            <a:r>
              <a:rPr b="0" dirty="0" err="1" sz="1900">
                <a:solidFill>
                  <a:srgbClr val="000000"/>
                </a:solidFill>
              </a:rPr>
              <a:t>soltanto</a:t>
            </a:r>
            <a:r>
              <a:rPr b="0" dirty="0" sz="1900">
                <a:solidFill>
                  <a:srgbClr val="000000"/>
                </a:solidFill>
              </a:rPr>
              <a:t> con </a:t>
            </a:r>
            <a:r>
              <a:rPr b="0" dirty="0" err="1" sz="1900">
                <a:solidFill>
                  <a:srgbClr val="000000"/>
                </a:solidFill>
              </a:rPr>
              <a:t>molta</a:t>
            </a:r>
            <a:r>
              <a:rPr b="0" dirty="0" sz="1900">
                <a:solidFill>
                  <a:srgbClr val="000000"/>
                </a:solidFill>
              </a:rPr>
              <a:t> </a:t>
            </a:r>
            <a:r>
              <a:rPr b="0" dirty="0" err="1" sz="1900">
                <a:solidFill>
                  <a:srgbClr val="000000"/>
                </a:solidFill>
              </a:rPr>
              <a:t>difficoltà</a:t>
            </a:r>
            <a:r>
              <a:rPr b="0" dirty="0" sz="1900">
                <a:solidFill>
                  <a:srgbClr val="000000"/>
                </a:solidFill>
              </a:rPr>
              <a:t> - </a:t>
            </a:r>
            <a:r>
              <a:rPr b="0" dirty="0" i="1" sz="1900">
                <a:solidFill>
                  <a:srgbClr val="000000"/>
                </a:solidFill>
              </a:rPr>
              <a:t>es: </a:t>
            </a:r>
            <a:r>
              <a:rPr b="0" dirty="0" err="1" i="1" sz="1900">
                <a:solidFill>
                  <a:srgbClr val="000000"/>
                </a:solidFill>
              </a:rPr>
              <a:t>aprire</a:t>
            </a:r>
            <a:r>
              <a:rPr b="0" dirty="0" i="1" sz="1900">
                <a:solidFill>
                  <a:srgbClr val="000000"/>
                </a:solidFill>
              </a:rPr>
              <a:t> una </a:t>
            </a:r>
            <a:r>
              <a:rPr b="0" dirty="0" err="1" i="1" sz="1900">
                <a:solidFill>
                  <a:srgbClr val="000000"/>
                </a:solidFill>
              </a:rPr>
              <a:t>bombola</a:t>
            </a:r>
            <a:r>
              <a:rPr b="0" dirty="0" i="1" sz="1900">
                <a:solidFill>
                  <a:srgbClr val="000000"/>
                </a:solidFill>
              </a:rPr>
              <a:t> di gas in modo da </a:t>
            </a:r>
            <a:r>
              <a:rPr b="0" dirty="0" err="1" i="1" sz="1900">
                <a:solidFill>
                  <a:srgbClr val="000000"/>
                </a:solidFill>
              </a:rPr>
              <a:t>farne</a:t>
            </a:r>
            <a:r>
              <a:rPr b="0" dirty="0" i="1" sz="1900">
                <a:solidFill>
                  <a:srgbClr val="000000"/>
                </a:solidFill>
              </a:rPr>
              <a:t> </a:t>
            </a:r>
            <a:r>
              <a:rPr b="0" dirty="0" err="1" i="1" sz="1900">
                <a:solidFill>
                  <a:srgbClr val="000000"/>
                </a:solidFill>
              </a:rPr>
              <a:t>fuoriuscire</a:t>
            </a:r>
            <a:r>
              <a:rPr b="0" dirty="0" i="1" sz="1900">
                <a:solidFill>
                  <a:srgbClr val="000000"/>
                </a:solidFill>
              </a:rPr>
              <a:t> </a:t>
            </a:r>
            <a:r>
              <a:rPr b="0" dirty="0" err="1" i="1" sz="1900">
                <a:solidFill>
                  <a:srgbClr val="000000"/>
                </a:solidFill>
              </a:rPr>
              <a:t>il</a:t>
            </a:r>
            <a:r>
              <a:rPr b="0" dirty="0" i="1" sz="1900">
                <a:solidFill>
                  <a:srgbClr val="000000"/>
                </a:solidFill>
              </a:rPr>
              <a:t> gas - </a:t>
            </a:r>
            <a:r>
              <a:rPr b="0" dirty="0" err="1" i="1" sz="1900">
                <a:solidFill>
                  <a:srgbClr val="000000"/>
                </a:solidFill>
              </a:rPr>
              <a:t>gettare</a:t>
            </a:r>
            <a:r>
              <a:rPr b="0" dirty="0" i="1" sz="1900">
                <a:solidFill>
                  <a:srgbClr val="000000"/>
                </a:solidFill>
              </a:rPr>
              <a:t> </a:t>
            </a:r>
            <a:r>
              <a:rPr b="0" dirty="0" err="1" i="1" sz="1900">
                <a:solidFill>
                  <a:srgbClr val="000000"/>
                </a:solidFill>
              </a:rPr>
              <a:t>degli</a:t>
            </a:r>
            <a:r>
              <a:rPr b="0" dirty="0" i="1" sz="1900">
                <a:solidFill>
                  <a:srgbClr val="000000"/>
                </a:solidFill>
              </a:rPr>
              <a:t> </a:t>
            </a:r>
            <a:r>
              <a:rPr b="0" dirty="0" err="1" i="1" sz="1900">
                <a:solidFill>
                  <a:srgbClr val="000000"/>
                </a:solidFill>
              </a:rPr>
              <a:t>oggetti</a:t>
            </a:r>
            <a:r>
              <a:rPr b="0" dirty="0" i="1" sz="1900">
                <a:solidFill>
                  <a:srgbClr val="000000"/>
                </a:solidFill>
              </a:rPr>
              <a:t> da un </a:t>
            </a:r>
            <a:r>
              <a:rPr b="0" dirty="0" err="1" i="1" sz="1900">
                <a:solidFill>
                  <a:srgbClr val="000000"/>
                </a:solidFill>
              </a:rPr>
              <a:t>treno</a:t>
            </a:r>
            <a:r>
              <a:rPr b="0" dirty="0" i="1" sz="1900">
                <a:solidFill>
                  <a:srgbClr val="000000"/>
                </a:solidFill>
              </a:rPr>
              <a:t> in </a:t>
            </a:r>
            <a:r>
              <a:rPr b="0" dirty="0" err="1" i="1" sz="1900">
                <a:solidFill>
                  <a:srgbClr val="000000"/>
                </a:solidFill>
              </a:rPr>
              <a:t>corsa</a:t>
            </a:r>
            <a:r>
              <a:rPr b="0" dirty="0" i="1" sz="1900">
                <a:solidFill>
                  <a:srgbClr val="000000"/>
                </a:solidFill>
              </a:rPr>
              <a:t>;</a:t>
            </a:r>
            <a:endParaRPr dirty="0" i="1" sz="1900"/>
          </a:p>
          <a:p>
            <a:pPr algn="just" indent="-182562" marL="182562">
              <a:lnSpc>
                <a:spcPct val="114000"/>
              </a:lnSpc>
              <a:spcBef>
                <a:spcPts val="600"/>
              </a:spcBef>
              <a:buSzPct val="100000"/>
              <a:buFont typeface="Arial"/>
              <a:buChar char="•"/>
              <a:defRPr sz="2000">
                <a:solidFill>
                  <a:srgbClr val="7030A0"/>
                </a:solidFill>
                <a:latin typeface="Times New Roman"/>
                <a:ea typeface="Times New Roman"/>
                <a:cs typeface="Times New Roman"/>
                <a:sym typeface="Times New Roman"/>
              </a:defRPr>
            </a:pPr>
            <a:r>
              <a:rPr dirty="0" sz="1900"/>
              <a:t>DETERIORARE</a:t>
            </a:r>
            <a:r>
              <a:rPr b="0" dirty="0" sz="1900">
                <a:solidFill>
                  <a:srgbClr val="000000"/>
                </a:solidFill>
              </a:rPr>
              <a:t>: </a:t>
            </a:r>
            <a:r>
              <a:rPr b="0" dirty="0" err="1" sz="1900">
                <a:solidFill>
                  <a:srgbClr val="000000"/>
                </a:solidFill>
              </a:rPr>
              <a:t>alterare</a:t>
            </a:r>
            <a:r>
              <a:rPr b="0" dirty="0" sz="1900">
                <a:solidFill>
                  <a:srgbClr val="000000"/>
                </a:solidFill>
              </a:rPr>
              <a:t> in </a:t>
            </a:r>
            <a:r>
              <a:rPr b="0" dirty="0" err="1" sz="1900">
                <a:solidFill>
                  <a:srgbClr val="000000"/>
                </a:solidFill>
              </a:rPr>
              <a:t>peggio</a:t>
            </a:r>
            <a:r>
              <a:rPr b="0" dirty="0" sz="1900">
                <a:solidFill>
                  <a:srgbClr val="000000"/>
                </a:solidFill>
              </a:rPr>
              <a:t> una </a:t>
            </a:r>
            <a:r>
              <a:rPr b="0" dirty="0" err="1" sz="1900">
                <a:solidFill>
                  <a:srgbClr val="000000"/>
                </a:solidFill>
              </a:rPr>
              <a:t>cosa</a:t>
            </a:r>
            <a:r>
              <a:rPr b="0" dirty="0" sz="1900">
                <a:solidFill>
                  <a:srgbClr val="000000"/>
                </a:solidFill>
              </a:rPr>
              <a:t>, in modo da </a:t>
            </a:r>
            <a:r>
              <a:rPr b="0" dirty="0" err="1" sz="1900">
                <a:solidFill>
                  <a:srgbClr val="000000"/>
                </a:solidFill>
              </a:rPr>
              <a:t>farne</a:t>
            </a:r>
            <a:r>
              <a:rPr b="0" dirty="0" sz="1900">
                <a:solidFill>
                  <a:srgbClr val="000000"/>
                </a:solidFill>
              </a:rPr>
              <a:t> </a:t>
            </a:r>
            <a:r>
              <a:rPr b="0" dirty="0" err="1" sz="1900">
                <a:solidFill>
                  <a:srgbClr val="000000"/>
                </a:solidFill>
              </a:rPr>
              <a:t>diminuire</a:t>
            </a:r>
            <a:r>
              <a:rPr b="0" dirty="0" sz="1900">
                <a:solidFill>
                  <a:srgbClr val="000000"/>
                </a:solidFill>
              </a:rPr>
              <a:t> </a:t>
            </a:r>
            <a:r>
              <a:rPr b="0" dirty="0" err="1" sz="1900">
                <a:solidFill>
                  <a:srgbClr val="000000"/>
                </a:solidFill>
              </a:rPr>
              <a:t>il</a:t>
            </a:r>
            <a:r>
              <a:rPr b="0" dirty="0" sz="1900">
                <a:solidFill>
                  <a:srgbClr val="000000"/>
                </a:solidFill>
              </a:rPr>
              <a:t> </a:t>
            </a:r>
            <a:r>
              <a:rPr b="0" dirty="0" err="1" sz="1900">
                <a:solidFill>
                  <a:srgbClr val="000000"/>
                </a:solidFill>
              </a:rPr>
              <a:t>valore</a:t>
            </a:r>
            <a:r>
              <a:rPr b="0" dirty="0" sz="1900">
                <a:solidFill>
                  <a:srgbClr val="000000"/>
                </a:solidFill>
              </a:rPr>
              <a:t> </a:t>
            </a:r>
            <a:r>
              <a:rPr b="0" dirty="0" i="1" sz="1900">
                <a:solidFill>
                  <a:srgbClr val="000000"/>
                </a:solidFill>
              </a:rPr>
              <a:t>- es: </a:t>
            </a:r>
            <a:r>
              <a:rPr b="0" dirty="0" err="1" i="1" sz="1900">
                <a:solidFill>
                  <a:srgbClr val="000000"/>
                </a:solidFill>
              </a:rPr>
              <a:t>imbruttimento</a:t>
            </a:r>
            <a:r>
              <a:rPr b="0" dirty="0" i="1" sz="1900">
                <a:solidFill>
                  <a:srgbClr val="000000"/>
                </a:solidFill>
              </a:rPr>
              <a:t> di un dipinto - </a:t>
            </a:r>
            <a:r>
              <a:rPr b="0" dirty="0" err="1" i="1" sz="1900">
                <a:solidFill>
                  <a:srgbClr val="000000"/>
                </a:solidFill>
              </a:rPr>
              <a:t>mutilazione</a:t>
            </a:r>
            <a:r>
              <a:rPr b="0" dirty="0" i="1" sz="1900">
                <a:solidFill>
                  <a:srgbClr val="000000"/>
                </a:solidFill>
              </a:rPr>
              <a:t> di una </a:t>
            </a:r>
            <a:r>
              <a:rPr b="0" dirty="0" err="1" i="1" sz="1900">
                <a:solidFill>
                  <a:srgbClr val="000000"/>
                </a:solidFill>
              </a:rPr>
              <a:t>statua</a:t>
            </a:r>
            <a:r>
              <a:rPr b="0" dirty="0" i="1" sz="1900">
                <a:solidFill>
                  <a:srgbClr val="000000"/>
                </a:solidFill>
              </a:rPr>
              <a:t>;</a:t>
            </a:r>
            <a:endParaRPr dirty="0" i="1" sz="1900"/>
          </a:p>
          <a:p>
            <a:pPr algn="just" indent="-182562" marL="182562">
              <a:lnSpc>
                <a:spcPct val="114000"/>
              </a:lnSpc>
              <a:spcBef>
                <a:spcPts val="1200"/>
              </a:spcBef>
              <a:buSzPct val="100000"/>
              <a:buFont typeface="Arial"/>
              <a:buChar char="•"/>
              <a:defRPr sz="2000">
                <a:solidFill>
                  <a:srgbClr val="7030A0"/>
                </a:solidFill>
                <a:latin typeface="Times New Roman"/>
                <a:ea typeface="Times New Roman"/>
                <a:cs typeface="Times New Roman"/>
                <a:sym typeface="Times New Roman"/>
              </a:defRPr>
            </a:pPr>
            <a:r>
              <a:rPr dirty="0" sz="1900"/>
              <a:t>RENDERE INSERVIBILE</a:t>
            </a:r>
            <a:r>
              <a:rPr b="0" dirty="0" sz="1900">
                <a:solidFill>
                  <a:srgbClr val="000000"/>
                </a:solidFill>
              </a:rPr>
              <a:t>: ossia </a:t>
            </a:r>
            <a:r>
              <a:rPr b="0" dirty="0" err="1" sz="1900">
                <a:solidFill>
                  <a:srgbClr val="000000"/>
                </a:solidFill>
              </a:rPr>
              <a:t>rendere</a:t>
            </a:r>
            <a:r>
              <a:rPr b="0" dirty="0" sz="1900">
                <a:solidFill>
                  <a:srgbClr val="000000"/>
                </a:solidFill>
              </a:rPr>
              <a:t> la </a:t>
            </a:r>
            <a:r>
              <a:rPr b="0" dirty="0" err="1" sz="1900">
                <a:solidFill>
                  <a:srgbClr val="000000"/>
                </a:solidFill>
              </a:rPr>
              <a:t>cosa</a:t>
            </a:r>
            <a:r>
              <a:rPr b="0" dirty="0" sz="1900">
                <a:solidFill>
                  <a:srgbClr val="000000"/>
                </a:solidFill>
              </a:rPr>
              <a:t> </a:t>
            </a:r>
            <a:r>
              <a:rPr b="0" dirty="0" err="1" sz="1900">
                <a:solidFill>
                  <a:srgbClr val="000000"/>
                </a:solidFill>
              </a:rPr>
              <a:t>inutilizzabile</a:t>
            </a:r>
            <a:r>
              <a:rPr b="0" dirty="0" sz="1900">
                <a:solidFill>
                  <a:srgbClr val="000000"/>
                </a:solidFill>
              </a:rPr>
              <a:t>, </a:t>
            </a:r>
            <a:r>
              <a:rPr b="0" dirty="0" err="1" sz="1900">
                <a:solidFill>
                  <a:srgbClr val="000000"/>
                </a:solidFill>
              </a:rPr>
              <a:t>totalmente</a:t>
            </a:r>
            <a:r>
              <a:rPr b="0" dirty="0" sz="1900">
                <a:solidFill>
                  <a:srgbClr val="000000"/>
                </a:solidFill>
              </a:rPr>
              <a:t> o </a:t>
            </a:r>
            <a:r>
              <a:rPr b="0" dirty="0" err="1" sz="1900">
                <a:solidFill>
                  <a:srgbClr val="000000"/>
                </a:solidFill>
              </a:rPr>
              <a:t>parzialmente</a:t>
            </a:r>
            <a:r>
              <a:rPr b="0" dirty="0" sz="1900">
                <a:solidFill>
                  <a:srgbClr val="000000"/>
                </a:solidFill>
              </a:rPr>
              <a:t>, in </a:t>
            </a:r>
            <a:r>
              <a:rPr b="0" dirty="0" err="1" sz="1900">
                <a:solidFill>
                  <a:srgbClr val="000000"/>
                </a:solidFill>
              </a:rPr>
              <a:t>rapporto</a:t>
            </a:r>
            <a:r>
              <a:rPr b="0" dirty="0" sz="1900">
                <a:solidFill>
                  <a:srgbClr val="000000"/>
                </a:solidFill>
              </a:rPr>
              <a:t> </a:t>
            </a:r>
            <a:r>
              <a:rPr b="0" dirty="0" err="1" sz="1900">
                <a:solidFill>
                  <a:srgbClr val="000000"/>
                </a:solidFill>
              </a:rPr>
              <a:t>alla</a:t>
            </a:r>
            <a:r>
              <a:rPr b="0" dirty="0" sz="1900">
                <a:solidFill>
                  <a:srgbClr val="000000"/>
                </a:solidFill>
              </a:rPr>
              <a:t> </a:t>
            </a:r>
            <a:r>
              <a:rPr b="0" dirty="0" err="1" sz="1900">
                <a:solidFill>
                  <a:srgbClr val="000000"/>
                </a:solidFill>
              </a:rPr>
              <a:t>sua</a:t>
            </a:r>
            <a:r>
              <a:rPr b="0" dirty="0" sz="1900">
                <a:solidFill>
                  <a:srgbClr val="000000"/>
                </a:solidFill>
              </a:rPr>
              <a:t> </a:t>
            </a:r>
            <a:r>
              <a:rPr b="0" dirty="0" err="1" sz="1900">
                <a:solidFill>
                  <a:srgbClr val="000000"/>
                </a:solidFill>
              </a:rPr>
              <a:t>originaria</a:t>
            </a:r>
            <a:r>
              <a:rPr b="0" dirty="0" sz="1900">
                <a:solidFill>
                  <a:srgbClr val="000000"/>
                </a:solidFill>
              </a:rPr>
              <a:t> </a:t>
            </a:r>
            <a:r>
              <a:rPr b="0" dirty="0" err="1" sz="1900">
                <a:solidFill>
                  <a:srgbClr val="000000"/>
                </a:solidFill>
              </a:rPr>
              <a:t>funzione</a:t>
            </a:r>
            <a:r>
              <a:rPr b="0" dirty="0" sz="1900">
                <a:solidFill>
                  <a:srgbClr val="000000"/>
                </a:solidFill>
              </a:rPr>
              <a:t> </a:t>
            </a:r>
            <a:r>
              <a:rPr b="0" dirty="0" err="1" sz="1900">
                <a:solidFill>
                  <a:srgbClr val="000000"/>
                </a:solidFill>
              </a:rPr>
              <a:t>strumentale</a:t>
            </a:r>
            <a:r>
              <a:rPr b="0" dirty="0" sz="1900">
                <a:solidFill>
                  <a:srgbClr val="000000"/>
                </a:solidFill>
              </a:rPr>
              <a:t>;</a:t>
            </a:r>
          </a:p>
        </p:txBody>
      </p:sp>
      <p:pic>
        <p:nvPicPr>
          <p:cNvPr descr="Immagine 6" id="424"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425"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Danneggiamento</a:t>
            </a: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 name="Rettangolo 4"/>
          <p:cNvSpPr txBox="1"/>
          <p:nvPr/>
        </p:nvSpPr>
        <p:spPr>
          <a:xfrm>
            <a:off x="182570" y="1237437"/>
            <a:ext cx="8736198" cy="42398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b="0" sz="2200">
                <a:latin typeface="Times New Roman"/>
                <a:ea typeface="Times New Roman"/>
                <a:cs typeface="Times New Roman"/>
                <a:sym typeface="Times New Roman"/>
              </a:defRPr>
            </a:pPr>
            <a:r>
              <a:rPr dirty="0" err="1"/>
              <a:t>Alla</a:t>
            </a:r>
            <a:r>
              <a:rPr dirty="0"/>
              <a:t> luce </a:t>
            </a:r>
            <a:r>
              <a:rPr dirty="0" err="1"/>
              <a:t>dei</a:t>
            </a:r>
            <a:r>
              <a:rPr dirty="0"/>
              <a:t> </a:t>
            </a:r>
            <a:r>
              <a:rPr dirty="0" err="1"/>
              <a:t>correttivi</a:t>
            </a:r>
            <a:r>
              <a:rPr dirty="0"/>
              <a:t> del 2016, </a:t>
            </a:r>
            <a:r>
              <a:rPr dirty="0" err="1"/>
              <a:t>il</a:t>
            </a:r>
            <a:r>
              <a:rPr dirty="0"/>
              <a:t> </a:t>
            </a:r>
            <a:r>
              <a:rPr dirty="0" err="1"/>
              <a:t>fatto</a:t>
            </a:r>
            <a:r>
              <a:rPr dirty="0"/>
              <a:t>, per </a:t>
            </a:r>
            <a:r>
              <a:rPr dirty="0" err="1"/>
              <a:t>avere</a:t>
            </a:r>
            <a:r>
              <a:rPr dirty="0"/>
              <a:t> </a:t>
            </a:r>
            <a:r>
              <a:rPr dirty="0" err="1"/>
              <a:t>rilevanza</a:t>
            </a:r>
            <a:r>
              <a:rPr dirty="0"/>
              <a:t> </a:t>
            </a:r>
            <a:r>
              <a:rPr dirty="0" err="1"/>
              <a:t>penale</a:t>
            </a:r>
            <a:r>
              <a:rPr dirty="0"/>
              <a:t>, </a:t>
            </a:r>
            <a:r>
              <a:rPr dirty="0" err="1"/>
              <a:t>deve</a:t>
            </a:r>
            <a:r>
              <a:rPr dirty="0"/>
              <a:t>:</a:t>
            </a:r>
          </a:p>
          <a:p>
            <a:pPr algn="just" indent="-342900" marL="342900">
              <a:lnSpc>
                <a:spcPct val="114000"/>
              </a:lnSpc>
              <a:spcBef>
                <a:spcPts val="1200"/>
              </a:spcBef>
              <a:buSzPct val="100000"/>
              <a:buFont typeface="Arial"/>
              <a:buChar char="•"/>
              <a:defRPr b="0" sz="2200">
                <a:latin typeface="Times New Roman"/>
                <a:ea typeface="Times New Roman"/>
                <a:cs typeface="Times New Roman"/>
                <a:sym typeface="Times New Roman"/>
              </a:defRPr>
            </a:pPr>
            <a:r>
              <a:rPr dirty="0" err="1"/>
              <a:t>essere</a:t>
            </a:r>
            <a:r>
              <a:rPr dirty="0"/>
              <a:t> </a:t>
            </a:r>
            <a:r>
              <a:rPr dirty="0" err="1"/>
              <a:t>commesso</a:t>
            </a:r>
            <a:r>
              <a:rPr dirty="0"/>
              <a:t> in </a:t>
            </a:r>
            <a:r>
              <a:rPr dirty="0" err="1"/>
              <a:t>primis</a:t>
            </a:r>
            <a:r>
              <a:rPr dirty="0"/>
              <a:t> </a:t>
            </a:r>
            <a:r>
              <a:rPr b="1" dirty="0">
                <a:solidFill>
                  <a:srgbClr val="7030A0"/>
                </a:solidFill>
              </a:rPr>
              <a:t>con </a:t>
            </a:r>
            <a:r>
              <a:rPr b="1" dirty="0" err="1">
                <a:solidFill>
                  <a:srgbClr val="7030A0"/>
                </a:solidFill>
              </a:rPr>
              <a:t>violenza</a:t>
            </a:r>
            <a:r>
              <a:rPr b="1" dirty="0">
                <a:solidFill>
                  <a:srgbClr val="7030A0"/>
                </a:solidFill>
              </a:rPr>
              <a:t> o </a:t>
            </a:r>
            <a:r>
              <a:rPr b="1" dirty="0" err="1">
                <a:solidFill>
                  <a:srgbClr val="7030A0"/>
                </a:solidFill>
              </a:rPr>
              <a:t>minaccia</a:t>
            </a:r>
            <a:r>
              <a:rPr b="1" dirty="0">
                <a:solidFill>
                  <a:srgbClr val="7030A0"/>
                </a:solidFill>
              </a:rPr>
              <a:t> </a:t>
            </a:r>
            <a:r>
              <a:rPr b="1" dirty="0" err="1">
                <a:solidFill>
                  <a:srgbClr val="7030A0"/>
                </a:solidFill>
              </a:rPr>
              <a:t>sulla</a:t>
            </a:r>
            <a:r>
              <a:rPr b="1" dirty="0">
                <a:solidFill>
                  <a:srgbClr val="7030A0"/>
                </a:solidFill>
              </a:rPr>
              <a:t> persona</a:t>
            </a:r>
            <a:r>
              <a:rPr dirty="0"/>
              <a:t>;</a:t>
            </a:r>
          </a:p>
          <a:p>
            <a:pPr algn="just" indent="-342900" marL="342900">
              <a:lnSpc>
                <a:spcPct val="114000"/>
              </a:lnSpc>
              <a:spcBef>
                <a:spcPts val="1200"/>
              </a:spcBef>
              <a:buSzPct val="100000"/>
              <a:buFont typeface="Arial"/>
              <a:buChar char="•"/>
              <a:defRPr sz="2200">
                <a:solidFill>
                  <a:srgbClr val="7030A0"/>
                </a:solidFill>
                <a:latin typeface="Times New Roman"/>
                <a:ea typeface="Times New Roman"/>
                <a:cs typeface="Times New Roman"/>
                <a:sym typeface="Times New Roman"/>
              </a:defRPr>
            </a:pPr>
            <a:r>
              <a:rPr dirty="0"/>
              <a:t>in </a:t>
            </a:r>
            <a:r>
              <a:rPr dirty="0" err="1"/>
              <a:t>occasione</a:t>
            </a:r>
            <a:r>
              <a:rPr dirty="0"/>
              <a:t> </a:t>
            </a:r>
            <a:r>
              <a:rPr dirty="0" err="1"/>
              <a:t>dello</a:t>
            </a:r>
            <a:r>
              <a:rPr dirty="0"/>
              <a:t> </a:t>
            </a:r>
            <a:r>
              <a:rPr dirty="0" err="1"/>
              <a:t>svolgimento</a:t>
            </a:r>
            <a:r>
              <a:rPr dirty="0"/>
              <a:t> di </a:t>
            </a:r>
            <a:r>
              <a:rPr dirty="0" err="1"/>
              <a:t>manifestazioni</a:t>
            </a:r>
            <a:r>
              <a:rPr dirty="0"/>
              <a:t> in </a:t>
            </a:r>
            <a:r>
              <a:rPr dirty="0" err="1"/>
              <a:t>luogo</a:t>
            </a:r>
            <a:r>
              <a:rPr dirty="0"/>
              <a:t> </a:t>
            </a:r>
            <a:r>
              <a:rPr dirty="0" err="1"/>
              <a:t>pubblico</a:t>
            </a:r>
            <a:r>
              <a:rPr dirty="0"/>
              <a:t> o </a:t>
            </a:r>
            <a:r>
              <a:rPr dirty="0" err="1"/>
              <a:t>aperto</a:t>
            </a:r>
            <a:r>
              <a:rPr dirty="0"/>
              <a:t> al </a:t>
            </a:r>
            <a:r>
              <a:rPr dirty="0" err="1"/>
              <a:t>pubblico</a:t>
            </a:r>
            <a:r>
              <a:rPr b="0" dirty="0">
                <a:solidFill>
                  <a:srgbClr val="000000"/>
                </a:solidFill>
              </a:rPr>
              <a:t>;</a:t>
            </a:r>
          </a:p>
          <a:p>
            <a:pPr algn="just" indent="-342900" marL="342900">
              <a:lnSpc>
                <a:spcPct val="114000"/>
              </a:lnSpc>
              <a:spcBef>
                <a:spcPts val="1200"/>
              </a:spcBef>
              <a:buSzPct val="100000"/>
              <a:buFont typeface="Arial"/>
              <a:buChar char="•"/>
              <a:defRPr sz="2200">
                <a:solidFill>
                  <a:srgbClr val="7030A0"/>
                </a:solidFill>
                <a:latin typeface="Times New Roman"/>
                <a:ea typeface="Times New Roman"/>
                <a:cs typeface="Times New Roman"/>
                <a:sym typeface="Times New Roman"/>
              </a:defRPr>
            </a:pPr>
            <a:r>
              <a:rPr dirty="0" err="1"/>
              <a:t>su</a:t>
            </a:r>
            <a:r>
              <a:rPr dirty="0"/>
              <a:t> </a:t>
            </a:r>
            <a:r>
              <a:rPr dirty="0" err="1"/>
              <a:t>edifici</a:t>
            </a:r>
            <a:r>
              <a:rPr dirty="0"/>
              <a:t> </a:t>
            </a:r>
            <a:r>
              <a:rPr dirty="0" err="1"/>
              <a:t>pubblici</a:t>
            </a:r>
            <a:r>
              <a:rPr dirty="0"/>
              <a:t> o </a:t>
            </a:r>
            <a:r>
              <a:rPr dirty="0" err="1"/>
              <a:t>destinati</a:t>
            </a:r>
            <a:r>
              <a:rPr dirty="0"/>
              <a:t> a </a:t>
            </a:r>
            <a:r>
              <a:rPr dirty="0" err="1"/>
              <a:t>uso</a:t>
            </a:r>
            <a:r>
              <a:rPr dirty="0"/>
              <a:t> </a:t>
            </a:r>
            <a:r>
              <a:rPr dirty="0" err="1"/>
              <a:t>pubblico</a:t>
            </a:r>
            <a:r>
              <a:rPr dirty="0"/>
              <a:t> o </a:t>
            </a:r>
            <a:r>
              <a:rPr dirty="0" err="1"/>
              <a:t>all'esercizio</a:t>
            </a:r>
            <a:r>
              <a:rPr dirty="0"/>
              <a:t> di </a:t>
            </a:r>
            <a:r>
              <a:rPr dirty="0" err="1"/>
              <a:t>culto</a:t>
            </a:r>
            <a:r>
              <a:rPr dirty="0"/>
              <a:t> o </a:t>
            </a:r>
            <a:r>
              <a:rPr dirty="0" err="1"/>
              <a:t>su</a:t>
            </a:r>
            <a:r>
              <a:rPr dirty="0"/>
              <a:t> </a:t>
            </a:r>
            <a:r>
              <a:rPr dirty="0" err="1"/>
              <a:t>cose</a:t>
            </a:r>
            <a:r>
              <a:rPr dirty="0"/>
              <a:t> di interesse </a:t>
            </a:r>
            <a:r>
              <a:rPr dirty="0" err="1"/>
              <a:t>storico-artistico</a:t>
            </a:r>
            <a:r>
              <a:rPr dirty="0"/>
              <a:t> o </a:t>
            </a:r>
            <a:r>
              <a:rPr dirty="0" err="1"/>
              <a:t>su</a:t>
            </a:r>
            <a:r>
              <a:rPr dirty="0"/>
              <a:t> </a:t>
            </a:r>
            <a:r>
              <a:rPr dirty="0" err="1"/>
              <a:t>immobili</a:t>
            </a:r>
            <a:r>
              <a:rPr dirty="0"/>
              <a:t> </a:t>
            </a:r>
            <a:r>
              <a:rPr dirty="0" err="1"/>
              <a:t>sia</a:t>
            </a:r>
            <a:r>
              <a:rPr dirty="0"/>
              <a:t> in </a:t>
            </a:r>
            <a:r>
              <a:rPr dirty="0" err="1"/>
              <a:t>costruzione</a:t>
            </a:r>
            <a:r>
              <a:rPr dirty="0"/>
              <a:t> </a:t>
            </a:r>
            <a:r>
              <a:rPr dirty="0" err="1"/>
              <a:t>che</a:t>
            </a:r>
            <a:r>
              <a:rPr dirty="0"/>
              <a:t> in </a:t>
            </a:r>
            <a:r>
              <a:rPr dirty="0" err="1"/>
              <a:t>ristrutturazione</a:t>
            </a:r>
            <a:r>
              <a:rPr dirty="0"/>
              <a:t> </a:t>
            </a:r>
            <a:r>
              <a:rPr b="0" dirty="0">
                <a:solidFill>
                  <a:srgbClr val="000000"/>
                </a:solidFill>
              </a:rPr>
              <a:t>o </a:t>
            </a:r>
            <a:r>
              <a:rPr b="0" dirty="0" err="1">
                <a:solidFill>
                  <a:srgbClr val="000000"/>
                </a:solidFill>
              </a:rPr>
              <a:t>su</a:t>
            </a:r>
            <a:r>
              <a:rPr b="0" dirty="0">
                <a:solidFill>
                  <a:srgbClr val="000000"/>
                </a:solidFill>
              </a:rPr>
              <a:t> </a:t>
            </a:r>
            <a:r>
              <a:rPr b="0" dirty="0" err="1">
                <a:solidFill>
                  <a:srgbClr val="000000"/>
                </a:solidFill>
              </a:rPr>
              <a:t>altre</a:t>
            </a:r>
            <a:r>
              <a:rPr b="0" dirty="0">
                <a:solidFill>
                  <a:srgbClr val="000000"/>
                </a:solidFill>
              </a:rPr>
              <a:t> </a:t>
            </a:r>
            <a:r>
              <a:rPr b="0" dirty="0" err="1">
                <a:solidFill>
                  <a:srgbClr val="000000"/>
                </a:solidFill>
              </a:rPr>
              <a:t>delle</a:t>
            </a:r>
            <a:r>
              <a:rPr b="0" dirty="0">
                <a:solidFill>
                  <a:srgbClr val="000000"/>
                </a:solidFill>
              </a:rPr>
              <a:t> </a:t>
            </a:r>
            <a:r>
              <a:rPr b="0" dirty="0" err="1">
                <a:solidFill>
                  <a:srgbClr val="000000"/>
                </a:solidFill>
              </a:rPr>
              <a:t>cose</a:t>
            </a:r>
            <a:r>
              <a:rPr b="0" dirty="0">
                <a:solidFill>
                  <a:srgbClr val="000000"/>
                </a:solidFill>
              </a:rPr>
              <a:t> indicate </a:t>
            </a:r>
            <a:r>
              <a:rPr b="0" dirty="0" err="1">
                <a:solidFill>
                  <a:srgbClr val="000000"/>
                </a:solidFill>
              </a:rPr>
              <a:t>nel</a:t>
            </a:r>
            <a:r>
              <a:rPr b="0" dirty="0">
                <a:solidFill>
                  <a:srgbClr val="000000"/>
                </a:solidFill>
              </a:rPr>
              <a:t> </a:t>
            </a:r>
            <a:r>
              <a:rPr b="0" dirty="0" err="1">
                <a:solidFill>
                  <a:srgbClr val="000000"/>
                </a:solidFill>
              </a:rPr>
              <a:t>numero</a:t>
            </a:r>
            <a:r>
              <a:rPr b="0" dirty="0">
                <a:solidFill>
                  <a:srgbClr val="000000"/>
                </a:solidFill>
              </a:rPr>
              <a:t> 7 </a:t>
            </a:r>
            <a:r>
              <a:rPr b="0" dirty="0" err="1">
                <a:solidFill>
                  <a:srgbClr val="000000"/>
                </a:solidFill>
              </a:rPr>
              <a:t>dell'articolo</a:t>
            </a:r>
            <a:r>
              <a:rPr b="0" dirty="0">
                <a:solidFill>
                  <a:srgbClr val="000000"/>
                </a:solidFill>
              </a:rPr>
              <a:t> 625 </a:t>
            </a:r>
            <a:r>
              <a:rPr b="0" dirty="0" err="1">
                <a:solidFill>
                  <a:srgbClr val="000000"/>
                </a:solidFill>
              </a:rPr>
              <a:t>c.p.</a:t>
            </a:r>
            <a:r>
              <a:rPr b="0" dirty="0">
                <a:solidFill>
                  <a:srgbClr val="000000"/>
                </a:solidFill>
              </a:rPr>
              <a:t> (</a:t>
            </a:r>
            <a:r>
              <a:rPr b="0" dirty="0" err="1">
                <a:solidFill>
                  <a:srgbClr val="000000"/>
                </a:solidFill>
              </a:rPr>
              <a:t>cose</a:t>
            </a:r>
            <a:r>
              <a:rPr b="0" dirty="0">
                <a:solidFill>
                  <a:srgbClr val="000000"/>
                </a:solidFill>
              </a:rPr>
              <a:t> </a:t>
            </a:r>
            <a:r>
              <a:rPr b="0" dirty="0" err="1">
                <a:solidFill>
                  <a:srgbClr val="000000"/>
                </a:solidFill>
              </a:rPr>
              <a:t>esistenti</a:t>
            </a:r>
            <a:r>
              <a:rPr b="0" dirty="0">
                <a:solidFill>
                  <a:srgbClr val="000000"/>
                </a:solidFill>
              </a:rPr>
              <a:t> in </a:t>
            </a:r>
            <a:r>
              <a:rPr b="0" dirty="0" err="1">
                <a:solidFill>
                  <a:srgbClr val="000000"/>
                </a:solidFill>
              </a:rPr>
              <a:t>uffici</a:t>
            </a:r>
            <a:r>
              <a:rPr b="0" dirty="0">
                <a:solidFill>
                  <a:srgbClr val="000000"/>
                </a:solidFill>
              </a:rPr>
              <a:t> o </a:t>
            </a:r>
            <a:r>
              <a:rPr b="0" dirty="0" err="1">
                <a:solidFill>
                  <a:srgbClr val="000000"/>
                </a:solidFill>
              </a:rPr>
              <a:t>stabilimenti</a:t>
            </a:r>
            <a:r>
              <a:rPr b="0" dirty="0">
                <a:solidFill>
                  <a:srgbClr val="000000"/>
                </a:solidFill>
              </a:rPr>
              <a:t> </a:t>
            </a:r>
            <a:r>
              <a:rPr b="0" dirty="0" err="1">
                <a:solidFill>
                  <a:srgbClr val="000000"/>
                </a:solidFill>
              </a:rPr>
              <a:t>pubblici</a:t>
            </a:r>
            <a:r>
              <a:rPr b="0" dirty="0">
                <a:solidFill>
                  <a:srgbClr val="000000"/>
                </a:solidFill>
              </a:rPr>
              <a:t>, </a:t>
            </a:r>
            <a:r>
              <a:rPr b="0" dirty="0" err="1">
                <a:solidFill>
                  <a:srgbClr val="000000"/>
                </a:solidFill>
              </a:rPr>
              <a:t>cose</a:t>
            </a:r>
            <a:r>
              <a:rPr b="0" dirty="0">
                <a:solidFill>
                  <a:srgbClr val="000000"/>
                </a:solidFill>
              </a:rPr>
              <a:t> </a:t>
            </a:r>
            <a:r>
              <a:rPr b="0" dirty="0" err="1">
                <a:solidFill>
                  <a:srgbClr val="000000"/>
                </a:solidFill>
              </a:rPr>
              <a:t>sottoposte</a:t>
            </a:r>
            <a:r>
              <a:rPr b="0" dirty="0">
                <a:solidFill>
                  <a:srgbClr val="000000"/>
                </a:solidFill>
              </a:rPr>
              <a:t> a </a:t>
            </a:r>
            <a:r>
              <a:rPr b="0" dirty="0" err="1">
                <a:solidFill>
                  <a:srgbClr val="000000"/>
                </a:solidFill>
              </a:rPr>
              <a:t>sequestro</a:t>
            </a:r>
            <a:r>
              <a:rPr b="0" dirty="0">
                <a:solidFill>
                  <a:srgbClr val="000000"/>
                </a:solidFill>
              </a:rPr>
              <a:t> o </a:t>
            </a:r>
            <a:r>
              <a:rPr b="0" dirty="0" err="1">
                <a:solidFill>
                  <a:srgbClr val="000000"/>
                </a:solidFill>
              </a:rPr>
              <a:t>pignoramento</a:t>
            </a:r>
            <a:r>
              <a:rPr b="0" dirty="0">
                <a:solidFill>
                  <a:srgbClr val="000000"/>
                </a:solidFill>
              </a:rPr>
              <a:t>; </a:t>
            </a:r>
            <a:r>
              <a:rPr b="0" dirty="0" err="1">
                <a:solidFill>
                  <a:srgbClr val="000000"/>
                </a:solidFill>
              </a:rPr>
              <a:t>cose</a:t>
            </a:r>
            <a:r>
              <a:rPr b="0" dirty="0">
                <a:solidFill>
                  <a:srgbClr val="000000"/>
                </a:solidFill>
              </a:rPr>
              <a:t> </a:t>
            </a:r>
            <a:r>
              <a:rPr b="0" dirty="0" err="1">
                <a:solidFill>
                  <a:srgbClr val="000000"/>
                </a:solidFill>
              </a:rPr>
              <a:t>esposte</a:t>
            </a:r>
            <a:r>
              <a:rPr b="0" dirty="0">
                <a:solidFill>
                  <a:srgbClr val="000000"/>
                </a:solidFill>
              </a:rPr>
              <a:t> </a:t>
            </a:r>
            <a:r>
              <a:rPr b="0" dirty="0" err="1">
                <a:solidFill>
                  <a:srgbClr val="000000"/>
                </a:solidFill>
              </a:rPr>
              <a:t>alla</a:t>
            </a:r>
            <a:r>
              <a:rPr b="0" dirty="0">
                <a:solidFill>
                  <a:srgbClr val="000000"/>
                </a:solidFill>
              </a:rPr>
              <a:t> </a:t>
            </a:r>
            <a:r>
              <a:rPr b="0" dirty="0" err="1">
                <a:solidFill>
                  <a:srgbClr val="000000"/>
                </a:solidFill>
              </a:rPr>
              <a:t>pubblica</a:t>
            </a:r>
            <a:r>
              <a:rPr b="0" dirty="0">
                <a:solidFill>
                  <a:srgbClr val="000000"/>
                </a:solidFill>
              </a:rPr>
              <a:t> </a:t>
            </a:r>
            <a:r>
              <a:rPr b="0" dirty="0" err="1">
                <a:solidFill>
                  <a:srgbClr val="000000"/>
                </a:solidFill>
              </a:rPr>
              <a:t>fede</a:t>
            </a:r>
            <a:r>
              <a:rPr b="0" dirty="0">
                <a:solidFill>
                  <a:srgbClr val="000000"/>
                </a:solidFill>
              </a:rPr>
              <a:t>, </a:t>
            </a:r>
            <a:r>
              <a:rPr b="0" dirty="0" err="1">
                <a:solidFill>
                  <a:srgbClr val="000000"/>
                </a:solidFill>
              </a:rPr>
              <a:t>cose</a:t>
            </a:r>
            <a:r>
              <a:rPr b="0" dirty="0">
                <a:solidFill>
                  <a:srgbClr val="000000"/>
                </a:solidFill>
              </a:rPr>
              <a:t> </a:t>
            </a:r>
            <a:r>
              <a:rPr b="0" dirty="0" err="1">
                <a:solidFill>
                  <a:srgbClr val="000000"/>
                </a:solidFill>
              </a:rPr>
              <a:t>destinate</a:t>
            </a:r>
            <a:r>
              <a:rPr b="0" dirty="0">
                <a:solidFill>
                  <a:srgbClr val="000000"/>
                </a:solidFill>
              </a:rPr>
              <a:t> a </a:t>
            </a:r>
            <a:r>
              <a:rPr b="0" dirty="0" err="1">
                <a:solidFill>
                  <a:srgbClr val="000000"/>
                </a:solidFill>
              </a:rPr>
              <a:t>pubblico</a:t>
            </a:r>
            <a:r>
              <a:rPr b="0" dirty="0">
                <a:solidFill>
                  <a:srgbClr val="000000"/>
                </a:solidFill>
              </a:rPr>
              <a:t> </a:t>
            </a:r>
            <a:r>
              <a:rPr b="0" dirty="0" err="1">
                <a:solidFill>
                  <a:srgbClr val="000000"/>
                </a:solidFill>
              </a:rPr>
              <a:t>servizio</a:t>
            </a:r>
            <a:r>
              <a:rPr b="0" dirty="0">
                <a:solidFill>
                  <a:srgbClr val="000000"/>
                </a:solidFill>
              </a:rPr>
              <a:t> o a </a:t>
            </a:r>
            <a:r>
              <a:rPr b="0" dirty="0" err="1">
                <a:solidFill>
                  <a:srgbClr val="000000"/>
                </a:solidFill>
              </a:rPr>
              <a:t>pubblica</a:t>
            </a:r>
            <a:r>
              <a:rPr b="0" dirty="0">
                <a:solidFill>
                  <a:srgbClr val="000000"/>
                </a:solidFill>
              </a:rPr>
              <a:t> </a:t>
            </a:r>
            <a:r>
              <a:rPr b="0" dirty="0" err="1">
                <a:solidFill>
                  <a:srgbClr val="000000"/>
                </a:solidFill>
              </a:rPr>
              <a:t>utilità</a:t>
            </a:r>
            <a:r>
              <a:rPr b="0" dirty="0">
                <a:solidFill>
                  <a:srgbClr val="000000"/>
                </a:solidFill>
              </a:rPr>
              <a:t>, </a:t>
            </a:r>
            <a:r>
              <a:rPr b="0" dirty="0" err="1">
                <a:solidFill>
                  <a:srgbClr val="000000"/>
                </a:solidFill>
              </a:rPr>
              <a:t>difesa</a:t>
            </a:r>
            <a:r>
              <a:rPr b="0" dirty="0">
                <a:solidFill>
                  <a:srgbClr val="000000"/>
                </a:solidFill>
              </a:rPr>
              <a:t> o </a:t>
            </a:r>
            <a:r>
              <a:rPr b="0" dirty="0" err="1">
                <a:solidFill>
                  <a:srgbClr val="000000"/>
                </a:solidFill>
              </a:rPr>
              <a:t>reverenza</a:t>
            </a:r>
            <a:r>
              <a:rPr b="0" dirty="0">
                <a:solidFill>
                  <a:srgbClr val="000000"/>
                </a:solidFill>
              </a:rPr>
              <a:t>).</a:t>
            </a:r>
          </a:p>
        </p:txBody>
      </p:sp>
      <p:pic>
        <p:nvPicPr>
          <p:cNvPr descr="Immagine 6" id="428"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429"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Danneggiamento</a:t>
            </a:r>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 name="Rettangolo 4"/>
          <p:cNvSpPr txBox="1"/>
          <p:nvPr/>
        </p:nvSpPr>
        <p:spPr>
          <a:xfrm>
            <a:off x="82231" y="984977"/>
            <a:ext cx="9052561" cy="50718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sz="2200" u="sng">
                <a:latin typeface="Times New Roman"/>
                <a:ea typeface="Times New Roman"/>
                <a:cs typeface="Times New Roman"/>
                <a:sym typeface="Times New Roman"/>
              </a:defRPr>
            </a:pPr>
            <a:r>
              <a:t>ELEMENTO SOGGETTIVO</a:t>
            </a:r>
            <a:r>
              <a:rPr u="none"/>
              <a:t> </a:t>
            </a:r>
            <a:r>
              <a:rPr b="0" u="none"/>
              <a:t>è il </a:t>
            </a:r>
            <a:r>
              <a:rPr u="none">
                <a:solidFill>
                  <a:srgbClr val="7030A0"/>
                </a:solidFill>
              </a:rPr>
              <a:t>DOLO GENERICO</a:t>
            </a:r>
            <a:r>
              <a:rPr b="0" u="none"/>
              <a:t>, venendo in rilievo la coscienza e la volontà di distruggere, disperdere, deteriorare, o rendere inservibile (in tutto o in parte) la cosa altrui con la consapevolezza dell’altruità della cosa senza avere un preciso fine. </a:t>
            </a:r>
          </a:p>
          <a:p>
            <a:pPr algn="just">
              <a:lnSpc>
                <a:spcPct val="114000"/>
              </a:lnSpc>
              <a:spcBef>
                <a:spcPts val="1200"/>
              </a:spcBef>
              <a:defRPr sz="2200" u="sng">
                <a:latin typeface="Times New Roman"/>
                <a:ea typeface="Times New Roman"/>
                <a:cs typeface="Times New Roman"/>
                <a:sym typeface="Times New Roman"/>
              </a:defRPr>
            </a:pPr>
            <a:endParaRPr b="0" u="none"/>
          </a:p>
          <a:p>
            <a:pPr algn="just">
              <a:lnSpc>
                <a:spcPct val="114000"/>
              </a:lnSpc>
              <a:spcBef>
                <a:spcPts val="1200"/>
              </a:spcBef>
              <a:defRPr b="0" sz="2200">
                <a:latin typeface="Times New Roman"/>
                <a:ea typeface="Times New Roman"/>
                <a:cs typeface="Times New Roman"/>
                <a:sym typeface="Times New Roman"/>
              </a:defRPr>
            </a:pPr>
            <a:r>
              <a:t>Il delitto si consuma nel momento in cui </a:t>
            </a:r>
            <a:r>
              <a:rPr b="1">
                <a:solidFill>
                  <a:srgbClr val="7030A0"/>
                </a:solidFill>
              </a:rPr>
              <a:t>si verifica l’effetto dannoso </a:t>
            </a:r>
            <a:r>
              <a:t>collegato ad una delle azioni indicate.</a:t>
            </a:r>
          </a:p>
          <a:p>
            <a:pPr algn="just">
              <a:lnSpc>
                <a:spcPct val="114000"/>
              </a:lnSpc>
              <a:spcBef>
                <a:spcPts val="1200"/>
              </a:spcBef>
              <a:defRPr b="0" sz="2200">
                <a:latin typeface="Times New Roman"/>
                <a:ea typeface="Times New Roman"/>
                <a:cs typeface="Times New Roman"/>
                <a:sym typeface="Times New Roman"/>
              </a:defRPr>
            </a:pPr>
            <a:endParaRPr/>
          </a:p>
          <a:p>
            <a:pPr algn="just">
              <a:lnSpc>
                <a:spcPct val="114000"/>
              </a:lnSpc>
              <a:spcBef>
                <a:spcPts val="1200"/>
              </a:spcBef>
              <a:defRPr b="0" sz="2200">
                <a:latin typeface="Times New Roman"/>
                <a:ea typeface="Times New Roman"/>
                <a:cs typeface="Times New Roman"/>
                <a:sym typeface="Times New Roman"/>
              </a:defRPr>
            </a:pPr>
            <a:endParaRPr/>
          </a:p>
          <a:p>
            <a:pPr algn="just">
              <a:lnSpc>
                <a:spcPct val="114000"/>
              </a:lnSpc>
              <a:spcBef>
                <a:spcPts val="1200"/>
              </a:spcBef>
              <a:defRPr b="0" sz="2200">
                <a:latin typeface="Times New Roman"/>
                <a:ea typeface="Times New Roman"/>
                <a:cs typeface="Times New Roman"/>
                <a:sym typeface="Times New Roman"/>
              </a:defRPr>
            </a:pPr>
            <a:endParaRPr/>
          </a:p>
          <a:p>
            <a:pPr algn="just">
              <a:lnSpc>
                <a:spcPct val="114000"/>
              </a:lnSpc>
              <a:spcBef>
                <a:spcPts val="1200"/>
              </a:spcBef>
              <a:defRPr b="0" sz="2200">
                <a:latin typeface="Times New Roman"/>
                <a:ea typeface="Times New Roman"/>
                <a:cs typeface="Times New Roman"/>
                <a:sym typeface="Times New Roman"/>
              </a:defRPr>
            </a:pPr>
            <a:r>
              <a:t>Il tentativo è configurabile.</a:t>
            </a:r>
          </a:p>
        </p:txBody>
      </p:sp>
      <p:pic>
        <p:nvPicPr>
          <p:cNvPr descr="Immagine 6" id="432"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433"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Danneggiamento</a:t>
            </a:r>
          </a:p>
        </p:txBody>
      </p:sp>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 name="CasellaDiTesto 1"/>
          <p:cNvSpPr txBox="1"/>
          <p:nvPr/>
        </p:nvSpPr>
        <p:spPr>
          <a:xfrm>
            <a:off x="229859" y="764703"/>
            <a:ext cx="8684281" cy="58925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indent="-1797050" marL="1797050">
              <a:lnSpc>
                <a:spcPct val="114000"/>
              </a:lnSpc>
              <a:spcBef>
                <a:spcPts val="600"/>
              </a:spcBef>
              <a:defRPr sz="2400">
                <a:solidFill>
                  <a:srgbClr val="A22E8C"/>
                </a:solidFill>
                <a:latin typeface="Book Antiqua"/>
                <a:ea typeface="Book Antiqua"/>
                <a:cs typeface="Book Antiqua"/>
                <a:sym typeface="Book Antiqua"/>
              </a:defRPr>
            </a:pPr>
            <a:r>
              <a:rPr dirty="0"/>
              <a:t>Art. 644 </a:t>
            </a:r>
            <a:r>
              <a:rPr dirty="0" err="1"/>
              <a:t>c.p.</a:t>
            </a:r>
            <a:r>
              <a:rPr dirty="0"/>
              <a:t> </a:t>
            </a:r>
            <a:r>
              <a:rPr dirty="0" err="1"/>
              <a:t>Usura</a:t>
            </a:r>
            <a:endParaRPr dirty="0">
              <a:latin typeface="Times New Roman"/>
              <a:ea typeface="Times New Roman"/>
              <a:cs typeface="Times New Roman"/>
              <a:sym typeface="Times New Roman"/>
            </a:endParaRPr>
          </a:p>
          <a:p>
            <a:pPr algn="just">
              <a:lnSpc>
                <a:spcPct val="114000"/>
              </a:lnSpc>
              <a:spcBef>
                <a:spcPts val="600"/>
              </a:spcBef>
              <a:defRPr b="0" sz="2200">
                <a:latin typeface="Book Antiqua"/>
                <a:ea typeface="Book Antiqua"/>
                <a:cs typeface="Book Antiqua"/>
                <a:sym typeface="Book Antiqua"/>
              </a:defRPr>
            </a:pPr>
            <a:r>
              <a:rPr dirty="0"/>
              <a:t>«</a:t>
            </a:r>
            <a:r>
              <a:rPr dirty="0" err="1" i="1"/>
              <a:t>Chiunque</a:t>
            </a:r>
            <a:r>
              <a:rPr dirty="0" i="1"/>
              <a:t>, </a:t>
            </a:r>
            <a:r>
              <a:rPr dirty="0" err="1" i="1"/>
              <a:t>fuori</a:t>
            </a:r>
            <a:r>
              <a:rPr dirty="0" i="1"/>
              <a:t> </a:t>
            </a:r>
            <a:r>
              <a:rPr dirty="0" err="1" i="1"/>
              <a:t>dei</a:t>
            </a:r>
            <a:r>
              <a:rPr dirty="0" i="1"/>
              <a:t> </a:t>
            </a:r>
            <a:r>
              <a:rPr dirty="0" err="1" i="1"/>
              <a:t>casi</a:t>
            </a:r>
            <a:r>
              <a:rPr dirty="0" i="1"/>
              <a:t> </a:t>
            </a:r>
            <a:r>
              <a:rPr dirty="0" err="1" i="1"/>
              <a:t>previsti</a:t>
            </a:r>
            <a:r>
              <a:rPr dirty="0" i="1"/>
              <a:t> </a:t>
            </a:r>
            <a:r>
              <a:rPr dirty="0" err="1" i="1"/>
              <a:t>dall'articolo</a:t>
            </a:r>
            <a:r>
              <a:rPr dirty="0" i="1"/>
              <a:t> 643</a:t>
            </a:r>
            <a:r>
              <a:rPr altLang="it-IT" dirty="0" i="1" lang="it-IT"/>
              <a:t>,</a:t>
            </a:r>
            <a:r>
              <a:rPr dirty="0" i="1"/>
              <a:t> </a:t>
            </a:r>
            <a:r>
              <a:rPr b="1" dirty="0" err="1" i="1">
                <a:solidFill>
                  <a:srgbClr val="A22E8C"/>
                </a:solidFill>
              </a:rPr>
              <a:t>si</a:t>
            </a:r>
            <a:r>
              <a:rPr b="1" dirty="0" i="1">
                <a:solidFill>
                  <a:srgbClr val="A22E8C"/>
                </a:solidFill>
              </a:rPr>
              <a:t> fa dare o </a:t>
            </a:r>
            <a:r>
              <a:rPr b="1" dirty="0" err="1" i="1">
                <a:solidFill>
                  <a:srgbClr val="A22E8C"/>
                </a:solidFill>
              </a:rPr>
              <a:t>promettere</a:t>
            </a:r>
            <a:r>
              <a:rPr dirty="0" i="1"/>
              <a:t>, sotto </a:t>
            </a:r>
            <a:r>
              <a:rPr dirty="0" err="1" i="1"/>
              <a:t>qualsiasi</a:t>
            </a:r>
            <a:r>
              <a:rPr dirty="0" i="1"/>
              <a:t> forma, per </a:t>
            </a:r>
            <a:r>
              <a:rPr dirty="0" err="1" i="1"/>
              <a:t>sé</a:t>
            </a:r>
            <a:r>
              <a:rPr dirty="0" i="1"/>
              <a:t> o per </a:t>
            </a:r>
            <a:r>
              <a:rPr dirty="0" err="1" i="1"/>
              <a:t>altri</a:t>
            </a:r>
            <a:r>
              <a:rPr dirty="0" i="1"/>
              <a:t>, </a:t>
            </a:r>
            <a:r>
              <a:rPr b="1" dirty="0" i="1">
                <a:solidFill>
                  <a:srgbClr val="A22E8C"/>
                </a:solidFill>
              </a:rPr>
              <a:t>in </a:t>
            </a:r>
            <a:r>
              <a:rPr b="1" dirty="0" err="1" i="1">
                <a:solidFill>
                  <a:srgbClr val="A22E8C"/>
                </a:solidFill>
              </a:rPr>
              <a:t>corrispettivo</a:t>
            </a:r>
            <a:r>
              <a:rPr b="1" dirty="0" i="1">
                <a:solidFill>
                  <a:srgbClr val="A22E8C"/>
                </a:solidFill>
              </a:rPr>
              <a:t> di una </a:t>
            </a:r>
            <a:r>
              <a:rPr b="1" dirty="0" err="1" i="1">
                <a:solidFill>
                  <a:srgbClr val="A22E8C"/>
                </a:solidFill>
              </a:rPr>
              <a:t>prestazione</a:t>
            </a:r>
            <a:r>
              <a:rPr b="1" dirty="0" i="1">
                <a:solidFill>
                  <a:srgbClr val="A22E8C"/>
                </a:solidFill>
              </a:rPr>
              <a:t> di </a:t>
            </a:r>
            <a:r>
              <a:rPr b="1" dirty="0" err="1" i="1">
                <a:solidFill>
                  <a:srgbClr val="A22E8C"/>
                </a:solidFill>
              </a:rPr>
              <a:t>denaro</a:t>
            </a:r>
            <a:r>
              <a:rPr b="1" dirty="0" i="1">
                <a:solidFill>
                  <a:srgbClr val="A22E8C"/>
                </a:solidFill>
              </a:rPr>
              <a:t> o di </a:t>
            </a:r>
            <a:r>
              <a:rPr b="1" dirty="0" err="1" i="1">
                <a:solidFill>
                  <a:srgbClr val="A22E8C"/>
                </a:solidFill>
              </a:rPr>
              <a:t>altra</a:t>
            </a:r>
            <a:r>
              <a:rPr b="1" dirty="0" i="1">
                <a:solidFill>
                  <a:srgbClr val="A22E8C"/>
                </a:solidFill>
              </a:rPr>
              <a:t> </a:t>
            </a:r>
            <a:r>
              <a:rPr b="1" dirty="0" err="1" i="1">
                <a:solidFill>
                  <a:srgbClr val="A22E8C"/>
                </a:solidFill>
              </a:rPr>
              <a:t>utilità</a:t>
            </a:r>
            <a:r>
              <a:rPr b="1" dirty="0" i="1">
                <a:solidFill>
                  <a:srgbClr val="A22E8C"/>
                </a:solidFill>
              </a:rPr>
              <a:t>, </a:t>
            </a:r>
            <a:r>
              <a:rPr b="1" dirty="0" err="1" i="1">
                <a:solidFill>
                  <a:srgbClr val="A22E8C"/>
                </a:solidFill>
              </a:rPr>
              <a:t>interessi</a:t>
            </a:r>
            <a:r>
              <a:rPr b="1" dirty="0" i="1">
                <a:solidFill>
                  <a:srgbClr val="A22E8C"/>
                </a:solidFill>
              </a:rPr>
              <a:t> o </a:t>
            </a:r>
            <a:r>
              <a:rPr b="1" dirty="0" err="1" i="1">
                <a:solidFill>
                  <a:srgbClr val="A22E8C"/>
                </a:solidFill>
              </a:rPr>
              <a:t>altri</a:t>
            </a:r>
            <a:r>
              <a:rPr b="1" dirty="0" i="1">
                <a:solidFill>
                  <a:srgbClr val="A22E8C"/>
                </a:solidFill>
              </a:rPr>
              <a:t> </a:t>
            </a:r>
            <a:r>
              <a:rPr b="1" dirty="0" err="1" i="1">
                <a:solidFill>
                  <a:srgbClr val="A22E8C"/>
                </a:solidFill>
              </a:rPr>
              <a:t>vantaggi</a:t>
            </a:r>
            <a:r>
              <a:rPr b="1" dirty="0" i="1">
                <a:solidFill>
                  <a:srgbClr val="A22E8C"/>
                </a:solidFill>
              </a:rPr>
              <a:t> </a:t>
            </a:r>
            <a:r>
              <a:rPr b="1" dirty="0" err="1" i="1">
                <a:solidFill>
                  <a:srgbClr val="A22E8C"/>
                </a:solidFill>
              </a:rPr>
              <a:t>usurari</a:t>
            </a:r>
            <a:r>
              <a:rPr dirty="0" i="1"/>
              <a:t>, è </a:t>
            </a:r>
            <a:r>
              <a:rPr dirty="0" err="1" i="1"/>
              <a:t>punito</a:t>
            </a:r>
            <a:r>
              <a:rPr dirty="0" i="1"/>
              <a:t> con la </a:t>
            </a:r>
            <a:r>
              <a:rPr dirty="0" err="1" i="1"/>
              <a:t>reclusione</a:t>
            </a:r>
            <a:r>
              <a:rPr dirty="0" i="1"/>
              <a:t> da due a </a:t>
            </a:r>
            <a:r>
              <a:rPr dirty="0" err="1" i="1"/>
              <a:t>dieci</a:t>
            </a:r>
            <a:r>
              <a:rPr dirty="0" i="1"/>
              <a:t> </a:t>
            </a:r>
            <a:r>
              <a:rPr dirty="0" err="1" i="1"/>
              <a:t>anni</a:t>
            </a:r>
            <a:r>
              <a:rPr dirty="0" i="1"/>
              <a:t> e con la </a:t>
            </a:r>
            <a:r>
              <a:rPr dirty="0" err="1" i="1"/>
              <a:t>multa</a:t>
            </a:r>
            <a:r>
              <a:rPr dirty="0" i="1"/>
              <a:t> da euro 5.000 a euro 30.000.</a:t>
            </a:r>
            <a:endParaRPr dirty="0">
              <a:latin typeface="Times New Roman"/>
              <a:ea typeface="Times New Roman"/>
              <a:cs typeface="Times New Roman"/>
              <a:sym typeface="Times New Roman"/>
            </a:endParaRPr>
          </a:p>
          <a:p>
            <a:pPr algn="just">
              <a:lnSpc>
                <a:spcPct val="114000"/>
              </a:lnSpc>
              <a:spcBef>
                <a:spcPts val="600"/>
              </a:spcBef>
              <a:defRPr b="0" i="1" sz="2000">
                <a:latin typeface="Book Antiqua"/>
                <a:ea typeface="Book Antiqua"/>
                <a:cs typeface="Book Antiqua"/>
                <a:sym typeface="Book Antiqua"/>
              </a:defRPr>
            </a:pPr>
            <a:r>
              <a:rPr dirty="0" err="1"/>
              <a:t>Alla</a:t>
            </a:r>
            <a:r>
              <a:rPr dirty="0"/>
              <a:t> </a:t>
            </a:r>
            <a:r>
              <a:rPr dirty="0" err="1"/>
              <a:t>stessa</a:t>
            </a:r>
            <a:r>
              <a:rPr dirty="0"/>
              <a:t> </a:t>
            </a:r>
            <a:r>
              <a:rPr dirty="0" err="1"/>
              <a:t>pena</a:t>
            </a:r>
            <a:r>
              <a:rPr dirty="0"/>
              <a:t> </a:t>
            </a:r>
            <a:r>
              <a:rPr dirty="0" err="1"/>
              <a:t>soggiace</a:t>
            </a:r>
            <a:r>
              <a:rPr dirty="0"/>
              <a:t> chi, </a:t>
            </a:r>
            <a:r>
              <a:rPr dirty="0" err="1"/>
              <a:t>fuori</a:t>
            </a:r>
            <a:r>
              <a:rPr dirty="0"/>
              <a:t> del </a:t>
            </a:r>
            <a:r>
              <a:rPr dirty="0" err="1"/>
              <a:t>caso</a:t>
            </a:r>
            <a:r>
              <a:rPr dirty="0"/>
              <a:t> di </a:t>
            </a:r>
            <a:r>
              <a:rPr dirty="0" err="1"/>
              <a:t>concorso</a:t>
            </a:r>
            <a:r>
              <a:rPr dirty="0"/>
              <a:t> </a:t>
            </a:r>
            <a:r>
              <a:rPr dirty="0" err="1"/>
              <a:t>nel</a:t>
            </a:r>
            <a:r>
              <a:rPr dirty="0"/>
              <a:t> </a:t>
            </a:r>
            <a:r>
              <a:rPr dirty="0" err="1"/>
              <a:t>delitto</a:t>
            </a:r>
            <a:r>
              <a:rPr dirty="0"/>
              <a:t> </a:t>
            </a:r>
            <a:r>
              <a:rPr dirty="0" err="1"/>
              <a:t>previsto</a:t>
            </a:r>
            <a:r>
              <a:rPr dirty="0"/>
              <a:t> dal primo comma, </a:t>
            </a:r>
            <a:r>
              <a:rPr b="1" dirty="0" err="1"/>
              <a:t>procura</a:t>
            </a:r>
            <a:r>
              <a:rPr b="1" dirty="0"/>
              <a:t> a </a:t>
            </a:r>
            <a:r>
              <a:rPr b="1" dirty="0" err="1"/>
              <a:t>taluno</a:t>
            </a:r>
            <a:r>
              <a:rPr b="1" dirty="0"/>
              <a:t> una </a:t>
            </a:r>
            <a:r>
              <a:rPr b="1" dirty="0" err="1"/>
              <a:t>somma</a:t>
            </a:r>
            <a:r>
              <a:rPr b="1" dirty="0"/>
              <a:t> di </a:t>
            </a:r>
            <a:r>
              <a:rPr b="1" dirty="0" err="1"/>
              <a:t>denaro</a:t>
            </a:r>
            <a:r>
              <a:rPr b="1" dirty="0"/>
              <a:t> o </a:t>
            </a:r>
            <a:r>
              <a:rPr b="1" dirty="0" err="1"/>
              <a:t>altra</a:t>
            </a:r>
            <a:r>
              <a:rPr b="1" dirty="0"/>
              <a:t> </a:t>
            </a:r>
            <a:r>
              <a:rPr b="1" dirty="0" err="1"/>
              <a:t>utilità</a:t>
            </a:r>
            <a:r>
              <a:rPr b="1" dirty="0"/>
              <a:t> </a:t>
            </a:r>
            <a:r>
              <a:rPr b="1" dirty="0" err="1"/>
              <a:t>facendo</a:t>
            </a:r>
            <a:r>
              <a:rPr b="1" dirty="0"/>
              <a:t> dare o </a:t>
            </a:r>
            <a:r>
              <a:rPr b="1" dirty="0" err="1"/>
              <a:t>promettere</a:t>
            </a:r>
            <a:r>
              <a:rPr b="1" dirty="0"/>
              <a:t>, a </a:t>
            </a:r>
            <a:r>
              <a:rPr b="1" dirty="0" err="1"/>
              <a:t>sé</a:t>
            </a:r>
            <a:r>
              <a:rPr b="1" dirty="0"/>
              <a:t> o ad </a:t>
            </a:r>
            <a:r>
              <a:rPr b="1" dirty="0" err="1"/>
              <a:t>altri</a:t>
            </a:r>
            <a:r>
              <a:rPr b="1" dirty="0"/>
              <a:t>, per la </a:t>
            </a:r>
            <a:r>
              <a:rPr b="1" dirty="0" err="1"/>
              <a:t>mediazione</a:t>
            </a:r>
            <a:r>
              <a:rPr b="1" dirty="0"/>
              <a:t>, un </a:t>
            </a:r>
            <a:r>
              <a:rPr b="1" dirty="0" err="1"/>
              <a:t>compenso</a:t>
            </a:r>
            <a:r>
              <a:rPr b="1" dirty="0"/>
              <a:t> </a:t>
            </a:r>
            <a:r>
              <a:rPr b="1" dirty="0" err="1"/>
              <a:t>usurario</a:t>
            </a:r>
            <a:r>
              <a:rPr dirty="0"/>
              <a:t>.</a:t>
            </a:r>
            <a:endParaRPr dirty="0">
              <a:latin typeface="Times New Roman"/>
              <a:ea typeface="Times New Roman"/>
              <a:cs typeface="Times New Roman"/>
              <a:sym typeface="Times New Roman"/>
            </a:endParaRPr>
          </a:p>
          <a:p>
            <a:pPr algn="just">
              <a:lnSpc>
                <a:spcPct val="114000"/>
              </a:lnSpc>
              <a:spcBef>
                <a:spcPts val="600"/>
              </a:spcBef>
              <a:defRPr i="1" sz="2000">
                <a:latin typeface="Book Antiqua"/>
                <a:ea typeface="Book Antiqua"/>
                <a:cs typeface="Book Antiqua"/>
                <a:sym typeface="Book Antiqua"/>
              </a:defRPr>
            </a:pPr>
            <a:r>
              <a:rPr dirty="0"/>
              <a:t>La </a:t>
            </a:r>
            <a:r>
              <a:rPr dirty="0" err="1"/>
              <a:t>legge</a:t>
            </a:r>
            <a:r>
              <a:rPr dirty="0"/>
              <a:t> </a:t>
            </a:r>
            <a:r>
              <a:rPr dirty="0" err="1"/>
              <a:t>stabilisce</a:t>
            </a:r>
            <a:r>
              <a:rPr dirty="0"/>
              <a:t> </a:t>
            </a:r>
            <a:r>
              <a:rPr dirty="0" err="1"/>
              <a:t>il</a:t>
            </a:r>
            <a:r>
              <a:rPr dirty="0"/>
              <a:t> </a:t>
            </a:r>
            <a:r>
              <a:rPr dirty="0" err="1"/>
              <a:t>limite</a:t>
            </a:r>
            <a:r>
              <a:rPr dirty="0"/>
              <a:t> </a:t>
            </a:r>
            <a:r>
              <a:rPr dirty="0" err="1"/>
              <a:t>oltre</a:t>
            </a:r>
            <a:r>
              <a:rPr dirty="0"/>
              <a:t> </a:t>
            </a:r>
            <a:r>
              <a:rPr dirty="0" err="1"/>
              <a:t>il</a:t>
            </a:r>
            <a:r>
              <a:rPr dirty="0"/>
              <a:t> quale </a:t>
            </a:r>
            <a:r>
              <a:rPr dirty="0" err="1"/>
              <a:t>gli</a:t>
            </a:r>
            <a:r>
              <a:rPr dirty="0"/>
              <a:t> </a:t>
            </a:r>
            <a:r>
              <a:rPr dirty="0" err="1"/>
              <a:t>interessi</a:t>
            </a:r>
            <a:r>
              <a:rPr dirty="0"/>
              <a:t> </a:t>
            </a:r>
            <a:r>
              <a:rPr dirty="0" err="1"/>
              <a:t>sono</a:t>
            </a:r>
            <a:r>
              <a:rPr dirty="0"/>
              <a:t> </a:t>
            </a:r>
            <a:r>
              <a:rPr dirty="0" err="1"/>
              <a:t>sempre</a:t>
            </a:r>
            <a:r>
              <a:rPr dirty="0"/>
              <a:t> </a:t>
            </a:r>
            <a:r>
              <a:rPr dirty="0" err="1"/>
              <a:t>usurari</a:t>
            </a:r>
            <a:r>
              <a:rPr b="0" dirty="0"/>
              <a:t>.</a:t>
            </a:r>
            <a:endParaRPr dirty="0">
              <a:latin typeface="Times New Roman"/>
              <a:ea typeface="Times New Roman"/>
              <a:cs typeface="Times New Roman"/>
              <a:sym typeface="Times New Roman"/>
            </a:endParaRPr>
          </a:p>
          <a:p>
            <a:pPr algn="just">
              <a:lnSpc>
                <a:spcPct val="114000"/>
              </a:lnSpc>
              <a:spcBef>
                <a:spcPts val="600"/>
              </a:spcBef>
              <a:defRPr b="0" i="1" sz="2000">
                <a:latin typeface="Book Antiqua"/>
                <a:ea typeface="Book Antiqua"/>
                <a:cs typeface="Book Antiqua"/>
                <a:sym typeface="Book Antiqua"/>
              </a:defRPr>
            </a:pPr>
            <a:r>
              <a:rPr dirty="0" err="1"/>
              <a:t>Sono</a:t>
            </a:r>
            <a:r>
              <a:rPr dirty="0"/>
              <a:t> </a:t>
            </a:r>
            <a:r>
              <a:rPr dirty="0" err="1"/>
              <a:t>altresì</a:t>
            </a:r>
            <a:r>
              <a:rPr dirty="0"/>
              <a:t> </a:t>
            </a:r>
            <a:r>
              <a:rPr dirty="0" err="1"/>
              <a:t>usurari</a:t>
            </a:r>
            <a:r>
              <a:rPr dirty="0"/>
              <a:t> </a:t>
            </a:r>
            <a:r>
              <a:rPr dirty="0" err="1"/>
              <a:t>gli</a:t>
            </a:r>
            <a:r>
              <a:rPr dirty="0"/>
              <a:t> </a:t>
            </a:r>
            <a:r>
              <a:rPr dirty="0" err="1"/>
              <a:t>interessi</a:t>
            </a:r>
            <a:r>
              <a:rPr dirty="0"/>
              <a:t>, </a:t>
            </a:r>
            <a:r>
              <a:rPr dirty="0" err="1"/>
              <a:t>anche</a:t>
            </a:r>
            <a:r>
              <a:rPr dirty="0"/>
              <a:t> se </a:t>
            </a:r>
            <a:r>
              <a:rPr dirty="0" err="1"/>
              <a:t>inferiori</a:t>
            </a:r>
            <a:r>
              <a:rPr dirty="0"/>
              <a:t> a tale </a:t>
            </a:r>
            <a:r>
              <a:rPr dirty="0" err="1"/>
              <a:t>limite</a:t>
            </a:r>
            <a:r>
              <a:rPr dirty="0"/>
              <a:t>, e </a:t>
            </a:r>
            <a:r>
              <a:rPr dirty="0" err="1"/>
              <a:t>gli</a:t>
            </a:r>
            <a:r>
              <a:rPr dirty="0"/>
              <a:t> </a:t>
            </a:r>
            <a:r>
              <a:rPr dirty="0" err="1"/>
              <a:t>altri</a:t>
            </a:r>
            <a:r>
              <a:rPr dirty="0"/>
              <a:t> </a:t>
            </a:r>
            <a:r>
              <a:rPr dirty="0" err="1"/>
              <a:t>vantaggi</a:t>
            </a:r>
            <a:r>
              <a:rPr dirty="0"/>
              <a:t> o </a:t>
            </a:r>
            <a:r>
              <a:rPr dirty="0" err="1"/>
              <a:t>compensi</a:t>
            </a:r>
            <a:r>
              <a:rPr dirty="0"/>
              <a:t> </a:t>
            </a:r>
            <a:r>
              <a:rPr dirty="0" err="1"/>
              <a:t>che</a:t>
            </a:r>
            <a:r>
              <a:rPr dirty="0"/>
              <a:t> </a:t>
            </a:r>
            <a:r>
              <a:rPr dirty="0" err="1"/>
              <a:t>avuto</a:t>
            </a:r>
            <a:r>
              <a:rPr dirty="0"/>
              <a:t> </a:t>
            </a:r>
            <a:r>
              <a:rPr dirty="0" err="1"/>
              <a:t>riguardo</a:t>
            </a:r>
            <a:r>
              <a:rPr dirty="0"/>
              <a:t> </a:t>
            </a:r>
            <a:r>
              <a:rPr dirty="0" err="1"/>
              <a:t>alle</a:t>
            </a:r>
            <a:r>
              <a:rPr dirty="0"/>
              <a:t> concrete </a:t>
            </a:r>
            <a:r>
              <a:rPr dirty="0" err="1"/>
              <a:t>modalità</a:t>
            </a:r>
            <a:r>
              <a:rPr dirty="0"/>
              <a:t> del </a:t>
            </a:r>
            <a:r>
              <a:rPr dirty="0" err="1"/>
              <a:t>fatto</a:t>
            </a:r>
            <a:r>
              <a:rPr dirty="0"/>
              <a:t> e al </a:t>
            </a:r>
            <a:r>
              <a:rPr dirty="0" err="1"/>
              <a:t>tasso</a:t>
            </a:r>
            <a:r>
              <a:rPr dirty="0"/>
              <a:t> medio </a:t>
            </a:r>
            <a:r>
              <a:rPr dirty="0" err="1"/>
              <a:t>praticato</a:t>
            </a:r>
            <a:r>
              <a:rPr dirty="0"/>
              <a:t> per </a:t>
            </a:r>
            <a:r>
              <a:rPr dirty="0" err="1"/>
              <a:t>operazioni</a:t>
            </a:r>
            <a:r>
              <a:rPr dirty="0"/>
              <a:t> </a:t>
            </a:r>
            <a:r>
              <a:rPr dirty="0" err="1"/>
              <a:t>similari</a:t>
            </a:r>
            <a:r>
              <a:rPr dirty="0"/>
              <a:t> </a:t>
            </a:r>
            <a:r>
              <a:rPr dirty="0" err="1"/>
              <a:t>risultano</a:t>
            </a:r>
            <a:r>
              <a:rPr dirty="0"/>
              <a:t> </a:t>
            </a:r>
            <a:r>
              <a:rPr dirty="0" err="1"/>
              <a:t>comunque</a:t>
            </a:r>
            <a:r>
              <a:rPr dirty="0"/>
              <a:t> </a:t>
            </a:r>
            <a:r>
              <a:rPr dirty="0" err="1"/>
              <a:t>sproporzionati</a:t>
            </a:r>
            <a:r>
              <a:rPr dirty="0"/>
              <a:t> rispetto </a:t>
            </a:r>
            <a:r>
              <a:rPr dirty="0" err="1"/>
              <a:t>alla</a:t>
            </a:r>
            <a:r>
              <a:rPr dirty="0"/>
              <a:t> </a:t>
            </a:r>
            <a:r>
              <a:rPr dirty="0" err="1"/>
              <a:t>prestazione</a:t>
            </a:r>
            <a:r>
              <a:rPr dirty="0"/>
              <a:t> di </a:t>
            </a:r>
            <a:r>
              <a:rPr dirty="0" err="1"/>
              <a:t>denaro</a:t>
            </a:r>
            <a:r>
              <a:rPr dirty="0"/>
              <a:t> o di </a:t>
            </a:r>
            <a:r>
              <a:rPr dirty="0" err="1"/>
              <a:t>altra</a:t>
            </a:r>
            <a:r>
              <a:rPr dirty="0"/>
              <a:t> </a:t>
            </a:r>
            <a:r>
              <a:rPr dirty="0" err="1"/>
              <a:t>utilità</a:t>
            </a:r>
            <a:r>
              <a:rPr dirty="0"/>
              <a:t>, </a:t>
            </a:r>
            <a:r>
              <a:rPr dirty="0" err="1"/>
              <a:t>ovvero</a:t>
            </a:r>
            <a:r>
              <a:rPr dirty="0"/>
              <a:t> </a:t>
            </a:r>
            <a:r>
              <a:rPr dirty="0" err="1"/>
              <a:t>all'opera</a:t>
            </a:r>
            <a:r>
              <a:rPr dirty="0"/>
              <a:t> di </a:t>
            </a:r>
            <a:r>
              <a:rPr dirty="0" err="1"/>
              <a:t>mediazione</a:t>
            </a:r>
            <a:r>
              <a:rPr dirty="0"/>
              <a:t>, </a:t>
            </a:r>
            <a:r>
              <a:rPr dirty="0" err="1"/>
              <a:t>quando</a:t>
            </a:r>
            <a:r>
              <a:rPr dirty="0"/>
              <a:t> chi li ha </a:t>
            </a:r>
            <a:r>
              <a:rPr dirty="0" err="1"/>
              <a:t>dati</a:t>
            </a:r>
            <a:r>
              <a:rPr dirty="0"/>
              <a:t> o </a:t>
            </a:r>
            <a:r>
              <a:rPr dirty="0" err="1"/>
              <a:t>promessi</a:t>
            </a:r>
            <a:r>
              <a:rPr dirty="0"/>
              <a:t> </a:t>
            </a:r>
            <a:r>
              <a:rPr dirty="0" err="1"/>
              <a:t>si</a:t>
            </a:r>
            <a:r>
              <a:rPr dirty="0"/>
              <a:t> </a:t>
            </a:r>
            <a:r>
              <a:rPr dirty="0" err="1"/>
              <a:t>trova</a:t>
            </a:r>
            <a:r>
              <a:rPr dirty="0"/>
              <a:t> </a:t>
            </a:r>
            <a:r>
              <a:rPr dirty="0" u="sng"/>
              <a:t>in </a:t>
            </a:r>
            <a:r>
              <a:rPr dirty="0" err="1" u="sng"/>
              <a:t>condizioni</a:t>
            </a:r>
            <a:r>
              <a:rPr dirty="0" u="sng"/>
              <a:t> di </a:t>
            </a:r>
            <a:r>
              <a:rPr dirty="0" err="1" u="sng"/>
              <a:t>difficoltà</a:t>
            </a:r>
            <a:r>
              <a:rPr dirty="0" u="sng"/>
              <a:t> </a:t>
            </a:r>
            <a:r>
              <a:rPr dirty="0" err="1" u="sng"/>
              <a:t>economica</a:t>
            </a:r>
            <a:r>
              <a:rPr dirty="0" u="sng"/>
              <a:t> o </a:t>
            </a:r>
            <a:r>
              <a:rPr dirty="0" err="1" u="sng"/>
              <a:t>finanziaria</a:t>
            </a:r>
            <a:r>
              <a:rPr dirty="0" u="sng"/>
              <a:t>. …</a:t>
            </a:r>
          </a:p>
        </p:txBody>
      </p:sp>
      <p:pic>
        <p:nvPicPr>
          <p:cNvPr descr="Immagine 3" id="436" name="Immagine 3"/>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437"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Usura</a:t>
            </a: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 name="Usura"/>
          <p:cNvSpPr txBox="1">
            <a:spLocks noGrp="1"/>
          </p:cNvSpPr>
          <p:nvPr>
            <p:ph type="title"/>
          </p:nvPr>
        </p:nvSpPr>
        <p:spPr>
          <a:xfrm>
            <a:off x="626039" y="-151905"/>
            <a:ext cx="8229601" cy="1143002"/>
          </a:xfrm>
          <a:prstGeom prst="rect">
            <a:avLst/>
          </a:prstGeom>
        </p:spPr>
        <p:txBody>
          <a:bodyPr numCol="1"/>
          <a:lstStyle>
            <a:lvl1pPr algn="l">
              <a:defRPr sz="3200">
                <a:solidFill>
                  <a:srgbClr val="FFFFFF"/>
                </a:solidFill>
                <a:latin typeface="Book Antiqua"/>
                <a:ea typeface="Book Antiqua"/>
                <a:cs typeface="Book Antiqua"/>
                <a:sym typeface="Book Antiqua"/>
              </a:defRPr>
            </a:lvl1pPr>
          </a:lstStyle>
          <a:p>
            <a:r>
              <a:t>Usura</a:t>
            </a:r>
          </a:p>
        </p:txBody>
      </p:sp>
      <p:sp>
        <p:nvSpPr>
          <p:cNvPr id="440" name="Per la determinazione del tasso  di  interesse  usurario  si  tiene conto delle commissioni, remunerazioni a  qualsiasi  titolo  e  delle spese, escluse quelle per imposte e tasse, collegate alla erogazione del credito.…"/>
          <p:cNvSpPr txBox="1">
            <a:spLocks noGrp="1"/>
          </p:cNvSpPr>
          <p:nvPr>
            <p:ph idx="1" type="body"/>
          </p:nvPr>
        </p:nvSpPr>
        <p:spPr>
          <a:xfrm>
            <a:off x="131149" y="1015578"/>
            <a:ext cx="8881702" cy="5697845"/>
          </a:xfrm>
          <a:prstGeom prst="rect">
            <a:avLst/>
          </a:prstGeom>
        </p:spPr>
        <p:txBody>
          <a:bodyPr numCol="1">
            <a:normAutofit lnSpcReduction="10000"/>
          </a:bodyPr>
          <a:lstStyle/>
          <a:p>
            <a:pPr algn="just" defTabSz="361188" indent="0" marL="0">
              <a:spcBef>
                <a:spcPts val="0"/>
              </a:spcBef>
              <a:buSzTx/>
              <a:buFontTx/>
              <a:buNone/>
              <a:defRPr i="1" sz="1738">
                <a:solidFill>
                  <a:srgbClr val="444444"/>
                </a:solidFill>
                <a:latin typeface="Times New Roman"/>
                <a:ea typeface="Times New Roman"/>
                <a:cs typeface="Times New Roman"/>
                <a:sym typeface="Times New Roman"/>
              </a:defRPr>
            </a:pPr>
            <a:r>
              <a:rPr dirty="0">
                <a:solidFill>
                  <a:schemeClr val="tx1"/>
                </a:solidFill>
              </a:rPr>
              <a:t> Per la </a:t>
            </a:r>
            <a:r>
              <a:rPr dirty="0" err="1">
                <a:solidFill>
                  <a:schemeClr val="tx1"/>
                </a:solidFill>
              </a:rPr>
              <a:t>determinazione</a:t>
            </a:r>
            <a:r>
              <a:rPr dirty="0">
                <a:solidFill>
                  <a:schemeClr val="tx1"/>
                </a:solidFill>
              </a:rPr>
              <a:t> del </a:t>
            </a:r>
            <a:r>
              <a:rPr dirty="0" err="1">
                <a:solidFill>
                  <a:schemeClr val="tx1"/>
                </a:solidFill>
              </a:rPr>
              <a:t>tasso</a:t>
            </a:r>
            <a:r>
              <a:rPr dirty="0">
                <a:solidFill>
                  <a:schemeClr val="tx1"/>
                </a:solidFill>
              </a:rPr>
              <a:t>  di  interesse  </a:t>
            </a:r>
            <a:r>
              <a:rPr dirty="0" err="1">
                <a:solidFill>
                  <a:schemeClr val="tx1"/>
                </a:solidFill>
              </a:rPr>
              <a:t>usurario</a:t>
            </a:r>
            <a:r>
              <a:rPr dirty="0">
                <a:solidFill>
                  <a:schemeClr val="tx1"/>
                </a:solidFill>
              </a:rPr>
              <a:t>  </a:t>
            </a:r>
            <a:r>
              <a:rPr dirty="0" err="1">
                <a:solidFill>
                  <a:schemeClr val="tx1"/>
                </a:solidFill>
              </a:rPr>
              <a:t>si</a:t>
            </a:r>
            <a:r>
              <a:rPr dirty="0">
                <a:solidFill>
                  <a:schemeClr val="tx1"/>
                </a:solidFill>
              </a:rPr>
              <a:t>  </a:t>
            </a:r>
            <a:r>
              <a:rPr dirty="0" err="1">
                <a:solidFill>
                  <a:schemeClr val="tx1"/>
                </a:solidFill>
              </a:rPr>
              <a:t>tiene</a:t>
            </a:r>
            <a:r>
              <a:rPr dirty="0">
                <a:solidFill>
                  <a:schemeClr val="tx1"/>
                </a:solidFill>
              </a:rPr>
              <a:t> </a:t>
            </a:r>
            <a:r>
              <a:rPr dirty="0" err="1">
                <a:solidFill>
                  <a:schemeClr val="tx1"/>
                </a:solidFill>
              </a:rPr>
              <a:t>conto</a:t>
            </a:r>
            <a:r>
              <a:rPr dirty="0">
                <a:solidFill>
                  <a:schemeClr val="tx1"/>
                </a:solidFill>
              </a:rPr>
              <a:t> </a:t>
            </a:r>
            <a:r>
              <a:rPr dirty="0" err="1">
                <a:solidFill>
                  <a:schemeClr val="tx1"/>
                </a:solidFill>
              </a:rPr>
              <a:t>delle</a:t>
            </a:r>
            <a:r>
              <a:rPr dirty="0">
                <a:solidFill>
                  <a:schemeClr val="tx1"/>
                </a:solidFill>
              </a:rPr>
              <a:t> </a:t>
            </a:r>
            <a:r>
              <a:rPr dirty="0" err="1">
                <a:solidFill>
                  <a:schemeClr val="tx1"/>
                </a:solidFill>
              </a:rPr>
              <a:t>commissioni</a:t>
            </a:r>
            <a:r>
              <a:rPr dirty="0">
                <a:solidFill>
                  <a:schemeClr val="tx1"/>
                </a:solidFill>
              </a:rPr>
              <a:t>, </a:t>
            </a:r>
            <a:r>
              <a:rPr dirty="0" err="1">
                <a:solidFill>
                  <a:schemeClr val="tx1"/>
                </a:solidFill>
              </a:rPr>
              <a:t>remunerazioni</a:t>
            </a:r>
            <a:r>
              <a:rPr dirty="0">
                <a:solidFill>
                  <a:schemeClr val="tx1"/>
                </a:solidFill>
              </a:rPr>
              <a:t> a  </a:t>
            </a:r>
            <a:r>
              <a:rPr dirty="0" err="1">
                <a:solidFill>
                  <a:schemeClr val="tx1"/>
                </a:solidFill>
              </a:rPr>
              <a:t>qualsiasi</a:t>
            </a:r>
            <a:r>
              <a:rPr dirty="0">
                <a:solidFill>
                  <a:schemeClr val="tx1"/>
                </a:solidFill>
              </a:rPr>
              <a:t>  </a:t>
            </a:r>
            <a:r>
              <a:rPr dirty="0" err="1">
                <a:solidFill>
                  <a:schemeClr val="tx1"/>
                </a:solidFill>
              </a:rPr>
              <a:t>titolo</a:t>
            </a:r>
            <a:r>
              <a:rPr dirty="0">
                <a:solidFill>
                  <a:schemeClr val="tx1"/>
                </a:solidFill>
              </a:rPr>
              <a:t>  e  </a:t>
            </a:r>
            <a:r>
              <a:rPr dirty="0" err="1">
                <a:solidFill>
                  <a:schemeClr val="tx1"/>
                </a:solidFill>
              </a:rPr>
              <a:t>delle</a:t>
            </a:r>
            <a:r>
              <a:rPr dirty="0">
                <a:solidFill>
                  <a:schemeClr val="tx1"/>
                </a:solidFill>
              </a:rPr>
              <a:t> </a:t>
            </a:r>
            <a:r>
              <a:rPr dirty="0" err="1">
                <a:solidFill>
                  <a:schemeClr val="tx1"/>
                </a:solidFill>
              </a:rPr>
              <a:t>spese</a:t>
            </a:r>
            <a:r>
              <a:rPr dirty="0">
                <a:solidFill>
                  <a:schemeClr val="tx1"/>
                </a:solidFill>
              </a:rPr>
              <a:t>, </a:t>
            </a:r>
            <a:r>
              <a:rPr dirty="0" err="1">
                <a:solidFill>
                  <a:schemeClr val="tx1"/>
                </a:solidFill>
              </a:rPr>
              <a:t>escluse</a:t>
            </a:r>
            <a:r>
              <a:rPr dirty="0">
                <a:solidFill>
                  <a:schemeClr val="tx1"/>
                </a:solidFill>
              </a:rPr>
              <a:t> quelle per </a:t>
            </a:r>
            <a:r>
              <a:rPr dirty="0" err="1">
                <a:solidFill>
                  <a:schemeClr val="tx1"/>
                </a:solidFill>
              </a:rPr>
              <a:t>imposte</a:t>
            </a:r>
            <a:r>
              <a:rPr dirty="0">
                <a:solidFill>
                  <a:schemeClr val="tx1"/>
                </a:solidFill>
              </a:rPr>
              <a:t> e </a:t>
            </a:r>
            <a:r>
              <a:rPr dirty="0" err="1">
                <a:solidFill>
                  <a:schemeClr val="tx1"/>
                </a:solidFill>
              </a:rPr>
              <a:t>tasse</a:t>
            </a:r>
            <a:r>
              <a:rPr dirty="0">
                <a:solidFill>
                  <a:schemeClr val="tx1"/>
                </a:solidFill>
              </a:rPr>
              <a:t>, </a:t>
            </a:r>
            <a:r>
              <a:rPr dirty="0" err="1">
                <a:solidFill>
                  <a:schemeClr val="tx1"/>
                </a:solidFill>
              </a:rPr>
              <a:t>collegate</a:t>
            </a:r>
            <a:r>
              <a:rPr dirty="0">
                <a:solidFill>
                  <a:schemeClr val="tx1"/>
                </a:solidFill>
              </a:rPr>
              <a:t> </a:t>
            </a:r>
            <a:r>
              <a:rPr dirty="0" err="1">
                <a:solidFill>
                  <a:schemeClr val="tx1"/>
                </a:solidFill>
              </a:rPr>
              <a:t>alla</a:t>
            </a:r>
            <a:r>
              <a:rPr dirty="0">
                <a:solidFill>
                  <a:schemeClr val="tx1"/>
                </a:solidFill>
              </a:rPr>
              <a:t> </a:t>
            </a:r>
            <a:r>
              <a:rPr dirty="0" err="1">
                <a:solidFill>
                  <a:schemeClr val="tx1"/>
                </a:solidFill>
              </a:rPr>
              <a:t>erogazione</a:t>
            </a:r>
            <a:r>
              <a:rPr dirty="0">
                <a:solidFill>
                  <a:schemeClr val="tx1"/>
                </a:solidFill>
              </a:rPr>
              <a:t> del </a:t>
            </a:r>
            <a:r>
              <a:rPr dirty="0" err="1">
                <a:solidFill>
                  <a:schemeClr val="tx1"/>
                </a:solidFill>
              </a:rPr>
              <a:t>credito</a:t>
            </a:r>
            <a:r>
              <a:rPr dirty="0">
                <a:solidFill>
                  <a:schemeClr val="tx1"/>
                </a:solidFill>
              </a:rPr>
              <a:t>. </a:t>
            </a:r>
          </a:p>
          <a:p>
            <a:pPr algn="just" defTabSz="361188" indent="0" marL="0">
              <a:spcBef>
                <a:spcPts val="0"/>
              </a:spcBef>
              <a:buSzTx/>
              <a:buFontTx/>
              <a:buNone/>
              <a:defRPr i="1" sz="1738">
                <a:solidFill>
                  <a:srgbClr val="444444"/>
                </a:solidFill>
                <a:latin typeface="Times New Roman"/>
                <a:ea typeface="Times New Roman"/>
                <a:cs typeface="Times New Roman"/>
                <a:sym typeface="Times New Roman"/>
              </a:defRPr>
            </a:pPr>
            <a:endParaRPr dirty="0">
              <a:solidFill>
                <a:schemeClr val="tx1"/>
              </a:solidFill>
            </a:endParaRPr>
          </a:p>
          <a:p>
            <a:pPr algn="just" defTabSz="361188" indent="0" marL="0">
              <a:spcBef>
                <a:spcPts val="0"/>
              </a:spcBef>
              <a:buSzTx/>
              <a:buFontTx/>
              <a:buNone/>
              <a:defRPr i="1" sz="1738">
                <a:solidFill>
                  <a:srgbClr val="444444"/>
                </a:solidFill>
                <a:latin typeface="Times New Roman"/>
                <a:ea typeface="Times New Roman"/>
                <a:cs typeface="Times New Roman"/>
                <a:sym typeface="Times New Roman"/>
              </a:defRPr>
            </a:pPr>
            <a:r>
              <a:rPr dirty="0">
                <a:solidFill>
                  <a:schemeClr val="tx1"/>
                </a:solidFill>
              </a:rPr>
              <a:t>  Le </a:t>
            </a:r>
            <a:r>
              <a:rPr dirty="0" err="1">
                <a:solidFill>
                  <a:schemeClr val="tx1"/>
                </a:solidFill>
              </a:rPr>
              <a:t>pene</a:t>
            </a:r>
            <a:r>
              <a:rPr dirty="0">
                <a:solidFill>
                  <a:schemeClr val="tx1"/>
                </a:solidFill>
              </a:rPr>
              <a:t> per </a:t>
            </a:r>
            <a:r>
              <a:rPr dirty="0" err="1">
                <a:solidFill>
                  <a:schemeClr val="tx1"/>
                </a:solidFill>
              </a:rPr>
              <a:t>i</a:t>
            </a:r>
            <a:r>
              <a:rPr dirty="0">
                <a:solidFill>
                  <a:schemeClr val="tx1"/>
                </a:solidFill>
              </a:rPr>
              <a:t> </a:t>
            </a:r>
            <a:r>
              <a:rPr dirty="0" err="1">
                <a:solidFill>
                  <a:schemeClr val="tx1"/>
                </a:solidFill>
              </a:rPr>
              <a:t>fatti</a:t>
            </a:r>
            <a:r>
              <a:rPr dirty="0">
                <a:solidFill>
                  <a:schemeClr val="tx1"/>
                </a:solidFill>
              </a:rPr>
              <a:t> di cui al primo e secondo comma </a:t>
            </a:r>
            <a:r>
              <a:rPr dirty="0" err="1">
                <a:solidFill>
                  <a:schemeClr val="tx1"/>
                </a:solidFill>
              </a:rPr>
              <a:t>sono</a:t>
            </a:r>
            <a:r>
              <a:rPr dirty="0">
                <a:solidFill>
                  <a:schemeClr val="tx1"/>
                </a:solidFill>
              </a:rPr>
              <a:t>  </a:t>
            </a:r>
            <a:r>
              <a:rPr dirty="0" err="1">
                <a:solidFill>
                  <a:schemeClr val="tx1"/>
                </a:solidFill>
              </a:rPr>
              <a:t>aumentate</a:t>
            </a:r>
            <a:r>
              <a:rPr dirty="0">
                <a:solidFill>
                  <a:schemeClr val="tx1"/>
                </a:solidFill>
              </a:rPr>
              <a:t> da un </a:t>
            </a:r>
            <a:r>
              <a:rPr dirty="0" err="1">
                <a:solidFill>
                  <a:schemeClr val="tx1"/>
                </a:solidFill>
              </a:rPr>
              <a:t>terzo</a:t>
            </a:r>
            <a:r>
              <a:rPr dirty="0">
                <a:solidFill>
                  <a:schemeClr val="tx1"/>
                </a:solidFill>
              </a:rPr>
              <a:t> </a:t>
            </a:r>
            <a:r>
              <a:rPr dirty="0" err="1">
                <a:solidFill>
                  <a:schemeClr val="tx1"/>
                </a:solidFill>
              </a:rPr>
              <a:t>alla</a:t>
            </a:r>
            <a:r>
              <a:rPr dirty="0">
                <a:solidFill>
                  <a:schemeClr val="tx1"/>
                </a:solidFill>
              </a:rPr>
              <a:t> meta': </a:t>
            </a:r>
          </a:p>
          <a:p>
            <a:pPr algn="just" defTabSz="361188" indent="0" marL="0">
              <a:spcBef>
                <a:spcPts val="0"/>
              </a:spcBef>
              <a:buSzTx/>
              <a:buFontTx/>
              <a:buNone/>
              <a:defRPr i="1" sz="1738">
                <a:solidFill>
                  <a:srgbClr val="444444"/>
                </a:solidFill>
                <a:latin typeface="Times New Roman"/>
                <a:ea typeface="Times New Roman"/>
                <a:cs typeface="Times New Roman"/>
                <a:sym typeface="Times New Roman"/>
              </a:defRPr>
            </a:pPr>
            <a:r>
              <a:rPr dirty="0">
                <a:solidFill>
                  <a:schemeClr val="tx1"/>
                </a:solidFill>
              </a:rPr>
              <a:t>    1) se </a:t>
            </a:r>
            <a:r>
              <a:rPr dirty="0" err="1">
                <a:solidFill>
                  <a:schemeClr val="tx1"/>
                </a:solidFill>
              </a:rPr>
              <a:t>il</a:t>
            </a:r>
            <a:r>
              <a:rPr dirty="0">
                <a:solidFill>
                  <a:schemeClr val="tx1"/>
                </a:solidFill>
              </a:rPr>
              <a:t> </a:t>
            </a:r>
            <a:r>
              <a:rPr dirty="0" err="1">
                <a:solidFill>
                  <a:schemeClr val="tx1"/>
                </a:solidFill>
              </a:rPr>
              <a:t>colpevole</a:t>
            </a:r>
            <a:r>
              <a:rPr dirty="0">
                <a:solidFill>
                  <a:schemeClr val="tx1"/>
                </a:solidFill>
              </a:rPr>
              <a:t>  ha  agito  </a:t>
            </a:r>
            <a:r>
              <a:rPr dirty="0" err="1">
                <a:solidFill>
                  <a:schemeClr val="tx1"/>
                </a:solidFill>
              </a:rPr>
              <a:t>nell'esercizio</a:t>
            </a:r>
            <a:r>
              <a:rPr dirty="0">
                <a:solidFill>
                  <a:schemeClr val="tx1"/>
                </a:solidFill>
              </a:rPr>
              <a:t>  di  una  </a:t>
            </a:r>
            <a:r>
              <a:rPr dirty="0" err="1">
                <a:solidFill>
                  <a:schemeClr val="tx1"/>
                </a:solidFill>
              </a:rPr>
              <a:t>attività</a:t>
            </a:r>
            <a:r>
              <a:rPr dirty="0">
                <a:solidFill>
                  <a:schemeClr val="tx1"/>
                </a:solidFill>
              </a:rPr>
              <a:t> </a:t>
            </a:r>
            <a:r>
              <a:rPr dirty="0" err="1">
                <a:solidFill>
                  <a:schemeClr val="tx1"/>
                </a:solidFill>
              </a:rPr>
              <a:t>professionale</a:t>
            </a:r>
            <a:r>
              <a:rPr dirty="0">
                <a:solidFill>
                  <a:schemeClr val="tx1"/>
                </a:solidFill>
              </a:rPr>
              <a:t>, </a:t>
            </a:r>
            <a:r>
              <a:rPr dirty="0" err="1">
                <a:solidFill>
                  <a:schemeClr val="tx1"/>
                </a:solidFill>
              </a:rPr>
              <a:t>bancaria</a:t>
            </a:r>
            <a:r>
              <a:rPr dirty="0">
                <a:solidFill>
                  <a:schemeClr val="tx1"/>
                </a:solidFill>
              </a:rPr>
              <a:t> o di </a:t>
            </a:r>
            <a:r>
              <a:rPr dirty="0" err="1">
                <a:solidFill>
                  <a:schemeClr val="tx1"/>
                </a:solidFill>
              </a:rPr>
              <a:t>intermediazione</a:t>
            </a:r>
            <a:r>
              <a:rPr dirty="0">
                <a:solidFill>
                  <a:schemeClr val="tx1"/>
                </a:solidFill>
              </a:rPr>
              <a:t> </a:t>
            </a:r>
            <a:r>
              <a:rPr dirty="0" err="1">
                <a:solidFill>
                  <a:schemeClr val="tx1"/>
                </a:solidFill>
              </a:rPr>
              <a:t>finanziaria</a:t>
            </a:r>
            <a:r>
              <a:rPr dirty="0">
                <a:solidFill>
                  <a:schemeClr val="tx1"/>
                </a:solidFill>
              </a:rPr>
              <a:t> </a:t>
            </a:r>
            <a:r>
              <a:rPr dirty="0" err="1">
                <a:solidFill>
                  <a:schemeClr val="tx1"/>
                </a:solidFill>
              </a:rPr>
              <a:t>mobiliare</a:t>
            </a:r>
            <a:r>
              <a:rPr dirty="0">
                <a:solidFill>
                  <a:schemeClr val="tx1"/>
                </a:solidFill>
              </a:rPr>
              <a:t>; </a:t>
            </a:r>
          </a:p>
          <a:p>
            <a:pPr algn="just" defTabSz="361188" indent="0" marL="0">
              <a:spcBef>
                <a:spcPts val="0"/>
              </a:spcBef>
              <a:buSzTx/>
              <a:buFontTx/>
              <a:buNone/>
              <a:defRPr i="1" sz="1738">
                <a:solidFill>
                  <a:srgbClr val="444444"/>
                </a:solidFill>
                <a:latin typeface="Times New Roman"/>
                <a:ea typeface="Times New Roman"/>
                <a:cs typeface="Times New Roman"/>
                <a:sym typeface="Times New Roman"/>
              </a:defRPr>
            </a:pPr>
            <a:r>
              <a:rPr dirty="0">
                <a:solidFill>
                  <a:schemeClr val="tx1"/>
                </a:solidFill>
              </a:rPr>
              <a:t>    2) se </a:t>
            </a:r>
            <a:r>
              <a:rPr dirty="0" err="1">
                <a:solidFill>
                  <a:schemeClr val="tx1"/>
                </a:solidFill>
              </a:rPr>
              <a:t>il</a:t>
            </a:r>
            <a:r>
              <a:rPr dirty="0">
                <a:solidFill>
                  <a:schemeClr val="tx1"/>
                </a:solidFill>
              </a:rPr>
              <a:t> </a:t>
            </a:r>
            <a:r>
              <a:rPr dirty="0" err="1">
                <a:solidFill>
                  <a:schemeClr val="tx1"/>
                </a:solidFill>
              </a:rPr>
              <a:t>colpevole</a:t>
            </a:r>
            <a:r>
              <a:rPr dirty="0">
                <a:solidFill>
                  <a:schemeClr val="tx1"/>
                </a:solidFill>
              </a:rPr>
              <a:t> ha  </a:t>
            </a:r>
            <a:r>
              <a:rPr dirty="0" err="1">
                <a:solidFill>
                  <a:schemeClr val="tx1"/>
                </a:solidFill>
              </a:rPr>
              <a:t>richiesto</a:t>
            </a:r>
            <a:r>
              <a:rPr dirty="0">
                <a:solidFill>
                  <a:schemeClr val="tx1"/>
                </a:solidFill>
              </a:rPr>
              <a:t>  in  </a:t>
            </a:r>
            <a:r>
              <a:rPr dirty="0" err="1">
                <a:solidFill>
                  <a:schemeClr val="tx1"/>
                </a:solidFill>
              </a:rPr>
              <a:t>garanzia</a:t>
            </a:r>
            <a:r>
              <a:rPr dirty="0">
                <a:solidFill>
                  <a:schemeClr val="tx1"/>
                </a:solidFill>
              </a:rPr>
              <a:t>  </a:t>
            </a:r>
            <a:r>
              <a:rPr dirty="0" err="1">
                <a:solidFill>
                  <a:schemeClr val="tx1"/>
                </a:solidFill>
              </a:rPr>
              <a:t>partecipazioni</a:t>
            </a:r>
            <a:r>
              <a:rPr dirty="0">
                <a:solidFill>
                  <a:schemeClr val="tx1"/>
                </a:solidFill>
              </a:rPr>
              <a:t>  o quote </a:t>
            </a:r>
            <a:r>
              <a:rPr dirty="0" err="1">
                <a:solidFill>
                  <a:schemeClr val="tx1"/>
                </a:solidFill>
              </a:rPr>
              <a:t>societarie</a:t>
            </a:r>
            <a:r>
              <a:rPr dirty="0">
                <a:solidFill>
                  <a:schemeClr val="tx1"/>
                </a:solidFill>
              </a:rPr>
              <a:t> o </a:t>
            </a:r>
            <a:r>
              <a:rPr dirty="0" err="1">
                <a:solidFill>
                  <a:schemeClr val="tx1"/>
                </a:solidFill>
              </a:rPr>
              <a:t>aziendali</a:t>
            </a:r>
            <a:r>
              <a:rPr dirty="0">
                <a:solidFill>
                  <a:schemeClr val="tx1"/>
                </a:solidFill>
              </a:rPr>
              <a:t> o </a:t>
            </a:r>
            <a:r>
              <a:rPr dirty="0" err="1">
                <a:solidFill>
                  <a:schemeClr val="tx1"/>
                </a:solidFill>
              </a:rPr>
              <a:t>proprietà</a:t>
            </a:r>
            <a:r>
              <a:rPr dirty="0">
                <a:solidFill>
                  <a:schemeClr val="tx1"/>
                </a:solidFill>
              </a:rPr>
              <a:t> </a:t>
            </a:r>
            <a:r>
              <a:rPr dirty="0" err="1">
                <a:solidFill>
                  <a:schemeClr val="tx1"/>
                </a:solidFill>
              </a:rPr>
              <a:t>immobiliari</a:t>
            </a:r>
            <a:r>
              <a:rPr dirty="0">
                <a:solidFill>
                  <a:schemeClr val="tx1"/>
                </a:solidFill>
              </a:rPr>
              <a:t>;</a:t>
            </a:r>
          </a:p>
          <a:p>
            <a:pPr algn="just" defTabSz="361188" indent="0" marL="0">
              <a:spcBef>
                <a:spcPts val="0"/>
              </a:spcBef>
              <a:buSzTx/>
              <a:buFontTx/>
              <a:buNone/>
              <a:defRPr i="1" sz="1738">
                <a:solidFill>
                  <a:srgbClr val="444444"/>
                </a:solidFill>
                <a:latin typeface="Times New Roman"/>
                <a:ea typeface="Times New Roman"/>
                <a:cs typeface="Times New Roman"/>
                <a:sym typeface="Times New Roman"/>
              </a:defRPr>
            </a:pPr>
            <a:r>
              <a:rPr dirty="0">
                <a:solidFill>
                  <a:schemeClr val="tx1"/>
                </a:solidFill>
              </a:rPr>
              <a:t>    3) se </a:t>
            </a:r>
            <a:r>
              <a:rPr dirty="0" err="1">
                <a:solidFill>
                  <a:schemeClr val="tx1"/>
                </a:solidFill>
              </a:rPr>
              <a:t>il</a:t>
            </a:r>
            <a:r>
              <a:rPr dirty="0">
                <a:solidFill>
                  <a:schemeClr val="tx1"/>
                </a:solidFill>
              </a:rPr>
              <a:t> </a:t>
            </a:r>
            <a:r>
              <a:rPr dirty="0" err="1">
                <a:solidFill>
                  <a:schemeClr val="tx1"/>
                </a:solidFill>
              </a:rPr>
              <a:t>reato</a:t>
            </a:r>
            <a:r>
              <a:rPr dirty="0">
                <a:solidFill>
                  <a:schemeClr val="tx1"/>
                </a:solidFill>
              </a:rPr>
              <a:t> e' </a:t>
            </a:r>
            <a:r>
              <a:rPr dirty="0" err="1">
                <a:solidFill>
                  <a:schemeClr val="tx1"/>
                </a:solidFill>
              </a:rPr>
              <a:t>commesso</a:t>
            </a:r>
            <a:r>
              <a:rPr dirty="0">
                <a:solidFill>
                  <a:schemeClr val="tx1"/>
                </a:solidFill>
              </a:rPr>
              <a:t> in </a:t>
            </a:r>
            <a:r>
              <a:rPr dirty="0" err="1">
                <a:solidFill>
                  <a:schemeClr val="tx1"/>
                </a:solidFill>
              </a:rPr>
              <a:t>danno</a:t>
            </a:r>
            <a:r>
              <a:rPr dirty="0">
                <a:solidFill>
                  <a:schemeClr val="tx1"/>
                </a:solidFill>
              </a:rPr>
              <a:t> di chi </a:t>
            </a:r>
            <a:r>
              <a:rPr dirty="0" err="1">
                <a:solidFill>
                  <a:schemeClr val="tx1"/>
                </a:solidFill>
              </a:rPr>
              <a:t>si</a:t>
            </a:r>
            <a:r>
              <a:rPr dirty="0">
                <a:solidFill>
                  <a:schemeClr val="tx1"/>
                </a:solidFill>
              </a:rPr>
              <a:t> </a:t>
            </a:r>
            <a:r>
              <a:rPr dirty="0" err="1">
                <a:solidFill>
                  <a:schemeClr val="tx1"/>
                </a:solidFill>
              </a:rPr>
              <a:t>trova</a:t>
            </a:r>
            <a:r>
              <a:rPr dirty="0">
                <a:solidFill>
                  <a:schemeClr val="tx1"/>
                </a:solidFill>
              </a:rPr>
              <a:t> in  </a:t>
            </a:r>
            <a:r>
              <a:rPr dirty="0" err="1">
                <a:solidFill>
                  <a:schemeClr val="tx1"/>
                </a:solidFill>
              </a:rPr>
              <a:t>stato</a:t>
            </a:r>
            <a:r>
              <a:rPr dirty="0">
                <a:solidFill>
                  <a:schemeClr val="tx1"/>
                </a:solidFill>
              </a:rPr>
              <a:t>  di </a:t>
            </a:r>
            <a:r>
              <a:rPr dirty="0" err="1">
                <a:solidFill>
                  <a:schemeClr val="tx1"/>
                </a:solidFill>
              </a:rPr>
              <a:t>bisogno</a:t>
            </a:r>
            <a:r>
              <a:rPr dirty="0">
                <a:solidFill>
                  <a:schemeClr val="tx1"/>
                </a:solidFill>
              </a:rPr>
              <a:t>; </a:t>
            </a:r>
          </a:p>
          <a:p>
            <a:pPr algn="just" defTabSz="361188" indent="0" marL="0">
              <a:spcBef>
                <a:spcPts val="0"/>
              </a:spcBef>
              <a:buSzTx/>
              <a:buFontTx/>
              <a:buNone/>
              <a:defRPr i="1" sz="1738">
                <a:solidFill>
                  <a:srgbClr val="444444"/>
                </a:solidFill>
                <a:latin typeface="Times New Roman"/>
                <a:ea typeface="Times New Roman"/>
                <a:cs typeface="Times New Roman"/>
                <a:sym typeface="Times New Roman"/>
              </a:defRPr>
            </a:pPr>
            <a:r>
              <a:rPr dirty="0">
                <a:solidFill>
                  <a:schemeClr val="tx1"/>
                </a:solidFill>
              </a:rPr>
              <a:t>    4) se </a:t>
            </a:r>
            <a:r>
              <a:rPr dirty="0" err="1">
                <a:solidFill>
                  <a:schemeClr val="tx1"/>
                </a:solidFill>
              </a:rPr>
              <a:t>il</a:t>
            </a:r>
            <a:r>
              <a:rPr dirty="0">
                <a:solidFill>
                  <a:schemeClr val="tx1"/>
                </a:solidFill>
              </a:rPr>
              <a:t> </a:t>
            </a:r>
            <a:r>
              <a:rPr dirty="0" err="1">
                <a:solidFill>
                  <a:schemeClr val="tx1"/>
                </a:solidFill>
              </a:rPr>
              <a:t>reato</a:t>
            </a:r>
            <a:r>
              <a:rPr dirty="0">
                <a:solidFill>
                  <a:schemeClr val="tx1"/>
                </a:solidFill>
              </a:rPr>
              <a:t> e' </a:t>
            </a:r>
            <a:r>
              <a:rPr dirty="0" err="1">
                <a:solidFill>
                  <a:schemeClr val="tx1"/>
                </a:solidFill>
              </a:rPr>
              <a:t>commesso</a:t>
            </a:r>
            <a:r>
              <a:rPr dirty="0">
                <a:solidFill>
                  <a:schemeClr val="tx1"/>
                </a:solidFill>
              </a:rPr>
              <a:t>  in  </a:t>
            </a:r>
            <a:r>
              <a:rPr dirty="0" err="1">
                <a:solidFill>
                  <a:schemeClr val="tx1"/>
                </a:solidFill>
              </a:rPr>
              <a:t>danno</a:t>
            </a:r>
            <a:r>
              <a:rPr dirty="0">
                <a:solidFill>
                  <a:schemeClr val="tx1"/>
                </a:solidFill>
              </a:rPr>
              <a:t>  di  chi  </a:t>
            </a:r>
            <a:r>
              <a:rPr dirty="0" err="1">
                <a:solidFill>
                  <a:schemeClr val="tx1"/>
                </a:solidFill>
              </a:rPr>
              <a:t>svolge</a:t>
            </a:r>
            <a:r>
              <a:rPr dirty="0">
                <a:solidFill>
                  <a:schemeClr val="tx1"/>
                </a:solidFill>
              </a:rPr>
              <a:t>  </a:t>
            </a:r>
            <a:r>
              <a:rPr dirty="0" err="1">
                <a:solidFill>
                  <a:schemeClr val="tx1"/>
                </a:solidFill>
              </a:rPr>
              <a:t>attività</a:t>
            </a:r>
            <a:r>
              <a:rPr dirty="0">
                <a:solidFill>
                  <a:schemeClr val="tx1"/>
                </a:solidFill>
              </a:rPr>
              <a:t> </a:t>
            </a:r>
            <a:r>
              <a:rPr dirty="0" err="1">
                <a:solidFill>
                  <a:schemeClr val="tx1"/>
                </a:solidFill>
              </a:rPr>
              <a:t>imprenditoriale</a:t>
            </a:r>
            <a:r>
              <a:rPr dirty="0">
                <a:solidFill>
                  <a:schemeClr val="tx1"/>
                </a:solidFill>
              </a:rPr>
              <a:t>, </a:t>
            </a:r>
            <a:r>
              <a:rPr dirty="0" err="1">
                <a:solidFill>
                  <a:schemeClr val="tx1"/>
                </a:solidFill>
              </a:rPr>
              <a:t>professionale</a:t>
            </a:r>
            <a:r>
              <a:rPr dirty="0">
                <a:solidFill>
                  <a:schemeClr val="tx1"/>
                </a:solidFill>
              </a:rPr>
              <a:t> o </a:t>
            </a:r>
            <a:r>
              <a:rPr dirty="0" err="1">
                <a:solidFill>
                  <a:schemeClr val="tx1"/>
                </a:solidFill>
              </a:rPr>
              <a:t>artigianale</a:t>
            </a:r>
            <a:r>
              <a:rPr dirty="0">
                <a:solidFill>
                  <a:schemeClr val="tx1"/>
                </a:solidFill>
              </a:rPr>
              <a:t>;  </a:t>
            </a:r>
          </a:p>
          <a:p>
            <a:pPr algn="just" defTabSz="361188" indent="0" marL="0">
              <a:spcBef>
                <a:spcPts val="0"/>
              </a:spcBef>
              <a:buSzTx/>
              <a:buFontTx/>
              <a:buNone/>
              <a:defRPr i="1" sz="1738">
                <a:solidFill>
                  <a:srgbClr val="444444"/>
                </a:solidFill>
                <a:latin typeface="Times New Roman"/>
                <a:ea typeface="Times New Roman"/>
                <a:cs typeface="Times New Roman"/>
                <a:sym typeface="Times New Roman"/>
              </a:defRPr>
            </a:pPr>
            <a:r>
              <a:rPr dirty="0">
                <a:solidFill>
                  <a:schemeClr val="tx1"/>
                </a:solidFill>
              </a:rPr>
              <a:t>   5)  se  </a:t>
            </a:r>
            <a:r>
              <a:rPr dirty="0" err="1">
                <a:solidFill>
                  <a:schemeClr val="tx1"/>
                </a:solidFill>
              </a:rPr>
              <a:t>il</a:t>
            </a:r>
            <a:r>
              <a:rPr dirty="0">
                <a:solidFill>
                  <a:schemeClr val="tx1"/>
                </a:solidFill>
              </a:rPr>
              <a:t>  </a:t>
            </a:r>
            <a:r>
              <a:rPr dirty="0" err="1">
                <a:solidFill>
                  <a:schemeClr val="tx1"/>
                </a:solidFill>
              </a:rPr>
              <a:t>reato</a:t>
            </a:r>
            <a:r>
              <a:rPr dirty="0">
                <a:solidFill>
                  <a:schemeClr val="tx1"/>
                </a:solidFill>
              </a:rPr>
              <a:t>  e'  </a:t>
            </a:r>
            <a:r>
              <a:rPr dirty="0" err="1">
                <a:solidFill>
                  <a:schemeClr val="tx1"/>
                </a:solidFill>
              </a:rPr>
              <a:t>commesso</a:t>
            </a:r>
            <a:r>
              <a:rPr dirty="0">
                <a:solidFill>
                  <a:schemeClr val="tx1"/>
                </a:solidFill>
              </a:rPr>
              <a:t>   da   persona   </a:t>
            </a:r>
            <a:r>
              <a:rPr dirty="0" err="1">
                <a:solidFill>
                  <a:schemeClr val="tx1"/>
                </a:solidFill>
              </a:rPr>
              <a:t>sottoposta</a:t>
            </a:r>
            <a:r>
              <a:rPr dirty="0">
                <a:solidFill>
                  <a:schemeClr val="tx1"/>
                </a:solidFill>
              </a:rPr>
              <a:t>   con </a:t>
            </a:r>
            <a:r>
              <a:rPr dirty="0" err="1">
                <a:solidFill>
                  <a:schemeClr val="tx1"/>
                </a:solidFill>
              </a:rPr>
              <a:t>provvedimento</a:t>
            </a:r>
            <a:r>
              <a:rPr dirty="0">
                <a:solidFill>
                  <a:schemeClr val="tx1"/>
                </a:solidFill>
              </a:rPr>
              <a:t>   </a:t>
            </a:r>
            <a:r>
              <a:rPr dirty="0" err="1">
                <a:solidFill>
                  <a:schemeClr val="tx1"/>
                </a:solidFill>
              </a:rPr>
              <a:t>definitivo</a:t>
            </a:r>
            <a:r>
              <a:rPr dirty="0">
                <a:solidFill>
                  <a:schemeClr val="tx1"/>
                </a:solidFill>
              </a:rPr>
              <a:t>   </a:t>
            </a:r>
            <a:r>
              <a:rPr dirty="0" err="1">
                <a:solidFill>
                  <a:schemeClr val="tx1"/>
                </a:solidFill>
              </a:rPr>
              <a:t>alla</a:t>
            </a:r>
            <a:r>
              <a:rPr dirty="0">
                <a:solidFill>
                  <a:schemeClr val="tx1"/>
                </a:solidFill>
              </a:rPr>
              <a:t>   </a:t>
            </a:r>
            <a:r>
              <a:rPr dirty="0" err="1">
                <a:solidFill>
                  <a:schemeClr val="tx1"/>
                </a:solidFill>
              </a:rPr>
              <a:t>misura</a:t>
            </a:r>
            <a:r>
              <a:rPr dirty="0">
                <a:solidFill>
                  <a:schemeClr val="tx1"/>
                </a:solidFill>
              </a:rPr>
              <a:t>   di   </a:t>
            </a:r>
            <a:r>
              <a:rPr dirty="0" err="1">
                <a:solidFill>
                  <a:schemeClr val="tx1"/>
                </a:solidFill>
              </a:rPr>
              <a:t>prevenzione</a:t>
            </a:r>
            <a:r>
              <a:rPr dirty="0">
                <a:solidFill>
                  <a:schemeClr val="tx1"/>
                </a:solidFill>
              </a:rPr>
              <a:t>   </a:t>
            </a:r>
            <a:r>
              <a:rPr dirty="0" err="1">
                <a:solidFill>
                  <a:schemeClr val="tx1"/>
                </a:solidFill>
              </a:rPr>
              <a:t>della</a:t>
            </a:r>
            <a:r>
              <a:rPr dirty="0">
                <a:solidFill>
                  <a:schemeClr val="tx1"/>
                </a:solidFill>
              </a:rPr>
              <a:t> </a:t>
            </a:r>
            <a:r>
              <a:rPr dirty="0" err="1">
                <a:solidFill>
                  <a:schemeClr val="tx1"/>
                </a:solidFill>
              </a:rPr>
              <a:t>sorveglianza</a:t>
            </a:r>
            <a:r>
              <a:rPr dirty="0">
                <a:solidFill>
                  <a:schemeClr val="tx1"/>
                </a:solidFill>
              </a:rPr>
              <a:t> </a:t>
            </a:r>
            <a:r>
              <a:rPr dirty="0" err="1">
                <a:solidFill>
                  <a:schemeClr val="tx1"/>
                </a:solidFill>
              </a:rPr>
              <a:t>speciale</a:t>
            </a:r>
            <a:r>
              <a:rPr dirty="0">
                <a:solidFill>
                  <a:schemeClr val="tx1"/>
                </a:solidFill>
              </a:rPr>
              <a:t> </a:t>
            </a:r>
            <a:r>
              <a:rPr dirty="0" err="1">
                <a:solidFill>
                  <a:schemeClr val="tx1"/>
                </a:solidFill>
              </a:rPr>
              <a:t>durante</a:t>
            </a:r>
            <a:r>
              <a:rPr dirty="0">
                <a:solidFill>
                  <a:schemeClr val="tx1"/>
                </a:solidFill>
              </a:rPr>
              <a:t> </a:t>
            </a:r>
            <a:r>
              <a:rPr dirty="0" err="1">
                <a:solidFill>
                  <a:schemeClr val="tx1"/>
                </a:solidFill>
              </a:rPr>
              <a:t>il</a:t>
            </a:r>
            <a:r>
              <a:rPr dirty="0">
                <a:solidFill>
                  <a:schemeClr val="tx1"/>
                </a:solidFill>
              </a:rPr>
              <a:t> </a:t>
            </a:r>
            <a:r>
              <a:rPr dirty="0" err="1">
                <a:solidFill>
                  <a:schemeClr val="tx1"/>
                </a:solidFill>
              </a:rPr>
              <a:t>periodo</a:t>
            </a:r>
            <a:r>
              <a:rPr dirty="0">
                <a:solidFill>
                  <a:schemeClr val="tx1"/>
                </a:solidFill>
              </a:rPr>
              <a:t> </a:t>
            </a:r>
            <a:r>
              <a:rPr dirty="0" err="1">
                <a:solidFill>
                  <a:schemeClr val="tx1"/>
                </a:solidFill>
              </a:rPr>
              <a:t>previsto</a:t>
            </a:r>
            <a:r>
              <a:rPr dirty="0">
                <a:solidFill>
                  <a:schemeClr val="tx1"/>
                </a:solidFill>
              </a:rPr>
              <a:t> di  </a:t>
            </a:r>
            <a:r>
              <a:rPr dirty="0" err="1">
                <a:solidFill>
                  <a:schemeClr val="tx1"/>
                </a:solidFill>
              </a:rPr>
              <a:t>applicazione</a:t>
            </a:r>
            <a:r>
              <a:rPr dirty="0">
                <a:solidFill>
                  <a:schemeClr val="tx1"/>
                </a:solidFill>
              </a:rPr>
              <a:t>  e </a:t>
            </a:r>
            <a:r>
              <a:rPr dirty="0" err="1">
                <a:solidFill>
                  <a:schemeClr val="tx1"/>
                </a:solidFill>
              </a:rPr>
              <a:t>fino</a:t>
            </a:r>
            <a:r>
              <a:rPr dirty="0">
                <a:solidFill>
                  <a:schemeClr val="tx1"/>
                </a:solidFill>
              </a:rPr>
              <a:t> a </a:t>
            </a:r>
            <a:r>
              <a:rPr dirty="0" err="1">
                <a:solidFill>
                  <a:schemeClr val="tx1"/>
                </a:solidFill>
              </a:rPr>
              <a:t>tre</a:t>
            </a:r>
            <a:r>
              <a:rPr dirty="0">
                <a:solidFill>
                  <a:schemeClr val="tx1"/>
                </a:solidFill>
              </a:rPr>
              <a:t> </a:t>
            </a:r>
            <a:r>
              <a:rPr dirty="0" err="1">
                <a:solidFill>
                  <a:schemeClr val="tx1"/>
                </a:solidFill>
              </a:rPr>
              <a:t>anni</a:t>
            </a:r>
            <a:r>
              <a:rPr dirty="0">
                <a:solidFill>
                  <a:schemeClr val="tx1"/>
                </a:solidFill>
              </a:rPr>
              <a:t> dal </a:t>
            </a:r>
            <a:r>
              <a:rPr dirty="0" err="1">
                <a:solidFill>
                  <a:schemeClr val="tx1"/>
                </a:solidFill>
              </a:rPr>
              <a:t>momento</a:t>
            </a:r>
            <a:r>
              <a:rPr dirty="0">
                <a:solidFill>
                  <a:schemeClr val="tx1"/>
                </a:solidFill>
              </a:rPr>
              <a:t> in cui e' </a:t>
            </a:r>
            <a:r>
              <a:rPr dirty="0" err="1">
                <a:solidFill>
                  <a:schemeClr val="tx1"/>
                </a:solidFill>
              </a:rPr>
              <a:t>cessata</a:t>
            </a:r>
            <a:r>
              <a:rPr dirty="0">
                <a:solidFill>
                  <a:schemeClr val="tx1"/>
                </a:solidFill>
              </a:rPr>
              <a:t> </a:t>
            </a:r>
            <a:r>
              <a:rPr dirty="0" err="1">
                <a:solidFill>
                  <a:schemeClr val="tx1"/>
                </a:solidFill>
              </a:rPr>
              <a:t>l'esecuzione</a:t>
            </a:r>
            <a:r>
              <a:rPr dirty="0">
                <a:solidFill>
                  <a:schemeClr val="tx1"/>
                </a:solidFill>
              </a:rPr>
              <a:t>.  </a:t>
            </a:r>
          </a:p>
          <a:p>
            <a:pPr algn="just" defTabSz="361188" indent="0" marL="0">
              <a:spcBef>
                <a:spcPts val="0"/>
              </a:spcBef>
              <a:buSzTx/>
              <a:buFontTx/>
              <a:buNone/>
              <a:defRPr i="1" sz="1738">
                <a:solidFill>
                  <a:srgbClr val="444444"/>
                </a:solidFill>
                <a:latin typeface="Times New Roman"/>
                <a:ea typeface="Times New Roman"/>
                <a:cs typeface="Times New Roman"/>
                <a:sym typeface="Times New Roman"/>
              </a:defRPr>
            </a:pPr>
            <a:endParaRPr dirty="0">
              <a:solidFill>
                <a:schemeClr val="tx1"/>
              </a:solidFill>
            </a:endParaRPr>
          </a:p>
          <a:p>
            <a:pPr algn="just" defTabSz="361188" indent="0" marL="0">
              <a:spcBef>
                <a:spcPts val="0"/>
              </a:spcBef>
              <a:buSzTx/>
              <a:buFontTx/>
              <a:buNone/>
              <a:defRPr i="1" sz="1738">
                <a:solidFill>
                  <a:srgbClr val="444444"/>
                </a:solidFill>
                <a:latin typeface="Times New Roman"/>
                <a:ea typeface="Times New Roman"/>
                <a:cs typeface="Times New Roman"/>
                <a:sym typeface="Times New Roman"/>
              </a:defRPr>
            </a:pPr>
            <a:r>
              <a:rPr dirty="0">
                <a:solidFill>
                  <a:schemeClr val="tx1"/>
                </a:solidFill>
              </a:rPr>
              <a:t>   Nel </a:t>
            </a:r>
            <a:r>
              <a:rPr dirty="0" err="1">
                <a:solidFill>
                  <a:schemeClr val="tx1"/>
                </a:solidFill>
              </a:rPr>
              <a:t>caso</a:t>
            </a:r>
            <a:r>
              <a:rPr dirty="0">
                <a:solidFill>
                  <a:schemeClr val="tx1"/>
                </a:solidFill>
              </a:rPr>
              <a:t>  di  </a:t>
            </a:r>
            <a:r>
              <a:rPr dirty="0" err="1">
                <a:solidFill>
                  <a:schemeClr val="tx1"/>
                </a:solidFill>
              </a:rPr>
              <a:t>condanna</a:t>
            </a:r>
            <a:r>
              <a:rPr dirty="0">
                <a:solidFill>
                  <a:schemeClr val="tx1"/>
                </a:solidFill>
              </a:rPr>
              <a:t>,  o  di  </a:t>
            </a:r>
            <a:r>
              <a:rPr dirty="0" err="1">
                <a:solidFill>
                  <a:schemeClr val="tx1"/>
                </a:solidFill>
              </a:rPr>
              <a:t>applicazione</a:t>
            </a:r>
            <a:r>
              <a:rPr dirty="0">
                <a:solidFill>
                  <a:schemeClr val="tx1"/>
                </a:solidFill>
              </a:rPr>
              <a:t>  di  </a:t>
            </a:r>
            <a:r>
              <a:rPr dirty="0" err="1">
                <a:solidFill>
                  <a:schemeClr val="tx1"/>
                </a:solidFill>
              </a:rPr>
              <a:t>pena</a:t>
            </a:r>
            <a:r>
              <a:rPr dirty="0">
                <a:solidFill>
                  <a:schemeClr val="tx1"/>
                </a:solidFill>
              </a:rPr>
              <a:t>  ai  </a:t>
            </a:r>
            <a:r>
              <a:rPr dirty="0" err="1">
                <a:solidFill>
                  <a:schemeClr val="tx1"/>
                </a:solidFill>
              </a:rPr>
              <a:t>sensi</a:t>
            </a:r>
            <a:r>
              <a:rPr dirty="0">
                <a:solidFill>
                  <a:schemeClr val="tx1"/>
                </a:solidFill>
              </a:rPr>
              <a:t> </a:t>
            </a:r>
            <a:r>
              <a:rPr dirty="0" err="1">
                <a:solidFill>
                  <a:schemeClr val="tx1"/>
                </a:solidFill>
              </a:rPr>
              <a:t>dell'articolo</a:t>
            </a:r>
            <a:r>
              <a:rPr dirty="0">
                <a:solidFill>
                  <a:schemeClr val="tx1"/>
                </a:solidFill>
              </a:rPr>
              <a:t> 444 del </a:t>
            </a:r>
            <a:r>
              <a:rPr dirty="0" err="1">
                <a:solidFill>
                  <a:schemeClr val="tx1"/>
                </a:solidFill>
              </a:rPr>
              <a:t>codice</a:t>
            </a:r>
            <a:r>
              <a:rPr dirty="0">
                <a:solidFill>
                  <a:schemeClr val="tx1"/>
                </a:solidFill>
              </a:rPr>
              <a:t> di </a:t>
            </a:r>
            <a:r>
              <a:rPr dirty="0" err="1">
                <a:solidFill>
                  <a:schemeClr val="tx1"/>
                </a:solidFill>
              </a:rPr>
              <a:t>procedura</a:t>
            </a:r>
            <a:r>
              <a:rPr dirty="0">
                <a:solidFill>
                  <a:schemeClr val="tx1"/>
                </a:solidFill>
              </a:rPr>
              <a:t> </a:t>
            </a:r>
            <a:r>
              <a:rPr dirty="0" err="1">
                <a:solidFill>
                  <a:schemeClr val="tx1"/>
                </a:solidFill>
              </a:rPr>
              <a:t>penale</a:t>
            </a:r>
            <a:r>
              <a:rPr dirty="0">
                <a:solidFill>
                  <a:schemeClr val="tx1"/>
                </a:solidFill>
              </a:rPr>
              <a:t>, per </a:t>
            </a:r>
            <a:r>
              <a:rPr dirty="0" err="1">
                <a:solidFill>
                  <a:schemeClr val="tx1"/>
                </a:solidFill>
              </a:rPr>
              <a:t>uno</a:t>
            </a:r>
            <a:r>
              <a:rPr dirty="0">
                <a:solidFill>
                  <a:schemeClr val="tx1"/>
                </a:solidFill>
              </a:rPr>
              <a:t> </a:t>
            </a:r>
            <a:r>
              <a:rPr dirty="0" err="1">
                <a:solidFill>
                  <a:schemeClr val="tx1"/>
                </a:solidFill>
              </a:rPr>
              <a:t>dei</a:t>
            </a:r>
            <a:r>
              <a:rPr dirty="0">
                <a:solidFill>
                  <a:schemeClr val="tx1"/>
                </a:solidFill>
              </a:rPr>
              <a:t> </a:t>
            </a:r>
            <a:r>
              <a:rPr dirty="0" err="1">
                <a:solidFill>
                  <a:schemeClr val="tx1"/>
                </a:solidFill>
              </a:rPr>
              <a:t>delitti</a:t>
            </a:r>
            <a:r>
              <a:rPr dirty="0">
                <a:solidFill>
                  <a:schemeClr val="tx1"/>
                </a:solidFill>
              </a:rPr>
              <a:t> di cui al </a:t>
            </a:r>
            <a:r>
              <a:rPr dirty="0" err="1">
                <a:solidFill>
                  <a:schemeClr val="tx1"/>
                </a:solidFill>
              </a:rPr>
              <a:t>presente</a:t>
            </a:r>
            <a:r>
              <a:rPr dirty="0">
                <a:solidFill>
                  <a:schemeClr val="tx1"/>
                </a:solidFill>
              </a:rPr>
              <a:t> </a:t>
            </a:r>
            <a:r>
              <a:rPr dirty="0" err="1">
                <a:solidFill>
                  <a:schemeClr val="tx1"/>
                </a:solidFill>
              </a:rPr>
              <a:t>articolo</a:t>
            </a:r>
            <a:r>
              <a:rPr dirty="0">
                <a:solidFill>
                  <a:schemeClr val="tx1"/>
                </a:solidFill>
              </a:rPr>
              <a:t>, e' </a:t>
            </a:r>
            <a:r>
              <a:rPr dirty="0" err="1">
                <a:solidFill>
                  <a:schemeClr val="tx1"/>
                </a:solidFill>
              </a:rPr>
              <a:t>sempre</a:t>
            </a:r>
            <a:r>
              <a:rPr dirty="0">
                <a:solidFill>
                  <a:schemeClr val="tx1"/>
                </a:solidFill>
              </a:rPr>
              <a:t> </a:t>
            </a:r>
            <a:r>
              <a:rPr dirty="0" err="1">
                <a:solidFill>
                  <a:schemeClr val="tx1"/>
                </a:solidFill>
              </a:rPr>
              <a:t>ordinata</a:t>
            </a:r>
            <a:r>
              <a:rPr dirty="0">
                <a:solidFill>
                  <a:schemeClr val="tx1"/>
                </a:solidFill>
              </a:rPr>
              <a:t> la </a:t>
            </a:r>
            <a:r>
              <a:rPr dirty="0" err="1">
                <a:solidFill>
                  <a:schemeClr val="tx1"/>
                </a:solidFill>
              </a:rPr>
              <a:t>confisca</a:t>
            </a:r>
            <a:r>
              <a:rPr dirty="0">
                <a:solidFill>
                  <a:schemeClr val="tx1"/>
                </a:solidFill>
              </a:rPr>
              <a:t> </a:t>
            </a:r>
            <a:r>
              <a:rPr dirty="0" err="1">
                <a:solidFill>
                  <a:schemeClr val="tx1"/>
                </a:solidFill>
              </a:rPr>
              <a:t>dei</a:t>
            </a:r>
            <a:r>
              <a:rPr dirty="0">
                <a:solidFill>
                  <a:schemeClr val="tx1"/>
                </a:solidFill>
              </a:rPr>
              <a:t>  </a:t>
            </a:r>
            <a:r>
              <a:rPr dirty="0" err="1">
                <a:solidFill>
                  <a:schemeClr val="tx1"/>
                </a:solidFill>
              </a:rPr>
              <a:t>beni</a:t>
            </a:r>
            <a:r>
              <a:rPr dirty="0">
                <a:solidFill>
                  <a:schemeClr val="tx1"/>
                </a:solidFill>
              </a:rPr>
              <a:t> </a:t>
            </a:r>
            <a:r>
              <a:rPr dirty="0" err="1">
                <a:solidFill>
                  <a:schemeClr val="tx1"/>
                </a:solidFill>
              </a:rPr>
              <a:t>che</a:t>
            </a:r>
            <a:r>
              <a:rPr dirty="0">
                <a:solidFill>
                  <a:schemeClr val="tx1"/>
                </a:solidFill>
              </a:rPr>
              <a:t> </a:t>
            </a:r>
            <a:r>
              <a:rPr dirty="0" err="1">
                <a:solidFill>
                  <a:schemeClr val="tx1"/>
                </a:solidFill>
              </a:rPr>
              <a:t>costituiscono</a:t>
            </a:r>
            <a:r>
              <a:rPr dirty="0">
                <a:solidFill>
                  <a:schemeClr val="tx1"/>
                </a:solidFill>
              </a:rPr>
              <a:t> </a:t>
            </a:r>
            <a:r>
              <a:rPr dirty="0" err="1">
                <a:solidFill>
                  <a:schemeClr val="tx1"/>
                </a:solidFill>
              </a:rPr>
              <a:t>prezzo</a:t>
            </a:r>
            <a:r>
              <a:rPr dirty="0">
                <a:solidFill>
                  <a:schemeClr val="tx1"/>
                </a:solidFill>
              </a:rPr>
              <a:t> o </a:t>
            </a:r>
            <a:r>
              <a:rPr dirty="0" err="1">
                <a:solidFill>
                  <a:schemeClr val="tx1"/>
                </a:solidFill>
              </a:rPr>
              <a:t>profitto</a:t>
            </a:r>
            <a:r>
              <a:rPr dirty="0">
                <a:solidFill>
                  <a:schemeClr val="tx1"/>
                </a:solidFill>
              </a:rPr>
              <a:t> del  </a:t>
            </a:r>
            <a:r>
              <a:rPr dirty="0" err="1">
                <a:solidFill>
                  <a:schemeClr val="tx1"/>
                </a:solidFill>
              </a:rPr>
              <a:t>reato</a:t>
            </a:r>
            <a:r>
              <a:rPr dirty="0">
                <a:solidFill>
                  <a:schemeClr val="tx1"/>
                </a:solidFill>
              </a:rPr>
              <a:t>  </a:t>
            </a:r>
            <a:r>
              <a:rPr dirty="0" err="1">
                <a:solidFill>
                  <a:schemeClr val="tx1"/>
                </a:solidFill>
              </a:rPr>
              <a:t>ovvero</a:t>
            </a:r>
            <a:r>
              <a:rPr dirty="0">
                <a:solidFill>
                  <a:schemeClr val="tx1"/>
                </a:solidFill>
              </a:rPr>
              <a:t>  di  </a:t>
            </a:r>
            <a:r>
              <a:rPr dirty="0" err="1">
                <a:solidFill>
                  <a:schemeClr val="tx1"/>
                </a:solidFill>
              </a:rPr>
              <a:t>somme</a:t>
            </a:r>
            <a:r>
              <a:rPr dirty="0">
                <a:solidFill>
                  <a:schemeClr val="tx1"/>
                </a:solidFill>
              </a:rPr>
              <a:t>  di </a:t>
            </a:r>
            <a:r>
              <a:rPr dirty="0" err="1">
                <a:solidFill>
                  <a:schemeClr val="tx1"/>
                </a:solidFill>
              </a:rPr>
              <a:t>denaro</a:t>
            </a:r>
            <a:r>
              <a:rPr dirty="0">
                <a:solidFill>
                  <a:schemeClr val="tx1"/>
                </a:solidFill>
              </a:rPr>
              <a:t>, </a:t>
            </a:r>
            <a:r>
              <a:rPr dirty="0" err="1">
                <a:solidFill>
                  <a:schemeClr val="tx1"/>
                </a:solidFill>
              </a:rPr>
              <a:t>beni</a:t>
            </a:r>
            <a:r>
              <a:rPr dirty="0">
                <a:solidFill>
                  <a:schemeClr val="tx1"/>
                </a:solidFill>
              </a:rPr>
              <a:t> ed </a:t>
            </a:r>
            <a:r>
              <a:rPr dirty="0" err="1">
                <a:solidFill>
                  <a:schemeClr val="tx1"/>
                </a:solidFill>
              </a:rPr>
              <a:t>utilità</a:t>
            </a:r>
            <a:r>
              <a:rPr dirty="0">
                <a:solidFill>
                  <a:schemeClr val="tx1"/>
                </a:solidFill>
              </a:rPr>
              <a:t>  di cui </a:t>
            </a:r>
            <a:r>
              <a:rPr dirty="0" err="1">
                <a:solidFill>
                  <a:schemeClr val="tx1"/>
                </a:solidFill>
              </a:rPr>
              <a:t>il</a:t>
            </a:r>
            <a:r>
              <a:rPr dirty="0">
                <a:solidFill>
                  <a:schemeClr val="tx1"/>
                </a:solidFill>
              </a:rPr>
              <a:t> </a:t>
            </a:r>
            <a:r>
              <a:rPr dirty="0" err="1">
                <a:solidFill>
                  <a:schemeClr val="tx1"/>
                </a:solidFill>
              </a:rPr>
              <a:t>reo</a:t>
            </a:r>
            <a:r>
              <a:rPr dirty="0">
                <a:solidFill>
                  <a:schemeClr val="tx1"/>
                </a:solidFill>
              </a:rPr>
              <a:t> ha la </a:t>
            </a:r>
            <a:r>
              <a:rPr dirty="0" err="1">
                <a:solidFill>
                  <a:schemeClr val="tx1"/>
                </a:solidFill>
              </a:rPr>
              <a:t>disponibilità</a:t>
            </a:r>
            <a:r>
              <a:rPr dirty="0">
                <a:solidFill>
                  <a:schemeClr val="tx1"/>
                </a:solidFill>
              </a:rPr>
              <a:t> </a:t>
            </a:r>
            <a:r>
              <a:rPr dirty="0" err="1">
                <a:solidFill>
                  <a:schemeClr val="tx1"/>
                </a:solidFill>
              </a:rPr>
              <a:t>anche</a:t>
            </a:r>
            <a:r>
              <a:rPr dirty="0">
                <a:solidFill>
                  <a:schemeClr val="tx1"/>
                </a:solidFill>
              </a:rPr>
              <a:t> per </a:t>
            </a:r>
            <a:r>
              <a:rPr dirty="0" err="1">
                <a:solidFill>
                  <a:schemeClr val="tx1"/>
                </a:solidFill>
              </a:rPr>
              <a:t>interposta</a:t>
            </a:r>
            <a:r>
              <a:rPr dirty="0">
                <a:solidFill>
                  <a:schemeClr val="tx1"/>
                </a:solidFill>
              </a:rPr>
              <a:t> persona per un </a:t>
            </a:r>
            <a:r>
              <a:rPr dirty="0" err="1">
                <a:solidFill>
                  <a:schemeClr val="tx1"/>
                </a:solidFill>
              </a:rPr>
              <a:t>importo</a:t>
            </a:r>
            <a:r>
              <a:rPr dirty="0">
                <a:solidFill>
                  <a:schemeClr val="tx1"/>
                </a:solidFill>
              </a:rPr>
              <a:t> </a:t>
            </a:r>
            <a:r>
              <a:rPr dirty="0" err="1">
                <a:solidFill>
                  <a:schemeClr val="tx1"/>
                </a:solidFill>
              </a:rPr>
              <a:t>pari</a:t>
            </a:r>
            <a:r>
              <a:rPr dirty="0">
                <a:solidFill>
                  <a:schemeClr val="tx1"/>
                </a:solidFill>
              </a:rPr>
              <a:t> al </a:t>
            </a:r>
            <a:r>
              <a:rPr dirty="0" err="1">
                <a:solidFill>
                  <a:schemeClr val="tx1"/>
                </a:solidFill>
              </a:rPr>
              <a:t>valore</a:t>
            </a:r>
            <a:r>
              <a:rPr dirty="0">
                <a:solidFill>
                  <a:schemeClr val="tx1"/>
                </a:solidFill>
              </a:rPr>
              <a:t>  </a:t>
            </a:r>
            <a:r>
              <a:rPr dirty="0" err="1">
                <a:solidFill>
                  <a:schemeClr val="tx1"/>
                </a:solidFill>
              </a:rPr>
              <a:t>degli</a:t>
            </a:r>
            <a:r>
              <a:rPr dirty="0">
                <a:solidFill>
                  <a:schemeClr val="tx1"/>
                </a:solidFill>
              </a:rPr>
              <a:t>  </a:t>
            </a:r>
            <a:r>
              <a:rPr dirty="0" err="1">
                <a:solidFill>
                  <a:schemeClr val="tx1"/>
                </a:solidFill>
              </a:rPr>
              <a:t>interessi</a:t>
            </a:r>
            <a:r>
              <a:rPr dirty="0">
                <a:solidFill>
                  <a:schemeClr val="tx1"/>
                </a:solidFill>
              </a:rPr>
              <a:t>  o </a:t>
            </a:r>
            <a:r>
              <a:rPr dirty="0" err="1">
                <a:solidFill>
                  <a:schemeClr val="tx1"/>
                </a:solidFill>
              </a:rPr>
              <a:t>degli</a:t>
            </a:r>
            <a:r>
              <a:rPr dirty="0">
                <a:solidFill>
                  <a:schemeClr val="tx1"/>
                </a:solidFill>
              </a:rPr>
              <a:t> </a:t>
            </a:r>
            <a:r>
              <a:rPr dirty="0" err="1">
                <a:solidFill>
                  <a:schemeClr val="tx1"/>
                </a:solidFill>
              </a:rPr>
              <a:t>altri</a:t>
            </a:r>
            <a:r>
              <a:rPr dirty="0">
                <a:solidFill>
                  <a:schemeClr val="tx1"/>
                </a:solidFill>
              </a:rPr>
              <a:t> </a:t>
            </a:r>
            <a:r>
              <a:rPr dirty="0" err="1">
                <a:solidFill>
                  <a:schemeClr val="tx1"/>
                </a:solidFill>
              </a:rPr>
              <a:t>vantaggi</a:t>
            </a:r>
            <a:r>
              <a:rPr dirty="0">
                <a:solidFill>
                  <a:schemeClr val="tx1"/>
                </a:solidFill>
              </a:rPr>
              <a:t>  o  </a:t>
            </a:r>
            <a:r>
              <a:rPr dirty="0" err="1">
                <a:solidFill>
                  <a:schemeClr val="tx1"/>
                </a:solidFill>
              </a:rPr>
              <a:t>compensi</a:t>
            </a:r>
            <a:r>
              <a:rPr dirty="0">
                <a:solidFill>
                  <a:schemeClr val="tx1"/>
                </a:solidFill>
              </a:rPr>
              <a:t>  </a:t>
            </a:r>
            <a:r>
              <a:rPr dirty="0" err="1">
                <a:solidFill>
                  <a:schemeClr val="tx1"/>
                </a:solidFill>
              </a:rPr>
              <a:t>usurari</a:t>
            </a:r>
            <a:r>
              <a:rPr dirty="0">
                <a:solidFill>
                  <a:schemeClr val="tx1"/>
                </a:solidFill>
              </a:rPr>
              <a:t>,  </a:t>
            </a:r>
            <a:r>
              <a:rPr dirty="0" err="1">
                <a:solidFill>
                  <a:schemeClr val="tx1"/>
                </a:solidFill>
              </a:rPr>
              <a:t>salvi</a:t>
            </a:r>
            <a:r>
              <a:rPr dirty="0">
                <a:solidFill>
                  <a:schemeClr val="tx1"/>
                </a:solidFill>
              </a:rPr>
              <a:t>  </a:t>
            </a:r>
            <a:r>
              <a:rPr dirty="0" err="1">
                <a:solidFill>
                  <a:schemeClr val="tx1"/>
                </a:solidFill>
              </a:rPr>
              <a:t>i</a:t>
            </a:r>
            <a:r>
              <a:rPr dirty="0">
                <a:solidFill>
                  <a:schemeClr val="tx1"/>
                </a:solidFill>
              </a:rPr>
              <a:t>  </a:t>
            </a:r>
            <a:r>
              <a:rPr dirty="0" err="1">
                <a:solidFill>
                  <a:schemeClr val="tx1"/>
                </a:solidFill>
              </a:rPr>
              <a:t>diritti</a:t>
            </a:r>
            <a:r>
              <a:rPr dirty="0">
                <a:solidFill>
                  <a:schemeClr val="tx1"/>
                </a:solidFill>
              </a:rPr>
              <a:t>  </a:t>
            </a:r>
            <a:r>
              <a:rPr dirty="0" err="1">
                <a:solidFill>
                  <a:schemeClr val="tx1"/>
                </a:solidFill>
              </a:rPr>
              <a:t>della</a:t>
            </a:r>
            <a:r>
              <a:rPr dirty="0">
                <a:solidFill>
                  <a:schemeClr val="tx1"/>
                </a:solidFill>
              </a:rPr>
              <a:t> persona </a:t>
            </a:r>
            <a:r>
              <a:rPr dirty="0" err="1">
                <a:solidFill>
                  <a:schemeClr val="tx1"/>
                </a:solidFill>
              </a:rPr>
              <a:t>offesa</a:t>
            </a:r>
            <a:r>
              <a:rPr dirty="0">
                <a:solidFill>
                  <a:schemeClr val="tx1"/>
                </a:solidFill>
              </a:rPr>
              <a:t> dal </a:t>
            </a:r>
            <a:r>
              <a:rPr dirty="0" err="1">
                <a:solidFill>
                  <a:schemeClr val="tx1"/>
                </a:solidFill>
              </a:rPr>
              <a:t>reato</a:t>
            </a:r>
            <a:r>
              <a:rPr dirty="0">
                <a:solidFill>
                  <a:schemeClr val="tx1"/>
                </a:solidFill>
              </a:rPr>
              <a:t> </a:t>
            </a:r>
            <a:r>
              <a:rPr dirty="0" err="1">
                <a:solidFill>
                  <a:schemeClr val="tx1"/>
                </a:solidFill>
              </a:rPr>
              <a:t>alle</a:t>
            </a:r>
            <a:r>
              <a:rPr dirty="0">
                <a:solidFill>
                  <a:schemeClr val="tx1"/>
                </a:solidFill>
              </a:rPr>
              <a:t>  </a:t>
            </a:r>
            <a:r>
              <a:rPr dirty="0" err="1">
                <a:solidFill>
                  <a:schemeClr val="tx1"/>
                </a:solidFill>
              </a:rPr>
              <a:t>restituzioni</a:t>
            </a:r>
            <a:r>
              <a:rPr dirty="0">
                <a:solidFill>
                  <a:schemeClr val="tx1"/>
                </a:solidFill>
              </a:rPr>
              <a:t>  e  al  </a:t>
            </a:r>
            <a:r>
              <a:rPr dirty="0" err="1">
                <a:solidFill>
                  <a:schemeClr val="tx1"/>
                </a:solidFill>
              </a:rPr>
              <a:t>risarcimento</a:t>
            </a:r>
            <a:r>
              <a:rPr dirty="0">
                <a:solidFill>
                  <a:schemeClr val="tx1"/>
                </a:solidFill>
              </a:rPr>
              <a:t>  </a:t>
            </a:r>
            <a:r>
              <a:rPr dirty="0" err="1">
                <a:solidFill>
                  <a:schemeClr val="tx1"/>
                </a:solidFill>
              </a:rPr>
              <a:t>dei</a:t>
            </a:r>
            <a:r>
              <a:rPr dirty="0">
                <a:solidFill>
                  <a:schemeClr val="tx1"/>
                </a:solidFill>
              </a:rPr>
              <a:t> </a:t>
            </a:r>
            <a:r>
              <a:rPr dirty="0" err="1">
                <a:solidFill>
                  <a:schemeClr val="tx1"/>
                </a:solidFill>
              </a:rPr>
              <a:t>danni</a:t>
            </a:r>
            <a:r>
              <a:rPr dirty="0">
                <a:solidFill>
                  <a:schemeClr val="tx1"/>
                </a:solidFill>
              </a:rPr>
              <a:t>. </a:t>
            </a:r>
          </a:p>
        </p:txBody>
      </p:sp>
      <p:pic>
        <p:nvPicPr>
          <p:cNvPr descr="Immagine 3" id="441" name="Immagine 3"/>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 name="Rettangolo 4"/>
          <p:cNvSpPr txBox="1"/>
          <p:nvPr/>
        </p:nvSpPr>
        <p:spPr>
          <a:xfrm>
            <a:off x="167897" y="836712"/>
            <a:ext cx="8808206" cy="53088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b="0" sz="2200">
                <a:latin typeface="Times New Roman"/>
                <a:ea typeface="Times New Roman"/>
                <a:cs typeface="Times New Roman"/>
                <a:sym typeface="Times New Roman"/>
              </a:defRPr>
            </a:pPr>
            <a:r>
              <a:rPr dirty="0" err="1"/>
              <a:t>L’usura</a:t>
            </a:r>
            <a:r>
              <a:rPr dirty="0"/>
              <a:t> è un </a:t>
            </a:r>
            <a:r>
              <a:rPr b="1" dirty="0">
                <a:solidFill>
                  <a:srgbClr val="A22E8C"/>
                </a:solidFill>
              </a:rPr>
              <a:t>REATO COMUNE</a:t>
            </a:r>
            <a:r>
              <a:rPr dirty="0"/>
              <a:t>, in </a:t>
            </a:r>
            <a:r>
              <a:rPr dirty="0" err="1"/>
              <a:t>quanto</a:t>
            </a:r>
            <a:r>
              <a:rPr dirty="0"/>
              <a:t> </a:t>
            </a:r>
            <a:r>
              <a:rPr dirty="0" err="1"/>
              <a:t>può</a:t>
            </a:r>
            <a:r>
              <a:rPr dirty="0"/>
              <a:t> </a:t>
            </a:r>
            <a:r>
              <a:rPr dirty="0" err="1"/>
              <a:t>essere</a:t>
            </a:r>
            <a:r>
              <a:rPr dirty="0"/>
              <a:t> </a:t>
            </a:r>
            <a:r>
              <a:rPr dirty="0" err="1"/>
              <a:t>commesso</a:t>
            </a:r>
            <a:r>
              <a:rPr dirty="0"/>
              <a:t> da </a:t>
            </a:r>
            <a:r>
              <a:rPr dirty="0" err="1"/>
              <a:t>chiunque</a:t>
            </a:r>
            <a:r>
              <a:rPr dirty="0"/>
              <a:t>. </a:t>
            </a:r>
            <a:r>
              <a:rPr dirty="0" err="1"/>
              <a:t>L'usura</a:t>
            </a:r>
            <a:r>
              <a:rPr dirty="0"/>
              <a:t> </a:t>
            </a:r>
            <a:r>
              <a:rPr dirty="0" err="1"/>
              <a:t>può</a:t>
            </a:r>
            <a:r>
              <a:rPr dirty="0"/>
              <a:t> </a:t>
            </a:r>
            <a:r>
              <a:rPr dirty="0" err="1"/>
              <a:t>avvenire</a:t>
            </a:r>
            <a:r>
              <a:rPr dirty="0"/>
              <a:t> in </a:t>
            </a:r>
            <a:r>
              <a:rPr dirty="0" err="1"/>
              <a:t>tre</a:t>
            </a:r>
            <a:r>
              <a:rPr dirty="0"/>
              <a:t> </a:t>
            </a:r>
            <a:r>
              <a:rPr dirty="0" err="1"/>
              <a:t>modalità</a:t>
            </a:r>
            <a:r>
              <a:rPr dirty="0"/>
              <a:t>:</a:t>
            </a:r>
          </a:p>
          <a:p>
            <a:pPr algn="just">
              <a:lnSpc>
                <a:spcPct val="114000"/>
              </a:lnSpc>
              <a:spcBef>
                <a:spcPts val="1200"/>
              </a:spcBef>
              <a:defRPr sz="2200">
                <a:solidFill>
                  <a:srgbClr val="A22E8C"/>
                </a:solidFill>
                <a:latin typeface="Times New Roman"/>
                <a:ea typeface="Times New Roman"/>
                <a:cs typeface="Times New Roman"/>
                <a:sym typeface="Times New Roman"/>
              </a:defRPr>
            </a:pPr>
            <a:r>
              <a:rPr dirty="0"/>
              <a:t>1. L'USURA PRESUNTA</a:t>
            </a:r>
            <a:r>
              <a:rPr b="0" dirty="0">
                <a:solidFill>
                  <a:srgbClr val="000000"/>
                </a:solidFill>
              </a:rPr>
              <a:t>, </a:t>
            </a:r>
            <a:r>
              <a:rPr b="0" dirty="0" err="1">
                <a:solidFill>
                  <a:srgbClr val="000000"/>
                </a:solidFill>
              </a:rPr>
              <a:t>integrata</a:t>
            </a:r>
            <a:r>
              <a:rPr b="0" dirty="0">
                <a:solidFill>
                  <a:srgbClr val="000000"/>
                </a:solidFill>
              </a:rPr>
              <a:t> dal </a:t>
            </a:r>
            <a:r>
              <a:rPr dirty="0" err="1">
                <a:solidFill>
                  <a:srgbClr val="000000"/>
                </a:solidFill>
              </a:rPr>
              <a:t>farsi</a:t>
            </a:r>
            <a:r>
              <a:rPr dirty="0">
                <a:solidFill>
                  <a:srgbClr val="000000"/>
                </a:solidFill>
              </a:rPr>
              <a:t> dare o </a:t>
            </a:r>
            <a:r>
              <a:rPr dirty="0" err="1">
                <a:solidFill>
                  <a:srgbClr val="000000"/>
                </a:solidFill>
              </a:rPr>
              <a:t>promettere</a:t>
            </a:r>
            <a:r>
              <a:rPr dirty="0">
                <a:solidFill>
                  <a:srgbClr val="000000"/>
                </a:solidFill>
              </a:rPr>
              <a:t> </a:t>
            </a:r>
            <a:r>
              <a:rPr dirty="0" err="1">
                <a:solidFill>
                  <a:srgbClr val="000000"/>
                </a:solidFill>
              </a:rPr>
              <a:t>interessi</a:t>
            </a:r>
            <a:r>
              <a:rPr dirty="0">
                <a:solidFill>
                  <a:srgbClr val="000000"/>
                </a:solidFill>
              </a:rPr>
              <a:t> o </a:t>
            </a:r>
            <a:r>
              <a:rPr dirty="0" err="1">
                <a:solidFill>
                  <a:srgbClr val="000000"/>
                </a:solidFill>
              </a:rPr>
              <a:t>altri</a:t>
            </a:r>
            <a:r>
              <a:rPr dirty="0">
                <a:solidFill>
                  <a:srgbClr val="000000"/>
                </a:solidFill>
              </a:rPr>
              <a:t> </a:t>
            </a:r>
            <a:r>
              <a:rPr dirty="0" err="1">
                <a:solidFill>
                  <a:srgbClr val="000000"/>
                </a:solidFill>
              </a:rPr>
              <a:t>vantaggi</a:t>
            </a:r>
            <a:r>
              <a:rPr dirty="0">
                <a:solidFill>
                  <a:srgbClr val="000000"/>
                </a:solidFill>
              </a:rPr>
              <a:t> </a:t>
            </a:r>
            <a:r>
              <a:rPr dirty="0" err="1" u="sng"/>
              <a:t>usurari</a:t>
            </a:r>
            <a:r>
              <a:rPr dirty="0">
                <a:solidFill>
                  <a:srgbClr val="000000"/>
                </a:solidFill>
              </a:rPr>
              <a:t> </a:t>
            </a:r>
            <a:r>
              <a:rPr b="0" dirty="0">
                <a:solidFill>
                  <a:srgbClr val="000000"/>
                </a:solidFill>
              </a:rPr>
              <a:t>in </a:t>
            </a:r>
            <a:r>
              <a:rPr b="0" dirty="0" err="1">
                <a:solidFill>
                  <a:srgbClr val="000000"/>
                </a:solidFill>
              </a:rPr>
              <a:t>cambio</a:t>
            </a:r>
            <a:r>
              <a:rPr b="0" dirty="0">
                <a:solidFill>
                  <a:srgbClr val="000000"/>
                </a:solidFill>
              </a:rPr>
              <a:t> di una </a:t>
            </a:r>
            <a:r>
              <a:rPr b="0" dirty="0" err="1">
                <a:solidFill>
                  <a:srgbClr val="000000"/>
                </a:solidFill>
              </a:rPr>
              <a:t>prestazione</a:t>
            </a:r>
            <a:r>
              <a:rPr b="0" dirty="0">
                <a:solidFill>
                  <a:srgbClr val="000000"/>
                </a:solidFill>
              </a:rPr>
              <a:t> di </a:t>
            </a:r>
            <a:r>
              <a:rPr b="0" dirty="0" err="1">
                <a:solidFill>
                  <a:srgbClr val="000000"/>
                </a:solidFill>
              </a:rPr>
              <a:t>denaro</a:t>
            </a:r>
            <a:r>
              <a:rPr b="0" dirty="0">
                <a:solidFill>
                  <a:srgbClr val="000000"/>
                </a:solidFill>
              </a:rPr>
              <a:t> od </a:t>
            </a:r>
            <a:r>
              <a:rPr b="0" dirty="0" err="1">
                <a:solidFill>
                  <a:srgbClr val="000000"/>
                </a:solidFill>
              </a:rPr>
              <a:t>altra</a:t>
            </a:r>
            <a:r>
              <a:rPr b="0" dirty="0">
                <a:solidFill>
                  <a:srgbClr val="000000"/>
                </a:solidFill>
              </a:rPr>
              <a:t> </a:t>
            </a:r>
            <a:r>
              <a:rPr b="0" dirty="0" err="1">
                <a:solidFill>
                  <a:srgbClr val="000000"/>
                </a:solidFill>
              </a:rPr>
              <a:t>utilità</a:t>
            </a:r>
            <a:r>
              <a:rPr b="0" dirty="0">
                <a:solidFill>
                  <a:srgbClr val="000000"/>
                </a:solidFill>
              </a:rPr>
              <a:t> </a:t>
            </a:r>
            <a:r>
              <a:rPr dirty="0"/>
              <a:t>(</a:t>
            </a:r>
            <a:r>
              <a:rPr dirty="0" err="1"/>
              <a:t>usura</a:t>
            </a:r>
            <a:r>
              <a:rPr dirty="0"/>
              <a:t> c.d. </a:t>
            </a:r>
            <a:r>
              <a:rPr dirty="0" err="1"/>
              <a:t>reale</a:t>
            </a:r>
            <a:r>
              <a:rPr dirty="0"/>
              <a:t>)</a:t>
            </a:r>
            <a:r>
              <a:rPr dirty="0">
                <a:solidFill>
                  <a:srgbClr val="000000"/>
                </a:solidFill>
              </a:rPr>
              <a:t>. </a:t>
            </a:r>
          </a:p>
          <a:p>
            <a:pPr algn="just" indent="-342900" marL="342900">
              <a:lnSpc>
                <a:spcPct val="114000"/>
              </a:lnSpc>
              <a:spcBef>
                <a:spcPts val="1200"/>
              </a:spcBef>
              <a:buSzPct val="100000"/>
              <a:buChar char="-"/>
              <a:defRPr b="0" sz="2200">
                <a:latin typeface="Times New Roman"/>
                <a:ea typeface="Times New Roman"/>
                <a:cs typeface="Times New Roman"/>
                <a:sym typeface="Times New Roman"/>
              </a:defRPr>
            </a:pPr>
            <a:r>
              <a:rPr dirty="0"/>
              <a:t>Per </a:t>
            </a:r>
            <a:r>
              <a:rPr b="1" dirty="0"/>
              <a:t>INTERESSI</a:t>
            </a:r>
            <a:r>
              <a:rPr dirty="0"/>
              <a:t> </a:t>
            </a:r>
            <a:r>
              <a:rPr dirty="0" err="1"/>
              <a:t>si</a:t>
            </a:r>
            <a:r>
              <a:rPr dirty="0"/>
              <a:t> </a:t>
            </a:r>
            <a:r>
              <a:rPr dirty="0" err="1"/>
              <a:t>intende</a:t>
            </a:r>
            <a:r>
              <a:rPr dirty="0"/>
              <a:t> </a:t>
            </a:r>
            <a:r>
              <a:rPr dirty="0" err="1"/>
              <a:t>il</a:t>
            </a:r>
            <a:r>
              <a:rPr dirty="0"/>
              <a:t> </a:t>
            </a:r>
            <a:r>
              <a:rPr dirty="0" err="1"/>
              <a:t>prezzo</a:t>
            </a:r>
            <a:r>
              <a:rPr dirty="0"/>
              <a:t> </a:t>
            </a:r>
            <a:r>
              <a:rPr dirty="0" err="1"/>
              <a:t>che</a:t>
            </a:r>
            <a:r>
              <a:rPr dirty="0"/>
              <a:t> </a:t>
            </a:r>
            <a:r>
              <a:rPr dirty="0" err="1"/>
              <a:t>si</a:t>
            </a:r>
            <a:r>
              <a:rPr dirty="0"/>
              <a:t> </a:t>
            </a:r>
            <a:r>
              <a:rPr dirty="0" err="1"/>
              <a:t>paga</a:t>
            </a:r>
            <a:r>
              <a:rPr dirty="0"/>
              <a:t> per la </a:t>
            </a:r>
            <a:r>
              <a:rPr dirty="0" err="1"/>
              <a:t>prestazione</a:t>
            </a:r>
            <a:r>
              <a:rPr dirty="0"/>
              <a:t> </a:t>
            </a:r>
            <a:r>
              <a:rPr dirty="0" err="1"/>
              <a:t>ricevuta</a:t>
            </a:r>
            <a:r>
              <a:rPr dirty="0"/>
              <a:t>; </a:t>
            </a:r>
          </a:p>
          <a:p>
            <a:pPr algn="just" indent="-342900" marL="342900">
              <a:lnSpc>
                <a:spcPct val="114000"/>
              </a:lnSpc>
              <a:spcBef>
                <a:spcPts val="1200"/>
              </a:spcBef>
              <a:buSzPct val="100000"/>
              <a:buChar char="-"/>
              <a:defRPr b="0" sz="2200">
                <a:latin typeface="Times New Roman"/>
                <a:ea typeface="Times New Roman"/>
                <a:cs typeface="Times New Roman"/>
                <a:sym typeface="Times New Roman"/>
              </a:defRPr>
            </a:pPr>
            <a:r>
              <a:rPr dirty="0"/>
              <a:t>per </a:t>
            </a:r>
            <a:r>
              <a:rPr b="1" dirty="0"/>
              <a:t>VANTAGGI</a:t>
            </a:r>
            <a:r>
              <a:rPr dirty="0"/>
              <a:t> </a:t>
            </a:r>
            <a:r>
              <a:rPr dirty="0" err="1"/>
              <a:t>ogni</a:t>
            </a:r>
            <a:r>
              <a:rPr dirty="0"/>
              <a:t> </a:t>
            </a:r>
            <a:r>
              <a:rPr dirty="0" err="1"/>
              <a:t>altro</a:t>
            </a:r>
            <a:r>
              <a:rPr dirty="0"/>
              <a:t> </a:t>
            </a:r>
            <a:r>
              <a:rPr dirty="0" err="1"/>
              <a:t>tipo</a:t>
            </a:r>
            <a:r>
              <a:rPr dirty="0"/>
              <a:t> di </a:t>
            </a:r>
            <a:r>
              <a:rPr dirty="0" err="1"/>
              <a:t>compenso</a:t>
            </a:r>
            <a:r>
              <a:rPr dirty="0"/>
              <a:t> </a:t>
            </a:r>
            <a:r>
              <a:rPr dirty="0" err="1"/>
              <a:t>pagato</a:t>
            </a:r>
            <a:r>
              <a:rPr dirty="0"/>
              <a:t> </a:t>
            </a:r>
            <a:r>
              <a:rPr dirty="0" err="1"/>
              <a:t>allo</a:t>
            </a:r>
            <a:r>
              <a:rPr dirty="0"/>
              <a:t> </a:t>
            </a:r>
            <a:r>
              <a:rPr dirty="0" err="1"/>
              <a:t>stesso</a:t>
            </a:r>
            <a:r>
              <a:rPr dirty="0"/>
              <a:t> fine; </a:t>
            </a:r>
          </a:p>
          <a:p>
            <a:pPr algn="just" indent="-342900" marL="342900">
              <a:lnSpc>
                <a:spcPct val="114000"/>
              </a:lnSpc>
              <a:spcBef>
                <a:spcPts val="1200"/>
              </a:spcBef>
              <a:buSzPct val="100000"/>
              <a:buChar char="-"/>
              <a:defRPr b="0" sz="2200">
                <a:latin typeface="Times New Roman"/>
                <a:ea typeface="Times New Roman"/>
                <a:cs typeface="Times New Roman"/>
                <a:sym typeface="Times New Roman"/>
              </a:defRPr>
            </a:pPr>
            <a:r>
              <a:rPr dirty="0"/>
              <a:t>Il </a:t>
            </a:r>
            <a:r>
              <a:rPr b="1" dirty="0"/>
              <a:t>TASSO USURARIO LEGALE </a:t>
            </a:r>
            <a:r>
              <a:rPr dirty="0"/>
              <a:t>a </a:t>
            </a:r>
            <a:r>
              <a:rPr dirty="0" err="1"/>
              <a:t>partire</a:t>
            </a:r>
            <a:r>
              <a:rPr dirty="0"/>
              <a:t> dal quale </a:t>
            </a:r>
            <a:r>
              <a:rPr dirty="0" err="1"/>
              <a:t>scatta</a:t>
            </a:r>
            <a:r>
              <a:rPr dirty="0"/>
              <a:t> la </a:t>
            </a:r>
            <a:r>
              <a:rPr dirty="0" err="1"/>
              <a:t>rilevanza</a:t>
            </a:r>
            <a:r>
              <a:rPr dirty="0"/>
              <a:t> </a:t>
            </a:r>
            <a:r>
              <a:rPr dirty="0" err="1"/>
              <a:t>penale</a:t>
            </a:r>
            <a:r>
              <a:rPr dirty="0"/>
              <a:t>.</a:t>
            </a:r>
            <a:br>
              <a:rPr dirty="0"/>
            </a:br>
            <a:r>
              <a:rPr dirty="0" err="1"/>
              <a:t>Gli</a:t>
            </a:r>
            <a:r>
              <a:rPr dirty="0"/>
              <a:t> </a:t>
            </a:r>
            <a:r>
              <a:rPr dirty="0" err="1"/>
              <a:t>interessi</a:t>
            </a:r>
            <a:r>
              <a:rPr dirty="0"/>
              <a:t> </a:t>
            </a:r>
            <a:r>
              <a:rPr dirty="0" err="1"/>
              <a:t>sono</a:t>
            </a:r>
            <a:r>
              <a:rPr dirty="0"/>
              <a:t> </a:t>
            </a:r>
            <a:r>
              <a:rPr dirty="0" err="1"/>
              <a:t>usurai</a:t>
            </a:r>
            <a:r>
              <a:rPr dirty="0"/>
              <a:t> </a:t>
            </a:r>
            <a:r>
              <a:rPr dirty="0" err="1"/>
              <a:t>quando</a:t>
            </a:r>
            <a:r>
              <a:rPr dirty="0"/>
              <a:t> </a:t>
            </a:r>
            <a:r>
              <a:rPr dirty="0" err="1" u="sng"/>
              <a:t>superano</a:t>
            </a:r>
            <a:r>
              <a:rPr dirty="0" u="sng"/>
              <a:t> </a:t>
            </a:r>
            <a:r>
              <a:rPr altLang="it-IT" dirty="0" lang="it-IT" u="sng"/>
              <a:t>il tasso medio risultante dall’ultima rilevazione pubblicata sulla Gazzetta Ufficiale</a:t>
            </a:r>
            <a:r>
              <a:rPr dirty="0" u="sng"/>
              <a:t>.</a:t>
            </a:r>
          </a:p>
        </p:txBody>
      </p:sp>
      <p:pic>
        <p:nvPicPr>
          <p:cNvPr descr="Immagine 6" id="444"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445"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Usura</a:t>
            </a:r>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 name="Rettangolo 4"/>
          <p:cNvSpPr txBox="1"/>
          <p:nvPr/>
        </p:nvSpPr>
        <p:spPr>
          <a:xfrm>
            <a:off x="167897" y="908720"/>
            <a:ext cx="8808206" cy="3560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sz="2200">
                <a:solidFill>
                  <a:srgbClr val="A22E8C"/>
                </a:solidFill>
                <a:latin typeface="Times New Roman"/>
                <a:ea typeface="Times New Roman"/>
                <a:cs typeface="Times New Roman"/>
                <a:sym typeface="Times New Roman"/>
              </a:defRPr>
            </a:pPr>
            <a:r>
              <a:t>2. L'USURA CONCRETA </a:t>
            </a:r>
            <a:r>
              <a:rPr b="0">
                <a:solidFill>
                  <a:srgbClr val="000000"/>
                </a:solidFill>
              </a:rPr>
              <a:t>ricorre invece quando gli interessi, i vantaggi ed i compensi, </a:t>
            </a:r>
            <a:r>
              <a:rPr>
                <a:solidFill>
                  <a:srgbClr val="000000"/>
                </a:solidFill>
              </a:rPr>
              <a:t>pur inferiori alle soglie di cui sopra</a:t>
            </a:r>
            <a:r>
              <a:rPr b="0">
                <a:solidFill>
                  <a:srgbClr val="000000"/>
                </a:solidFill>
              </a:rPr>
              <a:t>, </a:t>
            </a:r>
            <a:r>
              <a:rPr>
                <a:solidFill>
                  <a:srgbClr val="000000"/>
                </a:solidFill>
              </a:rPr>
              <a:t>risultino</a:t>
            </a:r>
            <a:r>
              <a:rPr b="0">
                <a:solidFill>
                  <a:srgbClr val="000000"/>
                </a:solidFill>
              </a:rPr>
              <a:t> per le concrete modalità del fatto comunque </a:t>
            </a:r>
            <a:r>
              <a:rPr u="sng"/>
              <a:t>sproporzionati</a:t>
            </a:r>
            <a:r>
              <a:rPr>
                <a:solidFill>
                  <a:srgbClr val="000000"/>
                </a:solidFill>
              </a:rPr>
              <a:t> rispetto alla prestazione </a:t>
            </a:r>
            <a:r>
              <a:rPr b="0">
                <a:solidFill>
                  <a:srgbClr val="000000"/>
                </a:solidFill>
              </a:rPr>
              <a:t>di denaro o ad altra utilità, quando </a:t>
            </a:r>
            <a:r>
              <a:rPr b="0">
                <a:solidFill>
                  <a:srgbClr val="FF0000"/>
                </a:solidFill>
              </a:rPr>
              <a:t>il soggetto passivo</a:t>
            </a:r>
            <a:r>
              <a:rPr b="0">
                <a:solidFill>
                  <a:srgbClr val="000000"/>
                </a:solidFill>
              </a:rPr>
              <a:t> </a:t>
            </a:r>
            <a:r>
              <a:rPr b="0">
                <a:solidFill>
                  <a:srgbClr val="FF0000"/>
                </a:solidFill>
              </a:rPr>
              <a:t>versi in stato di difficoltà economica o finanziaria;</a:t>
            </a:r>
          </a:p>
          <a:p>
            <a:pPr algn="just">
              <a:lnSpc>
                <a:spcPct val="114000"/>
              </a:lnSpc>
              <a:spcBef>
                <a:spcPts val="1200"/>
              </a:spcBef>
              <a:defRPr sz="2200">
                <a:solidFill>
                  <a:srgbClr val="A22E8C"/>
                </a:solidFill>
                <a:latin typeface="Times New Roman"/>
                <a:ea typeface="Times New Roman"/>
                <a:cs typeface="Times New Roman"/>
                <a:sym typeface="Times New Roman"/>
              </a:defRPr>
            </a:pPr>
            <a:r>
              <a:t>3. LA MEDIAZIONE USURARIA</a:t>
            </a:r>
            <a:r>
              <a:rPr b="0">
                <a:solidFill>
                  <a:srgbClr val="000000"/>
                </a:solidFill>
              </a:rPr>
              <a:t>, qualora il soggetto agente pretenda, </a:t>
            </a:r>
            <a:r>
              <a:rPr u="sng"/>
              <a:t>per l'opera di mediazione</a:t>
            </a:r>
            <a:r>
              <a:rPr>
                <a:solidFill>
                  <a:srgbClr val="000000"/>
                </a:solidFill>
              </a:rPr>
              <a:t>, vantaggi usurari</a:t>
            </a:r>
            <a:r>
              <a:rPr b="0">
                <a:solidFill>
                  <a:srgbClr val="000000"/>
                </a:solidFill>
              </a:rPr>
              <a:t>, ovvero, </a:t>
            </a:r>
            <a:r>
              <a:rPr>
                <a:solidFill>
                  <a:srgbClr val="000000"/>
                </a:solidFill>
              </a:rPr>
              <a:t>sproporzionati</a:t>
            </a:r>
            <a:r>
              <a:rPr b="0">
                <a:solidFill>
                  <a:srgbClr val="000000"/>
                </a:solidFill>
              </a:rPr>
              <a:t> se ottenuti nei confronti di chi versi in stato di difficoltà economica o finanziaria.</a:t>
            </a:r>
          </a:p>
        </p:txBody>
      </p:sp>
      <p:pic>
        <p:nvPicPr>
          <p:cNvPr descr="Immagine 6" id="448"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449"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Usura</a:t>
            </a:r>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Rettangolo 4"/>
          <p:cNvSpPr txBox="1"/>
          <p:nvPr/>
        </p:nvSpPr>
        <p:spPr>
          <a:xfrm>
            <a:off x="45719" y="980728"/>
            <a:ext cx="9052561" cy="45446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sz="2200" u="sng">
                <a:latin typeface="Times New Roman"/>
                <a:ea typeface="Times New Roman"/>
                <a:cs typeface="Times New Roman"/>
                <a:sym typeface="Times New Roman"/>
              </a:defRPr>
            </a:pPr>
            <a:r>
              <a:t>ELEMENTO OGGETTIVO</a:t>
            </a:r>
            <a:r>
              <a:rPr b="0" u="none"/>
              <a:t>: La condotta di questo reato presuppone la </a:t>
            </a:r>
            <a:r>
              <a:rPr u="none">
                <a:solidFill>
                  <a:srgbClr val="A22E8C"/>
                </a:solidFill>
              </a:rPr>
              <a:t>conclusione di un contratto a prestazioni corrispettive</a:t>
            </a:r>
            <a:r>
              <a:rPr b="0" u="none"/>
              <a:t>, in cui la condotta dell’agente consiste nel </a:t>
            </a:r>
            <a:r>
              <a:t>prestare denaro o altra utilità a fronte di una dazione o promessa, da parte della vittima, di interessi o vantaggi usurai. </a:t>
            </a:r>
          </a:p>
          <a:p>
            <a:pPr algn="just">
              <a:lnSpc>
                <a:spcPct val="114000"/>
              </a:lnSpc>
              <a:spcBef>
                <a:spcPts val="1200"/>
              </a:spcBef>
              <a:defRPr sz="2200" u="sng">
                <a:latin typeface="Times New Roman"/>
                <a:ea typeface="Times New Roman"/>
                <a:cs typeface="Times New Roman"/>
                <a:sym typeface="Times New Roman"/>
              </a:defRPr>
            </a:pPr>
            <a:endParaRPr/>
          </a:p>
          <a:p>
            <a:pPr algn="just">
              <a:lnSpc>
                <a:spcPct val="114000"/>
              </a:lnSpc>
              <a:spcBef>
                <a:spcPts val="1200"/>
              </a:spcBef>
              <a:defRPr sz="2200" u="sng">
                <a:latin typeface="Times New Roman"/>
                <a:ea typeface="Times New Roman"/>
                <a:cs typeface="Times New Roman"/>
                <a:sym typeface="Times New Roman"/>
              </a:defRPr>
            </a:pPr>
            <a:r>
              <a:t>ELEMENTO SOGGETTIVO</a:t>
            </a:r>
            <a:r>
              <a:rPr u="none"/>
              <a:t> </a:t>
            </a:r>
            <a:r>
              <a:rPr b="0" u="none"/>
              <a:t>è il </a:t>
            </a:r>
            <a:r>
              <a:rPr u="none">
                <a:solidFill>
                  <a:srgbClr val="A22E8C"/>
                </a:solidFill>
              </a:rPr>
              <a:t>DOLO GENERICO.</a:t>
            </a:r>
            <a:endParaRPr b="0">
              <a:solidFill>
                <a:srgbClr val="A22E8C"/>
              </a:solidFill>
            </a:endParaRPr>
          </a:p>
          <a:p>
            <a:pPr algn="just">
              <a:lnSpc>
                <a:spcPct val="114000"/>
              </a:lnSpc>
              <a:spcBef>
                <a:spcPts val="1200"/>
              </a:spcBef>
              <a:defRPr b="0" sz="2200">
                <a:latin typeface="Times New Roman"/>
                <a:ea typeface="Times New Roman"/>
                <a:cs typeface="Times New Roman"/>
                <a:sym typeface="Times New Roman"/>
              </a:defRPr>
            </a:pPr>
            <a:r>
              <a:t>Questo delitto si consuma </a:t>
            </a:r>
            <a:r>
              <a:rPr b="1" u="sng"/>
              <a:t>con la sola accettazione della promessa degli interessi, o vantaggi usurai</a:t>
            </a:r>
            <a:r>
              <a:t>, non seguita dalla effettiva donazione degli stessi. </a:t>
            </a:r>
          </a:p>
          <a:p>
            <a:pPr algn="just">
              <a:lnSpc>
                <a:spcPct val="114000"/>
              </a:lnSpc>
              <a:spcBef>
                <a:spcPts val="1200"/>
              </a:spcBef>
              <a:defRPr b="0" sz="2200">
                <a:latin typeface="Times New Roman"/>
                <a:ea typeface="Times New Roman"/>
                <a:cs typeface="Times New Roman"/>
                <a:sym typeface="Times New Roman"/>
              </a:defRPr>
            </a:pPr>
            <a:endParaRPr/>
          </a:p>
          <a:p>
            <a:pPr algn="just">
              <a:lnSpc>
                <a:spcPct val="114000"/>
              </a:lnSpc>
              <a:spcBef>
                <a:spcPts val="1200"/>
              </a:spcBef>
              <a:defRPr b="0" sz="2200">
                <a:latin typeface="Times New Roman"/>
                <a:ea typeface="Times New Roman"/>
                <a:cs typeface="Times New Roman"/>
                <a:sym typeface="Times New Roman"/>
              </a:defRPr>
            </a:pPr>
            <a:r>
              <a:t>Il tentativo non è configurabile.</a:t>
            </a:r>
          </a:p>
        </p:txBody>
      </p:sp>
      <p:pic>
        <p:nvPicPr>
          <p:cNvPr descr="Immagine 6" id="452"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453"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Usura</a:t>
            </a:r>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 name="CasellaDiTesto 1"/>
          <p:cNvSpPr txBox="1"/>
          <p:nvPr/>
        </p:nvSpPr>
        <p:spPr>
          <a:xfrm>
            <a:off x="229859" y="848857"/>
            <a:ext cx="8684281" cy="57190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indent="-1797050" marL="1797050">
              <a:lnSpc>
                <a:spcPct val="114000"/>
              </a:lnSpc>
              <a:spcBef>
                <a:spcPts val="600"/>
              </a:spcBef>
              <a:defRPr sz="2400">
                <a:solidFill>
                  <a:srgbClr val="FF3399"/>
                </a:solidFill>
                <a:latin typeface="Book Antiqua"/>
                <a:ea typeface="Book Antiqua"/>
                <a:cs typeface="Book Antiqua"/>
                <a:sym typeface="Book Antiqua"/>
              </a:defRPr>
            </a:pPr>
            <a:r>
              <a:rPr dirty="0"/>
              <a:t>Art. 648 </a:t>
            </a:r>
            <a:r>
              <a:rPr dirty="0" err="1"/>
              <a:t>c.p.</a:t>
            </a:r>
            <a:r>
              <a:rPr dirty="0"/>
              <a:t> </a:t>
            </a:r>
            <a:r>
              <a:rPr dirty="0" err="1"/>
              <a:t>Ricettazione</a:t>
            </a:r>
            <a:endParaRPr dirty="0">
              <a:latin typeface="Times New Roman"/>
              <a:ea typeface="Times New Roman"/>
              <a:cs typeface="Times New Roman"/>
              <a:sym typeface="Times New Roman"/>
            </a:endParaRPr>
          </a:p>
          <a:p>
            <a:pPr algn="just" lvl="0">
              <a:lnSpc>
                <a:spcPct val="114000"/>
              </a:lnSpc>
              <a:spcBef>
                <a:spcPts val="1200"/>
              </a:spcBef>
              <a:defRPr b="0" sz="2200">
                <a:latin typeface="Times New Roman"/>
                <a:ea typeface="Times New Roman"/>
                <a:cs typeface="Times New Roman"/>
                <a:sym typeface="Times New Roman"/>
              </a:defRPr>
            </a:pPr>
            <a:r>
              <a:rPr dirty="0"/>
              <a:t>«</a:t>
            </a:r>
            <a:r>
              <a:rPr dirty="0" err="1" i="1"/>
              <a:t>Fuori</a:t>
            </a:r>
            <a:r>
              <a:rPr dirty="0" i="1"/>
              <a:t> </a:t>
            </a:r>
            <a:r>
              <a:rPr dirty="0" err="1" i="1"/>
              <a:t>dei</a:t>
            </a:r>
            <a:r>
              <a:rPr dirty="0" i="1"/>
              <a:t> </a:t>
            </a:r>
            <a:r>
              <a:rPr dirty="0" err="1" i="1"/>
              <a:t>casi</a:t>
            </a:r>
            <a:r>
              <a:rPr dirty="0" i="1"/>
              <a:t> di </a:t>
            </a:r>
            <a:r>
              <a:rPr dirty="0" err="1" i="1"/>
              <a:t>concorso</a:t>
            </a:r>
            <a:r>
              <a:rPr dirty="0" i="1"/>
              <a:t> </a:t>
            </a:r>
            <a:r>
              <a:rPr dirty="0" err="1" i="1"/>
              <a:t>nel</a:t>
            </a:r>
            <a:r>
              <a:rPr dirty="0" i="1"/>
              <a:t> </a:t>
            </a:r>
            <a:r>
              <a:rPr dirty="0" err="1" i="1"/>
              <a:t>reato</a:t>
            </a:r>
            <a:r>
              <a:rPr dirty="0" i="1"/>
              <a:t> [110], chi, </a:t>
            </a:r>
            <a:r>
              <a:rPr b="1" dirty="0" i="1" u="sng"/>
              <a:t>al fine di </a:t>
            </a:r>
            <a:r>
              <a:rPr b="1" dirty="0" err="1" i="1" u="sng"/>
              <a:t>procurare</a:t>
            </a:r>
            <a:r>
              <a:rPr b="1" dirty="0" i="1" u="sng"/>
              <a:t> a </a:t>
            </a:r>
            <a:r>
              <a:rPr b="1" dirty="0" err="1" i="1" u="sng"/>
              <a:t>sé</a:t>
            </a:r>
            <a:r>
              <a:rPr b="1" dirty="0" i="1" u="sng"/>
              <a:t> o ad </a:t>
            </a:r>
            <a:r>
              <a:rPr b="1" dirty="0" err="1" i="1" u="sng"/>
              <a:t>altri</a:t>
            </a:r>
            <a:r>
              <a:rPr b="1" dirty="0" i="1" u="sng"/>
              <a:t> un </a:t>
            </a:r>
            <a:r>
              <a:rPr b="1" dirty="0" err="1" i="1" u="sng"/>
              <a:t>profitto</a:t>
            </a:r>
            <a:r>
              <a:rPr dirty="0" i="1"/>
              <a:t>, </a:t>
            </a:r>
            <a:r>
              <a:rPr b="1" dirty="0" err="1" i="1">
                <a:solidFill>
                  <a:srgbClr val="FF3399"/>
                </a:solidFill>
              </a:rPr>
              <a:t>acquista</a:t>
            </a:r>
            <a:r>
              <a:rPr b="1" dirty="0" i="1">
                <a:solidFill>
                  <a:srgbClr val="FF3399"/>
                </a:solidFill>
              </a:rPr>
              <a:t>, </a:t>
            </a:r>
            <a:r>
              <a:rPr b="1" dirty="0" err="1" i="1">
                <a:solidFill>
                  <a:srgbClr val="FF3399"/>
                </a:solidFill>
              </a:rPr>
              <a:t>riceve</a:t>
            </a:r>
            <a:r>
              <a:rPr b="1" dirty="0" i="1">
                <a:solidFill>
                  <a:srgbClr val="FF3399"/>
                </a:solidFill>
              </a:rPr>
              <a:t> od occulta </a:t>
            </a:r>
            <a:r>
              <a:rPr b="1" dirty="0" err="1" i="1">
                <a:solidFill>
                  <a:srgbClr val="FF3399"/>
                </a:solidFill>
              </a:rPr>
              <a:t>denaro</a:t>
            </a:r>
            <a:r>
              <a:rPr b="1" dirty="0" i="1">
                <a:solidFill>
                  <a:srgbClr val="FF3399"/>
                </a:solidFill>
              </a:rPr>
              <a:t> o </a:t>
            </a:r>
            <a:r>
              <a:rPr b="1" dirty="0" err="1" i="1">
                <a:solidFill>
                  <a:srgbClr val="FF3399"/>
                </a:solidFill>
              </a:rPr>
              <a:t>cose</a:t>
            </a:r>
            <a:r>
              <a:rPr b="1" dirty="0" i="1">
                <a:solidFill>
                  <a:srgbClr val="FF3399"/>
                </a:solidFill>
              </a:rPr>
              <a:t> </a:t>
            </a:r>
            <a:r>
              <a:rPr b="1" dirty="0" err="1" i="1">
                <a:solidFill>
                  <a:srgbClr val="FF3399"/>
                </a:solidFill>
              </a:rPr>
              <a:t>provenienti</a:t>
            </a:r>
            <a:r>
              <a:rPr b="1" dirty="0" i="1">
                <a:solidFill>
                  <a:srgbClr val="FF3399"/>
                </a:solidFill>
              </a:rPr>
              <a:t> da un </a:t>
            </a:r>
            <a:r>
              <a:rPr b="1" dirty="0" err="1" i="1">
                <a:solidFill>
                  <a:srgbClr val="FF3399"/>
                </a:solidFill>
              </a:rPr>
              <a:t>qualsiasi</a:t>
            </a:r>
            <a:r>
              <a:rPr b="1" dirty="0" i="1">
                <a:solidFill>
                  <a:srgbClr val="FF3399"/>
                </a:solidFill>
              </a:rPr>
              <a:t> </a:t>
            </a:r>
            <a:r>
              <a:rPr b="1" dirty="0" err="1" i="1">
                <a:solidFill>
                  <a:srgbClr val="FF3399"/>
                </a:solidFill>
              </a:rPr>
              <a:t>delitto</a:t>
            </a:r>
            <a:r>
              <a:rPr b="1" dirty="0" i="1">
                <a:solidFill>
                  <a:srgbClr val="FF3399"/>
                </a:solidFill>
              </a:rPr>
              <a:t>,</a:t>
            </a:r>
            <a:r>
              <a:rPr dirty="0" i="1"/>
              <a:t> o </a:t>
            </a:r>
            <a:r>
              <a:rPr dirty="0" err="1" i="1"/>
              <a:t>comunque</a:t>
            </a:r>
            <a:r>
              <a:rPr dirty="0" i="1"/>
              <a:t> </a:t>
            </a:r>
            <a:r>
              <a:rPr b="1" dirty="0" err="1" i="1">
                <a:solidFill>
                  <a:srgbClr val="FF3399"/>
                </a:solidFill>
              </a:rPr>
              <a:t>si</a:t>
            </a:r>
            <a:r>
              <a:rPr b="1" dirty="0" i="1">
                <a:solidFill>
                  <a:srgbClr val="FF3399"/>
                </a:solidFill>
              </a:rPr>
              <a:t> </a:t>
            </a:r>
            <a:r>
              <a:rPr b="1" dirty="0" err="1" i="1">
                <a:solidFill>
                  <a:srgbClr val="FF3399"/>
                </a:solidFill>
              </a:rPr>
              <a:t>intromette</a:t>
            </a:r>
            <a:r>
              <a:rPr b="1" dirty="0" i="1">
                <a:solidFill>
                  <a:srgbClr val="FF3399"/>
                </a:solidFill>
              </a:rPr>
              <a:t> </a:t>
            </a:r>
            <a:r>
              <a:rPr b="1" dirty="0" err="1" i="1">
                <a:solidFill>
                  <a:srgbClr val="FF3399"/>
                </a:solidFill>
              </a:rPr>
              <a:t>nel</a:t>
            </a:r>
            <a:r>
              <a:rPr b="1" dirty="0" i="1">
                <a:solidFill>
                  <a:srgbClr val="FF3399"/>
                </a:solidFill>
              </a:rPr>
              <a:t> </a:t>
            </a:r>
            <a:r>
              <a:rPr b="1" dirty="0" err="1" i="1">
                <a:solidFill>
                  <a:srgbClr val="FF3399"/>
                </a:solidFill>
              </a:rPr>
              <a:t>farle</a:t>
            </a:r>
            <a:r>
              <a:rPr b="1" dirty="0" i="1">
                <a:solidFill>
                  <a:srgbClr val="FF3399"/>
                </a:solidFill>
              </a:rPr>
              <a:t> </a:t>
            </a:r>
            <a:r>
              <a:rPr b="1" dirty="0" err="1" i="1">
                <a:solidFill>
                  <a:srgbClr val="FF3399"/>
                </a:solidFill>
              </a:rPr>
              <a:t>acquistare</a:t>
            </a:r>
            <a:r>
              <a:rPr dirty="0" i="1"/>
              <a:t>, </a:t>
            </a:r>
            <a:r>
              <a:rPr b="1" dirty="0" err="1" i="1">
                <a:solidFill>
                  <a:srgbClr val="FF3399"/>
                </a:solidFill>
              </a:rPr>
              <a:t>ricevere</a:t>
            </a:r>
            <a:r>
              <a:rPr b="1" dirty="0" i="1">
                <a:solidFill>
                  <a:srgbClr val="FF3399"/>
                </a:solidFill>
              </a:rPr>
              <a:t> od </a:t>
            </a:r>
            <a:r>
              <a:rPr b="1" dirty="0" err="1" i="1">
                <a:solidFill>
                  <a:srgbClr val="FF3399"/>
                </a:solidFill>
              </a:rPr>
              <a:t>occultare</a:t>
            </a:r>
            <a:r>
              <a:rPr dirty="0" i="1"/>
              <a:t>, è </a:t>
            </a:r>
            <a:r>
              <a:rPr dirty="0" err="1" i="1"/>
              <a:t>punito</a:t>
            </a:r>
            <a:r>
              <a:rPr dirty="0" i="1"/>
              <a:t> con la </a:t>
            </a:r>
            <a:r>
              <a:rPr dirty="0" err="1" i="1"/>
              <a:t>reclusione</a:t>
            </a:r>
            <a:r>
              <a:rPr dirty="0" i="1"/>
              <a:t> da 2 ad 8 </a:t>
            </a:r>
            <a:r>
              <a:rPr dirty="0" err="1" i="1"/>
              <a:t>anni</a:t>
            </a:r>
            <a:r>
              <a:rPr dirty="0" i="1"/>
              <a:t> e con la </a:t>
            </a:r>
            <a:r>
              <a:rPr dirty="0" err="1" i="1"/>
              <a:t>multa</a:t>
            </a:r>
            <a:r>
              <a:rPr dirty="0" i="1"/>
              <a:t> da 516 euro a 10329 euro [709, 712]. </a:t>
            </a:r>
            <a:endParaRPr altLang="it-IT" dirty="0" i="1" lang="it-IT"/>
          </a:p>
          <a:p>
            <a:pPr algn="just" lvl="0">
              <a:lnSpc>
                <a:spcPct val="114000"/>
              </a:lnSpc>
              <a:spcBef>
                <a:spcPts val="1200"/>
              </a:spcBef>
              <a:defRPr b="0" sz="2200">
                <a:latin typeface="Times New Roman"/>
                <a:ea typeface="Times New Roman"/>
                <a:cs typeface="Times New Roman"/>
                <a:sym typeface="Times New Roman"/>
              </a:defRPr>
            </a:pPr>
            <a:r>
              <a:rPr altLang="it-IT" b="0" dirty="0" i="1" lang="it-IT" sz="1800">
                <a:solidFill>
                  <a:srgbClr val="FF0000"/>
                </a:solidFill>
                <a:latin charset="0" panose="02020603050405020304" pitchFamily="18" typeface="Times New Roman"/>
                <a:cs charset="0" panose="02020603050405020304" pitchFamily="18" typeface="Times New Roman"/>
                <a:sym typeface="Times New Roman"/>
              </a:rPr>
              <a:t>(Non è assolutamente necessario che il delitto presupposto venga </a:t>
            </a:r>
            <a:r>
              <a:rPr altLang="it-IT" b="0" dirty="0" i="1" lang="it-IT" sz="1800" u="sng">
                <a:solidFill>
                  <a:srgbClr val="FF0000"/>
                </a:solidFill>
                <a:latin charset="0" panose="02020603050405020304" pitchFamily="18" typeface="Times New Roman"/>
                <a:cs charset="0" panose="02020603050405020304" pitchFamily="18" typeface="Times New Roman"/>
                <a:sym typeface="Times New Roman"/>
                <a:hlinkClick r:id="rId2" tooltip="Dizionario Giuridico: Accertato giudizialmente">
                  <a:extLst>
                    <a:ext uri="{A12FA001-AC4F-418D-AE19-62706E023703}">
                      <ahyp:hlinkClr xmlns:ahyp="http://schemas.microsoft.com/office/drawing/2018/hyperlinkcolor" val="tx"/>
                    </a:ext>
                  </a:extLst>
                </a:hlinkClick>
              </a:rPr>
              <a:t>accertato giudizialmente</a:t>
            </a:r>
            <a:r>
              <a:rPr altLang="it-IT" dirty="0" lang="it-IT">
                <a:solidFill>
                  <a:srgbClr val="FF0000"/>
                </a:solidFill>
                <a:latin typeface="Times New Roman"/>
                <a:ea typeface="Times New Roman"/>
                <a:cs typeface="Times New Roman"/>
                <a:sym typeface="Times New Roman"/>
              </a:rPr>
              <a:t>)</a:t>
            </a:r>
            <a:endParaRPr dirty="0">
              <a:solidFill>
                <a:srgbClr val="FF0000"/>
              </a:solidFill>
              <a:latin typeface="Times New Roman"/>
              <a:ea typeface="Times New Roman"/>
              <a:cs typeface="Times New Roman"/>
              <a:sym typeface="Times New Roman"/>
            </a:endParaRPr>
          </a:p>
          <a:p>
            <a:pPr algn="just">
              <a:lnSpc>
                <a:spcPct val="114000"/>
              </a:lnSpc>
              <a:spcBef>
                <a:spcPts val="600"/>
              </a:spcBef>
              <a:defRPr b="0" i="1" sz="2000">
                <a:latin typeface="Book Antiqua"/>
                <a:ea typeface="Book Antiqua"/>
                <a:cs typeface="Book Antiqua"/>
                <a:sym typeface="Book Antiqua"/>
              </a:defRPr>
            </a:pPr>
            <a:r>
              <a:rPr dirty="0"/>
              <a:t>La </a:t>
            </a:r>
            <a:r>
              <a:rPr dirty="0" err="1"/>
              <a:t>pena</a:t>
            </a:r>
            <a:r>
              <a:rPr dirty="0"/>
              <a:t> è </a:t>
            </a:r>
            <a:r>
              <a:rPr b="1" dirty="0" err="1" u="sng"/>
              <a:t>aumentata</a:t>
            </a:r>
            <a:r>
              <a:rPr dirty="0"/>
              <a:t> </a:t>
            </a:r>
            <a:r>
              <a:rPr dirty="0" err="1"/>
              <a:t>quando</a:t>
            </a:r>
            <a:r>
              <a:rPr dirty="0"/>
              <a:t> </a:t>
            </a:r>
            <a:r>
              <a:rPr dirty="0" err="1"/>
              <a:t>il</a:t>
            </a:r>
            <a:r>
              <a:rPr dirty="0"/>
              <a:t> </a:t>
            </a:r>
            <a:r>
              <a:rPr dirty="0" err="1"/>
              <a:t>fatto</a:t>
            </a:r>
            <a:r>
              <a:rPr dirty="0"/>
              <a:t> </a:t>
            </a:r>
            <a:r>
              <a:rPr dirty="0" err="1"/>
              <a:t>riguarda</a:t>
            </a:r>
            <a:r>
              <a:rPr dirty="0"/>
              <a:t> </a:t>
            </a:r>
            <a:r>
              <a:rPr b="1" dirty="0" err="1"/>
              <a:t>denaro</a:t>
            </a:r>
            <a:r>
              <a:rPr dirty="0"/>
              <a:t> o </a:t>
            </a:r>
            <a:r>
              <a:rPr b="1" dirty="0" err="1"/>
              <a:t>cose</a:t>
            </a:r>
            <a:r>
              <a:rPr b="1" dirty="0"/>
              <a:t> </a:t>
            </a:r>
            <a:r>
              <a:rPr b="1" dirty="0" err="1"/>
              <a:t>provenienti</a:t>
            </a:r>
            <a:r>
              <a:rPr b="1" dirty="0"/>
              <a:t> da </a:t>
            </a:r>
            <a:r>
              <a:rPr b="1" dirty="0" err="1"/>
              <a:t>delitti</a:t>
            </a:r>
            <a:r>
              <a:rPr b="1" dirty="0"/>
              <a:t> di </a:t>
            </a:r>
            <a:r>
              <a:rPr b="1" dirty="0" err="1"/>
              <a:t>rapina</a:t>
            </a:r>
            <a:r>
              <a:rPr b="1" dirty="0"/>
              <a:t> </a:t>
            </a:r>
            <a:r>
              <a:rPr b="1" dirty="0" err="1"/>
              <a:t>aggravata</a:t>
            </a:r>
            <a:r>
              <a:rPr b="1" dirty="0"/>
              <a:t> </a:t>
            </a:r>
            <a:r>
              <a:rPr dirty="0"/>
              <a:t>ai </a:t>
            </a:r>
            <a:r>
              <a:rPr dirty="0" err="1"/>
              <a:t>sensi</a:t>
            </a:r>
            <a:r>
              <a:rPr dirty="0"/>
              <a:t> </a:t>
            </a:r>
            <a:r>
              <a:rPr dirty="0" err="1"/>
              <a:t>dell'articolo</a:t>
            </a:r>
            <a:r>
              <a:rPr dirty="0"/>
              <a:t> 628, </a:t>
            </a:r>
            <a:r>
              <a:rPr dirty="0" err="1"/>
              <a:t>terzo</a:t>
            </a:r>
            <a:r>
              <a:rPr dirty="0"/>
              <a:t> comma, </a:t>
            </a:r>
            <a:r>
              <a:rPr b="1" dirty="0"/>
              <a:t>di </a:t>
            </a:r>
            <a:r>
              <a:rPr b="1" dirty="0" err="1"/>
              <a:t>estorsione</a:t>
            </a:r>
            <a:r>
              <a:rPr b="1" dirty="0"/>
              <a:t> </a:t>
            </a:r>
            <a:r>
              <a:rPr b="1" dirty="0" err="1"/>
              <a:t>aggravata</a:t>
            </a:r>
            <a:r>
              <a:rPr b="1" dirty="0"/>
              <a:t> </a:t>
            </a:r>
            <a:r>
              <a:rPr dirty="0"/>
              <a:t>ai </a:t>
            </a:r>
            <a:r>
              <a:rPr dirty="0" err="1"/>
              <a:t>sensi</a:t>
            </a:r>
            <a:r>
              <a:rPr dirty="0"/>
              <a:t> </a:t>
            </a:r>
            <a:r>
              <a:rPr dirty="0" err="1"/>
              <a:t>dell'articolo</a:t>
            </a:r>
            <a:r>
              <a:rPr dirty="0"/>
              <a:t> 629, secondo comma, </a:t>
            </a:r>
            <a:r>
              <a:rPr dirty="0" err="1"/>
              <a:t>ovvero</a:t>
            </a:r>
            <a:r>
              <a:rPr dirty="0"/>
              <a:t> di </a:t>
            </a:r>
            <a:r>
              <a:rPr b="1" dirty="0" err="1"/>
              <a:t>furto</a:t>
            </a:r>
            <a:r>
              <a:rPr b="1" dirty="0"/>
              <a:t> </a:t>
            </a:r>
            <a:r>
              <a:rPr b="1" dirty="0" err="1"/>
              <a:t>aggravato</a:t>
            </a:r>
            <a:r>
              <a:rPr b="1" dirty="0"/>
              <a:t> </a:t>
            </a:r>
            <a:r>
              <a:rPr dirty="0"/>
              <a:t>ai </a:t>
            </a:r>
            <a:r>
              <a:rPr dirty="0" err="1"/>
              <a:t>sensi</a:t>
            </a:r>
            <a:r>
              <a:rPr dirty="0"/>
              <a:t> </a:t>
            </a:r>
            <a:r>
              <a:rPr dirty="0" err="1"/>
              <a:t>dell'articolo</a:t>
            </a:r>
            <a:r>
              <a:rPr dirty="0"/>
              <a:t> 625, primo comma, n. 7-bis).</a:t>
            </a:r>
            <a:endParaRPr dirty="0">
              <a:latin typeface="Times New Roman"/>
              <a:ea typeface="Times New Roman"/>
              <a:cs typeface="Times New Roman"/>
              <a:sym typeface="Times New Roman"/>
            </a:endParaRPr>
          </a:p>
          <a:p>
            <a:pPr algn="just">
              <a:lnSpc>
                <a:spcPct val="114000"/>
              </a:lnSpc>
              <a:spcBef>
                <a:spcPts val="600"/>
              </a:spcBef>
              <a:defRPr b="0" i="1" sz="2000">
                <a:latin typeface="Times New Roman"/>
                <a:ea typeface="Times New Roman"/>
                <a:cs typeface="Times New Roman"/>
                <a:sym typeface="Times New Roman"/>
              </a:defRPr>
            </a:pPr>
            <a:r>
              <a:rPr dirty="0"/>
              <a:t>La </a:t>
            </a:r>
            <a:r>
              <a:rPr dirty="0" err="1"/>
              <a:t>pena</a:t>
            </a:r>
            <a:r>
              <a:rPr dirty="0"/>
              <a:t> è </a:t>
            </a:r>
            <a:r>
              <a:rPr dirty="0" err="1"/>
              <a:t>della</a:t>
            </a:r>
            <a:r>
              <a:rPr dirty="0"/>
              <a:t> </a:t>
            </a:r>
            <a:r>
              <a:rPr dirty="0" err="1"/>
              <a:t>reclusione</a:t>
            </a:r>
            <a:r>
              <a:rPr dirty="0"/>
              <a:t> da </a:t>
            </a:r>
            <a:r>
              <a:rPr dirty="0" err="1"/>
              <a:t>uno</a:t>
            </a:r>
            <a:r>
              <a:rPr dirty="0"/>
              <a:t> a quattro </a:t>
            </a:r>
            <a:r>
              <a:rPr dirty="0" err="1"/>
              <a:t>anni</a:t>
            </a:r>
            <a:r>
              <a:rPr dirty="0"/>
              <a:t> e </a:t>
            </a:r>
            <a:r>
              <a:rPr dirty="0" err="1"/>
              <a:t>della</a:t>
            </a:r>
            <a:r>
              <a:rPr dirty="0"/>
              <a:t> </a:t>
            </a:r>
            <a:r>
              <a:rPr dirty="0" err="1"/>
              <a:t>multa</a:t>
            </a:r>
            <a:r>
              <a:rPr dirty="0"/>
              <a:t> da euro 300 a euro 6.000 </a:t>
            </a:r>
            <a:r>
              <a:rPr dirty="0" err="1"/>
              <a:t>quando</a:t>
            </a:r>
            <a:r>
              <a:rPr dirty="0"/>
              <a:t> </a:t>
            </a:r>
            <a:r>
              <a:rPr dirty="0" err="1"/>
              <a:t>il</a:t>
            </a:r>
            <a:r>
              <a:rPr dirty="0"/>
              <a:t> </a:t>
            </a:r>
            <a:r>
              <a:rPr dirty="0" err="1"/>
              <a:t>fatto</a:t>
            </a:r>
            <a:r>
              <a:rPr dirty="0"/>
              <a:t> </a:t>
            </a:r>
            <a:r>
              <a:rPr dirty="0" err="1"/>
              <a:t>riguarda</a:t>
            </a:r>
            <a:r>
              <a:rPr dirty="0"/>
              <a:t> </a:t>
            </a:r>
            <a:r>
              <a:rPr dirty="0" err="1"/>
              <a:t>denaro</a:t>
            </a:r>
            <a:r>
              <a:rPr dirty="0"/>
              <a:t> o </a:t>
            </a:r>
            <a:r>
              <a:rPr dirty="0" err="1"/>
              <a:t>cose</a:t>
            </a:r>
            <a:r>
              <a:rPr dirty="0"/>
              <a:t> </a:t>
            </a:r>
            <a:r>
              <a:rPr dirty="0" err="1"/>
              <a:t>provenienti</a:t>
            </a:r>
            <a:r>
              <a:rPr dirty="0"/>
              <a:t> da </a:t>
            </a:r>
            <a:r>
              <a:rPr dirty="0" err="1"/>
              <a:t>contravvenzione</a:t>
            </a:r>
            <a:r>
              <a:rPr dirty="0"/>
              <a:t> </a:t>
            </a:r>
            <a:r>
              <a:rPr dirty="0" err="1"/>
              <a:t>punita</a:t>
            </a:r>
            <a:r>
              <a:rPr dirty="0"/>
              <a:t> con </a:t>
            </a:r>
            <a:r>
              <a:rPr dirty="0" err="1"/>
              <a:t>l'arresto</a:t>
            </a:r>
            <a:r>
              <a:rPr dirty="0"/>
              <a:t> </a:t>
            </a:r>
            <a:r>
              <a:rPr dirty="0" err="1"/>
              <a:t>superiore</a:t>
            </a:r>
            <a:r>
              <a:rPr dirty="0"/>
              <a:t> </a:t>
            </a:r>
            <a:r>
              <a:rPr dirty="0" err="1"/>
              <a:t>nel</a:t>
            </a:r>
            <a:r>
              <a:rPr dirty="0"/>
              <a:t> </a:t>
            </a:r>
            <a:r>
              <a:rPr dirty="0" err="1"/>
              <a:t>massimo</a:t>
            </a:r>
            <a:r>
              <a:rPr dirty="0"/>
              <a:t> a un anno o </a:t>
            </a:r>
            <a:r>
              <a:rPr dirty="0" err="1"/>
              <a:t>nel</a:t>
            </a:r>
            <a:r>
              <a:rPr dirty="0"/>
              <a:t> </a:t>
            </a:r>
            <a:r>
              <a:rPr dirty="0" err="1"/>
              <a:t>minimo</a:t>
            </a:r>
            <a:r>
              <a:rPr dirty="0"/>
              <a:t> a sei </a:t>
            </a:r>
            <a:r>
              <a:rPr dirty="0" err="1"/>
              <a:t>mesi</a:t>
            </a:r>
            <a:r>
              <a:rPr dirty="0"/>
              <a:t>.</a:t>
            </a:r>
          </a:p>
        </p:txBody>
      </p:sp>
      <p:pic>
        <p:nvPicPr>
          <p:cNvPr descr="Immagine 3" id="459" name="Immagine 3"/>
          <p:cNvPicPr>
            <a:picLocks noChangeAspect="1"/>
          </p:cNvPicPr>
          <p:nvPr/>
        </p:nvPicPr>
        <p:blipFill>
          <a:blip r:embed="rId3">
            <a:extLst/>
          </a:blip>
          <a:stretch>
            <a:fillRect/>
          </a:stretch>
        </p:blipFill>
        <p:spPr>
          <a:xfrm>
            <a:off x="136850" y="67097"/>
            <a:ext cx="435671" cy="753167"/>
          </a:xfrm>
          <a:prstGeom prst="rect">
            <a:avLst/>
          </a:prstGeom>
          <a:ln w="12700">
            <a:miter lim="400000"/>
          </a:ln>
        </p:spPr>
      </p:pic>
      <p:sp>
        <p:nvSpPr>
          <p:cNvPr id="460"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Ricettazione</a:t>
            </a:r>
          </a:p>
        </p:txBody>
      </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 name="Segnaposto contenuto 2"/>
          <p:cNvSpPr txBox="1">
            <a:spLocks noGrp="1"/>
          </p:cNvSpPr>
          <p:nvPr>
            <p:ph idx="1" type="body"/>
          </p:nvPr>
        </p:nvSpPr>
        <p:spPr>
          <a:xfrm>
            <a:off x="457200" y="980726"/>
            <a:ext cx="8229600" cy="5877276"/>
          </a:xfrm>
          <a:prstGeom prst="rect">
            <a:avLst/>
          </a:prstGeom>
        </p:spPr>
        <p:txBody>
          <a:bodyPr numCol="1"/>
          <a:lstStyle/>
          <a:p>
            <a:pPr>
              <a:lnSpc>
                <a:spcPct val="80000"/>
              </a:lnSpc>
              <a:spcBef>
                <a:spcPts val="100"/>
              </a:spcBef>
              <a:defRPr i="1" sz="2000">
                <a:latin typeface="Book Antiqua"/>
                <a:ea typeface="Book Antiqua"/>
                <a:cs typeface="Book Antiqua"/>
                <a:sym typeface="Book Antiqua"/>
              </a:defRPr>
            </a:pPr>
            <a:endParaRPr dirty="0"/>
          </a:p>
          <a:p>
            <a:pPr algn="just" indent="0" marL="0">
              <a:lnSpc>
                <a:spcPct val="91200"/>
              </a:lnSpc>
              <a:spcBef>
                <a:spcPts val="600"/>
              </a:spcBef>
              <a:buSzTx/>
              <a:buNone/>
              <a:defRPr b="1" sz="2800">
                <a:solidFill>
                  <a:srgbClr val="FF3399"/>
                </a:solidFill>
                <a:latin typeface="Times New Roman"/>
                <a:ea typeface="Times New Roman"/>
                <a:cs typeface="Times New Roman"/>
                <a:sym typeface="Times New Roman"/>
              </a:defRPr>
            </a:pPr>
            <a:r>
              <a:rPr dirty="0"/>
              <a:t>Art. 648 </a:t>
            </a:r>
            <a:r>
              <a:rPr dirty="0" err="1"/>
              <a:t>c.p.</a:t>
            </a:r>
            <a:r>
              <a:rPr dirty="0"/>
              <a:t> </a:t>
            </a:r>
            <a:r>
              <a:rPr dirty="0" err="1"/>
              <a:t>Ricettazione</a:t>
            </a:r>
            <a:endParaRPr dirty="0" sz="800"/>
          </a:p>
          <a:p>
            <a:pPr algn="just" indent="342900" marL="0">
              <a:lnSpc>
                <a:spcPct val="136000"/>
              </a:lnSpc>
              <a:buSzTx/>
              <a:buNone/>
              <a:defRPr i="1" sz="1800">
                <a:latin typeface="Times New Roman"/>
                <a:ea typeface="Times New Roman"/>
                <a:cs typeface="Times New Roman"/>
                <a:sym typeface="Times New Roman"/>
              </a:defRPr>
            </a:pPr>
            <a:r>
              <a:rPr dirty="0"/>
              <a:t>La </a:t>
            </a:r>
            <a:r>
              <a:rPr dirty="0" err="1"/>
              <a:t>pena</a:t>
            </a:r>
            <a:r>
              <a:rPr dirty="0"/>
              <a:t> è </a:t>
            </a:r>
            <a:r>
              <a:rPr dirty="0" err="1"/>
              <a:t>aumentata</a:t>
            </a:r>
            <a:r>
              <a:rPr dirty="0"/>
              <a:t> se </a:t>
            </a:r>
            <a:r>
              <a:rPr dirty="0" err="1"/>
              <a:t>il</a:t>
            </a:r>
            <a:r>
              <a:rPr dirty="0"/>
              <a:t> </a:t>
            </a:r>
            <a:r>
              <a:rPr dirty="0" err="1"/>
              <a:t>fatto</a:t>
            </a:r>
            <a:r>
              <a:rPr dirty="0"/>
              <a:t> è </a:t>
            </a:r>
            <a:r>
              <a:rPr dirty="0" err="1"/>
              <a:t>commesso</a:t>
            </a:r>
            <a:r>
              <a:rPr dirty="0"/>
              <a:t> </a:t>
            </a:r>
            <a:r>
              <a:rPr dirty="0" err="1"/>
              <a:t>nell'esercizio</a:t>
            </a:r>
            <a:r>
              <a:rPr dirty="0"/>
              <a:t> di </a:t>
            </a:r>
            <a:r>
              <a:rPr dirty="0" err="1"/>
              <a:t>un'attività</a:t>
            </a:r>
            <a:r>
              <a:rPr dirty="0"/>
              <a:t> </a:t>
            </a:r>
            <a:r>
              <a:rPr dirty="0" err="1"/>
              <a:t>professionale</a:t>
            </a:r>
            <a:r>
              <a:rPr dirty="0"/>
              <a:t>.</a:t>
            </a:r>
            <a:endParaRPr dirty="0" sz="800"/>
          </a:p>
          <a:p>
            <a:pPr algn="just" indent="342900" marL="0">
              <a:lnSpc>
                <a:spcPct val="136000"/>
              </a:lnSpc>
              <a:buSzTx/>
              <a:buNone/>
              <a:defRPr i="1" sz="1800">
                <a:latin typeface="Times New Roman"/>
                <a:ea typeface="Times New Roman"/>
                <a:cs typeface="Times New Roman"/>
                <a:sym typeface="Times New Roman"/>
              </a:defRPr>
            </a:pPr>
            <a:r>
              <a:rPr dirty="0"/>
              <a:t>Se </a:t>
            </a:r>
            <a:r>
              <a:rPr dirty="0" err="1"/>
              <a:t>il</a:t>
            </a:r>
            <a:r>
              <a:rPr dirty="0"/>
              <a:t> </a:t>
            </a:r>
            <a:r>
              <a:rPr dirty="0" err="1"/>
              <a:t>fatto</a:t>
            </a:r>
            <a:r>
              <a:rPr dirty="0"/>
              <a:t> è di </a:t>
            </a:r>
            <a:r>
              <a:rPr dirty="0" err="1"/>
              <a:t>particolare</a:t>
            </a:r>
            <a:r>
              <a:rPr dirty="0"/>
              <a:t> </a:t>
            </a:r>
            <a:r>
              <a:rPr dirty="0" err="1"/>
              <a:t>tenuità</a:t>
            </a:r>
            <a:r>
              <a:rPr dirty="0"/>
              <a:t>, </a:t>
            </a:r>
            <a:r>
              <a:rPr dirty="0" err="1"/>
              <a:t>si</a:t>
            </a:r>
            <a:r>
              <a:rPr dirty="0"/>
              <a:t> </a:t>
            </a:r>
            <a:r>
              <a:rPr dirty="0" err="1"/>
              <a:t>applica</a:t>
            </a:r>
            <a:r>
              <a:rPr dirty="0"/>
              <a:t> la </a:t>
            </a:r>
            <a:r>
              <a:rPr dirty="0" err="1"/>
              <a:t>pena</a:t>
            </a:r>
            <a:r>
              <a:rPr dirty="0"/>
              <a:t> </a:t>
            </a:r>
            <a:r>
              <a:rPr dirty="0" err="1"/>
              <a:t>della</a:t>
            </a:r>
            <a:r>
              <a:rPr dirty="0"/>
              <a:t> </a:t>
            </a:r>
            <a:r>
              <a:rPr dirty="0" err="1"/>
              <a:t>reclusione</a:t>
            </a:r>
            <a:r>
              <a:rPr dirty="0"/>
              <a:t> </a:t>
            </a:r>
            <a:r>
              <a:rPr dirty="0" err="1"/>
              <a:t>sino</a:t>
            </a:r>
            <a:r>
              <a:rPr dirty="0"/>
              <a:t> a sei </a:t>
            </a:r>
            <a:r>
              <a:rPr dirty="0" err="1"/>
              <a:t>anni</a:t>
            </a:r>
            <a:r>
              <a:rPr dirty="0"/>
              <a:t> e </a:t>
            </a:r>
            <a:r>
              <a:rPr dirty="0" err="1"/>
              <a:t>della</a:t>
            </a:r>
            <a:r>
              <a:rPr dirty="0"/>
              <a:t> </a:t>
            </a:r>
            <a:r>
              <a:rPr dirty="0" err="1"/>
              <a:t>multa</a:t>
            </a:r>
            <a:r>
              <a:rPr dirty="0"/>
              <a:t> </a:t>
            </a:r>
            <a:r>
              <a:rPr dirty="0" err="1"/>
              <a:t>sino</a:t>
            </a:r>
            <a:r>
              <a:rPr dirty="0"/>
              <a:t> a euro 1.000 </a:t>
            </a:r>
            <a:r>
              <a:rPr dirty="0" err="1"/>
              <a:t>nel</a:t>
            </a:r>
            <a:r>
              <a:rPr dirty="0"/>
              <a:t> </a:t>
            </a:r>
            <a:r>
              <a:rPr dirty="0" err="1"/>
              <a:t>caso</a:t>
            </a:r>
            <a:r>
              <a:rPr dirty="0"/>
              <a:t> di </a:t>
            </a:r>
            <a:r>
              <a:rPr dirty="0" err="1"/>
              <a:t>denaro</a:t>
            </a:r>
            <a:r>
              <a:rPr dirty="0"/>
              <a:t> o </a:t>
            </a:r>
            <a:r>
              <a:rPr dirty="0" err="1"/>
              <a:t>cose</a:t>
            </a:r>
            <a:r>
              <a:rPr dirty="0"/>
              <a:t> </a:t>
            </a:r>
            <a:r>
              <a:rPr dirty="0" err="1"/>
              <a:t>provenienti</a:t>
            </a:r>
            <a:r>
              <a:rPr dirty="0"/>
              <a:t> da </a:t>
            </a:r>
            <a:r>
              <a:rPr dirty="0" err="1"/>
              <a:t>delitto</a:t>
            </a:r>
            <a:r>
              <a:rPr dirty="0"/>
              <a:t> e la </a:t>
            </a:r>
            <a:r>
              <a:rPr dirty="0" err="1"/>
              <a:t>pena</a:t>
            </a:r>
            <a:r>
              <a:rPr dirty="0"/>
              <a:t> </a:t>
            </a:r>
            <a:r>
              <a:rPr dirty="0" err="1"/>
              <a:t>della</a:t>
            </a:r>
            <a:r>
              <a:rPr dirty="0"/>
              <a:t> </a:t>
            </a:r>
            <a:r>
              <a:rPr dirty="0" err="1"/>
              <a:t>reclusione</a:t>
            </a:r>
            <a:r>
              <a:rPr dirty="0"/>
              <a:t> </a:t>
            </a:r>
            <a:r>
              <a:rPr dirty="0" err="1"/>
              <a:t>sino</a:t>
            </a:r>
            <a:r>
              <a:rPr dirty="0"/>
              <a:t> a </a:t>
            </a:r>
            <a:r>
              <a:rPr dirty="0" err="1"/>
              <a:t>tre</a:t>
            </a:r>
            <a:r>
              <a:rPr dirty="0"/>
              <a:t> </a:t>
            </a:r>
            <a:r>
              <a:rPr dirty="0" err="1"/>
              <a:t>anni</a:t>
            </a:r>
            <a:r>
              <a:rPr dirty="0"/>
              <a:t> e </a:t>
            </a:r>
            <a:r>
              <a:rPr dirty="0" err="1"/>
              <a:t>della</a:t>
            </a:r>
            <a:r>
              <a:rPr dirty="0"/>
              <a:t> </a:t>
            </a:r>
            <a:r>
              <a:rPr dirty="0" err="1"/>
              <a:t>multa</a:t>
            </a:r>
            <a:r>
              <a:rPr dirty="0"/>
              <a:t> </a:t>
            </a:r>
            <a:r>
              <a:rPr dirty="0" err="1"/>
              <a:t>sino</a:t>
            </a:r>
            <a:r>
              <a:rPr dirty="0"/>
              <a:t> a euro 800 </a:t>
            </a:r>
            <a:r>
              <a:rPr dirty="0" err="1"/>
              <a:t>nel</a:t>
            </a:r>
            <a:r>
              <a:rPr dirty="0"/>
              <a:t> </a:t>
            </a:r>
            <a:r>
              <a:rPr dirty="0" err="1"/>
              <a:t>caso</a:t>
            </a:r>
            <a:r>
              <a:rPr dirty="0"/>
              <a:t> di </a:t>
            </a:r>
            <a:r>
              <a:rPr dirty="0" err="1"/>
              <a:t>denaro</a:t>
            </a:r>
            <a:r>
              <a:rPr dirty="0"/>
              <a:t> o </a:t>
            </a:r>
            <a:r>
              <a:rPr dirty="0" err="1"/>
              <a:t>cose</a:t>
            </a:r>
            <a:r>
              <a:rPr dirty="0"/>
              <a:t> </a:t>
            </a:r>
            <a:r>
              <a:rPr dirty="0" err="1"/>
              <a:t>provenienti</a:t>
            </a:r>
            <a:r>
              <a:rPr dirty="0"/>
              <a:t> da </a:t>
            </a:r>
            <a:r>
              <a:rPr dirty="0" err="1"/>
              <a:t>contravvenzione</a:t>
            </a:r>
            <a:r>
              <a:rPr dirty="0"/>
              <a:t>.</a:t>
            </a:r>
            <a:endParaRPr dirty="0" sz="800"/>
          </a:p>
          <a:p>
            <a:pPr algn="just" indent="0" marL="0">
              <a:lnSpc>
                <a:spcPct val="136000"/>
              </a:lnSpc>
              <a:spcBef>
                <a:spcPts val="400"/>
              </a:spcBef>
              <a:buSzTx/>
              <a:buNone/>
              <a:defRPr i="1" sz="2000">
                <a:latin typeface="Times New Roman"/>
                <a:ea typeface="Times New Roman"/>
                <a:cs typeface="Times New Roman"/>
                <a:sym typeface="Times New Roman"/>
              </a:defRPr>
            </a:pPr>
            <a:r>
              <a:rPr dirty="0"/>
              <a:t>Le </a:t>
            </a:r>
            <a:r>
              <a:rPr dirty="0" err="1"/>
              <a:t>disposizioni</a:t>
            </a:r>
            <a:r>
              <a:rPr dirty="0"/>
              <a:t> di </a:t>
            </a:r>
            <a:r>
              <a:rPr dirty="0" err="1"/>
              <a:t>questo</a:t>
            </a:r>
            <a:r>
              <a:rPr dirty="0"/>
              <a:t> </a:t>
            </a:r>
            <a:r>
              <a:rPr dirty="0" err="1"/>
              <a:t>articolo</a:t>
            </a:r>
            <a:r>
              <a:rPr dirty="0"/>
              <a:t> </a:t>
            </a:r>
            <a:r>
              <a:rPr dirty="0" err="1"/>
              <a:t>si</a:t>
            </a:r>
            <a:r>
              <a:rPr dirty="0"/>
              <a:t> </a:t>
            </a:r>
            <a:r>
              <a:rPr dirty="0" err="1"/>
              <a:t>applicano</a:t>
            </a:r>
            <a:r>
              <a:rPr dirty="0"/>
              <a:t> </a:t>
            </a:r>
            <a:r>
              <a:rPr dirty="0" err="1"/>
              <a:t>anche</a:t>
            </a:r>
            <a:r>
              <a:rPr dirty="0"/>
              <a:t> </a:t>
            </a:r>
            <a:r>
              <a:rPr dirty="0" err="1"/>
              <a:t>quando</a:t>
            </a:r>
            <a:r>
              <a:rPr dirty="0"/>
              <a:t> </a:t>
            </a:r>
            <a:r>
              <a:rPr dirty="0" err="1"/>
              <a:t>l'autore</a:t>
            </a:r>
            <a:r>
              <a:rPr dirty="0"/>
              <a:t> del </a:t>
            </a:r>
            <a:r>
              <a:rPr dirty="0" err="1"/>
              <a:t>delitto</a:t>
            </a:r>
            <a:r>
              <a:rPr dirty="0"/>
              <a:t>, da cui </a:t>
            </a:r>
            <a:r>
              <a:rPr dirty="0" err="1"/>
              <a:t>il</a:t>
            </a:r>
            <a:r>
              <a:rPr dirty="0"/>
              <a:t> </a:t>
            </a:r>
            <a:r>
              <a:rPr dirty="0" err="1"/>
              <a:t>denaro</a:t>
            </a:r>
            <a:r>
              <a:rPr dirty="0"/>
              <a:t> o le </a:t>
            </a:r>
            <a:r>
              <a:rPr dirty="0" err="1"/>
              <a:t>cose</a:t>
            </a:r>
            <a:r>
              <a:rPr dirty="0"/>
              <a:t> </a:t>
            </a:r>
            <a:r>
              <a:rPr dirty="0" err="1"/>
              <a:t>provengono</a:t>
            </a:r>
            <a:r>
              <a:rPr dirty="0"/>
              <a:t>, </a:t>
            </a:r>
            <a:r>
              <a:rPr b="1" dirty="0" u="sng"/>
              <a:t>non è </a:t>
            </a:r>
            <a:r>
              <a:rPr b="1" dirty="0" err="1" u="sng"/>
              <a:t>imputabile</a:t>
            </a:r>
            <a:r>
              <a:rPr b="1" dirty="0" u="sng"/>
              <a:t> </a:t>
            </a:r>
            <a:r>
              <a:rPr dirty="0"/>
              <a:t>o </a:t>
            </a:r>
            <a:r>
              <a:rPr b="1" dirty="0" u="sng"/>
              <a:t>non è </a:t>
            </a:r>
            <a:r>
              <a:rPr b="1" dirty="0" err="1" u="sng"/>
              <a:t>punibile</a:t>
            </a:r>
            <a:r>
              <a:rPr b="1" dirty="0" u="sng"/>
              <a:t> </a:t>
            </a:r>
            <a:r>
              <a:rPr dirty="0" err="1"/>
              <a:t>ovvero</a:t>
            </a:r>
            <a:r>
              <a:rPr dirty="0"/>
              <a:t> </a:t>
            </a:r>
            <a:r>
              <a:rPr dirty="0" err="1"/>
              <a:t>quando</a:t>
            </a:r>
            <a:r>
              <a:rPr dirty="0"/>
              <a:t> </a:t>
            </a:r>
            <a:r>
              <a:rPr b="1" dirty="0" err="1" u="sng"/>
              <a:t>manchi</a:t>
            </a:r>
            <a:r>
              <a:rPr b="1" dirty="0" u="sng"/>
              <a:t> una </a:t>
            </a:r>
            <a:r>
              <a:rPr b="1" dirty="0" err="1" u="sng"/>
              <a:t>condizione</a:t>
            </a:r>
            <a:r>
              <a:rPr b="1" dirty="0" u="sng"/>
              <a:t> di </a:t>
            </a:r>
            <a:r>
              <a:rPr b="1" dirty="0" err="1" u="sng"/>
              <a:t>procedibilità</a:t>
            </a:r>
            <a:r>
              <a:rPr b="1" dirty="0" u="sng"/>
              <a:t> </a:t>
            </a:r>
            <a:r>
              <a:rPr dirty="0" err="1"/>
              <a:t>riferita</a:t>
            </a:r>
            <a:r>
              <a:rPr dirty="0"/>
              <a:t> a tale </a:t>
            </a:r>
            <a:r>
              <a:rPr altLang="it-IT" dirty="0" lang="it-IT"/>
              <a:t>reato</a:t>
            </a:r>
            <a:r>
              <a:rPr dirty="0"/>
              <a:t>».</a:t>
            </a:r>
          </a:p>
        </p:txBody>
      </p:sp>
      <p:sp>
        <p:nvSpPr>
          <p:cNvPr id="463" name="Segnaposto numero diapositiva 3"/>
          <p:cNvSpPr txBox="1">
            <a:spLocks noGrp="1"/>
          </p:cNvSpPr>
          <p:nvPr>
            <p:ph idx="2147483647" sz="quarter" type="sldNum"/>
          </p:nvPr>
        </p:nvSpPr>
        <p:spPr>
          <a:xfrm>
            <a:off x="8430259" y="6401179"/>
            <a:ext cx="256539" cy="27546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numCol="1"/>
          <a:lstStyle/>
          <a:p>
            <a:fld id="{86CB4B4D-7CA3-9044-876B-883B54F8677D}" type="slidenum">
              <a:t>58</a:t>
            </a:fld>
            <a:endParaRPr/>
          </a:p>
        </p:txBody>
      </p:sp>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 name="Rettangolo 4"/>
          <p:cNvSpPr txBox="1"/>
          <p:nvPr/>
        </p:nvSpPr>
        <p:spPr>
          <a:xfrm>
            <a:off x="167897" y="933180"/>
            <a:ext cx="8808206" cy="53088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b="0" sz="2200">
                <a:latin typeface="Times New Roman"/>
                <a:ea typeface="Times New Roman"/>
                <a:cs typeface="Times New Roman"/>
                <a:sym typeface="Times New Roman"/>
              </a:defRPr>
            </a:pPr>
            <a:r>
              <a:rPr dirty="0"/>
              <a:t>Questa </a:t>
            </a:r>
            <a:r>
              <a:rPr dirty="0" err="1"/>
              <a:t>norma</a:t>
            </a:r>
            <a:r>
              <a:rPr dirty="0"/>
              <a:t> </a:t>
            </a:r>
            <a:r>
              <a:rPr dirty="0" err="1"/>
              <a:t>va</a:t>
            </a:r>
            <a:r>
              <a:rPr dirty="0"/>
              <a:t> a </a:t>
            </a:r>
            <a:r>
              <a:rPr b="1" dirty="0" err="1">
                <a:solidFill>
                  <a:srgbClr val="FF3399"/>
                </a:solidFill>
              </a:rPr>
              <a:t>tutelare</a:t>
            </a:r>
            <a:r>
              <a:rPr b="1" dirty="0">
                <a:solidFill>
                  <a:srgbClr val="FF3399"/>
                </a:solidFill>
              </a:rPr>
              <a:t> </a:t>
            </a:r>
            <a:r>
              <a:rPr b="1" dirty="0" err="1">
                <a:solidFill>
                  <a:srgbClr val="FF3399"/>
                </a:solidFill>
              </a:rPr>
              <a:t>il</a:t>
            </a:r>
            <a:r>
              <a:rPr b="1" dirty="0">
                <a:solidFill>
                  <a:srgbClr val="FF3399"/>
                </a:solidFill>
              </a:rPr>
              <a:t> </a:t>
            </a:r>
            <a:r>
              <a:rPr b="1" dirty="0" err="1">
                <a:solidFill>
                  <a:srgbClr val="FF3399"/>
                </a:solidFill>
              </a:rPr>
              <a:t>patrimonio</a:t>
            </a:r>
            <a:r>
              <a:rPr b="1" dirty="0">
                <a:solidFill>
                  <a:srgbClr val="FF3399"/>
                </a:solidFill>
              </a:rPr>
              <a:t> </a:t>
            </a:r>
            <a:r>
              <a:rPr b="1" dirty="0" err="1">
                <a:solidFill>
                  <a:srgbClr val="FF3399"/>
                </a:solidFill>
              </a:rPr>
              <a:t>privato</a:t>
            </a:r>
            <a:r>
              <a:rPr b="1" dirty="0">
                <a:solidFill>
                  <a:srgbClr val="FF3399"/>
                </a:solidFill>
              </a:rPr>
              <a:t> </a:t>
            </a:r>
            <a:r>
              <a:rPr dirty="0" err="1"/>
              <a:t>c</a:t>
            </a:r>
            <a:r>
              <a:rPr b="1" dirty="0" err="1" u="sng"/>
              <a:t>ontro</a:t>
            </a:r>
            <a:r>
              <a:rPr b="1" dirty="0" u="sng"/>
              <a:t> </a:t>
            </a:r>
            <a:r>
              <a:rPr b="1" dirty="0" err="1" u="sng"/>
              <a:t>l’intervento</a:t>
            </a:r>
            <a:r>
              <a:rPr b="1" dirty="0" u="sng"/>
              <a:t> di </a:t>
            </a:r>
            <a:r>
              <a:rPr b="1" dirty="0" err="1" u="sng"/>
              <a:t>attività</a:t>
            </a:r>
            <a:r>
              <a:rPr b="1" dirty="0" u="sng"/>
              <a:t> </a:t>
            </a:r>
            <a:r>
              <a:rPr b="1" dirty="0" err="1" u="sng"/>
              <a:t>estranee</a:t>
            </a:r>
            <a:r>
              <a:rPr b="1" dirty="0" u="sng"/>
              <a:t> al </a:t>
            </a:r>
            <a:r>
              <a:rPr b="1" dirty="0" err="1" u="sng"/>
              <a:t>delitto</a:t>
            </a:r>
            <a:r>
              <a:rPr b="1" dirty="0" u="sng"/>
              <a:t> </a:t>
            </a:r>
            <a:r>
              <a:rPr b="1" dirty="0" err="1" u="sng"/>
              <a:t>anteriore</a:t>
            </a:r>
            <a:r>
              <a:rPr dirty="0"/>
              <a:t>, </a:t>
            </a:r>
            <a:r>
              <a:rPr dirty="0" err="1"/>
              <a:t>capaci</a:t>
            </a:r>
            <a:r>
              <a:rPr dirty="0"/>
              <a:t> di </a:t>
            </a:r>
            <a:r>
              <a:rPr dirty="0" err="1"/>
              <a:t>portare</a:t>
            </a:r>
            <a:r>
              <a:rPr dirty="0"/>
              <a:t> </a:t>
            </a:r>
            <a:r>
              <a:rPr dirty="0" err="1"/>
              <a:t>alle</a:t>
            </a:r>
            <a:r>
              <a:rPr dirty="0"/>
              <a:t> </a:t>
            </a:r>
            <a:r>
              <a:rPr dirty="0" err="1"/>
              <a:t>estreme</a:t>
            </a:r>
            <a:r>
              <a:rPr dirty="0"/>
              <a:t> </a:t>
            </a:r>
            <a:r>
              <a:rPr dirty="0" err="1"/>
              <a:t>conseguenze</a:t>
            </a:r>
            <a:r>
              <a:rPr dirty="0"/>
              <a:t> </a:t>
            </a:r>
            <a:r>
              <a:rPr dirty="0" err="1"/>
              <a:t>il</a:t>
            </a:r>
            <a:r>
              <a:rPr dirty="0"/>
              <a:t> </a:t>
            </a:r>
            <a:r>
              <a:rPr dirty="0" err="1"/>
              <a:t>pregiudizio</a:t>
            </a:r>
            <a:r>
              <a:rPr dirty="0"/>
              <a:t> </a:t>
            </a:r>
            <a:r>
              <a:rPr dirty="0" err="1"/>
              <a:t>già</a:t>
            </a:r>
            <a:r>
              <a:rPr dirty="0"/>
              <a:t> </a:t>
            </a:r>
            <a:r>
              <a:rPr dirty="0" err="1"/>
              <a:t>provocato</a:t>
            </a:r>
            <a:r>
              <a:rPr dirty="0"/>
              <a:t> e </a:t>
            </a:r>
            <a:r>
              <a:rPr dirty="0" err="1"/>
              <a:t>rendere</a:t>
            </a:r>
            <a:r>
              <a:rPr dirty="0"/>
              <a:t> </a:t>
            </a:r>
            <a:r>
              <a:rPr dirty="0" err="1"/>
              <a:t>più</a:t>
            </a:r>
            <a:r>
              <a:rPr dirty="0"/>
              <a:t> </a:t>
            </a:r>
            <a:r>
              <a:rPr dirty="0" err="1"/>
              <a:t>difficoltoso</a:t>
            </a:r>
            <a:r>
              <a:rPr dirty="0"/>
              <a:t> </a:t>
            </a:r>
            <a:r>
              <a:rPr dirty="0" err="1"/>
              <a:t>il</a:t>
            </a:r>
            <a:r>
              <a:rPr dirty="0"/>
              <a:t> </a:t>
            </a:r>
            <a:r>
              <a:rPr dirty="0" err="1"/>
              <a:t>recupero</a:t>
            </a:r>
            <a:r>
              <a:rPr dirty="0"/>
              <a:t> del </a:t>
            </a:r>
            <a:r>
              <a:rPr dirty="0" err="1"/>
              <a:t>prodotto</a:t>
            </a:r>
            <a:r>
              <a:rPr dirty="0"/>
              <a:t> </a:t>
            </a:r>
            <a:r>
              <a:rPr dirty="0" err="1"/>
              <a:t>stesso</a:t>
            </a:r>
            <a:r>
              <a:rPr dirty="0"/>
              <a:t> (Cass. II, 23/04/1985; Cass. II, 11/06/1997). </a:t>
            </a:r>
            <a:endParaRPr altLang="it-IT" dirty="0" lang="it-IT"/>
          </a:p>
          <a:p>
            <a:pPr algn="just">
              <a:lnSpc>
                <a:spcPct val="114000"/>
              </a:lnSpc>
              <a:spcBef>
                <a:spcPts val="1200"/>
              </a:spcBef>
              <a:defRPr b="0" sz="2200">
                <a:latin typeface="Times New Roman"/>
                <a:ea typeface="Times New Roman"/>
                <a:cs typeface="Times New Roman"/>
                <a:sym typeface="Times New Roman"/>
              </a:defRPr>
            </a:pPr>
            <a:endParaRPr dirty="0"/>
          </a:p>
          <a:p>
            <a:pPr algn="just">
              <a:lnSpc>
                <a:spcPct val="114000"/>
              </a:lnSpc>
              <a:spcBef>
                <a:spcPts val="1200"/>
              </a:spcBef>
              <a:defRPr b="0" sz="2200">
                <a:latin typeface="Times New Roman"/>
                <a:ea typeface="Times New Roman"/>
                <a:cs typeface="Times New Roman"/>
                <a:sym typeface="Times New Roman"/>
              </a:defRPr>
            </a:pPr>
            <a:r>
              <a:rPr dirty="0"/>
              <a:t>Il </a:t>
            </a:r>
            <a:r>
              <a:rPr dirty="0" err="1"/>
              <a:t>reato</a:t>
            </a:r>
            <a:r>
              <a:rPr dirty="0"/>
              <a:t> di </a:t>
            </a:r>
            <a:r>
              <a:rPr dirty="0" err="1"/>
              <a:t>ricettazione</a:t>
            </a:r>
            <a:r>
              <a:rPr dirty="0"/>
              <a:t> è un </a:t>
            </a:r>
            <a:r>
              <a:rPr b="1" dirty="0"/>
              <a:t>REATO COMUNE</a:t>
            </a:r>
            <a:r>
              <a:rPr dirty="0"/>
              <a:t>.</a:t>
            </a:r>
            <a:endParaRPr altLang="it-IT" dirty="0" lang="it-IT"/>
          </a:p>
          <a:p>
            <a:pPr algn="just">
              <a:lnSpc>
                <a:spcPct val="114000"/>
              </a:lnSpc>
              <a:spcBef>
                <a:spcPts val="1200"/>
              </a:spcBef>
              <a:defRPr b="0" sz="2200">
                <a:latin typeface="Times New Roman"/>
                <a:ea typeface="Times New Roman"/>
                <a:cs typeface="Times New Roman"/>
                <a:sym typeface="Times New Roman"/>
              </a:defRPr>
            </a:pPr>
            <a:endParaRPr dirty="0"/>
          </a:p>
          <a:p>
            <a:pPr algn="just">
              <a:lnSpc>
                <a:spcPct val="114000"/>
              </a:lnSpc>
              <a:spcBef>
                <a:spcPts val="1200"/>
              </a:spcBef>
              <a:defRPr b="0" sz="2200">
                <a:latin typeface="Times New Roman"/>
                <a:ea typeface="Times New Roman"/>
                <a:cs typeface="Times New Roman"/>
                <a:sym typeface="Times New Roman"/>
              </a:defRPr>
            </a:pPr>
            <a:r>
              <a:rPr dirty="0" err="1"/>
              <a:t>Questo</a:t>
            </a:r>
            <a:r>
              <a:rPr dirty="0"/>
              <a:t> </a:t>
            </a:r>
            <a:r>
              <a:rPr dirty="0" err="1"/>
              <a:t>reato</a:t>
            </a:r>
            <a:r>
              <a:rPr dirty="0"/>
              <a:t> ha </a:t>
            </a:r>
            <a:r>
              <a:rPr altLang="it-IT" b="1" dirty="0" lang="it-IT" u="sng"/>
              <a:t>NATURA ISTANTANEA </a:t>
            </a:r>
            <a:r>
              <a:rPr dirty="0"/>
              <a:t>e </a:t>
            </a:r>
            <a:r>
              <a:rPr dirty="0" err="1">
                <a:solidFill>
                  <a:srgbClr val="FF0000"/>
                </a:solidFill>
              </a:rPr>
              <a:t>si</a:t>
            </a:r>
            <a:r>
              <a:rPr dirty="0">
                <a:solidFill>
                  <a:srgbClr val="FF0000"/>
                </a:solidFill>
              </a:rPr>
              <a:t> </a:t>
            </a:r>
            <a:r>
              <a:rPr dirty="0" err="1">
                <a:solidFill>
                  <a:srgbClr val="FF0000"/>
                </a:solidFill>
              </a:rPr>
              <a:t>consuma</a:t>
            </a:r>
            <a:r>
              <a:rPr dirty="0">
                <a:solidFill>
                  <a:srgbClr val="FF0000"/>
                </a:solidFill>
              </a:rPr>
              <a:t> </a:t>
            </a:r>
            <a:r>
              <a:rPr dirty="0" err="1">
                <a:solidFill>
                  <a:srgbClr val="FF0000"/>
                </a:solidFill>
              </a:rPr>
              <a:t>nel</a:t>
            </a:r>
            <a:r>
              <a:rPr dirty="0">
                <a:solidFill>
                  <a:srgbClr val="FF0000"/>
                </a:solidFill>
              </a:rPr>
              <a:t> </a:t>
            </a:r>
            <a:r>
              <a:rPr dirty="0" err="1">
                <a:solidFill>
                  <a:srgbClr val="FF0000"/>
                </a:solidFill>
              </a:rPr>
              <a:t>momento</a:t>
            </a:r>
            <a:r>
              <a:rPr dirty="0">
                <a:solidFill>
                  <a:srgbClr val="FF0000"/>
                </a:solidFill>
              </a:rPr>
              <a:t> in cui </a:t>
            </a:r>
            <a:r>
              <a:rPr dirty="0" err="1">
                <a:solidFill>
                  <a:srgbClr val="FF0000"/>
                </a:solidFill>
              </a:rPr>
              <a:t>l’agente</a:t>
            </a:r>
            <a:r>
              <a:rPr dirty="0">
                <a:solidFill>
                  <a:srgbClr val="FF0000"/>
                </a:solidFill>
              </a:rPr>
              <a:t> </a:t>
            </a:r>
            <a:r>
              <a:rPr b="1" dirty="0" err="1">
                <a:solidFill>
                  <a:srgbClr val="FF0000"/>
                </a:solidFill>
              </a:rPr>
              <a:t>ottiene</a:t>
            </a:r>
            <a:r>
              <a:rPr b="1" dirty="0">
                <a:solidFill>
                  <a:srgbClr val="FF0000"/>
                </a:solidFill>
              </a:rPr>
              <a:t> </a:t>
            </a:r>
            <a:r>
              <a:rPr b="1" dirty="0" err="1">
                <a:solidFill>
                  <a:srgbClr val="FF0000"/>
                </a:solidFill>
              </a:rPr>
              <a:t>il</a:t>
            </a:r>
            <a:r>
              <a:rPr b="1" dirty="0">
                <a:solidFill>
                  <a:srgbClr val="FF0000"/>
                </a:solidFill>
              </a:rPr>
              <a:t> </a:t>
            </a:r>
            <a:r>
              <a:rPr b="1" dirty="0" err="1">
                <a:solidFill>
                  <a:srgbClr val="FF0000"/>
                </a:solidFill>
              </a:rPr>
              <a:t>possesso</a:t>
            </a:r>
            <a:r>
              <a:rPr b="1" dirty="0">
                <a:solidFill>
                  <a:srgbClr val="FF0000"/>
                </a:solidFill>
              </a:rPr>
              <a:t> </a:t>
            </a:r>
            <a:r>
              <a:rPr b="1" dirty="0" err="1">
                <a:solidFill>
                  <a:srgbClr val="FF0000"/>
                </a:solidFill>
              </a:rPr>
              <a:t>della</a:t>
            </a:r>
            <a:r>
              <a:rPr b="1" dirty="0">
                <a:solidFill>
                  <a:srgbClr val="FF0000"/>
                </a:solidFill>
              </a:rPr>
              <a:t> </a:t>
            </a:r>
            <a:r>
              <a:rPr b="1" dirty="0" err="1">
                <a:solidFill>
                  <a:srgbClr val="FF0000"/>
                </a:solidFill>
              </a:rPr>
              <a:t>cosa</a:t>
            </a:r>
            <a:r>
              <a:rPr dirty="0">
                <a:solidFill>
                  <a:srgbClr val="FF0000"/>
                </a:solidFill>
              </a:rPr>
              <a:t>,</a:t>
            </a:r>
            <a:r>
              <a:rPr dirty="0"/>
              <a:t> </a:t>
            </a:r>
            <a:r>
              <a:rPr b="1" dirty="0" err="1">
                <a:solidFill>
                  <a:schemeClr val="tx1"/>
                </a:solidFill>
              </a:rPr>
              <a:t>oggetto</a:t>
            </a:r>
            <a:r>
              <a:rPr b="1" dirty="0">
                <a:solidFill>
                  <a:schemeClr val="tx1"/>
                </a:solidFill>
              </a:rPr>
              <a:t> </a:t>
            </a:r>
            <a:r>
              <a:rPr b="1" dirty="0" err="1">
                <a:solidFill>
                  <a:schemeClr val="tx1"/>
                </a:solidFill>
              </a:rPr>
              <a:t>della</a:t>
            </a:r>
            <a:r>
              <a:rPr b="1" dirty="0">
                <a:solidFill>
                  <a:schemeClr val="tx1"/>
                </a:solidFill>
              </a:rPr>
              <a:t> </a:t>
            </a:r>
            <a:r>
              <a:rPr b="1" dirty="0" err="1">
                <a:solidFill>
                  <a:schemeClr val="tx1"/>
                </a:solidFill>
              </a:rPr>
              <a:t>condotta</a:t>
            </a:r>
            <a:r>
              <a:rPr b="1" dirty="0">
                <a:solidFill>
                  <a:schemeClr val="tx1"/>
                </a:solidFill>
              </a:rPr>
              <a:t>, </a:t>
            </a:r>
            <a:r>
              <a:rPr b="1" dirty="0">
                <a:solidFill>
                  <a:srgbClr val="FF3399"/>
                </a:solidFill>
              </a:rPr>
              <a:t>la quale </a:t>
            </a:r>
            <a:r>
              <a:rPr b="1" dirty="0" err="1">
                <a:solidFill>
                  <a:srgbClr val="FF3399"/>
                </a:solidFill>
              </a:rPr>
              <a:t>deve</a:t>
            </a:r>
            <a:r>
              <a:rPr b="1" dirty="0">
                <a:solidFill>
                  <a:srgbClr val="FF3399"/>
                </a:solidFill>
              </a:rPr>
              <a:t> </a:t>
            </a:r>
            <a:r>
              <a:rPr b="1" dirty="0" err="1">
                <a:solidFill>
                  <a:srgbClr val="FF3399"/>
                </a:solidFill>
              </a:rPr>
              <a:t>essere</a:t>
            </a:r>
            <a:r>
              <a:rPr b="1" dirty="0">
                <a:solidFill>
                  <a:srgbClr val="FF3399"/>
                </a:solidFill>
              </a:rPr>
              <a:t> di </a:t>
            </a:r>
            <a:r>
              <a:rPr b="1" dirty="0" err="1">
                <a:solidFill>
                  <a:srgbClr val="FF3399"/>
                </a:solidFill>
              </a:rPr>
              <a:t>provenienza</a:t>
            </a:r>
            <a:r>
              <a:rPr b="1" dirty="0">
                <a:solidFill>
                  <a:srgbClr val="FF3399"/>
                </a:solidFill>
              </a:rPr>
              <a:t> </a:t>
            </a:r>
            <a:r>
              <a:rPr b="1" dirty="0" err="1">
                <a:solidFill>
                  <a:srgbClr val="FF3399"/>
                </a:solidFill>
              </a:rPr>
              <a:t>delittuosa</a:t>
            </a:r>
            <a:r>
              <a:rPr dirty="0"/>
              <a:t>, (es. </a:t>
            </a:r>
            <a:r>
              <a:rPr dirty="0" err="1"/>
              <a:t>acquisto</a:t>
            </a:r>
            <a:r>
              <a:rPr dirty="0"/>
              <a:t> di un auto </a:t>
            </a:r>
            <a:r>
              <a:rPr dirty="0" err="1"/>
              <a:t>rubata</a:t>
            </a:r>
            <a:r>
              <a:rPr dirty="0"/>
              <a:t> da </a:t>
            </a:r>
            <a:r>
              <a:rPr dirty="0" err="1"/>
              <a:t>parte</a:t>
            </a:r>
            <a:r>
              <a:rPr dirty="0"/>
              <a:t> di un </a:t>
            </a:r>
            <a:r>
              <a:rPr dirty="0" err="1"/>
              <a:t>soggetto</a:t>
            </a:r>
            <a:r>
              <a:rPr dirty="0"/>
              <a:t> </a:t>
            </a:r>
            <a:r>
              <a:rPr dirty="0" err="1"/>
              <a:t>estraneo</a:t>
            </a:r>
            <a:r>
              <a:rPr dirty="0"/>
              <a:t> al </a:t>
            </a:r>
            <a:r>
              <a:rPr dirty="0" err="1"/>
              <a:t>delitto</a:t>
            </a:r>
            <a:r>
              <a:rPr dirty="0"/>
              <a:t> </a:t>
            </a:r>
            <a:r>
              <a:rPr dirty="0" err="1"/>
              <a:t>iniziale</a:t>
            </a:r>
            <a:r>
              <a:rPr dirty="0"/>
              <a:t>), e </a:t>
            </a:r>
            <a:r>
              <a:rPr dirty="0" err="1"/>
              <a:t>questo</a:t>
            </a:r>
            <a:r>
              <a:rPr dirty="0"/>
              <a:t> vale </a:t>
            </a:r>
            <a:r>
              <a:rPr dirty="0" err="1"/>
              <a:t>sia</a:t>
            </a:r>
            <a:r>
              <a:rPr dirty="0"/>
              <a:t> </a:t>
            </a:r>
            <a:r>
              <a:rPr dirty="0" sz="2200">
                <a:solidFill>
                  <a:schemeClr val="tx1"/>
                </a:solidFill>
                <a:latin typeface="Times New Roman"/>
                <a:cs typeface="Times New Roman"/>
              </a:rPr>
              <a:t>per</a:t>
            </a:r>
            <a:r>
              <a:rPr dirty="0"/>
              <a:t> </a:t>
            </a:r>
            <a:r>
              <a:rPr dirty="0" err="1"/>
              <a:t>i</a:t>
            </a:r>
            <a:r>
              <a:rPr dirty="0"/>
              <a:t> </a:t>
            </a:r>
            <a:r>
              <a:rPr dirty="0" err="1"/>
              <a:t>delitti</a:t>
            </a:r>
            <a:r>
              <a:rPr dirty="0"/>
              <a:t> </a:t>
            </a:r>
            <a:r>
              <a:rPr dirty="0" err="1"/>
              <a:t>dolosi</a:t>
            </a:r>
            <a:r>
              <a:rPr dirty="0"/>
              <a:t> </a:t>
            </a:r>
            <a:r>
              <a:rPr dirty="0" err="1"/>
              <a:t>che</a:t>
            </a:r>
            <a:r>
              <a:rPr dirty="0"/>
              <a:t> </a:t>
            </a:r>
            <a:r>
              <a:rPr dirty="0" err="1"/>
              <a:t>colposi</a:t>
            </a:r>
            <a:r>
              <a:rPr dirty="0"/>
              <a:t> (</a:t>
            </a:r>
            <a:r>
              <a:rPr dirty="0" err="1"/>
              <a:t>anche</a:t>
            </a:r>
            <a:r>
              <a:rPr dirty="0"/>
              <a:t> </a:t>
            </a:r>
            <a:r>
              <a:rPr dirty="0" err="1"/>
              <a:t>nella</a:t>
            </a:r>
            <a:r>
              <a:rPr dirty="0"/>
              <a:t> forma del </a:t>
            </a:r>
            <a:r>
              <a:rPr dirty="0" err="1"/>
              <a:t>tentativo</a:t>
            </a:r>
            <a:r>
              <a:rPr dirty="0"/>
              <a:t>).</a:t>
            </a:r>
          </a:p>
        </p:txBody>
      </p:sp>
      <p:pic>
        <p:nvPicPr>
          <p:cNvPr descr="Immagine 6" id="466"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467"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Ricettazione</a:t>
            </a:r>
          </a:p>
        </p:txBody>
      </p:sp>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Rettangolo 4"/>
          <p:cNvSpPr txBox="1"/>
          <p:nvPr/>
        </p:nvSpPr>
        <p:spPr>
          <a:xfrm>
            <a:off x="45719" y="965040"/>
            <a:ext cx="9052561" cy="51090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defRPr sz="2200" u="sng">
                <a:latin typeface="Times New Roman"/>
                <a:ea typeface="Times New Roman"/>
                <a:cs typeface="Times New Roman"/>
                <a:sym typeface="Times New Roman"/>
              </a:defRPr>
            </a:pPr>
            <a:r>
              <a:rPr dirty="0"/>
              <a:t>ELEMENTO OGGETTIVO</a:t>
            </a:r>
            <a:r>
              <a:rPr b="0" dirty="0" u="none"/>
              <a:t>: la </a:t>
            </a:r>
            <a:r>
              <a:rPr b="0" dirty="0" err="1" u="none"/>
              <a:t>condotta</a:t>
            </a:r>
            <a:r>
              <a:rPr b="0" dirty="0" u="none"/>
              <a:t> </a:t>
            </a:r>
            <a:r>
              <a:rPr b="0" dirty="0" err="1" u="none"/>
              <a:t>sanzionata</a:t>
            </a:r>
            <a:r>
              <a:rPr b="0" dirty="0" u="none"/>
              <a:t> è </a:t>
            </a:r>
            <a:r>
              <a:rPr b="0" dirty="0" err="1" u="none"/>
              <a:t>quella</a:t>
            </a:r>
            <a:r>
              <a:rPr b="0" dirty="0" u="none"/>
              <a:t> di chi, al fine di </a:t>
            </a:r>
            <a:r>
              <a:rPr b="0" dirty="0" err="1" u="none"/>
              <a:t>procurare</a:t>
            </a:r>
            <a:r>
              <a:rPr b="0" dirty="0" u="none"/>
              <a:t> a </a:t>
            </a:r>
            <a:r>
              <a:rPr b="0" dirty="0" err="1" u="none"/>
              <a:t>sé</a:t>
            </a:r>
            <a:r>
              <a:rPr b="0" dirty="0" u="none"/>
              <a:t> o ad </a:t>
            </a:r>
            <a:r>
              <a:rPr b="0" dirty="0" err="1" u="none"/>
              <a:t>altri</a:t>
            </a:r>
            <a:r>
              <a:rPr b="0" dirty="0" u="none"/>
              <a:t> un </a:t>
            </a:r>
            <a:r>
              <a:rPr b="0" dirty="0" err="1" u="none"/>
              <a:t>profitto</a:t>
            </a:r>
            <a:r>
              <a:rPr b="0" dirty="0" u="none"/>
              <a:t>, </a:t>
            </a:r>
          </a:p>
          <a:p>
            <a:pPr algn="just" indent="-342900" marL="342900">
              <a:buSzPct val="100000"/>
              <a:buFont typeface="Arial"/>
              <a:buChar char="•"/>
              <a:defRPr sz="2200">
                <a:solidFill>
                  <a:srgbClr val="FF3399"/>
                </a:solidFill>
                <a:latin typeface="Times New Roman"/>
                <a:ea typeface="Times New Roman"/>
                <a:cs typeface="Times New Roman"/>
                <a:sym typeface="Times New Roman"/>
              </a:defRPr>
            </a:pPr>
            <a:r>
              <a:rPr dirty="0" err="1"/>
              <a:t>acquista</a:t>
            </a:r>
            <a:r>
              <a:rPr dirty="0"/>
              <a:t>, </a:t>
            </a:r>
            <a:r>
              <a:rPr dirty="0" err="1"/>
              <a:t>riceve</a:t>
            </a:r>
            <a:r>
              <a:rPr dirty="0"/>
              <a:t> od occulta </a:t>
            </a:r>
            <a:r>
              <a:rPr dirty="0" err="1"/>
              <a:t>denaro</a:t>
            </a:r>
            <a:r>
              <a:rPr dirty="0"/>
              <a:t> o </a:t>
            </a:r>
            <a:r>
              <a:rPr dirty="0" err="1"/>
              <a:t>cose</a:t>
            </a:r>
            <a:r>
              <a:rPr dirty="0"/>
              <a:t> </a:t>
            </a:r>
            <a:r>
              <a:rPr dirty="0" err="1"/>
              <a:t>provenienti</a:t>
            </a:r>
            <a:r>
              <a:rPr dirty="0"/>
              <a:t> da un </a:t>
            </a:r>
            <a:r>
              <a:rPr dirty="0" err="1"/>
              <a:t>qualsiasi</a:t>
            </a:r>
            <a:r>
              <a:rPr dirty="0"/>
              <a:t> </a:t>
            </a:r>
            <a:r>
              <a:rPr dirty="0" err="1"/>
              <a:t>delitto</a:t>
            </a:r>
            <a:r>
              <a:rPr b="0" dirty="0">
                <a:solidFill>
                  <a:srgbClr val="000000"/>
                </a:solidFill>
              </a:rPr>
              <a:t>, </a:t>
            </a:r>
          </a:p>
          <a:p>
            <a:pPr algn="just" indent="-342900" marL="342900">
              <a:spcBef>
                <a:spcPts val="1200"/>
              </a:spcBef>
              <a:buSzPct val="100000"/>
              <a:buFont typeface="Arial"/>
              <a:buChar char="•"/>
              <a:defRPr b="0" sz="2200">
                <a:latin typeface="Times New Roman"/>
                <a:ea typeface="Times New Roman"/>
                <a:cs typeface="Times New Roman"/>
                <a:sym typeface="Times New Roman"/>
              </a:defRPr>
            </a:pPr>
            <a:r>
              <a:rPr dirty="0"/>
              <a:t>o </a:t>
            </a:r>
            <a:r>
              <a:rPr dirty="0" err="1"/>
              <a:t>comunque</a:t>
            </a:r>
            <a:r>
              <a:rPr dirty="0"/>
              <a:t> </a:t>
            </a:r>
            <a:r>
              <a:rPr b="1" dirty="0" err="1">
                <a:solidFill>
                  <a:srgbClr val="FF3399"/>
                </a:solidFill>
              </a:rPr>
              <a:t>si</a:t>
            </a:r>
            <a:r>
              <a:rPr b="1" dirty="0">
                <a:solidFill>
                  <a:srgbClr val="FF3399"/>
                </a:solidFill>
              </a:rPr>
              <a:t> </a:t>
            </a:r>
            <a:r>
              <a:rPr b="1" dirty="0" err="1">
                <a:solidFill>
                  <a:srgbClr val="FF3399"/>
                </a:solidFill>
              </a:rPr>
              <a:t>intromette</a:t>
            </a:r>
            <a:r>
              <a:rPr b="1" dirty="0">
                <a:solidFill>
                  <a:srgbClr val="FF3399"/>
                </a:solidFill>
              </a:rPr>
              <a:t> </a:t>
            </a:r>
            <a:r>
              <a:rPr b="1" dirty="0" err="1">
                <a:solidFill>
                  <a:srgbClr val="FF3399"/>
                </a:solidFill>
              </a:rPr>
              <a:t>nel</a:t>
            </a:r>
            <a:r>
              <a:rPr b="1" dirty="0">
                <a:solidFill>
                  <a:srgbClr val="FF3399"/>
                </a:solidFill>
              </a:rPr>
              <a:t> </a:t>
            </a:r>
            <a:r>
              <a:rPr b="1" dirty="0" err="1">
                <a:solidFill>
                  <a:srgbClr val="FF3399"/>
                </a:solidFill>
              </a:rPr>
              <a:t>farle</a:t>
            </a:r>
            <a:r>
              <a:rPr b="1" dirty="0">
                <a:solidFill>
                  <a:srgbClr val="FF3399"/>
                </a:solidFill>
              </a:rPr>
              <a:t> </a:t>
            </a:r>
            <a:r>
              <a:rPr b="1" dirty="0" err="1">
                <a:solidFill>
                  <a:srgbClr val="FF3399"/>
                </a:solidFill>
              </a:rPr>
              <a:t>acquistare</a:t>
            </a:r>
            <a:r>
              <a:rPr b="1" dirty="0">
                <a:solidFill>
                  <a:srgbClr val="FF3399"/>
                </a:solidFill>
              </a:rPr>
              <a:t>, </a:t>
            </a:r>
            <a:r>
              <a:rPr b="1" dirty="0" err="1">
                <a:solidFill>
                  <a:srgbClr val="FF3399"/>
                </a:solidFill>
              </a:rPr>
              <a:t>ricevere</a:t>
            </a:r>
            <a:r>
              <a:rPr b="1" dirty="0">
                <a:solidFill>
                  <a:srgbClr val="FF3399"/>
                </a:solidFill>
              </a:rPr>
              <a:t> od </a:t>
            </a:r>
            <a:r>
              <a:rPr b="1" dirty="0" err="1">
                <a:solidFill>
                  <a:srgbClr val="FF3399"/>
                </a:solidFill>
              </a:rPr>
              <a:t>occultare</a:t>
            </a:r>
            <a:r>
              <a:rPr b="1" dirty="0">
                <a:solidFill>
                  <a:srgbClr val="FF3399"/>
                </a:solidFill>
              </a:rPr>
              <a:t>.</a:t>
            </a:r>
          </a:p>
          <a:p>
            <a:pPr algn="just">
              <a:spcBef>
                <a:spcPts val="1200"/>
              </a:spcBef>
              <a:defRPr b="0" sz="2200">
                <a:latin typeface="Times New Roman"/>
                <a:ea typeface="Times New Roman"/>
                <a:cs typeface="Times New Roman"/>
                <a:sym typeface="Times New Roman"/>
              </a:defRPr>
            </a:pPr>
            <a:r>
              <a:rPr dirty="0"/>
              <a:t>La </a:t>
            </a:r>
            <a:r>
              <a:rPr dirty="0" err="1"/>
              <a:t>norma</a:t>
            </a:r>
            <a:r>
              <a:rPr dirty="0"/>
              <a:t> </a:t>
            </a:r>
            <a:r>
              <a:rPr dirty="0" err="1"/>
              <a:t>prevede</a:t>
            </a:r>
            <a:r>
              <a:rPr dirty="0"/>
              <a:t> </a:t>
            </a:r>
            <a:r>
              <a:rPr dirty="0" err="1"/>
              <a:t>che</a:t>
            </a:r>
            <a:r>
              <a:rPr dirty="0"/>
              <a:t> </a:t>
            </a:r>
            <a:r>
              <a:rPr dirty="0" err="1"/>
              <a:t>il</a:t>
            </a:r>
            <a:r>
              <a:rPr dirty="0"/>
              <a:t> </a:t>
            </a:r>
            <a:r>
              <a:rPr dirty="0" err="1"/>
              <a:t>denaro</a:t>
            </a:r>
            <a:r>
              <a:rPr dirty="0"/>
              <a:t> o le </a:t>
            </a:r>
            <a:r>
              <a:rPr dirty="0" err="1"/>
              <a:t>cose</a:t>
            </a:r>
            <a:r>
              <a:rPr dirty="0"/>
              <a:t> </a:t>
            </a:r>
            <a:r>
              <a:rPr dirty="0" err="1"/>
              <a:t>debbano</a:t>
            </a:r>
            <a:r>
              <a:rPr dirty="0"/>
              <a:t> </a:t>
            </a:r>
            <a:r>
              <a:rPr b="1" dirty="0" err="1" u="sng"/>
              <a:t>provenire</a:t>
            </a:r>
            <a:r>
              <a:rPr b="1" dirty="0" u="sng"/>
              <a:t> da un </a:t>
            </a:r>
            <a:r>
              <a:rPr b="1" dirty="0" err="1" u="sng"/>
              <a:t>delitto</a:t>
            </a:r>
            <a:r>
              <a:rPr b="1" dirty="0"/>
              <a:t> </a:t>
            </a:r>
            <a:r>
              <a:rPr dirty="0"/>
              <a:t>e non da un </a:t>
            </a:r>
            <a:r>
              <a:rPr dirty="0" err="1"/>
              <a:t>qualunque</a:t>
            </a:r>
            <a:r>
              <a:rPr dirty="0"/>
              <a:t> </a:t>
            </a:r>
            <a:r>
              <a:rPr dirty="0" err="1"/>
              <a:t>reato</a:t>
            </a:r>
            <a:r>
              <a:rPr dirty="0"/>
              <a:t>.</a:t>
            </a:r>
          </a:p>
          <a:p>
            <a:pPr algn="just">
              <a:spcBef>
                <a:spcPts val="1200"/>
              </a:spcBef>
              <a:defRPr sz="2200">
                <a:latin typeface="Times New Roman"/>
                <a:ea typeface="Times New Roman"/>
                <a:cs typeface="Times New Roman"/>
                <a:sym typeface="Times New Roman"/>
              </a:defRPr>
            </a:pPr>
            <a:r>
              <a:rPr dirty="0" err="1"/>
              <a:t>Presupposto</a:t>
            </a:r>
            <a:r>
              <a:rPr b="0" dirty="0"/>
              <a:t> del </a:t>
            </a:r>
            <a:r>
              <a:rPr b="0" dirty="0" err="1"/>
              <a:t>delitto</a:t>
            </a:r>
            <a:r>
              <a:rPr b="0" dirty="0"/>
              <a:t> di </a:t>
            </a:r>
            <a:r>
              <a:rPr b="0" dirty="0" err="1"/>
              <a:t>ricettazione</a:t>
            </a:r>
            <a:r>
              <a:rPr b="0" dirty="0"/>
              <a:t> è </a:t>
            </a:r>
            <a:r>
              <a:rPr b="0" dirty="0" err="1"/>
              <a:t>che</a:t>
            </a:r>
            <a:r>
              <a:rPr b="0" dirty="0"/>
              <a:t>, </a:t>
            </a:r>
            <a:r>
              <a:rPr b="0" dirty="0" err="1"/>
              <a:t>anteriormente</a:t>
            </a:r>
            <a:r>
              <a:rPr b="0" dirty="0"/>
              <a:t> ad </a:t>
            </a:r>
            <a:r>
              <a:rPr b="0" dirty="0" err="1"/>
              <a:t>esso</a:t>
            </a:r>
            <a:r>
              <a:rPr b="0" dirty="0"/>
              <a:t>, </a:t>
            </a:r>
            <a:r>
              <a:rPr b="0" dirty="0" err="1"/>
              <a:t>sia</a:t>
            </a:r>
            <a:r>
              <a:rPr b="0" dirty="0"/>
              <a:t> </a:t>
            </a:r>
            <a:r>
              <a:rPr b="0" dirty="0" err="1"/>
              <a:t>stato</a:t>
            </a:r>
            <a:r>
              <a:rPr b="0" dirty="0"/>
              <a:t> </a:t>
            </a:r>
            <a:r>
              <a:rPr b="0" dirty="0" err="1"/>
              <a:t>commesso</a:t>
            </a:r>
            <a:r>
              <a:rPr b="0" dirty="0"/>
              <a:t> un </a:t>
            </a:r>
            <a:r>
              <a:rPr b="0" dirty="0" err="1"/>
              <a:t>altro</a:t>
            </a:r>
            <a:r>
              <a:rPr b="0" dirty="0"/>
              <a:t> </a:t>
            </a:r>
            <a:r>
              <a:rPr b="0" dirty="0" err="1"/>
              <a:t>delitto</a:t>
            </a:r>
            <a:r>
              <a:rPr b="0" dirty="0"/>
              <a:t>, </a:t>
            </a:r>
            <a:r>
              <a:rPr b="0" dirty="0" err="1"/>
              <a:t>detto</a:t>
            </a:r>
            <a:r>
              <a:rPr b="0" dirty="0"/>
              <a:t> </a:t>
            </a:r>
            <a:r>
              <a:rPr dirty="0">
                <a:solidFill>
                  <a:srgbClr val="FF3399"/>
                </a:solidFill>
              </a:rPr>
              <a:t>DELITTO PRESUPPOSTO</a:t>
            </a:r>
            <a:r>
              <a:rPr b="0" dirty="0"/>
              <a:t>. </a:t>
            </a:r>
          </a:p>
          <a:p>
            <a:pPr algn="just">
              <a:spcBef>
                <a:spcPts val="1200"/>
              </a:spcBef>
              <a:defRPr b="0" sz="2200">
                <a:latin typeface="Times New Roman"/>
                <a:ea typeface="Times New Roman"/>
                <a:cs typeface="Times New Roman"/>
                <a:sym typeface="Times New Roman"/>
              </a:defRPr>
            </a:pPr>
            <a:r>
              <a:rPr dirty="0"/>
              <a:t>In base </a:t>
            </a:r>
            <a:r>
              <a:rPr dirty="0" err="1"/>
              <a:t>alla</a:t>
            </a:r>
            <a:r>
              <a:rPr dirty="0"/>
              <a:t> </a:t>
            </a:r>
            <a:r>
              <a:rPr dirty="0" err="1"/>
              <a:t>clausola</a:t>
            </a:r>
            <a:r>
              <a:rPr dirty="0"/>
              <a:t> di </a:t>
            </a:r>
            <a:r>
              <a:rPr dirty="0" err="1"/>
              <a:t>esclusione</a:t>
            </a:r>
            <a:r>
              <a:rPr dirty="0"/>
              <a:t> </a:t>
            </a:r>
            <a:r>
              <a:rPr dirty="0" err="1"/>
              <a:t>posta</a:t>
            </a:r>
            <a:r>
              <a:rPr dirty="0"/>
              <a:t> </a:t>
            </a:r>
            <a:r>
              <a:rPr dirty="0" err="1"/>
              <a:t>all’inizio</a:t>
            </a:r>
            <a:r>
              <a:rPr dirty="0"/>
              <a:t> del primo comma (“</a:t>
            </a:r>
            <a:r>
              <a:rPr dirty="0" err="1"/>
              <a:t>Fuori</a:t>
            </a:r>
            <a:r>
              <a:rPr dirty="0"/>
              <a:t> </a:t>
            </a:r>
            <a:r>
              <a:rPr dirty="0" err="1"/>
              <a:t>dei</a:t>
            </a:r>
            <a:r>
              <a:rPr dirty="0"/>
              <a:t> </a:t>
            </a:r>
            <a:r>
              <a:rPr dirty="0" err="1"/>
              <a:t>casi</a:t>
            </a:r>
            <a:r>
              <a:rPr dirty="0"/>
              <a:t> di </a:t>
            </a:r>
            <a:r>
              <a:rPr dirty="0" err="1"/>
              <a:t>concorso</a:t>
            </a:r>
            <a:r>
              <a:rPr dirty="0"/>
              <a:t> </a:t>
            </a:r>
            <a:r>
              <a:rPr dirty="0" err="1"/>
              <a:t>nel</a:t>
            </a:r>
            <a:r>
              <a:rPr dirty="0"/>
              <a:t> </a:t>
            </a:r>
            <a:r>
              <a:rPr dirty="0" err="1"/>
              <a:t>reato</a:t>
            </a:r>
            <a:r>
              <a:rPr dirty="0" u="sng">
                <a:solidFill>
                  <a:srgbClr val="FF0000"/>
                </a:solidFill>
              </a:rPr>
              <a:t>”), </a:t>
            </a:r>
            <a:r>
              <a:rPr b="1" dirty="0" err="1" u="sng">
                <a:solidFill>
                  <a:srgbClr val="FF0000"/>
                </a:solidFill>
              </a:rPr>
              <a:t>il</a:t>
            </a:r>
            <a:r>
              <a:rPr b="1" dirty="0" u="sng">
                <a:solidFill>
                  <a:srgbClr val="FF0000"/>
                </a:solidFill>
              </a:rPr>
              <a:t> </a:t>
            </a:r>
            <a:r>
              <a:rPr b="1" dirty="0" err="1" u="sng">
                <a:solidFill>
                  <a:srgbClr val="FF0000"/>
                </a:solidFill>
              </a:rPr>
              <a:t>delitto</a:t>
            </a:r>
            <a:r>
              <a:rPr b="1" dirty="0" u="sng">
                <a:solidFill>
                  <a:srgbClr val="FF0000"/>
                </a:solidFill>
              </a:rPr>
              <a:t> di </a:t>
            </a:r>
            <a:r>
              <a:rPr b="1" dirty="0" err="1" u="sng">
                <a:solidFill>
                  <a:srgbClr val="FF0000"/>
                </a:solidFill>
              </a:rPr>
              <a:t>ricettazione</a:t>
            </a:r>
            <a:r>
              <a:rPr b="1" dirty="0" u="sng">
                <a:solidFill>
                  <a:srgbClr val="FF0000"/>
                </a:solidFill>
              </a:rPr>
              <a:t> </a:t>
            </a:r>
            <a:r>
              <a:rPr b="1" dirty="0" err="1" u="sng">
                <a:solidFill>
                  <a:srgbClr val="FF0000"/>
                </a:solidFill>
              </a:rPr>
              <a:t>può</a:t>
            </a:r>
            <a:r>
              <a:rPr b="1" dirty="0" u="sng">
                <a:solidFill>
                  <a:srgbClr val="FF0000"/>
                </a:solidFill>
              </a:rPr>
              <a:t> </a:t>
            </a:r>
            <a:r>
              <a:rPr b="1" dirty="0" err="1" u="sng">
                <a:solidFill>
                  <a:srgbClr val="FF0000"/>
                </a:solidFill>
              </a:rPr>
              <a:t>essere</a:t>
            </a:r>
            <a:r>
              <a:rPr b="1" dirty="0" u="sng">
                <a:solidFill>
                  <a:srgbClr val="FF0000"/>
                </a:solidFill>
              </a:rPr>
              <a:t> </a:t>
            </a:r>
            <a:r>
              <a:rPr b="1" dirty="0" err="1" u="sng">
                <a:solidFill>
                  <a:srgbClr val="FF0000"/>
                </a:solidFill>
              </a:rPr>
              <a:t>commesso</a:t>
            </a:r>
            <a:r>
              <a:rPr b="1" dirty="0" u="sng">
                <a:solidFill>
                  <a:srgbClr val="FF0000"/>
                </a:solidFill>
              </a:rPr>
              <a:t> da </a:t>
            </a:r>
            <a:r>
              <a:rPr b="1" dirty="0" err="1" u="sng">
                <a:solidFill>
                  <a:srgbClr val="FF0000"/>
                </a:solidFill>
              </a:rPr>
              <a:t>chiunque</a:t>
            </a:r>
            <a:r>
              <a:rPr b="1" dirty="0" u="sng">
                <a:solidFill>
                  <a:srgbClr val="FF0000"/>
                </a:solidFill>
              </a:rPr>
              <a:t> </a:t>
            </a:r>
            <a:r>
              <a:rPr b="1" dirty="0" err="1" u="sng">
                <a:solidFill>
                  <a:srgbClr val="FF0000"/>
                </a:solidFill>
              </a:rPr>
              <a:t>tranne</a:t>
            </a:r>
            <a:r>
              <a:rPr b="1" dirty="0" u="sng">
                <a:solidFill>
                  <a:srgbClr val="FF0000"/>
                </a:solidFill>
              </a:rPr>
              <a:t> </a:t>
            </a:r>
            <a:r>
              <a:rPr b="1" dirty="0" err="1" u="sng">
                <a:solidFill>
                  <a:srgbClr val="FF0000"/>
                </a:solidFill>
              </a:rPr>
              <a:t>che</a:t>
            </a:r>
            <a:r>
              <a:rPr b="1" dirty="0" u="sng">
                <a:solidFill>
                  <a:srgbClr val="FF0000"/>
                </a:solidFill>
              </a:rPr>
              <a:t> da chi </a:t>
            </a:r>
            <a:r>
              <a:rPr b="1" dirty="0" err="1" u="sng">
                <a:solidFill>
                  <a:srgbClr val="FF0000"/>
                </a:solidFill>
              </a:rPr>
              <a:t>abbia</a:t>
            </a:r>
            <a:r>
              <a:rPr b="1" dirty="0" u="sng">
                <a:solidFill>
                  <a:srgbClr val="FF0000"/>
                </a:solidFill>
              </a:rPr>
              <a:t> </a:t>
            </a:r>
            <a:r>
              <a:rPr b="1" dirty="0" err="1" u="sng">
                <a:solidFill>
                  <a:srgbClr val="FF0000"/>
                </a:solidFill>
              </a:rPr>
              <a:t>partecipato</a:t>
            </a:r>
            <a:r>
              <a:rPr b="1" dirty="0" u="sng">
                <a:solidFill>
                  <a:srgbClr val="FF0000"/>
                </a:solidFill>
              </a:rPr>
              <a:t> </a:t>
            </a:r>
            <a:r>
              <a:rPr b="1" dirty="0" err="1" u="sng">
                <a:solidFill>
                  <a:srgbClr val="FF0000"/>
                </a:solidFill>
              </a:rPr>
              <a:t>alla</a:t>
            </a:r>
            <a:r>
              <a:rPr b="1" dirty="0" u="sng">
                <a:solidFill>
                  <a:srgbClr val="FF0000"/>
                </a:solidFill>
              </a:rPr>
              <a:t> </a:t>
            </a:r>
            <a:r>
              <a:rPr b="1" dirty="0" err="1" u="sng">
                <a:solidFill>
                  <a:srgbClr val="FF0000"/>
                </a:solidFill>
              </a:rPr>
              <a:t>commissione</a:t>
            </a:r>
            <a:r>
              <a:rPr b="1" dirty="0" u="sng">
                <a:solidFill>
                  <a:srgbClr val="FF0000"/>
                </a:solidFill>
              </a:rPr>
              <a:t> del </a:t>
            </a:r>
            <a:r>
              <a:rPr b="1" dirty="0" err="1" u="sng">
                <a:solidFill>
                  <a:srgbClr val="FF0000"/>
                </a:solidFill>
              </a:rPr>
              <a:t>delitto</a:t>
            </a:r>
            <a:r>
              <a:rPr b="1" dirty="0" u="sng">
                <a:solidFill>
                  <a:srgbClr val="FF0000"/>
                </a:solidFill>
              </a:rPr>
              <a:t> </a:t>
            </a:r>
            <a:r>
              <a:rPr b="1" dirty="0" err="1" u="sng">
                <a:solidFill>
                  <a:srgbClr val="FF0000"/>
                </a:solidFill>
              </a:rPr>
              <a:t>presupposto</a:t>
            </a:r>
            <a:r>
              <a:rPr dirty="0">
                <a:solidFill>
                  <a:srgbClr val="FF0000"/>
                </a:solidFill>
              </a:rPr>
              <a:t>.</a:t>
            </a:r>
            <a:r>
              <a:rPr dirty="0"/>
              <a:t> </a:t>
            </a:r>
          </a:p>
        </p:txBody>
      </p:sp>
      <p:pic>
        <p:nvPicPr>
          <p:cNvPr descr="Immagine 6" id="470"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471"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Ricettazione</a:t>
            </a:r>
          </a:p>
        </p:txBody>
      </p:sp>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 name="Rettangolo 4"/>
          <p:cNvSpPr txBox="1"/>
          <p:nvPr/>
        </p:nvSpPr>
        <p:spPr>
          <a:xfrm>
            <a:off x="45719" y="836711"/>
            <a:ext cx="9052561" cy="49796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sz="2200" u="sng">
                <a:latin typeface="Times New Roman"/>
                <a:ea typeface="Times New Roman"/>
                <a:cs typeface="Times New Roman"/>
                <a:sym typeface="Times New Roman"/>
              </a:defRPr>
            </a:pPr>
            <a:r>
              <a:rPr dirty="0"/>
              <a:t>ELEMENTO SOGGETTIVO</a:t>
            </a:r>
            <a:r>
              <a:rPr dirty="0" u="none"/>
              <a:t> </a:t>
            </a:r>
            <a:r>
              <a:rPr b="0" dirty="0" u="none"/>
              <a:t>è </a:t>
            </a:r>
            <a:r>
              <a:rPr b="0" dirty="0" err="1" u="none"/>
              <a:t>il</a:t>
            </a:r>
            <a:r>
              <a:rPr b="0" dirty="0" u="none"/>
              <a:t> </a:t>
            </a:r>
            <a:r>
              <a:rPr dirty="0" u="none">
                <a:solidFill>
                  <a:srgbClr val="FF3399"/>
                </a:solidFill>
              </a:rPr>
              <a:t>DOLO SPECIFICO </a:t>
            </a:r>
            <a:r>
              <a:rPr b="0" dirty="0" u="none"/>
              <a:t>in </a:t>
            </a:r>
            <a:r>
              <a:rPr b="0" dirty="0" err="1" u="none"/>
              <a:t>quanto</a:t>
            </a:r>
            <a:r>
              <a:rPr b="0" dirty="0" u="none"/>
              <a:t> </a:t>
            </a:r>
            <a:r>
              <a:rPr b="0" dirty="0" err="1" u="none"/>
              <a:t>l’agente</a:t>
            </a:r>
            <a:r>
              <a:rPr b="0" dirty="0" u="none"/>
              <a:t> ha la </a:t>
            </a:r>
            <a:r>
              <a:rPr b="0" dirty="0" err="1" u="none"/>
              <a:t>consapevolezza</a:t>
            </a:r>
            <a:r>
              <a:rPr b="0" dirty="0" u="none"/>
              <a:t> di </a:t>
            </a:r>
            <a:r>
              <a:rPr b="0" dirty="0" err="1" u="none"/>
              <a:t>acquistare</a:t>
            </a:r>
            <a:r>
              <a:rPr b="0" dirty="0" u="none"/>
              <a:t> una </a:t>
            </a:r>
            <a:r>
              <a:rPr b="0" dirty="0" err="1" u="none"/>
              <a:t>cosa</a:t>
            </a:r>
            <a:r>
              <a:rPr b="0" dirty="0" u="none"/>
              <a:t> </a:t>
            </a:r>
            <a:r>
              <a:rPr b="0" dirty="0" err="1" u="none"/>
              <a:t>proveniente</a:t>
            </a:r>
            <a:r>
              <a:rPr b="0" dirty="0" u="none"/>
              <a:t> da </a:t>
            </a:r>
            <a:r>
              <a:rPr b="0" dirty="0" err="1" u="none"/>
              <a:t>fatti</a:t>
            </a:r>
            <a:r>
              <a:rPr b="0" dirty="0" u="none"/>
              <a:t> </a:t>
            </a:r>
            <a:r>
              <a:rPr b="0" dirty="0" err="1" u="none"/>
              <a:t>delittuosi</a:t>
            </a:r>
            <a:r>
              <a:rPr b="0" dirty="0" u="none"/>
              <a:t> </a:t>
            </a:r>
            <a:r>
              <a:rPr dirty="0" u="none">
                <a:solidFill>
                  <a:srgbClr val="FF3399"/>
                </a:solidFill>
              </a:rPr>
              <a:t>al fine di </a:t>
            </a:r>
            <a:r>
              <a:rPr dirty="0" err="1" u="none">
                <a:solidFill>
                  <a:srgbClr val="FF3399"/>
                </a:solidFill>
              </a:rPr>
              <a:t>procurare</a:t>
            </a:r>
            <a:r>
              <a:rPr dirty="0" u="none">
                <a:solidFill>
                  <a:srgbClr val="FF3399"/>
                </a:solidFill>
              </a:rPr>
              <a:t> un </a:t>
            </a:r>
            <a:r>
              <a:rPr dirty="0" err="1" u="none">
                <a:solidFill>
                  <a:srgbClr val="FF3399"/>
                </a:solidFill>
              </a:rPr>
              <a:t>profitto</a:t>
            </a:r>
            <a:r>
              <a:rPr b="0" dirty="0" u="none"/>
              <a:t>.</a:t>
            </a:r>
            <a:endParaRPr altLang="it-IT" b="0" dirty="0" lang="it-IT" u="none"/>
          </a:p>
          <a:p>
            <a:pPr algn="just">
              <a:lnSpc>
                <a:spcPct val="114000"/>
              </a:lnSpc>
              <a:spcBef>
                <a:spcPts val="1200"/>
              </a:spcBef>
              <a:defRPr b="0" sz="2200">
                <a:latin typeface="Times New Roman"/>
                <a:ea typeface="Times New Roman"/>
                <a:cs typeface="Times New Roman"/>
                <a:sym typeface="Times New Roman"/>
              </a:defRPr>
            </a:pPr>
            <a:endParaRPr altLang="it-IT" dirty="0" lang="it-IT"/>
          </a:p>
          <a:p>
            <a:pPr algn="just">
              <a:lnSpc>
                <a:spcPct val="114000"/>
              </a:lnSpc>
              <a:spcBef>
                <a:spcPts val="1200"/>
              </a:spcBef>
              <a:defRPr b="0" sz="2200">
                <a:latin typeface="Times New Roman"/>
                <a:ea typeface="Times New Roman"/>
                <a:cs typeface="Times New Roman"/>
                <a:sym typeface="Times New Roman"/>
              </a:defRPr>
            </a:pPr>
            <a:r>
              <a:rPr dirty="0"/>
              <a:t>Ai </a:t>
            </a:r>
            <a:r>
              <a:rPr dirty="0" err="1"/>
              <a:t>fini</a:t>
            </a:r>
            <a:r>
              <a:rPr dirty="0"/>
              <a:t> </a:t>
            </a:r>
            <a:r>
              <a:rPr dirty="0" err="1"/>
              <a:t>della</a:t>
            </a:r>
            <a:r>
              <a:rPr dirty="0"/>
              <a:t> </a:t>
            </a:r>
            <a:r>
              <a:rPr dirty="0" err="1"/>
              <a:t>configurabilità</a:t>
            </a:r>
            <a:r>
              <a:rPr dirty="0"/>
              <a:t> del </a:t>
            </a:r>
            <a:r>
              <a:rPr dirty="0" err="1"/>
              <a:t>delitto</a:t>
            </a:r>
            <a:r>
              <a:rPr dirty="0"/>
              <a:t> in </a:t>
            </a:r>
            <a:r>
              <a:rPr dirty="0" err="1"/>
              <a:t>senso</a:t>
            </a:r>
            <a:r>
              <a:rPr dirty="0"/>
              <a:t> </a:t>
            </a:r>
            <a:r>
              <a:rPr dirty="0" err="1"/>
              <a:t>stretto</a:t>
            </a:r>
            <a:r>
              <a:rPr dirty="0"/>
              <a:t> </a:t>
            </a:r>
            <a:r>
              <a:rPr b="1" dirty="0" err="1">
                <a:solidFill>
                  <a:srgbClr val="FF3399"/>
                </a:solidFill>
              </a:rPr>
              <a:t>si</a:t>
            </a:r>
            <a:r>
              <a:rPr b="1" dirty="0">
                <a:solidFill>
                  <a:srgbClr val="FF3399"/>
                </a:solidFill>
              </a:rPr>
              <a:t> </a:t>
            </a:r>
            <a:r>
              <a:rPr b="1" dirty="0" err="1">
                <a:solidFill>
                  <a:srgbClr val="FF3399"/>
                </a:solidFill>
              </a:rPr>
              <a:t>richiede</a:t>
            </a:r>
            <a:r>
              <a:rPr b="1" dirty="0">
                <a:solidFill>
                  <a:srgbClr val="FF3399"/>
                </a:solidFill>
              </a:rPr>
              <a:t> la </a:t>
            </a:r>
            <a:r>
              <a:rPr b="1" dirty="0" err="1">
                <a:solidFill>
                  <a:srgbClr val="FF3399"/>
                </a:solidFill>
              </a:rPr>
              <a:t>certezza</a:t>
            </a:r>
            <a:r>
              <a:rPr b="1" dirty="0">
                <a:solidFill>
                  <a:srgbClr val="FF3399"/>
                </a:solidFill>
              </a:rPr>
              <a:t> </a:t>
            </a:r>
            <a:r>
              <a:rPr b="1" dirty="0" err="1">
                <a:solidFill>
                  <a:srgbClr val="FF3399"/>
                </a:solidFill>
              </a:rPr>
              <a:t>della</a:t>
            </a:r>
            <a:r>
              <a:rPr b="1" dirty="0">
                <a:solidFill>
                  <a:srgbClr val="FF3399"/>
                </a:solidFill>
              </a:rPr>
              <a:t> </a:t>
            </a:r>
            <a:r>
              <a:rPr b="1" dirty="0" err="1">
                <a:solidFill>
                  <a:srgbClr val="FF3399"/>
                </a:solidFill>
              </a:rPr>
              <a:t>provenienza</a:t>
            </a:r>
            <a:r>
              <a:rPr b="1" dirty="0">
                <a:solidFill>
                  <a:srgbClr val="FF3399"/>
                </a:solidFill>
              </a:rPr>
              <a:t> </a:t>
            </a:r>
            <a:r>
              <a:rPr b="1" dirty="0" err="1">
                <a:solidFill>
                  <a:srgbClr val="FF3399"/>
                </a:solidFill>
              </a:rPr>
              <a:t>delittuosa</a:t>
            </a:r>
            <a:r>
              <a:rPr b="1" dirty="0">
                <a:solidFill>
                  <a:srgbClr val="FF3399"/>
                </a:solidFill>
              </a:rPr>
              <a:t> del bene </a:t>
            </a:r>
            <a:r>
              <a:rPr b="1" dirty="0" err="1">
                <a:solidFill>
                  <a:srgbClr val="FF3399"/>
                </a:solidFill>
              </a:rPr>
              <a:t>ricevuto</a:t>
            </a:r>
            <a:r>
              <a:rPr b="1" dirty="0">
                <a:solidFill>
                  <a:srgbClr val="FF3399"/>
                </a:solidFill>
              </a:rPr>
              <a:t>, </a:t>
            </a:r>
            <a:r>
              <a:rPr b="1" dirty="0" err="1">
                <a:solidFill>
                  <a:srgbClr val="FF3399"/>
                </a:solidFill>
              </a:rPr>
              <a:t>acquistato</a:t>
            </a:r>
            <a:r>
              <a:rPr b="1" dirty="0">
                <a:solidFill>
                  <a:srgbClr val="FF3399"/>
                </a:solidFill>
              </a:rPr>
              <a:t> od </a:t>
            </a:r>
            <a:r>
              <a:rPr b="1" dirty="0" err="1">
                <a:solidFill>
                  <a:srgbClr val="FF3399"/>
                </a:solidFill>
              </a:rPr>
              <a:t>occultato</a:t>
            </a:r>
            <a:r>
              <a:rPr b="1" dirty="0">
                <a:solidFill>
                  <a:srgbClr val="FF3399"/>
                </a:solidFill>
              </a:rPr>
              <a:t> </a:t>
            </a:r>
            <a:r>
              <a:rPr dirty="0"/>
              <a:t>(Cass. II, 31/01/1990), ma non è </a:t>
            </a:r>
            <a:r>
              <a:rPr dirty="0" err="1"/>
              <a:t>necessario</a:t>
            </a:r>
            <a:r>
              <a:rPr dirty="0"/>
              <a:t> </a:t>
            </a:r>
            <a:r>
              <a:rPr dirty="0" err="1"/>
              <a:t>che</a:t>
            </a:r>
            <a:r>
              <a:rPr dirty="0"/>
              <a:t> </a:t>
            </a:r>
            <a:r>
              <a:rPr dirty="0" err="1"/>
              <a:t>si</a:t>
            </a:r>
            <a:r>
              <a:rPr dirty="0"/>
              <a:t> </a:t>
            </a:r>
            <a:r>
              <a:rPr dirty="0" err="1"/>
              <a:t>estenda</a:t>
            </a:r>
            <a:r>
              <a:rPr dirty="0"/>
              <a:t> </a:t>
            </a:r>
            <a:r>
              <a:rPr dirty="0" err="1"/>
              <a:t>alla</a:t>
            </a:r>
            <a:r>
              <a:rPr dirty="0"/>
              <a:t> </a:t>
            </a:r>
            <a:r>
              <a:rPr dirty="0" err="1"/>
              <a:t>precisa</a:t>
            </a:r>
            <a:r>
              <a:rPr dirty="0"/>
              <a:t> </a:t>
            </a:r>
            <a:r>
              <a:rPr dirty="0" err="1"/>
              <a:t>cognizione</a:t>
            </a:r>
            <a:r>
              <a:rPr dirty="0"/>
              <a:t> </a:t>
            </a:r>
            <a:r>
              <a:rPr dirty="0" err="1"/>
              <a:t>delle</a:t>
            </a:r>
            <a:r>
              <a:rPr dirty="0"/>
              <a:t> </a:t>
            </a:r>
            <a:r>
              <a:rPr dirty="0" err="1"/>
              <a:t>circostanze</a:t>
            </a:r>
            <a:r>
              <a:rPr dirty="0"/>
              <a:t> di tempo e di </a:t>
            </a:r>
            <a:r>
              <a:rPr dirty="0" err="1"/>
              <a:t>luogo</a:t>
            </a:r>
            <a:r>
              <a:rPr dirty="0"/>
              <a:t> del </a:t>
            </a:r>
            <a:r>
              <a:rPr dirty="0" err="1"/>
              <a:t>reato</a:t>
            </a:r>
            <a:r>
              <a:rPr dirty="0"/>
              <a:t> </a:t>
            </a:r>
            <a:r>
              <a:rPr dirty="0" err="1"/>
              <a:t>principale</a:t>
            </a:r>
            <a:r>
              <a:rPr dirty="0"/>
              <a:t>, </a:t>
            </a:r>
            <a:r>
              <a:rPr dirty="0" err="1"/>
              <a:t>essendo</a:t>
            </a:r>
            <a:r>
              <a:rPr dirty="0"/>
              <a:t> </a:t>
            </a:r>
            <a:r>
              <a:rPr b="1" dirty="0" err="1" sz="2800"/>
              <a:t>sufficiente</a:t>
            </a:r>
            <a:r>
              <a:rPr b="1" dirty="0" sz="2800"/>
              <a:t> la </a:t>
            </a:r>
            <a:r>
              <a:rPr b="1" dirty="0" err="1" sz="2800"/>
              <a:t>convinzione</a:t>
            </a:r>
            <a:r>
              <a:rPr b="1" dirty="0" sz="2800"/>
              <a:t> di </a:t>
            </a:r>
            <a:r>
              <a:rPr b="1" dirty="0" err="1" sz="2800"/>
              <a:t>acquistare</a:t>
            </a:r>
            <a:r>
              <a:rPr b="1" dirty="0" sz="2800"/>
              <a:t> </a:t>
            </a:r>
            <a:r>
              <a:rPr b="1" dirty="0" err="1" sz="2800"/>
              <a:t>cose</a:t>
            </a:r>
            <a:r>
              <a:rPr b="1" dirty="0" sz="2800"/>
              <a:t> di </a:t>
            </a:r>
            <a:r>
              <a:rPr b="1" dirty="0" err="1" sz="2800"/>
              <a:t>provenienza</a:t>
            </a:r>
            <a:r>
              <a:rPr b="1" dirty="0" sz="2800"/>
              <a:t> </a:t>
            </a:r>
            <a:r>
              <a:rPr b="1" dirty="0" err="1" sz="2800"/>
              <a:t>delittuosa</a:t>
            </a:r>
            <a:r>
              <a:rPr b="1" dirty="0" sz="2800"/>
              <a:t> </a:t>
            </a:r>
            <a:r>
              <a:rPr dirty="0"/>
              <a:t>(Cass. II, 16/12/1997). </a:t>
            </a:r>
            <a:endParaRPr altLang="it-IT" dirty="0" lang="it-IT"/>
          </a:p>
          <a:p>
            <a:pPr algn="just">
              <a:lnSpc>
                <a:spcPct val="114000"/>
              </a:lnSpc>
              <a:spcBef>
                <a:spcPts val="1200"/>
              </a:spcBef>
              <a:defRPr b="0" sz="2200">
                <a:latin typeface="Times New Roman"/>
                <a:ea typeface="Times New Roman"/>
                <a:cs typeface="Times New Roman"/>
                <a:sym typeface="Times New Roman"/>
              </a:defRPr>
            </a:pPr>
            <a:r>
              <a:rPr dirty="0"/>
              <a:t>Il </a:t>
            </a:r>
            <a:r>
              <a:rPr dirty="0" err="1"/>
              <a:t>tentativo</a:t>
            </a:r>
            <a:r>
              <a:rPr dirty="0"/>
              <a:t> è </a:t>
            </a:r>
            <a:r>
              <a:rPr dirty="0" err="1"/>
              <a:t>configurabile</a:t>
            </a:r>
            <a:r>
              <a:rPr dirty="0"/>
              <a:t>.</a:t>
            </a:r>
          </a:p>
        </p:txBody>
      </p:sp>
      <p:pic>
        <p:nvPicPr>
          <p:cNvPr descr="Immagine 6" id="474"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475"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Ricettazione</a:t>
            </a:r>
          </a:p>
        </p:txBody>
      </p:sp>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 name="Rettangolo 4"/>
          <p:cNvSpPr txBox="1"/>
          <p:nvPr/>
        </p:nvSpPr>
        <p:spPr>
          <a:xfrm>
            <a:off x="45719" y="836713"/>
            <a:ext cx="9052561" cy="46146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sz="2200" u="sng">
                <a:latin typeface="Times New Roman"/>
                <a:ea typeface="Times New Roman"/>
                <a:cs typeface="Times New Roman"/>
                <a:sym typeface="Times New Roman"/>
              </a:defRPr>
            </a:pPr>
            <a:r>
              <a:t>DIFFERENZA TRA RICETTAZIONE E INCAUTO ACQUISTO</a:t>
            </a:r>
          </a:p>
          <a:p>
            <a:pPr algn="just">
              <a:lnSpc>
                <a:spcPct val="114000"/>
              </a:lnSpc>
              <a:spcBef>
                <a:spcPts val="1200"/>
              </a:spcBef>
              <a:defRPr b="0" sz="2200">
                <a:latin typeface="Times New Roman"/>
                <a:ea typeface="Times New Roman"/>
                <a:cs typeface="Times New Roman"/>
                <a:sym typeface="Times New Roman"/>
              </a:defRPr>
            </a:pPr>
            <a:r>
              <a:t>I profili distintivi sono:</a:t>
            </a:r>
          </a:p>
          <a:p>
            <a:pPr algn="just" indent="-342900" marL="342900">
              <a:lnSpc>
                <a:spcPct val="114000"/>
              </a:lnSpc>
              <a:spcBef>
                <a:spcPts val="1200"/>
              </a:spcBef>
              <a:buSzPct val="100000"/>
              <a:buFont typeface="Times New Roman"/>
              <a:buChar char="➢"/>
              <a:defRPr sz="2200" u="sng">
                <a:latin typeface="Times New Roman"/>
                <a:ea typeface="Times New Roman"/>
                <a:cs typeface="Times New Roman"/>
                <a:sym typeface="Times New Roman"/>
              </a:defRPr>
            </a:pPr>
            <a:r>
              <a:t>sotto il profilo oggettivo</a:t>
            </a:r>
            <a:r>
              <a:rPr b="0" u="none"/>
              <a:t>, le due fattispecie hanno </a:t>
            </a:r>
            <a:r>
              <a:rPr u="none"/>
              <a:t>in comune il presupposto dell’effettiva provenienza della cosa da reato</a:t>
            </a:r>
            <a:r>
              <a:rPr b="0" u="none"/>
              <a:t>, con la differenza che </a:t>
            </a:r>
            <a:r>
              <a:rPr u="none">
                <a:solidFill>
                  <a:srgbClr val="FF3399"/>
                </a:solidFill>
              </a:rPr>
              <a:t>per la ricettazione la stessa sia proveniente da un delitto </a:t>
            </a:r>
            <a:r>
              <a:rPr b="0" u="none"/>
              <a:t>e non anche da una contravvenzione;</a:t>
            </a:r>
          </a:p>
          <a:p>
            <a:pPr algn="just" indent="-342900" marL="342900">
              <a:lnSpc>
                <a:spcPct val="114000"/>
              </a:lnSpc>
              <a:spcBef>
                <a:spcPts val="1200"/>
              </a:spcBef>
              <a:buSzPct val="100000"/>
              <a:buFont typeface="Times New Roman"/>
              <a:buChar char="➢"/>
              <a:defRPr sz="2200" u="sng">
                <a:latin typeface="Times New Roman"/>
                <a:ea typeface="Times New Roman"/>
                <a:cs typeface="Times New Roman"/>
                <a:sym typeface="Times New Roman"/>
              </a:defRPr>
            </a:pPr>
            <a:r>
              <a:t>sotto il profilo soggettivo</a:t>
            </a:r>
            <a:r>
              <a:rPr b="0" u="none"/>
              <a:t>, le due figure si distinguono in quanto la </a:t>
            </a:r>
            <a:r>
              <a:rPr u="none">
                <a:solidFill>
                  <a:srgbClr val="FF3399"/>
                </a:solidFill>
              </a:rPr>
              <a:t>ricettazione è reato doloso</a:t>
            </a:r>
            <a:r>
              <a:rPr b="0" u="none"/>
              <a:t>, mentre l</a:t>
            </a:r>
            <a:r>
              <a:rPr u="none">
                <a:solidFill>
                  <a:srgbClr val="FF3399"/>
                </a:solidFill>
              </a:rPr>
              <a:t>’incauto acquisto è punito solamente come reato colposo</a:t>
            </a:r>
            <a:r>
              <a:rPr b="0" u="none"/>
              <a:t>. Detta colpa consiste nel mancato accertamento della provenienza illecita della cosa, pur dovendosene sospettare per via della qualità, entità del prezzo e condizione dell’offerente.</a:t>
            </a:r>
          </a:p>
        </p:txBody>
      </p:sp>
      <p:pic>
        <p:nvPicPr>
          <p:cNvPr descr="Immagine 6" id="478"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479"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Ricettazione</a:t>
            </a:r>
          </a:p>
        </p:txBody>
      </p:sp>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 name="CasellaDiTesto 1"/>
          <p:cNvSpPr txBox="1"/>
          <p:nvPr/>
        </p:nvSpPr>
        <p:spPr>
          <a:xfrm>
            <a:off x="229859" y="848856"/>
            <a:ext cx="8684281" cy="55350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indent="-1797050" marL="1797050">
              <a:lnSpc>
                <a:spcPct val="114000"/>
              </a:lnSpc>
              <a:spcBef>
                <a:spcPts val="600"/>
              </a:spcBef>
              <a:defRPr sz="2400">
                <a:solidFill>
                  <a:srgbClr val="B27DFF"/>
                </a:solidFill>
                <a:latin typeface="Book Antiqua"/>
                <a:ea typeface="Book Antiqua"/>
                <a:cs typeface="Book Antiqua"/>
                <a:sym typeface="Book Antiqua"/>
              </a:defRPr>
            </a:pPr>
            <a:r>
              <a:rPr dirty="0"/>
              <a:t>Art. 648 bis </a:t>
            </a:r>
            <a:r>
              <a:rPr dirty="0" err="1"/>
              <a:t>c.p.</a:t>
            </a:r>
            <a:r>
              <a:rPr dirty="0"/>
              <a:t> </a:t>
            </a:r>
            <a:r>
              <a:rPr dirty="0" err="1"/>
              <a:t>Riciclaggio</a:t>
            </a:r>
            <a:endParaRPr dirty="0">
              <a:latin typeface="Times New Roman"/>
              <a:ea typeface="Times New Roman"/>
              <a:cs typeface="Times New Roman"/>
              <a:sym typeface="Times New Roman"/>
            </a:endParaRPr>
          </a:p>
          <a:p>
            <a:pPr algn="just">
              <a:lnSpc>
                <a:spcPct val="114000"/>
              </a:lnSpc>
              <a:spcBef>
                <a:spcPts val="600"/>
              </a:spcBef>
              <a:defRPr b="0" sz="2000">
                <a:latin typeface="Book Antiqua"/>
                <a:ea typeface="Book Antiqua"/>
                <a:cs typeface="Book Antiqua"/>
                <a:sym typeface="Book Antiqua"/>
              </a:defRPr>
            </a:pPr>
            <a:r>
              <a:rPr dirty="0"/>
              <a:t>«</a:t>
            </a:r>
            <a:r>
              <a:rPr dirty="0" err="1" i="1"/>
              <a:t>Fuori</a:t>
            </a:r>
            <a:r>
              <a:rPr dirty="0" i="1"/>
              <a:t> </a:t>
            </a:r>
            <a:r>
              <a:rPr dirty="0" err="1" i="1"/>
              <a:t>dei</a:t>
            </a:r>
            <a:r>
              <a:rPr dirty="0" i="1"/>
              <a:t> </a:t>
            </a:r>
            <a:r>
              <a:rPr dirty="0" err="1" i="1"/>
              <a:t>casi</a:t>
            </a:r>
            <a:r>
              <a:rPr dirty="0" i="1"/>
              <a:t> di </a:t>
            </a:r>
            <a:r>
              <a:rPr dirty="0" err="1" i="1"/>
              <a:t>concorso</a:t>
            </a:r>
            <a:r>
              <a:rPr dirty="0" i="1"/>
              <a:t> </a:t>
            </a:r>
            <a:r>
              <a:rPr dirty="0" err="1" i="1"/>
              <a:t>nel</a:t>
            </a:r>
            <a:r>
              <a:rPr dirty="0" i="1"/>
              <a:t> </a:t>
            </a:r>
            <a:r>
              <a:rPr dirty="0" err="1" i="1"/>
              <a:t>reato</a:t>
            </a:r>
            <a:r>
              <a:rPr dirty="0" i="1"/>
              <a:t>, </a:t>
            </a:r>
            <a:r>
              <a:rPr dirty="0" err="1" i="1"/>
              <a:t>chiunque</a:t>
            </a:r>
            <a:r>
              <a:rPr dirty="0" i="1"/>
              <a:t> </a:t>
            </a:r>
            <a:r>
              <a:rPr b="1" dirty="0" err="1" i="1" u="sng">
                <a:solidFill>
                  <a:srgbClr val="B27DFF"/>
                </a:solidFill>
              </a:rPr>
              <a:t>sostituisce</a:t>
            </a:r>
            <a:r>
              <a:rPr b="1" dirty="0" i="1" u="sng">
                <a:solidFill>
                  <a:srgbClr val="B27DFF"/>
                </a:solidFill>
              </a:rPr>
              <a:t> o </a:t>
            </a:r>
            <a:r>
              <a:rPr b="1" dirty="0" err="1" i="1" u="sng">
                <a:solidFill>
                  <a:srgbClr val="B27DFF"/>
                </a:solidFill>
              </a:rPr>
              <a:t>trasferisce</a:t>
            </a:r>
            <a:r>
              <a:rPr b="1" dirty="0" i="1" u="sng">
                <a:solidFill>
                  <a:srgbClr val="B27DFF"/>
                </a:solidFill>
              </a:rPr>
              <a:t> </a:t>
            </a:r>
            <a:r>
              <a:rPr b="1" dirty="0" err="1" i="1">
                <a:solidFill>
                  <a:srgbClr val="B27DFF"/>
                </a:solidFill>
              </a:rPr>
              <a:t>denaro</a:t>
            </a:r>
            <a:r>
              <a:rPr b="1" dirty="0" i="1">
                <a:solidFill>
                  <a:srgbClr val="B27DFF"/>
                </a:solidFill>
              </a:rPr>
              <a:t>, </a:t>
            </a:r>
            <a:r>
              <a:rPr b="1" dirty="0" err="1" i="1">
                <a:solidFill>
                  <a:srgbClr val="B27DFF"/>
                </a:solidFill>
              </a:rPr>
              <a:t>beni</a:t>
            </a:r>
            <a:r>
              <a:rPr b="1" dirty="0" i="1">
                <a:solidFill>
                  <a:srgbClr val="B27DFF"/>
                </a:solidFill>
              </a:rPr>
              <a:t> o </a:t>
            </a:r>
            <a:r>
              <a:rPr b="1" dirty="0" err="1" i="1">
                <a:solidFill>
                  <a:srgbClr val="B27DFF"/>
                </a:solidFill>
              </a:rPr>
              <a:t>altre</a:t>
            </a:r>
            <a:r>
              <a:rPr b="1" dirty="0" i="1">
                <a:solidFill>
                  <a:srgbClr val="B27DFF"/>
                </a:solidFill>
              </a:rPr>
              <a:t> </a:t>
            </a:r>
            <a:r>
              <a:rPr b="1" dirty="0" err="1" i="1">
                <a:solidFill>
                  <a:srgbClr val="B27DFF"/>
                </a:solidFill>
              </a:rPr>
              <a:t>utilità</a:t>
            </a:r>
            <a:r>
              <a:rPr b="1" dirty="0" i="1">
                <a:solidFill>
                  <a:srgbClr val="B27DFF"/>
                </a:solidFill>
              </a:rPr>
              <a:t> </a:t>
            </a:r>
            <a:r>
              <a:rPr b="1" dirty="0" err="1" i="1">
                <a:solidFill>
                  <a:srgbClr val="B27DFF"/>
                </a:solidFill>
              </a:rPr>
              <a:t>provenienti</a:t>
            </a:r>
            <a:r>
              <a:rPr b="1" dirty="0" i="1">
                <a:solidFill>
                  <a:srgbClr val="B27DFF"/>
                </a:solidFill>
              </a:rPr>
              <a:t> da </a:t>
            </a:r>
            <a:r>
              <a:rPr b="1" dirty="0" err="1" i="1">
                <a:solidFill>
                  <a:srgbClr val="B27DFF"/>
                </a:solidFill>
              </a:rPr>
              <a:t>delitto</a:t>
            </a:r>
            <a:r>
              <a:rPr b="1" dirty="0" i="1">
                <a:solidFill>
                  <a:srgbClr val="B27DFF"/>
                </a:solidFill>
              </a:rPr>
              <a:t> non </a:t>
            </a:r>
            <a:r>
              <a:rPr b="1" dirty="0" err="1" i="1">
                <a:solidFill>
                  <a:srgbClr val="B27DFF"/>
                </a:solidFill>
              </a:rPr>
              <a:t>colposo</a:t>
            </a:r>
            <a:r>
              <a:rPr dirty="0" i="1"/>
              <a:t>; </a:t>
            </a:r>
            <a:r>
              <a:rPr dirty="0" err="1" i="1"/>
              <a:t>ovvero</a:t>
            </a:r>
            <a:r>
              <a:rPr dirty="0" i="1"/>
              <a:t> </a:t>
            </a:r>
            <a:r>
              <a:rPr b="1" dirty="0" err="1" i="1" u="sng">
                <a:solidFill>
                  <a:srgbClr val="B27DFF"/>
                </a:solidFill>
              </a:rPr>
              <a:t>compie</a:t>
            </a:r>
            <a:r>
              <a:rPr dirty="0" i="1"/>
              <a:t> in </a:t>
            </a:r>
            <a:r>
              <a:rPr dirty="0" err="1" i="1"/>
              <a:t>relazione</a:t>
            </a:r>
            <a:r>
              <a:rPr dirty="0" i="1"/>
              <a:t> ad </a:t>
            </a:r>
            <a:r>
              <a:rPr dirty="0" err="1" i="1"/>
              <a:t>essi</a:t>
            </a:r>
            <a:r>
              <a:rPr dirty="0" i="1"/>
              <a:t> </a:t>
            </a:r>
            <a:r>
              <a:rPr b="1" dirty="0" err="1" i="1" u="sng">
                <a:solidFill>
                  <a:srgbClr val="B27DFF"/>
                </a:solidFill>
              </a:rPr>
              <a:t>altre</a:t>
            </a:r>
            <a:r>
              <a:rPr b="1" dirty="0" i="1" u="sng">
                <a:solidFill>
                  <a:srgbClr val="B27DFF"/>
                </a:solidFill>
              </a:rPr>
              <a:t> </a:t>
            </a:r>
            <a:r>
              <a:rPr b="1" dirty="0" err="1" i="1" u="sng">
                <a:solidFill>
                  <a:srgbClr val="B27DFF"/>
                </a:solidFill>
              </a:rPr>
              <a:t>operazioni</a:t>
            </a:r>
            <a:r>
              <a:rPr dirty="0" i="1"/>
              <a:t>, </a:t>
            </a:r>
            <a:r>
              <a:rPr b="1" dirty="0" i="1" u="sng">
                <a:solidFill>
                  <a:srgbClr val="B27DFF"/>
                </a:solidFill>
              </a:rPr>
              <a:t>in modo da </a:t>
            </a:r>
            <a:r>
              <a:rPr b="1" dirty="0" err="1" i="1" u="sng">
                <a:solidFill>
                  <a:srgbClr val="B27DFF"/>
                </a:solidFill>
              </a:rPr>
              <a:t>ostacolare</a:t>
            </a:r>
            <a:r>
              <a:rPr b="1" dirty="0" i="1" u="sng">
                <a:solidFill>
                  <a:srgbClr val="B27DFF"/>
                </a:solidFill>
              </a:rPr>
              <a:t> </a:t>
            </a:r>
            <a:r>
              <a:rPr b="1" dirty="0" err="1" i="1" u="sng">
                <a:solidFill>
                  <a:srgbClr val="B27DFF"/>
                </a:solidFill>
              </a:rPr>
              <a:t>l'identificazione</a:t>
            </a:r>
            <a:r>
              <a:rPr b="1" dirty="0" i="1" u="sng">
                <a:solidFill>
                  <a:srgbClr val="B27DFF"/>
                </a:solidFill>
              </a:rPr>
              <a:t> </a:t>
            </a:r>
            <a:r>
              <a:rPr b="1" dirty="0" err="1" i="1" u="sng">
                <a:solidFill>
                  <a:srgbClr val="B27DFF"/>
                </a:solidFill>
              </a:rPr>
              <a:t>della</a:t>
            </a:r>
            <a:r>
              <a:rPr b="1" dirty="0" i="1" u="sng">
                <a:solidFill>
                  <a:srgbClr val="B27DFF"/>
                </a:solidFill>
              </a:rPr>
              <a:t> </a:t>
            </a:r>
            <a:r>
              <a:rPr b="1" dirty="0" err="1" i="1" u="sng">
                <a:solidFill>
                  <a:srgbClr val="B27DFF"/>
                </a:solidFill>
              </a:rPr>
              <a:t>loro</a:t>
            </a:r>
            <a:r>
              <a:rPr b="1" dirty="0" i="1" u="sng">
                <a:solidFill>
                  <a:srgbClr val="B27DFF"/>
                </a:solidFill>
              </a:rPr>
              <a:t> </a:t>
            </a:r>
            <a:r>
              <a:rPr b="1" dirty="0" err="1" i="1" u="sng">
                <a:solidFill>
                  <a:srgbClr val="B27DFF"/>
                </a:solidFill>
              </a:rPr>
              <a:t>provenienza</a:t>
            </a:r>
            <a:r>
              <a:rPr b="1" dirty="0" i="1" u="sng">
                <a:solidFill>
                  <a:srgbClr val="B27DFF"/>
                </a:solidFill>
              </a:rPr>
              <a:t> </a:t>
            </a:r>
            <a:r>
              <a:rPr b="1" dirty="0" err="1" i="1" u="sng">
                <a:solidFill>
                  <a:srgbClr val="B27DFF"/>
                </a:solidFill>
              </a:rPr>
              <a:t>delittuosa</a:t>
            </a:r>
            <a:r>
              <a:rPr dirty="0" i="1"/>
              <a:t>, è </a:t>
            </a:r>
            <a:r>
              <a:rPr dirty="0" err="1" i="1"/>
              <a:t>punito</a:t>
            </a:r>
            <a:r>
              <a:rPr dirty="0" i="1"/>
              <a:t> con la </a:t>
            </a:r>
            <a:r>
              <a:rPr dirty="0" err="1" i="1"/>
              <a:t>reclusione</a:t>
            </a:r>
            <a:r>
              <a:rPr dirty="0" i="1"/>
              <a:t> da quattro a </a:t>
            </a:r>
            <a:r>
              <a:rPr dirty="0" err="1" i="1"/>
              <a:t>dodici</a:t>
            </a:r>
            <a:r>
              <a:rPr dirty="0" i="1"/>
              <a:t> </a:t>
            </a:r>
            <a:r>
              <a:rPr dirty="0" err="1" i="1"/>
              <a:t>anni</a:t>
            </a:r>
            <a:r>
              <a:rPr dirty="0" i="1"/>
              <a:t> e con la </a:t>
            </a:r>
            <a:r>
              <a:rPr dirty="0" err="1" i="1"/>
              <a:t>multa</a:t>
            </a:r>
            <a:r>
              <a:rPr dirty="0" i="1"/>
              <a:t> da euro 5.000 a euro 25.000.</a:t>
            </a:r>
            <a:endParaRPr dirty="0">
              <a:latin typeface="Times New Roman"/>
              <a:ea typeface="Times New Roman"/>
              <a:cs typeface="Times New Roman"/>
              <a:sym typeface="Times New Roman"/>
            </a:endParaRPr>
          </a:p>
          <a:p>
            <a:pPr algn="just">
              <a:lnSpc>
                <a:spcPct val="114000"/>
              </a:lnSpc>
              <a:spcBef>
                <a:spcPts val="600"/>
              </a:spcBef>
              <a:defRPr b="0" i="1" sz="1800">
                <a:latin typeface="Times New Roman"/>
                <a:ea typeface="Times New Roman"/>
                <a:cs typeface="Times New Roman"/>
                <a:sym typeface="Times New Roman"/>
              </a:defRPr>
            </a:pPr>
            <a:r>
              <a:rPr dirty="0"/>
              <a:t>La </a:t>
            </a:r>
            <a:r>
              <a:rPr dirty="0" err="1"/>
              <a:t>pena</a:t>
            </a:r>
            <a:r>
              <a:rPr dirty="0"/>
              <a:t> è </a:t>
            </a:r>
            <a:r>
              <a:rPr dirty="0" err="1"/>
              <a:t>della</a:t>
            </a:r>
            <a:r>
              <a:rPr dirty="0"/>
              <a:t> </a:t>
            </a:r>
            <a:r>
              <a:rPr dirty="0" err="1"/>
              <a:t>reclusione</a:t>
            </a:r>
            <a:r>
              <a:rPr dirty="0"/>
              <a:t> da due a sei </a:t>
            </a:r>
            <a:r>
              <a:rPr dirty="0" err="1"/>
              <a:t>anni</a:t>
            </a:r>
            <a:r>
              <a:rPr dirty="0"/>
              <a:t> e </a:t>
            </a:r>
            <a:r>
              <a:rPr dirty="0" err="1"/>
              <a:t>della</a:t>
            </a:r>
            <a:r>
              <a:rPr dirty="0"/>
              <a:t> </a:t>
            </a:r>
            <a:r>
              <a:rPr dirty="0" err="1"/>
              <a:t>multa</a:t>
            </a:r>
            <a:r>
              <a:rPr dirty="0"/>
              <a:t> da euro 2.500 a euro 12.500 </a:t>
            </a:r>
            <a:r>
              <a:rPr dirty="0" err="1"/>
              <a:t>quando</a:t>
            </a:r>
            <a:r>
              <a:rPr dirty="0"/>
              <a:t> </a:t>
            </a:r>
            <a:r>
              <a:rPr dirty="0" err="1"/>
              <a:t>il</a:t>
            </a:r>
            <a:r>
              <a:rPr dirty="0"/>
              <a:t> </a:t>
            </a:r>
            <a:r>
              <a:rPr dirty="0" err="1"/>
              <a:t>fatto</a:t>
            </a:r>
            <a:r>
              <a:rPr dirty="0"/>
              <a:t> </a:t>
            </a:r>
            <a:r>
              <a:rPr dirty="0" err="1"/>
              <a:t>riguarda</a:t>
            </a:r>
            <a:r>
              <a:rPr dirty="0"/>
              <a:t> </a:t>
            </a:r>
            <a:r>
              <a:rPr dirty="0" err="1"/>
              <a:t>denaro</a:t>
            </a:r>
            <a:r>
              <a:rPr dirty="0"/>
              <a:t> o </a:t>
            </a:r>
            <a:r>
              <a:rPr dirty="0" err="1"/>
              <a:t>cose</a:t>
            </a:r>
            <a:r>
              <a:rPr dirty="0"/>
              <a:t> </a:t>
            </a:r>
            <a:r>
              <a:rPr dirty="0" err="1"/>
              <a:t>provenienti</a:t>
            </a:r>
            <a:r>
              <a:rPr dirty="0"/>
              <a:t> da </a:t>
            </a:r>
            <a:r>
              <a:rPr dirty="0" err="1"/>
              <a:t>contravvenzione</a:t>
            </a:r>
            <a:r>
              <a:rPr dirty="0"/>
              <a:t> </a:t>
            </a:r>
            <a:r>
              <a:rPr dirty="0" err="1"/>
              <a:t>punita</a:t>
            </a:r>
            <a:r>
              <a:rPr dirty="0"/>
              <a:t> con </a:t>
            </a:r>
            <a:r>
              <a:rPr dirty="0" err="1"/>
              <a:t>l'arresto</a:t>
            </a:r>
            <a:r>
              <a:rPr dirty="0"/>
              <a:t> </a:t>
            </a:r>
            <a:r>
              <a:rPr dirty="0" err="1"/>
              <a:t>superiore</a:t>
            </a:r>
            <a:r>
              <a:rPr dirty="0"/>
              <a:t> </a:t>
            </a:r>
            <a:r>
              <a:rPr dirty="0" err="1"/>
              <a:t>nel</a:t>
            </a:r>
            <a:r>
              <a:rPr dirty="0"/>
              <a:t> </a:t>
            </a:r>
            <a:r>
              <a:rPr dirty="0" err="1"/>
              <a:t>massimo</a:t>
            </a:r>
            <a:r>
              <a:rPr dirty="0"/>
              <a:t> a un anno o </a:t>
            </a:r>
            <a:r>
              <a:rPr dirty="0" err="1"/>
              <a:t>nel</a:t>
            </a:r>
            <a:r>
              <a:rPr dirty="0"/>
              <a:t> </a:t>
            </a:r>
            <a:r>
              <a:rPr dirty="0" err="1"/>
              <a:t>minimo</a:t>
            </a:r>
            <a:r>
              <a:rPr dirty="0"/>
              <a:t> a sei </a:t>
            </a:r>
            <a:r>
              <a:rPr dirty="0" err="1"/>
              <a:t>mesi</a:t>
            </a:r>
            <a:r>
              <a:rPr dirty="0"/>
              <a:t>.</a:t>
            </a:r>
            <a:r>
              <a:rPr dirty="0" i="0"/>
              <a:t> </a:t>
            </a:r>
            <a:r>
              <a:rPr dirty="0" i="0">
                <a:solidFill>
                  <a:srgbClr val="FF3300"/>
                </a:solidFill>
              </a:rPr>
              <a:t>(comma </a:t>
            </a:r>
            <a:r>
              <a:rPr dirty="0" err="1" i="0">
                <a:solidFill>
                  <a:srgbClr val="FF3300"/>
                </a:solidFill>
              </a:rPr>
              <a:t>introdotto</a:t>
            </a:r>
            <a:r>
              <a:rPr dirty="0" i="0">
                <a:solidFill>
                  <a:srgbClr val="FF3300"/>
                </a:solidFill>
              </a:rPr>
              <a:t> dal </a:t>
            </a:r>
            <a:r>
              <a:rPr dirty="0" err="1" i="0">
                <a:solidFill>
                  <a:srgbClr val="FF3300"/>
                </a:solidFill>
              </a:rPr>
              <a:t>D.Lgs</a:t>
            </a:r>
            <a:r>
              <a:rPr dirty="0" i="0">
                <a:solidFill>
                  <a:srgbClr val="FF3300"/>
                </a:solidFill>
              </a:rPr>
              <a:t> 8 </a:t>
            </a:r>
            <a:r>
              <a:rPr dirty="0" err="1" i="0">
                <a:solidFill>
                  <a:srgbClr val="FF3300"/>
                </a:solidFill>
              </a:rPr>
              <a:t>novembre</a:t>
            </a:r>
            <a:r>
              <a:rPr dirty="0" i="0">
                <a:solidFill>
                  <a:srgbClr val="FF3300"/>
                </a:solidFill>
              </a:rPr>
              <a:t> 2021 n.195)</a:t>
            </a:r>
            <a:endParaRPr dirty="0">
              <a:solidFill>
                <a:srgbClr val="FF3300"/>
              </a:solidFill>
            </a:endParaRPr>
          </a:p>
          <a:p>
            <a:pPr algn="just">
              <a:lnSpc>
                <a:spcPct val="114000"/>
              </a:lnSpc>
              <a:spcBef>
                <a:spcPts val="600"/>
              </a:spcBef>
              <a:defRPr b="0" i="1" sz="2000">
                <a:latin typeface="Book Antiqua"/>
                <a:ea typeface="Book Antiqua"/>
                <a:cs typeface="Book Antiqua"/>
                <a:sym typeface="Book Antiqua"/>
              </a:defRPr>
            </a:pPr>
            <a:r>
              <a:rPr dirty="0"/>
              <a:t>La </a:t>
            </a:r>
            <a:r>
              <a:rPr dirty="0" err="1"/>
              <a:t>pena</a:t>
            </a:r>
            <a:r>
              <a:rPr dirty="0"/>
              <a:t> è </a:t>
            </a:r>
            <a:r>
              <a:rPr dirty="0" err="1"/>
              <a:t>aumentata</a:t>
            </a:r>
            <a:r>
              <a:rPr dirty="0"/>
              <a:t> </a:t>
            </a:r>
            <a:r>
              <a:rPr dirty="0" err="1"/>
              <a:t>quando</a:t>
            </a:r>
            <a:r>
              <a:rPr dirty="0"/>
              <a:t> </a:t>
            </a:r>
            <a:r>
              <a:rPr dirty="0" err="1"/>
              <a:t>il</a:t>
            </a:r>
            <a:r>
              <a:rPr dirty="0"/>
              <a:t> </a:t>
            </a:r>
            <a:r>
              <a:rPr dirty="0" err="1"/>
              <a:t>fatto</a:t>
            </a:r>
            <a:r>
              <a:rPr dirty="0"/>
              <a:t> è </a:t>
            </a:r>
            <a:r>
              <a:rPr dirty="0" err="1"/>
              <a:t>commesso</a:t>
            </a:r>
            <a:r>
              <a:rPr dirty="0"/>
              <a:t> </a:t>
            </a:r>
            <a:r>
              <a:rPr dirty="0" err="1"/>
              <a:t>nell'esercizio</a:t>
            </a:r>
            <a:r>
              <a:rPr dirty="0"/>
              <a:t> di </a:t>
            </a:r>
            <a:r>
              <a:rPr dirty="0" err="1"/>
              <a:t>un'attività</a:t>
            </a:r>
            <a:r>
              <a:rPr dirty="0"/>
              <a:t> </a:t>
            </a:r>
            <a:r>
              <a:rPr dirty="0" err="1"/>
              <a:t>professionale</a:t>
            </a:r>
            <a:r>
              <a:rPr dirty="0"/>
              <a:t>.</a:t>
            </a:r>
            <a:endParaRPr dirty="0">
              <a:latin typeface="Times New Roman"/>
              <a:ea typeface="Times New Roman"/>
              <a:cs typeface="Times New Roman"/>
              <a:sym typeface="Times New Roman"/>
            </a:endParaRPr>
          </a:p>
          <a:p>
            <a:pPr algn="just">
              <a:lnSpc>
                <a:spcPct val="114000"/>
              </a:lnSpc>
              <a:spcBef>
                <a:spcPts val="600"/>
              </a:spcBef>
              <a:defRPr b="0" i="1" sz="2000">
                <a:latin typeface="Book Antiqua"/>
                <a:ea typeface="Book Antiqua"/>
                <a:cs typeface="Book Antiqua"/>
                <a:sym typeface="Book Antiqua"/>
              </a:defRPr>
            </a:pPr>
            <a:r>
              <a:rPr dirty="0"/>
              <a:t>La </a:t>
            </a:r>
            <a:r>
              <a:rPr dirty="0" err="1"/>
              <a:t>pena</a:t>
            </a:r>
            <a:r>
              <a:rPr dirty="0"/>
              <a:t> è </a:t>
            </a:r>
            <a:r>
              <a:rPr dirty="0" err="1"/>
              <a:t>diminuita</a:t>
            </a:r>
            <a:r>
              <a:rPr dirty="0"/>
              <a:t> se </a:t>
            </a:r>
            <a:r>
              <a:rPr dirty="0" err="1"/>
              <a:t>il</a:t>
            </a:r>
            <a:r>
              <a:rPr dirty="0"/>
              <a:t> </a:t>
            </a:r>
            <a:r>
              <a:rPr dirty="0" err="1"/>
              <a:t>denaro</a:t>
            </a:r>
            <a:r>
              <a:rPr dirty="0"/>
              <a:t>, </a:t>
            </a:r>
            <a:r>
              <a:rPr dirty="0" err="1"/>
              <a:t>i</a:t>
            </a:r>
            <a:r>
              <a:rPr dirty="0"/>
              <a:t> </a:t>
            </a:r>
            <a:r>
              <a:rPr dirty="0" err="1"/>
              <a:t>beni</a:t>
            </a:r>
            <a:r>
              <a:rPr dirty="0"/>
              <a:t> o le </a:t>
            </a:r>
            <a:r>
              <a:rPr dirty="0" err="1"/>
              <a:t>altre</a:t>
            </a:r>
            <a:r>
              <a:rPr dirty="0"/>
              <a:t> </a:t>
            </a:r>
            <a:r>
              <a:rPr dirty="0" err="1"/>
              <a:t>utilità</a:t>
            </a:r>
            <a:r>
              <a:rPr dirty="0"/>
              <a:t> </a:t>
            </a:r>
            <a:r>
              <a:rPr dirty="0" err="1"/>
              <a:t>provengono</a:t>
            </a:r>
            <a:r>
              <a:rPr dirty="0"/>
              <a:t> da </a:t>
            </a:r>
            <a:r>
              <a:rPr dirty="0" err="1"/>
              <a:t>delitto</a:t>
            </a:r>
            <a:r>
              <a:rPr dirty="0"/>
              <a:t> per </a:t>
            </a:r>
            <a:r>
              <a:rPr dirty="0" err="1"/>
              <a:t>il</a:t>
            </a:r>
            <a:r>
              <a:rPr dirty="0"/>
              <a:t> quale è </a:t>
            </a:r>
            <a:r>
              <a:rPr dirty="0" err="1"/>
              <a:t>stabilita</a:t>
            </a:r>
            <a:r>
              <a:rPr dirty="0"/>
              <a:t> la </a:t>
            </a:r>
            <a:r>
              <a:rPr dirty="0" err="1"/>
              <a:t>pena</a:t>
            </a:r>
            <a:r>
              <a:rPr dirty="0"/>
              <a:t> </a:t>
            </a:r>
            <a:r>
              <a:rPr dirty="0" err="1"/>
              <a:t>della</a:t>
            </a:r>
            <a:r>
              <a:rPr dirty="0"/>
              <a:t> </a:t>
            </a:r>
            <a:r>
              <a:rPr dirty="0" err="1"/>
              <a:t>reclusione</a:t>
            </a:r>
            <a:r>
              <a:rPr dirty="0"/>
              <a:t> </a:t>
            </a:r>
            <a:r>
              <a:rPr dirty="0" err="1"/>
              <a:t>inferiore</a:t>
            </a:r>
            <a:r>
              <a:rPr dirty="0"/>
              <a:t> </a:t>
            </a:r>
            <a:r>
              <a:rPr dirty="0" err="1"/>
              <a:t>nel</a:t>
            </a:r>
            <a:r>
              <a:rPr dirty="0"/>
              <a:t> </a:t>
            </a:r>
            <a:r>
              <a:rPr dirty="0" err="1"/>
              <a:t>massimo</a:t>
            </a:r>
            <a:r>
              <a:rPr dirty="0"/>
              <a:t> a cinque </a:t>
            </a:r>
            <a:r>
              <a:rPr dirty="0" err="1"/>
              <a:t>anni</a:t>
            </a:r>
            <a:r>
              <a:rPr dirty="0"/>
              <a:t>.</a:t>
            </a:r>
            <a:endParaRPr dirty="0">
              <a:latin typeface="Times New Roman"/>
              <a:ea typeface="Times New Roman"/>
              <a:cs typeface="Times New Roman"/>
              <a:sym typeface="Times New Roman"/>
            </a:endParaRPr>
          </a:p>
          <a:p>
            <a:pPr algn="just">
              <a:lnSpc>
                <a:spcPct val="114000"/>
              </a:lnSpc>
              <a:spcBef>
                <a:spcPts val="600"/>
              </a:spcBef>
              <a:defRPr b="0" i="1" sz="2000">
                <a:latin typeface="Book Antiqua"/>
                <a:ea typeface="Book Antiqua"/>
                <a:cs typeface="Book Antiqua"/>
                <a:sym typeface="Book Antiqua"/>
              </a:defRPr>
            </a:pPr>
            <a:r>
              <a:rPr dirty="0"/>
              <a:t>Si </a:t>
            </a:r>
            <a:r>
              <a:rPr dirty="0" err="1"/>
              <a:t>applica</a:t>
            </a:r>
            <a:r>
              <a:rPr dirty="0"/>
              <a:t> </a:t>
            </a:r>
            <a:r>
              <a:rPr dirty="0" err="1"/>
              <a:t>l'ultimo</a:t>
            </a:r>
            <a:r>
              <a:rPr dirty="0"/>
              <a:t> comma </a:t>
            </a:r>
            <a:r>
              <a:rPr dirty="0" err="1"/>
              <a:t>dell'articolo</a:t>
            </a:r>
            <a:r>
              <a:rPr dirty="0"/>
              <a:t> 648».</a:t>
            </a:r>
          </a:p>
        </p:txBody>
      </p:sp>
      <p:pic>
        <p:nvPicPr>
          <p:cNvPr descr="Immagine 3" id="482" name="Immagine 3"/>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483"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Riciclaggio</a:t>
            </a:r>
          </a:p>
        </p:txBody>
      </p:sp>
    </p:spTree>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 name="Rettangolo 4"/>
          <p:cNvSpPr txBox="1"/>
          <p:nvPr/>
        </p:nvSpPr>
        <p:spPr>
          <a:xfrm>
            <a:off x="167897" y="933179"/>
            <a:ext cx="8808206" cy="49229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b="0" sz="2200">
                <a:latin typeface="Times New Roman"/>
                <a:ea typeface="Times New Roman"/>
                <a:cs typeface="Times New Roman"/>
                <a:sym typeface="Times New Roman"/>
              </a:defRPr>
            </a:pPr>
            <a:r>
              <a:rPr dirty="0"/>
              <a:t>Questa </a:t>
            </a:r>
            <a:r>
              <a:rPr dirty="0" err="1"/>
              <a:t>norma</a:t>
            </a:r>
            <a:r>
              <a:rPr dirty="0"/>
              <a:t> è </a:t>
            </a:r>
            <a:r>
              <a:rPr dirty="0" err="1"/>
              <a:t>stata</a:t>
            </a:r>
            <a:r>
              <a:rPr dirty="0"/>
              <a:t> </a:t>
            </a:r>
            <a:r>
              <a:rPr dirty="0" err="1"/>
              <a:t>introdotta</a:t>
            </a:r>
            <a:r>
              <a:rPr dirty="0"/>
              <a:t> al fine di </a:t>
            </a:r>
            <a:r>
              <a:rPr b="1" dirty="0" err="1"/>
              <a:t>reprimere</a:t>
            </a:r>
            <a:r>
              <a:rPr b="1" dirty="0"/>
              <a:t> </a:t>
            </a:r>
            <a:r>
              <a:rPr b="1" dirty="0" err="1"/>
              <a:t>i</a:t>
            </a:r>
            <a:r>
              <a:rPr b="1" dirty="0"/>
              <a:t> </a:t>
            </a:r>
            <a:r>
              <a:rPr b="1" dirty="0" err="1"/>
              <a:t>comportamenti</a:t>
            </a:r>
            <a:r>
              <a:rPr b="1" dirty="0"/>
              <a:t> </a:t>
            </a:r>
            <a:r>
              <a:rPr b="1" dirty="0" err="1"/>
              <a:t>diretti</a:t>
            </a:r>
            <a:r>
              <a:rPr b="1" dirty="0"/>
              <a:t> al </a:t>
            </a:r>
            <a:r>
              <a:rPr b="1" dirty="0" err="1"/>
              <a:t>riciclaggio</a:t>
            </a:r>
            <a:r>
              <a:rPr b="1" dirty="0"/>
              <a:t> del </a:t>
            </a:r>
            <a:r>
              <a:rPr b="1" dirty="0" err="1"/>
              <a:t>cosiddetto</a:t>
            </a:r>
            <a:r>
              <a:rPr b="1" dirty="0"/>
              <a:t> “</a:t>
            </a:r>
            <a:r>
              <a:rPr b="1" dirty="0" err="1"/>
              <a:t>Denaro</a:t>
            </a:r>
            <a:r>
              <a:rPr b="1" dirty="0"/>
              <a:t> </a:t>
            </a:r>
            <a:r>
              <a:rPr b="1" dirty="0" err="1"/>
              <a:t>Sporco</a:t>
            </a:r>
            <a:r>
              <a:rPr b="1" dirty="0"/>
              <a:t>” </a:t>
            </a:r>
            <a:r>
              <a:rPr dirty="0"/>
              <a:t>e </a:t>
            </a:r>
            <a:r>
              <a:rPr dirty="0" err="1"/>
              <a:t>configura</a:t>
            </a:r>
            <a:r>
              <a:rPr dirty="0"/>
              <a:t> un </a:t>
            </a:r>
            <a:r>
              <a:rPr dirty="0" err="1"/>
              <a:t>delitto</a:t>
            </a:r>
            <a:r>
              <a:rPr dirty="0"/>
              <a:t> a forma libera. </a:t>
            </a:r>
          </a:p>
          <a:p>
            <a:pPr algn="just">
              <a:lnSpc>
                <a:spcPct val="114000"/>
              </a:lnSpc>
              <a:spcBef>
                <a:spcPts val="1200"/>
              </a:spcBef>
              <a:defRPr sz="2200">
                <a:solidFill>
                  <a:srgbClr val="B27DFF"/>
                </a:solidFill>
                <a:latin typeface="Times New Roman"/>
                <a:ea typeface="Times New Roman"/>
                <a:cs typeface="Times New Roman"/>
                <a:sym typeface="Times New Roman"/>
              </a:defRPr>
            </a:pPr>
            <a:r>
              <a:rPr dirty="0"/>
              <a:t>REATO COMUNE</a:t>
            </a:r>
            <a:r>
              <a:rPr b="0" dirty="0">
                <a:solidFill>
                  <a:srgbClr val="000000"/>
                </a:solidFill>
              </a:rPr>
              <a:t>: </a:t>
            </a:r>
            <a:r>
              <a:rPr b="0" dirty="0" err="1">
                <a:solidFill>
                  <a:srgbClr val="000000"/>
                </a:solidFill>
              </a:rPr>
              <a:t>il</a:t>
            </a:r>
            <a:r>
              <a:rPr b="0" dirty="0">
                <a:solidFill>
                  <a:srgbClr val="000000"/>
                </a:solidFill>
              </a:rPr>
              <a:t> </a:t>
            </a:r>
            <a:r>
              <a:rPr b="0" dirty="0" err="1">
                <a:solidFill>
                  <a:srgbClr val="000000"/>
                </a:solidFill>
              </a:rPr>
              <a:t>soggetto</a:t>
            </a:r>
            <a:r>
              <a:rPr b="0" dirty="0">
                <a:solidFill>
                  <a:srgbClr val="000000"/>
                </a:solidFill>
              </a:rPr>
              <a:t> </a:t>
            </a:r>
            <a:r>
              <a:rPr b="0" dirty="0" err="1">
                <a:solidFill>
                  <a:srgbClr val="000000"/>
                </a:solidFill>
              </a:rPr>
              <a:t>attivo</a:t>
            </a:r>
            <a:r>
              <a:rPr b="0" dirty="0">
                <a:solidFill>
                  <a:srgbClr val="000000"/>
                </a:solidFill>
              </a:rPr>
              <a:t> </a:t>
            </a:r>
            <a:r>
              <a:rPr b="0" dirty="0" err="1">
                <a:solidFill>
                  <a:srgbClr val="000000"/>
                </a:solidFill>
              </a:rPr>
              <a:t>può</a:t>
            </a:r>
            <a:r>
              <a:rPr b="0" dirty="0">
                <a:solidFill>
                  <a:srgbClr val="000000"/>
                </a:solidFill>
              </a:rPr>
              <a:t> </a:t>
            </a:r>
            <a:r>
              <a:rPr b="0" dirty="0" err="1">
                <a:solidFill>
                  <a:srgbClr val="000000"/>
                </a:solidFill>
              </a:rPr>
              <a:t>essere</a:t>
            </a:r>
            <a:r>
              <a:rPr b="0" dirty="0">
                <a:solidFill>
                  <a:srgbClr val="000000"/>
                </a:solidFill>
              </a:rPr>
              <a:t> </a:t>
            </a:r>
            <a:r>
              <a:rPr b="0" dirty="0" err="1">
                <a:solidFill>
                  <a:srgbClr val="000000"/>
                </a:solidFill>
              </a:rPr>
              <a:t>chiunque</a:t>
            </a:r>
            <a:r>
              <a:rPr b="0" dirty="0">
                <a:solidFill>
                  <a:srgbClr val="000000"/>
                </a:solidFill>
              </a:rPr>
              <a:t>, </a:t>
            </a:r>
            <a:r>
              <a:rPr b="0" dirty="0" err="1">
                <a:solidFill>
                  <a:srgbClr val="000000"/>
                </a:solidFill>
              </a:rPr>
              <a:t>fatta</a:t>
            </a:r>
            <a:r>
              <a:rPr b="0" dirty="0">
                <a:solidFill>
                  <a:srgbClr val="000000"/>
                </a:solidFill>
              </a:rPr>
              <a:t> </a:t>
            </a:r>
            <a:r>
              <a:rPr b="0" dirty="0" err="1">
                <a:solidFill>
                  <a:srgbClr val="000000"/>
                </a:solidFill>
              </a:rPr>
              <a:t>eccezione</a:t>
            </a:r>
            <a:r>
              <a:rPr b="0" dirty="0">
                <a:solidFill>
                  <a:srgbClr val="000000"/>
                </a:solidFill>
              </a:rPr>
              <a:t> per chi </a:t>
            </a:r>
            <a:r>
              <a:rPr b="0" dirty="0" err="1">
                <a:solidFill>
                  <a:srgbClr val="000000"/>
                </a:solidFill>
              </a:rPr>
              <a:t>abbia</a:t>
            </a:r>
            <a:r>
              <a:rPr b="0" dirty="0">
                <a:solidFill>
                  <a:srgbClr val="000000"/>
                </a:solidFill>
              </a:rPr>
              <a:t> </a:t>
            </a:r>
            <a:r>
              <a:rPr b="0" dirty="0" err="1">
                <a:solidFill>
                  <a:srgbClr val="000000"/>
                </a:solidFill>
              </a:rPr>
              <a:t>partecipato</a:t>
            </a:r>
            <a:r>
              <a:rPr b="0" dirty="0">
                <a:solidFill>
                  <a:srgbClr val="000000"/>
                </a:solidFill>
              </a:rPr>
              <a:t> al </a:t>
            </a:r>
            <a:r>
              <a:rPr b="0" dirty="0" err="1">
                <a:solidFill>
                  <a:srgbClr val="000000"/>
                </a:solidFill>
              </a:rPr>
              <a:t>delitto</a:t>
            </a:r>
            <a:r>
              <a:rPr b="0" dirty="0">
                <a:solidFill>
                  <a:srgbClr val="000000"/>
                </a:solidFill>
              </a:rPr>
              <a:t> </a:t>
            </a:r>
            <a:r>
              <a:rPr b="0" dirty="0" err="1">
                <a:solidFill>
                  <a:srgbClr val="000000"/>
                </a:solidFill>
              </a:rPr>
              <a:t>presupposto</a:t>
            </a:r>
            <a:r>
              <a:rPr b="0" dirty="0">
                <a:solidFill>
                  <a:srgbClr val="000000"/>
                </a:solidFill>
              </a:rPr>
              <a:t>, in </a:t>
            </a:r>
            <a:r>
              <a:rPr b="0" dirty="0" err="1">
                <a:solidFill>
                  <a:srgbClr val="000000"/>
                </a:solidFill>
              </a:rPr>
              <a:t>virtù</a:t>
            </a:r>
            <a:r>
              <a:rPr b="0" dirty="0">
                <a:solidFill>
                  <a:srgbClr val="000000"/>
                </a:solidFill>
              </a:rPr>
              <a:t> </a:t>
            </a:r>
            <a:r>
              <a:rPr b="0" dirty="0" err="1">
                <a:solidFill>
                  <a:srgbClr val="000000"/>
                </a:solidFill>
              </a:rPr>
              <a:t>della</a:t>
            </a:r>
            <a:r>
              <a:rPr b="0" dirty="0">
                <a:solidFill>
                  <a:srgbClr val="000000"/>
                </a:solidFill>
              </a:rPr>
              <a:t> </a:t>
            </a:r>
            <a:r>
              <a:rPr b="0" dirty="0" err="1">
                <a:solidFill>
                  <a:srgbClr val="000000"/>
                </a:solidFill>
              </a:rPr>
              <a:t>clausola</a:t>
            </a:r>
            <a:r>
              <a:rPr b="0" dirty="0">
                <a:solidFill>
                  <a:srgbClr val="000000"/>
                </a:solidFill>
              </a:rPr>
              <a:t> di </a:t>
            </a:r>
            <a:r>
              <a:rPr b="0" dirty="0" err="1">
                <a:solidFill>
                  <a:srgbClr val="000000"/>
                </a:solidFill>
              </a:rPr>
              <a:t>esclusione</a:t>
            </a:r>
            <a:r>
              <a:rPr b="0" dirty="0">
                <a:solidFill>
                  <a:srgbClr val="000000"/>
                </a:solidFill>
              </a:rPr>
              <a:t> </a:t>
            </a:r>
            <a:r>
              <a:rPr b="0" dirty="0" err="1">
                <a:solidFill>
                  <a:srgbClr val="000000"/>
                </a:solidFill>
              </a:rPr>
              <a:t>posta</a:t>
            </a:r>
            <a:r>
              <a:rPr b="0" dirty="0">
                <a:solidFill>
                  <a:srgbClr val="000000"/>
                </a:solidFill>
              </a:rPr>
              <a:t> in </a:t>
            </a:r>
            <a:r>
              <a:rPr b="0" dirty="0" err="1">
                <a:solidFill>
                  <a:srgbClr val="000000"/>
                </a:solidFill>
              </a:rPr>
              <a:t>apertura</a:t>
            </a:r>
            <a:r>
              <a:rPr b="0" dirty="0">
                <a:solidFill>
                  <a:srgbClr val="000000"/>
                </a:solidFill>
              </a:rPr>
              <a:t> </a:t>
            </a:r>
            <a:r>
              <a:rPr b="0" dirty="0" err="1">
                <a:solidFill>
                  <a:srgbClr val="000000"/>
                </a:solidFill>
              </a:rPr>
              <a:t>dalla</a:t>
            </a:r>
            <a:r>
              <a:rPr b="0" dirty="0">
                <a:solidFill>
                  <a:srgbClr val="000000"/>
                </a:solidFill>
              </a:rPr>
              <a:t> </a:t>
            </a:r>
            <a:r>
              <a:rPr b="0" dirty="0" err="1">
                <a:solidFill>
                  <a:srgbClr val="000000"/>
                </a:solidFill>
              </a:rPr>
              <a:t>norma</a:t>
            </a:r>
            <a:r>
              <a:rPr b="0" dirty="0">
                <a:solidFill>
                  <a:srgbClr val="000000"/>
                </a:solidFill>
              </a:rPr>
              <a:t>. </a:t>
            </a:r>
          </a:p>
          <a:p>
            <a:pPr algn="just">
              <a:lnSpc>
                <a:spcPct val="114000"/>
              </a:lnSpc>
              <a:spcBef>
                <a:spcPts val="1200"/>
              </a:spcBef>
              <a:defRPr b="0" sz="2200">
                <a:latin typeface="Times New Roman"/>
                <a:ea typeface="Times New Roman"/>
                <a:cs typeface="Times New Roman"/>
                <a:sym typeface="Times New Roman"/>
              </a:defRPr>
            </a:pPr>
            <a:r>
              <a:rPr dirty="0"/>
              <a:t>Al fine di far </a:t>
            </a:r>
            <a:r>
              <a:rPr dirty="0" err="1"/>
              <a:t>configurare</a:t>
            </a:r>
            <a:r>
              <a:rPr dirty="0"/>
              <a:t> </a:t>
            </a:r>
            <a:r>
              <a:rPr dirty="0" err="1"/>
              <a:t>questo</a:t>
            </a:r>
            <a:r>
              <a:rPr dirty="0"/>
              <a:t> </a:t>
            </a:r>
            <a:r>
              <a:rPr dirty="0" err="1"/>
              <a:t>reato</a:t>
            </a:r>
            <a:r>
              <a:rPr dirty="0"/>
              <a:t> è </a:t>
            </a:r>
            <a:r>
              <a:rPr dirty="0" err="1"/>
              <a:t>sufficiente</a:t>
            </a:r>
            <a:r>
              <a:rPr dirty="0"/>
              <a:t> </a:t>
            </a:r>
            <a:r>
              <a:rPr dirty="0" err="1"/>
              <a:t>che</a:t>
            </a:r>
            <a:r>
              <a:rPr dirty="0"/>
              <a:t> </a:t>
            </a:r>
            <a:r>
              <a:rPr dirty="0" err="1"/>
              <a:t>sia</a:t>
            </a:r>
            <a:r>
              <a:rPr dirty="0"/>
              <a:t> </a:t>
            </a:r>
            <a:r>
              <a:rPr dirty="0" err="1"/>
              <a:t>stata</a:t>
            </a:r>
            <a:r>
              <a:rPr dirty="0"/>
              <a:t> </a:t>
            </a:r>
            <a:r>
              <a:rPr dirty="0" err="1"/>
              <a:t>raggiunta</a:t>
            </a:r>
            <a:r>
              <a:rPr dirty="0"/>
              <a:t> la </a:t>
            </a:r>
            <a:r>
              <a:rPr b="1" dirty="0" err="1"/>
              <a:t>prova</a:t>
            </a:r>
            <a:r>
              <a:rPr b="1" dirty="0"/>
              <a:t> </a:t>
            </a:r>
            <a:r>
              <a:rPr b="1" dirty="0" err="1"/>
              <a:t>logica</a:t>
            </a:r>
            <a:r>
              <a:rPr b="1" dirty="0"/>
              <a:t> </a:t>
            </a:r>
            <a:r>
              <a:rPr b="1" dirty="0" err="1"/>
              <a:t>della</a:t>
            </a:r>
            <a:r>
              <a:rPr b="1" dirty="0"/>
              <a:t> </a:t>
            </a:r>
            <a:r>
              <a:rPr b="1" dirty="0" err="1"/>
              <a:t>provenienza</a:t>
            </a:r>
            <a:r>
              <a:rPr b="1" dirty="0"/>
              <a:t> </a:t>
            </a:r>
            <a:r>
              <a:rPr b="1" dirty="0" err="1"/>
              <a:t>illecita</a:t>
            </a:r>
            <a:r>
              <a:rPr b="1" dirty="0"/>
              <a:t> </a:t>
            </a:r>
            <a:r>
              <a:rPr b="1" dirty="0" err="1"/>
              <a:t>delle</a:t>
            </a:r>
            <a:r>
              <a:rPr b="1" dirty="0"/>
              <a:t> </a:t>
            </a:r>
            <a:r>
              <a:rPr b="1" dirty="0" err="1"/>
              <a:t>utilità</a:t>
            </a:r>
            <a:r>
              <a:rPr b="1" dirty="0"/>
              <a:t> </a:t>
            </a:r>
            <a:r>
              <a:rPr b="1" dirty="0" err="1"/>
              <a:t>oggetto</a:t>
            </a:r>
            <a:r>
              <a:rPr b="1" dirty="0"/>
              <a:t> </a:t>
            </a:r>
            <a:r>
              <a:rPr b="1" dirty="0" err="1"/>
              <a:t>delle</a:t>
            </a:r>
            <a:r>
              <a:rPr b="1" dirty="0"/>
              <a:t> </a:t>
            </a:r>
            <a:r>
              <a:rPr b="1" dirty="0" err="1"/>
              <a:t>operazioni</a:t>
            </a:r>
            <a:r>
              <a:rPr b="1" dirty="0"/>
              <a:t> </a:t>
            </a:r>
            <a:r>
              <a:rPr b="1" dirty="0" err="1"/>
              <a:t>compiute</a:t>
            </a:r>
            <a:r>
              <a:rPr b="1" dirty="0"/>
              <a:t> </a:t>
            </a:r>
            <a:r>
              <a:rPr dirty="0"/>
              <a:t>(Cass. V, 21/05/2008 n. 36940).</a:t>
            </a:r>
            <a:endParaRPr altLang="it-IT" dirty="0" lang="it-IT"/>
          </a:p>
          <a:p>
            <a:pPr algn="just">
              <a:lnSpc>
                <a:spcPct val="114000"/>
              </a:lnSpc>
              <a:spcBef>
                <a:spcPts val="1200"/>
              </a:spcBef>
              <a:defRPr b="0" sz="2200">
                <a:latin typeface="Times New Roman"/>
                <a:ea typeface="Times New Roman"/>
                <a:cs typeface="Times New Roman"/>
                <a:sym typeface="Times New Roman"/>
              </a:defRPr>
            </a:pPr>
            <a:endParaRPr altLang="it-IT" dirty="0" lang="it-IT"/>
          </a:p>
          <a:p>
            <a:pPr algn="just">
              <a:lnSpc>
                <a:spcPct val="114000"/>
              </a:lnSpc>
              <a:spcBef>
                <a:spcPts val="1200"/>
              </a:spcBef>
              <a:defRPr b="0" sz="2200">
                <a:latin typeface="Times New Roman"/>
                <a:ea typeface="Times New Roman"/>
                <a:cs typeface="Times New Roman"/>
                <a:sym typeface="Times New Roman"/>
              </a:defRPr>
            </a:pPr>
            <a:endParaRPr dirty="0"/>
          </a:p>
        </p:txBody>
      </p:sp>
      <p:pic>
        <p:nvPicPr>
          <p:cNvPr descr="Immagine 6" id="486"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487"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Riciclaggio</a:t>
            </a:r>
          </a:p>
        </p:txBody>
      </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Rettangolo 4"/>
          <p:cNvSpPr txBox="1"/>
          <p:nvPr/>
        </p:nvSpPr>
        <p:spPr>
          <a:xfrm>
            <a:off x="62144" y="965040"/>
            <a:ext cx="9036136" cy="59559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wrap="square">
            <a:spAutoFit/>
          </a:bodyPr>
          <a:lstStyle/>
          <a:p>
            <a:pPr algn="just">
              <a:lnSpc>
                <a:spcPct val="114000"/>
              </a:lnSpc>
              <a:defRPr sz="2200" u="sng">
                <a:latin typeface="Times New Roman"/>
                <a:ea typeface="Times New Roman"/>
                <a:cs typeface="Times New Roman"/>
                <a:sym typeface="Times New Roman"/>
              </a:defRPr>
            </a:pPr>
            <a:r>
              <a:rPr dirty="0"/>
              <a:t>ELEMENTO OGGETTIVO</a:t>
            </a:r>
            <a:r>
              <a:rPr b="0" dirty="0" u="none"/>
              <a:t>: Nel </a:t>
            </a:r>
            <a:r>
              <a:rPr b="0" dirty="0" err="1" u="none"/>
              <a:t>reato</a:t>
            </a:r>
            <a:r>
              <a:rPr b="0" dirty="0" u="none"/>
              <a:t> di </a:t>
            </a:r>
            <a:r>
              <a:rPr b="0" dirty="0" err="1" u="none"/>
              <a:t>riciclaggio</a:t>
            </a:r>
            <a:r>
              <a:rPr b="0" dirty="0" u="none"/>
              <a:t> </a:t>
            </a:r>
            <a:r>
              <a:rPr b="0" dirty="0" err="1" u="none"/>
              <a:t>si</a:t>
            </a:r>
            <a:r>
              <a:rPr b="0" dirty="0" u="none"/>
              <a:t> </a:t>
            </a:r>
            <a:r>
              <a:rPr b="0" dirty="0" err="1" u="none"/>
              <a:t>richiede</a:t>
            </a:r>
            <a:r>
              <a:rPr b="0" dirty="0" u="none"/>
              <a:t> </a:t>
            </a:r>
            <a:r>
              <a:rPr b="0" dirty="0" err="1" u="none"/>
              <a:t>che</a:t>
            </a:r>
            <a:r>
              <a:rPr b="0" dirty="0" u="none"/>
              <a:t> </a:t>
            </a:r>
            <a:r>
              <a:rPr b="0" dirty="0" err="1" u="none"/>
              <a:t>l’attività</a:t>
            </a:r>
            <a:r>
              <a:rPr b="0" dirty="0" u="none"/>
              <a:t> di </a:t>
            </a:r>
            <a:r>
              <a:rPr dirty="0" err="1" u="none">
                <a:solidFill>
                  <a:srgbClr val="B27DFF"/>
                </a:solidFill>
              </a:rPr>
              <a:t>sostituzione</a:t>
            </a:r>
            <a:r>
              <a:rPr dirty="0" u="none">
                <a:solidFill>
                  <a:srgbClr val="B27DFF"/>
                </a:solidFill>
              </a:rPr>
              <a:t> </a:t>
            </a:r>
            <a:r>
              <a:rPr b="0" dirty="0" u="none"/>
              <a:t>o </a:t>
            </a:r>
            <a:r>
              <a:rPr dirty="0" err="1" u="none">
                <a:solidFill>
                  <a:srgbClr val="B27DFF"/>
                </a:solidFill>
              </a:rPr>
              <a:t>trasferimento</a:t>
            </a:r>
            <a:r>
              <a:rPr b="0" dirty="0" u="none"/>
              <a:t> o di </a:t>
            </a:r>
            <a:r>
              <a:rPr dirty="0" err="1" u="none">
                <a:solidFill>
                  <a:srgbClr val="B27DFF"/>
                </a:solidFill>
              </a:rPr>
              <a:t>ostacolo</a:t>
            </a:r>
            <a:r>
              <a:rPr dirty="0" u="none">
                <a:solidFill>
                  <a:srgbClr val="B27DFF"/>
                </a:solidFill>
              </a:rPr>
              <a:t> </a:t>
            </a:r>
            <a:r>
              <a:rPr dirty="0" err="1" u="none">
                <a:solidFill>
                  <a:srgbClr val="B27DFF"/>
                </a:solidFill>
              </a:rPr>
              <a:t>alla</a:t>
            </a:r>
            <a:r>
              <a:rPr dirty="0" u="none">
                <a:solidFill>
                  <a:srgbClr val="B27DFF"/>
                </a:solidFill>
              </a:rPr>
              <a:t> </a:t>
            </a:r>
            <a:r>
              <a:rPr dirty="0" err="1" u="none">
                <a:solidFill>
                  <a:srgbClr val="B27DFF"/>
                </a:solidFill>
              </a:rPr>
              <a:t>ricostruzione</a:t>
            </a:r>
            <a:r>
              <a:rPr dirty="0" u="none">
                <a:solidFill>
                  <a:srgbClr val="B27DFF"/>
                </a:solidFill>
              </a:rPr>
              <a:t> </a:t>
            </a:r>
            <a:r>
              <a:rPr dirty="0" err="1" u="none">
                <a:solidFill>
                  <a:srgbClr val="B27DFF"/>
                </a:solidFill>
              </a:rPr>
              <a:t>della</a:t>
            </a:r>
            <a:r>
              <a:rPr dirty="0" u="none">
                <a:solidFill>
                  <a:srgbClr val="B27DFF"/>
                </a:solidFill>
              </a:rPr>
              <a:t> </a:t>
            </a:r>
            <a:r>
              <a:rPr dirty="0" err="1" u="none">
                <a:solidFill>
                  <a:srgbClr val="B27DFF"/>
                </a:solidFill>
              </a:rPr>
              <a:t>provenienza</a:t>
            </a:r>
            <a:r>
              <a:rPr dirty="0" u="none">
                <a:solidFill>
                  <a:srgbClr val="B27DFF"/>
                </a:solidFill>
              </a:rPr>
              <a:t> </a:t>
            </a:r>
            <a:r>
              <a:rPr dirty="0" err="1" u="none">
                <a:solidFill>
                  <a:srgbClr val="B27DFF"/>
                </a:solidFill>
              </a:rPr>
              <a:t>delittuosa</a:t>
            </a:r>
            <a:r>
              <a:rPr dirty="0" u="none">
                <a:solidFill>
                  <a:srgbClr val="B27DFF"/>
                </a:solidFill>
              </a:rPr>
              <a:t> di </a:t>
            </a:r>
            <a:r>
              <a:rPr dirty="0" err="1" u="none">
                <a:solidFill>
                  <a:srgbClr val="B27DFF"/>
                </a:solidFill>
              </a:rPr>
              <a:t>denaro</a:t>
            </a:r>
            <a:r>
              <a:rPr dirty="0" u="none">
                <a:solidFill>
                  <a:srgbClr val="B27DFF"/>
                </a:solidFill>
              </a:rPr>
              <a:t>, </a:t>
            </a:r>
            <a:r>
              <a:rPr dirty="0" err="1" u="none">
                <a:solidFill>
                  <a:srgbClr val="B27DFF"/>
                </a:solidFill>
              </a:rPr>
              <a:t>beni</a:t>
            </a:r>
            <a:r>
              <a:rPr dirty="0" u="none">
                <a:solidFill>
                  <a:srgbClr val="B27DFF"/>
                </a:solidFill>
              </a:rPr>
              <a:t> o </a:t>
            </a:r>
            <a:r>
              <a:rPr dirty="0" err="1" u="none">
                <a:solidFill>
                  <a:srgbClr val="B27DFF"/>
                </a:solidFill>
              </a:rPr>
              <a:t>altre</a:t>
            </a:r>
            <a:r>
              <a:rPr dirty="0" u="none">
                <a:solidFill>
                  <a:srgbClr val="B27DFF"/>
                </a:solidFill>
              </a:rPr>
              <a:t> </a:t>
            </a:r>
            <a:r>
              <a:rPr dirty="0" err="1" u="none">
                <a:solidFill>
                  <a:srgbClr val="B27DFF"/>
                </a:solidFill>
              </a:rPr>
              <a:t>utilità</a:t>
            </a:r>
            <a:r>
              <a:rPr dirty="0" u="none">
                <a:solidFill>
                  <a:srgbClr val="B27DFF"/>
                </a:solidFill>
              </a:rPr>
              <a:t> </a:t>
            </a:r>
            <a:r>
              <a:rPr b="0" dirty="0" err="1" u="none"/>
              <a:t>si</a:t>
            </a:r>
            <a:r>
              <a:rPr b="0" dirty="0" u="none"/>
              <a:t> </a:t>
            </a:r>
            <a:r>
              <a:rPr b="0" dirty="0" err="1" u="none"/>
              <a:t>traduca</a:t>
            </a:r>
            <a:r>
              <a:rPr b="0" dirty="0" u="none"/>
              <a:t> </a:t>
            </a:r>
            <a:r>
              <a:rPr b="0" dirty="0" err="1" u="none"/>
              <a:t>nella</a:t>
            </a:r>
            <a:r>
              <a:rPr b="0" dirty="0" u="none"/>
              <a:t> </a:t>
            </a:r>
            <a:r>
              <a:rPr b="0" dirty="0" err="1" u="none"/>
              <a:t>realizzazione</a:t>
            </a:r>
            <a:r>
              <a:rPr b="0" dirty="0" u="none"/>
              <a:t> </a:t>
            </a:r>
            <a:r>
              <a:rPr dirty="0" err="1" u="none"/>
              <a:t>dell’evento</a:t>
            </a:r>
            <a:r>
              <a:rPr b="0" dirty="0" u="none"/>
              <a:t>. </a:t>
            </a:r>
          </a:p>
          <a:p>
            <a:pPr algn="just">
              <a:lnSpc>
                <a:spcPct val="114000"/>
              </a:lnSpc>
              <a:defRPr b="0" sz="2200">
                <a:latin typeface="Times New Roman"/>
                <a:ea typeface="Times New Roman"/>
                <a:cs typeface="Times New Roman"/>
                <a:sym typeface="Times New Roman"/>
              </a:defRPr>
            </a:pPr>
            <a:r>
              <a:rPr dirty="0" err="1"/>
              <a:t>Ciò</a:t>
            </a:r>
            <a:r>
              <a:rPr dirty="0"/>
              <a:t> </a:t>
            </a:r>
            <a:r>
              <a:rPr dirty="0" err="1"/>
              <a:t>rende</a:t>
            </a:r>
            <a:r>
              <a:rPr dirty="0"/>
              <a:t> </a:t>
            </a:r>
            <a:r>
              <a:rPr dirty="0" err="1"/>
              <a:t>conseguentemente</a:t>
            </a:r>
            <a:r>
              <a:rPr dirty="0"/>
              <a:t> </a:t>
            </a:r>
            <a:r>
              <a:rPr dirty="0" err="1"/>
              <a:t>configurabile</a:t>
            </a:r>
            <a:r>
              <a:rPr dirty="0"/>
              <a:t> </a:t>
            </a:r>
            <a:r>
              <a:rPr dirty="0" err="1"/>
              <a:t>il</a:t>
            </a:r>
            <a:r>
              <a:rPr dirty="0"/>
              <a:t> </a:t>
            </a:r>
            <a:r>
              <a:rPr dirty="0" err="1"/>
              <a:t>tentativo</a:t>
            </a:r>
            <a:r>
              <a:rPr dirty="0"/>
              <a:t>. </a:t>
            </a:r>
            <a:endParaRPr altLang="it-IT" dirty="0" lang="it-IT"/>
          </a:p>
          <a:p>
            <a:pPr algn="just">
              <a:lnSpc>
                <a:spcPct val="114000"/>
              </a:lnSpc>
              <a:defRPr b="0" sz="2200">
                <a:latin typeface="Times New Roman"/>
                <a:ea typeface="Times New Roman"/>
                <a:cs typeface="Times New Roman"/>
                <a:sym typeface="Times New Roman"/>
              </a:defRPr>
            </a:pPr>
            <a:endParaRPr altLang="it-IT" dirty="0" lang="it-IT" sz="1800">
              <a:latin charset="0" panose="02020603050405020304" pitchFamily="18" typeface="Times New Roman"/>
              <a:cs charset="0" panose="02020603050405020304" pitchFamily="18" typeface="Times New Roman"/>
            </a:endParaRPr>
          </a:p>
          <a:p>
            <a:r>
              <a:rPr altLang="it-IT" b="0" dirty="0" lang="it-IT" sz="1800">
                <a:latin charset="0" panose="02020603050405020304" pitchFamily="18" typeface="Times New Roman"/>
                <a:cs charset="0" panose="02020603050405020304" pitchFamily="18" typeface="Times New Roman"/>
              </a:rPr>
              <a:t>Le condotte incriminate sono tre:</a:t>
            </a:r>
            <a:br>
              <a:rPr altLang="it-IT" dirty="0" lang="it-IT" sz="1800">
                <a:latin charset="0" panose="02020603050405020304" pitchFamily="18" typeface="Times New Roman"/>
                <a:cs charset="0" panose="02020603050405020304" pitchFamily="18" typeface="Times New Roman"/>
              </a:rPr>
            </a:br>
            <a:endParaRPr altLang="it-IT" dirty="0" lang="it-IT" sz="1800">
              <a:latin charset="0" panose="02020603050405020304" pitchFamily="18" typeface="Times New Roman"/>
              <a:cs charset="0" panose="02020603050405020304" pitchFamily="18" typeface="Times New Roman"/>
            </a:endParaRPr>
          </a:p>
          <a:p>
            <a:pPr indent="-285750" marL="285750">
              <a:buFont charset="0" panose="020B0604020202020204" pitchFamily="34" typeface="Arial"/>
              <a:buChar char="•"/>
            </a:pPr>
            <a:r>
              <a:rPr altLang="it-IT" b="0" dirty="0" lang="it-IT" sz="1800">
                <a:latin charset="0" panose="02020603050405020304" pitchFamily="18" typeface="Times New Roman"/>
                <a:cs charset="0" panose="02020603050405020304" pitchFamily="18" typeface="Times New Roman"/>
              </a:rPr>
              <a:t>la </a:t>
            </a:r>
            <a:r>
              <a:rPr altLang="it-IT" dirty="0" lang="it-IT" sz="1800" u="sng">
                <a:solidFill>
                  <a:srgbClr val="FF0000"/>
                </a:solidFill>
                <a:latin charset="0" panose="02020603050405020304" pitchFamily="18" typeface="Times New Roman"/>
                <a:cs charset="0" panose="02020603050405020304" pitchFamily="18" typeface="Times New Roman"/>
              </a:rPr>
              <a:t>sostituzione</a:t>
            </a:r>
            <a:r>
              <a:rPr altLang="it-IT" b="0" dirty="0" lang="it-IT" sz="1800">
                <a:latin charset="0" panose="02020603050405020304" pitchFamily="18" typeface="Times New Roman"/>
                <a:cs charset="0" panose="02020603050405020304" pitchFamily="18" typeface="Times New Roman"/>
              </a:rPr>
              <a:t>, </a:t>
            </a:r>
            <a:r>
              <a:rPr altLang="it-IT" dirty="0" lang="it-IT" sz="1800">
                <a:latin charset="0" panose="02020603050405020304" pitchFamily="18" typeface="Times New Roman"/>
                <a:cs charset="0" panose="02020603050405020304" pitchFamily="18" typeface="Times New Roman"/>
              </a:rPr>
              <a:t>ossia rimpiazzare il denaro o i valori sporchi con denaro o valori puliti</a:t>
            </a:r>
            <a:r>
              <a:rPr altLang="it-IT" b="0" dirty="0" lang="it-IT" sz="1800">
                <a:latin charset="0" panose="02020603050405020304" pitchFamily="18" typeface="Times New Roman"/>
                <a:cs charset="0" panose="02020603050405020304" pitchFamily="18" typeface="Times New Roman"/>
              </a:rPr>
              <a:t>. </a:t>
            </a:r>
            <a:r>
              <a:rPr altLang="it-IT" b="0" dirty="0" i="1" lang="it-IT" sz="1800">
                <a:latin charset="0" panose="02020603050405020304" pitchFamily="18" typeface="Times New Roman"/>
                <a:cs charset="0" panose="02020603050405020304" pitchFamily="18" typeface="Times New Roman"/>
              </a:rPr>
              <a:t>Es: cambio delle banconote con altre o con valute diverse, con il versamento presso le banche e il loro successivo ritiro, trasformazione di gioielli in oro grezzo.;</a:t>
            </a:r>
          </a:p>
          <a:p>
            <a:pPr indent="-285750" marL="285750">
              <a:buFont charset="0" panose="020B0604020202020204" pitchFamily="34" typeface="Arial"/>
              <a:buChar char="•"/>
            </a:pPr>
            <a:r>
              <a:rPr altLang="it-IT" b="0" dirty="0" lang="it-IT" sz="1800">
                <a:latin charset="0" panose="02020603050405020304" pitchFamily="18" typeface="Times New Roman"/>
                <a:cs charset="0" panose="02020603050405020304" pitchFamily="18" typeface="Times New Roman"/>
              </a:rPr>
              <a:t> il </a:t>
            </a:r>
            <a:r>
              <a:rPr altLang="it-IT" dirty="0" lang="it-IT" sz="1800" u="sng">
                <a:solidFill>
                  <a:srgbClr val="FF0000"/>
                </a:solidFill>
                <a:latin charset="0" panose="02020603050405020304" pitchFamily="18" typeface="Times New Roman"/>
                <a:cs charset="0" panose="02020603050405020304" pitchFamily="18" typeface="Times New Roman"/>
              </a:rPr>
              <a:t>trasferimento</a:t>
            </a:r>
            <a:r>
              <a:rPr altLang="it-IT" b="0" dirty="0" lang="it-IT" sz="1800">
                <a:latin charset="0" panose="02020603050405020304" pitchFamily="18" typeface="Times New Roman"/>
                <a:cs charset="0" panose="02020603050405020304" pitchFamily="18" typeface="Times New Roman"/>
              </a:rPr>
              <a:t>, con tale termine si va a colpire quelle </a:t>
            </a:r>
            <a:r>
              <a:rPr altLang="it-IT" dirty="0" lang="it-IT" sz="1800">
                <a:latin charset="0" panose="02020603050405020304" pitchFamily="18" typeface="Times New Roman"/>
                <a:cs charset="0" panose="02020603050405020304" pitchFamily="18" typeface="Times New Roman"/>
              </a:rPr>
              <a:t>forme di ripulitura dei capitali illeciti che si servono di strumenti negoziali</a:t>
            </a:r>
            <a:r>
              <a:rPr altLang="it-IT" b="0" dirty="0" lang="it-IT" sz="1800">
                <a:latin charset="0" panose="02020603050405020304" pitchFamily="18" typeface="Times New Roman"/>
                <a:cs charset="0" panose="02020603050405020304" pitchFamily="18" typeface="Times New Roman"/>
              </a:rPr>
              <a:t> o più in generale di forme giuridiche;</a:t>
            </a:r>
          </a:p>
          <a:p>
            <a:pPr indent="-285750" marL="285750">
              <a:buFont charset="0" panose="020B0604020202020204" pitchFamily="34" typeface="Arial"/>
              <a:buChar char="•"/>
            </a:pPr>
            <a:r>
              <a:rPr altLang="it-IT" b="0" dirty="0" lang="it-IT" sz="1800">
                <a:latin charset="0" panose="02020603050405020304" pitchFamily="18" typeface="Times New Roman"/>
                <a:cs charset="0" panose="02020603050405020304" pitchFamily="18" typeface="Times New Roman"/>
              </a:rPr>
              <a:t>le </a:t>
            </a:r>
            <a:r>
              <a:rPr altLang="it-IT" dirty="0" lang="it-IT" sz="1800" u="sng">
                <a:solidFill>
                  <a:srgbClr val="FF0000"/>
                </a:solidFill>
                <a:latin charset="0" panose="02020603050405020304" pitchFamily="18" typeface="Times New Roman"/>
                <a:cs charset="0" panose="02020603050405020304" pitchFamily="18" typeface="Times New Roman"/>
              </a:rPr>
              <a:t>altre operazioni per ostacolare l'identificazione</a:t>
            </a:r>
            <a:r>
              <a:rPr altLang="it-IT" b="0" dirty="0" lang="it-IT" sz="1800">
                <a:latin charset="0" panose="02020603050405020304" pitchFamily="18" typeface="Times New Roman"/>
                <a:cs charset="0" panose="02020603050405020304" pitchFamily="18" typeface="Times New Roman"/>
              </a:rPr>
              <a:t>, formulazione intesa a punire eventuali tecniche nuove di riciclaggio.</a:t>
            </a:r>
          </a:p>
          <a:p>
            <a:br>
              <a:rPr altLang="it-IT" dirty="0" lang="it-IT" sz="1400">
                <a:latin charset="0" panose="02020603050405020304" pitchFamily="18" typeface="Times New Roman"/>
                <a:cs charset="0" panose="02020603050405020304" pitchFamily="18" typeface="Times New Roman"/>
              </a:rPr>
            </a:br>
            <a:r>
              <a:rPr altLang="it-IT" b="0" dirty="0" lang="it-IT" sz="1800">
                <a:latin charset="0" panose="02020603050405020304" pitchFamily="18" typeface="Times New Roman"/>
                <a:cs charset="0" panose="02020603050405020304" pitchFamily="18" typeface="Times New Roman"/>
              </a:rPr>
              <a:t>L'offesa tipizzata è l'attività posta in essere </a:t>
            </a:r>
            <a:r>
              <a:rPr altLang="it-IT" dirty="0" lang="it-IT" sz="1800">
                <a:latin charset="0" panose="02020603050405020304" pitchFamily="18" typeface="Times New Roman"/>
                <a:cs charset="0" panose="02020603050405020304" pitchFamily="18" typeface="Times New Roman"/>
              </a:rPr>
              <a:t>in modo da ostacolare l'identificazione</a:t>
            </a:r>
            <a:r>
              <a:rPr altLang="it-IT" b="0" dirty="0" lang="it-IT" sz="1800">
                <a:latin charset="0" panose="02020603050405020304" pitchFamily="18" typeface="Times New Roman"/>
                <a:cs charset="0" panose="02020603050405020304" pitchFamily="18" typeface="Times New Roman"/>
              </a:rPr>
              <a:t> (reato di pericolo concreto), che deve caratterizzare le tre condotte descritte.</a:t>
            </a:r>
            <a:endParaRPr altLang="it-IT" dirty="0" lang="it-IT" sz="1800">
              <a:latin charset="0" panose="02020603050405020304" pitchFamily="18" typeface="Times New Roman"/>
              <a:cs charset="0" panose="02020603050405020304" pitchFamily="18" typeface="Times New Roman"/>
            </a:endParaRPr>
          </a:p>
          <a:p>
            <a:pPr algn="just">
              <a:lnSpc>
                <a:spcPct val="114000"/>
              </a:lnSpc>
              <a:defRPr b="0" sz="2200">
                <a:latin typeface="Times New Roman"/>
                <a:ea typeface="Times New Roman"/>
                <a:cs typeface="Times New Roman"/>
                <a:sym typeface="Times New Roman"/>
              </a:defRPr>
            </a:pPr>
            <a:endParaRPr dirty="0"/>
          </a:p>
        </p:txBody>
      </p:sp>
      <p:pic>
        <p:nvPicPr>
          <p:cNvPr descr="Immagine 6" id="490" name="Immagine 6"/>
          <p:cNvPicPr>
            <a:picLocks noChangeAspect="1"/>
          </p:cNvPicPr>
          <p:nvPr/>
        </p:nvPicPr>
        <p:blipFill>
          <a:blip r:embed="rId3">
            <a:extLst/>
          </a:blip>
          <a:stretch>
            <a:fillRect/>
          </a:stretch>
        </p:blipFill>
        <p:spPr>
          <a:xfrm>
            <a:off x="136850" y="67097"/>
            <a:ext cx="435671" cy="753167"/>
          </a:xfrm>
          <a:prstGeom prst="rect">
            <a:avLst/>
          </a:prstGeom>
          <a:ln w="12700">
            <a:miter lim="400000"/>
          </a:ln>
        </p:spPr>
      </p:pic>
      <p:sp>
        <p:nvSpPr>
          <p:cNvPr id="491"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Riciclaggio</a:t>
            </a:r>
          </a:p>
        </p:txBody>
      </p:sp>
    </p:spTree>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Rettangolo 4"/>
          <p:cNvSpPr txBox="1"/>
          <p:nvPr/>
        </p:nvSpPr>
        <p:spPr>
          <a:xfrm>
            <a:off x="45719" y="836712"/>
            <a:ext cx="9052561" cy="40874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5718" lIns="45718" numCol="1" rIns="45718" tIns="45718">
            <a:spAutoFit/>
          </a:bodyPr>
          <a:lstStyle/>
          <a:p>
            <a:pPr algn="just">
              <a:lnSpc>
                <a:spcPct val="114000"/>
              </a:lnSpc>
              <a:spcBef>
                <a:spcPts val="1200"/>
              </a:spcBef>
              <a:defRPr sz="2200" u="sng">
                <a:latin typeface="Times New Roman"/>
                <a:ea typeface="Times New Roman"/>
                <a:cs typeface="Times New Roman"/>
                <a:sym typeface="Times New Roman"/>
              </a:defRPr>
            </a:pPr>
            <a:r>
              <a:t>ELEMENTO SOGGETTIVO</a:t>
            </a:r>
            <a:r>
              <a:rPr u="none"/>
              <a:t> </a:t>
            </a:r>
            <a:r>
              <a:rPr b="0" u="none"/>
              <a:t>è il </a:t>
            </a:r>
            <a:r>
              <a:rPr u="none">
                <a:solidFill>
                  <a:srgbClr val="B27DFF"/>
                </a:solidFill>
              </a:rPr>
              <a:t>DOLO GENERICO </a:t>
            </a:r>
            <a:r>
              <a:rPr b="0" u="none"/>
              <a:t>e consiste nella coscienza e volontà di ostacolare l’accertamento della provenienza di beni, denaro o altre utilità, senza alcun riferimento a scopi di profitto o di lucro (Cass. VI, 24/04/2008 n. 16980). </a:t>
            </a:r>
          </a:p>
          <a:p>
            <a:pPr algn="just">
              <a:lnSpc>
                <a:spcPct val="114000"/>
              </a:lnSpc>
              <a:spcBef>
                <a:spcPts val="1200"/>
              </a:spcBef>
              <a:defRPr b="0" sz="2200">
                <a:latin typeface="Times New Roman"/>
                <a:ea typeface="Times New Roman"/>
                <a:cs typeface="Times New Roman"/>
                <a:sym typeface="Times New Roman"/>
              </a:defRPr>
            </a:pPr>
            <a:r>
              <a:t>Il dolo oltre alla </a:t>
            </a:r>
            <a:r>
              <a:rPr b="1">
                <a:solidFill>
                  <a:srgbClr val="B27DFF"/>
                </a:solidFill>
              </a:rPr>
              <a:t>volontà di compiere l’attività di sostituzione, trasferimento, o di ostacolo</a:t>
            </a:r>
            <a:r>
              <a:t>, ricomprende la consapevolezza che i capitali o gli altri beni da riciclare </a:t>
            </a:r>
            <a:r>
              <a:rPr b="1">
                <a:solidFill>
                  <a:srgbClr val="B27DFF"/>
                </a:solidFill>
              </a:rPr>
              <a:t>provengono da un delitto non colposo.</a:t>
            </a:r>
          </a:p>
          <a:p>
            <a:pPr algn="just">
              <a:lnSpc>
                <a:spcPct val="114000"/>
              </a:lnSpc>
              <a:spcBef>
                <a:spcPts val="1200"/>
              </a:spcBef>
              <a:defRPr b="0" sz="2200">
                <a:latin typeface="Times New Roman"/>
                <a:ea typeface="Times New Roman"/>
                <a:cs typeface="Times New Roman"/>
                <a:sym typeface="Times New Roman"/>
              </a:defRPr>
            </a:pPr>
            <a:r>
              <a:t>L’elemento psicologico si caratterizza, rispetto a quello della ricettazione, perché richiede che il dolo si qualifichi non per una generica finalità di profitto, ma </a:t>
            </a:r>
            <a:r>
              <a:rPr b="1">
                <a:solidFill>
                  <a:srgbClr val="B27DFF"/>
                </a:solidFill>
              </a:rPr>
              <a:t>per lo scopo ulteriore di far perdere le tracce dell’origine illecita</a:t>
            </a:r>
            <a:r>
              <a:t>.</a:t>
            </a:r>
          </a:p>
        </p:txBody>
      </p:sp>
      <p:pic>
        <p:nvPicPr>
          <p:cNvPr descr="Immagine 6" id="494" name="Immagine 6"/>
          <p:cNvPicPr>
            <a:picLocks noChangeAspect="1"/>
          </p:cNvPicPr>
          <p:nvPr/>
        </p:nvPicPr>
        <p:blipFill>
          <a:blip r:embed="rId2">
            <a:extLst/>
          </a:blip>
          <a:stretch>
            <a:fillRect/>
          </a:stretch>
        </p:blipFill>
        <p:spPr>
          <a:xfrm>
            <a:off x="136850" y="67097"/>
            <a:ext cx="435671" cy="753167"/>
          </a:xfrm>
          <a:prstGeom prst="rect">
            <a:avLst/>
          </a:prstGeom>
          <a:ln w="12700">
            <a:miter lim="400000"/>
          </a:ln>
        </p:spPr>
      </p:pic>
      <p:sp>
        <p:nvSpPr>
          <p:cNvPr id="495" name="Text Box 5"/>
          <p:cNvSpPr txBox="1"/>
          <p:nvPr/>
        </p:nvSpPr>
        <p:spPr>
          <a:xfrm>
            <a:off x="825746" y="98862"/>
            <a:ext cx="8273685" cy="584439"/>
          </a:xfrm>
          <a:prstGeom prst="rect">
            <a:avLst/>
          </a:prstGeom>
          <a:ln w="12700">
            <a:miter lim="400000"/>
          </a:ln>
          <a:effectLst>
            <a:outerShdw blurRad="63500" dir="2700000" dist="17961" rotWithShape="0">
              <a:srgbClr val="EEECE1">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bIns="44569" lIns="44569" numCol="1" rIns="44569" tIns="44569">
            <a:spAutoFit/>
          </a:bodyPr>
          <a:lstStyle>
            <a:lvl1pPr>
              <a:defRPr b="0" sz="3200">
                <a:solidFill>
                  <a:srgbClr val="FFFFFF"/>
                </a:solidFill>
                <a:latin typeface="Book Antiqua"/>
                <a:ea typeface="Book Antiqua"/>
                <a:cs typeface="Book Antiqua"/>
                <a:sym typeface="Book Antiqua"/>
              </a:defRPr>
            </a:lvl1pPr>
          </a:lstStyle>
          <a:p>
            <a:r>
              <a:t>Riciclaggio</a:t>
            </a:r>
          </a:p>
        </p:txBody>
      </p:sp>
    </p:spTree>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 name="Segnaposto contenuto 2"/>
          <p:cNvSpPr txBox="1">
            <a:spLocks noGrp="1"/>
          </p:cNvSpPr>
          <p:nvPr>
            <p:ph idx="1" sz="quarter" type="body"/>
          </p:nvPr>
        </p:nvSpPr>
        <p:spPr>
          <a:xfrm>
            <a:off x="2411758" y="980728"/>
            <a:ext cx="4717507" cy="1296146"/>
          </a:xfrm>
          <a:prstGeom prst="rect">
            <a:avLst/>
          </a:prstGeom>
        </p:spPr>
        <p:txBody>
          <a:bodyPr numCol="1"/>
          <a:lstStyle/>
          <a:p>
            <a:pPr algn="ctr" defTabSz="411479" indent="0" marL="0">
              <a:spcBef>
                <a:spcPts val="300"/>
              </a:spcBef>
              <a:buSzTx/>
              <a:buNone/>
              <a:defRPr sz="1400">
                <a:latin typeface="Book Antiqua"/>
                <a:ea typeface="Book Antiqua"/>
                <a:cs typeface="Book Antiqua"/>
                <a:sym typeface="Book Antiqua"/>
              </a:defRPr>
            </a:pPr>
            <a:endParaRPr/>
          </a:p>
          <a:p>
            <a:pPr algn="ctr" defTabSz="411479" indent="0" marL="0">
              <a:spcBef>
                <a:spcPts val="300"/>
              </a:spcBef>
              <a:buSzTx/>
              <a:buNone/>
              <a:defRPr sz="1400">
                <a:latin typeface="Book Antiqua"/>
                <a:ea typeface="Book Antiqua"/>
                <a:cs typeface="Book Antiqua"/>
                <a:sym typeface="Book Antiqua"/>
              </a:defRPr>
            </a:pPr>
            <a:endParaRPr/>
          </a:p>
          <a:p>
            <a:pPr algn="ctr" defTabSz="411479" indent="0" marL="0">
              <a:spcBef>
                <a:spcPts val="300"/>
              </a:spcBef>
              <a:buSzTx/>
              <a:buNone/>
              <a:defRPr sz="1400">
                <a:latin typeface="Book Antiqua"/>
                <a:ea typeface="Book Antiqua"/>
                <a:cs typeface="Book Antiqua"/>
                <a:sym typeface="Book Antiqua"/>
              </a:defRPr>
            </a:pPr>
            <a:endParaRPr/>
          </a:p>
          <a:p>
            <a:pPr algn="ctr" defTabSz="411479" indent="0" marL="0">
              <a:spcBef>
                <a:spcPts val="500"/>
              </a:spcBef>
              <a:buSzTx/>
              <a:buNone/>
              <a:defRPr b="1" sz="2400">
                <a:solidFill>
                  <a:srgbClr val="002F8E"/>
                </a:solidFill>
                <a:latin typeface="Book Antiqua"/>
                <a:ea typeface="Book Antiqua"/>
                <a:cs typeface="Book Antiqua"/>
                <a:sym typeface="Book Antiqua"/>
              </a:defRPr>
            </a:pPr>
            <a:r>
              <a:t>DOMANDE?</a:t>
            </a:r>
          </a:p>
        </p:txBody>
      </p:sp>
      <p:pic>
        <p:nvPicPr>
          <p:cNvPr descr="Immagine 4" id="498" name="Immagine 4"/>
          <p:cNvPicPr>
            <a:picLocks noChangeAspect="1"/>
          </p:cNvPicPr>
          <p:nvPr/>
        </p:nvPicPr>
        <p:blipFill>
          <a:blip r:embed="rId2">
            <a:extLst/>
          </a:blip>
          <a:stretch>
            <a:fillRect/>
          </a:stretch>
        </p:blipFill>
        <p:spPr>
          <a:xfrm>
            <a:off x="4113565" y="3916715"/>
            <a:ext cx="4879271" cy="2439636"/>
          </a:xfrm>
          <a:prstGeom prst="rect">
            <a:avLst/>
          </a:prstGeom>
          <a:ln w="12700">
            <a:miter lim="400000"/>
          </a:ln>
        </p:spPr>
      </p:pic>
      <p:pic>
        <p:nvPicPr>
          <p:cNvPr descr="Immagine 3" id="499" name="Immagine 3"/>
          <p:cNvPicPr>
            <a:picLocks noChangeAspect="1"/>
          </p:cNvPicPr>
          <p:nvPr/>
        </p:nvPicPr>
        <p:blipFill>
          <a:blip r:embed="rId3">
            <a:extLst/>
          </a:blip>
          <a:stretch>
            <a:fillRect/>
          </a:stretch>
        </p:blipFill>
        <p:spPr>
          <a:xfrm>
            <a:off x="136850" y="67097"/>
            <a:ext cx="435671" cy="753167"/>
          </a:xfrm>
          <a:prstGeom prst="rect">
            <a:avLst/>
          </a:prstGeom>
          <a:ln w="12700">
            <a:miter lim="400000"/>
          </a:ln>
        </p:spPr>
      </p:pic>
    </p:spTree>
  </p:cSld>
  <p:clrMapOvr>
    <a:masterClrMapping/>
  </p:clrMapOvr>
  <p:transition spd="med"/>
</p:sld>
</file>

<file path=ppt/theme/theme1.xml><?xml version="1.0" encoding="utf-8"?>
<a:theme xmlns:a="http://schemas.openxmlformats.org/drawingml/2006/main" name="1_Personalizza struttura">
  <a:themeElements>
    <a:clrScheme name="1_Personalizza struttura">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1_Personalizza struttura">
      <a:majorFont>
        <a:latin typeface="Helvetica"/>
        <a:ea typeface="Helvetica"/>
        <a:cs typeface="Helvetica"/>
      </a:majorFont>
      <a:minorFont>
        <a:latin typeface="Arial"/>
        <a:ea typeface="Arial"/>
        <a:cs typeface="Arial"/>
      </a:minorFont>
    </a:fontScheme>
    <a:fmtScheme name="1_Personalizza struttur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algn="ctr" cap="flat" cmpd="sng" w="9525">
          <a:solidFill>
            <a:schemeClr val="phClr">
              <a:shade val="95000"/>
              <a:satMod val="104999"/>
            </a:schemeClr>
          </a:solidFill>
          <a:prstDash val="solid"/>
        </a:ln>
        <a:ln algn="ctr" cap="flat" cmpd="sng" w="25400">
          <a:solidFill>
            <a:schemeClr val="phClr"/>
          </a:solidFill>
          <a:prstDash val="solid"/>
        </a:ln>
        <a:ln algn="ctr" cap="flat" cmpd="sng"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objectDefaults>
    <a:spDef>
      <a:spPr>
        <a:solidFill>
          <a:srgbClr val="FFFFFF"/>
        </a:solidFill>
        <a:ln cap="flat" w="25400">
          <a:solidFill>
            <a:schemeClr val="accent1"/>
          </a:solidFill>
          <a:prstDash val="solid"/>
          <a:round/>
        </a:ln>
        <a:effectLst/>
        <a:sp3d/>
      </a:spPr>
      <a:bodyPr anchor="t" bIns="45718" horzOverflow="overflow" lIns="45718" numCol="1" rIns="45718" rot="0" rtlCol="0" spcCol="38100" spcFirstLastPara="1" tIns="45718" vert="horz" vertOverflow="overflow" wrap="square">
        <a:spAutoFit/>
      </a:bodyPr>
      <a:lstStyle>
        <a:defPPr algn="l" defTabSz="914400" hangingPunct="0" indent="0" latinLnBrk="0" marL="0" marR="0" rtl="0">
          <a:lnSpc>
            <a:spcPct val="100000"/>
          </a:lnSpc>
          <a:spcBef>
            <a:spcPts val="0"/>
          </a:spcBef>
          <a:spcAft>
            <a:spcPts val="0"/>
          </a:spcAft>
          <a:buClrTx/>
          <a:buSzTx/>
          <a:buFontTx/>
          <a:buNone/>
          <a:tabLst/>
          <a:defRPr b="1" baseline="0" cap="none" i="0" kumimoji="0" normalizeH="0" spc="0" strike="noStrike" sz="700" u="none">
            <a:ln>
              <a:noFill/>
            </a:ln>
            <a:solidFill>
              <a:srgbClr val="000000"/>
            </a:solidFill>
            <a:effectLst/>
            <a:uFillTx/>
            <a:latin typeface="+mj-lt"/>
            <a:ea typeface="+mj-ea"/>
            <a:cs typeface="+mj-cs"/>
            <a:sym typeface="Helvetica"/>
          </a:defRPr>
        </a:defPPr>
        <a:lvl1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1pPr>
        <a:lvl2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2pPr>
        <a:lvl3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3pPr>
        <a:lvl4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4pPr>
        <a:lvl5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5pPr>
        <a:lvl6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6pPr>
        <a:lvl7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7pPr>
        <a:lvl8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8pPr>
        <a:lvl9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9pPr>
      </a:lstStyle>
      <a:style>
        <a:lnRef idx="0">
          <a:scrgbClr b="0" g="0" r="0"/>
        </a:lnRef>
        <a:fillRef idx="0">
          <a:scrgbClr b="0" g="0" r="0"/>
        </a:fillRef>
        <a:effectRef idx="0">
          <a:scrgbClr b="0" g="0" r="0"/>
        </a:effectRef>
        <a:fontRef idx="none"/>
      </a:style>
    </a:spDef>
    <a:lnDef>
      <a:spPr>
        <a:noFill/>
        <a:ln cap="flat" w="25400">
          <a:solidFill>
            <a:schemeClr val="accent1"/>
          </a:solidFill>
          <a:prstDash val="solid"/>
          <a:round/>
        </a:ln>
        <a:effectLst/>
        <a:sp3d/>
      </a:spPr>
      <a:bodyPr anchor="t" bIns="45719" horzOverflow="overflow" lIns="91439" numCol="1" rIns="91439" rot="0" rtlCol="0" spcCol="38100" spcFirstLastPara="1" tIns="45719" vert="horz" vertOverflow="overflow" wrap="square">
        <a:noAutofit/>
      </a:bodyPr>
      <a:lstStyle>
        <a:def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defPPr>
        <a:lvl1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1pPr>
        <a:lvl2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2pPr>
        <a:lvl3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3pPr>
        <a:lvl4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4pPr>
        <a:lvl5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5pPr>
        <a:lvl6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6pPr>
        <a:lvl7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7pPr>
        <a:lvl8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8pPr>
        <a:lvl9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9pPr>
      </a:lstStyle>
      <a:style>
        <a:lnRef idx="0">
          <a:scrgbClr b="0" g="0" r="0"/>
        </a:lnRef>
        <a:fillRef idx="0">
          <a:scrgbClr b="0" g="0" r="0"/>
        </a:fillRef>
        <a:effectRef idx="0">
          <a:scrgbClr b="0" g="0" r="0"/>
        </a:effectRef>
        <a:fontRef idx="none"/>
      </a:style>
    </a:lnDef>
    <a:txDef>
      <a:spPr>
        <a:noFill/>
        <a:ln cap="flat" w="12700">
          <a:noFill/>
          <a:miter lim="400000"/>
        </a:ln>
        <a:effectLst/>
        <a:sp3d/>
      </a:spPr>
      <a:bodyPr anchor="t" bIns="45718" horzOverflow="overflow" lIns="45718" numCol="1" rIns="45718" rot="0" rtlCol="0" spcCol="38100" spcFirstLastPara="1" tIns="45718" vert="horz" vertOverflow="overflow" wrap="square">
        <a:spAutoFit/>
      </a:bodyPr>
      <a:lstStyle>
        <a:defPPr algn="l" defTabSz="914400" hangingPunct="0" indent="0" latinLnBrk="0" marL="0" marR="0" rtl="0">
          <a:lnSpc>
            <a:spcPct val="100000"/>
          </a:lnSpc>
          <a:spcBef>
            <a:spcPts val="0"/>
          </a:spcBef>
          <a:spcAft>
            <a:spcPts val="0"/>
          </a:spcAft>
          <a:buClrTx/>
          <a:buSzTx/>
          <a:buFontTx/>
          <a:buNone/>
          <a:tabLst/>
          <a:defRPr b="1" baseline="0" cap="none" i="0" kumimoji="0" normalizeH="0" spc="0" strike="noStrike" sz="700" u="none">
            <a:ln>
              <a:noFill/>
            </a:ln>
            <a:solidFill>
              <a:srgbClr val="000000"/>
            </a:solidFill>
            <a:effectLst/>
            <a:uFillTx/>
            <a:latin typeface="+mj-lt"/>
            <a:ea typeface="+mj-ea"/>
            <a:cs typeface="+mj-cs"/>
            <a:sym typeface="Helvetica"/>
          </a:defRPr>
        </a:defPPr>
        <a:lvl1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1pPr>
        <a:lvl2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2pPr>
        <a:lvl3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3pPr>
        <a:lvl4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4pPr>
        <a:lvl5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5pPr>
        <a:lvl6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6pPr>
        <a:lvl7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7pPr>
        <a:lvl8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8pPr>
        <a:lvl9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9pPr>
      </a:lstStyle>
      <a:style>
        <a:lnRef idx="0">
          <a:scrgbClr b="0" g="0" r="0"/>
        </a:lnRef>
        <a:fillRef idx="0">
          <a:scrgbClr b="0" g="0" r="0"/>
        </a:fillRef>
        <a:effectRef idx="0">
          <a:scrgbClr b="0" g="0" r="0"/>
        </a:effectRef>
        <a:fontRef idx="none"/>
      </a:style>
    </a:txDef>
  </a:objectDefaults>
  <a:extraClrSchemeLst/>
</a:theme>
</file>

<file path=ppt/theme/theme2.xml><?xml version="1.0" encoding="utf-8"?>
<a:theme xmlns:a="http://schemas.openxmlformats.org/drawingml/2006/main" name="1_Personalizza struttura">
  <a:themeElements>
    <a:clrScheme name="1_Personalizza struttura">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1_Personalizza struttura">
      <a:majorFont>
        <a:latin typeface="Helvetica"/>
        <a:ea typeface="Helvetica"/>
        <a:cs typeface="Helvetica"/>
      </a:majorFont>
      <a:minorFont>
        <a:latin typeface="Arial"/>
        <a:ea typeface="Arial"/>
        <a:cs typeface="Arial"/>
      </a:minorFont>
    </a:fontScheme>
    <a:fmtScheme name="1_Personalizza struttur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algn="ctr" cap="flat" cmpd="sng" w="9525">
          <a:solidFill>
            <a:schemeClr val="phClr">
              <a:shade val="95000"/>
              <a:satMod val="104999"/>
            </a:schemeClr>
          </a:solidFill>
          <a:prstDash val="solid"/>
        </a:ln>
        <a:ln algn="ctr" cap="flat" cmpd="sng" w="25400">
          <a:solidFill>
            <a:schemeClr val="phClr"/>
          </a:solidFill>
          <a:prstDash val="solid"/>
        </a:ln>
        <a:ln algn="ctr" cap="flat" cmpd="sng"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objectDefaults>
    <a:spDef>
      <a:spPr>
        <a:solidFill>
          <a:srgbClr val="FFFFFF"/>
        </a:solidFill>
        <a:ln cap="flat" w="25400">
          <a:solidFill>
            <a:schemeClr val="accent1"/>
          </a:solidFill>
          <a:prstDash val="solid"/>
          <a:round/>
        </a:ln>
        <a:effectLst/>
        <a:sp3d/>
      </a:spPr>
      <a:bodyPr anchor="t" bIns="45718" horzOverflow="overflow" lIns="45718" numCol="1" rIns="45718" rot="0" rtlCol="0" spcCol="38100" spcFirstLastPara="1" tIns="45718" vert="horz" vertOverflow="overflow" wrap="square">
        <a:spAutoFit/>
      </a:bodyPr>
      <a:lstStyle>
        <a:defPPr algn="l" defTabSz="914400" hangingPunct="0" indent="0" latinLnBrk="0" marL="0" marR="0" rtl="0">
          <a:lnSpc>
            <a:spcPct val="100000"/>
          </a:lnSpc>
          <a:spcBef>
            <a:spcPts val="0"/>
          </a:spcBef>
          <a:spcAft>
            <a:spcPts val="0"/>
          </a:spcAft>
          <a:buClrTx/>
          <a:buSzTx/>
          <a:buFontTx/>
          <a:buNone/>
          <a:tabLst/>
          <a:defRPr b="1" baseline="0" cap="none" i="0" kumimoji="0" normalizeH="0" spc="0" strike="noStrike" sz="700" u="none">
            <a:ln>
              <a:noFill/>
            </a:ln>
            <a:solidFill>
              <a:srgbClr val="000000"/>
            </a:solidFill>
            <a:effectLst/>
            <a:uFillTx/>
            <a:latin typeface="+mj-lt"/>
            <a:ea typeface="+mj-ea"/>
            <a:cs typeface="+mj-cs"/>
            <a:sym typeface="Helvetica"/>
          </a:defRPr>
        </a:defPPr>
        <a:lvl1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1pPr>
        <a:lvl2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2pPr>
        <a:lvl3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3pPr>
        <a:lvl4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4pPr>
        <a:lvl5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5pPr>
        <a:lvl6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6pPr>
        <a:lvl7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7pPr>
        <a:lvl8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8pPr>
        <a:lvl9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9pPr>
      </a:lstStyle>
      <a:style>
        <a:lnRef idx="0">
          <a:scrgbClr b="0" g="0" r="0"/>
        </a:lnRef>
        <a:fillRef idx="0">
          <a:scrgbClr b="0" g="0" r="0"/>
        </a:fillRef>
        <a:effectRef idx="0">
          <a:scrgbClr b="0" g="0" r="0"/>
        </a:effectRef>
        <a:fontRef idx="none"/>
      </a:style>
    </a:spDef>
    <a:lnDef>
      <a:spPr>
        <a:noFill/>
        <a:ln cap="flat" w="25400">
          <a:solidFill>
            <a:schemeClr val="accent1"/>
          </a:solidFill>
          <a:prstDash val="solid"/>
          <a:round/>
        </a:ln>
        <a:effectLst/>
        <a:sp3d/>
      </a:spPr>
      <a:bodyPr anchor="t" bIns="45719" horzOverflow="overflow" lIns="91439" numCol="1" rIns="91439" rot="0" rtlCol="0" spcCol="38100" spcFirstLastPara="1" tIns="45719" vert="horz" vertOverflow="overflow" wrap="square">
        <a:noAutofit/>
      </a:bodyPr>
      <a:lstStyle>
        <a:def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defPPr>
        <a:lvl1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1pPr>
        <a:lvl2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2pPr>
        <a:lvl3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3pPr>
        <a:lvl4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4pPr>
        <a:lvl5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5pPr>
        <a:lvl6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6pPr>
        <a:lvl7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7pPr>
        <a:lvl8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8pPr>
        <a:lvl9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9pPr>
      </a:lstStyle>
      <a:style>
        <a:lnRef idx="0">
          <a:scrgbClr b="0" g="0" r="0"/>
        </a:lnRef>
        <a:fillRef idx="0">
          <a:scrgbClr b="0" g="0" r="0"/>
        </a:fillRef>
        <a:effectRef idx="0">
          <a:scrgbClr b="0" g="0" r="0"/>
        </a:effectRef>
        <a:fontRef idx="none"/>
      </a:style>
    </a:lnDef>
    <a:txDef>
      <a:spPr>
        <a:noFill/>
        <a:ln cap="flat" w="12700">
          <a:noFill/>
          <a:miter lim="400000"/>
        </a:ln>
        <a:effectLst/>
        <a:sp3d/>
      </a:spPr>
      <a:bodyPr anchor="t" bIns="45718" horzOverflow="overflow" lIns="45718" numCol="1" rIns="45718" rot="0" rtlCol="0" spcCol="38100" spcFirstLastPara="1" tIns="45718" vert="horz" vertOverflow="overflow" wrap="square">
        <a:spAutoFit/>
      </a:bodyPr>
      <a:lstStyle>
        <a:defPPr algn="l" defTabSz="914400" hangingPunct="0" indent="0" latinLnBrk="0" marL="0" marR="0" rtl="0">
          <a:lnSpc>
            <a:spcPct val="100000"/>
          </a:lnSpc>
          <a:spcBef>
            <a:spcPts val="0"/>
          </a:spcBef>
          <a:spcAft>
            <a:spcPts val="0"/>
          </a:spcAft>
          <a:buClrTx/>
          <a:buSzTx/>
          <a:buFontTx/>
          <a:buNone/>
          <a:tabLst/>
          <a:defRPr b="1" baseline="0" cap="none" i="0" kumimoji="0" normalizeH="0" spc="0" strike="noStrike" sz="700" u="none">
            <a:ln>
              <a:noFill/>
            </a:ln>
            <a:solidFill>
              <a:srgbClr val="000000"/>
            </a:solidFill>
            <a:effectLst/>
            <a:uFillTx/>
            <a:latin typeface="+mj-lt"/>
            <a:ea typeface="+mj-ea"/>
            <a:cs typeface="+mj-cs"/>
            <a:sym typeface="Helvetica"/>
          </a:defRPr>
        </a:defPPr>
        <a:lvl1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1pPr>
        <a:lvl2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2pPr>
        <a:lvl3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3pPr>
        <a:lvl4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4pPr>
        <a:lvl5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5pPr>
        <a:lvl6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6pPr>
        <a:lvl7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7pPr>
        <a:lvl8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8pPr>
        <a:lvl9pPr algn="l" defTabSz="914400" hangingPunct="0" indent="0" latinLnBrk="1" marL="0" marR="0" rtl="0">
          <a:lnSpc>
            <a:spcPct val="100000"/>
          </a:lnSpc>
          <a:spcBef>
            <a:spcPts val="0"/>
          </a:spcBef>
          <a:spcAft>
            <a:spcPts val="0"/>
          </a:spcAft>
          <a:buClrTx/>
          <a:buSzTx/>
          <a:buFontTx/>
          <a:buNone/>
          <a:tabLst/>
          <a:defRPr b="0" baseline="0" cap="none" i="0" kumimoji="0" normalizeH="0" spc="0" strike="noStrike" sz="1800" u="none">
            <a:ln>
              <a:noFill/>
            </a:ln>
            <a:solidFill>
              <a:srgbClr val="000000"/>
            </a:solidFill>
            <a:effectLst/>
            <a:uFillTx/>
          </a:defRPr>
        </a:lvl9pPr>
      </a:lstStyle>
      <a:style>
        <a:lnRef idx="0">
          <a:scrgbClr b="0" g="0" r="0"/>
        </a:lnRef>
        <a:fillRef idx="0">
          <a:scrgbClr b="0" g="0" r="0"/>
        </a:fillRef>
        <a:effectRef idx="0">
          <a:scrgbClr b="0" g="0" r="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Words>8155</Words>
  <Paragraphs>419</Paragraphs>
  <Slides>67</Slides>
  <Notes>1</Notes>
  <TotalTime>643</TotalTime>
  <HiddenSlides>0</HiddenSlides>
  <MMClips>0</MMClips>
  <ScaleCrop>false</ScaleCrop>
  <HeadingPairs>
    <vt:vector baseType="variant" size="6">
      <vt:variant>
        <vt:lpstr>Caratteri utilizzati</vt:lpstr>
      </vt:variant>
      <vt:variant>
        <vt:i4>5</vt:i4>
      </vt:variant>
      <vt:variant>
        <vt:lpstr>Tema</vt:lpstr>
      </vt:variant>
      <vt:variant>
        <vt:i4>1</vt:i4>
      </vt:variant>
      <vt:variant>
        <vt:lpstr>Titoli diapositive</vt:lpstr>
      </vt:variant>
      <vt:variant>
        <vt:i4>67</vt:i4>
      </vt:variant>
    </vt:vector>
  </HeadingPairs>
  <TitlesOfParts>
    <vt:vector baseType="lpstr" size="73">
      <vt:lpstr>Arial</vt:lpstr>
      <vt:lpstr>Book Antiqua</vt:lpstr>
      <vt:lpstr>Calibri</vt:lpstr>
      <vt:lpstr>Helvetica</vt:lpstr>
      <vt:lpstr>Times New Roman</vt:lpstr>
      <vt:lpstr>1_Personalizza struttura</vt:lpstr>
      <vt:lpstr>Presentazione standard di PowerPoint</vt:lpstr>
      <vt:lpstr>Presentazione standard di PowerPoint</vt:lpstr>
      <vt:lpstr>Presentazione standard di PowerPoint</vt:lpstr>
      <vt:lpstr>Presentazione standard di PowerPoint</vt:lpstr>
      <vt:lpstr>Presentazione standard di PowerPoint</vt:lpstr>
      <vt:lpstr>Furto</vt:lpstr>
      <vt:lpstr>Presentazione standard di PowerPoint</vt:lpstr>
      <vt:lpstr>Presentazione standard di PowerPoint</vt:lpstr>
      <vt:lpstr>Furto in abitazione e furto con strappo</vt:lpstr>
      <vt:lpstr>Furto in abitazione e furto con strappo</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Estorsione</vt:lpstr>
      <vt:lpstr>Presentazione standard di PowerPoint</vt:lpstr>
      <vt:lpstr>Estorsione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Insolvenza fraudolenta</vt:lpstr>
      <vt:lpstr>Presentazione standard di PowerPoint</vt:lpstr>
      <vt:lpstr>Circonvenzione di persone incapaci</vt:lpstr>
      <vt:lpstr>Presentazione standard di PowerPoint</vt:lpstr>
      <vt:lpstr>Presentazione standard di PowerPoint</vt:lpstr>
      <vt:lpstr>Presentazione standard di PowerPoint</vt:lpstr>
      <vt:lpstr>Presentazione standard di PowerPoint</vt:lpstr>
      <vt:lpstr>Presentazione standard di PowerPoint</vt:lpstr>
      <vt:lpstr>Appropriazione indebita</vt:lpstr>
      <vt:lpstr>Presentazione standard di PowerPoint</vt:lpstr>
      <vt:lpstr>Appropriazione indebita</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Usura</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lication>Microsoft Office PowerPoint</Application>
  <AppVersion>16.0000</AppVersion>
  <PresentationFormat>Presentazione su schermo (4:3)</PresentationFormat>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Boccardo Alessandro (Ten.)</cp:lastModifiedBy>
  <dcterms:modified xsi:type="dcterms:W3CDTF">2024-10-08T10:46:46Z</dcterms:modified>
  <cp:revision>28</cp:revision>
  <dc:title>Presentazione standard di PowerPoint</dc:title>
</cp:coreProperties>
</file>