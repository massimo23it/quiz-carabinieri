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7" r:id="rId20"/>
    <p:sldId id="275" r:id="rId21"/>
    <p:sldId id="276" r:id="rId22"/>
    <p:sldId id="328" r:id="rId23"/>
    <p:sldId id="277" r:id="rId24"/>
    <p:sldId id="278" r:id="rId25"/>
    <p:sldId id="279" r:id="rId26"/>
    <p:sldId id="280" r:id="rId27"/>
    <p:sldId id="32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330" r:id="rId36"/>
    <p:sldId id="288" r:id="rId37"/>
    <p:sldId id="289" r:id="rId38"/>
    <p:sldId id="290" r:id="rId39"/>
    <p:sldId id="291" r:id="rId40"/>
    <p:sldId id="292" r:id="rId41"/>
    <p:sldId id="293" r:id="rId42"/>
    <p:sldId id="331" r:id="rId43"/>
    <p:sldId id="295" r:id="rId44"/>
    <p:sldId id="296" r:id="rId45"/>
    <p:sldId id="297" r:id="rId46"/>
    <p:sldId id="298" r:id="rId47"/>
    <p:sldId id="299" r:id="rId48"/>
    <p:sldId id="301" r:id="rId49"/>
    <p:sldId id="303" r:id="rId50"/>
    <p:sldId id="304" r:id="rId51"/>
    <p:sldId id="318" r:id="rId52"/>
    <p:sldId id="319" r:id="rId53"/>
    <p:sldId id="320" r:id="rId54"/>
    <p:sldId id="321" r:id="rId55"/>
    <p:sldId id="322" r:id="rId56"/>
    <p:sldId id="305" r:id="rId57"/>
    <p:sldId id="306" r:id="rId58"/>
    <p:sldId id="307" r:id="rId59"/>
    <p:sldId id="308" r:id="rId60"/>
    <p:sldId id="324" r:id="rId61"/>
    <p:sldId id="309" r:id="rId62"/>
    <p:sldId id="310" r:id="rId63"/>
    <p:sldId id="311" r:id="rId64"/>
    <p:sldId id="313" r:id="rId65"/>
    <p:sldId id="314" r:id="rId66"/>
    <p:sldId id="326" r:id="rId67"/>
    <p:sldId id="315" r:id="rId68"/>
    <p:sldId id="316" r:id="rId6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5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7" name="Shape 2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Testo"/>
          <p:cNvSpPr txBox="1">
            <a:spLocks noGrp="1"/>
          </p:cNvSpPr>
          <p:nvPr>
            <p:ph type="title"/>
          </p:nvPr>
        </p:nvSpPr>
        <p:spPr>
          <a:xfrm>
            <a:off x="685800" y="3209925"/>
            <a:ext cx="7772400" cy="2019300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>
              <a:defRPr sz="3200">
                <a:effectLst>
                  <a:outerShdw blurRad="38100" dist="38100" dir="2700000" rotWithShape="0">
                    <a:srgbClr val="C0C0C0"/>
                  </a:outerShdw>
                </a:effectLst>
              </a:defRPr>
            </a:lvl1pPr>
          </a:lstStyle>
          <a:p>
            <a:r>
              <a:t>Titolo Testo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21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000" cap="all"/>
            </a:lvl1pPr>
          </a:lstStyle>
          <a:p>
            <a:r>
              <a:t>Titolo Testo</a:t>
            </a:r>
          </a:p>
        </p:txBody>
      </p:sp>
      <p:sp>
        <p:nvSpPr>
          <p:cNvPr id="30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SzTx/>
              <a:buNone/>
              <a:defRPr sz="2000"/>
            </a:lvl1pPr>
            <a:lvl2pPr marL="0" indent="457200">
              <a:spcBef>
                <a:spcPts val="400"/>
              </a:spcBef>
              <a:buSzTx/>
              <a:buNone/>
              <a:defRPr sz="2000"/>
            </a:lvl2pPr>
            <a:lvl3pPr marL="0" indent="914400">
              <a:spcBef>
                <a:spcPts val="400"/>
              </a:spcBef>
              <a:buSzTx/>
              <a:buNone/>
              <a:defRPr sz="2000"/>
            </a:lvl3pPr>
            <a:lvl4pPr marL="0" indent="1371600">
              <a:spcBef>
                <a:spcPts val="400"/>
              </a:spcBef>
              <a:buSzTx/>
              <a:buNone/>
              <a:defRPr sz="2000"/>
            </a:lvl4pPr>
            <a:lvl5pPr marL="0" indent="1828800">
              <a:spcBef>
                <a:spcPts val="400"/>
              </a:spcBef>
              <a:buSzTx/>
              <a:buNone/>
              <a:defRPr sz="20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39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48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None/>
              <a:defRPr sz="2400" b="1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" name="Segnaposto testo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None/>
              <a:defRPr sz="2400" b="1"/>
            </a:pPr>
            <a:endParaRPr/>
          </a:p>
        </p:txBody>
      </p:sp>
      <p:sp>
        <p:nvSpPr>
          <p:cNvPr id="5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7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4" name="Segnaposto testo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None/>
              <a:defRPr sz="1400"/>
            </a:pPr>
            <a:endParaRPr/>
          </a:p>
        </p:txBody>
      </p:sp>
      <p:sp>
        <p:nvSpPr>
          <p:cNvPr id="7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83" name="Segnaposto immagine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4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None/>
              <a:defRPr sz="1400"/>
            </a:lvl1pPr>
            <a:lvl2pPr marL="0" indent="457200">
              <a:spcBef>
                <a:spcPts val="300"/>
              </a:spcBef>
              <a:buSzTx/>
              <a:buNone/>
              <a:defRPr sz="1400"/>
            </a:lvl2pPr>
            <a:lvl3pPr marL="0" indent="914400">
              <a:spcBef>
                <a:spcPts val="300"/>
              </a:spcBef>
              <a:buSzTx/>
              <a:buNone/>
              <a:defRPr sz="1400"/>
            </a:lvl3pPr>
            <a:lvl4pPr marL="0" indent="1371600">
              <a:spcBef>
                <a:spcPts val="300"/>
              </a:spcBef>
              <a:buSzTx/>
              <a:buNone/>
              <a:defRPr sz="1400"/>
            </a:lvl4pPr>
            <a:lvl5pPr marL="0" indent="1828800">
              <a:spcBef>
                <a:spcPts val="300"/>
              </a:spcBef>
              <a:buSzTx/>
              <a:buNone/>
              <a:defRPr sz="14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9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0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09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Titolo Testo</a:t>
            </a:r>
          </a:p>
        </p:txBody>
      </p:sp>
      <p:sp>
        <p:nvSpPr>
          <p:cNvPr id="118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21859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a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olo Testo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2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 algn="ctr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olo e contenu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36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7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testazione sezion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algn="l">
              <a:defRPr sz="4000" cap="al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45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ue contenuti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54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790575" indent="-333375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marL="1234439" indent="-320039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marL="1727200" indent="-3556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marL="2184400" indent="-3556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5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fron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6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64" name="Segnaposto testo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73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uot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uto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88" name="Corpo livello uno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89" name="Segnaposto testo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magine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98" name="Segnaposto immagine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99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0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836612"/>
            <a:ext cx="9144000" cy="71438"/>
          </a:xfrm>
          <a:prstGeom prst="rect">
            <a:avLst/>
          </a:prstGeom>
          <a:gradFill>
            <a:gsLst>
              <a:gs pos="0">
                <a:schemeClr val="accent2">
                  <a:alpha val="79999"/>
                </a:schemeClr>
              </a:gs>
              <a:gs pos="100000">
                <a:srgbClr val="181847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83848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 b="0"/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  <p:sp>
        <p:nvSpPr>
          <p:cNvPr id="4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Titolo Testo</a:t>
            </a:r>
          </a:p>
        </p:txBody>
      </p:sp>
      <p:sp>
        <p:nvSpPr>
          <p:cNvPr id="5" name="Corpo livello uno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3">
              <a:lumOff val="44000"/>
            </a:schemeClr>
          </a:solidFill>
          <a:effectLst>
            <a:outerShdw blurRad="38100" dist="38100" dir="2700000" rotWithShape="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Immagine 1" descr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Box 4"/>
          <p:cNvSpPr txBox="1"/>
          <p:nvPr/>
        </p:nvSpPr>
        <p:spPr>
          <a:xfrm>
            <a:off x="45719" y="1723587"/>
            <a:ext cx="9052561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85000"/>
              </a:lnSpc>
              <a:spcBef>
                <a:spcPts val="4300"/>
              </a:spcBef>
              <a:defRPr sz="7200" i="1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Diritto Penale</a:t>
            </a:r>
          </a:p>
        </p:txBody>
      </p:sp>
      <p:sp>
        <p:nvSpPr>
          <p:cNvPr id="211" name="Text Box 4"/>
          <p:cNvSpPr txBox="1"/>
          <p:nvPr/>
        </p:nvSpPr>
        <p:spPr>
          <a:xfrm>
            <a:off x="174876" y="6303648"/>
            <a:ext cx="4783452" cy="331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1000"/>
              </a:spcBef>
              <a:defRPr sz="1800" b="0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/>
              <a:t>14</a:t>
            </a:r>
            <a:r>
              <a:rPr lang="it-IT" dirty="0"/>
              <a:t>5</a:t>
            </a:r>
            <a:r>
              <a:rPr dirty="0"/>
              <a:t>°Corso </a:t>
            </a:r>
            <a:r>
              <a:rPr dirty="0" err="1"/>
              <a:t>Formativo</a:t>
            </a:r>
            <a:r>
              <a:rPr dirty="0"/>
              <a:t> per </a:t>
            </a:r>
            <a:r>
              <a:rPr dirty="0" err="1"/>
              <a:t>Allievi</a:t>
            </a:r>
            <a:r>
              <a:rPr dirty="0"/>
              <a:t> Carabinieri</a:t>
            </a:r>
          </a:p>
        </p:txBody>
      </p:sp>
      <p:sp>
        <p:nvSpPr>
          <p:cNvPr id="212" name="Text Box 4"/>
          <p:cNvSpPr txBox="1"/>
          <p:nvPr/>
        </p:nvSpPr>
        <p:spPr>
          <a:xfrm>
            <a:off x="45719" y="53164"/>
            <a:ext cx="9052561" cy="632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lnSpc>
                <a:spcPct val="85000"/>
              </a:lnSpc>
              <a:spcBef>
                <a:spcPts val="1900"/>
              </a:spcBef>
              <a:defRPr sz="3000" cap="small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Scuola Allievi Carabinieri</a:t>
            </a:r>
            <a:r>
              <a:rPr sz="1000">
                <a:solidFill>
                  <a:srgbClr val="002F8E"/>
                </a:solidFill>
              </a:rPr>
              <a:t> </a:t>
            </a:r>
            <a:br>
              <a:rPr sz="1000">
                <a:solidFill>
                  <a:srgbClr val="002F8E"/>
                </a:solidFill>
              </a:rPr>
            </a:br>
            <a:endParaRPr sz="1000">
              <a:solidFill>
                <a:srgbClr val="002F8E"/>
              </a:solidFill>
            </a:endParaRPr>
          </a:p>
        </p:txBody>
      </p:sp>
      <p:sp>
        <p:nvSpPr>
          <p:cNvPr id="213" name="Text Box 4"/>
          <p:cNvSpPr txBox="1"/>
          <p:nvPr/>
        </p:nvSpPr>
        <p:spPr>
          <a:xfrm>
            <a:off x="45719" y="2918692"/>
            <a:ext cx="9052561" cy="314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spcBef>
                <a:spcPts val="2600"/>
              </a:spcBef>
              <a:defRPr sz="4400" cap="small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lang="it-IT" dirty="0"/>
              <a:t>I</a:t>
            </a:r>
            <a:r>
              <a:rPr dirty="0"/>
              <a:t>V </a:t>
            </a:r>
            <a:r>
              <a:rPr dirty="0" err="1"/>
              <a:t>Tesi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85000"/>
              </a:lnSpc>
              <a:spcBef>
                <a:spcPts val="2800"/>
              </a:spcBef>
              <a:defRPr sz="1000" cap="small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 </a:t>
            </a:r>
            <a:br>
              <a:rPr dirty="0"/>
            </a:br>
            <a:r>
              <a:rPr sz="4800" i="1" cap="none" dirty="0"/>
              <a:t>I </a:t>
            </a:r>
            <a:r>
              <a:rPr sz="4800" i="1" cap="none" dirty="0" err="1"/>
              <a:t>delitti</a:t>
            </a:r>
            <a:r>
              <a:rPr sz="4800" i="1" cap="none" dirty="0"/>
              <a:t> </a:t>
            </a:r>
            <a:r>
              <a:rPr sz="4800" i="1" cap="none" dirty="0" err="1"/>
              <a:t>contro</a:t>
            </a:r>
            <a:r>
              <a:rPr sz="4800" i="1" cap="none" dirty="0"/>
              <a:t> </a:t>
            </a:r>
            <a:r>
              <a:rPr sz="4800" i="1" cap="none" dirty="0" err="1"/>
              <a:t>l’amministrazione</a:t>
            </a:r>
            <a:r>
              <a:rPr sz="4800" i="1" cap="none" dirty="0"/>
              <a:t> </a:t>
            </a:r>
            <a:r>
              <a:rPr sz="4800" i="1" cap="none" dirty="0" err="1"/>
              <a:t>della</a:t>
            </a:r>
            <a:r>
              <a:rPr sz="4800" i="1" cap="none" dirty="0"/>
              <a:t> </a:t>
            </a:r>
            <a:r>
              <a:rPr sz="4800" i="1" cap="none" dirty="0" err="1"/>
              <a:t>giustizia</a:t>
            </a:r>
            <a:endParaRPr sz="4800" i="1" cap="none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136850" y="980727"/>
            <a:ext cx="8899646" cy="587727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7200"/>
              </a:lnSpc>
              <a:spcBef>
                <a:spcPts val="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titoli sono i seguenti: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- Delitti contro la personalità dello Stato (artt. 241-313),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 - Delitti contro la pubblica amministrazione (artt. 314-360),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III - Delitti contro l’Amministrazione della giustizia (artt. 361-401),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IV - Delitti contro il sentimento religioso e contro la pietà dei defunti (artt. 402-413),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 - Delitti contro l’ordine pubblico (artt. 414-421),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- Delitti contro l’incolumità pubblica (artt. 422-452),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bis – Delitti contro l’ambiente (artt. 452bis-452terdecies),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 - Delitti contro la fede pubblica (artt. 453-498),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VIII - Delitti contro l’economia pubblica, l’industria e il commercio (artt. 499-518),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- Delitti contro la moralità pubblica e il buon costume (artt. 519-544),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bis - Delitti contro il sentimento per gli animali (artt. 544bis-544sexies),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- Delitti contro l’integrità e la sanità della stirpe (artt. 545-555) [titolo abrogato],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 - Delitti contro la famiglia (artt. 556-574),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 - Delitti contro la persona (artt. 575-623bis),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XIII - Delitti contro il patrimonio (artt. 624-649).</a:t>
            </a:r>
          </a:p>
        </p:txBody>
      </p:sp>
      <p:pic>
        <p:nvPicPr>
          <p:cNvPr id="216" name="Immagine 5" descr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asellaDiTesto 1"/>
          <p:cNvSpPr txBox="1"/>
          <p:nvPr/>
        </p:nvSpPr>
        <p:spPr>
          <a:xfrm>
            <a:off x="153224" y="983854"/>
            <a:ext cx="8819041" cy="4719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I DELITTI CONTRO L'AMMINISTRAZIONE DELLA GIUSTIZIA </a:t>
            </a:r>
            <a:r>
              <a:rPr b="0">
                <a:solidFill>
                  <a:srgbClr val="000000"/>
                </a:solidFill>
              </a:rPr>
              <a:t>sono regolamentati dal Titolo III, Libro II, del Codice Penale.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Book Antiqua"/>
                <a:ea typeface="Book Antiqua"/>
                <a:cs typeface="Book Antiqua"/>
                <a:sym typeface="Book Antiqua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14000"/>
              </a:lnSpc>
              <a:spcBef>
                <a:spcPts val="600"/>
              </a:spcBef>
              <a:defRPr sz="2200" b="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“</a:t>
            </a:r>
            <a:r>
              <a:rPr sz="2800" b="1" i="1" u="sng"/>
              <a:t>AMMINISTRAZIONE DELLA GIUSTIZIA</a:t>
            </a:r>
            <a:r>
              <a:rPr b="1" u="sng"/>
              <a:t>”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Quel complesso di </a:t>
            </a:r>
            <a:r>
              <a:rPr u="sng"/>
              <a:t>attività</a:t>
            </a:r>
            <a:r>
              <a:t> e </a:t>
            </a:r>
            <a:r>
              <a:rPr u="sng"/>
              <a:t>strutture</a:t>
            </a:r>
            <a:r>
              <a:t> cui è demandata la </a:t>
            </a:r>
            <a:r>
              <a:rPr b="1" u="sng">
                <a:solidFill>
                  <a:srgbClr val="002F8E"/>
                </a:solidFill>
              </a:rPr>
              <a:t>funzione giurisdizionale dello Stato</a:t>
            </a:r>
            <a:r>
              <a:t>, con lo scopo di ristabilire la giustizia a fronte della commissione di un illecito.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Book Antiqua"/>
                <a:ea typeface="Book Antiqua"/>
                <a:cs typeface="Book Antiqua"/>
                <a:sym typeface="Book Antiqua"/>
              </a:defRPr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La stessa non fa riferimento al solo processo penale, ma anche a tutte quelle attività che sono ad esso prodromiche o successive.</a:t>
            </a:r>
          </a:p>
        </p:txBody>
      </p:sp>
      <p:pic>
        <p:nvPicPr>
          <p:cNvPr id="220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  <p:sp>
        <p:nvSpPr>
          <p:cNvPr id="222" name="Freccia in giù 2"/>
          <p:cNvSpPr/>
          <p:nvPr/>
        </p:nvSpPr>
        <p:spPr>
          <a:xfrm>
            <a:off x="4283967" y="2564903"/>
            <a:ext cx="288033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429"/>
                </a:moveTo>
                <a:lnTo>
                  <a:pt x="5400" y="15429"/>
                </a:lnTo>
                <a:lnTo>
                  <a:pt x="5400" y="0"/>
                </a:lnTo>
                <a:lnTo>
                  <a:pt x="16200" y="0"/>
                </a:lnTo>
                <a:lnTo>
                  <a:pt x="16200" y="15429"/>
                </a:lnTo>
                <a:lnTo>
                  <a:pt x="21600" y="15429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asellaDiTesto 1"/>
          <p:cNvSpPr txBox="1"/>
          <p:nvPr/>
        </p:nvSpPr>
        <p:spPr>
          <a:xfrm>
            <a:off x="153224" y="908720"/>
            <a:ext cx="8819041" cy="573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I </a:t>
            </a:r>
            <a:r>
              <a:rPr b="1" dirty="0" err="1">
                <a:solidFill>
                  <a:srgbClr val="002F8E"/>
                </a:solidFill>
              </a:rPr>
              <a:t>delitti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contro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l’Amministrazione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della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Giustizia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dirty="0" err="1"/>
              <a:t>possono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raggruppati</a:t>
            </a:r>
            <a:r>
              <a:rPr dirty="0"/>
              <a:t> in </a:t>
            </a:r>
            <a:r>
              <a:rPr b="1" u="sng" dirty="0" err="1">
                <a:solidFill>
                  <a:srgbClr val="FF0000"/>
                </a:solidFill>
              </a:rPr>
              <a:t>tre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categorie</a:t>
            </a:r>
            <a:r>
              <a:rPr dirty="0"/>
              <a:t>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1800" u="sng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DELITTI CONTRO L’AUTORITÀ GIUDIZIARIA</a:t>
            </a:r>
            <a:r>
              <a:rPr u="none" dirty="0">
                <a:solidFill>
                  <a:srgbClr val="000000"/>
                </a:solidFill>
              </a:rPr>
              <a:t>: </a:t>
            </a:r>
            <a:r>
              <a:rPr b="0" u="none" dirty="0" err="1">
                <a:solidFill>
                  <a:srgbClr val="000000"/>
                </a:solidFill>
              </a:rPr>
              <a:t>reati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che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compromettono</a:t>
            </a:r>
            <a:r>
              <a:rPr b="0" u="none" dirty="0">
                <a:solidFill>
                  <a:srgbClr val="000000"/>
                </a:solidFill>
              </a:rPr>
              <a:t> o </a:t>
            </a:r>
            <a:r>
              <a:rPr b="0" u="none" dirty="0" err="1">
                <a:solidFill>
                  <a:srgbClr val="000000"/>
                </a:solidFill>
              </a:rPr>
              <a:t>mettono</a:t>
            </a:r>
            <a:r>
              <a:rPr b="0" u="none" dirty="0">
                <a:solidFill>
                  <a:srgbClr val="000000"/>
                </a:solidFill>
              </a:rPr>
              <a:t> in </a:t>
            </a:r>
            <a:r>
              <a:rPr b="0" u="none" dirty="0" err="1">
                <a:solidFill>
                  <a:srgbClr val="000000"/>
                </a:solidFill>
              </a:rPr>
              <a:t>pericolo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il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corretto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accertamento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dei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fatti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nell’ambito</a:t>
            </a:r>
            <a:r>
              <a:rPr b="0" u="none" dirty="0">
                <a:solidFill>
                  <a:srgbClr val="000000"/>
                </a:solidFill>
              </a:rPr>
              <a:t> del </a:t>
            </a:r>
            <a:r>
              <a:rPr b="0" u="none" dirty="0" err="1">
                <a:solidFill>
                  <a:srgbClr val="000000"/>
                </a:solidFill>
              </a:rPr>
              <a:t>procedimento</a:t>
            </a:r>
            <a:r>
              <a:rPr b="0" u="none" dirty="0">
                <a:solidFill>
                  <a:srgbClr val="000000"/>
                </a:solidFill>
              </a:rPr>
              <a:t>/</a:t>
            </a:r>
            <a:r>
              <a:rPr b="0" u="none" dirty="0" err="1">
                <a:solidFill>
                  <a:srgbClr val="000000"/>
                </a:solidFill>
              </a:rPr>
              <a:t>processo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penale</a:t>
            </a:r>
            <a:r>
              <a:rPr b="0" u="none" dirty="0">
                <a:solidFill>
                  <a:srgbClr val="000000"/>
                </a:solidFill>
              </a:rPr>
              <a:t>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18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i="1" dirty="0"/>
              <a:t>Es.</a:t>
            </a:r>
            <a:r>
              <a:rPr dirty="0"/>
              <a:t> </a:t>
            </a:r>
            <a:r>
              <a:rPr u="sng" dirty="0" err="1"/>
              <a:t>omessa</a:t>
            </a:r>
            <a:r>
              <a:rPr u="sng" dirty="0"/>
              <a:t> </a:t>
            </a:r>
            <a:r>
              <a:rPr u="sng" dirty="0" err="1"/>
              <a:t>denuncia</a:t>
            </a:r>
            <a:r>
              <a:rPr u="sng" dirty="0"/>
              <a:t> </a:t>
            </a:r>
            <a:r>
              <a:rPr dirty="0"/>
              <a:t>(non </a:t>
            </a:r>
            <a:r>
              <a:rPr dirty="0" err="1"/>
              <a:t>consente</a:t>
            </a:r>
            <a:r>
              <a:rPr dirty="0"/>
              <a:t> </a:t>
            </a:r>
            <a:r>
              <a:rPr dirty="0" err="1"/>
              <a:t>all’AG</a:t>
            </a:r>
            <a:r>
              <a:rPr dirty="0"/>
              <a:t> di venire a </a:t>
            </a:r>
            <a:r>
              <a:rPr dirty="0" err="1"/>
              <a:t>conoscenza</a:t>
            </a:r>
            <a:r>
              <a:rPr dirty="0"/>
              <a:t> </a:t>
            </a:r>
            <a:r>
              <a:rPr dirty="0" err="1"/>
              <a:t>dell’avvenuta</a:t>
            </a:r>
            <a:r>
              <a:rPr dirty="0"/>
              <a:t> </a:t>
            </a:r>
            <a:r>
              <a:rPr dirty="0" err="1"/>
              <a:t>commissione</a:t>
            </a:r>
            <a:r>
              <a:rPr dirty="0"/>
              <a:t> di un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tipico</a:t>
            </a:r>
            <a:r>
              <a:rPr dirty="0"/>
              <a:t> di </a:t>
            </a:r>
            <a:r>
              <a:rPr dirty="0" err="1"/>
              <a:t>reato</a:t>
            </a:r>
            <a:r>
              <a:rPr dirty="0"/>
              <a:t>); </a:t>
            </a:r>
            <a:r>
              <a:rPr u="sng" dirty="0"/>
              <a:t>falsa </a:t>
            </a:r>
            <a:r>
              <a:rPr u="sng" dirty="0" err="1"/>
              <a:t>testimonianza</a:t>
            </a:r>
            <a:r>
              <a:rPr u="sng" dirty="0"/>
              <a:t> </a:t>
            </a:r>
            <a:r>
              <a:rPr dirty="0"/>
              <a:t>(</a:t>
            </a:r>
            <a:r>
              <a:rPr dirty="0" err="1"/>
              <a:t>ostacola</a:t>
            </a:r>
            <a:r>
              <a:rPr dirty="0"/>
              <a:t> la </a:t>
            </a:r>
            <a:r>
              <a:rPr dirty="0" err="1"/>
              <a:t>corretta</a:t>
            </a:r>
            <a:r>
              <a:rPr dirty="0"/>
              <a:t> </a:t>
            </a:r>
            <a:r>
              <a:rPr dirty="0" err="1"/>
              <a:t>acquisizione</a:t>
            </a:r>
            <a:r>
              <a:rPr dirty="0"/>
              <a:t> </a:t>
            </a:r>
            <a:r>
              <a:rPr dirty="0" err="1"/>
              <a:t>degli</a:t>
            </a:r>
            <a:r>
              <a:rPr dirty="0"/>
              <a:t> </a:t>
            </a:r>
            <a:r>
              <a:rPr dirty="0" err="1"/>
              <a:t>elementi</a:t>
            </a:r>
            <a:r>
              <a:rPr dirty="0"/>
              <a:t> di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cui </a:t>
            </a:r>
            <a:r>
              <a:rPr dirty="0" err="1"/>
              <a:t>basare</a:t>
            </a:r>
            <a:r>
              <a:rPr dirty="0"/>
              <a:t> la </a:t>
            </a:r>
            <a:r>
              <a:rPr dirty="0" err="1"/>
              <a:t>sentenza</a:t>
            </a:r>
            <a:r>
              <a:rPr dirty="0"/>
              <a:t>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 startAt="2"/>
              <a:defRPr sz="1800" u="sng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DELITTI CONTRO L’AUTORITÀ DELLE DECISIONI GIUDIZIARIE</a:t>
            </a:r>
            <a:r>
              <a:rPr b="0" u="none" dirty="0">
                <a:solidFill>
                  <a:srgbClr val="000000"/>
                </a:solidFill>
              </a:rPr>
              <a:t>: </a:t>
            </a:r>
            <a:r>
              <a:rPr b="0" u="none" dirty="0" err="1">
                <a:solidFill>
                  <a:srgbClr val="000000"/>
                </a:solidFill>
              </a:rPr>
              <a:t>delitti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che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incidono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sulla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corretta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esecuzione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delle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decisioni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giudiziarie</a:t>
            </a:r>
            <a:r>
              <a:rPr b="0" u="none" dirty="0">
                <a:solidFill>
                  <a:srgbClr val="000000"/>
                </a:solidFill>
              </a:rPr>
              <a:t>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18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i="1" dirty="0"/>
              <a:t>Es.</a:t>
            </a:r>
            <a:r>
              <a:rPr dirty="0"/>
              <a:t> </a:t>
            </a:r>
            <a:r>
              <a:rPr dirty="0" err="1"/>
              <a:t>reati</a:t>
            </a:r>
            <a:r>
              <a:rPr dirty="0"/>
              <a:t> di </a:t>
            </a:r>
            <a:r>
              <a:rPr u="sng" dirty="0" err="1"/>
              <a:t>evasione</a:t>
            </a:r>
            <a:r>
              <a:rPr dirty="0"/>
              <a:t> e </a:t>
            </a:r>
            <a:r>
              <a:rPr u="sng" dirty="0" err="1"/>
              <a:t>procurata</a:t>
            </a:r>
            <a:r>
              <a:rPr u="sng" dirty="0"/>
              <a:t> </a:t>
            </a:r>
            <a:r>
              <a:rPr u="sng" dirty="0" err="1"/>
              <a:t>evasione</a:t>
            </a:r>
            <a:r>
              <a:rPr dirty="0"/>
              <a:t>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 startAt="3"/>
              <a:defRPr sz="1800" u="sng">
                <a:solidFill>
                  <a:srgbClr val="3366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sz="1600" dirty="0"/>
              <a:t>DELITTI DI TUTELA ARBITRARIA DELLE PROPRIE RAGIONI</a:t>
            </a:r>
            <a:r>
              <a:rPr lang="it-IT" sz="1600" dirty="0"/>
              <a:t>: </a:t>
            </a:r>
            <a:r>
              <a:rPr lang="it-IT" sz="1600" b="0" dirty="0">
                <a:solidFill>
                  <a:schemeClr val="tx1"/>
                </a:solidFill>
              </a:rPr>
              <a:t>reati che non attengono direttamente all’amministrazione della giustizia, ma che riguardano attività abusive dei privati che tendono a sostituirsi alla stessa.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18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sz="1600" i="1" dirty="0"/>
              <a:t>Es.</a:t>
            </a:r>
            <a:r>
              <a:rPr sz="1600" dirty="0"/>
              <a:t> </a:t>
            </a:r>
            <a:r>
              <a:rPr sz="1600" u="sng" dirty="0" err="1"/>
              <a:t>reato</a:t>
            </a:r>
            <a:r>
              <a:rPr sz="1600" u="sng" dirty="0"/>
              <a:t> di </a:t>
            </a:r>
            <a:r>
              <a:rPr sz="1600" u="sng" dirty="0" err="1"/>
              <a:t>esercizio</a:t>
            </a:r>
            <a:r>
              <a:rPr sz="1600" u="sng" dirty="0"/>
              <a:t> </a:t>
            </a:r>
            <a:r>
              <a:rPr sz="1600" u="sng" dirty="0" err="1"/>
              <a:t>arbitrario</a:t>
            </a:r>
            <a:r>
              <a:rPr sz="1600" u="sng" dirty="0"/>
              <a:t> </a:t>
            </a:r>
            <a:r>
              <a:rPr sz="1600" u="sng" dirty="0" err="1"/>
              <a:t>delle</a:t>
            </a:r>
            <a:r>
              <a:rPr sz="1600" u="sng" dirty="0"/>
              <a:t> </a:t>
            </a:r>
            <a:r>
              <a:rPr sz="1600" u="sng" dirty="0" err="1"/>
              <a:t>proprie</a:t>
            </a:r>
            <a:r>
              <a:rPr sz="1600" u="sng" dirty="0"/>
              <a:t> </a:t>
            </a:r>
            <a:r>
              <a:rPr sz="1600" u="sng" dirty="0" err="1"/>
              <a:t>ragioni</a:t>
            </a:r>
            <a:r>
              <a:rPr sz="1600" u="sng" dirty="0"/>
              <a:t> con </a:t>
            </a:r>
            <a:r>
              <a:rPr sz="1600" u="sng" dirty="0" err="1"/>
              <a:t>violenza</a:t>
            </a:r>
            <a:r>
              <a:rPr sz="1600" u="sng" dirty="0"/>
              <a:t> </a:t>
            </a:r>
            <a:r>
              <a:rPr sz="1600" u="sng" dirty="0" err="1"/>
              <a:t>sulle</a:t>
            </a:r>
            <a:r>
              <a:rPr sz="1600" u="sng" dirty="0"/>
              <a:t> </a:t>
            </a:r>
            <a:r>
              <a:rPr sz="1600" u="sng" dirty="0" err="1"/>
              <a:t>cose</a:t>
            </a:r>
            <a:r>
              <a:rPr sz="1600" u="sng" dirty="0"/>
              <a:t> o </a:t>
            </a:r>
            <a:r>
              <a:rPr sz="1600" u="sng" dirty="0" err="1"/>
              <a:t>sulle</a:t>
            </a:r>
            <a:r>
              <a:rPr sz="1600" u="sng" dirty="0"/>
              <a:t> </a:t>
            </a:r>
            <a:r>
              <a:rPr sz="1600" u="sng" dirty="0" err="1"/>
              <a:t>persone</a:t>
            </a:r>
            <a:r>
              <a:rPr sz="1600" u="sng" dirty="0"/>
              <a:t>.</a:t>
            </a:r>
          </a:p>
        </p:txBody>
      </p:sp>
      <p:pic>
        <p:nvPicPr>
          <p:cNvPr id="225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asellaDiTesto 1"/>
          <p:cNvSpPr txBox="1"/>
          <p:nvPr/>
        </p:nvSpPr>
        <p:spPr>
          <a:xfrm>
            <a:off x="234487" y="1053820"/>
            <a:ext cx="8684281" cy="462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97050" indent="-1797050"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>
                <a:solidFill>
                  <a:srgbClr val="FF0000"/>
                </a:solidFill>
              </a:rPr>
              <a:t>Art. 361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Omessa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denuncia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reato</a:t>
            </a:r>
            <a:r>
              <a:rPr dirty="0">
                <a:solidFill>
                  <a:srgbClr val="FF0000"/>
                </a:solidFill>
              </a:rPr>
              <a:t> da </a:t>
            </a:r>
            <a:r>
              <a:rPr dirty="0" err="1">
                <a:solidFill>
                  <a:srgbClr val="FF0000"/>
                </a:solidFill>
              </a:rPr>
              <a:t>parte</a:t>
            </a:r>
            <a:r>
              <a:rPr dirty="0">
                <a:solidFill>
                  <a:srgbClr val="FF0000"/>
                </a:solidFill>
              </a:rPr>
              <a:t> del </a:t>
            </a:r>
            <a:r>
              <a:rPr dirty="0" err="1">
                <a:solidFill>
                  <a:srgbClr val="FF0000"/>
                </a:solidFill>
              </a:rPr>
              <a:t>pubblico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ufficiale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«</a:t>
            </a:r>
            <a:r>
              <a:rPr i="1" dirty="0"/>
              <a:t>Il </a:t>
            </a:r>
            <a:r>
              <a:rPr i="1" dirty="0" err="1"/>
              <a:t>pubblico</a:t>
            </a:r>
            <a:r>
              <a:rPr i="1" dirty="0"/>
              <a:t> </a:t>
            </a:r>
            <a:r>
              <a:rPr i="1" dirty="0" err="1"/>
              <a:t>ufficiale</a:t>
            </a:r>
            <a:r>
              <a:rPr i="1" dirty="0"/>
              <a:t>, </a:t>
            </a:r>
            <a:r>
              <a:rPr i="1" dirty="0" err="1"/>
              <a:t>il</a:t>
            </a:r>
            <a:r>
              <a:rPr i="1" dirty="0"/>
              <a:t> quale </a:t>
            </a:r>
            <a:r>
              <a:rPr b="1" i="1" u="sng" dirty="0" err="1">
                <a:solidFill>
                  <a:srgbClr val="FF0000"/>
                </a:solidFill>
              </a:rPr>
              <a:t>omette</a:t>
            </a:r>
            <a:r>
              <a:rPr b="1" i="1" dirty="0">
                <a:solidFill>
                  <a:srgbClr val="002F8E"/>
                </a:solidFill>
              </a:rPr>
              <a:t> o </a:t>
            </a:r>
            <a:r>
              <a:rPr b="1" i="1" u="sng" dirty="0" err="1">
                <a:solidFill>
                  <a:srgbClr val="FF0000"/>
                </a:solidFill>
              </a:rPr>
              <a:t>ritarda</a:t>
            </a:r>
            <a:r>
              <a:rPr b="1" i="1" dirty="0">
                <a:solidFill>
                  <a:srgbClr val="002F8E"/>
                </a:solidFill>
              </a:rPr>
              <a:t> di </a:t>
            </a:r>
            <a:r>
              <a:rPr b="1" i="1" dirty="0" err="1">
                <a:solidFill>
                  <a:srgbClr val="002F8E"/>
                </a:solidFill>
              </a:rPr>
              <a:t>denunciare</a:t>
            </a:r>
            <a:r>
              <a:rPr b="1" i="1" dirty="0">
                <a:solidFill>
                  <a:srgbClr val="002F8E"/>
                </a:solidFill>
              </a:rPr>
              <a:t> </a:t>
            </a:r>
            <a:r>
              <a:rPr i="1" dirty="0" err="1"/>
              <a:t>all'Autorità</a:t>
            </a:r>
            <a:r>
              <a:rPr i="1" dirty="0"/>
              <a:t> </a:t>
            </a:r>
            <a:r>
              <a:rPr i="1" dirty="0" err="1"/>
              <a:t>giudiziaria</a:t>
            </a:r>
            <a:r>
              <a:rPr i="1" dirty="0"/>
              <a:t>, o ad </a:t>
            </a:r>
            <a:r>
              <a:rPr i="1" dirty="0" err="1"/>
              <a:t>un'altra</a:t>
            </a:r>
            <a:r>
              <a:rPr i="1" dirty="0"/>
              <a:t> </a:t>
            </a:r>
            <a:r>
              <a:rPr i="1" dirty="0" err="1"/>
              <a:t>Autorità</a:t>
            </a:r>
            <a:r>
              <a:rPr i="1" dirty="0"/>
              <a:t> </a:t>
            </a:r>
            <a:r>
              <a:rPr i="1" dirty="0" err="1"/>
              <a:t>che</a:t>
            </a:r>
            <a:r>
              <a:rPr i="1" dirty="0"/>
              <a:t> a </a:t>
            </a:r>
            <a:r>
              <a:rPr i="1" dirty="0" err="1"/>
              <a:t>quella</a:t>
            </a:r>
            <a:r>
              <a:rPr i="1" dirty="0"/>
              <a:t> </a:t>
            </a:r>
            <a:r>
              <a:rPr i="1" dirty="0" err="1"/>
              <a:t>abbia</a:t>
            </a:r>
            <a:r>
              <a:rPr i="1" dirty="0"/>
              <a:t> </a:t>
            </a:r>
            <a:r>
              <a:rPr i="1" dirty="0" err="1"/>
              <a:t>obbligo</a:t>
            </a:r>
            <a:r>
              <a:rPr i="1" dirty="0"/>
              <a:t> di </a:t>
            </a:r>
            <a:r>
              <a:rPr i="1" dirty="0" err="1"/>
              <a:t>riferirne</a:t>
            </a:r>
            <a:r>
              <a:rPr i="1" dirty="0"/>
              <a:t>, </a:t>
            </a:r>
            <a:r>
              <a:rPr b="1" i="1" dirty="0">
                <a:solidFill>
                  <a:srgbClr val="002F8E"/>
                </a:solidFill>
              </a:rPr>
              <a:t>un </a:t>
            </a:r>
            <a:r>
              <a:rPr b="1" i="1" dirty="0" err="1">
                <a:solidFill>
                  <a:srgbClr val="002F8E"/>
                </a:solidFill>
              </a:rPr>
              <a:t>reato</a:t>
            </a:r>
            <a:r>
              <a:rPr b="1" i="1" dirty="0">
                <a:solidFill>
                  <a:srgbClr val="002F8E"/>
                </a:solidFill>
              </a:rPr>
              <a:t> di cui ha </a:t>
            </a:r>
            <a:r>
              <a:rPr b="1" i="1" dirty="0" err="1">
                <a:solidFill>
                  <a:srgbClr val="002F8E"/>
                </a:solidFill>
              </a:rPr>
              <a:t>avuto</a:t>
            </a:r>
            <a:r>
              <a:rPr b="1" i="1" dirty="0">
                <a:solidFill>
                  <a:srgbClr val="002F8E"/>
                </a:solidFill>
              </a:rPr>
              <a:t> </a:t>
            </a:r>
            <a:r>
              <a:rPr b="1" i="1" dirty="0" err="1">
                <a:solidFill>
                  <a:srgbClr val="002F8E"/>
                </a:solidFill>
              </a:rPr>
              <a:t>notizia</a:t>
            </a:r>
            <a:r>
              <a:rPr b="1" i="1" dirty="0">
                <a:solidFill>
                  <a:srgbClr val="002F8E"/>
                </a:solidFill>
              </a:rPr>
              <a:t> </a:t>
            </a:r>
            <a:r>
              <a:rPr b="1" i="1" dirty="0" err="1">
                <a:solidFill>
                  <a:srgbClr val="002F8E"/>
                </a:solidFill>
              </a:rPr>
              <a:t>nell'esercizio</a:t>
            </a:r>
            <a:r>
              <a:rPr b="1" i="1" dirty="0">
                <a:solidFill>
                  <a:srgbClr val="002F8E"/>
                </a:solidFill>
              </a:rPr>
              <a:t> o a causa </a:t>
            </a:r>
            <a:r>
              <a:rPr b="1" i="1" dirty="0" err="1">
                <a:solidFill>
                  <a:srgbClr val="002F8E"/>
                </a:solidFill>
              </a:rPr>
              <a:t>delle</a:t>
            </a:r>
            <a:r>
              <a:rPr b="1" i="1" dirty="0">
                <a:solidFill>
                  <a:srgbClr val="002F8E"/>
                </a:solidFill>
              </a:rPr>
              <a:t> sue </a:t>
            </a:r>
            <a:r>
              <a:rPr b="1" i="1" dirty="0" err="1">
                <a:solidFill>
                  <a:srgbClr val="002F8E"/>
                </a:solidFill>
              </a:rPr>
              <a:t>funzioni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multa</a:t>
            </a:r>
            <a:r>
              <a:rPr i="1" dirty="0"/>
              <a:t> da euro 30 a euro 516.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ad un anno, 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colpevole</a:t>
            </a:r>
            <a:r>
              <a:rPr dirty="0"/>
              <a:t> è un </a:t>
            </a:r>
            <a:r>
              <a:rPr b="1" dirty="0" err="1">
                <a:solidFill>
                  <a:srgbClr val="002F8E"/>
                </a:solidFill>
              </a:rPr>
              <a:t>ufficiale</a:t>
            </a:r>
            <a:r>
              <a:rPr b="1" dirty="0">
                <a:solidFill>
                  <a:srgbClr val="002F8E"/>
                </a:solidFill>
              </a:rPr>
              <a:t> o un </a:t>
            </a:r>
            <a:r>
              <a:rPr b="1" dirty="0" err="1">
                <a:solidFill>
                  <a:srgbClr val="002F8E"/>
                </a:solidFill>
              </a:rPr>
              <a:t>agente</a:t>
            </a:r>
            <a:r>
              <a:rPr b="1" dirty="0">
                <a:solidFill>
                  <a:srgbClr val="002F8E"/>
                </a:solidFill>
              </a:rPr>
              <a:t> di </a:t>
            </a:r>
            <a:r>
              <a:rPr b="1" dirty="0" err="1">
                <a:solidFill>
                  <a:srgbClr val="002F8E"/>
                </a:solidFill>
              </a:rPr>
              <a:t>polizia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giudiziaria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ha </a:t>
            </a:r>
            <a:r>
              <a:rPr dirty="0" err="1"/>
              <a:t>avuto</a:t>
            </a:r>
            <a:r>
              <a:rPr dirty="0"/>
              <a:t> </a:t>
            </a:r>
            <a:r>
              <a:rPr dirty="0" err="1"/>
              <a:t>comunque</a:t>
            </a:r>
            <a:r>
              <a:rPr dirty="0"/>
              <a:t> </a:t>
            </a:r>
            <a:r>
              <a:rPr dirty="0" err="1"/>
              <a:t>notizia</a:t>
            </a:r>
            <a:r>
              <a:rPr dirty="0"/>
              <a:t> di un </a:t>
            </a:r>
            <a:r>
              <a:rPr dirty="0" err="1"/>
              <a:t>reato</a:t>
            </a:r>
            <a:r>
              <a:rPr dirty="0"/>
              <a:t> del quale </a:t>
            </a:r>
            <a:r>
              <a:rPr dirty="0" err="1"/>
              <a:t>doveva</a:t>
            </a:r>
            <a:r>
              <a:rPr dirty="0"/>
              <a:t> fare </a:t>
            </a:r>
            <a:r>
              <a:rPr dirty="0" err="1"/>
              <a:t>rapporto</a:t>
            </a:r>
            <a:r>
              <a:rPr dirty="0"/>
              <a:t>.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Le </a:t>
            </a:r>
            <a:r>
              <a:rPr dirty="0" err="1"/>
              <a:t>disposizioni</a:t>
            </a:r>
            <a:r>
              <a:rPr dirty="0"/>
              <a:t> </a:t>
            </a:r>
            <a:r>
              <a:rPr dirty="0" err="1"/>
              <a:t>precedenti</a:t>
            </a:r>
            <a:r>
              <a:rPr dirty="0"/>
              <a:t> non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applicano</a:t>
            </a:r>
            <a:r>
              <a:rPr dirty="0"/>
              <a:t> se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tratta</a:t>
            </a:r>
            <a:r>
              <a:rPr dirty="0"/>
              <a:t> di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punibile</a:t>
            </a:r>
            <a:r>
              <a:rPr dirty="0"/>
              <a:t> a querela </a:t>
            </a:r>
            <a:r>
              <a:rPr dirty="0" err="1"/>
              <a:t>della</a:t>
            </a:r>
            <a:r>
              <a:rPr dirty="0"/>
              <a:t> persona </a:t>
            </a:r>
            <a:r>
              <a:rPr dirty="0" err="1"/>
              <a:t>offesa</a:t>
            </a:r>
            <a:r>
              <a:rPr i="0" dirty="0"/>
              <a:t>».</a:t>
            </a:r>
          </a:p>
        </p:txBody>
      </p:sp>
      <p:pic>
        <p:nvPicPr>
          <p:cNvPr id="229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Rettangolo 5"/>
          <p:cNvSpPr txBox="1"/>
          <p:nvPr/>
        </p:nvSpPr>
        <p:spPr>
          <a:xfrm>
            <a:off x="5272806" y="5318507"/>
            <a:ext cx="3545473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Note</a:t>
            </a:r>
            <a:r>
              <a:rPr sz="1800" b="0" u="none" dirty="0"/>
              <a:t>:</a:t>
            </a:r>
            <a:endParaRPr sz="1800" b="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Competenza</a:t>
            </a:r>
            <a:r>
              <a:rPr sz="1600" dirty="0"/>
              <a:t> </a:t>
            </a:r>
            <a:r>
              <a:rPr sz="1600" dirty="0" err="1"/>
              <a:t>Tribunale</a:t>
            </a:r>
            <a:r>
              <a:rPr sz="1600" dirty="0"/>
              <a:t> </a:t>
            </a:r>
            <a:r>
              <a:rPr sz="1600" dirty="0" err="1"/>
              <a:t>monocratico</a:t>
            </a:r>
            <a:endParaRPr sz="160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Arresto</a:t>
            </a:r>
            <a:r>
              <a:rPr sz="1600" dirty="0"/>
              <a:t> non </a:t>
            </a:r>
            <a:r>
              <a:rPr sz="1600" dirty="0" err="1"/>
              <a:t>consentito</a:t>
            </a:r>
            <a:endParaRPr sz="160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Fermo</a:t>
            </a:r>
            <a:r>
              <a:rPr sz="1600" dirty="0"/>
              <a:t> non </a:t>
            </a:r>
            <a:r>
              <a:rPr sz="1600" dirty="0" err="1"/>
              <a:t>consentito</a:t>
            </a:r>
            <a:endParaRPr sz="160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 err="1"/>
              <a:t>Procedibilità</a:t>
            </a:r>
            <a:r>
              <a:rPr sz="1600" dirty="0"/>
              <a:t> </a:t>
            </a:r>
            <a:r>
              <a:rPr sz="1600" dirty="0" err="1"/>
              <a:t>d’ufficio</a:t>
            </a:r>
            <a:endParaRPr sz="1600" dirty="0"/>
          </a:p>
        </p:txBody>
      </p:sp>
      <p:sp>
        <p:nvSpPr>
          <p:cNvPr id="23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ttangolo 4"/>
          <p:cNvSpPr txBox="1"/>
          <p:nvPr/>
        </p:nvSpPr>
        <p:spPr>
          <a:xfrm>
            <a:off x="182570" y="1049730"/>
            <a:ext cx="8736198" cy="554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tratta di un </a:t>
            </a:r>
            <a:r>
              <a:rPr b="1" u="sng">
                <a:solidFill>
                  <a:srgbClr val="FF0000"/>
                </a:solidFill>
              </a:rPr>
              <a:t>REATO PROPRIO</a:t>
            </a:r>
            <a:r>
              <a:t>: il soggetto attivo è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nel c. 1 il </a:t>
            </a:r>
            <a:r>
              <a:rPr b="1" u="sng">
                <a:solidFill>
                  <a:srgbClr val="002F8E"/>
                </a:solidFill>
              </a:rPr>
              <a:t>Pubblico Ufficiale,</a:t>
            </a:r>
            <a:r>
              <a:t> in capo allo stesso sussiste obbligo di denuncia solo nel caso in cui il Pubblico Ufficiale abbia avuto notizia di un reato procedibile d’ufficio nell’esercizio o a causa delle sue funzioni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nel c.2 </a:t>
            </a:r>
            <a:r>
              <a:rPr b="1">
                <a:solidFill>
                  <a:srgbClr val="002F8E"/>
                </a:solidFill>
              </a:rPr>
              <a:t>il Pubblico Ufficiale, che sia pure Ufficiale o Agente di PG </a:t>
            </a:r>
            <a:r>
              <a:t>ed in capo allo stesso sussiste obbligo di denuncia </a:t>
            </a:r>
            <a:r>
              <a:rPr b="1"/>
              <a:t>comunque</a:t>
            </a:r>
            <a:r>
              <a:t> abbia avuto notizia del reato, sia nel mentre che fuori dal servizio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BENE GIURIDICO TUTELATO</a:t>
            </a:r>
            <a:r>
              <a:rPr b="0" u="none">
                <a:solidFill>
                  <a:srgbClr val="000000"/>
                </a:solidFill>
              </a:rPr>
              <a:t>: è </a:t>
            </a:r>
            <a:r>
              <a:rPr u="none">
                <a:solidFill>
                  <a:srgbClr val="002F8E"/>
                </a:solidFill>
              </a:rPr>
              <a:t>l’acquisizione della notizia di reato da parte dell’A.G.</a:t>
            </a:r>
            <a:r>
              <a:rPr b="0" u="none">
                <a:solidFill>
                  <a:srgbClr val="000000"/>
                </a:solidFill>
              </a:rPr>
              <a:t>, in modo che essa possa correttamente ed efficaciemente esercitare l’azione penale.            Tale interesse viene meno, e di conseguenza la rilevanza penale, qualora l’AG fosse già a conoscenza della notizia di reato o qualora la notizia stessa appaia manifestamente infondata, o se il delitto è punibile a querela della persona offesa.</a:t>
            </a:r>
          </a:p>
        </p:txBody>
      </p:sp>
      <p:pic>
        <p:nvPicPr>
          <p:cNvPr id="23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  <p:sp>
        <p:nvSpPr>
          <p:cNvPr id="236" name="Freccia a destra 1"/>
          <p:cNvSpPr/>
          <p:nvPr/>
        </p:nvSpPr>
        <p:spPr>
          <a:xfrm>
            <a:off x="3347863" y="5301207"/>
            <a:ext cx="1512169" cy="2160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ttangolo 4"/>
          <p:cNvSpPr txBox="1"/>
          <p:nvPr/>
        </p:nvSpPr>
        <p:spPr>
          <a:xfrm>
            <a:off x="182570" y="1025864"/>
            <a:ext cx="8736198" cy="4846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la </a:t>
            </a:r>
            <a:r>
              <a:rPr b="0" u="none" dirty="0" err="1"/>
              <a:t>condotta</a:t>
            </a:r>
            <a:r>
              <a:rPr b="0" u="none" dirty="0"/>
              <a:t> è di </a:t>
            </a:r>
            <a:r>
              <a:rPr b="0" u="none" dirty="0" err="1"/>
              <a:t>tipo</a:t>
            </a:r>
            <a:r>
              <a:rPr b="0" u="none" dirty="0"/>
              <a:t> </a:t>
            </a:r>
            <a:r>
              <a:rPr dirty="0" err="1">
                <a:solidFill>
                  <a:srgbClr val="FF0000"/>
                </a:solidFill>
              </a:rPr>
              <a:t>omissivo</a:t>
            </a:r>
            <a:r>
              <a:rPr b="0" dirty="0">
                <a:solidFill>
                  <a:srgbClr val="FF0000"/>
                </a:solidFill>
              </a:rPr>
              <a:t> </a:t>
            </a:r>
            <a:r>
              <a:rPr b="0" u="none" dirty="0"/>
              <a:t>–</a:t>
            </a:r>
            <a:r>
              <a:rPr lang="it-IT" b="0" u="none" dirty="0"/>
              <a:t>(</a:t>
            </a:r>
            <a:r>
              <a:rPr lang="it-IT" u="none" dirty="0">
                <a:solidFill>
                  <a:srgbClr val="7030A0"/>
                </a:solidFill>
              </a:rPr>
              <a:t>reato omissivo proprio</a:t>
            </a:r>
            <a:r>
              <a:rPr lang="it-IT" b="0" u="none" dirty="0"/>
              <a:t>)</a:t>
            </a:r>
            <a:r>
              <a:rPr b="0" u="none" dirty="0"/>
              <a:t> </a:t>
            </a:r>
            <a:r>
              <a:rPr lang="it-IT" b="0" u="none" dirty="0"/>
              <a:t> </a:t>
            </a: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consiste</a:t>
            </a:r>
            <a:r>
              <a:rPr dirty="0"/>
              <a:t> </a:t>
            </a:r>
            <a:r>
              <a:rPr dirty="0" err="1"/>
              <a:t>nell’</a:t>
            </a:r>
            <a:r>
              <a:rPr b="1" u="sng" dirty="0" err="1"/>
              <a:t>omettere</a:t>
            </a:r>
            <a:r>
              <a:rPr dirty="0"/>
              <a:t> o </a:t>
            </a:r>
            <a:r>
              <a:rPr b="1" u="sng" dirty="0" err="1"/>
              <a:t>ritardare</a:t>
            </a:r>
            <a:r>
              <a:rPr dirty="0"/>
              <a:t> la </a:t>
            </a:r>
            <a:r>
              <a:rPr dirty="0" err="1"/>
              <a:t>denuncia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all’AG</a:t>
            </a:r>
            <a:r>
              <a:rPr dirty="0"/>
              <a:t> o </a:t>
            </a:r>
            <a:r>
              <a:rPr dirty="0" err="1"/>
              <a:t>altra</a:t>
            </a:r>
            <a:r>
              <a:rPr dirty="0"/>
              <a:t> </a:t>
            </a:r>
            <a:r>
              <a:rPr dirty="0" err="1"/>
              <a:t>autorità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quale </a:t>
            </a:r>
            <a:r>
              <a:rPr dirty="0" err="1"/>
              <a:t>si</a:t>
            </a:r>
            <a:r>
              <a:rPr dirty="0"/>
              <a:t> ha </a:t>
            </a:r>
            <a:r>
              <a:rPr dirty="0" err="1"/>
              <a:t>l’obbligo</a:t>
            </a:r>
            <a:r>
              <a:rPr dirty="0"/>
              <a:t> di </a:t>
            </a:r>
            <a:r>
              <a:rPr dirty="0" err="1"/>
              <a:t>riferire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Omissione</a:t>
            </a:r>
            <a:r>
              <a:rPr b="0" u="none" dirty="0">
                <a:solidFill>
                  <a:srgbClr val="000000"/>
                </a:solidFill>
              </a:rPr>
              <a:t>           vi è </a:t>
            </a:r>
            <a:r>
              <a:rPr b="0" u="none" dirty="0" err="1">
                <a:solidFill>
                  <a:srgbClr val="000000"/>
                </a:solidFill>
              </a:rPr>
              <a:t>l’assoluta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mancanza</a:t>
            </a:r>
            <a:r>
              <a:rPr b="0" u="none" dirty="0">
                <a:solidFill>
                  <a:srgbClr val="000000"/>
                </a:solidFill>
              </a:rPr>
              <a:t> di </a:t>
            </a:r>
            <a:r>
              <a:rPr b="0" u="none" dirty="0" err="1">
                <a:solidFill>
                  <a:srgbClr val="000000"/>
                </a:solidFill>
              </a:rPr>
              <a:t>denuncia</a:t>
            </a:r>
            <a:r>
              <a:rPr b="0" u="none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Ritardo</a:t>
            </a:r>
            <a:r>
              <a:rPr b="0" u="none" dirty="0">
                <a:solidFill>
                  <a:srgbClr val="000000"/>
                </a:solidFill>
              </a:rPr>
              <a:t>          vi è una </a:t>
            </a:r>
            <a:r>
              <a:rPr b="0" u="none" dirty="0" err="1">
                <a:solidFill>
                  <a:srgbClr val="000000"/>
                </a:solidFill>
              </a:rPr>
              <a:t>dilazione</a:t>
            </a:r>
            <a:r>
              <a:rPr b="0" u="none" dirty="0">
                <a:solidFill>
                  <a:srgbClr val="000000"/>
                </a:solidFill>
              </a:rPr>
              <a:t> tale da </a:t>
            </a:r>
            <a:r>
              <a:rPr b="0" u="none" dirty="0" err="1">
                <a:solidFill>
                  <a:srgbClr val="000000"/>
                </a:solidFill>
              </a:rPr>
              <a:t>incidere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negativamente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sulla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pronta</a:t>
            </a:r>
            <a:r>
              <a:rPr b="0" u="none" dirty="0">
                <a:solidFill>
                  <a:srgbClr val="000000"/>
                </a:solidFill>
              </a:rPr>
              <a:t> </a:t>
            </a:r>
            <a:r>
              <a:rPr b="0" u="none" dirty="0" err="1">
                <a:solidFill>
                  <a:srgbClr val="000000"/>
                </a:solidFill>
              </a:rPr>
              <a:t>persecuzione</a:t>
            </a:r>
            <a:r>
              <a:rPr b="0" u="none" dirty="0">
                <a:solidFill>
                  <a:srgbClr val="000000"/>
                </a:solidFill>
              </a:rPr>
              <a:t> del </a:t>
            </a:r>
            <a:r>
              <a:rPr b="0" u="none" dirty="0" err="1">
                <a:solidFill>
                  <a:srgbClr val="000000"/>
                </a:solidFill>
              </a:rPr>
              <a:t>reato</a:t>
            </a:r>
            <a:r>
              <a:rPr b="0" u="none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23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  <p:sp>
        <p:nvSpPr>
          <p:cNvPr id="241" name="Freccia in giù 1"/>
          <p:cNvSpPr/>
          <p:nvPr/>
        </p:nvSpPr>
        <p:spPr>
          <a:xfrm>
            <a:off x="3779911" y="1700808"/>
            <a:ext cx="576065" cy="792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745"/>
                </a:moveTo>
                <a:lnTo>
                  <a:pt x="5400" y="13745"/>
                </a:lnTo>
                <a:lnTo>
                  <a:pt x="5400" y="0"/>
                </a:lnTo>
                <a:lnTo>
                  <a:pt x="16200" y="0"/>
                </a:lnTo>
                <a:lnTo>
                  <a:pt x="16200" y="13745"/>
                </a:lnTo>
                <a:lnTo>
                  <a:pt x="21600" y="13745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42" name="Freccia a destra 2"/>
          <p:cNvSpPr/>
          <p:nvPr/>
        </p:nvSpPr>
        <p:spPr>
          <a:xfrm>
            <a:off x="1583666" y="4734712"/>
            <a:ext cx="576065" cy="2160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43" name="Freccia a destra 3"/>
          <p:cNvSpPr/>
          <p:nvPr/>
        </p:nvSpPr>
        <p:spPr>
          <a:xfrm>
            <a:off x="1223626" y="5077272"/>
            <a:ext cx="648073" cy="26245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ttangolo 4"/>
          <p:cNvSpPr txBox="1"/>
          <p:nvPr/>
        </p:nvSpPr>
        <p:spPr>
          <a:xfrm>
            <a:off x="182570" y="1015238"/>
            <a:ext cx="8736198" cy="507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termine</a:t>
            </a:r>
            <a:r>
              <a:rPr dirty="0"/>
              <a:t> «</a:t>
            </a:r>
            <a:r>
              <a:rPr b="1" dirty="0" err="1">
                <a:solidFill>
                  <a:srgbClr val="002F8E"/>
                </a:solidFill>
              </a:rPr>
              <a:t>ritardare</a:t>
            </a:r>
            <a:r>
              <a:rPr dirty="0"/>
              <a:t>» pone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problemi</a:t>
            </a:r>
            <a:r>
              <a:rPr dirty="0"/>
              <a:t> con </a:t>
            </a:r>
            <a:r>
              <a:rPr dirty="0" err="1"/>
              <a:t>il</a:t>
            </a:r>
            <a:r>
              <a:rPr dirty="0"/>
              <a:t> principio di </a:t>
            </a:r>
            <a:r>
              <a:rPr dirty="0" err="1"/>
              <a:t>tassatività</a:t>
            </a:r>
            <a:r>
              <a:rPr dirty="0"/>
              <a:t>: </a:t>
            </a:r>
            <a:r>
              <a:rPr dirty="0" err="1"/>
              <a:t>tempistiche</a:t>
            </a:r>
            <a:r>
              <a:rPr dirty="0"/>
              <a:t> </a:t>
            </a:r>
            <a:r>
              <a:rPr dirty="0" err="1"/>
              <a:t>derivano</a:t>
            </a:r>
            <a:r>
              <a:rPr dirty="0"/>
              <a:t> </a:t>
            </a:r>
            <a:r>
              <a:rPr dirty="0" err="1"/>
              <a:t>dagli</a:t>
            </a:r>
            <a:r>
              <a:rPr dirty="0"/>
              <a:t> </a:t>
            </a:r>
            <a:r>
              <a:rPr dirty="0" err="1"/>
              <a:t>artt</a:t>
            </a:r>
            <a:r>
              <a:rPr dirty="0"/>
              <a:t>. 331 e 347 </a:t>
            </a:r>
            <a:r>
              <a:rPr dirty="0" err="1"/>
              <a:t>c.p.p.</a:t>
            </a:r>
            <a:r>
              <a:rPr dirty="0"/>
              <a:t>:</a:t>
            </a:r>
          </a:p>
          <a:p>
            <a:pPr marL="182562" indent="-182562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SENZA RITARDO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u="sng" dirty="0" err="1">
                <a:solidFill>
                  <a:srgbClr val="000000"/>
                </a:solidFill>
              </a:rPr>
              <a:t>cioè</a:t>
            </a:r>
            <a:r>
              <a:rPr b="0" u="sng" dirty="0">
                <a:solidFill>
                  <a:srgbClr val="000000"/>
                </a:solidFill>
              </a:rPr>
              <a:t> non </a:t>
            </a:r>
            <a:r>
              <a:rPr b="0" u="sng" dirty="0" err="1">
                <a:solidFill>
                  <a:srgbClr val="000000"/>
                </a:solidFill>
              </a:rPr>
              <a:t>appena</a:t>
            </a:r>
            <a:r>
              <a:rPr b="0" u="sng" dirty="0">
                <a:solidFill>
                  <a:srgbClr val="000000"/>
                </a:solidFill>
              </a:rPr>
              <a:t> </a:t>
            </a:r>
            <a:r>
              <a:rPr b="0" u="sng" dirty="0" err="1">
                <a:solidFill>
                  <a:srgbClr val="000000"/>
                </a:solidFill>
              </a:rPr>
              <a:t>possibile</a:t>
            </a:r>
            <a:r>
              <a:rPr b="0" dirty="0">
                <a:solidFill>
                  <a:srgbClr val="000000"/>
                </a:solidFill>
              </a:rPr>
              <a:t>, prima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possa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derivarne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pregiudizio</a:t>
            </a:r>
            <a:r>
              <a:rPr b="0" dirty="0">
                <a:solidFill>
                  <a:srgbClr val="000000"/>
                </a:solidFill>
              </a:rPr>
              <a:t> per le </a:t>
            </a:r>
            <a:r>
              <a:rPr b="0" dirty="0" err="1">
                <a:solidFill>
                  <a:srgbClr val="000000"/>
                </a:solidFill>
              </a:rPr>
              <a:t>indagini</a:t>
            </a:r>
            <a:r>
              <a:rPr b="0" dirty="0">
                <a:solidFill>
                  <a:srgbClr val="000000"/>
                </a:solidFill>
              </a:rPr>
              <a:t> – senza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trascorra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ingiustificatamente</a:t>
            </a:r>
            <a:r>
              <a:rPr b="0" dirty="0">
                <a:solidFill>
                  <a:srgbClr val="000000"/>
                </a:solidFill>
              </a:rPr>
              <a:t> del tempo.</a:t>
            </a:r>
          </a:p>
          <a:p>
            <a:pPr marL="182562" indent="-182562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IMMEDIATAMENTE</a:t>
            </a:r>
            <a:r>
              <a:rPr b="0" dirty="0">
                <a:solidFill>
                  <a:srgbClr val="000000"/>
                </a:solidFill>
              </a:rPr>
              <a:t>: in </a:t>
            </a:r>
            <a:r>
              <a:rPr b="0" dirty="0" err="1">
                <a:solidFill>
                  <a:srgbClr val="000000"/>
                </a:solidFill>
              </a:rPr>
              <a:t>caso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urgenza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reati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particolare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gravità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i="1" dirty="0">
                <a:solidFill>
                  <a:srgbClr val="000000"/>
                </a:solidFill>
              </a:rPr>
              <a:t>ex</a:t>
            </a:r>
            <a:r>
              <a:rPr b="0" dirty="0">
                <a:solidFill>
                  <a:srgbClr val="000000"/>
                </a:solidFill>
              </a:rPr>
              <a:t> art. 347 </a:t>
            </a:r>
            <a:r>
              <a:rPr b="0" dirty="0" err="1">
                <a:solidFill>
                  <a:srgbClr val="000000"/>
                </a:solidFill>
              </a:rPr>
              <a:t>c.p.p.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esecuzione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misure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precautelari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marL="182562" indent="-182562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ENTRO 48 H</a:t>
            </a:r>
            <a:r>
              <a:rPr b="0" dirty="0">
                <a:solidFill>
                  <a:srgbClr val="000000"/>
                </a:solidFill>
              </a:rPr>
              <a:t>: in </a:t>
            </a:r>
            <a:r>
              <a:rPr b="0" dirty="0" err="1">
                <a:solidFill>
                  <a:srgbClr val="000000"/>
                </a:solidFill>
              </a:rPr>
              <a:t>caso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compimento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atti</a:t>
            </a:r>
            <a:r>
              <a:rPr b="0" dirty="0">
                <a:solidFill>
                  <a:srgbClr val="000000"/>
                </a:solidFill>
              </a:rPr>
              <a:t> per </a:t>
            </a:r>
            <a:r>
              <a:rPr b="0" dirty="0" err="1">
                <a:solidFill>
                  <a:srgbClr val="000000"/>
                </a:solidFill>
              </a:rPr>
              <a:t>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quali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prevista</a:t>
            </a:r>
            <a:r>
              <a:rPr b="0" dirty="0">
                <a:solidFill>
                  <a:srgbClr val="000000"/>
                </a:solidFill>
              </a:rPr>
              <a:t>/</a:t>
            </a:r>
            <a:r>
              <a:rPr b="0" dirty="0" err="1">
                <a:solidFill>
                  <a:srgbClr val="000000"/>
                </a:solidFill>
              </a:rPr>
              <a:t>facoltizzata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l’assistenza</a:t>
            </a:r>
            <a:r>
              <a:rPr b="0" dirty="0">
                <a:solidFill>
                  <a:srgbClr val="000000"/>
                </a:solidFill>
              </a:rPr>
              <a:t> del </a:t>
            </a:r>
            <a:r>
              <a:rPr b="0" dirty="0" err="1">
                <a:solidFill>
                  <a:srgbClr val="000000"/>
                </a:solidFill>
              </a:rPr>
              <a:t>difensore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marL="182562" indent="-182562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ELENCO MENSILE </a:t>
            </a:r>
            <a:r>
              <a:rPr b="0" dirty="0">
                <a:solidFill>
                  <a:srgbClr val="000000"/>
                </a:solidFill>
              </a:rPr>
              <a:t>(</a:t>
            </a:r>
            <a:r>
              <a:rPr b="0" dirty="0" err="1">
                <a:solidFill>
                  <a:srgbClr val="000000"/>
                </a:solidFill>
              </a:rPr>
              <a:t>delle</a:t>
            </a:r>
            <a:r>
              <a:rPr b="0" dirty="0">
                <a:solidFill>
                  <a:srgbClr val="000000"/>
                </a:solidFill>
              </a:rPr>
              <a:t> CNR </a:t>
            </a:r>
            <a:r>
              <a:rPr b="0" dirty="0" err="1">
                <a:solidFill>
                  <a:srgbClr val="000000"/>
                </a:solidFill>
              </a:rPr>
              <a:t>all’A.G</a:t>
            </a:r>
            <a:r>
              <a:rPr b="0" dirty="0">
                <a:solidFill>
                  <a:srgbClr val="000000"/>
                </a:solidFill>
              </a:rPr>
              <a:t>.): a </a:t>
            </a:r>
            <a:r>
              <a:rPr b="0" dirty="0" err="1">
                <a:solidFill>
                  <a:srgbClr val="000000"/>
                </a:solidFill>
              </a:rPr>
              <a:t>carico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ignoti</a:t>
            </a:r>
            <a:r>
              <a:rPr b="0" dirty="0">
                <a:solidFill>
                  <a:srgbClr val="000000"/>
                </a:solidFill>
              </a:rPr>
              <a:t> </a:t>
            </a:r>
          </a:p>
          <a:p>
            <a:pPr marL="182562" indent="-182562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ELENCO QUADRIMESTRALE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reati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b="0" dirty="0" err="1">
                <a:solidFill>
                  <a:srgbClr val="000000"/>
                </a:solidFill>
              </a:rPr>
              <a:t>competenza</a:t>
            </a:r>
            <a:r>
              <a:rPr b="0" dirty="0">
                <a:solidFill>
                  <a:srgbClr val="000000"/>
                </a:solidFill>
              </a:rPr>
              <a:t> del Giudice di Pace</a:t>
            </a:r>
          </a:p>
        </p:txBody>
      </p:sp>
      <p:pic>
        <p:nvPicPr>
          <p:cNvPr id="246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tangolo 4"/>
          <p:cNvSpPr txBox="1"/>
          <p:nvPr/>
        </p:nvSpPr>
        <p:spPr>
          <a:xfrm>
            <a:off x="182570" y="1038867"/>
            <a:ext cx="8736198" cy="476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è il </a:t>
            </a:r>
            <a:r>
              <a:rPr>
                <a:solidFill>
                  <a:srgbClr val="FF0000"/>
                </a:solidFill>
              </a:rPr>
              <a:t>DOLO GENERICO</a:t>
            </a:r>
            <a:r>
              <a:rPr b="0" u="none">
                <a:solidFill>
                  <a:srgbClr val="0070C0"/>
                </a:solidFill>
              </a:rPr>
              <a:t> </a:t>
            </a:r>
            <a:r>
              <a:rPr b="0" u="none"/>
              <a:t>e consiste nella </a:t>
            </a:r>
            <a:r>
              <a:rPr b="0"/>
              <a:t>coscienza</a:t>
            </a:r>
            <a:r>
              <a:rPr b="0" u="none"/>
              <a:t> e la </a:t>
            </a:r>
            <a:r>
              <a:rPr b="0"/>
              <a:t>volontà</a:t>
            </a:r>
            <a:r>
              <a:rPr b="0" u="none"/>
              <a:t> di omettere o ritardare la comunicazione della notizia di reato, allorché si siano verificati tutti i presupposti da cui deriva l’obbligo di informazione all’AG.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 rileva che il pubblico ufficiale ritenga che l’informativa della notizia di reato di cui sia venuto a conoscenza competa ad altro pubblico ufficiale o supponga che l’informativa sia già stata da questi fornita.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</a:t>
            </a:r>
            <a:r>
              <a:rPr u="none"/>
              <a:t> risponde del reato di omessa denuncia </a:t>
            </a:r>
            <a:r>
              <a:rPr b="0" u="none"/>
              <a:t>quel pubblico ufficiale che abbia procrastinato la comunicazione all’AG per il </a:t>
            </a:r>
            <a:r>
              <a:rPr u="none"/>
              <a:t>tempo necessario </a:t>
            </a:r>
            <a:r>
              <a:rPr b="0" u="none"/>
              <a:t>ad effettuare degli accertamenti volti a verificare la </a:t>
            </a:r>
            <a:r>
              <a:rPr u="none">
                <a:solidFill>
                  <a:srgbClr val="002F8E"/>
                </a:solidFill>
              </a:rPr>
              <a:t>fondatezza della </a:t>
            </a:r>
            <a:r>
              <a:rPr i="1" u="none">
                <a:solidFill>
                  <a:srgbClr val="002F8E"/>
                </a:solidFill>
              </a:rPr>
              <a:t>notitia criminis</a:t>
            </a:r>
            <a:r>
              <a:rPr u="none">
                <a:solidFill>
                  <a:srgbClr val="002F8E"/>
                </a:solidFill>
              </a:rPr>
              <a:t>.</a:t>
            </a:r>
          </a:p>
        </p:txBody>
      </p:sp>
      <p:pic>
        <p:nvPicPr>
          <p:cNvPr id="25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4"/>
          <p:cNvSpPr txBox="1"/>
          <p:nvPr/>
        </p:nvSpPr>
        <p:spPr>
          <a:xfrm>
            <a:off x="182570" y="1059077"/>
            <a:ext cx="8736198" cy="427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delitto</a:t>
            </a:r>
            <a:r>
              <a:rPr dirty="0"/>
              <a:t> è </a:t>
            </a:r>
            <a:r>
              <a:rPr b="1" dirty="0" err="1">
                <a:solidFill>
                  <a:srgbClr val="002F8E"/>
                </a:solidFill>
              </a:rPr>
              <a:t>istantaneo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tempo e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luogo</a:t>
            </a:r>
            <a:r>
              <a:rPr dirty="0"/>
              <a:t> in cui </a:t>
            </a:r>
            <a:r>
              <a:rPr dirty="0" err="1"/>
              <a:t>doveva</a:t>
            </a:r>
            <a:r>
              <a:rPr dirty="0"/>
              <a:t> </a:t>
            </a:r>
            <a:r>
              <a:rPr dirty="0" err="1"/>
              <a:t>farsi</a:t>
            </a:r>
            <a:r>
              <a:rPr dirty="0"/>
              <a:t> la </a:t>
            </a:r>
            <a:r>
              <a:rPr dirty="0" err="1"/>
              <a:t>denuncia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riguarda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002F8E"/>
                </a:solidFill>
              </a:rPr>
              <a:t>tentativo</a:t>
            </a:r>
            <a:r>
              <a:rPr dirty="0"/>
              <a:t>, </a:t>
            </a:r>
            <a:r>
              <a:rPr dirty="0" err="1"/>
              <a:t>questo</a:t>
            </a:r>
            <a:r>
              <a:rPr dirty="0"/>
              <a:t> è </a:t>
            </a:r>
            <a:r>
              <a:rPr dirty="0" err="1"/>
              <a:t>ritenuto</a:t>
            </a:r>
            <a:r>
              <a:rPr dirty="0"/>
              <a:t> </a:t>
            </a:r>
            <a:r>
              <a:rPr b="1" dirty="0" err="1">
                <a:solidFill>
                  <a:srgbClr val="002F8E"/>
                </a:solidFill>
              </a:rPr>
              <a:t>inammissibile</a:t>
            </a:r>
            <a:r>
              <a:rPr dirty="0"/>
              <a:t>, </a:t>
            </a:r>
            <a:r>
              <a:rPr dirty="0" err="1"/>
              <a:t>trattandosi</a:t>
            </a:r>
            <a:r>
              <a:rPr dirty="0"/>
              <a:t> di un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omissivo</a:t>
            </a:r>
            <a:r>
              <a:rPr dirty="0"/>
              <a:t> ed </a:t>
            </a:r>
            <a:r>
              <a:rPr dirty="0" err="1"/>
              <a:t>istantaneo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con </a:t>
            </a:r>
            <a:r>
              <a:rPr dirty="0" err="1"/>
              <a:t>il</a:t>
            </a:r>
            <a:r>
              <a:rPr dirty="0"/>
              <a:t> semplice </a:t>
            </a:r>
            <a:r>
              <a:rPr dirty="0" err="1"/>
              <a:t>ritardo</a:t>
            </a:r>
            <a:r>
              <a:rPr dirty="0"/>
              <a:t>: 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termine</a:t>
            </a:r>
            <a:r>
              <a:rPr dirty="0"/>
              <a:t> per </a:t>
            </a:r>
            <a:r>
              <a:rPr dirty="0" err="1"/>
              <a:t>agire</a:t>
            </a:r>
            <a:r>
              <a:rPr dirty="0"/>
              <a:t> non è </a:t>
            </a:r>
            <a:r>
              <a:rPr dirty="0" err="1"/>
              <a:t>ancora</a:t>
            </a:r>
            <a:r>
              <a:rPr dirty="0"/>
              <a:t> </a:t>
            </a:r>
            <a:r>
              <a:rPr dirty="0" err="1"/>
              <a:t>scaduto</a:t>
            </a:r>
            <a:r>
              <a:rPr dirty="0"/>
              <a:t> non </a:t>
            </a:r>
            <a:r>
              <a:rPr dirty="0" err="1"/>
              <a:t>si</a:t>
            </a:r>
            <a:r>
              <a:rPr dirty="0"/>
              <a:t> ha </a:t>
            </a:r>
            <a:r>
              <a:rPr dirty="0" err="1"/>
              <a:t>violazione</a:t>
            </a:r>
            <a:r>
              <a:rPr dirty="0"/>
              <a:t>, </a:t>
            </a:r>
            <a:r>
              <a:rPr dirty="0" err="1"/>
              <a:t>mentre</a:t>
            </a:r>
            <a:r>
              <a:rPr dirty="0"/>
              <a:t> se è </a:t>
            </a:r>
            <a:r>
              <a:rPr dirty="0" err="1"/>
              <a:t>scaduto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ritiene</a:t>
            </a:r>
            <a:r>
              <a:rPr dirty="0"/>
              <a:t> </a:t>
            </a:r>
            <a:r>
              <a:rPr dirty="0" err="1"/>
              <a:t>consumato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DANNO, DI MERA CONDOTTA, A FORMA LIBERA</a:t>
            </a:r>
          </a:p>
        </p:txBody>
      </p:sp>
      <p:pic>
        <p:nvPicPr>
          <p:cNvPr id="25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ttangolo 4"/>
          <p:cNvSpPr txBox="1"/>
          <p:nvPr/>
        </p:nvSpPr>
        <p:spPr>
          <a:xfrm>
            <a:off x="182570" y="836711"/>
            <a:ext cx="8736198" cy="6081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dirty="0" err="1"/>
              <a:t>applicano</a:t>
            </a:r>
            <a:r>
              <a:rPr dirty="0"/>
              <a:t>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b="1" dirty="0" err="1">
                <a:solidFill>
                  <a:srgbClr val="002F8E"/>
                </a:solidFill>
              </a:rPr>
              <a:t>circostanza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aggravante</a:t>
            </a:r>
            <a:r>
              <a:rPr b="1" dirty="0">
                <a:solidFill>
                  <a:srgbClr val="002F8E"/>
                </a:solidFill>
              </a:rPr>
              <a:t> di cui </a:t>
            </a:r>
            <a:r>
              <a:rPr b="1" dirty="0" err="1">
                <a:solidFill>
                  <a:srgbClr val="002F8E"/>
                </a:solidFill>
              </a:rPr>
              <a:t>all’art</a:t>
            </a:r>
            <a:r>
              <a:rPr b="1" dirty="0">
                <a:solidFill>
                  <a:srgbClr val="002F8E"/>
                </a:solidFill>
              </a:rPr>
              <a:t>. 363 </a:t>
            </a:r>
            <a:r>
              <a:rPr b="1" dirty="0" err="1">
                <a:solidFill>
                  <a:srgbClr val="002F8E"/>
                </a:solidFill>
              </a:rPr>
              <a:t>c.p.</a:t>
            </a:r>
            <a:r>
              <a:rPr dirty="0"/>
              <a:t> - </a:t>
            </a:r>
            <a:r>
              <a:rPr dirty="0" err="1">
                <a:solidFill>
                  <a:srgbClr val="FF0000"/>
                </a:solidFill>
              </a:rPr>
              <a:t>Omessa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denuncia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aggravata</a:t>
            </a:r>
            <a:r>
              <a:rPr dirty="0">
                <a:solidFill>
                  <a:srgbClr val="FF0000"/>
                </a:solidFill>
              </a:rPr>
              <a:t>:</a:t>
            </a:r>
            <a:r>
              <a:rPr dirty="0"/>
              <a:t> «</a:t>
            </a:r>
            <a:r>
              <a:rPr i="1" dirty="0" err="1"/>
              <a:t>Nei</a:t>
            </a:r>
            <a:r>
              <a:rPr i="1" dirty="0"/>
              <a:t> </a:t>
            </a:r>
            <a:r>
              <a:rPr i="1" dirty="0" err="1"/>
              <a:t>casi</a:t>
            </a:r>
            <a:r>
              <a:rPr i="1" dirty="0"/>
              <a:t> </a:t>
            </a:r>
            <a:r>
              <a:rPr i="1" dirty="0" err="1"/>
              <a:t>preveduti</a:t>
            </a:r>
            <a:r>
              <a:rPr i="1" dirty="0"/>
              <a:t> </a:t>
            </a:r>
            <a:r>
              <a:rPr i="1" dirty="0" err="1"/>
              <a:t>dai</a:t>
            </a:r>
            <a:r>
              <a:rPr i="1" dirty="0"/>
              <a:t> due </a:t>
            </a:r>
            <a:r>
              <a:rPr i="1" dirty="0" err="1"/>
              <a:t>articoli</a:t>
            </a:r>
            <a:r>
              <a:rPr i="1" dirty="0"/>
              <a:t> </a:t>
            </a:r>
            <a:r>
              <a:rPr i="1" dirty="0" err="1"/>
              <a:t>precedenti</a:t>
            </a:r>
            <a:r>
              <a:rPr i="1" dirty="0"/>
              <a:t>, se la </a:t>
            </a:r>
            <a:r>
              <a:rPr i="1" dirty="0" err="1"/>
              <a:t>omessa</a:t>
            </a:r>
            <a:r>
              <a:rPr i="1" dirty="0"/>
              <a:t> o </a:t>
            </a:r>
            <a:r>
              <a:rPr i="1" dirty="0" err="1"/>
              <a:t>ritardata</a:t>
            </a:r>
            <a:r>
              <a:rPr i="1" dirty="0"/>
              <a:t> </a:t>
            </a:r>
            <a:r>
              <a:rPr i="1" dirty="0" err="1"/>
              <a:t>denuncia</a:t>
            </a:r>
            <a:r>
              <a:rPr i="1" dirty="0"/>
              <a:t> </a:t>
            </a:r>
            <a:r>
              <a:rPr i="1" dirty="0" err="1"/>
              <a:t>riguarda</a:t>
            </a:r>
            <a:r>
              <a:rPr i="1" dirty="0"/>
              <a:t> un </a:t>
            </a:r>
            <a:r>
              <a:rPr b="1" i="1" dirty="0" err="1"/>
              <a:t>delitto</a:t>
            </a:r>
            <a:r>
              <a:rPr b="1" i="1" dirty="0"/>
              <a:t> </a:t>
            </a:r>
            <a:r>
              <a:rPr b="1" i="1" dirty="0" err="1"/>
              <a:t>contro</a:t>
            </a:r>
            <a:r>
              <a:rPr b="1" i="1" dirty="0"/>
              <a:t> la </a:t>
            </a:r>
            <a:r>
              <a:rPr b="1" i="1" dirty="0" err="1"/>
              <a:t>personalità</a:t>
            </a:r>
            <a:r>
              <a:rPr b="1" i="1" dirty="0"/>
              <a:t> </a:t>
            </a:r>
            <a:r>
              <a:rPr b="1" i="1" dirty="0" err="1"/>
              <a:t>dello</a:t>
            </a:r>
            <a:r>
              <a:rPr b="1" i="1" dirty="0"/>
              <a:t> </a:t>
            </a:r>
            <a:r>
              <a:rPr b="1" i="1" dirty="0" err="1"/>
              <a:t>Stato</a:t>
            </a:r>
            <a:r>
              <a:rPr i="1" dirty="0"/>
              <a:t>, la </a:t>
            </a:r>
            <a:r>
              <a:rPr i="1" dirty="0" err="1"/>
              <a:t>pena</a:t>
            </a:r>
            <a:r>
              <a:rPr i="1" dirty="0"/>
              <a:t> è </a:t>
            </a:r>
            <a:r>
              <a:rPr i="1" dirty="0" err="1"/>
              <a:t>della</a:t>
            </a:r>
            <a:r>
              <a:rPr i="1" dirty="0"/>
              <a:t> </a:t>
            </a:r>
            <a:r>
              <a:rPr i="1" dirty="0" err="1"/>
              <a:t>reclusione</a:t>
            </a:r>
            <a:r>
              <a:rPr i="1" dirty="0"/>
              <a:t> da sei </a:t>
            </a:r>
            <a:r>
              <a:rPr i="1" dirty="0" err="1"/>
              <a:t>mesi</a:t>
            </a:r>
            <a:r>
              <a:rPr i="1" dirty="0"/>
              <a:t> a </a:t>
            </a:r>
            <a:r>
              <a:rPr i="1" dirty="0" err="1"/>
              <a:t>tre</a:t>
            </a:r>
            <a:r>
              <a:rPr i="1" dirty="0"/>
              <a:t> </a:t>
            </a:r>
            <a:r>
              <a:rPr i="1" dirty="0" err="1"/>
              <a:t>anni</a:t>
            </a:r>
            <a:r>
              <a:rPr i="1" dirty="0"/>
              <a:t>; ed è da </a:t>
            </a:r>
            <a:r>
              <a:rPr i="1" dirty="0" err="1"/>
              <a:t>uno</a:t>
            </a:r>
            <a:r>
              <a:rPr i="1" dirty="0"/>
              <a:t> a cinque </a:t>
            </a:r>
            <a:r>
              <a:rPr i="1" dirty="0" err="1"/>
              <a:t>anni</a:t>
            </a:r>
            <a:r>
              <a:rPr i="1" dirty="0"/>
              <a:t>, se </a:t>
            </a:r>
            <a:r>
              <a:rPr i="1" dirty="0" err="1"/>
              <a:t>il</a:t>
            </a:r>
            <a:r>
              <a:rPr i="1" dirty="0"/>
              <a:t> </a:t>
            </a:r>
            <a:r>
              <a:rPr i="1" dirty="0" err="1"/>
              <a:t>colpevole</a:t>
            </a:r>
            <a:r>
              <a:rPr i="1" dirty="0"/>
              <a:t> è un </a:t>
            </a:r>
            <a:r>
              <a:rPr i="1" dirty="0" err="1"/>
              <a:t>ufficiale</a:t>
            </a:r>
            <a:r>
              <a:rPr i="1" dirty="0"/>
              <a:t> o un </a:t>
            </a:r>
            <a:r>
              <a:rPr i="1" dirty="0" err="1"/>
              <a:t>agente</a:t>
            </a:r>
            <a:r>
              <a:rPr i="1" dirty="0"/>
              <a:t> di </a:t>
            </a:r>
            <a:r>
              <a:rPr i="1" dirty="0" err="1"/>
              <a:t>polizia</a:t>
            </a:r>
            <a:r>
              <a:rPr i="1" dirty="0"/>
              <a:t> </a:t>
            </a:r>
            <a:r>
              <a:rPr i="1" dirty="0" err="1"/>
              <a:t>giudiziaria</a:t>
            </a:r>
            <a:r>
              <a:rPr dirty="0"/>
              <a:t>».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l’esimente</a:t>
            </a:r>
            <a:r>
              <a:rPr dirty="0"/>
              <a:t> di cui </a:t>
            </a:r>
            <a:r>
              <a:rPr dirty="0" err="1"/>
              <a:t>all’art</a:t>
            </a:r>
            <a:r>
              <a:rPr dirty="0"/>
              <a:t>. 384, comma 1, </a:t>
            </a:r>
            <a:r>
              <a:rPr dirty="0" err="1"/>
              <a:t>c.p.</a:t>
            </a:r>
            <a:r>
              <a:rPr dirty="0"/>
              <a:t> </a:t>
            </a:r>
            <a:r>
              <a:rPr b="0" dirty="0">
                <a:solidFill>
                  <a:srgbClr val="000000"/>
                </a:solidFill>
              </a:rPr>
              <a:t>(</a:t>
            </a:r>
            <a:r>
              <a:rPr b="0" dirty="0" err="1">
                <a:solidFill>
                  <a:srgbClr val="FF0000"/>
                </a:solidFill>
              </a:rPr>
              <a:t>casi</a:t>
            </a:r>
            <a:r>
              <a:rPr b="0" dirty="0">
                <a:solidFill>
                  <a:srgbClr val="FF0000"/>
                </a:solidFill>
              </a:rPr>
              <a:t> di non </a:t>
            </a:r>
            <a:r>
              <a:rPr b="0" dirty="0" err="1">
                <a:solidFill>
                  <a:srgbClr val="FF0000"/>
                </a:solidFill>
              </a:rPr>
              <a:t>punibilità</a:t>
            </a:r>
            <a:r>
              <a:rPr b="0" dirty="0">
                <a:solidFill>
                  <a:srgbClr val="000000"/>
                </a:solidFill>
              </a:rPr>
              <a:t>): «c.1 </a:t>
            </a:r>
            <a:r>
              <a:rPr b="0" i="1" dirty="0" err="1">
                <a:solidFill>
                  <a:srgbClr val="000000"/>
                </a:solidFill>
              </a:rPr>
              <a:t>Nei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casi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previsti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dagli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articoli</a:t>
            </a:r>
            <a:r>
              <a:rPr b="0" i="1" dirty="0">
                <a:solidFill>
                  <a:srgbClr val="000000"/>
                </a:solidFill>
              </a:rPr>
              <a:t> 361, 362, 363, 364, 365, 366, 369, 371-bis, 371-ter, 372, 373, 374 e 378, non è </a:t>
            </a:r>
            <a:r>
              <a:rPr b="0" i="1" dirty="0" err="1">
                <a:solidFill>
                  <a:srgbClr val="000000"/>
                </a:solidFill>
              </a:rPr>
              <a:t>punibile</a:t>
            </a:r>
            <a:r>
              <a:rPr b="0" i="1" dirty="0">
                <a:solidFill>
                  <a:srgbClr val="000000"/>
                </a:solidFill>
              </a:rPr>
              <a:t> chi ha </a:t>
            </a:r>
            <a:r>
              <a:rPr b="0" i="1" dirty="0" err="1">
                <a:solidFill>
                  <a:srgbClr val="000000"/>
                </a:solidFill>
              </a:rPr>
              <a:t>commesso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il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fatto</a:t>
            </a:r>
            <a:r>
              <a:rPr b="0" i="1" dirty="0">
                <a:solidFill>
                  <a:srgbClr val="000000"/>
                </a:solidFill>
              </a:rPr>
              <a:t> per </a:t>
            </a:r>
            <a:r>
              <a:rPr b="0" i="1" dirty="0" err="1">
                <a:solidFill>
                  <a:srgbClr val="000000"/>
                </a:solidFill>
              </a:rPr>
              <a:t>esservi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stato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costretto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b="0" i="1" dirty="0" err="1">
                <a:solidFill>
                  <a:srgbClr val="000000"/>
                </a:solidFill>
              </a:rPr>
              <a:t>dalla</a:t>
            </a:r>
            <a:r>
              <a:rPr b="0"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necessità</a:t>
            </a:r>
            <a:r>
              <a:rPr i="1" dirty="0">
                <a:solidFill>
                  <a:srgbClr val="000000"/>
                </a:solidFill>
              </a:rPr>
              <a:t> di </a:t>
            </a:r>
            <a:r>
              <a:rPr i="1" dirty="0" err="1">
                <a:solidFill>
                  <a:srgbClr val="000000"/>
                </a:solidFill>
              </a:rPr>
              <a:t>salvare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sé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medesimo</a:t>
            </a:r>
            <a:r>
              <a:rPr i="1" dirty="0">
                <a:solidFill>
                  <a:srgbClr val="000000"/>
                </a:solidFill>
              </a:rPr>
              <a:t> o un </a:t>
            </a:r>
            <a:r>
              <a:rPr i="1" dirty="0" err="1">
                <a:solidFill>
                  <a:srgbClr val="000000"/>
                </a:solidFill>
              </a:rPr>
              <a:t>prossimo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congiunto</a:t>
            </a:r>
            <a:r>
              <a:rPr i="1" dirty="0">
                <a:solidFill>
                  <a:srgbClr val="000000"/>
                </a:solidFill>
              </a:rPr>
              <a:t> da un grave e </a:t>
            </a:r>
            <a:r>
              <a:rPr i="1" dirty="0" err="1">
                <a:solidFill>
                  <a:srgbClr val="000000"/>
                </a:solidFill>
              </a:rPr>
              <a:t>inevitabile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nocumento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nella</a:t>
            </a:r>
            <a:r>
              <a:rPr i="1" dirty="0">
                <a:solidFill>
                  <a:srgbClr val="000000"/>
                </a:solidFill>
              </a:rPr>
              <a:t> </a:t>
            </a:r>
            <a:r>
              <a:rPr i="1" dirty="0" err="1">
                <a:solidFill>
                  <a:srgbClr val="000000"/>
                </a:solidFill>
              </a:rPr>
              <a:t>libertà</a:t>
            </a:r>
            <a:r>
              <a:rPr i="1" dirty="0">
                <a:solidFill>
                  <a:srgbClr val="000000"/>
                </a:solidFill>
              </a:rPr>
              <a:t> o </a:t>
            </a:r>
            <a:r>
              <a:rPr i="1" dirty="0" err="1">
                <a:solidFill>
                  <a:srgbClr val="000000"/>
                </a:solidFill>
              </a:rPr>
              <a:t>nell'onore</a:t>
            </a:r>
            <a:r>
              <a:rPr b="0" i="1" dirty="0">
                <a:solidFill>
                  <a:srgbClr val="000000"/>
                </a:solidFill>
              </a:rPr>
              <a:t>»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c.2 </a:t>
            </a:r>
            <a:r>
              <a:rPr dirty="0" err="1"/>
              <a:t>dell’articolo</a:t>
            </a:r>
            <a:r>
              <a:rPr dirty="0"/>
              <a:t> in </a:t>
            </a:r>
            <a:r>
              <a:rPr dirty="0" err="1"/>
              <a:t>esame</a:t>
            </a:r>
            <a:r>
              <a:rPr dirty="0"/>
              <a:t> </a:t>
            </a:r>
            <a:r>
              <a:rPr dirty="0" err="1"/>
              <a:t>prevede</a:t>
            </a:r>
            <a:r>
              <a:rPr dirty="0"/>
              <a:t> una </a:t>
            </a:r>
            <a:r>
              <a:rPr b="1" dirty="0" err="1">
                <a:solidFill>
                  <a:srgbClr val="002F8E"/>
                </a:solidFill>
              </a:rPr>
              <a:t>circostanza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aggravante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specifica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dirty="0"/>
              <a:t>in </a:t>
            </a:r>
            <a:r>
              <a:rPr dirty="0" err="1"/>
              <a:t>ragione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particolare</a:t>
            </a:r>
            <a:r>
              <a:rPr dirty="0"/>
              <a:t> </a:t>
            </a:r>
            <a:r>
              <a:rPr dirty="0" err="1"/>
              <a:t>qualifica</a:t>
            </a:r>
            <a:r>
              <a:rPr dirty="0"/>
              <a:t> </a:t>
            </a:r>
            <a:r>
              <a:rPr dirty="0" err="1"/>
              <a:t>soggettiva</a:t>
            </a:r>
            <a:r>
              <a:rPr dirty="0"/>
              <a:t> del </a:t>
            </a:r>
            <a:r>
              <a:rPr dirty="0" err="1"/>
              <a:t>soggetto</a:t>
            </a:r>
            <a:r>
              <a:rPr dirty="0"/>
              <a:t> </a:t>
            </a:r>
            <a:r>
              <a:rPr dirty="0" err="1"/>
              <a:t>attivo</a:t>
            </a:r>
            <a:r>
              <a:rPr dirty="0"/>
              <a:t> (</a:t>
            </a:r>
            <a:r>
              <a:rPr dirty="0" err="1"/>
              <a:t>agente</a:t>
            </a:r>
            <a:r>
              <a:rPr dirty="0"/>
              <a:t> o </a:t>
            </a:r>
            <a:r>
              <a:rPr dirty="0" err="1"/>
              <a:t>ufficiale</a:t>
            </a:r>
            <a:r>
              <a:rPr dirty="0"/>
              <a:t> di P.G.). Non integra </a:t>
            </a:r>
            <a:r>
              <a:rPr dirty="0" err="1"/>
              <a:t>pertanto</a:t>
            </a:r>
            <a:r>
              <a:rPr dirty="0"/>
              <a:t> una </a:t>
            </a:r>
            <a:r>
              <a:rPr dirty="0" err="1"/>
              <a:t>ipotesi</a:t>
            </a:r>
            <a:r>
              <a:rPr dirty="0"/>
              <a:t> </a:t>
            </a:r>
            <a:r>
              <a:rPr dirty="0" err="1"/>
              <a:t>autonoma</a:t>
            </a:r>
            <a:r>
              <a:rPr dirty="0"/>
              <a:t> di </a:t>
            </a:r>
            <a:r>
              <a:rPr dirty="0" err="1"/>
              <a:t>reato</a:t>
            </a:r>
            <a:r>
              <a:rPr dirty="0"/>
              <a:t>.</a:t>
            </a:r>
          </a:p>
        </p:txBody>
      </p:sp>
      <p:pic>
        <p:nvPicPr>
          <p:cNvPr id="25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Omessa denuncia di reato da parte del P.Uff.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asellaDiTesto 1"/>
          <p:cNvSpPr txBox="1"/>
          <p:nvPr/>
        </p:nvSpPr>
        <p:spPr>
          <a:xfrm>
            <a:off x="234487" y="1053819"/>
            <a:ext cx="8684281" cy="401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>
                <a:solidFill>
                  <a:srgbClr val="FF0000"/>
                </a:solidFill>
              </a:rPr>
              <a:t>Art. 367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Simulazione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reato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«</a:t>
            </a:r>
            <a:r>
              <a:rPr i="1" dirty="0" err="1"/>
              <a:t>Chiunque</a:t>
            </a:r>
            <a:r>
              <a:rPr i="1" dirty="0"/>
              <a:t>, con </a:t>
            </a:r>
            <a:r>
              <a:rPr i="1" dirty="0" err="1"/>
              <a:t>denuncia</a:t>
            </a:r>
            <a:r>
              <a:rPr i="1" dirty="0"/>
              <a:t>, querela, </a:t>
            </a:r>
            <a:r>
              <a:rPr i="1" dirty="0" err="1"/>
              <a:t>richiesta</a:t>
            </a:r>
            <a:r>
              <a:rPr i="1" dirty="0"/>
              <a:t> o </a:t>
            </a:r>
            <a:r>
              <a:rPr i="1" dirty="0" err="1"/>
              <a:t>istanza</a:t>
            </a:r>
            <a:r>
              <a:rPr i="1" dirty="0"/>
              <a:t>, </a:t>
            </a:r>
            <a:r>
              <a:rPr i="1" dirty="0" err="1"/>
              <a:t>anche</a:t>
            </a:r>
            <a:r>
              <a:rPr i="1" dirty="0"/>
              <a:t> se </a:t>
            </a:r>
            <a:r>
              <a:rPr i="1" dirty="0" err="1"/>
              <a:t>anonima</a:t>
            </a:r>
            <a:r>
              <a:rPr i="1" dirty="0"/>
              <a:t> o sotto </a:t>
            </a:r>
            <a:r>
              <a:rPr i="1" dirty="0" err="1"/>
              <a:t>falso</a:t>
            </a:r>
            <a:r>
              <a:rPr i="1" dirty="0"/>
              <a:t> </a:t>
            </a:r>
            <a:r>
              <a:rPr i="1" dirty="0" err="1"/>
              <a:t>nome</a:t>
            </a:r>
            <a:r>
              <a:rPr i="1" dirty="0"/>
              <a:t>, </a:t>
            </a:r>
            <a:r>
              <a:rPr i="1" dirty="0" err="1"/>
              <a:t>diretta</a:t>
            </a:r>
            <a:r>
              <a:rPr i="1" dirty="0"/>
              <a:t> </a:t>
            </a:r>
            <a:r>
              <a:rPr i="1" dirty="0" err="1"/>
              <a:t>all'autorità</a:t>
            </a:r>
            <a:r>
              <a:rPr i="1" dirty="0"/>
              <a:t> </a:t>
            </a:r>
            <a:r>
              <a:rPr i="1" dirty="0" err="1"/>
              <a:t>giudiziaria</a:t>
            </a:r>
            <a:r>
              <a:rPr i="1" dirty="0"/>
              <a:t> o ad </a:t>
            </a:r>
            <a:r>
              <a:rPr i="1" dirty="0" err="1"/>
              <a:t>un'altra</a:t>
            </a:r>
            <a:r>
              <a:rPr i="1" dirty="0"/>
              <a:t> </a:t>
            </a:r>
            <a:r>
              <a:rPr i="1" dirty="0" err="1"/>
              <a:t>autorità</a:t>
            </a:r>
            <a:r>
              <a:rPr i="1" dirty="0"/>
              <a:t> </a:t>
            </a:r>
            <a:r>
              <a:rPr i="1" dirty="0" err="1"/>
              <a:t>che</a:t>
            </a:r>
            <a:r>
              <a:rPr i="1" dirty="0"/>
              <a:t> a </a:t>
            </a:r>
            <a:r>
              <a:rPr i="1" dirty="0" err="1"/>
              <a:t>quella</a:t>
            </a:r>
            <a:r>
              <a:rPr i="1" dirty="0"/>
              <a:t> </a:t>
            </a:r>
            <a:r>
              <a:rPr i="1" dirty="0" err="1"/>
              <a:t>abbia</a:t>
            </a:r>
            <a:r>
              <a:rPr i="1" dirty="0"/>
              <a:t> </a:t>
            </a:r>
            <a:r>
              <a:rPr i="1" dirty="0" err="1"/>
              <a:t>obbligo</a:t>
            </a:r>
            <a:r>
              <a:rPr i="1" dirty="0"/>
              <a:t> di </a:t>
            </a:r>
            <a:r>
              <a:rPr i="1" dirty="0" err="1"/>
              <a:t>riferirne</a:t>
            </a:r>
            <a:r>
              <a:rPr i="1" dirty="0"/>
              <a:t>, </a:t>
            </a:r>
            <a:r>
              <a:rPr b="1" i="1" u="sng" dirty="0" err="1">
                <a:solidFill>
                  <a:srgbClr val="FF0000"/>
                </a:solidFill>
              </a:rPr>
              <a:t>afferma</a:t>
            </a:r>
            <a:r>
              <a:rPr b="1" i="1" u="sng" dirty="0">
                <a:solidFill>
                  <a:srgbClr val="FF0000"/>
                </a:solidFill>
              </a:rPr>
              <a:t> </a:t>
            </a:r>
            <a:r>
              <a:rPr b="1" i="1" u="sng" dirty="0" err="1">
                <a:solidFill>
                  <a:srgbClr val="FF0000"/>
                </a:solidFill>
              </a:rPr>
              <a:t>falsamente</a:t>
            </a:r>
            <a:r>
              <a:rPr b="1" i="1" u="sng" dirty="0">
                <a:solidFill>
                  <a:srgbClr val="FF0000"/>
                </a:solidFill>
              </a:rPr>
              <a:t> </a:t>
            </a:r>
            <a:r>
              <a:rPr b="1" i="1" u="sng" dirty="0" err="1">
                <a:solidFill>
                  <a:srgbClr val="FF0000"/>
                </a:solidFill>
              </a:rPr>
              <a:t>essere</a:t>
            </a:r>
            <a:r>
              <a:rPr b="1" i="1" u="sng" dirty="0">
                <a:solidFill>
                  <a:srgbClr val="FF0000"/>
                </a:solidFill>
              </a:rPr>
              <a:t> </a:t>
            </a:r>
            <a:r>
              <a:rPr b="1" i="1" u="sng" dirty="0" err="1">
                <a:solidFill>
                  <a:srgbClr val="FF0000"/>
                </a:solidFill>
              </a:rPr>
              <a:t>avvenuto</a:t>
            </a:r>
            <a:r>
              <a:rPr b="1" i="1" u="sng" dirty="0">
                <a:solidFill>
                  <a:srgbClr val="FF0000"/>
                </a:solidFill>
              </a:rPr>
              <a:t> un </a:t>
            </a:r>
            <a:r>
              <a:rPr b="1" i="1" u="sng" dirty="0" err="1">
                <a:solidFill>
                  <a:srgbClr val="FF0000"/>
                </a:solidFill>
              </a:rPr>
              <a:t>reato</a:t>
            </a:r>
            <a:r>
              <a:rPr b="1" i="1" dirty="0">
                <a:solidFill>
                  <a:srgbClr val="0070C0"/>
                </a:solidFill>
              </a:rPr>
              <a:t>, </a:t>
            </a:r>
            <a:r>
              <a:rPr b="1" i="1" u="sng" dirty="0" err="1">
                <a:solidFill>
                  <a:srgbClr val="0070C0"/>
                </a:solidFill>
              </a:rPr>
              <a:t>ovvero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simula</a:t>
            </a:r>
            <a:r>
              <a:rPr b="1" i="1" dirty="0">
                <a:solidFill>
                  <a:srgbClr val="0070C0"/>
                </a:solidFill>
              </a:rPr>
              <a:t> le </a:t>
            </a:r>
            <a:r>
              <a:rPr b="1" i="1" dirty="0" err="1">
                <a:solidFill>
                  <a:srgbClr val="0070C0"/>
                </a:solidFill>
              </a:rPr>
              <a:t>tracce</a:t>
            </a:r>
            <a:r>
              <a:rPr b="1" i="1" dirty="0">
                <a:solidFill>
                  <a:srgbClr val="0070C0"/>
                </a:solidFill>
              </a:rPr>
              <a:t> di un </a:t>
            </a:r>
            <a:r>
              <a:rPr b="1" i="1" dirty="0" err="1">
                <a:solidFill>
                  <a:srgbClr val="0070C0"/>
                </a:solidFill>
              </a:rPr>
              <a:t>reato</a:t>
            </a:r>
            <a:r>
              <a:rPr b="1" i="1" dirty="0">
                <a:solidFill>
                  <a:srgbClr val="0070C0"/>
                </a:solidFill>
              </a:rPr>
              <a:t>, </a:t>
            </a:r>
            <a:r>
              <a:rPr b="1" i="1" u="sng" dirty="0">
                <a:solidFill>
                  <a:srgbClr val="0070C0"/>
                </a:solidFill>
              </a:rPr>
              <a:t>in modo </a:t>
            </a:r>
            <a:r>
              <a:rPr b="1" i="1" u="sng" dirty="0" err="1">
                <a:solidFill>
                  <a:srgbClr val="0070C0"/>
                </a:solidFill>
              </a:rPr>
              <a:t>che</a:t>
            </a:r>
            <a:r>
              <a:rPr b="1" i="1" u="sng" dirty="0">
                <a:solidFill>
                  <a:srgbClr val="0070C0"/>
                </a:solidFill>
              </a:rPr>
              <a:t> </a:t>
            </a:r>
            <a:r>
              <a:rPr b="1" i="1" u="sng" dirty="0" err="1">
                <a:solidFill>
                  <a:srgbClr val="0070C0"/>
                </a:solidFill>
              </a:rPr>
              <a:t>si</a:t>
            </a:r>
            <a:r>
              <a:rPr b="1" i="1" u="sng" dirty="0">
                <a:solidFill>
                  <a:srgbClr val="0070C0"/>
                </a:solidFill>
              </a:rPr>
              <a:t> </a:t>
            </a:r>
            <a:r>
              <a:rPr b="1" i="1" u="sng" dirty="0" err="1">
                <a:solidFill>
                  <a:srgbClr val="0070C0"/>
                </a:solidFill>
              </a:rPr>
              <a:t>possa</a:t>
            </a:r>
            <a:r>
              <a:rPr b="1" i="1" u="sng" dirty="0">
                <a:solidFill>
                  <a:srgbClr val="0070C0"/>
                </a:solidFill>
              </a:rPr>
              <a:t> </a:t>
            </a:r>
            <a:r>
              <a:rPr b="1" i="1" u="sng" dirty="0" err="1">
                <a:solidFill>
                  <a:srgbClr val="0070C0"/>
                </a:solidFill>
              </a:rPr>
              <a:t>iniziare</a:t>
            </a:r>
            <a:r>
              <a:rPr b="1" i="1" u="sng" dirty="0">
                <a:solidFill>
                  <a:srgbClr val="0070C0"/>
                </a:solidFill>
              </a:rPr>
              <a:t> un </a:t>
            </a:r>
            <a:r>
              <a:rPr b="1" i="1" u="sng" dirty="0" err="1">
                <a:solidFill>
                  <a:srgbClr val="0070C0"/>
                </a:solidFill>
              </a:rPr>
              <a:t>procedimento</a:t>
            </a:r>
            <a:r>
              <a:rPr b="1" i="1" u="sng" dirty="0">
                <a:solidFill>
                  <a:srgbClr val="0070C0"/>
                </a:solidFill>
              </a:rPr>
              <a:t> </a:t>
            </a:r>
            <a:r>
              <a:rPr b="1" i="1" u="sng" dirty="0" err="1">
                <a:solidFill>
                  <a:srgbClr val="0070C0"/>
                </a:solidFill>
              </a:rPr>
              <a:t>penale</a:t>
            </a:r>
            <a:r>
              <a:rPr b="1" i="1" u="sng" dirty="0">
                <a:solidFill>
                  <a:srgbClr val="0070C0"/>
                </a:solidFill>
              </a:rPr>
              <a:t> per </a:t>
            </a:r>
            <a:r>
              <a:rPr b="1" i="1" u="sng" dirty="0" err="1">
                <a:solidFill>
                  <a:srgbClr val="0070C0"/>
                </a:solidFill>
              </a:rPr>
              <a:t>accertarlo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reclusione</a:t>
            </a:r>
            <a:r>
              <a:rPr i="1" dirty="0"/>
              <a:t> da uno a </a:t>
            </a:r>
            <a:r>
              <a:rPr i="1" dirty="0" err="1"/>
              <a:t>tre</a:t>
            </a:r>
            <a:r>
              <a:rPr i="1" dirty="0"/>
              <a:t> anni</a:t>
            </a:r>
            <a:r>
              <a:rPr dirty="0"/>
              <a:t>».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1200" b="0">
                <a:latin typeface="Book Antiqua"/>
                <a:ea typeface="Book Antiqua"/>
                <a:cs typeface="Book Antiqua"/>
                <a:sym typeface="Book Antiqua"/>
              </a:defRPr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Lo </a:t>
            </a:r>
            <a:r>
              <a:rPr dirty="0" err="1"/>
              <a:t>scopo</a:t>
            </a:r>
            <a:r>
              <a:rPr dirty="0"/>
              <a:t> è di </a:t>
            </a:r>
            <a:r>
              <a:rPr b="1" dirty="0" err="1"/>
              <a:t>impedire</a:t>
            </a:r>
            <a:r>
              <a:rPr b="1" dirty="0"/>
              <a:t> </a:t>
            </a:r>
            <a:r>
              <a:rPr b="1" dirty="0" err="1"/>
              <a:t>che</a:t>
            </a:r>
            <a:r>
              <a:rPr b="1" dirty="0"/>
              <a:t> </a:t>
            </a:r>
            <a:r>
              <a:rPr b="1" dirty="0" err="1"/>
              <a:t>l’attività</a:t>
            </a:r>
            <a:r>
              <a:rPr b="1" dirty="0"/>
              <a:t> </a:t>
            </a:r>
            <a:r>
              <a:rPr b="1" dirty="0" err="1"/>
              <a:t>giudiziaria</a:t>
            </a:r>
            <a:r>
              <a:rPr b="1" dirty="0"/>
              <a:t> </a:t>
            </a:r>
            <a:r>
              <a:rPr b="1" dirty="0" err="1"/>
              <a:t>sia</a:t>
            </a:r>
            <a:r>
              <a:rPr b="1" dirty="0"/>
              <a:t> </a:t>
            </a:r>
            <a:r>
              <a:rPr b="1" dirty="0" err="1"/>
              <a:t>messa</a:t>
            </a:r>
            <a:r>
              <a:rPr b="1" dirty="0"/>
              <a:t> in moto per </a:t>
            </a:r>
            <a:r>
              <a:rPr b="1" dirty="0" err="1"/>
              <a:t>perseguire</a:t>
            </a:r>
            <a:r>
              <a:rPr b="1" dirty="0"/>
              <a:t> </a:t>
            </a:r>
            <a:r>
              <a:rPr b="1" dirty="0" err="1"/>
              <a:t>reati</a:t>
            </a:r>
            <a:r>
              <a:rPr b="1" dirty="0"/>
              <a:t> </a:t>
            </a:r>
            <a:r>
              <a:rPr b="1" dirty="0" err="1"/>
              <a:t>immaginari</a:t>
            </a:r>
            <a:r>
              <a:rPr dirty="0"/>
              <a:t>, -&gt; </a:t>
            </a:r>
            <a:r>
              <a:rPr dirty="0" err="1"/>
              <a:t>sviamento</a:t>
            </a:r>
            <a:r>
              <a:rPr dirty="0"/>
              <a:t> della “</a:t>
            </a:r>
            <a:r>
              <a:rPr dirty="0" err="1"/>
              <a:t>macchina</a:t>
            </a:r>
            <a:r>
              <a:rPr dirty="0"/>
              <a:t> della </a:t>
            </a:r>
            <a:r>
              <a:rPr dirty="0" err="1"/>
              <a:t>giustizia</a:t>
            </a:r>
            <a:r>
              <a:rPr dirty="0"/>
              <a:t>” </a:t>
            </a:r>
          </a:p>
        </p:txBody>
      </p:sp>
      <p:pic>
        <p:nvPicPr>
          <p:cNvPr id="262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Rettangolo 5"/>
          <p:cNvSpPr txBox="1"/>
          <p:nvPr/>
        </p:nvSpPr>
        <p:spPr>
          <a:xfrm>
            <a:off x="4572000" y="5083866"/>
            <a:ext cx="3545473" cy="1440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b="0" u="none" dirty="0"/>
              <a:t>:</a:t>
            </a:r>
            <a:endParaRPr b="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monocratico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non </a:t>
            </a:r>
            <a:r>
              <a:rPr dirty="0" err="1"/>
              <a:t>consentito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Fermo</a:t>
            </a:r>
            <a:r>
              <a:rPr dirty="0"/>
              <a:t> non </a:t>
            </a:r>
            <a:r>
              <a:rPr dirty="0" err="1"/>
              <a:t>consentito</a:t>
            </a:r>
            <a:endParaRPr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26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ttangolo 4"/>
          <p:cNvSpPr txBox="1"/>
          <p:nvPr/>
        </p:nvSpPr>
        <p:spPr>
          <a:xfrm>
            <a:off x="182570" y="908719"/>
            <a:ext cx="8736198" cy="5466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1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dirty="0" err="1"/>
              <a:t>tratta</a:t>
            </a:r>
            <a:r>
              <a:rPr dirty="0"/>
              <a:t> di un </a:t>
            </a:r>
            <a:r>
              <a:rPr b="1" dirty="0">
                <a:solidFill>
                  <a:srgbClr val="0070C0"/>
                </a:solidFill>
              </a:rPr>
              <a:t>REATO COMUNE</a:t>
            </a:r>
            <a:r>
              <a:rPr dirty="0"/>
              <a:t>: «</a:t>
            </a:r>
            <a:r>
              <a:rPr i="1" dirty="0" err="1"/>
              <a:t>Chiunque</a:t>
            </a:r>
            <a:r>
              <a:rPr dirty="0"/>
              <a:t>»</a:t>
            </a:r>
            <a:endParaRPr u="sng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</a:t>
            </a:r>
            <a:r>
              <a:rPr b="0" u="none" dirty="0" err="1"/>
              <a:t>esistono</a:t>
            </a:r>
            <a:r>
              <a:rPr b="0" u="none" dirty="0"/>
              <a:t> 2 </a:t>
            </a:r>
            <a:r>
              <a:rPr b="0" u="none" dirty="0" err="1"/>
              <a:t>tipologie</a:t>
            </a:r>
            <a:r>
              <a:rPr b="0" u="none" dirty="0"/>
              <a:t> di </a:t>
            </a:r>
            <a:r>
              <a:rPr b="0" u="none" dirty="0" err="1"/>
              <a:t>condotta</a:t>
            </a:r>
            <a:r>
              <a:rPr b="0" u="none" dirty="0"/>
              <a:t> «</a:t>
            </a:r>
            <a:r>
              <a:rPr b="0" u="none" dirty="0" err="1"/>
              <a:t>attiva</a:t>
            </a:r>
            <a:r>
              <a:rPr b="0" u="none" dirty="0"/>
              <a:t>»</a:t>
            </a:r>
            <a:endParaRPr lang="it-IT"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1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SIMULAZIONE DIRETTA </a:t>
            </a:r>
            <a:r>
              <a:rPr u="sng" dirty="0">
                <a:solidFill>
                  <a:srgbClr val="FF0000"/>
                </a:solidFill>
              </a:rPr>
              <a:t>(FORMALE)</a:t>
            </a:r>
            <a:r>
              <a:rPr b="0" dirty="0">
                <a:solidFill>
                  <a:srgbClr val="FF0000"/>
                </a:solidFill>
              </a:rPr>
              <a:t>: </a:t>
            </a:r>
            <a:r>
              <a:rPr sz="2000" b="0" dirty="0" err="1">
                <a:solidFill>
                  <a:srgbClr val="000000"/>
                </a:solidFill>
              </a:rPr>
              <a:t>consiste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nella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dirty="0"/>
              <a:t>falsa </a:t>
            </a:r>
            <a:r>
              <a:rPr sz="2000" dirty="0" err="1"/>
              <a:t>affermazione</a:t>
            </a:r>
            <a:r>
              <a:rPr sz="2000" dirty="0"/>
              <a:t> </a:t>
            </a:r>
            <a:r>
              <a:rPr sz="2000" dirty="0" err="1">
                <a:solidFill>
                  <a:srgbClr val="000000"/>
                </a:solidFill>
              </a:rPr>
              <a:t>della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consumazione</a:t>
            </a:r>
            <a:r>
              <a:rPr sz="2000" dirty="0">
                <a:solidFill>
                  <a:srgbClr val="000000"/>
                </a:solidFill>
              </a:rPr>
              <a:t> di un </a:t>
            </a:r>
            <a:r>
              <a:rPr sz="2000" dirty="0" err="1">
                <a:solidFill>
                  <a:srgbClr val="000000"/>
                </a:solidFill>
              </a:rPr>
              <a:t>reato</a:t>
            </a:r>
            <a:r>
              <a:rPr sz="2000" b="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contenuta</a:t>
            </a:r>
            <a:r>
              <a:rPr sz="2000" b="0" dirty="0">
                <a:solidFill>
                  <a:srgbClr val="000000"/>
                </a:solidFill>
              </a:rPr>
              <a:t> in una </a:t>
            </a:r>
            <a:r>
              <a:rPr sz="2000" b="0" dirty="0" err="1">
                <a:solidFill>
                  <a:srgbClr val="000000"/>
                </a:solidFill>
              </a:rPr>
              <a:t>denuncia</a:t>
            </a:r>
            <a:r>
              <a:rPr sz="2000" b="0" dirty="0">
                <a:solidFill>
                  <a:srgbClr val="000000"/>
                </a:solidFill>
              </a:rPr>
              <a:t>, querela, </a:t>
            </a:r>
            <a:r>
              <a:rPr sz="2000" b="0" dirty="0" err="1">
                <a:solidFill>
                  <a:srgbClr val="000000"/>
                </a:solidFill>
              </a:rPr>
              <a:t>richiesta</a:t>
            </a:r>
            <a:r>
              <a:rPr sz="2000" b="0" dirty="0">
                <a:solidFill>
                  <a:srgbClr val="000000"/>
                </a:solidFill>
              </a:rPr>
              <a:t> (del </a:t>
            </a:r>
            <a:r>
              <a:rPr sz="2000" b="0" dirty="0" err="1">
                <a:solidFill>
                  <a:srgbClr val="000000"/>
                </a:solidFill>
              </a:rPr>
              <a:t>Ministro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della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Giustizia</a:t>
            </a:r>
            <a:r>
              <a:rPr sz="2000" b="0" dirty="0">
                <a:solidFill>
                  <a:srgbClr val="000000"/>
                </a:solidFill>
              </a:rPr>
              <a:t>) o </a:t>
            </a:r>
            <a:r>
              <a:rPr sz="2000" b="0" dirty="0" err="1">
                <a:solidFill>
                  <a:srgbClr val="000000"/>
                </a:solidFill>
              </a:rPr>
              <a:t>istanza</a:t>
            </a:r>
            <a:r>
              <a:rPr sz="2000" b="0" dirty="0">
                <a:solidFill>
                  <a:srgbClr val="000000"/>
                </a:solidFill>
              </a:rPr>
              <a:t> (</a:t>
            </a:r>
            <a:r>
              <a:rPr sz="2000" b="0" dirty="0" err="1">
                <a:solidFill>
                  <a:srgbClr val="000000"/>
                </a:solidFill>
              </a:rPr>
              <a:t>della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parte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offesa</a:t>
            </a:r>
            <a:r>
              <a:rPr sz="2000" b="0" dirty="0">
                <a:solidFill>
                  <a:srgbClr val="000000"/>
                </a:solidFill>
              </a:rPr>
              <a:t> per </a:t>
            </a:r>
            <a:r>
              <a:rPr sz="2000" b="0" dirty="0" err="1">
                <a:solidFill>
                  <a:srgbClr val="000000"/>
                </a:solidFill>
              </a:rPr>
              <a:t>reati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commessi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all’estero</a:t>
            </a:r>
            <a:r>
              <a:rPr sz="2000" b="0" dirty="0">
                <a:solidFill>
                  <a:srgbClr val="000000"/>
                </a:solidFill>
              </a:rPr>
              <a:t>), </a:t>
            </a:r>
            <a:r>
              <a:rPr sz="2000" b="0" dirty="0" err="1">
                <a:solidFill>
                  <a:srgbClr val="000000"/>
                </a:solidFill>
              </a:rPr>
              <a:t>anche</a:t>
            </a:r>
            <a:r>
              <a:rPr sz="2000" b="0" dirty="0">
                <a:solidFill>
                  <a:srgbClr val="000000"/>
                </a:solidFill>
              </a:rPr>
              <a:t> se </a:t>
            </a:r>
            <a:r>
              <a:rPr sz="2000" b="0" dirty="0" err="1">
                <a:solidFill>
                  <a:srgbClr val="000000"/>
                </a:solidFill>
              </a:rPr>
              <a:t>anonima</a:t>
            </a:r>
            <a:r>
              <a:rPr sz="2000" b="0" dirty="0">
                <a:solidFill>
                  <a:srgbClr val="000000"/>
                </a:solidFill>
              </a:rPr>
              <a:t> o sotto </a:t>
            </a:r>
            <a:r>
              <a:rPr sz="2000" b="0" dirty="0" err="1">
                <a:solidFill>
                  <a:srgbClr val="000000"/>
                </a:solidFill>
              </a:rPr>
              <a:t>falso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nome</a:t>
            </a:r>
            <a:r>
              <a:rPr sz="2000"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SzPct val="100000"/>
              <a:defRPr sz="21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1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SIMULAZIONE INDIRETTA </a:t>
            </a:r>
            <a:r>
              <a:rPr u="sng" dirty="0">
                <a:solidFill>
                  <a:srgbClr val="FF0000"/>
                </a:solidFill>
              </a:rPr>
              <a:t>(REALE</a:t>
            </a:r>
            <a:r>
              <a:rPr lang="it-IT" u="sng" dirty="0">
                <a:solidFill>
                  <a:srgbClr val="FF0000"/>
                </a:solidFill>
              </a:rPr>
              <a:t> / MATERIALE</a:t>
            </a:r>
            <a:r>
              <a:rPr u="sng" dirty="0">
                <a:solidFill>
                  <a:srgbClr val="FF0000"/>
                </a:solidFill>
              </a:rPr>
              <a:t>)</a:t>
            </a:r>
            <a:r>
              <a:rPr b="0" dirty="0">
                <a:solidFill>
                  <a:srgbClr val="FF0000"/>
                </a:solidFill>
              </a:rPr>
              <a:t>: </a:t>
            </a:r>
            <a:r>
              <a:rPr sz="2000" b="0" dirty="0" err="1">
                <a:solidFill>
                  <a:srgbClr val="000000"/>
                </a:solidFill>
              </a:rPr>
              <a:t>consiste</a:t>
            </a:r>
            <a:r>
              <a:rPr sz="2000" b="0" dirty="0">
                <a:solidFill>
                  <a:srgbClr val="000000"/>
                </a:solidFill>
              </a:rPr>
              <a:t> in una </a:t>
            </a:r>
            <a:r>
              <a:rPr sz="2000" dirty="0" err="1"/>
              <a:t>condotta</a:t>
            </a:r>
            <a:r>
              <a:rPr sz="2000" dirty="0"/>
              <a:t> </a:t>
            </a:r>
            <a:r>
              <a:rPr sz="2000" dirty="0" err="1"/>
              <a:t>simulatoria</a:t>
            </a:r>
            <a:r>
              <a:rPr sz="2000" b="0" dirty="0">
                <a:solidFill>
                  <a:srgbClr val="000000"/>
                </a:solidFill>
              </a:rPr>
              <a:t>, con la quale </a:t>
            </a:r>
            <a:r>
              <a:rPr sz="2000" b="0" dirty="0" err="1">
                <a:solidFill>
                  <a:srgbClr val="000000"/>
                </a:solidFill>
              </a:rPr>
              <a:t>il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soggetto</a:t>
            </a:r>
            <a:r>
              <a:rPr sz="2000" b="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agendo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su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cose</a:t>
            </a:r>
            <a:r>
              <a:rPr sz="2000" b="0" dirty="0">
                <a:solidFill>
                  <a:srgbClr val="000000"/>
                </a:solidFill>
              </a:rPr>
              <a:t> o </a:t>
            </a:r>
            <a:r>
              <a:rPr sz="2000" b="0" dirty="0" err="1">
                <a:solidFill>
                  <a:srgbClr val="000000"/>
                </a:solidFill>
              </a:rPr>
              <a:t>persone</a:t>
            </a:r>
            <a:r>
              <a:rPr sz="2000" b="0" dirty="0">
                <a:solidFill>
                  <a:srgbClr val="000000"/>
                </a:solidFill>
              </a:rPr>
              <a:t>, </a:t>
            </a:r>
            <a:r>
              <a:rPr sz="2000" dirty="0" err="1">
                <a:solidFill>
                  <a:srgbClr val="000000"/>
                </a:solidFill>
              </a:rPr>
              <a:t>simula</a:t>
            </a:r>
            <a:r>
              <a:rPr sz="2000" dirty="0">
                <a:solidFill>
                  <a:srgbClr val="000000"/>
                </a:solidFill>
              </a:rPr>
              <a:t> le </a:t>
            </a:r>
            <a:r>
              <a:rPr sz="2000" dirty="0" err="1">
                <a:solidFill>
                  <a:srgbClr val="000000"/>
                </a:solidFill>
              </a:rPr>
              <a:t>tracce</a:t>
            </a:r>
            <a:r>
              <a:rPr sz="2000" dirty="0">
                <a:solidFill>
                  <a:srgbClr val="000000"/>
                </a:solidFill>
              </a:rPr>
              <a:t> di un </a:t>
            </a:r>
            <a:r>
              <a:rPr sz="2000" dirty="0" err="1">
                <a:solidFill>
                  <a:srgbClr val="000000"/>
                </a:solidFill>
              </a:rPr>
              <a:t>fatto-reato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che</a:t>
            </a:r>
            <a:r>
              <a:rPr sz="2000" dirty="0">
                <a:solidFill>
                  <a:srgbClr val="000000"/>
                </a:solidFill>
              </a:rPr>
              <a:t> in </a:t>
            </a:r>
            <a:r>
              <a:rPr sz="2000" dirty="0" err="1">
                <a:solidFill>
                  <a:srgbClr val="000000"/>
                </a:solidFill>
              </a:rPr>
              <a:t>realtà</a:t>
            </a:r>
            <a:r>
              <a:rPr sz="2000" dirty="0">
                <a:solidFill>
                  <a:srgbClr val="000000"/>
                </a:solidFill>
              </a:rPr>
              <a:t> non è </a:t>
            </a:r>
            <a:r>
              <a:rPr sz="2000" dirty="0" err="1">
                <a:solidFill>
                  <a:srgbClr val="000000"/>
                </a:solidFill>
              </a:rPr>
              <a:t>mai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accaduto</a:t>
            </a:r>
            <a:r>
              <a:rPr sz="2000" b="0" dirty="0">
                <a:solidFill>
                  <a:srgbClr val="000000"/>
                </a:solidFill>
              </a:rPr>
              <a:t>. Per </a:t>
            </a:r>
            <a:r>
              <a:rPr sz="2000" b="0" dirty="0" err="1">
                <a:solidFill>
                  <a:srgbClr val="000000"/>
                </a:solidFill>
              </a:rPr>
              <a:t>tracce</a:t>
            </a:r>
            <a:r>
              <a:rPr sz="2000" b="0" dirty="0">
                <a:solidFill>
                  <a:srgbClr val="000000"/>
                </a:solidFill>
              </a:rPr>
              <a:t> del </a:t>
            </a:r>
            <a:r>
              <a:rPr sz="2000" b="0" dirty="0" err="1">
                <a:solidFill>
                  <a:srgbClr val="000000"/>
                </a:solidFill>
              </a:rPr>
              <a:t>reato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si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intende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qualsiasi</a:t>
            </a:r>
            <a:r>
              <a:rPr sz="2000" b="0" dirty="0">
                <a:solidFill>
                  <a:srgbClr val="000000"/>
                </a:solidFill>
              </a:rPr>
              <a:t> segno o </a:t>
            </a:r>
            <a:r>
              <a:rPr sz="2000" b="0" dirty="0" err="1">
                <a:solidFill>
                  <a:srgbClr val="000000"/>
                </a:solidFill>
              </a:rPr>
              <a:t>indizio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materiale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della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commissione</a:t>
            </a:r>
            <a:r>
              <a:rPr sz="2000" b="0" dirty="0">
                <a:solidFill>
                  <a:srgbClr val="000000"/>
                </a:solidFill>
              </a:rPr>
              <a:t> di un </a:t>
            </a:r>
            <a:r>
              <a:rPr sz="2000" b="0" dirty="0" err="1">
                <a:solidFill>
                  <a:srgbClr val="000000"/>
                </a:solidFill>
              </a:rPr>
              <a:t>fatto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criminoso</a:t>
            </a:r>
            <a:r>
              <a:rPr sz="2000" b="0" dirty="0">
                <a:solidFill>
                  <a:srgbClr val="000000"/>
                </a:solidFill>
              </a:rPr>
              <a:t> (es. </a:t>
            </a:r>
            <a:r>
              <a:rPr sz="2000" b="0" dirty="0" err="1">
                <a:solidFill>
                  <a:srgbClr val="000000"/>
                </a:solidFill>
              </a:rPr>
              <a:t>delle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finte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macchie</a:t>
            </a:r>
            <a:r>
              <a:rPr sz="2000" b="0" dirty="0">
                <a:solidFill>
                  <a:srgbClr val="000000"/>
                </a:solidFill>
              </a:rPr>
              <a:t> di </a:t>
            </a:r>
            <a:r>
              <a:rPr sz="2000" b="0" dirty="0" err="1">
                <a:solidFill>
                  <a:srgbClr val="000000"/>
                </a:solidFill>
              </a:rPr>
              <a:t>sangue</a:t>
            </a:r>
            <a:r>
              <a:rPr sz="2000" b="0" dirty="0">
                <a:solidFill>
                  <a:srgbClr val="000000"/>
                </a:solidFill>
              </a:rPr>
              <a:t> o la </a:t>
            </a:r>
            <a:r>
              <a:rPr sz="2000" b="0" dirty="0" err="1">
                <a:solidFill>
                  <a:srgbClr val="000000"/>
                </a:solidFill>
              </a:rPr>
              <a:t>preordinata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rottura</a:t>
            </a:r>
            <a:r>
              <a:rPr sz="2000" b="0" dirty="0">
                <a:solidFill>
                  <a:srgbClr val="000000"/>
                </a:solidFill>
              </a:rPr>
              <a:t> di una </a:t>
            </a:r>
            <a:r>
              <a:rPr sz="2000" b="0" dirty="0" err="1">
                <a:solidFill>
                  <a:srgbClr val="000000"/>
                </a:solidFill>
              </a:rPr>
              <a:t>serratura</a:t>
            </a:r>
            <a:r>
              <a:rPr sz="2000" b="0" dirty="0">
                <a:solidFill>
                  <a:srgbClr val="000000"/>
                </a:solidFill>
              </a:rPr>
              <a:t>).</a:t>
            </a:r>
          </a:p>
        </p:txBody>
      </p:sp>
      <p:pic>
        <p:nvPicPr>
          <p:cNvPr id="26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ttangolo 4"/>
          <p:cNvSpPr txBox="1"/>
          <p:nvPr/>
        </p:nvSpPr>
        <p:spPr>
          <a:xfrm>
            <a:off x="182570" y="967797"/>
            <a:ext cx="8736198" cy="507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Indipendentemente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forma </a:t>
            </a:r>
            <a:r>
              <a:rPr dirty="0" err="1"/>
              <a:t>che</a:t>
            </a:r>
            <a:r>
              <a:rPr dirty="0"/>
              <a:t> assume,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sussiste</a:t>
            </a:r>
            <a:r>
              <a:rPr dirty="0"/>
              <a:t> solo in </a:t>
            </a:r>
            <a:r>
              <a:rPr dirty="0" err="1"/>
              <a:t>presenza</a:t>
            </a:r>
            <a:r>
              <a:rPr dirty="0"/>
              <a:t> di </a:t>
            </a:r>
            <a:r>
              <a:rPr b="1" u="sng" dirty="0">
                <a:solidFill>
                  <a:srgbClr val="0070C0"/>
                </a:solidFill>
              </a:rPr>
              <a:t>QUATTRO </a:t>
            </a:r>
            <a:r>
              <a:rPr b="1" u="sng" dirty="0" err="1">
                <a:solidFill>
                  <a:srgbClr val="0070C0"/>
                </a:solidFill>
              </a:rPr>
              <a:t>condizioni</a:t>
            </a:r>
            <a:r>
              <a:rPr dirty="0"/>
              <a:t>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b="1" dirty="0" err="1"/>
              <a:t>simulazione</a:t>
            </a:r>
            <a:r>
              <a:rPr dirty="0"/>
              <a:t> </a:t>
            </a:r>
            <a:r>
              <a:rPr u="sng" dirty="0" err="1"/>
              <a:t>deve</a:t>
            </a:r>
            <a:r>
              <a:rPr u="sng" dirty="0"/>
              <a:t> </a:t>
            </a:r>
            <a:r>
              <a:rPr u="sng" dirty="0" err="1"/>
              <a:t>avere</a:t>
            </a:r>
            <a:r>
              <a:rPr u="sng" dirty="0"/>
              <a:t> ad </a:t>
            </a:r>
            <a:r>
              <a:rPr u="sng" dirty="0" err="1"/>
              <a:t>oggetto</a:t>
            </a:r>
            <a:r>
              <a:rPr u="sng" dirty="0"/>
              <a:t> un </a:t>
            </a:r>
            <a:r>
              <a:rPr b="1" u="sng" dirty="0" err="1"/>
              <a:t>fatto</a:t>
            </a:r>
            <a:r>
              <a:rPr b="1" u="sng" dirty="0"/>
              <a:t> </a:t>
            </a:r>
            <a:r>
              <a:rPr b="1" u="sng" dirty="0" err="1"/>
              <a:t>che</a:t>
            </a:r>
            <a:r>
              <a:rPr b="1" u="sng" dirty="0"/>
              <a:t> </a:t>
            </a:r>
            <a:r>
              <a:rPr b="1" u="sng" dirty="0" err="1"/>
              <a:t>costituisca</a:t>
            </a:r>
            <a:r>
              <a:rPr b="1" u="sng" dirty="0"/>
              <a:t> </a:t>
            </a:r>
            <a:r>
              <a:rPr b="1" u="sng" dirty="0" err="1"/>
              <a:t>reato</a:t>
            </a:r>
            <a:r>
              <a:rPr b="1" u="sng" dirty="0"/>
              <a:t> </a:t>
            </a:r>
            <a:r>
              <a:rPr dirty="0"/>
              <a:t>al </a:t>
            </a:r>
            <a:r>
              <a:rPr dirty="0" err="1"/>
              <a:t>momento</a:t>
            </a:r>
            <a:r>
              <a:rPr dirty="0"/>
              <a:t> in cui </a:t>
            </a:r>
            <a:r>
              <a:rPr dirty="0" err="1"/>
              <a:t>essa</a:t>
            </a:r>
            <a:r>
              <a:rPr dirty="0"/>
              <a:t> è </a:t>
            </a:r>
            <a:r>
              <a:rPr dirty="0" err="1"/>
              <a:t>compiuta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il</a:t>
            </a:r>
            <a:r>
              <a:rPr dirty="0"/>
              <a:t> </a:t>
            </a:r>
            <a:r>
              <a:rPr b="1" u="sng" dirty="0" err="1"/>
              <a:t>reato</a:t>
            </a:r>
            <a:r>
              <a:rPr b="1" u="sng" dirty="0"/>
              <a:t> </a:t>
            </a:r>
            <a:r>
              <a:rPr b="1" u="sng" dirty="0" err="1"/>
              <a:t>deve</a:t>
            </a:r>
            <a:r>
              <a:rPr b="1" u="sng" dirty="0"/>
              <a:t> </a:t>
            </a:r>
            <a:r>
              <a:rPr b="1" u="sng" dirty="0" err="1"/>
              <a:t>essere</a:t>
            </a:r>
            <a:r>
              <a:rPr b="1" u="sng" dirty="0"/>
              <a:t> </a:t>
            </a:r>
            <a:r>
              <a:rPr b="1" u="sng" dirty="0" err="1"/>
              <a:t>immaginario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delittuoso</a:t>
            </a:r>
            <a:r>
              <a:rPr dirty="0"/>
              <a:t> non è </a:t>
            </a:r>
            <a:r>
              <a:rPr dirty="0" err="1"/>
              <a:t>avvenuto</a:t>
            </a:r>
            <a:r>
              <a:rPr dirty="0"/>
              <a:t> </a:t>
            </a:r>
            <a:r>
              <a:rPr dirty="0" err="1"/>
              <a:t>oppure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esso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è </a:t>
            </a:r>
            <a:r>
              <a:rPr dirty="0" err="1"/>
              <a:t>verificato</a:t>
            </a:r>
            <a:r>
              <a:rPr dirty="0"/>
              <a:t> in modo </a:t>
            </a:r>
            <a:r>
              <a:rPr dirty="0" err="1"/>
              <a:t>essenzialmente</a:t>
            </a:r>
            <a:r>
              <a:rPr dirty="0"/>
              <a:t> </a:t>
            </a:r>
            <a:r>
              <a:rPr dirty="0" err="1"/>
              <a:t>diverso</a:t>
            </a:r>
            <a:r>
              <a:rPr dirty="0"/>
              <a:t> da </a:t>
            </a:r>
            <a:r>
              <a:rPr dirty="0" err="1"/>
              <a:t>quello</a:t>
            </a:r>
            <a:r>
              <a:rPr dirty="0"/>
              <a:t> </a:t>
            </a:r>
            <a:r>
              <a:rPr dirty="0" err="1"/>
              <a:t>denunciato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denuncia</a:t>
            </a:r>
            <a:r>
              <a:rPr dirty="0"/>
              <a:t> o la </a:t>
            </a:r>
            <a:r>
              <a:rPr dirty="0" err="1"/>
              <a:t>simulazione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tali</a:t>
            </a:r>
            <a:r>
              <a:rPr dirty="0"/>
              <a:t> da </a:t>
            </a:r>
            <a:r>
              <a:rPr dirty="0" err="1"/>
              <a:t>poter</a:t>
            </a:r>
            <a:r>
              <a:rPr dirty="0"/>
              <a:t> </a:t>
            </a:r>
            <a:r>
              <a:rPr dirty="0" err="1"/>
              <a:t>determinare</a:t>
            </a:r>
            <a:r>
              <a:rPr dirty="0"/>
              <a:t> </a:t>
            </a:r>
            <a:r>
              <a:rPr b="1" u="sng" dirty="0" err="1"/>
              <a:t>l’inizio</a:t>
            </a:r>
            <a:r>
              <a:rPr b="1" u="sng" dirty="0"/>
              <a:t> di u</a:t>
            </a:r>
            <a:r>
              <a:rPr lang="it-IT" b="1" u="sng" dirty="0"/>
              <a:t>n’indagine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il</a:t>
            </a:r>
            <a:r>
              <a:rPr dirty="0"/>
              <a:t> </a:t>
            </a:r>
            <a:r>
              <a:rPr b="1" u="sng" dirty="0" err="1"/>
              <a:t>delitto</a:t>
            </a:r>
            <a:r>
              <a:rPr b="1" u="sng" dirty="0"/>
              <a:t> NON </a:t>
            </a:r>
            <a:r>
              <a:rPr b="1" u="sng" dirty="0" err="1"/>
              <a:t>deve</a:t>
            </a:r>
            <a:r>
              <a:rPr b="1" u="sng" dirty="0"/>
              <a:t> </a:t>
            </a:r>
            <a:r>
              <a:rPr b="1" u="sng" dirty="0" err="1"/>
              <a:t>essere</a:t>
            </a:r>
            <a:r>
              <a:rPr b="1" u="sng" dirty="0"/>
              <a:t> </a:t>
            </a:r>
            <a:r>
              <a:rPr b="1" u="sng" dirty="0" err="1"/>
              <a:t>attribuito</a:t>
            </a:r>
            <a:r>
              <a:rPr b="1" u="sng" dirty="0"/>
              <a:t> ad una persona </a:t>
            </a:r>
            <a:r>
              <a:rPr b="1" u="sng" dirty="0" err="1"/>
              <a:t>determinata</a:t>
            </a:r>
            <a:r>
              <a:rPr u="sng" dirty="0"/>
              <a:t>, </a:t>
            </a:r>
            <a:r>
              <a:rPr dirty="0" err="1"/>
              <a:t>altrimenti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avrebbe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grave di </a:t>
            </a:r>
            <a:r>
              <a:rPr u="sng" dirty="0" err="1">
                <a:solidFill>
                  <a:srgbClr val="FF0000"/>
                </a:solidFill>
              </a:rPr>
              <a:t>calunnia</a:t>
            </a:r>
            <a:r>
              <a:rPr u="sng" dirty="0"/>
              <a:t>.</a:t>
            </a:r>
          </a:p>
        </p:txBody>
      </p:sp>
      <p:pic>
        <p:nvPicPr>
          <p:cNvPr id="27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ttangolo 4"/>
          <p:cNvSpPr txBox="1"/>
          <p:nvPr/>
        </p:nvSpPr>
        <p:spPr>
          <a:xfrm>
            <a:off x="203901" y="908720"/>
            <a:ext cx="8736198" cy="5938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5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reato</a:t>
            </a:r>
            <a:r>
              <a:rPr dirty="0"/>
              <a:t> in </a:t>
            </a:r>
            <a:r>
              <a:rPr dirty="0" err="1"/>
              <a:t>esame</a:t>
            </a:r>
            <a:r>
              <a:rPr dirty="0"/>
              <a:t> è un </a:t>
            </a:r>
            <a:r>
              <a:rPr b="1" dirty="0">
                <a:solidFill>
                  <a:srgbClr val="0070C0"/>
                </a:solidFill>
              </a:rPr>
              <a:t>REATO COMMISSIVO</a:t>
            </a:r>
            <a:r>
              <a:rPr dirty="0"/>
              <a:t>, </a:t>
            </a:r>
            <a:r>
              <a:rPr b="1" dirty="0">
                <a:solidFill>
                  <a:srgbClr val="0070C0"/>
                </a:solidFill>
              </a:rPr>
              <a:t>DI MERA CONDOTTA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È un </a:t>
            </a:r>
            <a:r>
              <a:rPr b="1" dirty="0">
                <a:solidFill>
                  <a:srgbClr val="0070C0"/>
                </a:solidFill>
              </a:rPr>
              <a:t>REATO DI PERICOLO</a:t>
            </a:r>
            <a:r>
              <a:rPr dirty="0"/>
              <a:t>, </a:t>
            </a:r>
            <a:r>
              <a:rPr dirty="0" err="1"/>
              <a:t>pertanto</a:t>
            </a:r>
            <a:r>
              <a:rPr dirty="0"/>
              <a:t>, per la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consumazione</a:t>
            </a:r>
            <a:r>
              <a:rPr dirty="0"/>
              <a:t>, NON è </a:t>
            </a:r>
            <a:r>
              <a:rPr dirty="0" err="1"/>
              <a:t>necessario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l’autorità</a:t>
            </a:r>
            <a:r>
              <a:rPr dirty="0"/>
              <a:t> </a:t>
            </a:r>
            <a:r>
              <a:rPr dirty="0" err="1"/>
              <a:t>competente</a:t>
            </a:r>
            <a:r>
              <a:rPr dirty="0"/>
              <a:t> ad </a:t>
            </a:r>
            <a:r>
              <a:rPr dirty="0" err="1"/>
              <a:t>effettuare</a:t>
            </a:r>
            <a:r>
              <a:rPr dirty="0"/>
              <a:t> le </a:t>
            </a:r>
            <a:r>
              <a:rPr dirty="0" err="1"/>
              <a:t>indagini</a:t>
            </a:r>
            <a:r>
              <a:rPr dirty="0"/>
              <a:t> (PG o AG)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realmente</a:t>
            </a:r>
            <a:r>
              <a:rPr dirty="0"/>
              <a:t> in </a:t>
            </a:r>
            <a:r>
              <a:rPr dirty="0" err="1"/>
              <a:t>errore</a:t>
            </a:r>
            <a:r>
              <a:rPr dirty="0"/>
              <a:t>; è </a:t>
            </a:r>
            <a:r>
              <a:rPr dirty="0" err="1"/>
              <a:t>sufficiente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la falsa </a:t>
            </a:r>
            <a:r>
              <a:rPr dirty="0" err="1"/>
              <a:t>informazione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 </a:t>
            </a:r>
            <a:r>
              <a:rPr dirty="0" err="1"/>
              <a:t>luogo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b="1" u="sng" dirty="0" err="1"/>
              <a:t>possibilità</a:t>
            </a:r>
            <a:r>
              <a:rPr b="1" u="sng" dirty="0"/>
              <a:t> di </a:t>
            </a:r>
            <a:r>
              <a:rPr b="1" u="sng" dirty="0" err="1"/>
              <a:t>instaurazione</a:t>
            </a:r>
            <a:r>
              <a:rPr b="1" u="sng" dirty="0"/>
              <a:t> di un </a:t>
            </a:r>
            <a:r>
              <a:rPr b="1" u="sng" dirty="0" err="1"/>
              <a:t>procedimento</a:t>
            </a:r>
            <a:r>
              <a:rPr b="1" u="sng" dirty="0"/>
              <a:t> </a:t>
            </a:r>
            <a:r>
              <a:rPr b="1" u="sng" dirty="0" err="1"/>
              <a:t>penale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Ne </a:t>
            </a:r>
            <a:r>
              <a:rPr dirty="0" err="1"/>
              <a:t>deriva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b="1" u="sng" dirty="0" err="1">
                <a:solidFill>
                  <a:srgbClr val="FF0000"/>
                </a:solidFill>
              </a:rPr>
              <a:t>il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reato</a:t>
            </a:r>
            <a:r>
              <a:rPr b="1" u="sng" dirty="0">
                <a:solidFill>
                  <a:srgbClr val="FF0000"/>
                </a:solidFill>
              </a:rPr>
              <a:t> NON </a:t>
            </a:r>
            <a:r>
              <a:rPr b="1" u="sng" dirty="0" err="1">
                <a:solidFill>
                  <a:srgbClr val="FF0000"/>
                </a:solidFill>
              </a:rPr>
              <a:t>possa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mai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configurarsi</a:t>
            </a:r>
            <a:r>
              <a:rPr b="1" u="sng" dirty="0">
                <a:solidFill>
                  <a:srgbClr val="FF0000"/>
                </a:solidFill>
              </a:rPr>
              <a:t>:</a:t>
            </a:r>
            <a:endParaRPr lang="it-IT" b="1" u="sng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 u="sng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14000"/>
              </a:lnSpc>
              <a:buSzPct val="100000"/>
              <a:buFont typeface="Arial" panose="020B0604020202020204" pitchFamily="34" charset="0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racconto</a:t>
            </a:r>
            <a:r>
              <a:rPr dirty="0"/>
              <a:t> </a:t>
            </a:r>
            <a:r>
              <a:rPr dirty="0" err="1"/>
              <a:t>appaia</a:t>
            </a:r>
            <a:r>
              <a:rPr dirty="0"/>
              <a:t> </a:t>
            </a:r>
            <a:r>
              <a:rPr b="1" u="sng" dirty="0" err="1">
                <a:solidFill>
                  <a:srgbClr val="0070C0"/>
                </a:solidFill>
              </a:rPr>
              <a:t>assurdo</a:t>
            </a:r>
            <a:r>
              <a:rPr b="1" u="sng" dirty="0">
                <a:solidFill>
                  <a:srgbClr val="0070C0"/>
                </a:solidFill>
              </a:rPr>
              <a:t> o </a:t>
            </a:r>
            <a:r>
              <a:rPr b="1" u="sng" dirty="0" err="1">
                <a:solidFill>
                  <a:srgbClr val="0070C0"/>
                </a:solidFill>
              </a:rPr>
              <a:t>inverosimile</a:t>
            </a:r>
            <a:r>
              <a:rPr dirty="0"/>
              <a:t>, tale da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inidoneo</a:t>
            </a:r>
            <a:r>
              <a:rPr dirty="0"/>
              <a:t> ad </a:t>
            </a:r>
            <a:r>
              <a:rPr dirty="0" err="1"/>
              <a:t>ingannare</a:t>
            </a:r>
            <a:r>
              <a:rPr dirty="0"/>
              <a:t> (es. “</a:t>
            </a:r>
            <a:r>
              <a:rPr i="1" dirty="0" err="1"/>
              <a:t>voglio</a:t>
            </a:r>
            <a:r>
              <a:rPr i="1" dirty="0"/>
              <a:t> </a:t>
            </a:r>
            <a:r>
              <a:rPr i="1" dirty="0" err="1"/>
              <a:t>denunciare</a:t>
            </a:r>
            <a:r>
              <a:rPr i="1" dirty="0"/>
              <a:t> un </a:t>
            </a:r>
            <a:r>
              <a:rPr i="1" dirty="0" err="1"/>
              <a:t>furto</a:t>
            </a:r>
            <a:r>
              <a:rPr i="1" dirty="0"/>
              <a:t>; mi </a:t>
            </a:r>
            <a:r>
              <a:rPr i="1" dirty="0" err="1"/>
              <a:t>hanno</a:t>
            </a:r>
            <a:r>
              <a:rPr i="1" dirty="0"/>
              <a:t> rubato la Luna</a:t>
            </a:r>
            <a:r>
              <a:rPr dirty="0"/>
              <a:t>”);</a:t>
            </a:r>
          </a:p>
          <a:p>
            <a:pPr marL="342900" indent="-342900" algn="just">
              <a:lnSpc>
                <a:spcPct val="114000"/>
              </a:lnSpc>
              <a:buSzPct val="100000"/>
              <a:buFont typeface="Arial" panose="020B0604020202020204" pitchFamily="34" charset="0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quando</a:t>
            </a:r>
            <a:r>
              <a:rPr dirty="0"/>
              <a:t> non vi è </a:t>
            </a:r>
            <a:r>
              <a:rPr dirty="0" err="1"/>
              <a:t>pericolo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venga</a:t>
            </a:r>
            <a:r>
              <a:rPr dirty="0"/>
              <a:t> </a:t>
            </a:r>
            <a:r>
              <a:rPr dirty="0" err="1"/>
              <a:t>iniziato</a:t>
            </a:r>
            <a:r>
              <a:rPr dirty="0"/>
              <a:t> un </a:t>
            </a:r>
            <a:r>
              <a:rPr dirty="0" err="1"/>
              <a:t>procedimento</a:t>
            </a:r>
            <a:r>
              <a:rPr dirty="0"/>
              <a:t> </a:t>
            </a:r>
            <a:r>
              <a:rPr dirty="0" err="1"/>
              <a:t>penale</a:t>
            </a:r>
            <a:r>
              <a:rPr dirty="0"/>
              <a:t> </a:t>
            </a:r>
            <a:r>
              <a:rPr dirty="0" err="1"/>
              <a:t>perché</a:t>
            </a:r>
            <a:r>
              <a:rPr dirty="0"/>
              <a:t> </a:t>
            </a:r>
            <a:r>
              <a:rPr b="1" u="sng" dirty="0" err="1">
                <a:solidFill>
                  <a:srgbClr val="0070C0"/>
                </a:solidFill>
              </a:rPr>
              <a:t>manca</a:t>
            </a:r>
            <a:r>
              <a:rPr b="1" u="sng" dirty="0">
                <a:solidFill>
                  <a:srgbClr val="0070C0"/>
                </a:solidFill>
              </a:rPr>
              <a:t> una </a:t>
            </a:r>
            <a:r>
              <a:rPr b="1" u="sng" dirty="0" err="1">
                <a:solidFill>
                  <a:srgbClr val="0070C0"/>
                </a:solidFill>
              </a:rPr>
              <a:t>condizione</a:t>
            </a:r>
            <a:r>
              <a:rPr b="1" u="sng" dirty="0">
                <a:solidFill>
                  <a:srgbClr val="0070C0"/>
                </a:solidFill>
              </a:rPr>
              <a:t> di </a:t>
            </a:r>
            <a:r>
              <a:rPr b="1" u="sng" dirty="0" err="1">
                <a:solidFill>
                  <a:srgbClr val="0070C0"/>
                </a:solidFill>
              </a:rPr>
              <a:t>procedibilità</a:t>
            </a:r>
            <a:r>
              <a:rPr b="1" u="sng" dirty="0">
                <a:solidFill>
                  <a:srgbClr val="0070C0"/>
                </a:solidFill>
              </a:rPr>
              <a:t> </a:t>
            </a:r>
            <a:r>
              <a:rPr dirty="0"/>
              <a:t>(es. “</a:t>
            </a:r>
            <a:r>
              <a:rPr i="1" dirty="0"/>
              <a:t>ho </a:t>
            </a:r>
            <a:r>
              <a:rPr i="1" dirty="0" err="1"/>
              <a:t>subito</a:t>
            </a:r>
            <a:r>
              <a:rPr i="1" dirty="0"/>
              <a:t> un </a:t>
            </a:r>
            <a:r>
              <a:rPr i="1" dirty="0" err="1"/>
              <a:t>furto</a:t>
            </a:r>
            <a:r>
              <a:rPr i="1" dirty="0"/>
              <a:t> semplice ad opera di </a:t>
            </a:r>
            <a:r>
              <a:rPr i="1" dirty="0" err="1"/>
              <a:t>ignoti</a:t>
            </a:r>
            <a:r>
              <a:rPr i="1" dirty="0"/>
              <a:t>, ma non </a:t>
            </a:r>
            <a:r>
              <a:rPr i="1" dirty="0" err="1"/>
              <a:t>voglio</a:t>
            </a:r>
            <a:r>
              <a:rPr i="1" dirty="0"/>
              <a:t> </a:t>
            </a:r>
            <a:r>
              <a:rPr i="1" dirty="0" err="1"/>
              <a:t>presentare</a:t>
            </a:r>
            <a:r>
              <a:rPr i="1" dirty="0"/>
              <a:t> querela</a:t>
            </a:r>
            <a:r>
              <a:rPr dirty="0"/>
              <a:t>”).</a:t>
            </a:r>
          </a:p>
        </p:txBody>
      </p:sp>
      <p:pic>
        <p:nvPicPr>
          <p:cNvPr id="27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ttangolo 4"/>
          <p:cNvSpPr txBox="1"/>
          <p:nvPr/>
        </p:nvSpPr>
        <p:spPr>
          <a:xfrm>
            <a:off x="182570" y="967797"/>
            <a:ext cx="8736198" cy="3843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u="none" dirty="0"/>
              <a:t>: di </a:t>
            </a:r>
            <a:r>
              <a:rPr u="none" dirty="0">
                <a:solidFill>
                  <a:srgbClr val="0070C0"/>
                </a:solidFill>
              </a:rPr>
              <a:t>DOLO GENERICO </a:t>
            </a:r>
            <a:r>
              <a:rPr b="0" u="none" dirty="0"/>
              <a:t>e </a:t>
            </a:r>
            <a:r>
              <a:rPr b="0" u="none" dirty="0" err="1"/>
              <a:t>consiste</a:t>
            </a:r>
            <a:r>
              <a:rPr b="0" u="none" dirty="0"/>
              <a:t>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nell’ipotesi</a:t>
            </a:r>
            <a:r>
              <a:rPr dirty="0"/>
              <a:t> di </a:t>
            </a:r>
            <a:r>
              <a:rPr dirty="0" err="1">
                <a:solidFill>
                  <a:srgbClr val="FF0000"/>
                </a:solidFill>
              </a:rPr>
              <a:t>simulazione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formale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/>
              <a:t>nella</a:t>
            </a:r>
            <a:r>
              <a:rPr dirty="0"/>
              <a:t> </a:t>
            </a:r>
            <a:r>
              <a:rPr dirty="0" err="1"/>
              <a:t>consapevolezza</a:t>
            </a:r>
            <a:r>
              <a:rPr dirty="0"/>
              <a:t> e </a:t>
            </a:r>
            <a:r>
              <a:rPr dirty="0" err="1"/>
              <a:t>volontà</a:t>
            </a:r>
            <a:r>
              <a:rPr dirty="0"/>
              <a:t> di </a:t>
            </a:r>
            <a:r>
              <a:rPr dirty="0" err="1"/>
              <a:t>presentare</a:t>
            </a:r>
            <a:r>
              <a:rPr dirty="0"/>
              <a:t> una </a:t>
            </a:r>
            <a:r>
              <a:rPr u="sng" dirty="0" err="1"/>
              <a:t>denuncia</a:t>
            </a:r>
            <a:r>
              <a:rPr u="sng" dirty="0"/>
              <a:t> non </a:t>
            </a:r>
            <a:r>
              <a:rPr u="sng" dirty="0" err="1"/>
              <a:t>veritiera</a:t>
            </a:r>
            <a:r>
              <a:rPr dirty="0"/>
              <a:t>;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di </a:t>
            </a:r>
            <a:r>
              <a:rPr dirty="0" err="1">
                <a:solidFill>
                  <a:srgbClr val="FF0000"/>
                </a:solidFill>
              </a:rPr>
              <a:t>simulazione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materiale</a:t>
            </a:r>
            <a:r>
              <a:rPr dirty="0"/>
              <a:t>, </a:t>
            </a:r>
            <a:r>
              <a:rPr dirty="0" err="1"/>
              <a:t>nella</a:t>
            </a:r>
            <a:r>
              <a:rPr dirty="0"/>
              <a:t> </a:t>
            </a:r>
            <a:r>
              <a:rPr dirty="0" err="1"/>
              <a:t>consapevolezza</a:t>
            </a:r>
            <a:r>
              <a:rPr dirty="0"/>
              <a:t> e </a:t>
            </a:r>
            <a:r>
              <a:rPr dirty="0" err="1"/>
              <a:t>volontà</a:t>
            </a:r>
            <a:r>
              <a:rPr dirty="0"/>
              <a:t> di </a:t>
            </a:r>
            <a:r>
              <a:rPr u="sng" dirty="0" err="1"/>
              <a:t>creare</a:t>
            </a:r>
            <a:r>
              <a:rPr u="sng" dirty="0"/>
              <a:t> </a:t>
            </a:r>
            <a:r>
              <a:rPr u="sng" dirty="0" err="1"/>
              <a:t>artificiosamente</a:t>
            </a:r>
            <a:r>
              <a:rPr u="sng" dirty="0"/>
              <a:t> le </a:t>
            </a:r>
            <a:r>
              <a:rPr u="sng" dirty="0" err="1"/>
              <a:t>tracce</a:t>
            </a:r>
            <a:r>
              <a:rPr u="sng" dirty="0"/>
              <a:t> </a:t>
            </a:r>
            <a:r>
              <a:rPr dirty="0"/>
              <a:t>di un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mai</a:t>
            </a:r>
            <a:r>
              <a:rPr dirty="0"/>
              <a:t> </a:t>
            </a:r>
            <a:r>
              <a:rPr dirty="0" err="1"/>
              <a:t>venuto</a:t>
            </a:r>
            <a:r>
              <a:rPr dirty="0"/>
              <a:t> ad </a:t>
            </a:r>
            <a:r>
              <a:rPr dirty="0" err="1"/>
              <a:t>esistenza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tabLst>
                <a:tab pos="2235200" algn="l"/>
              </a:tabLst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tabLst>
                <a:tab pos="2235200" algn="l"/>
              </a:tabLst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DOLO </a:t>
            </a:r>
            <a:r>
              <a:rPr u="sng" dirty="0" err="1">
                <a:solidFill>
                  <a:srgbClr val="FF0000"/>
                </a:solidFill>
              </a:rPr>
              <a:t>manca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dirty="0"/>
              <a:t>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soggetto</a:t>
            </a:r>
            <a:r>
              <a:rPr dirty="0"/>
              <a:t>, </a:t>
            </a:r>
            <a:r>
              <a:rPr u="sng" dirty="0">
                <a:solidFill>
                  <a:schemeClr val="accent2"/>
                </a:solidFill>
              </a:rPr>
              <a:t>per </a:t>
            </a:r>
            <a:r>
              <a:rPr u="sng" dirty="0" err="1">
                <a:solidFill>
                  <a:schemeClr val="accent2"/>
                </a:solidFill>
              </a:rPr>
              <a:t>errore</a:t>
            </a:r>
            <a:r>
              <a:rPr u="sng" dirty="0">
                <a:solidFill>
                  <a:schemeClr val="accent2"/>
                </a:solidFill>
              </a:rPr>
              <a:t> di </a:t>
            </a:r>
            <a:r>
              <a:rPr u="sng" dirty="0" err="1">
                <a:solidFill>
                  <a:schemeClr val="accent2"/>
                </a:solidFill>
              </a:rPr>
              <a:t>valutazione</a:t>
            </a:r>
            <a:r>
              <a:rPr u="sng" dirty="0">
                <a:solidFill>
                  <a:schemeClr val="accent2"/>
                </a:solidFill>
              </a:rPr>
              <a:t>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circostanze</a:t>
            </a:r>
            <a:r>
              <a:rPr dirty="0"/>
              <a:t> di </a:t>
            </a:r>
            <a:r>
              <a:rPr dirty="0" err="1"/>
              <a:t>fatto</a:t>
            </a:r>
            <a:r>
              <a:rPr dirty="0"/>
              <a:t>, </a:t>
            </a:r>
            <a:r>
              <a:rPr dirty="0" err="1"/>
              <a:t>giunge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conclusione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un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effettivamente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. </a:t>
            </a:r>
          </a:p>
        </p:txBody>
      </p:sp>
      <p:pic>
        <p:nvPicPr>
          <p:cNvPr id="27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ttangolo 4"/>
          <p:cNvSpPr txBox="1"/>
          <p:nvPr/>
        </p:nvSpPr>
        <p:spPr>
          <a:xfrm>
            <a:off x="203901" y="945219"/>
            <a:ext cx="8736198" cy="6530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nel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momento</a:t>
            </a:r>
            <a:r>
              <a:rPr b="1" dirty="0">
                <a:solidFill>
                  <a:srgbClr val="0070C0"/>
                </a:solidFill>
              </a:rPr>
              <a:t> e </a:t>
            </a:r>
            <a:r>
              <a:rPr b="1" dirty="0" err="1">
                <a:solidFill>
                  <a:srgbClr val="0070C0"/>
                </a:solidFill>
              </a:rPr>
              <a:t>nel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luogo</a:t>
            </a:r>
            <a:r>
              <a:rPr b="1" dirty="0">
                <a:solidFill>
                  <a:srgbClr val="0070C0"/>
                </a:solidFill>
              </a:rPr>
              <a:t> in cui è </a:t>
            </a:r>
            <a:r>
              <a:rPr b="1" dirty="0" err="1">
                <a:solidFill>
                  <a:srgbClr val="0070C0"/>
                </a:solidFill>
              </a:rPr>
              <a:t>presentata</a:t>
            </a:r>
            <a:r>
              <a:rPr b="1" dirty="0">
                <a:solidFill>
                  <a:srgbClr val="0070C0"/>
                </a:solidFill>
              </a:rPr>
              <a:t> la falsa </a:t>
            </a:r>
            <a:r>
              <a:rPr b="1" dirty="0" err="1">
                <a:solidFill>
                  <a:srgbClr val="0070C0"/>
                </a:solidFill>
              </a:rPr>
              <a:t>denuncia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idonea</a:t>
            </a:r>
            <a:r>
              <a:rPr b="1" dirty="0">
                <a:solidFill>
                  <a:srgbClr val="0070C0"/>
                </a:solidFill>
              </a:rPr>
              <a:t> a </a:t>
            </a:r>
            <a:r>
              <a:rPr b="1" dirty="0" err="1">
                <a:solidFill>
                  <a:srgbClr val="0070C0"/>
                </a:solidFill>
              </a:rPr>
              <a:t>provocare</a:t>
            </a:r>
            <a:r>
              <a:rPr b="1" dirty="0">
                <a:solidFill>
                  <a:srgbClr val="0070C0"/>
                </a:solidFill>
              </a:rPr>
              <a:t> le </a:t>
            </a:r>
            <a:r>
              <a:rPr b="1" dirty="0" err="1">
                <a:solidFill>
                  <a:srgbClr val="0070C0"/>
                </a:solidFill>
              </a:rPr>
              <a:t>indagini</a:t>
            </a:r>
            <a:r>
              <a:rPr b="1" dirty="0">
                <a:solidFill>
                  <a:srgbClr val="0070C0"/>
                </a:solidFill>
              </a:rPr>
              <a:t>, o in cui le </a:t>
            </a:r>
            <a:r>
              <a:rPr b="1" dirty="0" err="1">
                <a:solidFill>
                  <a:srgbClr val="0070C0"/>
                </a:solidFill>
              </a:rPr>
              <a:t>Autorità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scoprono</a:t>
            </a:r>
            <a:r>
              <a:rPr b="1" dirty="0">
                <a:solidFill>
                  <a:srgbClr val="0070C0"/>
                </a:solidFill>
              </a:rPr>
              <a:t> le </a:t>
            </a:r>
            <a:r>
              <a:rPr b="1" dirty="0" err="1">
                <a:solidFill>
                  <a:srgbClr val="0070C0"/>
                </a:solidFill>
              </a:rPr>
              <a:t>tracce</a:t>
            </a:r>
            <a:r>
              <a:rPr b="1" dirty="0">
                <a:solidFill>
                  <a:srgbClr val="0070C0"/>
                </a:solidFill>
              </a:rPr>
              <a:t> simulate</a:t>
            </a:r>
            <a:r>
              <a:rPr dirty="0">
                <a:solidFill>
                  <a:srgbClr val="0070C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800" b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solidFill>
                <a:srgbClr val="0070C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dirty="0" err="1"/>
              <a:t>tratta</a:t>
            </a:r>
            <a:r>
              <a:rPr dirty="0"/>
              <a:t> di </a:t>
            </a:r>
            <a:r>
              <a:rPr b="1" dirty="0">
                <a:solidFill>
                  <a:srgbClr val="0070C0"/>
                </a:solidFill>
              </a:rPr>
              <a:t>REATO ISTANTANEO </a:t>
            </a:r>
            <a:r>
              <a:rPr dirty="0"/>
              <a:t>e </a:t>
            </a:r>
            <a:r>
              <a:rPr b="1" dirty="0">
                <a:solidFill>
                  <a:srgbClr val="0070C0"/>
                </a:solidFill>
              </a:rPr>
              <a:t>DI PERICOLO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err="1"/>
              <a:t>pertanto</a:t>
            </a:r>
            <a:r>
              <a:rPr u="sng" dirty="0">
                <a:solidFill>
                  <a:srgbClr val="FF0000"/>
                </a:solidFill>
              </a:rPr>
              <a:t>, IL </a:t>
            </a:r>
            <a:r>
              <a:rPr b="1" u="sng" dirty="0">
                <a:solidFill>
                  <a:srgbClr val="FF0000"/>
                </a:solidFill>
              </a:rPr>
              <a:t>TENTATIVO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b="1" u="sng" dirty="0">
                <a:solidFill>
                  <a:srgbClr val="FF0000"/>
                </a:solidFill>
              </a:rPr>
              <a:t>NON È CONFIGURABILE</a:t>
            </a:r>
            <a:r>
              <a:rPr dirty="0"/>
              <a:t>: per la </a:t>
            </a:r>
            <a:r>
              <a:rPr dirty="0" err="1"/>
              <a:t>consumazione</a:t>
            </a:r>
            <a:r>
              <a:rPr dirty="0"/>
              <a:t> </a:t>
            </a:r>
            <a:r>
              <a:rPr dirty="0" err="1"/>
              <a:t>basta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la </a:t>
            </a:r>
            <a:r>
              <a:rPr dirty="0" err="1"/>
              <a:t>notizia</a:t>
            </a:r>
            <a:r>
              <a:rPr dirty="0"/>
              <a:t> o la </a:t>
            </a:r>
            <a:r>
              <a:rPr dirty="0" err="1"/>
              <a:t>scoperta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suscettibile</a:t>
            </a:r>
            <a:r>
              <a:rPr dirty="0"/>
              <a:t> di </a:t>
            </a:r>
            <a:r>
              <a:rPr dirty="0" err="1"/>
              <a:t>determinare</a:t>
            </a:r>
            <a:r>
              <a:rPr dirty="0"/>
              <a:t> un </a:t>
            </a:r>
            <a:r>
              <a:rPr dirty="0" err="1"/>
              <a:t>procedimento</a:t>
            </a:r>
            <a:r>
              <a:rPr dirty="0"/>
              <a:t> </a:t>
            </a:r>
            <a:r>
              <a:rPr dirty="0" err="1"/>
              <a:t>penale</a:t>
            </a:r>
            <a:r>
              <a:rPr dirty="0"/>
              <a:t>, </a:t>
            </a:r>
            <a:r>
              <a:rPr dirty="0" err="1"/>
              <a:t>mentre</a:t>
            </a:r>
            <a:r>
              <a:rPr dirty="0"/>
              <a:t> prima di tale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ciò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ha </a:t>
            </a:r>
            <a:r>
              <a:rPr dirty="0" err="1"/>
              <a:t>potuto</a:t>
            </a:r>
            <a:r>
              <a:rPr dirty="0"/>
              <a:t> fare </a:t>
            </a:r>
            <a:r>
              <a:rPr dirty="0" err="1"/>
              <a:t>l’agente</a:t>
            </a:r>
            <a:r>
              <a:rPr dirty="0"/>
              <a:t> è </a:t>
            </a:r>
            <a:r>
              <a:rPr dirty="0" err="1"/>
              <a:t>giuridicamente</a:t>
            </a:r>
            <a:r>
              <a:rPr dirty="0"/>
              <a:t> </a:t>
            </a:r>
            <a:r>
              <a:rPr dirty="0" err="1"/>
              <a:t>irrilevante</a:t>
            </a:r>
            <a:r>
              <a:rPr dirty="0"/>
              <a:t>. </a:t>
            </a: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>
                <a:solidFill>
                  <a:srgbClr val="00B050"/>
                </a:solidFill>
              </a:rPr>
              <a:t>La</a:t>
            </a:r>
            <a:r>
              <a:rPr lang="it-IT" dirty="0"/>
              <a:t> </a:t>
            </a:r>
            <a:r>
              <a:rPr lang="it-IT" dirty="0">
                <a:solidFill>
                  <a:srgbClr val="00B050"/>
                </a:solidFill>
              </a:rPr>
              <a:t>RITRATTAZIONE</a:t>
            </a:r>
            <a:r>
              <a:rPr lang="it-IT" dirty="0"/>
              <a:t>: per avere efficacia al fine di escludere la sussistenza del reato </a:t>
            </a:r>
            <a:r>
              <a:rPr lang="it-IT" u="sng" dirty="0">
                <a:solidFill>
                  <a:srgbClr val="FF0000"/>
                </a:solidFill>
              </a:rPr>
              <a:t>deve essere immediata e spontanea.</a:t>
            </a:r>
            <a:r>
              <a:rPr lang="it-IT" dirty="0">
                <a:solidFill>
                  <a:srgbClr val="FF0000"/>
                </a:solidFill>
              </a:rPr>
              <a:t>  </a:t>
            </a:r>
            <a:r>
              <a:rPr lang="it-IT" dirty="0">
                <a:solidFill>
                  <a:schemeClr val="tx1"/>
                </a:solidFill>
              </a:rPr>
              <a:t>Non ha quindi efficacia se la P.G. ha ormai dato corso alle indagini.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</p:txBody>
      </p:sp>
      <p:pic>
        <p:nvPicPr>
          <p:cNvPr id="28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Simulazione di reato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asellaDiTesto 1"/>
          <p:cNvSpPr txBox="1"/>
          <p:nvPr/>
        </p:nvSpPr>
        <p:spPr>
          <a:xfrm>
            <a:off x="234487" y="908719"/>
            <a:ext cx="8684281" cy="3597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>
                <a:solidFill>
                  <a:srgbClr val="FF0000"/>
                </a:solidFill>
              </a:rPr>
              <a:t>Art. 368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Calunnia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b="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«</a:t>
            </a:r>
            <a:r>
              <a:rPr i="1" dirty="0"/>
              <a:t>c.1 </a:t>
            </a:r>
            <a:r>
              <a:rPr i="1" dirty="0" err="1"/>
              <a:t>Chiunque</a:t>
            </a:r>
            <a:r>
              <a:rPr i="1" dirty="0"/>
              <a:t>, con </a:t>
            </a:r>
            <a:r>
              <a:rPr i="1" dirty="0" err="1"/>
              <a:t>denunzia</a:t>
            </a:r>
            <a:r>
              <a:rPr i="1" dirty="0"/>
              <a:t>, querela, </a:t>
            </a:r>
            <a:r>
              <a:rPr i="1" dirty="0" err="1"/>
              <a:t>richiesta</a:t>
            </a:r>
            <a:r>
              <a:rPr i="1" dirty="0"/>
              <a:t> o </a:t>
            </a:r>
            <a:r>
              <a:rPr i="1" dirty="0" err="1"/>
              <a:t>istanza</a:t>
            </a:r>
            <a:r>
              <a:rPr i="1" dirty="0"/>
              <a:t>, </a:t>
            </a:r>
            <a:r>
              <a:rPr i="1" dirty="0" err="1"/>
              <a:t>anche</a:t>
            </a:r>
            <a:r>
              <a:rPr i="1" dirty="0"/>
              <a:t> se </a:t>
            </a:r>
            <a:r>
              <a:rPr i="1" dirty="0" err="1"/>
              <a:t>anonima</a:t>
            </a:r>
            <a:r>
              <a:rPr i="1" dirty="0"/>
              <a:t> o sotto </a:t>
            </a:r>
            <a:r>
              <a:rPr i="1" dirty="0" err="1"/>
              <a:t>falso</a:t>
            </a:r>
            <a:r>
              <a:rPr i="1" dirty="0"/>
              <a:t> </a:t>
            </a:r>
            <a:r>
              <a:rPr i="1" dirty="0" err="1"/>
              <a:t>nome</a:t>
            </a:r>
            <a:r>
              <a:rPr i="1" dirty="0"/>
              <a:t>, </a:t>
            </a:r>
            <a:r>
              <a:rPr i="1" dirty="0" err="1"/>
              <a:t>diretta</a:t>
            </a:r>
            <a:r>
              <a:rPr i="1" dirty="0"/>
              <a:t> </a:t>
            </a:r>
            <a:r>
              <a:rPr i="1" dirty="0" err="1"/>
              <a:t>all'autorità</a:t>
            </a:r>
            <a:r>
              <a:rPr i="1" dirty="0"/>
              <a:t> </a:t>
            </a:r>
            <a:r>
              <a:rPr i="1" dirty="0" err="1"/>
              <a:t>giudiziaria</a:t>
            </a:r>
            <a:r>
              <a:rPr i="1" dirty="0"/>
              <a:t> o ad </a:t>
            </a:r>
            <a:r>
              <a:rPr i="1" dirty="0" err="1"/>
              <a:t>un'altra</a:t>
            </a:r>
            <a:r>
              <a:rPr i="1" dirty="0"/>
              <a:t> </a:t>
            </a:r>
            <a:r>
              <a:rPr i="1" dirty="0" err="1"/>
              <a:t>autorità</a:t>
            </a:r>
            <a:r>
              <a:rPr i="1" dirty="0"/>
              <a:t> </a:t>
            </a:r>
            <a:r>
              <a:rPr i="1" dirty="0" err="1"/>
              <a:t>che</a:t>
            </a:r>
            <a:r>
              <a:rPr i="1" dirty="0"/>
              <a:t> a </a:t>
            </a:r>
            <a:r>
              <a:rPr i="1" dirty="0" err="1"/>
              <a:t>quella</a:t>
            </a:r>
            <a:r>
              <a:rPr i="1" dirty="0"/>
              <a:t> </a:t>
            </a:r>
            <a:r>
              <a:rPr i="1" dirty="0" err="1"/>
              <a:t>abbia</a:t>
            </a:r>
            <a:r>
              <a:rPr i="1" dirty="0"/>
              <a:t> </a:t>
            </a:r>
            <a:r>
              <a:rPr i="1" dirty="0" err="1"/>
              <a:t>obbligo</a:t>
            </a:r>
            <a:r>
              <a:rPr i="1" dirty="0"/>
              <a:t> di </a:t>
            </a:r>
            <a:r>
              <a:rPr i="1" dirty="0" err="1"/>
              <a:t>riferirne</a:t>
            </a:r>
            <a:r>
              <a:rPr i="1" dirty="0"/>
              <a:t> o alla Corte </a:t>
            </a:r>
            <a:r>
              <a:rPr i="1" dirty="0" err="1"/>
              <a:t>penale</a:t>
            </a:r>
            <a:r>
              <a:rPr i="1" dirty="0"/>
              <a:t> </a:t>
            </a:r>
            <a:r>
              <a:rPr i="1" dirty="0" err="1"/>
              <a:t>internazionale</a:t>
            </a:r>
            <a:r>
              <a:rPr i="1" dirty="0">
                <a:solidFill>
                  <a:srgbClr val="FF0000"/>
                </a:solidFill>
              </a:rPr>
              <a:t>, </a:t>
            </a:r>
            <a:r>
              <a:rPr b="1" i="1" dirty="0" err="1">
                <a:solidFill>
                  <a:srgbClr val="FF0000"/>
                </a:solidFill>
              </a:rPr>
              <a:t>incolpa</a:t>
            </a:r>
            <a:r>
              <a:rPr b="1" i="1" dirty="0">
                <a:solidFill>
                  <a:srgbClr val="FF0000"/>
                </a:solidFill>
              </a:rPr>
              <a:t> di un </a:t>
            </a:r>
            <a:r>
              <a:rPr b="1" i="1" dirty="0" err="1">
                <a:solidFill>
                  <a:srgbClr val="FF0000"/>
                </a:solidFill>
              </a:rPr>
              <a:t>reato</a:t>
            </a:r>
            <a:r>
              <a:rPr b="1" i="1" dirty="0">
                <a:solidFill>
                  <a:srgbClr val="FF0000"/>
                </a:solidFill>
              </a:rPr>
              <a:t> </a:t>
            </a:r>
            <a:r>
              <a:rPr b="1" i="1" dirty="0" err="1">
                <a:solidFill>
                  <a:srgbClr val="FF0000"/>
                </a:solidFill>
              </a:rPr>
              <a:t>taluno</a:t>
            </a:r>
            <a:r>
              <a:rPr b="1" i="1" dirty="0">
                <a:solidFill>
                  <a:srgbClr val="FF0000"/>
                </a:solidFill>
              </a:rPr>
              <a:t> </a:t>
            </a:r>
            <a:r>
              <a:rPr b="1" i="1" dirty="0" err="1">
                <a:solidFill>
                  <a:srgbClr val="FF0000"/>
                </a:solidFill>
              </a:rPr>
              <a:t>che</a:t>
            </a:r>
            <a:r>
              <a:rPr b="1" i="1" dirty="0">
                <a:solidFill>
                  <a:srgbClr val="FF0000"/>
                </a:solidFill>
              </a:rPr>
              <a:t> </a:t>
            </a:r>
            <a:r>
              <a:rPr b="1" i="1" dirty="0" err="1">
                <a:solidFill>
                  <a:srgbClr val="FF0000"/>
                </a:solidFill>
              </a:rPr>
              <a:t>egli</a:t>
            </a:r>
            <a:r>
              <a:rPr b="1" i="1" dirty="0">
                <a:solidFill>
                  <a:srgbClr val="FF0000"/>
                </a:solidFill>
              </a:rPr>
              <a:t> </a:t>
            </a:r>
            <a:r>
              <a:rPr b="1" i="1" u="sng" dirty="0" err="1">
                <a:solidFill>
                  <a:srgbClr val="FF0000"/>
                </a:solidFill>
              </a:rPr>
              <a:t>sa</a:t>
            </a:r>
            <a:r>
              <a:rPr b="1" i="1" dirty="0">
                <a:solidFill>
                  <a:srgbClr val="FF0000"/>
                </a:solidFill>
              </a:rPr>
              <a:t> </a:t>
            </a:r>
            <a:r>
              <a:rPr b="1" i="1" dirty="0" err="1">
                <a:solidFill>
                  <a:srgbClr val="FF0000"/>
                </a:solidFill>
              </a:rPr>
              <a:t>innocente</a:t>
            </a:r>
            <a:r>
              <a:rPr b="1" i="1" dirty="0">
                <a:solidFill>
                  <a:srgbClr val="C00000"/>
                </a:solidFill>
              </a:rPr>
              <a:t>, </a:t>
            </a:r>
            <a:r>
              <a:rPr b="1" i="1" dirty="0" err="1">
                <a:solidFill>
                  <a:srgbClr val="C00000"/>
                </a:solidFill>
              </a:rPr>
              <a:t>ovvero</a:t>
            </a:r>
            <a:r>
              <a:rPr b="1" i="1" dirty="0">
                <a:solidFill>
                  <a:srgbClr val="C00000"/>
                </a:solidFill>
              </a:rPr>
              <a:t> </a:t>
            </a:r>
            <a:r>
              <a:rPr b="1" i="1" dirty="0" err="1">
                <a:solidFill>
                  <a:srgbClr val="C00000"/>
                </a:solidFill>
              </a:rPr>
              <a:t>simula</a:t>
            </a:r>
            <a:r>
              <a:rPr b="1" i="1" dirty="0">
                <a:solidFill>
                  <a:srgbClr val="C00000"/>
                </a:solidFill>
              </a:rPr>
              <a:t> a </a:t>
            </a:r>
            <a:r>
              <a:rPr b="1" i="1" dirty="0" err="1">
                <a:solidFill>
                  <a:srgbClr val="C00000"/>
                </a:solidFill>
              </a:rPr>
              <a:t>carico</a:t>
            </a:r>
            <a:r>
              <a:rPr b="1" i="1" dirty="0">
                <a:solidFill>
                  <a:srgbClr val="C00000"/>
                </a:solidFill>
              </a:rPr>
              <a:t> di </a:t>
            </a:r>
            <a:r>
              <a:rPr b="1" i="1" dirty="0" err="1">
                <a:solidFill>
                  <a:srgbClr val="C00000"/>
                </a:solidFill>
              </a:rPr>
              <a:t>lui</a:t>
            </a:r>
            <a:r>
              <a:rPr b="1" i="1" dirty="0">
                <a:solidFill>
                  <a:srgbClr val="C00000"/>
                </a:solidFill>
              </a:rPr>
              <a:t> le </a:t>
            </a:r>
            <a:r>
              <a:rPr b="1" i="1" dirty="0" err="1">
                <a:solidFill>
                  <a:srgbClr val="C00000"/>
                </a:solidFill>
              </a:rPr>
              <a:t>tracce</a:t>
            </a:r>
            <a:r>
              <a:rPr b="1" i="1" dirty="0">
                <a:solidFill>
                  <a:srgbClr val="C00000"/>
                </a:solidFill>
              </a:rPr>
              <a:t> di un </a:t>
            </a:r>
            <a:r>
              <a:rPr b="1" i="1" dirty="0" err="1">
                <a:solidFill>
                  <a:srgbClr val="C00000"/>
                </a:solidFill>
              </a:rPr>
              <a:t>reato</a:t>
            </a:r>
            <a:r>
              <a:rPr i="1" dirty="0"/>
              <a:t>, è </a:t>
            </a:r>
            <a:r>
              <a:rPr i="1" dirty="0" err="1"/>
              <a:t>punito</a:t>
            </a:r>
            <a:r>
              <a:rPr i="1" dirty="0"/>
              <a:t> con la </a:t>
            </a:r>
            <a:r>
              <a:rPr i="1" dirty="0" err="1"/>
              <a:t>reclusione</a:t>
            </a:r>
            <a:r>
              <a:rPr i="1" dirty="0"/>
              <a:t> da due a sei anni.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100" b="0" i="1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c.2 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aumentata</a:t>
            </a:r>
            <a:r>
              <a:rPr dirty="0"/>
              <a:t> se </a:t>
            </a:r>
            <a:r>
              <a:rPr dirty="0" err="1"/>
              <a:t>s'incolpa</a:t>
            </a:r>
            <a:r>
              <a:rPr dirty="0"/>
              <a:t> </a:t>
            </a:r>
            <a:r>
              <a:rPr dirty="0" err="1"/>
              <a:t>taluno</a:t>
            </a:r>
            <a:r>
              <a:rPr dirty="0"/>
              <a:t> di un </a:t>
            </a:r>
            <a:r>
              <a:rPr dirty="0" err="1"/>
              <a:t>reato</a:t>
            </a:r>
            <a:r>
              <a:rPr dirty="0"/>
              <a:t> pel quale la </a:t>
            </a:r>
            <a:r>
              <a:rPr dirty="0" err="1"/>
              <a:t>legge</a:t>
            </a:r>
            <a:r>
              <a:rPr dirty="0"/>
              <a:t> </a:t>
            </a:r>
            <a:r>
              <a:rPr dirty="0" err="1"/>
              <a:t>stabilisce</a:t>
            </a:r>
            <a:r>
              <a:rPr dirty="0"/>
              <a:t> la </a:t>
            </a:r>
            <a:r>
              <a:rPr dirty="0" err="1"/>
              <a:t>pena</a:t>
            </a:r>
            <a:r>
              <a:rPr dirty="0"/>
              <a:t> della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superiore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massimo</a:t>
            </a:r>
            <a:r>
              <a:rPr dirty="0"/>
              <a:t> a </a:t>
            </a:r>
            <a:r>
              <a:rPr dirty="0" err="1"/>
              <a:t>dieci</a:t>
            </a:r>
            <a:r>
              <a:rPr dirty="0"/>
              <a:t> anni, o </a:t>
            </a:r>
            <a:r>
              <a:rPr dirty="0" err="1"/>
              <a:t>un'altra</a:t>
            </a:r>
            <a:r>
              <a:rPr dirty="0"/>
              <a:t> </a:t>
            </a:r>
            <a:r>
              <a:rPr dirty="0" err="1"/>
              <a:t>pena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grave. </a:t>
            </a:r>
          </a:p>
        </p:txBody>
      </p:sp>
      <p:pic>
        <p:nvPicPr>
          <p:cNvPr id="287" name="Immagine 3" descr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Rettangolo 5"/>
          <p:cNvSpPr txBox="1"/>
          <p:nvPr/>
        </p:nvSpPr>
        <p:spPr>
          <a:xfrm>
            <a:off x="5409808" y="4751273"/>
            <a:ext cx="3796993" cy="197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Trib. monocratico [c.1-2] Trib. collegiale [c.3]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facoltativo; </a:t>
            </a:r>
          </a:p>
          <a:p>
            <a:pPr indent="182562" algn="just"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obbligatorio [2^ ip. c.3]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consentito solo per il c.3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289" name="Rettangolo 2"/>
          <p:cNvSpPr txBox="1"/>
          <p:nvPr/>
        </p:nvSpPr>
        <p:spPr>
          <a:xfrm>
            <a:off x="234487" y="4437112"/>
            <a:ext cx="5047369" cy="1917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100" b="0" i="1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c.3 La </a:t>
            </a:r>
            <a:r>
              <a:rPr dirty="0" err="1"/>
              <a:t>reclusione</a:t>
            </a:r>
            <a:r>
              <a:rPr dirty="0"/>
              <a:t> è da quattro a </a:t>
            </a:r>
            <a:r>
              <a:rPr dirty="0" err="1"/>
              <a:t>dodici</a:t>
            </a:r>
            <a:r>
              <a:rPr dirty="0"/>
              <a:t> </a:t>
            </a:r>
            <a:r>
              <a:rPr dirty="0" err="1"/>
              <a:t>anni</a:t>
            </a:r>
            <a:r>
              <a:rPr dirty="0"/>
              <a:t>, se dal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deriva</a:t>
            </a:r>
            <a:r>
              <a:rPr dirty="0"/>
              <a:t> una </a:t>
            </a:r>
            <a:r>
              <a:rPr dirty="0" err="1"/>
              <a:t>condanna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superiore</a:t>
            </a:r>
            <a:r>
              <a:rPr dirty="0"/>
              <a:t> a cinque </a:t>
            </a:r>
            <a:r>
              <a:rPr dirty="0" err="1"/>
              <a:t>anni</a:t>
            </a:r>
            <a:r>
              <a:rPr dirty="0"/>
              <a:t>; è da sei a venti </a:t>
            </a:r>
            <a:r>
              <a:rPr dirty="0" err="1"/>
              <a:t>anni</a:t>
            </a:r>
            <a:r>
              <a:rPr dirty="0"/>
              <a:t>, se dal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deriva</a:t>
            </a:r>
            <a:r>
              <a:rPr dirty="0"/>
              <a:t> una </a:t>
            </a:r>
            <a:r>
              <a:rPr dirty="0" err="1"/>
              <a:t>condanna</a:t>
            </a:r>
            <a:r>
              <a:rPr dirty="0"/>
              <a:t> </a:t>
            </a:r>
            <a:r>
              <a:rPr dirty="0" err="1"/>
              <a:t>all'ergastolo</a:t>
            </a:r>
            <a:r>
              <a:rPr i="0" dirty="0"/>
              <a:t>».</a:t>
            </a:r>
          </a:p>
        </p:txBody>
      </p:sp>
      <p:sp>
        <p:nvSpPr>
          <p:cNvPr id="29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Calunnia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AEFB81-B7D8-4806-9549-358642C27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01970"/>
            <a:ext cx="8229600" cy="560664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sz="2800" dirty="0">
                <a:latin typeface="Book Antiqua" panose="02040602050305030304" pitchFamily="18" charset="0"/>
              </a:rPr>
              <a:t>Il reato di calunnia si realizza quando in modo </a:t>
            </a:r>
            <a:r>
              <a:rPr lang="it-IT" sz="2800" b="1" u="sng" dirty="0">
                <a:latin typeface="Book Antiqua" panose="02040602050305030304" pitchFamily="18" charset="0"/>
              </a:rPr>
              <a:t>diretto</a:t>
            </a:r>
            <a:r>
              <a:rPr lang="it-IT" sz="2800" dirty="0">
                <a:latin typeface="Book Antiqua" panose="02040602050305030304" pitchFamily="18" charset="0"/>
              </a:rPr>
              <a:t> o </a:t>
            </a:r>
            <a:r>
              <a:rPr lang="it-IT" sz="2800" b="1" u="sng" dirty="0">
                <a:latin typeface="Book Antiqua" panose="02040602050305030304" pitchFamily="18" charset="0"/>
              </a:rPr>
              <a:t>indiretto</a:t>
            </a:r>
            <a:r>
              <a:rPr lang="it-IT" sz="2800" dirty="0">
                <a:latin typeface="Book Antiqua" panose="02040602050305030304" pitchFamily="18" charset="0"/>
              </a:rPr>
              <a:t> si accusa </a:t>
            </a:r>
            <a:r>
              <a:rPr lang="it-IT" sz="2800" u="sng" dirty="0">
                <a:solidFill>
                  <a:srgbClr val="FF0000"/>
                </a:solidFill>
                <a:latin typeface="Book Antiqua" panose="02040602050305030304" pitchFamily="18" charset="0"/>
              </a:rPr>
              <a:t>taluno che si sa innocente</a:t>
            </a:r>
            <a:r>
              <a:rPr lang="it-IT" sz="2800" dirty="0">
                <a:latin typeface="Book Antiqua" panose="02040602050305030304" pitchFamily="18" charset="0"/>
              </a:rPr>
              <a:t> della commissione di un reato.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REATO PLURIOFFENSIVO - i beni giuridici tutelati sono: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l’amministrazione della giustizia affinché non venga fuorviata e tratta in inganno;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l’onore e la reputazione  e la libertà personale del soggetto ingiustamente accusato.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>
                <a:solidFill>
                  <a:srgbClr val="00B050"/>
                </a:solidFill>
              </a:rPr>
              <a:t>REATO COMUNE: </a:t>
            </a:r>
            <a:r>
              <a:rPr lang="it-IT" dirty="0"/>
              <a:t>il </a:t>
            </a:r>
            <a:r>
              <a:rPr lang="it-IT" u="sng" dirty="0"/>
              <a:t>soggetto attivo </a:t>
            </a:r>
            <a:r>
              <a:rPr lang="it-IT" dirty="0"/>
              <a:t>del reato può essere </a:t>
            </a:r>
            <a:r>
              <a:rPr lang="it-IT" i="1" u="sng" dirty="0"/>
              <a:t>chiunque</a:t>
            </a:r>
            <a:r>
              <a:rPr lang="it-IT" dirty="0"/>
              <a:t>, ad eccezione dell’incolpato (nel qual caso si avrebbe il diverso reato di autocalunnia). 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endParaRPr lang="it-IT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FD1CCF6-018E-43A5-B119-58ECB4651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615" y="149386"/>
            <a:ext cx="8229600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rPr dirty="0" err="1"/>
              <a:t>Calunnia</a:t>
            </a:r>
            <a:endParaRPr dirty="0"/>
          </a:p>
        </p:txBody>
      </p:sp>
      <p:pic>
        <p:nvPicPr>
          <p:cNvPr id="6" name="Immagine 6" descr="Immagine 6">
            <a:extLst>
              <a:ext uri="{FF2B5EF4-FFF2-40B4-BE49-F238E27FC236}">
                <a16:creationId xmlns:a16="http://schemas.microsoft.com/office/drawing/2014/main" id="{8AD461A3-78DE-459B-8E76-454C74905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84980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ttangolo 4"/>
          <p:cNvSpPr txBox="1"/>
          <p:nvPr/>
        </p:nvSpPr>
        <p:spPr>
          <a:xfrm>
            <a:off x="182570" y="937302"/>
            <a:ext cx="8736198" cy="4846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</a:t>
            </a:r>
            <a:r>
              <a:rPr b="0" u="none" dirty="0" err="1"/>
              <a:t>il</a:t>
            </a:r>
            <a:r>
              <a:rPr b="0" u="none" dirty="0"/>
              <a:t> </a:t>
            </a:r>
            <a:r>
              <a:rPr b="0" u="none" dirty="0" err="1"/>
              <a:t>comportamento</a:t>
            </a:r>
            <a:r>
              <a:rPr b="0" u="none" dirty="0"/>
              <a:t> </a:t>
            </a:r>
            <a:r>
              <a:rPr b="0" u="none" dirty="0" err="1"/>
              <a:t>incriminato</a:t>
            </a:r>
            <a:r>
              <a:rPr b="0" u="none" dirty="0"/>
              <a:t> </a:t>
            </a:r>
            <a:r>
              <a:rPr b="0" u="none" dirty="0" err="1"/>
              <a:t>consiste</a:t>
            </a:r>
            <a:r>
              <a:rPr b="0" u="none" dirty="0"/>
              <a:t>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nell’</a:t>
            </a:r>
            <a:r>
              <a:rPr b="1" dirty="0" err="1">
                <a:solidFill>
                  <a:srgbClr val="C00000"/>
                </a:solidFill>
              </a:rPr>
              <a:t>incolpare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ingiustamente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commissione</a:t>
            </a:r>
            <a:r>
              <a:rPr dirty="0"/>
              <a:t> di un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taluno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u="sng" dirty="0" err="1"/>
              <a:t>soggetto</a:t>
            </a:r>
            <a:r>
              <a:rPr b="1" u="sng" dirty="0"/>
              <a:t> </a:t>
            </a:r>
            <a:r>
              <a:rPr b="1" u="sng" dirty="0" err="1"/>
              <a:t>attivo</a:t>
            </a:r>
            <a:r>
              <a:rPr b="1" u="sng" dirty="0"/>
              <a:t> </a:t>
            </a:r>
            <a:r>
              <a:rPr b="1" u="sng" dirty="0" err="1"/>
              <a:t>sa</a:t>
            </a:r>
            <a:r>
              <a:rPr b="1" u="sng" dirty="0"/>
              <a:t> </a:t>
            </a:r>
            <a:r>
              <a:rPr b="1" u="sng" dirty="0" err="1"/>
              <a:t>essere</a:t>
            </a:r>
            <a:r>
              <a:rPr b="1" u="sng" dirty="0"/>
              <a:t> </a:t>
            </a:r>
            <a:r>
              <a:rPr b="1" u="sng" dirty="0" err="1"/>
              <a:t>innocente</a:t>
            </a:r>
            <a:r>
              <a:rPr dirty="0"/>
              <a:t>;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nel</a:t>
            </a:r>
            <a:r>
              <a:rPr dirty="0"/>
              <a:t> </a:t>
            </a:r>
            <a:r>
              <a:rPr b="1" dirty="0" err="1">
                <a:solidFill>
                  <a:srgbClr val="C00000"/>
                </a:solidFill>
              </a:rPr>
              <a:t>simulare</a:t>
            </a:r>
            <a:r>
              <a:rPr dirty="0"/>
              <a:t> a </a:t>
            </a:r>
            <a:r>
              <a:rPr dirty="0" err="1"/>
              <a:t>carico</a:t>
            </a:r>
            <a:r>
              <a:rPr dirty="0"/>
              <a:t> di </a:t>
            </a:r>
            <a:r>
              <a:rPr dirty="0" err="1"/>
              <a:t>lui</a:t>
            </a:r>
            <a:r>
              <a:rPr dirty="0"/>
              <a:t> le </a:t>
            </a:r>
            <a:r>
              <a:rPr dirty="0" err="1"/>
              <a:t>tracce</a:t>
            </a:r>
            <a:r>
              <a:rPr dirty="0"/>
              <a:t> di un </a:t>
            </a:r>
            <a:r>
              <a:rPr dirty="0" err="1"/>
              <a:t>reato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falsa </a:t>
            </a:r>
            <a:r>
              <a:rPr dirty="0" err="1"/>
              <a:t>incolpazione</a:t>
            </a:r>
            <a:r>
              <a:rPr dirty="0"/>
              <a:t> è </a:t>
            </a:r>
            <a:r>
              <a:rPr dirty="0" err="1"/>
              <a:t>configurabile</a:t>
            </a:r>
            <a:r>
              <a:rPr dirty="0"/>
              <a:t>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riferiscono</a:t>
            </a:r>
            <a:r>
              <a:rPr dirty="0"/>
              <a:t> </a:t>
            </a:r>
            <a:r>
              <a:rPr dirty="0" err="1"/>
              <a:t>fatti</a:t>
            </a:r>
            <a:r>
              <a:rPr dirty="0"/>
              <a:t> di cui </a:t>
            </a:r>
            <a:r>
              <a:rPr dirty="0" err="1"/>
              <a:t>si</a:t>
            </a:r>
            <a:r>
              <a:rPr dirty="0"/>
              <a:t> assume di aver </a:t>
            </a:r>
            <a:r>
              <a:rPr dirty="0" err="1"/>
              <a:t>avuto</a:t>
            </a:r>
            <a:r>
              <a:rPr dirty="0"/>
              <a:t> una </a:t>
            </a:r>
            <a:r>
              <a:rPr dirty="0" err="1"/>
              <a:t>percezione</a:t>
            </a:r>
            <a:r>
              <a:rPr dirty="0"/>
              <a:t> </a:t>
            </a:r>
            <a:r>
              <a:rPr dirty="0" err="1"/>
              <a:t>diretta</a:t>
            </a:r>
            <a:r>
              <a:rPr dirty="0"/>
              <a:t>,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rappresentano</a:t>
            </a:r>
            <a:r>
              <a:rPr dirty="0"/>
              <a:t> </a:t>
            </a:r>
            <a:r>
              <a:rPr dirty="0" err="1"/>
              <a:t>quei</a:t>
            </a:r>
            <a:r>
              <a:rPr dirty="0"/>
              <a:t> </a:t>
            </a:r>
            <a:r>
              <a:rPr dirty="0" err="1"/>
              <a:t>fatti</a:t>
            </a:r>
            <a:r>
              <a:rPr dirty="0"/>
              <a:t> come </a:t>
            </a:r>
            <a:r>
              <a:rPr dirty="0" err="1"/>
              <a:t>oggetto</a:t>
            </a:r>
            <a:r>
              <a:rPr dirty="0"/>
              <a:t> di </a:t>
            </a:r>
            <a:r>
              <a:rPr dirty="0" err="1"/>
              <a:t>altrui</a:t>
            </a:r>
            <a:r>
              <a:rPr dirty="0"/>
              <a:t> </a:t>
            </a:r>
            <a:r>
              <a:rPr dirty="0" err="1"/>
              <a:t>conoscenza</a:t>
            </a:r>
            <a:r>
              <a:rPr dirty="0"/>
              <a:t>,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la </a:t>
            </a:r>
            <a:r>
              <a:rPr dirty="0" err="1"/>
              <a:t>responsabilità</a:t>
            </a:r>
            <a:r>
              <a:rPr dirty="0"/>
              <a:t> </a:t>
            </a:r>
            <a:r>
              <a:rPr dirty="0" err="1"/>
              <a:t>penale</a:t>
            </a:r>
            <a:r>
              <a:rPr dirty="0"/>
              <a:t> </a:t>
            </a:r>
            <a:r>
              <a:rPr dirty="0" err="1"/>
              <a:t>dell’accusato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maliziosamente</a:t>
            </a:r>
            <a:r>
              <a:rPr dirty="0"/>
              <a:t> </a:t>
            </a:r>
            <a:r>
              <a:rPr dirty="0" err="1"/>
              <a:t>prospettata</a:t>
            </a:r>
            <a:r>
              <a:rPr dirty="0"/>
              <a:t> in forma </a:t>
            </a:r>
            <a:r>
              <a:rPr dirty="0" err="1"/>
              <a:t>dubitativa</a:t>
            </a:r>
            <a:r>
              <a:rPr dirty="0"/>
              <a:t> o </a:t>
            </a:r>
            <a:r>
              <a:rPr dirty="0" err="1"/>
              <a:t>riferendo</a:t>
            </a:r>
            <a:r>
              <a:rPr dirty="0"/>
              <a:t> </a:t>
            </a:r>
            <a:r>
              <a:rPr dirty="0" err="1"/>
              <a:t>informazioni</a:t>
            </a:r>
            <a:r>
              <a:rPr dirty="0"/>
              <a:t> </a:t>
            </a:r>
            <a:r>
              <a:rPr dirty="0" err="1"/>
              <a:t>apprese</a:t>
            </a:r>
            <a:r>
              <a:rPr dirty="0"/>
              <a:t> da </a:t>
            </a:r>
            <a:r>
              <a:rPr dirty="0" err="1"/>
              <a:t>altri</a:t>
            </a:r>
            <a:r>
              <a:rPr dirty="0"/>
              <a:t>.</a:t>
            </a:r>
          </a:p>
        </p:txBody>
      </p:sp>
      <p:pic>
        <p:nvPicPr>
          <p:cNvPr id="29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Calunnia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ttangolo 4"/>
          <p:cNvSpPr txBox="1"/>
          <p:nvPr/>
        </p:nvSpPr>
        <p:spPr>
          <a:xfrm>
            <a:off x="182570" y="1052735"/>
            <a:ext cx="8736198" cy="3457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sussistenza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di </a:t>
            </a:r>
            <a:r>
              <a:rPr dirty="0" err="1"/>
              <a:t>calunnia</a:t>
            </a:r>
            <a:r>
              <a:rPr dirty="0"/>
              <a:t> </a:t>
            </a:r>
            <a:r>
              <a:rPr dirty="0" err="1"/>
              <a:t>dipende</a:t>
            </a:r>
            <a:r>
              <a:rPr dirty="0"/>
              <a:t>, da </a:t>
            </a:r>
            <a:r>
              <a:rPr b="1" u="sng" dirty="0">
                <a:solidFill>
                  <a:srgbClr val="FF0000"/>
                </a:solidFill>
              </a:rPr>
              <a:t>DUE CONDIZIONI</a:t>
            </a:r>
            <a:r>
              <a:rPr u="sng" dirty="0">
                <a:solidFill>
                  <a:srgbClr val="FF0000"/>
                </a:solidFill>
              </a:rPr>
              <a:t>: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sng" dirty="0">
              <a:solidFill>
                <a:srgbClr val="FF0000"/>
              </a:solidFill>
            </a:endParaRP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l’</a:t>
            </a:r>
            <a:r>
              <a:rPr b="1" dirty="0" err="1">
                <a:solidFill>
                  <a:srgbClr val="C00000"/>
                </a:solidFill>
              </a:rPr>
              <a:t>incolpazione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</a:t>
            </a:r>
            <a:r>
              <a:rPr dirty="0" err="1"/>
              <a:t>l’attribuzione</a:t>
            </a:r>
            <a:r>
              <a:rPr dirty="0"/>
              <a:t> di un </a:t>
            </a:r>
            <a:r>
              <a:rPr u="sng" dirty="0" err="1">
                <a:solidFill>
                  <a:schemeClr val="accent2"/>
                </a:solidFill>
              </a:rPr>
              <a:t>fatto</a:t>
            </a:r>
            <a:r>
              <a:rPr u="sng" dirty="0">
                <a:solidFill>
                  <a:schemeClr val="accent2"/>
                </a:solidFill>
              </a:rPr>
              <a:t> </a:t>
            </a:r>
            <a:r>
              <a:rPr u="sng" dirty="0" err="1">
                <a:solidFill>
                  <a:schemeClr val="accent2"/>
                </a:solidFill>
              </a:rPr>
              <a:t>costituente</a:t>
            </a:r>
            <a:r>
              <a:rPr u="sng" dirty="0">
                <a:solidFill>
                  <a:schemeClr val="accent2"/>
                </a:solidFill>
              </a:rPr>
              <a:t> </a:t>
            </a:r>
            <a:r>
              <a:rPr u="sng" dirty="0" err="1">
                <a:solidFill>
                  <a:schemeClr val="accent2"/>
                </a:solidFill>
              </a:rPr>
              <a:t>reato</a:t>
            </a:r>
            <a:r>
              <a:rPr dirty="0"/>
              <a:t> ad una persona </a:t>
            </a:r>
            <a:r>
              <a:rPr dirty="0" err="1"/>
              <a:t>determinata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calunniatore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innocente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 startAt="2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b="1" dirty="0" err="1">
                <a:solidFill>
                  <a:srgbClr val="C00000"/>
                </a:solidFill>
              </a:rPr>
              <a:t>possibilità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che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sia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iniziato</a:t>
            </a:r>
            <a:r>
              <a:rPr b="1" dirty="0">
                <a:solidFill>
                  <a:srgbClr val="C00000"/>
                </a:solidFill>
              </a:rPr>
              <a:t> un </a:t>
            </a:r>
            <a:r>
              <a:rPr b="1" dirty="0" err="1">
                <a:solidFill>
                  <a:srgbClr val="C00000"/>
                </a:solidFill>
              </a:rPr>
              <a:t>procedimento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penale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dirty="0" err="1"/>
              <a:t>che</a:t>
            </a:r>
            <a:r>
              <a:rPr dirty="0"/>
              <a:t> è </a:t>
            </a:r>
            <a:r>
              <a:rPr u="sng" dirty="0" err="1"/>
              <a:t>esclusa</a:t>
            </a:r>
            <a:r>
              <a:rPr u="sng" dirty="0"/>
              <a:t> </a:t>
            </a:r>
            <a:r>
              <a:rPr dirty="0"/>
              <a:t>(e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 non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configura</a:t>
            </a:r>
            <a:r>
              <a:rPr dirty="0"/>
              <a:t>) </a:t>
            </a:r>
            <a:r>
              <a:rPr dirty="0" err="1"/>
              <a:t>tutte</a:t>
            </a:r>
            <a:r>
              <a:rPr dirty="0"/>
              <a:t> le volte in cui la </a:t>
            </a:r>
            <a:r>
              <a:rPr u="sng" dirty="0" err="1"/>
              <a:t>denuncia</a:t>
            </a:r>
            <a:r>
              <a:rPr u="sng" dirty="0"/>
              <a:t> </a:t>
            </a:r>
            <a:r>
              <a:rPr u="sng" dirty="0" err="1"/>
              <a:t>appaia</a:t>
            </a:r>
            <a:r>
              <a:rPr u="sng" dirty="0"/>
              <a:t> </a:t>
            </a:r>
            <a:r>
              <a:rPr u="sng" dirty="0" err="1"/>
              <a:t>inverosimile</a:t>
            </a:r>
            <a:r>
              <a:rPr u="sng" dirty="0"/>
              <a:t>.</a:t>
            </a:r>
          </a:p>
        </p:txBody>
      </p:sp>
      <p:pic>
        <p:nvPicPr>
          <p:cNvPr id="30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Calunnia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81E58B-E89C-4B72-9BD1-024083F0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90246"/>
            <a:ext cx="8229600" cy="553329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Può esserci il reato di calunnia:</a:t>
            </a: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it-IT" sz="2800" dirty="0" err="1">
                <a:latin typeface="Book Antiqua" panose="02040602050305030304" pitchFamily="18" charset="0"/>
              </a:rPr>
              <a:t>perch</a:t>
            </a:r>
            <a:r>
              <a:rPr lang="fr-FR" sz="2800" dirty="0">
                <a:latin typeface="Book Antiqua" panose="02040602050305030304" pitchFamily="18" charset="0"/>
              </a:rPr>
              <a:t>é </a:t>
            </a:r>
            <a:r>
              <a:rPr lang="it-IT" sz="2800" dirty="0">
                <a:latin typeface="Book Antiqua" panose="02040602050305030304" pitchFamily="18" charset="0"/>
              </a:rPr>
              <a:t>il fatto non è avvenuto;</a:t>
            </a:r>
          </a:p>
          <a:p>
            <a:pPr algn="just">
              <a:lnSpc>
                <a:spcPct val="170000"/>
              </a:lnSpc>
            </a:pPr>
            <a:r>
              <a:rPr lang="it-IT" sz="2800" dirty="0" err="1">
                <a:latin typeface="Book Antiqua" panose="02040602050305030304" pitchFamily="18" charset="0"/>
              </a:rPr>
              <a:t>perch</a:t>
            </a:r>
            <a:r>
              <a:rPr lang="fr-FR" sz="2800" dirty="0">
                <a:latin typeface="Book Antiqua" panose="02040602050305030304" pitchFamily="18" charset="0"/>
              </a:rPr>
              <a:t>é </a:t>
            </a:r>
            <a:r>
              <a:rPr lang="it-IT" sz="2800" dirty="0">
                <a:latin typeface="Book Antiqua" panose="02040602050305030304" pitchFamily="18" charset="0"/>
              </a:rPr>
              <a:t>la persona denunciata non ne è l</a:t>
            </a:r>
            <a:r>
              <a:rPr lang="ar-SA" sz="2800" dirty="0">
                <a:latin typeface="Book Antiqua" panose="02040602050305030304" pitchFamily="18" charset="0"/>
              </a:rPr>
              <a:t>’</a:t>
            </a:r>
            <a:r>
              <a:rPr lang="it-IT" sz="2800" dirty="0">
                <a:latin typeface="Book Antiqua" panose="02040602050305030304" pitchFamily="18" charset="0"/>
              </a:rPr>
              <a:t>autore;</a:t>
            </a:r>
          </a:p>
          <a:p>
            <a:pPr algn="just">
              <a:lnSpc>
                <a:spcPct val="170000"/>
              </a:lnSpc>
            </a:pPr>
            <a:r>
              <a:rPr lang="it-IT" sz="2600" dirty="0">
                <a:latin typeface="Book Antiqua" panose="02040602050305030304" pitchFamily="18" charset="0"/>
              </a:rPr>
              <a:t>La vicenda non sia del tutto falsa, bensì diversa da quella reale. </a:t>
            </a:r>
          </a:p>
          <a:p>
            <a:pPr marL="0" indent="0" algn="just">
              <a:buNone/>
            </a:pPr>
            <a:r>
              <a:rPr lang="it-IT" sz="2600" dirty="0">
                <a:latin typeface="Book Antiqua" panose="02040602050305030304" pitchFamily="18" charset="0"/>
              </a:rPr>
              <a:t>(in tal caso la calunnia è integrata quando l</a:t>
            </a:r>
            <a:r>
              <a:rPr lang="ar-SA" sz="2600" dirty="0">
                <a:latin typeface="Book Antiqua" panose="02040602050305030304" pitchFamily="18" charset="0"/>
              </a:rPr>
              <a:t>’</a:t>
            </a:r>
            <a:r>
              <a:rPr lang="it-IT" sz="2600" dirty="0">
                <a:latin typeface="Book Antiqua" panose="02040602050305030304" pitchFamily="18" charset="0"/>
              </a:rPr>
              <a:t>accusa riguardi un fatto diverso e più grave di quello effettivamente commesso)</a:t>
            </a: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Es. si esclude la calunnia quando il denunciante enfatizzi la dinamica dei fatti, descrivendoli in maniera particolarmente allarmante, senza incidere </a:t>
            </a:r>
            <a:r>
              <a:rPr lang="it-IT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sull</a:t>
            </a:r>
            <a:r>
              <a:rPr lang="ar-SA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it-IT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essenza degli illeciti denunciati e sulla loro identificazione e qualificazione giuridica</a:t>
            </a: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7AA31BC-8C5D-455A-BF96-41C07186B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7550" y="149386"/>
            <a:ext cx="8229600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rPr dirty="0" err="1"/>
              <a:t>Calunnia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CA51C013-2E9D-40AC-A757-273ADDE6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644033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ttangolo 4"/>
          <p:cNvSpPr txBox="1"/>
          <p:nvPr/>
        </p:nvSpPr>
        <p:spPr>
          <a:xfrm>
            <a:off x="182570" y="937302"/>
            <a:ext cx="8736198" cy="546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base al tipo di </a:t>
            </a:r>
            <a:r>
              <a:rPr b="1"/>
              <a:t>condotta</a:t>
            </a:r>
            <a:r>
              <a:t> possiamo distinguere due tipologie di calunnia: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❖"/>
              <a:defRPr sz="2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FORMALE O DIRETTA</a:t>
            </a:r>
            <a:r>
              <a:rPr b="0">
                <a:solidFill>
                  <a:srgbClr val="000000"/>
                </a:solidFill>
              </a:rPr>
              <a:t>: si configura quando </a:t>
            </a:r>
            <a:r>
              <a:rPr>
                <a:solidFill>
                  <a:srgbClr val="000000"/>
                </a:solidFill>
              </a:rPr>
              <a:t>si incolpa di un reato taluno di cui si conosca l’innocenza</a:t>
            </a:r>
            <a:r>
              <a:rPr b="0">
                <a:solidFill>
                  <a:srgbClr val="000000"/>
                </a:solidFill>
              </a:rPr>
              <a:t>, con denuncia (anche anonima o sotto falso nome), querela, richiesta o istanza, diretta all’autorità giudiziaria o altra autorità che a quella abbia l’obbligo di riferirne (la PG). </a:t>
            </a: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❖"/>
              <a:defRPr sz="23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SzPct val="100000"/>
              <a:buChar char="❖"/>
              <a:defRPr sz="2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MATERIALE O INDIRETTA</a:t>
            </a:r>
            <a:r>
              <a:rPr b="0">
                <a:solidFill>
                  <a:srgbClr val="000000"/>
                </a:solidFill>
              </a:rPr>
              <a:t>: consiste nel </a:t>
            </a:r>
            <a:r>
              <a:rPr>
                <a:solidFill>
                  <a:srgbClr val="000000"/>
                </a:solidFill>
              </a:rPr>
              <a:t>simulare a carico del soggetto, falsamente incolpato, tracce di un determinato reato</a:t>
            </a:r>
            <a:r>
              <a:rPr b="0">
                <a:solidFill>
                  <a:srgbClr val="000000"/>
                </a:solidFill>
              </a:rPr>
              <a:t>; le tracce di reato devono indicare in modo inequivoco il soggetto che ne appare l’autore certo o probabile (ne è un esempio il caso del calunniatore che colloca sulla scena di un crimine un mozzicone di sigaretta recante di DNA di un suo rivale, con l’obiettivo di incastrarlo). </a:t>
            </a:r>
          </a:p>
        </p:txBody>
      </p:sp>
      <p:pic>
        <p:nvPicPr>
          <p:cNvPr id="30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Calunnia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itolo 1"/>
          <p:cNvSpPr txBox="1">
            <a:spLocks noGrp="1"/>
          </p:cNvSpPr>
          <p:nvPr>
            <p:ph type="title"/>
          </p:nvPr>
        </p:nvSpPr>
        <p:spPr>
          <a:xfrm>
            <a:off x="755576" y="234652"/>
            <a:ext cx="8157593" cy="41805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630936">
              <a:defRPr sz="2208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>
              <a:defRPr>
                <a:effectLst/>
              </a:defRPr>
            </a:pPr>
            <a:r>
              <a:t>Calunnia</a:t>
            </a:r>
          </a:p>
        </p:txBody>
      </p:sp>
      <p:sp>
        <p:nvSpPr>
          <p:cNvPr id="309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457200" y="1196751"/>
            <a:ext cx="8229600" cy="4929412"/>
          </a:xfrm>
          <a:prstGeom prst="rect">
            <a:avLst/>
          </a:prstGeom>
        </p:spPr>
        <p:txBody>
          <a:bodyPr/>
          <a:lstStyle/>
          <a:p>
            <a:pPr marL="0" indent="0" algn="just">
              <a:spcBef>
                <a:spcPts val="600"/>
              </a:spcBef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è </a:t>
            </a:r>
            <a:r>
              <a:rPr dirty="0" err="1"/>
              <a:t>ritenuta</a:t>
            </a:r>
            <a:r>
              <a:rPr dirty="0"/>
              <a:t> </a:t>
            </a:r>
            <a:r>
              <a:rPr dirty="0" err="1"/>
              <a:t>configurabile</a:t>
            </a:r>
            <a:r>
              <a:rPr dirty="0"/>
              <a:t> la </a:t>
            </a:r>
            <a:r>
              <a:rPr b="1" u="sng" dirty="0">
                <a:solidFill>
                  <a:srgbClr val="FF0000"/>
                </a:solidFill>
              </a:rPr>
              <a:t>CALUNNIA PER INDUZIONE </a:t>
            </a:r>
            <a:r>
              <a:rPr dirty="0"/>
              <a:t>(art. 84 </a:t>
            </a:r>
            <a:r>
              <a:rPr dirty="0" err="1"/>
              <a:t>c.p.</a:t>
            </a:r>
            <a:r>
              <a:rPr dirty="0"/>
              <a:t>) </a:t>
            </a:r>
          </a:p>
          <a:p>
            <a:pPr marL="0" indent="0" algn="just"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>
              <a:spcBef>
                <a:spcPts val="600"/>
              </a:spcBef>
              <a:buSzTx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colui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predisponga</a:t>
            </a:r>
            <a:r>
              <a:rPr dirty="0"/>
              <a:t> </a:t>
            </a:r>
            <a:r>
              <a:rPr dirty="0" err="1"/>
              <a:t>maliziosamente</a:t>
            </a:r>
            <a:r>
              <a:rPr dirty="0"/>
              <a:t>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occorre</a:t>
            </a:r>
            <a:r>
              <a:rPr dirty="0"/>
              <a:t> </a:t>
            </a:r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taluno</a:t>
            </a:r>
            <a:r>
              <a:rPr dirty="0"/>
              <a:t> </a:t>
            </a:r>
            <a:r>
              <a:rPr dirty="0" err="1"/>
              <a:t>possa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incriminato</a:t>
            </a:r>
            <a:r>
              <a:rPr dirty="0"/>
              <a:t> di un </a:t>
            </a:r>
            <a:r>
              <a:rPr dirty="0" err="1"/>
              <a:t>determinato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, </a:t>
            </a:r>
            <a:r>
              <a:rPr dirty="0" err="1"/>
              <a:t>qualora</a:t>
            </a:r>
            <a:r>
              <a:rPr lang="it-IT" dirty="0"/>
              <a:t>,</a:t>
            </a:r>
            <a:r>
              <a:rPr dirty="0"/>
              <a:t> a </a:t>
            </a:r>
            <a:r>
              <a:rPr dirty="0" err="1"/>
              <a:t>seguito</a:t>
            </a:r>
            <a:r>
              <a:rPr dirty="0"/>
              <a:t> di tale </a:t>
            </a:r>
            <a:r>
              <a:rPr dirty="0" err="1"/>
              <a:t>comportamento</a:t>
            </a:r>
            <a:r>
              <a:rPr lang="it-IT" dirty="0"/>
              <a:t>,</a:t>
            </a:r>
            <a:r>
              <a:rPr dirty="0"/>
              <a:t> </a:t>
            </a:r>
            <a:r>
              <a:rPr dirty="0" err="1"/>
              <a:t>venga</a:t>
            </a:r>
            <a:r>
              <a:rPr dirty="0"/>
              <a:t> </a:t>
            </a:r>
            <a:r>
              <a:rPr dirty="0" err="1"/>
              <a:t>sporta</a:t>
            </a:r>
            <a:r>
              <a:rPr dirty="0"/>
              <a:t> </a:t>
            </a:r>
            <a:r>
              <a:rPr dirty="0" err="1"/>
              <a:t>denunzia</a:t>
            </a:r>
            <a:r>
              <a:rPr dirty="0"/>
              <a:t> </a:t>
            </a:r>
            <a:r>
              <a:rPr dirty="0" err="1"/>
              <a:t>all’autorità</a:t>
            </a:r>
            <a:r>
              <a:rPr dirty="0"/>
              <a:t> </a:t>
            </a:r>
            <a:r>
              <a:rPr dirty="0" err="1"/>
              <a:t>giudiziaria</a:t>
            </a:r>
            <a:r>
              <a:rPr dirty="0"/>
              <a:t> </a:t>
            </a:r>
            <a:r>
              <a:rPr u="sng" dirty="0"/>
              <a:t>da un </a:t>
            </a:r>
            <a:r>
              <a:rPr u="sng" dirty="0" err="1"/>
              <a:t>altro</a:t>
            </a:r>
            <a:r>
              <a:rPr u="sng" dirty="0"/>
              <a:t> </a:t>
            </a:r>
            <a:r>
              <a:rPr u="sng" dirty="0" err="1"/>
              <a:t>soggetto</a:t>
            </a:r>
            <a:r>
              <a:rPr u="sng" dirty="0"/>
              <a:t> tenuto a </a:t>
            </a:r>
            <a:r>
              <a:rPr u="sng" dirty="0" err="1"/>
              <a:t>farlo</a:t>
            </a:r>
            <a:r>
              <a:rPr u="sng" dirty="0"/>
              <a:t>.</a:t>
            </a:r>
          </a:p>
        </p:txBody>
      </p:sp>
      <p:sp>
        <p:nvSpPr>
          <p:cNvPr id="310" name="Segnaposto numero diapositiva 3"/>
          <p:cNvSpPr txBox="1">
            <a:spLocks noGrp="1"/>
          </p:cNvSpPr>
          <p:nvPr>
            <p:ph type="sldNum" sz="quarter" idx="2"/>
          </p:nvPr>
        </p:nvSpPr>
        <p:spPr>
          <a:xfrm>
            <a:off x="8430259" y="6401179"/>
            <a:ext cx="256541" cy="27546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pic>
        <p:nvPicPr>
          <p:cNvPr id="311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Freccia in giù 5"/>
          <p:cNvSpPr/>
          <p:nvPr/>
        </p:nvSpPr>
        <p:spPr>
          <a:xfrm>
            <a:off x="5940152" y="1844824"/>
            <a:ext cx="613049" cy="720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405"/>
                </a:moveTo>
                <a:lnTo>
                  <a:pt x="5400" y="12405"/>
                </a:lnTo>
                <a:lnTo>
                  <a:pt x="5400" y="0"/>
                </a:lnTo>
                <a:lnTo>
                  <a:pt x="16200" y="0"/>
                </a:lnTo>
                <a:lnTo>
                  <a:pt x="16200" y="12405"/>
                </a:lnTo>
                <a:lnTo>
                  <a:pt x="21600" y="12405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ttangolo 4"/>
          <p:cNvSpPr txBox="1"/>
          <p:nvPr/>
        </p:nvSpPr>
        <p:spPr>
          <a:xfrm>
            <a:off x="203901" y="1772816"/>
            <a:ext cx="8736198" cy="2963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 è il </a:t>
            </a:r>
            <a:r>
              <a:rPr>
                <a:solidFill>
                  <a:srgbClr val="FF0000"/>
                </a:solidFill>
              </a:rPr>
              <a:t>DOLO GENERICO</a:t>
            </a:r>
            <a:r>
              <a:rPr b="0" u="none"/>
              <a:t>, costituito dalla consapevolezza di incolpare di un reato taluno che sia innocente.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L’erronea convinzione della colpevolezza della persona accusata </a:t>
            </a:r>
            <a:r>
              <a:rPr b="1" u="sng"/>
              <a:t>esclude l’elemento soggettivo</a:t>
            </a:r>
            <a:r>
              <a:rPr u="sng"/>
              <a:t>.</a:t>
            </a:r>
          </a:p>
        </p:txBody>
      </p:sp>
      <p:pic>
        <p:nvPicPr>
          <p:cNvPr id="31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Calunnia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ttangolo 4"/>
          <p:cNvSpPr txBox="1"/>
          <p:nvPr/>
        </p:nvSpPr>
        <p:spPr>
          <a:xfrm>
            <a:off x="182570" y="937302"/>
            <a:ext cx="8736198" cy="4462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calunnia è un </a:t>
            </a:r>
            <a:r>
              <a:rPr b="1">
                <a:solidFill>
                  <a:srgbClr val="FF0000"/>
                </a:solidFill>
              </a:rPr>
              <a:t>REATO</a:t>
            </a:r>
            <a:r>
              <a:rPr>
                <a:solidFill>
                  <a:srgbClr val="FF0000"/>
                </a:solidFill>
              </a:rPr>
              <a:t> </a:t>
            </a:r>
            <a:r>
              <a:rPr b="1">
                <a:solidFill>
                  <a:srgbClr val="FF0000"/>
                </a:solidFill>
              </a:rPr>
              <a:t>ISTANTANEO</a:t>
            </a:r>
            <a:r>
              <a:rPr>
                <a:solidFill>
                  <a:srgbClr val="FF0000"/>
                </a:solidFill>
              </a:rPr>
              <a:t> </a:t>
            </a:r>
            <a:r>
              <a:t>e si consuma nel momento e nel luogo della </a:t>
            </a:r>
            <a:r>
              <a:rPr b="1"/>
              <a:t>prima dichiarazione accusatoria</a:t>
            </a:r>
            <a:r>
              <a:t>, suscettibile di determinare l’inizio di un procedimento penale.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b="1">
                <a:solidFill>
                  <a:srgbClr val="C00000"/>
                </a:solidFill>
              </a:rPr>
              <a:t>tentativo non è configurabile</a:t>
            </a:r>
            <a:r>
              <a:t>, essendo la calunnia reato formale ed istantaneo.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Tuttavia, recente Giurisprudenza ha ritenuto </a:t>
            </a:r>
            <a:r>
              <a:rPr b="1" u="sng">
                <a:solidFill>
                  <a:srgbClr val="FF0000"/>
                </a:solidFill>
              </a:rPr>
              <a:t>configurabile il tentativo </a:t>
            </a:r>
            <a:r>
              <a:t>nella calunnia materiale… </a:t>
            </a:r>
            <a:r>
              <a:rPr i="1"/>
              <a:t>es. soggetto attivo sia sorpreso nell’atto di simulare o comunque questa non sia portata a compimento per fatto indipendente dalla sua volontà.</a:t>
            </a:r>
          </a:p>
        </p:txBody>
      </p:sp>
      <p:pic>
        <p:nvPicPr>
          <p:cNvPr id="31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Calunnia</a:t>
            </a:r>
          </a:p>
        </p:txBody>
      </p:sp>
      <p:sp>
        <p:nvSpPr>
          <p:cNvPr id="321" name="Freccia in giù 1"/>
          <p:cNvSpPr/>
          <p:nvPr/>
        </p:nvSpPr>
        <p:spPr>
          <a:xfrm>
            <a:off x="4211959" y="3140967"/>
            <a:ext cx="576065" cy="720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1850DF-0C6A-45C6-B5E9-39D2BC95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50" y="160336"/>
            <a:ext cx="8229600" cy="1143001"/>
          </a:xfrm>
        </p:spPr>
        <p:txBody>
          <a:bodyPr>
            <a:noAutofit/>
          </a:bodyPr>
          <a:lstStyle/>
          <a:p>
            <a:pPr algn="l"/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AUTOCALUNNIA - ART. 369</a:t>
            </a:r>
            <a:br>
              <a:rPr lang="it-IT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it-IT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F47ED49-5CD7-463E-8E88-69C55E6D7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03338"/>
            <a:ext cx="8229600" cy="482282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t-IT" dirty="0"/>
              <a:t>Si tratta di una particolare forma di manifestazione della calunnia, in cui </a:t>
            </a:r>
            <a:r>
              <a:rPr lang="it-IT" b="1" u="sng" dirty="0"/>
              <a:t>l’autore del delitto incolpa sé stesso di un reato che egli sa non avvenuto o di un reato commesso da altri</a:t>
            </a:r>
            <a:r>
              <a:rPr lang="it-IT" dirty="0"/>
              <a:t>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Questa fattispecie è nata per </a:t>
            </a:r>
            <a:r>
              <a:rPr lang="it-IT" u="sng" dirty="0">
                <a:solidFill>
                  <a:srgbClr val="FF0000"/>
                </a:solidFill>
              </a:rPr>
              <a:t>tutelare il corretto funzionamento della giustizia</a:t>
            </a:r>
            <a:r>
              <a:rPr lang="it-IT" dirty="0"/>
              <a:t> e per </a:t>
            </a:r>
            <a:r>
              <a:rPr lang="it-IT" u="sng" dirty="0">
                <a:solidFill>
                  <a:schemeClr val="accent2"/>
                </a:solidFill>
              </a:rPr>
              <a:t>evitare aperture di procedimenti penali su fatti inesistenti</a:t>
            </a:r>
            <a:r>
              <a:rPr lang="it-IT" dirty="0"/>
              <a:t>, ma anche per </a:t>
            </a:r>
            <a:r>
              <a:rPr lang="it-IT" u="sng" dirty="0"/>
              <a:t>evitare che per fatti realmente esistiti vi sia la condanna di un innocente e l’assoluzione di un colpevole</a:t>
            </a:r>
          </a:p>
        </p:txBody>
      </p:sp>
      <p:pic>
        <p:nvPicPr>
          <p:cNvPr id="4" name="Immagine 6" descr="Immagine 6">
            <a:extLst>
              <a:ext uri="{FF2B5EF4-FFF2-40B4-BE49-F238E27FC236}">
                <a16:creationId xmlns:a16="http://schemas.microsoft.com/office/drawing/2014/main" id="{03397C5E-2495-4A08-8664-FC30894A3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4141645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ttangolo 4"/>
          <p:cNvSpPr txBox="1"/>
          <p:nvPr/>
        </p:nvSpPr>
        <p:spPr>
          <a:xfrm>
            <a:off x="182570" y="937302"/>
            <a:ext cx="8736198" cy="210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372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Falsa </a:t>
            </a:r>
            <a:r>
              <a:rPr dirty="0" err="1">
                <a:solidFill>
                  <a:srgbClr val="FF0000"/>
                </a:solidFill>
              </a:rPr>
              <a:t>testimonianza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/>
              <a:t>Chiunque</a:t>
            </a:r>
            <a:r>
              <a:rPr dirty="0"/>
              <a:t>, </a:t>
            </a:r>
            <a:r>
              <a:rPr b="1" u="sng" dirty="0" err="1"/>
              <a:t>deponendo</a:t>
            </a:r>
            <a:r>
              <a:rPr b="1" u="sng" dirty="0"/>
              <a:t> come </a:t>
            </a:r>
            <a:r>
              <a:rPr b="1" u="sng" dirty="0" err="1"/>
              <a:t>testimone</a:t>
            </a:r>
            <a:r>
              <a:rPr b="1" u="sng" dirty="0"/>
              <a:t> </a:t>
            </a:r>
            <a:r>
              <a:rPr dirty="0" err="1"/>
              <a:t>innanzi</a:t>
            </a:r>
            <a:r>
              <a:rPr dirty="0"/>
              <a:t> </a:t>
            </a:r>
            <a:r>
              <a:rPr dirty="0" err="1"/>
              <a:t>all'Autorità</a:t>
            </a:r>
            <a:r>
              <a:rPr dirty="0"/>
              <a:t> </a:t>
            </a:r>
            <a:r>
              <a:rPr dirty="0" err="1"/>
              <a:t>giudiziaria</a:t>
            </a:r>
            <a:r>
              <a:rPr dirty="0"/>
              <a:t> o </a:t>
            </a:r>
            <a:r>
              <a:rPr dirty="0" err="1"/>
              <a:t>alla</a:t>
            </a:r>
            <a:r>
              <a:rPr dirty="0"/>
              <a:t> Corte </a:t>
            </a:r>
            <a:r>
              <a:rPr dirty="0" err="1"/>
              <a:t>penale</a:t>
            </a:r>
            <a:r>
              <a:rPr dirty="0"/>
              <a:t> </a:t>
            </a:r>
            <a:r>
              <a:rPr dirty="0" err="1"/>
              <a:t>internazionale</a:t>
            </a:r>
            <a:r>
              <a:rPr dirty="0"/>
              <a:t>, </a:t>
            </a:r>
            <a:r>
              <a:rPr b="1" u="sng" dirty="0" err="1">
                <a:solidFill>
                  <a:srgbClr val="FF0000"/>
                </a:solidFill>
              </a:rPr>
              <a:t>afferma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il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u="sng" dirty="0" err="1">
                <a:solidFill>
                  <a:srgbClr val="FF0000"/>
                </a:solidFill>
              </a:rPr>
              <a:t>falso</a:t>
            </a:r>
            <a:r>
              <a:rPr b="1" u="sng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E46C0A"/>
                </a:solidFill>
              </a:rPr>
              <a:t>o </a:t>
            </a:r>
            <a:r>
              <a:rPr b="1" u="sng" dirty="0" err="1">
                <a:solidFill>
                  <a:srgbClr val="E46C0A"/>
                </a:solidFill>
              </a:rPr>
              <a:t>nega</a:t>
            </a:r>
            <a:r>
              <a:rPr b="1" u="sng" dirty="0">
                <a:solidFill>
                  <a:srgbClr val="E46C0A"/>
                </a:solidFill>
              </a:rPr>
              <a:t> </a:t>
            </a:r>
            <a:r>
              <a:rPr b="1" u="sng" dirty="0" err="1">
                <a:solidFill>
                  <a:srgbClr val="E46C0A"/>
                </a:solidFill>
              </a:rPr>
              <a:t>il</a:t>
            </a:r>
            <a:r>
              <a:rPr b="1" u="sng" dirty="0">
                <a:solidFill>
                  <a:srgbClr val="E46C0A"/>
                </a:solidFill>
              </a:rPr>
              <a:t> </a:t>
            </a:r>
            <a:r>
              <a:rPr b="1" u="sng" dirty="0" err="1">
                <a:solidFill>
                  <a:srgbClr val="E46C0A"/>
                </a:solidFill>
              </a:rPr>
              <a:t>vero</a:t>
            </a:r>
            <a:r>
              <a:rPr b="1" dirty="0">
                <a:solidFill>
                  <a:srgbClr val="E46C0A"/>
                </a:solidFill>
              </a:rPr>
              <a:t>, </a:t>
            </a:r>
            <a:r>
              <a:rPr b="1" u="sng" dirty="0" err="1">
                <a:solidFill>
                  <a:srgbClr val="002060"/>
                </a:solidFill>
              </a:rPr>
              <a:t>ovvero</a:t>
            </a:r>
            <a:r>
              <a:rPr b="1" u="sng" dirty="0">
                <a:solidFill>
                  <a:srgbClr val="002060"/>
                </a:solidFill>
              </a:rPr>
              <a:t> </a:t>
            </a:r>
            <a:r>
              <a:rPr b="1" u="sng" dirty="0" err="1">
                <a:solidFill>
                  <a:srgbClr val="002060"/>
                </a:solidFill>
              </a:rPr>
              <a:t>tace</a:t>
            </a:r>
            <a:r>
              <a:rPr b="1" u="sng" dirty="0">
                <a:solidFill>
                  <a:srgbClr val="002060"/>
                </a:solidFill>
              </a:rPr>
              <a:t>, in </a:t>
            </a:r>
            <a:r>
              <a:rPr b="1" u="sng" dirty="0" err="1">
                <a:solidFill>
                  <a:srgbClr val="002060"/>
                </a:solidFill>
              </a:rPr>
              <a:t>tutto</a:t>
            </a:r>
            <a:r>
              <a:rPr b="1" u="sng" dirty="0">
                <a:solidFill>
                  <a:srgbClr val="002060"/>
                </a:solidFill>
              </a:rPr>
              <a:t> o in </a:t>
            </a:r>
            <a:r>
              <a:rPr b="1" u="sng" dirty="0" err="1">
                <a:solidFill>
                  <a:srgbClr val="002060"/>
                </a:solidFill>
              </a:rPr>
              <a:t>parte</a:t>
            </a:r>
            <a:r>
              <a:rPr b="1" dirty="0">
                <a:solidFill>
                  <a:srgbClr val="E46C0A"/>
                </a:solidFill>
              </a:rPr>
              <a:t>, </a:t>
            </a:r>
            <a:r>
              <a:rPr b="1" dirty="0" err="1">
                <a:solidFill>
                  <a:srgbClr val="E46C0A"/>
                </a:solidFill>
              </a:rPr>
              <a:t>ciò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che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sa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intorno</a:t>
            </a:r>
            <a:r>
              <a:rPr b="1" dirty="0">
                <a:solidFill>
                  <a:srgbClr val="E46C0A"/>
                </a:solidFill>
              </a:rPr>
              <a:t> ai </a:t>
            </a:r>
            <a:r>
              <a:rPr b="1" dirty="0" err="1">
                <a:solidFill>
                  <a:srgbClr val="E46C0A"/>
                </a:solidFill>
              </a:rPr>
              <a:t>fatti</a:t>
            </a:r>
            <a:r>
              <a:rPr b="1" dirty="0">
                <a:solidFill>
                  <a:srgbClr val="E46C0A"/>
                </a:solidFill>
              </a:rPr>
              <a:t> sui </a:t>
            </a:r>
            <a:r>
              <a:rPr b="1" dirty="0" err="1">
                <a:solidFill>
                  <a:srgbClr val="E46C0A"/>
                </a:solidFill>
              </a:rPr>
              <a:t>quali</a:t>
            </a:r>
            <a:r>
              <a:rPr b="1" dirty="0">
                <a:solidFill>
                  <a:srgbClr val="E46C0A"/>
                </a:solidFill>
              </a:rPr>
              <a:t> è </a:t>
            </a:r>
            <a:r>
              <a:rPr b="1" dirty="0" err="1">
                <a:solidFill>
                  <a:srgbClr val="E46C0A"/>
                </a:solidFill>
              </a:rPr>
              <a:t>interrogato</a:t>
            </a:r>
            <a:r>
              <a:rPr dirty="0"/>
              <a:t>, è </a:t>
            </a:r>
            <a:r>
              <a:rPr dirty="0" err="1"/>
              <a:t>punito</a:t>
            </a:r>
            <a:r>
              <a:rPr dirty="0"/>
              <a:t>  con la </a:t>
            </a:r>
            <a:r>
              <a:rPr dirty="0" err="1"/>
              <a:t>reclusione</a:t>
            </a:r>
            <a:r>
              <a:rPr dirty="0"/>
              <a:t> da due a sei </a:t>
            </a:r>
            <a:r>
              <a:rPr dirty="0" err="1"/>
              <a:t>anni</a:t>
            </a:r>
            <a:r>
              <a:rPr dirty="0"/>
              <a:t>.»</a:t>
            </a:r>
          </a:p>
        </p:txBody>
      </p:sp>
      <p:pic>
        <p:nvPicPr>
          <p:cNvPr id="32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Rettangolo 5"/>
          <p:cNvSpPr txBox="1"/>
          <p:nvPr/>
        </p:nvSpPr>
        <p:spPr>
          <a:xfrm>
            <a:off x="1953423" y="4149080"/>
            <a:ext cx="4768593" cy="227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spcBef>
                <a:spcPts val="600"/>
              </a:spcBef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Trib. monocratico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non consentito in quanto l’art. 476 c.p.p. vieta l’arresto del testimone in udienza per i reati concernenti il contenuto della deposizione.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2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Falsa testimonianza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ttangolo 4"/>
          <p:cNvSpPr txBox="1"/>
          <p:nvPr/>
        </p:nvSpPr>
        <p:spPr>
          <a:xfrm>
            <a:off x="203901" y="1215633"/>
            <a:ext cx="8736198" cy="443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b="1" u="sng" dirty="0"/>
              <a:t>BENE TUTELATO</a:t>
            </a:r>
            <a:r>
              <a:rPr lang="it-IT" b="1" dirty="0"/>
              <a:t>: </a:t>
            </a:r>
            <a:r>
              <a:rPr lang="it-IT" sz="2400" b="0" dirty="0">
                <a:sym typeface="Times New Roman"/>
              </a:rPr>
              <a:t>garantire, attraverso la veridicità e la completezza delle dichiarazioni dei testimoni, il </a:t>
            </a:r>
            <a:r>
              <a:rPr lang="it-IT" sz="2400" u="sng" dirty="0">
                <a:solidFill>
                  <a:srgbClr val="FF0000"/>
                </a:solidFill>
                <a:sym typeface="Times New Roman"/>
              </a:rPr>
              <a:t>corretto funzionamento </a:t>
            </a:r>
            <a:r>
              <a:rPr lang="it-IT" sz="2400" u="sng" dirty="0" err="1">
                <a:solidFill>
                  <a:srgbClr val="FF0000"/>
                </a:solidFill>
                <a:sym typeface="Times New Roman"/>
              </a:rPr>
              <a:t>dell</a:t>
            </a:r>
            <a:r>
              <a:rPr lang="ar-SA" sz="2400" u="sng" dirty="0">
                <a:solidFill>
                  <a:srgbClr val="FF0000"/>
                </a:solidFill>
                <a:sym typeface="Times New Roman"/>
              </a:rPr>
              <a:t>’</a:t>
            </a:r>
            <a:r>
              <a:rPr lang="it-IT" sz="2400" u="sng" dirty="0">
                <a:solidFill>
                  <a:srgbClr val="FF0000"/>
                </a:solidFill>
                <a:sym typeface="Times New Roman"/>
              </a:rPr>
              <a:t>attività giudiziaria.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Titolare</a:t>
            </a:r>
            <a:r>
              <a:rPr dirty="0"/>
              <a:t> </a:t>
            </a:r>
            <a:r>
              <a:rPr dirty="0" err="1"/>
              <a:t>esclusivo</a:t>
            </a:r>
            <a:r>
              <a:rPr dirty="0"/>
              <a:t> </a:t>
            </a:r>
            <a:r>
              <a:rPr dirty="0" err="1"/>
              <a:t>dell'interesse</a:t>
            </a:r>
            <a:r>
              <a:rPr dirty="0"/>
              <a:t> </a:t>
            </a:r>
            <a:r>
              <a:rPr dirty="0" err="1"/>
              <a:t>protetto</a:t>
            </a:r>
            <a:r>
              <a:rPr dirty="0"/>
              <a:t> è lo </a:t>
            </a:r>
            <a:r>
              <a:rPr b="1" dirty="0" err="1">
                <a:solidFill>
                  <a:srgbClr val="E46C0A"/>
                </a:solidFill>
              </a:rPr>
              <a:t>Stato</a:t>
            </a:r>
            <a:r>
              <a:rPr sz="2400" dirty="0"/>
              <a:t>, per cui </a:t>
            </a:r>
            <a:r>
              <a:rPr sz="2400" dirty="0" err="1"/>
              <a:t>si</a:t>
            </a:r>
            <a:r>
              <a:rPr sz="2400" dirty="0"/>
              <a:t> </a:t>
            </a:r>
            <a:r>
              <a:rPr sz="2400" dirty="0" err="1"/>
              <a:t>esclude</a:t>
            </a:r>
            <a:r>
              <a:rPr sz="2400" dirty="0"/>
              <a:t> </a:t>
            </a:r>
            <a:r>
              <a:rPr sz="2400" dirty="0" err="1"/>
              <a:t>che</a:t>
            </a:r>
            <a:r>
              <a:rPr sz="2400" dirty="0"/>
              <a:t> </a:t>
            </a:r>
            <a:r>
              <a:rPr sz="2400" dirty="0" err="1"/>
              <a:t>rivesta</a:t>
            </a:r>
            <a:r>
              <a:rPr sz="2400" dirty="0"/>
              <a:t> la </a:t>
            </a:r>
            <a:r>
              <a:rPr sz="2400" dirty="0" err="1"/>
              <a:t>qualifica</a:t>
            </a:r>
            <a:r>
              <a:rPr sz="2400" dirty="0"/>
              <a:t> di persona </a:t>
            </a:r>
            <a:r>
              <a:rPr sz="2400" dirty="0" err="1"/>
              <a:t>offesa</a:t>
            </a:r>
            <a:r>
              <a:rPr sz="2400" dirty="0"/>
              <a:t> </a:t>
            </a:r>
            <a:r>
              <a:rPr sz="2400" dirty="0" err="1"/>
              <a:t>il</a:t>
            </a:r>
            <a:r>
              <a:rPr sz="2400" dirty="0"/>
              <a:t> </a:t>
            </a:r>
            <a:r>
              <a:rPr sz="2400" dirty="0" err="1"/>
              <a:t>privato</a:t>
            </a:r>
            <a:r>
              <a:rPr sz="2400" dirty="0"/>
              <a:t> </a:t>
            </a:r>
            <a:r>
              <a:rPr sz="2400" dirty="0" err="1"/>
              <a:t>che</a:t>
            </a:r>
            <a:r>
              <a:rPr sz="2400" dirty="0"/>
              <a:t>, a causa </a:t>
            </a:r>
            <a:r>
              <a:rPr sz="2400" dirty="0" err="1"/>
              <a:t>della</a:t>
            </a:r>
            <a:r>
              <a:rPr sz="2400" dirty="0"/>
              <a:t> falsa </a:t>
            </a:r>
            <a:r>
              <a:rPr sz="2400" dirty="0" err="1"/>
              <a:t>testimonianza</a:t>
            </a:r>
            <a:r>
              <a:rPr sz="2400" dirty="0"/>
              <a:t>, </a:t>
            </a:r>
            <a:r>
              <a:rPr sz="2400" dirty="0" err="1"/>
              <a:t>abbia</a:t>
            </a:r>
            <a:r>
              <a:rPr sz="2400" dirty="0"/>
              <a:t> </a:t>
            </a:r>
            <a:r>
              <a:rPr sz="2400" dirty="0" err="1"/>
              <a:t>subito</a:t>
            </a:r>
            <a:r>
              <a:rPr sz="2400" dirty="0"/>
              <a:t> </a:t>
            </a:r>
            <a:r>
              <a:rPr sz="2400" dirty="0" err="1"/>
              <a:t>danni</a:t>
            </a:r>
            <a:r>
              <a:rPr sz="2400" dirty="0"/>
              <a:t> </a:t>
            </a:r>
            <a:r>
              <a:rPr sz="2400" dirty="0" err="1"/>
              <a:t>rilevanti</a:t>
            </a:r>
            <a:r>
              <a:rPr sz="2400" dirty="0"/>
              <a:t> e </a:t>
            </a:r>
            <a:r>
              <a:rPr sz="2400" dirty="0" err="1"/>
              <a:t>risarcibili</a:t>
            </a:r>
            <a:r>
              <a:rPr sz="2400" dirty="0"/>
              <a:t> </a:t>
            </a:r>
            <a:r>
              <a:rPr sz="2400" dirty="0" err="1"/>
              <a:t>sul</a:t>
            </a:r>
            <a:r>
              <a:rPr sz="2400" dirty="0"/>
              <a:t> piano </a:t>
            </a:r>
            <a:r>
              <a:rPr sz="2400" dirty="0" err="1"/>
              <a:t>civilistico</a:t>
            </a:r>
            <a:r>
              <a:rPr sz="2400" dirty="0"/>
              <a:t>.</a:t>
            </a:r>
            <a:endParaRPr sz="2000" dirty="0"/>
          </a:p>
        </p:txBody>
      </p:sp>
      <p:pic>
        <p:nvPicPr>
          <p:cNvPr id="32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Falsa testimonianza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olo 1"/>
          <p:cNvSpPr txBox="1">
            <a:spLocks noGrp="1"/>
          </p:cNvSpPr>
          <p:nvPr>
            <p:ph type="title"/>
          </p:nvPr>
        </p:nvSpPr>
        <p:spPr>
          <a:xfrm>
            <a:off x="696814" y="67098"/>
            <a:ext cx="5122914" cy="985637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365760">
              <a:defRPr sz="1120">
                <a:solidFill>
                  <a:schemeClr val="accent3">
                    <a:lumOff val="44000"/>
                  </a:schemeClr>
                </a:solidFill>
                <a:effectLst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sz="3200" dirty="0"/>
              <a:t>Falsa </a:t>
            </a:r>
            <a:r>
              <a:rPr sz="3200" dirty="0" err="1"/>
              <a:t>testimonianza</a:t>
            </a:r>
            <a:br>
              <a:rPr sz="3200" dirty="0"/>
            </a:br>
            <a:endParaRPr sz="3200" dirty="0"/>
          </a:p>
        </p:txBody>
      </p:sp>
      <p:sp>
        <p:nvSpPr>
          <p:cNvPr id="333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457200" y="1052735"/>
            <a:ext cx="8229600" cy="5073429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 b="1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A SOGGETTIVITA’ RISTRETTA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soggetto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agente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chiunque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rivesta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l’ufficio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dirty="0" err="1"/>
              <a:t>testimone</a:t>
            </a:r>
            <a:r>
              <a:rPr b="0" dirty="0">
                <a:solidFill>
                  <a:srgbClr val="000000"/>
                </a:solidFill>
              </a:rPr>
              <a:t>. </a:t>
            </a:r>
            <a:r>
              <a:rPr lang="it-IT" b="1" dirty="0">
                <a:solidFill>
                  <a:schemeClr val="accent2"/>
                </a:solidFill>
              </a:rPr>
              <a:t>(REATO PROPRIO)</a:t>
            </a:r>
            <a:endParaRPr b="1" dirty="0">
              <a:solidFill>
                <a:schemeClr val="accent2"/>
              </a:solidFill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3 </a:t>
            </a:r>
            <a:r>
              <a:rPr dirty="0" err="1"/>
              <a:t>requisiti</a:t>
            </a:r>
            <a:r>
              <a:rPr dirty="0"/>
              <a:t>: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Tx/>
              <a:buAutoNum type="alphaLcPeriod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iscritto</a:t>
            </a:r>
            <a:r>
              <a:rPr dirty="0"/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b="1" dirty="0" err="1"/>
              <a:t>liste</a:t>
            </a:r>
            <a:r>
              <a:rPr b="1" dirty="0"/>
              <a:t> </a:t>
            </a:r>
            <a:r>
              <a:rPr b="1" dirty="0" err="1"/>
              <a:t>dibattimentali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Tx/>
              <a:buAutoNum type="alphaLcPeriod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Prestare</a:t>
            </a:r>
            <a:r>
              <a:rPr dirty="0"/>
              <a:t> </a:t>
            </a:r>
            <a:r>
              <a:rPr b="1" dirty="0" err="1"/>
              <a:t>giuramento</a:t>
            </a:r>
            <a:r>
              <a:rPr dirty="0"/>
              <a:t> </a:t>
            </a:r>
            <a:r>
              <a:rPr dirty="0" err="1"/>
              <a:t>dinanzi</a:t>
            </a:r>
            <a:r>
              <a:rPr dirty="0"/>
              <a:t> al </a:t>
            </a:r>
            <a:r>
              <a:rPr dirty="0" err="1"/>
              <a:t>giudice</a:t>
            </a:r>
            <a:r>
              <a:rPr dirty="0"/>
              <a:t>;</a:t>
            </a:r>
          </a:p>
          <a:p>
            <a:pPr marL="457200" indent="-457200" algn="just">
              <a:lnSpc>
                <a:spcPct val="114000"/>
              </a:lnSpc>
              <a:spcBef>
                <a:spcPts val="600"/>
              </a:spcBef>
              <a:buFontTx/>
              <a:buAutoNum type="alphaLcPeriod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Rendere</a:t>
            </a:r>
            <a:r>
              <a:rPr dirty="0"/>
              <a:t> </a:t>
            </a:r>
            <a:r>
              <a:rPr b="1" dirty="0" err="1"/>
              <a:t>dichiarazioni</a:t>
            </a:r>
            <a:r>
              <a:rPr b="1" dirty="0"/>
              <a:t> </a:t>
            </a:r>
            <a:r>
              <a:rPr b="1" dirty="0" err="1"/>
              <a:t>dinanzi</a:t>
            </a:r>
            <a:r>
              <a:rPr b="1" dirty="0"/>
              <a:t> </a:t>
            </a:r>
            <a:r>
              <a:rPr b="1" dirty="0" err="1"/>
              <a:t>all’Autorità</a:t>
            </a:r>
            <a:r>
              <a:rPr b="1" dirty="0"/>
              <a:t> </a:t>
            </a:r>
            <a:r>
              <a:rPr b="1" dirty="0" err="1"/>
              <a:t>Giudiziaria</a:t>
            </a:r>
            <a:r>
              <a:rPr dirty="0"/>
              <a:t>,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quella</a:t>
            </a:r>
            <a:r>
              <a:rPr dirty="0"/>
              <a:t> </a:t>
            </a:r>
            <a:r>
              <a:rPr dirty="0" err="1"/>
              <a:t>ordinaria</a:t>
            </a:r>
            <a:r>
              <a:rPr dirty="0"/>
              <a:t> o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speciale</a:t>
            </a:r>
            <a:r>
              <a:rPr dirty="0"/>
              <a:t>,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civile</a:t>
            </a:r>
            <a:r>
              <a:rPr dirty="0"/>
              <a:t>, </a:t>
            </a:r>
            <a:r>
              <a:rPr dirty="0" err="1"/>
              <a:t>penale</a:t>
            </a:r>
            <a:r>
              <a:rPr dirty="0"/>
              <a:t> o </a:t>
            </a:r>
            <a:r>
              <a:rPr dirty="0" err="1"/>
              <a:t>amministrativa</a:t>
            </a:r>
            <a:r>
              <a:rPr dirty="0"/>
              <a:t>.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Le </a:t>
            </a:r>
            <a:r>
              <a:rPr dirty="0" err="1"/>
              <a:t>persone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non </a:t>
            </a:r>
            <a:r>
              <a:rPr dirty="0" err="1"/>
              <a:t>possono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obbligate</a:t>
            </a:r>
            <a:r>
              <a:rPr dirty="0"/>
              <a:t> a </a:t>
            </a:r>
            <a:r>
              <a:rPr dirty="0" err="1"/>
              <a:t>testimoniare</a:t>
            </a:r>
            <a:r>
              <a:rPr lang="it-IT" dirty="0"/>
              <a:t>,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coperto</a:t>
            </a:r>
            <a:r>
              <a:rPr dirty="0"/>
              <a:t> da </a:t>
            </a:r>
            <a:r>
              <a:rPr dirty="0" err="1"/>
              <a:t>segreto</a:t>
            </a:r>
            <a:r>
              <a:rPr dirty="0"/>
              <a:t> </a:t>
            </a:r>
            <a:r>
              <a:rPr dirty="0" err="1"/>
              <a:t>professionale</a:t>
            </a:r>
            <a:r>
              <a:rPr dirty="0"/>
              <a:t> o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possono</a:t>
            </a:r>
            <a:r>
              <a:rPr dirty="0"/>
              <a:t> </a:t>
            </a:r>
            <a:r>
              <a:rPr dirty="0" err="1"/>
              <a:t>astenersi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deporre</a:t>
            </a:r>
            <a:r>
              <a:rPr dirty="0"/>
              <a:t> </a:t>
            </a:r>
            <a:r>
              <a:rPr dirty="0" err="1"/>
              <a:t>nei</a:t>
            </a:r>
            <a:r>
              <a:rPr dirty="0"/>
              <a:t> </a:t>
            </a:r>
            <a:r>
              <a:rPr dirty="0" err="1"/>
              <a:t>confronti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prossimi</a:t>
            </a:r>
            <a:r>
              <a:rPr dirty="0"/>
              <a:t> </a:t>
            </a:r>
            <a:r>
              <a:rPr dirty="0" err="1"/>
              <a:t>congiunti</a:t>
            </a:r>
            <a:r>
              <a:rPr dirty="0"/>
              <a:t> se </a:t>
            </a:r>
            <a:r>
              <a:rPr dirty="0" err="1"/>
              <a:t>decidono</a:t>
            </a:r>
            <a:r>
              <a:rPr dirty="0"/>
              <a:t> di non </a:t>
            </a:r>
            <a:r>
              <a:rPr dirty="0" err="1"/>
              <a:t>astenersi</a:t>
            </a:r>
            <a:r>
              <a:rPr dirty="0"/>
              <a:t>, </a:t>
            </a:r>
            <a:r>
              <a:rPr b="1" u="sng" dirty="0" err="1">
                <a:solidFill>
                  <a:srgbClr val="002F8E"/>
                </a:solidFill>
              </a:rPr>
              <a:t>hanno</a:t>
            </a:r>
            <a:r>
              <a:rPr b="1" u="sng" dirty="0">
                <a:solidFill>
                  <a:srgbClr val="002F8E"/>
                </a:solidFill>
              </a:rPr>
              <a:t> </a:t>
            </a:r>
            <a:r>
              <a:rPr b="1" u="sng" dirty="0" err="1">
                <a:solidFill>
                  <a:srgbClr val="002F8E"/>
                </a:solidFill>
              </a:rPr>
              <a:t>l’obbligo</a:t>
            </a:r>
            <a:r>
              <a:rPr b="1" u="sng" dirty="0">
                <a:solidFill>
                  <a:srgbClr val="002F8E"/>
                </a:solidFill>
              </a:rPr>
              <a:t> di dire la </a:t>
            </a:r>
            <a:r>
              <a:rPr b="1" u="sng" dirty="0" err="1">
                <a:solidFill>
                  <a:srgbClr val="002F8E"/>
                </a:solidFill>
              </a:rPr>
              <a:t>verità</a:t>
            </a:r>
            <a:r>
              <a:rPr b="1" u="sng" dirty="0">
                <a:solidFill>
                  <a:srgbClr val="002F8E"/>
                </a:solidFill>
              </a:rPr>
              <a:t>.</a:t>
            </a:r>
          </a:p>
        </p:txBody>
      </p:sp>
      <p:sp>
        <p:nvSpPr>
          <p:cNvPr id="334" name="Segnaposto numero diapositiva 3"/>
          <p:cNvSpPr txBox="1">
            <a:spLocks noGrp="1"/>
          </p:cNvSpPr>
          <p:nvPr>
            <p:ph type="sldNum" sz="quarter" idx="2"/>
          </p:nvPr>
        </p:nvSpPr>
        <p:spPr>
          <a:xfrm>
            <a:off x="8430259" y="6401179"/>
            <a:ext cx="256541" cy="27546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pic>
        <p:nvPicPr>
          <p:cNvPr id="335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ttangolo 4"/>
          <p:cNvSpPr txBox="1"/>
          <p:nvPr/>
        </p:nvSpPr>
        <p:spPr>
          <a:xfrm>
            <a:off x="203901" y="1045334"/>
            <a:ext cx="8736198" cy="5188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: </a:t>
            </a:r>
            <a:r>
              <a:rPr lang="it-IT" sz="2400" b="0" dirty="0">
                <a:sym typeface="Times New Roman"/>
              </a:rPr>
              <a:t>La condotta può assumere una </a:t>
            </a:r>
            <a:r>
              <a:rPr lang="it-IT" sz="2400" dirty="0">
                <a:solidFill>
                  <a:srgbClr val="00B0F0"/>
                </a:solidFill>
                <a:sym typeface="Times New Roman"/>
              </a:rPr>
              <a:t>forma attiva </a:t>
            </a:r>
            <a:r>
              <a:rPr lang="it-IT" sz="2400" b="0" dirty="0">
                <a:sym typeface="Times New Roman"/>
              </a:rPr>
              <a:t>(affermare il falso o negare il vero) ed una </a:t>
            </a:r>
            <a:r>
              <a:rPr lang="it-IT" sz="2400" dirty="0">
                <a:solidFill>
                  <a:srgbClr val="7030A0"/>
                </a:solidFill>
                <a:sym typeface="Times New Roman"/>
              </a:rPr>
              <a:t>passiva</a:t>
            </a:r>
            <a:r>
              <a:rPr lang="it-IT" sz="2400" b="0" dirty="0">
                <a:sym typeface="Times New Roman"/>
              </a:rPr>
              <a:t> (reticenza, cioè tacere totalmente o parzialmente quanto si sa). </a:t>
            </a:r>
          </a:p>
          <a:p>
            <a:pPr algn="just">
              <a:lnSpc>
                <a:spcPct val="114000"/>
              </a:lnSpc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u="none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u="none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none" dirty="0">
                <a:solidFill>
                  <a:srgbClr val="FF0000"/>
                </a:solidFill>
              </a:rPr>
              <a:t>3 </a:t>
            </a:r>
            <a:r>
              <a:rPr u="none" dirty="0" err="1">
                <a:solidFill>
                  <a:srgbClr val="FF0000"/>
                </a:solidFill>
              </a:rPr>
              <a:t>tipologie</a:t>
            </a:r>
            <a:r>
              <a:rPr u="none" dirty="0">
                <a:solidFill>
                  <a:srgbClr val="FF0000"/>
                </a:solidFill>
              </a:rPr>
              <a:t> di </a:t>
            </a:r>
            <a:r>
              <a:rPr u="none" dirty="0" err="1">
                <a:solidFill>
                  <a:srgbClr val="FF0000"/>
                </a:solidFill>
              </a:rPr>
              <a:t>condotte</a:t>
            </a:r>
            <a:r>
              <a:rPr u="none" dirty="0">
                <a:solidFill>
                  <a:srgbClr val="FF0000"/>
                </a:solidFill>
              </a:rPr>
              <a:t>:</a:t>
            </a:r>
            <a:endParaRPr b="0" u="none" dirty="0"/>
          </a:p>
          <a:p>
            <a:pPr marL="268288" indent="-268288" algn="just">
              <a:lnSpc>
                <a:spcPct val="114000"/>
              </a:lnSpc>
              <a:buSzPct val="100000"/>
              <a:buAutoNum type="arabicPeriod"/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Affermare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falso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significa</a:t>
            </a:r>
            <a:r>
              <a:rPr b="0" dirty="0">
                <a:solidFill>
                  <a:srgbClr val="000000"/>
                </a:solidFill>
              </a:rPr>
              <a:t> dire </a:t>
            </a:r>
            <a:r>
              <a:rPr b="0" dirty="0" err="1">
                <a:solidFill>
                  <a:srgbClr val="000000"/>
                </a:solidFill>
              </a:rPr>
              <a:t>qualcosa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positivamente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difforme</a:t>
            </a:r>
            <a:r>
              <a:rPr b="0" dirty="0">
                <a:solidFill>
                  <a:srgbClr val="000000"/>
                </a:solidFill>
              </a:rPr>
              <a:t> dal </a:t>
            </a:r>
            <a:r>
              <a:rPr b="0" dirty="0" err="1">
                <a:solidFill>
                  <a:srgbClr val="000000"/>
                </a:solidFill>
              </a:rPr>
              <a:t>vero</a:t>
            </a:r>
            <a:r>
              <a:rPr b="0" dirty="0">
                <a:solidFill>
                  <a:srgbClr val="000000"/>
                </a:solidFill>
              </a:rPr>
              <a:t> (</a:t>
            </a:r>
            <a:r>
              <a:rPr b="0" dirty="0" err="1">
                <a:solidFill>
                  <a:srgbClr val="000000"/>
                </a:solidFill>
              </a:rPr>
              <a:t>supporre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esistente</a:t>
            </a:r>
            <a:r>
              <a:rPr b="0" dirty="0">
                <a:solidFill>
                  <a:srgbClr val="000000"/>
                </a:solidFill>
              </a:rPr>
              <a:t> un </a:t>
            </a:r>
            <a:r>
              <a:rPr b="0" dirty="0" err="1">
                <a:solidFill>
                  <a:srgbClr val="000000"/>
                </a:solidFill>
              </a:rPr>
              <a:t>fatto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inesistente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alterare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b="0" dirty="0" err="1">
                <a:solidFill>
                  <a:srgbClr val="000000"/>
                </a:solidFill>
              </a:rPr>
              <a:t>verità</a:t>
            </a:r>
            <a:r>
              <a:rPr b="0" dirty="0">
                <a:solidFill>
                  <a:srgbClr val="000000"/>
                </a:solidFill>
              </a:rPr>
              <a:t> o la </a:t>
            </a:r>
            <a:r>
              <a:rPr b="0" dirty="0" err="1">
                <a:solidFill>
                  <a:srgbClr val="000000"/>
                </a:solidFill>
              </a:rPr>
              <a:t>percezione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si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avuta</a:t>
            </a:r>
            <a:r>
              <a:rPr b="0" dirty="0">
                <a:solidFill>
                  <a:srgbClr val="000000"/>
                </a:solidFill>
              </a:rPr>
              <a:t> etc.);</a:t>
            </a:r>
          </a:p>
          <a:p>
            <a:pPr marL="268288" indent="-268288" algn="just">
              <a:lnSpc>
                <a:spcPct val="114000"/>
              </a:lnSpc>
              <a:buSzPct val="100000"/>
              <a:buAutoNum type="arabicPeriod"/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Negare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vero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significa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negare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b="0" dirty="0" err="1">
                <a:solidFill>
                  <a:srgbClr val="000000"/>
                </a:solidFill>
              </a:rPr>
              <a:t>verità</a:t>
            </a:r>
            <a:r>
              <a:rPr b="0" dirty="0">
                <a:solidFill>
                  <a:srgbClr val="000000"/>
                </a:solidFill>
              </a:rPr>
              <a:t> di un </a:t>
            </a:r>
            <a:r>
              <a:rPr b="0" dirty="0" err="1">
                <a:solidFill>
                  <a:srgbClr val="000000"/>
                </a:solidFill>
              </a:rPr>
              <a:t>fatto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realmente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accaduto</a:t>
            </a:r>
            <a:r>
              <a:rPr b="0" dirty="0">
                <a:solidFill>
                  <a:srgbClr val="000000"/>
                </a:solidFill>
              </a:rPr>
              <a:t> o </a:t>
            </a:r>
            <a:r>
              <a:rPr b="0" dirty="0" err="1">
                <a:solidFill>
                  <a:srgbClr val="000000"/>
                </a:solidFill>
              </a:rPr>
              <a:t>percepito</a:t>
            </a:r>
            <a:r>
              <a:rPr b="0" dirty="0">
                <a:solidFill>
                  <a:srgbClr val="000000"/>
                </a:solidFill>
              </a:rPr>
              <a:t>;</a:t>
            </a:r>
          </a:p>
          <a:p>
            <a:pPr marL="268288" indent="-268288" algn="just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Tacere</a:t>
            </a:r>
            <a:r>
              <a:rPr dirty="0"/>
              <a:t> in </a:t>
            </a:r>
            <a:r>
              <a:rPr dirty="0" err="1"/>
              <a:t>tutto</a:t>
            </a:r>
            <a:r>
              <a:rPr dirty="0"/>
              <a:t> o in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ciò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b="0" dirty="0">
                <a:solidFill>
                  <a:srgbClr val="000000"/>
                </a:solidFill>
              </a:rPr>
              <a:t>(cd. RETICENZA).</a:t>
            </a:r>
          </a:p>
        </p:txBody>
      </p:sp>
      <p:pic>
        <p:nvPicPr>
          <p:cNvPr id="33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Falsa testimonianza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itolo 1"/>
          <p:cNvSpPr txBox="1">
            <a:spLocks noGrp="1"/>
          </p:cNvSpPr>
          <p:nvPr>
            <p:ph type="title"/>
          </p:nvPr>
        </p:nvSpPr>
        <p:spPr>
          <a:xfrm>
            <a:off x="683568" y="188639"/>
            <a:ext cx="3754760" cy="92211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896111">
              <a:defRPr sz="2744">
                <a:solidFill>
                  <a:schemeClr val="accent3">
                    <a:lumOff val="44000"/>
                  </a:schemeClr>
                </a:solidFill>
                <a:effectLst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sz="3600" dirty="0"/>
              <a:t>Falsa </a:t>
            </a:r>
            <a:r>
              <a:rPr sz="3600" dirty="0" err="1"/>
              <a:t>testimonianza</a:t>
            </a:r>
            <a:br>
              <a:rPr dirty="0"/>
            </a:br>
            <a:endParaRPr dirty="0"/>
          </a:p>
        </p:txBody>
      </p:sp>
      <p:sp>
        <p:nvSpPr>
          <p:cNvPr id="342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457200" y="1277815"/>
            <a:ext cx="8229600" cy="5391545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L’</a:t>
            </a:r>
            <a:r>
              <a:rPr b="1" dirty="0"/>
              <a:t>ELEMENTO MATERIALE</a:t>
            </a:r>
            <a:r>
              <a:rPr b="1" u="none" dirty="0"/>
              <a:t> </a:t>
            </a:r>
            <a:r>
              <a:rPr u="none" dirty="0" err="1">
                <a:solidFill>
                  <a:srgbClr val="000000"/>
                </a:solidFill>
              </a:rPr>
              <a:t>consiste</a:t>
            </a:r>
            <a:r>
              <a:rPr u="none" dirty="0">
                <a:solidFill>
                  <a:srgbClr val="000000"/>
                </a:solidFill>
              </a:rPr>
              <a:t> non </a:t>
            </a:r>
            <a:r>
              <a:rPr u="none" dirty="0" err="1">
                <a:solidFill>
                  <a:srgbClr val="000000"/>
                </a:solidFill>
              </a:rPr>
              <a:t>nella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difformità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tra</a:t>
            </a:r>
            <a:r>
              <a:rPr u="none" dirty="0">
                <a:solidFill>
                  <a:srgbClr val="000000"/>
                </a:solidFill>
              </a:rPr>
              <a:t> le </a:t>
            </a:r>
            <a:r>
              <a:rPr u="none" dirty="0" err="1">
                <a:solidFill>
                  <a:srgbClr val="000000"/>
                </a:solidFill>
              </a:rPr>
              <a:t>dichiarazioni</a:t>
            </a:r>
            <a:r>
              <a:rPr u="none" dirty="0">
                <a:solidFill>
                  <a:srgbClr val="000000"/>
                </a:solidFill>
              </a:rPr>
              <a:t> del </a:t>
            </a:r>
            <a:r>
              <a:rPr u="none" dirty="0" err="1">
                <a:solidFill>
                  <a:srgbClr val="000000"/>
                </a:solidFill>
              </a:rPr>
              <a:t>testimone</a:t>
            </a:r>
            <a:r>
              <a:rPr u="none" dirty="0">
                <a:solidFill>
                  <a:srgbClr val="000000"/>
                </a:solidFill>
              </a:rPr>
              <a:t> e la </a:t>
            </a:r>
            <a:r>
              <a:rPr u="none" dirty="0" err="1">
                <a:solidFill>
                  <a:srgbClr val="000000"/>
                </a:solidFill>
              </a:rPr>
              <a:t>realtà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dirty="0" err="1">
                <a:solidFill>
                  <a:srgbClr val="000000"/>
                </a:solidFill>
              </a:rPr>
              <a:t>vera</a:t>
            </a:r>
            <a:r>
              <a:rPr u="none" dirty="0">
                <a:solidFill>
                  <a:srgbClr val="000000"/>
                </a:solidFill>
              </a:rPr>
              <a:t> e propria, ma </a:t>
            </a:r>
            <a:r>
              <a:rPr b="1" u="none" dirty="0" err="1">
                <a:solidFill>
                  <a:srgbClr val="000000"/>
                </a:solidFill>
              </a:rPr>
              <a:t>nella</a:t>
            </a:r>
            <a:r>
              <a:rPr b="1" u="none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difformità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tra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quanto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il</a:t>
            </a:r>
            <a:r>
              <a:rPr b="1" dirty="0">
                <a:solidFill>
                  <a:srgbClr val="1F497D"/>
                </a:solidFill>
              </a:rPr>
              <a:t> teste </a:t>
            </a:r>
            <a:r>
              <a:rPr b="1" dirty="0" err="1">
                <a:solidFill>
                  <a:srgbClr val="1F497D"/>
                </a:solidFill>
              </a:rPr>
              <a:t>depone</a:t>
            </a:r>
            <a:r>
              <a:rPr b="1" dirty="0">
                <a:solidFill>
                  <a:srgbClr val="1F497D"/>
                </a:solidFill>
              </a:rPr>
              <a:t> e </a:t>
            </a:r>
            <a:r>
              <a:rPr b="1" dirty="0" err="1">
                <a:solidFill>
                  <a:srgbClr val="1F497D"/>
                </a:solidFill>
              </a:rPr>
              <a:t>ciò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che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egli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effettivamente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dirty="0" err="1">
                <a:solidFill>
                  <a:srgbClr val="1F497D"/>
                </a:solidFill>
              </a:rPr>
              <a:t>conosce</a:t>
            </a:r>
            <a:r>
              <a:rPr b="1" dirty="0">
                <a:solidFill>
                  <a:srgbClr val="1F497D"/>
                </a:solidFill>
              </a:rPr>
              <a:t> </a:t>
            </a:r>
            <a:r>
              <a:rPr b="1" u="none" dirty="0">
                <a:solidFill>
                  <a:srgbClr val="000000"/>
                </a:solidFill>
              </a:rPr>
              <a:t>sui </a:t>
            </a:r>
            <a:r>
              <a:rPr b="1" u="none" dirty="0" err="1">
                <a:solidFill>
                  <a:srgbClr val="000000"/>
                </a:solidFill>
              </a:rPr>
              <a:t>fatti</a:t>
            </a:r>
            <a:r>
              <a:rPr b="1" u="none" dirty="0">
                <a:solidFill>
                  <a:srgbClr val="000000"/>
                </a:solidFill>
              </a:rPr>
              <a:t> in </a:t>
            </a:r>
            <a:r>
              <a:rPr b="1" u="none" dirty="0" err="1">
                <a:solidFill>
                  <a:srgbClr val="000000"/>
                </a:solidFill>
              </a:rPr>
              <a:t>ordine</a:t>
            </a:r>
            <a:r>
              <a:rPr b="1" u="none" dirty="0">
                <a:solidFill>
                  <a:srgbClr val="000000"/>
                </a:solidFill>
              </a:rPr>
              <a:t> ai </a:t>
            </a:r>
            <a:r>
              <a:rPr b="1" u="none" dirty="0" err="1">
                <a:solidFill>
                  <a:srgbClr val="000000"/>
                </a:solidFill>
              </a:rPr>
              <a:t>quali</a:t>
            </a:r>
            <a:r>
              <a:rPr b="1" u="none" dirty="0">
                <a:solidFill>
                  <a:srgbClr val="000000"/>
                </a:solidFill>
              </a:rPr>
              <a:t> </a:t>
            </a:r>
            <a:r>
              <a:rPr b="1" u="none" dirty="0" err="1">
                <a:solidFill>
                  <a:srgbClr val="000000"/>
                </a:solidFill>
              </a:rPr>
              <a:t>viene</a:t>
            </a:r>
            <a:r>
              <a:rPr b="1" u="none" dirty="0">
                <a:solidFill>
                  <a:srgbClr val="000000"/>
                </a:solidFill>
              </a:rPr>
              <a:t> </a:t>
            </a:r>
            <a:r>
              <a:rPr b="1" u="none" dirty="0" err="1">
                <a:solidFill>
                  <a:srgbClr val="000000"/>
                </a:solidFill>
              </a:rPr>
              <a:t>interrogato</a:t>
            </a:r>
            <a:r>
              <a:rPr u="none" dirty="0">
                <a:solidFill>
                  <a:srgbClr val="000000"/>
                </a:solidFill>
              </a:rPr>
              <a:t>. </a:t>
            </a: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none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14000"/>
              </a:lnSpc>
              <a:spcBef>
                <a:spcPts val="600"/>
              </a:spcBef>
              <a:buSzTx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none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sussiste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testimone</a:t>
            </a:r>
            <a:r>
              <a:rPr dirty="0"/>
              <a:t>, </a:t>
            </a:r>
            <a:r>
              <a:rPr dirty="0" err="1"/>
              <a:t>riferendo</a:t>
            </a:r>
            <a:r>
              <a:rPr dirty="0"/>
              <a:t> un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vero</a:t>
            </a:r>
            <a:r>
              <a:rPr dirty="0"/>
              <a:t>, </a:t>
            </a:r>
            <a:r>
              <a:rPr b="1" u="sng" dirty="0" err="1">
                <a:solidFill>
                  <a:srgbClr val="C00000"/>
                </a:solidFill>
              </a:rPr>
              <a:t>affermi</a:t>
            </a:r>
            <a:r>
              <a:rPr b="1" u="sng" dirty="0">
                <a:solidFill>
                  <a:srgbClr val="C00000"/>
                </a:solidFill>
              </a:rPr>
              <a:t> </a:t>
            </a:r>
            <a:r>
              <a:rPr b="1" u="sng" dirty="0" err="1">
                <a:solidFill>
                  <a:srgbClr val="C00000"/>
                </a:solidFill>
              </a:rPr>
              <a:t>il</a:t>
            </a:r>
            <a:r>
              <a:rPr b="1" u="sng" dirty="0">
                <a:solidFill>
                  <a:srgbClr val="C00000"/>
                </a:solidFill>
              </a:rPr>
              <a:t> </a:t>
            </a:r>
            <a:r>
              <a:rPr b="1" u="sng" dirty="0" err="1">
                <a:solidFill>
                  <a:srgbClr val="C00000"/>
                </a:solidFill>
              </a:rPr>
              <a:t>falso</a:t>
            </a:r>
            <a:r>
              <a:rPr b="1" u="sng" dirty="0">
                <a:solidFill>
                  <a:srgbClr val="C00000"/>
                </a:solidFill>
              </a:rPr>
              <a:t> circa le </a:t>
            </a:r>
            <a:r>
              <a:rPr b="1" u="sng" dirty="0" err="1">
                <a:solidFill>
                  <a:srgbClr val="C00000"/>
                </a:solidFill>
              </a:rPr>
              <a:t>modalità</a:t>
            </a:r>
            <a:r>
              <a:rPr b="1" u="sng" dirty="0">
                <a:solidFill>
                  <a:srgbClr val="C00000"/>
                </a:solidFill>
              </a:rPr>
              <a:t> con le </a:t>
            </a:r>
            <a:r>
              <a:rPr b="1" u="sng" dirty="0" err="1">
                <a:solidFill>
                  <a:srgbClr val="C00000"/>
                </a:solidFill>
              </a:rPr>
              <a:t>quali</a:t>
            </a:r>
            <a:r>
              <a:rPr b="1" u="sng" dirty="0">
                <a:solidFill>
                  <a:srgbClr val="C00000"/>
                </a:solidFill>
              </a:rPr>
              <a:t> lo ha </a:t>
            </a:r>
            <a:r>
              <a:rPr b="1" u="sng" dirty="0" err="1">
                <a:solidFill>
                  <a:srgbClr val="C00000"/>
                </a:solidFill>
              </a:rPr>
              <a:t>appreso</a:t>
            </a:r>
            <a:r>
              <a:rPr b="1" u="sng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43" name="Segnaposto numero diapositiva 3"/>
          <p:cNvSpPr txBox="1">
            <a:spLocks noGrp="1"/>
          </p:cNvSpPr>
          <p:nvPr>
            <p:ph type="sldNum" sz="quarter" idx="2"/>
          </p:nvPr>
        </p:nvSpPr>
        <p:spPr>
          <a:xfrm>
            <a:off x="8430259" y="6401179"/>
            <a:ext cx="256541" cy="27546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pic>
        <p:nvPicPr>
          <p:cNvPr id="344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ttangolo 4"/>
          <p:cNvSpPr txBox="1"/>
          <p:nvPr/>
        </p:nvSpPr>
        <p:spPr>
          <a:xfrm>
            <a:off x="222705" y="1700808"/>
            <a:ext cx="8736198" cy="3373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è il </a:t>
            </a:r>
            <a:r>
              <a:rPr u="none">
                <a:solidFill>
                  <a:srgbClr val="E46C0A"/>
                </a:solidFill>
              </a:rPr>
              <a:t>DOLO GENERICO</a:t>
            </a:r>
            <a:r>
              <a:rPr b="0" u="none">
                <a:solidFill>
                  <a:srgbClr val="E46C0A"/>
                </a:solidFill>
              </a:rPr>
              <a:t> -</a:t>
            </a:r>
            <a:r>
              <a:rPr b="0" u="none"/>
              <a:t> in quanto non è considerato importante l’obbiettivo avuto di mira dall’agente.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b="1"/>
              <a:t>delitto si consuma </a:t>
            </a:r>
            <a:r>
              <a:t>nel </a:t>
            </a:r>
            <a:r>
              <a:rPr b="1">
                <a:solidFill>
                  <a:srgbClr val="E46C0A"/>
                </a:solidFill>
              </a:rPr>
              <a:t>momento in cui il teste ha finito la sua deposizione </a:t>
            </a:r>
            <a:r>
              <a:t>(pertinente e rilevante), non rilevando che quest’ultima, in concreto, possa o meno essere utilizzata dal giudice o che la prova sul fatto possa essere acquisita altrove. </a:t>
            </a:r>
          </a:p>
        </p:txBody>
      </p:sp>
      <p:pic>
        <p:nvPicPr>
          <p:cNvPr id="34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4" y="90290"/>
            <a:ext cx="435672" cy="753165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Falsa testimonianza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olo 1"/>
          <p:cNvSpPr txBox="1">
            <a:spLocks noGrp="1"/>
          </p:cNvSpPr>
          <p:nvPr>
            <p:ph type="title"/>
          </p:nvPr>
        </p:nvSpPr>
        <p:spPr>
          <a:xfrm>
            <a:off x="588728" y="184148"/>
            <a:ext cx="3754761" cy="1095376"/>
          </a:xfrm>
          <a:prstGeom prst="rect">
            <a:avLst/>
          </a:prstGeom>
        </p:spPr>
        <p:txBody>
          <a:bodyPr/>
          <a:lstStyle/>
          <a:p>
            <a:pPr>
              <a:defRPr sz="2800">
                <a:solidFill>
                  <a:schemeClr val="accent3">
                    <a:lumOff val="44000"/>
                  </a:schemeClr>
                </a:solidFill>
                <a:effectLst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Falsa </a:t>
            </a:r>
            <a:r>
              <a:rPr dirty="0" err="1"/>
              <a:t>testimonianza</a:t>
            </a:r>
            <a:br>
              <a:rPr dirty="0"/>
            </a:br>
            <a:endParaRPr dirty="0"/>
          </a:p>
        </p:txBody>
      </p:sp>
      <p:sp>
        <p:nvSpPr>
          <p:cNvPr id="351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470221" y="937313"/>
            <a:ext cx="8229601" cy="48679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Colui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in </a:t>
            </a:r>
            <a:r>
              <a:rPr dirty="0" err="1"/>
              <a:t>fasi</a:t>
            </a:r>
            <a:r>
              <a:rPr dirty="0"/>
              <a:t> successive </a:t>
            </a:r>
            <a:r>
              <a:rPr dirty="0" err="1"/>
              <a:t>dello</a:t>
            </a:r>
            <a:r>
              <a:rPr dirty="0"/>
              <a:t> </a:t>
            </a:r>
            <a:r>
              <a:rPr lang="it-IT" dirty="0"/>
              <a:t>stessa fase del procedimento </a:t>
            </a:r>
            <a:r>
              <a:rPr b="1" dirty="0"/>
              <a:t>RIPETE la </a:t>
            </a:r>
            <a:r>
              <a:rPr b="1" dirty="0" err="1"/>
              <a:t>medesima</a:t>
            </a:r>
            <a:r>
              <a:rPr b="1" dirty="0"/>
              <a:t> falsa </a:t>
            </a:r>
            <a:r>
              <a:rPr b="1" dirty="0" err="1"/>
              <a:t>testimonianza</a:t>
            </a:r>
            <a:r>
              <a:rPr b="1" dirty="0"/>
              <a:t> </a:t>
            </a:r>
            <a:r>
              <a:rPr b="1" dirty="0" err="1"/>
              <a:t>risponde</a:t>
            </a:r>
            <a:r>
              <a:rPr b="1" dirty="0"/>
              <a:t> di un solo </a:t>
            </a:r>
            <a:r>
              <a:rPr b="1" dirty="0" err="1"/>
              <a:t>reato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perfeziona</a:t>
            </a:r>
            <a:r>
              <a:rPr dirty="0"/>
              <a:t> 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in cui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costitutivo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falsità</a:t>
            </a:r>
            <a:r>
              <a:rPr dirty="0"/>
              <a:t> è </a:t>
            </a:r>
            <a:r>
              <a:rPr dirty="0" err="1"/>
              <a:t>commesso</a:t>
            </a:r>
            <a:r>
              <a:rPr dirty="0"/>
              <a:t> per la </a:t>
            </a:r>
            <a:r>
              <a:rPr b="1" dirty="0"/>
              <a:t>prima </a:t>
            </a:r>
            <a:r>
              <a:rPr b="1" dirty="0" err="1"/>
              <a:t>volta</a:t>
            </a:r>
            <a:r>
              <a:rPr dirty="0"/>
              <a:t>. </a:t>
            </a:r>
            <a:endParaRPr sz="2900" dirty="0"/>
          </a:p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900" dirty="0"/>
          </a:p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Qualora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testimone</a:t>
            </a:r>
            <a:r>
              <a:rPr dirty="0"/>
              <a:t> </a:t>
            </a:r>
            <a:r>
              <a:rPr dirty="0" err="1"/>
              <a:t>renda</a:t>
            </a:r>
            <a:r>
              <a:rPr dirty="0"/>
              <a:t> la propria </a:t>
            </a:r>
            <a:r>
              <a:rPr dirty="0" err="1"/>
              <a:t>deposizione</a:t>
            </a:r>
            <a:r>
              <a:rPr dirty="0"/>
              <a:t> </a:t>
            </a:r>
            <a:r>
              <a:rPr dirty="0" err="1"/>
              <a:t>mendace</a:t>
            </a:r>
            <a:r>
              <a:rPr dirty="0"/>
              <a:t> </a:t>
            </a:r>
            <a:r>
              <a:rPr b="1" u="sng" dirty="0"/>
              <a:t>INNANZI A GIUDICI DIVERSI,</a:t>
            </a:r>
            <a:r>
              <a:rPr b="1" dirty="0"/>
              <a:t> in successive </a:t>
            </a:r>
            <a:r>
              <a:rPr b="1" dirty="0" err="1"/>
              <a:t>fasi</a:t>
            </a:r>
            <a:r>
              <a:rPr b="1" dirty="0"/>
              <a:t> </a:t>
            </a:r>
            <a:r>
              <a:rPr b="1" dirty="0" err="1"/>
              <a:t>processuali</a:t>
            </a:r>
            <a:r>
              <a:rPr b="1" dirty="0"/>
              <a:t>, </a:t>
            </a:r>
            <a:r>
              <a:rPr b="1" dirty="0" err="1"/>
              <a:t>risponde</a:t>
            </a:r>
            <a:r>
              <a:rPr b="1" dirty="0"/>
              <a:t> di </a:t>
            </a:r>
            <a:r>
              <a:rPr b="1" dirty="0" err="1"/>
              <a:t>autonomi</a:t>
            </a:r>
            <a:r>
              <a:rPr b="1" dirty="0"/>
              <a:t> e </a:t>
            </a:r>
            <a:r>
              <a:rPr b="1" dirty="0" err="1"/>
              <a:t>distinti</a:t>
            </a:r>
            <a:r>
              <a:rPr b="1" dirty="0"/>
              <a:t> </a:t>
            </a:r>
            <a:r>
              <a:rPr b="1" dirty="0" err="1"/>
              <a:t>reati</a:t>
            </a:r>
            <a:r>
              <a:rPr b="1" dirty="0"/>
              <a:t> di falsa </a:t>
            </a:r>
            <a:r>
              <a:rPr b="1" dirty="0" err="1"/>
              <a:t>testimonianza</a:t>
            </a:r>
            <a:r>
              <a:rPr dirty="0"/>
              <a:t>, </a:t>
            </a:r>
            <a:r>
              <a:rPr dirty="0" err="1"/>
              <a:t>unificabili</a:t>
            </a:r>
            <a:r>
              <a:rPr dirty="0"/>
              <a:t>, se ne </a:t>
            </a:r>
            <a:r>
              <a:rPr dirty="0" err="1"/>
              <a:t>ricorrano</a:t>
            </a:r>
            <a:r>
              <a:rPr dirty="0"/>
              <a:t> le </a:t>
            </a:r>
            <a:r>
              <a:rPr dirty="0" err="1"/>
              <a:t>condizioni</a:t>
            </a:r>
            <a:r>
              <a:rPr dirty="0"/>
              <a:t> di </a:t>
            </a:r>
            <a:r>
              <a:rPr dirty="0" err="1"/>
              <a:t>legge</a:t>
            </a:r>
            <a:r>
              <a:rPr dirty="0"/>
              <a:t> ai </a:t>
            </a:r>
            <a:r>
              <a:rPr dirty="0" err="1"/>
              <a:t>sensi</a:t>
            </a:r>
            <a:r>
              <a:rPr dirty="0"/>
              <a:t> </a:t>
            </a:r>
            <a:r>
              <a:rPr dirty="0" err="1"/>
              <a:t>dell’art</a:t>
            </a:r>
            <a:r>
              <a:rPr dirty="0"/>
              <a:t>. 81, comma 2, </a:t>
            </a:r>
            <a:r>
              <a:rPr dirty="0" err="1"/>
              <a:t>c.p.</a:t>
            </a:r>
            <a:r>
              <a:rPr dirty="0"/>
              <a:t> (Cass. </a:t>
            </a:r>
            <a:r>
              <a:rPr dirty="0" err="1"/>
              <a:t>Sez</a:t>
            </a:r>
            <a:r>
              <a:rPr dirty="0"/>
              <a:t>. Un. 14-6-85, n. 5783).</a:t>
            </a:r>
            <a:r>
              <a:rPr lang="it-IT" dirty="0"/>
              <a:t> </a:t>
            </a:r>
            <a:r>
              <a:rPr lang="it-IT" b="1" u="sng" dirty="0">
                <a:solidFill>
                  <a:srgbClr val="C00000"/>
                </a:solidFill>
              </a:rPr>
              <a:t>CONCORSO DI REATI</a:t>
            </a:r>
            <a:endParaRPr sz="2900" b="1" u="sng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 u="sng" dirty="0">
                <a:solidFill>
                  <a:srgbClr val="C00000"/>
                </a:solidFill>
              </a:rPr>
              <a:t> </a:t>
            </a:r>
            <a:endParaRPr sz="2900" b="1" u="sng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102600"/>
              </a:lnSpc>
              <a:spcBef>
                <a:spcPts val="60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Trattandosi</a:t>
            </a:r>
            <a:r>
              <a:rPr dirty="0"/>
              <a:t> di </a:t>
            </a:r>
            <a:r>
              <a:rPr b="1" dirty="0">
                <a:solidFill>
                  <a:srgbClr val="E46C0A"/>
                </a:solidFill>
              </a:rPr>
              <a:t>REATO ISTANTANEO </a:t>
            </a:r>
            <a:r>
              <a:rPr dirty="0"/>
              <a:t>e </a:t>
            </a:r>
            <a:r>
              <a:rPr b="1" dirty="0">
                <a:solidFill>
                  <a:srgbClr val="E46C0A"/>
                </a:solidFill>
              </a:rPr>
              <a:t>DI PERICOLO</a:t>
            </a:r>
            <a:r>
              <a:rPr lang="it-IT" b="1" dirty="0">
                <a:solidFill>
                  <a:srgbClr val="E46C0A"/>
                </a:solidFill>
              </a:rPr>
              <a:t> (presunto – ex ante)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tentativo</a:t>
            </a:r>
            <a:r>
              <a:rPr b="1" dirty="0"/>
              <a:t> non è </a:t>
            </a:r>
            <a:r>
              <a:rPr b="1" dirty="0" err="1"/>
              <a:t>configurabile</a:t>
            </a:r>
            <a:r>
              <a:rPr dirty="0"/>
              <a:t>. </a:t>
            </a:r>
          </a:p>
        </p:txBody>
      </p:sp>
      <p:sp>
        <p:nvSpPr>
          <p:cNvPr id="352" name="Segnaposto numero diapositiva 3"/>
          <p:cNvSpPr txBox="1">
            <a:spLocks noGrp="1"/>
          </p:cNvSpPr>
          <p:nvPr>
            <p:ph type="sldNum" sz="quarter" idx="2"/>
          </p:nvPr>
        </p:nvSpPr>
        <p:spPr>
          <a:xfrm>
            <a:off x="8430259" y="6401179"/>
            <a:ext cx="256541" cy="27546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pic>
        <p:nvPicPr>
          <p:cNvPr id="353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4" y="90290"/>
            <a:ext cx="435672" cy="753165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Freccia in giù 5"/>
          <p:cNvSpPr/>
          <p:nvPr/>
        </p:nvSpPr>
        <p:spPr>
          <a:xfrm>
            <a:off x="5508104" y="5263662"/>
            <a:ext cx="288033" cy="6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7280"/>
                </a:moveTo>
                <a:lnTo>
                  <a:pt x="5400" y="17280"/>
                </a:lnTo>
                <a:lnTo>
                  <a:pt x="5400" y="0"/>
                </a:lnTo>
                <a:lnTo>
                  <a:pt x="16200" y="0"/>
                </a:lnTo>
                <a:lnTo>
                  <a:pt x="16200" y="17280"/>
                </a:lnTo>
                <a:lnTo>
                  <a:pt x="21600" y="1728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F81BD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5" name="CasellaDiTesto 6"/>
          <p:cNvSpPr txBox="1"/>
          <p:nvPr/>
        </p:nvSpPr>
        <p:spPr>
          <a:xfrm>
            <a:off x="3753623" y="5805263"/>
            <a:ext cx="3869001" cy="997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quanto è sufficiente che la falsa deposizione </a:t>
            </a:r>
            <a:r>
              <a:rPr u="sng"/>
              <a:t>abbia anche solo astrattamente potuto portare un contributo probatorio </a:t>
            </a:r>
            <a:r>
              <a:t>al processo 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FC00B0-0237-4375-BE78-8EC1EDD9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Il </a:t>
            </a:r>
            <a:r>
              <a:rPr lang="it-IT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rifiuto di deporre </a:t>
            </a:r>
            <a:r>
              <a:rPr lang="it-IT" dirty="0">
                <a:latin typeface="Book Antiqua" panose="02040602050305030304" pitchFamily="18" charset="0"/>
              </a:rPr>
              <a:t>costituisce un diverso reato punito </a:t>
            </a:r>
            <a:r>
              <a:rPr lang="it-IT" b="1" dirty="0">
                <a:latin typeface="Book Antiqua" panose="02040602050305030304" pitchFamily="18" charset="0"/>
              </a:rPr>
              <a:t>ex art. 366 c.p. </a:t>
            </a:r>
            <a:r>
              <a:rPr lang="it-IT" dirty="0">
                <a:latin typeface="Book Antiqua" panose="02040602050305030304" pitchFamily="18" charset="0"/>
              </a:rPr>
              <a:t>- </a:t>
            </a:r>
            <a:r>
              <a:rPr lang="ar-SA" b="1" dirty="0">
                <a:solidFill>
                  <a:schemeClr val="accent2"/>
                </a:solidFill>
                <a:latin typeface="Book Antiqua" panose="02040602050305030304" pitchFamily="18" charset="0"/>
              </a:rPr>
              <a:t>“</a:t>
            </a:r>
            <a:r>
              <a:rPr lang="it-IT" b="1" dirty="0">
                <a:solidFill>
                  <a:schemeClr val="accent2"/>
                </a:solidFill>
                <a:latin typeface="Book Antiqua" panose="02040602050305030304" pitchFamily="18" charset="0"/>
              </a:rPr>
              <a:t>Rifiuto di uffici legalmente dovuti”.</a:t>
            </a: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Si applica la </a:t>
            </a:r>
            <a:r>
              <a:rPr lang="it-IT" u="sng" dirty="0">
                <a:latin typeface="Book Antiqua" panose="02040602050305030304" pitchFamily="18" charset="0"/>
              </a:rPr>
              <a:t>causa di esclusione della punibilità </a:t>
            </a:r>
            <a:r>
              <a:rPr lang="it-IT" dirty="0">
                <a:latin typeface="Book Antiqua" panose="02040602050305030304" pitchFamily="18" charset="0"/>
              </a:rPr>
              <a:t>prevista </a:t>
            </a:r>
            <a:r>
              <a:rPr lang="it-IT" dirty="0" err="1">
                <a:latin typeface="Book Antiqua" panose="02040602050305030304" pitchFamily="18" charset="0"/>
              </a:rPr>
              <a:t>dall</a:t>
            </a:r>
            <a:r>
              <a:rPr lang="ar-SA" dirty="0">
                <a:latin typeface="Book Antiqua" panose="02040602050305030304" pitchFamily="18" charset="0"/>
              </a:rPr>
              <a:t>’</a:t>
            </a:r>
            <a:r>
              <a:rPr lang="it-IT" dirty="0">
                <a:latin typeface="Book Antiqua" panose="02040602050305030304" pitchFamily="18" charset="0"/>
              </a:rPr>
              <a:t>articolo 376 c.p. </a:t>
            </a:r>
            <a:r>
              <a:rPr lang="ar-SA" b="1" dirty="0">
                <a:latin typeface="Book Antiqua" panose="02040602050305030304" pitchFamily="18" charset="0"/>
              </a:rPr>
              <a:t>“</a:t>
            </a:r>
            <a:r>
              <a:rPr lang="it-IT" b="1" dirty="0">
                <a:latin typeface="Book Antiqua" panose="02040602050305030304" pitchFamily="18" charset="0"/>
              </a:rPr>
              <a:t>Ritrattazione” </a:t>
            </a:r>
            <a:r>
              <a:rPr lang="it-IT" dirty="0">
                <a:latin typeface="Book Antiqua" panose="02040602050305030304" pitchFamily="18" charset="0"/>
              </a:rPr>
              <a:t>per cui il colpevole non è punibile se nel procedimento penale, in cui il testimone ha prestato il suo ufficio o reso le sue dichiarazioni, </a:t>
            </a:r>
            <a:r>
              <a:rPr lang="it-IT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ritratta il falso e manifesta il vero non oltre la chiusura del dibattimento. </a:t>
            </a:r>
          </a:p>
          <a:p>
            <a:pPr marL="0" indent="0">
              <a:buNone/>
            </a:pPr>
            <a:endParaRPr lang="it-IT" b="1" u="sng" dirty="0">
              <a:solidFill>
                <a:srgbClr val="FF0000"/>
              </a:solidFill>
            </a:endParaRPr>
          </a:p>
          <a:p>
            <a:endParaRPr lang="it-IT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74AC8E0-EAB0-4DC0-A4D4-AB77F5ED3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984" y="0"/>
            <a:ext cx="4876800" cy="1143000"/>
          </a:xfrm>
          <a:prstGeom prst="rect">
            <a:avLst/>
          </a:prstGeom>
        </p:spPr>
        <p:txBody>
          <a:bodyPr/>
          <a:lstStyle/>
          <a:p>
            <a:pPr>
              <a:defRPr sz="2800">
                <a:solidFill>
                  <a:schemeClr val="accent3">
                    <a:lumOff val="44000"/>
                  </a:schemeClr>
                </a:solidFill>
                <a:effectLst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dirty="0"/>
              <a:t>Falsa </a:t>
            </a:r>
            <a:r>
              <a:rPr dirty="0" err="1"/>
              <a:t>testimonianza</a:t>
            </a:r>
            <a:br>
              <a:rPr dirty="0"/>
            </a:br>
            <a:endParaRPr dirty="0"/>
          </a:p>
        </p:txBody>
      </p:sp>
      <p:pic>
        <p:nvPicPr>
          <p:cNvPr id="5" name="Immagine 4" descr="Immagine 4">
            <a:extLst>
              <a:ext uri="{FF2B5EF4-FFF2-40B4-BE49-F238E27FC236}">
                <a16:creationId xmlns:a16="http://schemas.microsoft.com/office/drawing/2014/main" id="{104846C4-7450-4950-8FD6-7C688C0D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4" y="90290"/>
            <a:ext cx="435672" cy="75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6874443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ttangolo 4"/>
          <p:cNvSpPr txBox="1"/>
          <p:nvPr/>
        </p:nvSpPr>
        <p:spPr>
          <a:xfrm>
            <a:off x="153224" y="882111"/>
            <a:ext cx="8736198" cy="392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0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378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Favoreggiamento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personale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/>
              <a:t>Chiunque</a:t>
            </a:r>
            <a:r>
              <a:rPr dirty="0"/>
              <a:t>, dopo </a:t>
            </a:r>
            <a:r>
              <a:rPr dirty="0" err="1"/>
              <a:t>che</a:t>
            </a:r>
            <a:r>
              <a:rPr dirty="0"/>
              <a:t> fu </a:t>
            </a:r>
            <a:r>
              <a:rPr dirty="0" err="1"/>
              <a:t>commesso</a:t>
            </a:r>
            <a:r>
              <a:rPr dirty="0"/>
              <a:t> un </a:t>
            </a:r>
            <a:r>
              <a:rPr dirty="0" err="1"/>
              <a:t>delitto</a:t>
            </a:r>
            <a:r>
              <a:rPr dirty="0"/>
              <a:t> per il quale la </a:t>
            </a:r>
            <a:r>
              <a:rPr dirty="0" err="1"/>
              <a:t>legge</a:t>
            </a:r>
            <a:r>
              <a:rPr dirty="0"/>
              <a:t> </a:t>
            </a:r>
            <a:r>
              <a:rPr dirty="0" err="1"/>
              <a:t>stabilisce</a:t>
            </a:r>
            <a:r>
              <a:rPr dirty="0"/>
              <a:t> </a:t>
            </a:r>
            <a:r>
              <a:rPr dirty="0" err="1"/>
              <a:t>l'ergastolo</a:t>
            </a:r>
            <a:r>
              <a:rPr dirty="0"/>
              <a:t> o la </a:t>
            </a:r>
            <a:r>
              <a:rPr dirty="0" err="1"/>
              <a:t>reclusione</a:t>
            </a:r>
            <a:r>
              <a:rPr dirty="0"/>
              <a:t>, e </a:t>
            </a:r>
            <a:r>
              <a:rPr b="1" dirty="0" err="1"/>
              <a:t>fuori</a:t>
            </a:r>
            <a:r>
              <a:rPr b="1" dirty="0"/>
              <a:t> </a:t>
            </a:r>
            <a:r>
              <a:rPr b="1" dirty="0" err="1"/>
              <a:t>dei</a:t>
            </a:r>
            <a:r>
              <a:rPr b="1" dirty="0"/>
              <a:t> </a:t>
            </a:r>
            <a:r>
              <a:rPr b="1" dirty="0" err="1"/>
              <a:t>casi</a:t>
            </a:r>
            <a:r>
              <a:rPr b="1" dirty="0"/>
              <a:t> di </a:t>
            </a:r>
            <a:r>
              <a:rPr b="1" dirty="0" err="1"/>
              <a:t>concorso</a:t>
            </a:r>
            <a:r>
              <a:rPr b="1" dirty="0"/>
              <a:t> </a:t>
            </a:r>
            <a:r>
              <a:rPr b="1" dirty="0" err="1"/>
              <a:t>nel</a:t>
            </a:r>
            <a:r>
              <a:rPr b="1" dirty="0"/>
              <a:t> </a:t>
            </a:r>
            <a:r>
              <a:rPr b="1" dirty="0" err="1"/>
              <a:t>medesimo</a:t>
            </a:r>
            <a:r>
              <a:rPr dirty="0"/>
              <a:t>, </a:t>
            </a:r>
            <a:r>
              <a:rPr b="1" dirty="0" err="1">
                <a:solidFill>
                  <a:srgbClr val="008000"/>
                </a:solidFill>
              </a:rPr>
              <a:t>aiuta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taluno</a:t>
            </a:r>
            <a:r>
              <a:rPr b="1" dirty="0">
                <a:solidFill>
                  <a:srgbClr val="008000"/>
                </a:solidFill>
              </a:rPr>
              <a:t> a </a:t>
            </a:r>
            <a:r>
              <a:rPr b="1" dirty="0" err="1">
                <a:solidFill>
                  <a:srgbClr val="008000"/>
                </a:solidFill>
              </a:rPr>
              <a:t>eludere</a:t>
            </a:r>
            <a:r>
              <a:rPr b="1" dirty="0">
                <a:solidFill>
                  <a:srgbClr val="008000"/>
                </a:solidFill>
              </a:rPr>
              <a:t> le </a:t>
            </a:r>
            <a:r>
              <a:rPr b="1" dirty="0" err="1">
                <a:solidFill>
                  <a:srgbClr val="008000"/>
                </a:solidFill>
              </a:rPr>
              <a:t>investigazioni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dell'autorità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[…] </a:t>
            </a:r>
            <a:r>
              <a:rPr b="1" dirty="0">
                <a:solidFill>
                  <a:srgbClr val="008000"/>
                </a:solidFill>
              </a:rPr>
              <a:t>o a </a:t>
            </a:r>
            <a:r>
              <a:rPr b="1" dirty="0" err="1">
                <a:solidFill>
                  <a:srgbClr val="008000"/>
                </a:solidFill>
              </a:rPr>
              <a:t>sottrarsi</a:t>
            </a:r>
            <a:r>
              <a:rPr b="1" dirty="0">
                <a:solidFill>
                  <a:srgbClr val="008000"/>
                </a:solidFill>
              </a:rPr>
              <a:t> alle </a:t>
            </a:r>
            <a:r>
              <a:rPr b="1" dirty="0" err="1">
                <a:solidFill>
                  <a:srgbClr val="008000"/>
                </a:solidFill>
              </a:rPr>
              <a:t>ricerche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effettuate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dai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medesimi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soggetti</a:t>
            </a:r>
            <a:r>
              <a:rPr dirty="0"/>
              <a:t>,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quattro anni. </a:t>
            </a:r>
          </a:p>
          <a:p>
            <a:pPr algn="just">
              <a:lnSpc>
                <a:spcPct val="114000"/>
              </a:lnSpc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Quando il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è </a:t>
            </a:r>
            <a:r>
              <a:rPr dirty="0" err="1"/>
              <a:t>quello</a:t>
            </a:r>
            <a:r>
              <a:rPr dirty="0"/>
              <a:t> </a:t>
            </a:r>
            <a:r>
              <a:rPr dirty="0" err="1"/>
              <a:t>previsto</a:t>
            </a:r>
            <a:r>
              <a:rPr dirty="0"/>
              <a:t> </a:t>
            </a:r>
            <a:r>
              <a:rPr dirty="0" err="1"/>
              <a:t>dall’art</a:t>
            </a:r>
            <a:r>
              <a:rPr dirty="0"/>
              <a:t>. 416 bis,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applica</a:t>
            </a:r>
            <a:r>
              <a:rPr dirty="0"/>
              <a:t>, in ogni </a:t>
            </a:r>
            <a:r>
              <a:rPr dirty="0" err="1"/>
              <a:t>caso</a:t>
            </a:r>
            <a:r>
              <a:rPr dirty="0"/>
              <a:t>, la </a:t>
            </a:r>
            <a:r>
              <a:rPr dirty="0" err="1"/>
              <a:t>pena</a:t>
            </a:r>
            <a:r>
              <a:rPr dirty="0"/>
              <a:t> della </a:t>
            </a:r>
            <a:r>
              <a:rPr dirty="0" err="1"/>
              <a:t>reclusione</a:t>
            </a:r>
            <a:r>
              <a:rPr dirty="0"/>
              <a:t> non </a:t>
            </a:r>
            <a:r>
              <a:rPr dirty="0" err="1"/>
              <a:t>inferiore</a:t>
            </a:r>
            <a:r>
              <a:rPr dirty="0"/>
              <a:t> a due anni. </a:t>
            </a:r>
          </a:p>
          <a:p>
            <a:pPr algn="just">
              <a:lnSpc>
                <a:spcPct val="114000"/>
              </a:lnSpc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tratta</a:t>
            </a:r>
            <a:r>
              <a:rPr dirty="0"/>
              <a:t> di </a:t>
            </a:r>
            <a:r>
              <a:rPr dirty="0" err="1"/>
              <a:t>delitti</a:t>
            </a:r>
            <a:r>
              <a:rPr dirty="0"/>
              <a:t> per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quali</a:t>
            </a:r>
            <a:r>
              <a:rPr dirty="0"/>
              <a:t> la </a:t>
            </a:r>
            <a:r>
              <a:rPr dirty="0" err="1"/>
              <a:t>legge</a:t>
            </a:r>
            <a:r>
              <a:rPr dirty="0"/>
              <a:t> </a:t>
            </a:r>
            <a:r>
              <a:rPr dirty="0" err="1"/>
              <a:t>stabilisce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pena</a:t>
            </a:r>
            <a:r>
              <a:rPr dirty="0"/>
              <a:t> </a:t>
            </a:r>
            <a:r>
              <a:rPr dirty="0" err="1"/>
              <a:t>diversa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di </a:t>
            </a:r>
            <a:r>
              <a:rPr dirty="0" err="1"/>
              <a:t>contravvenzioni</a:t>
            </a:r>
            <a:r>
              <a:rPr dirty="0"/>
              <a:t>, la </a:t>
            </a:r>
            <a:r>
              <a:rPr dirty="0" err="1"/>
              <a:t>pena</a:t>
            </a:r>
            <a:r>
              <a:rPr dirty="0"/>
              <a:t> è della </a:t>
            </a:r>
            <a:r>
              <a:rPr dirty="0" err="1"/>
              <a:t>multa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euro 516. </a:t>
            </a:r>
          </a:p>
          <a:p>
            <a:pPr algn="just">
              <a:lnSpc>
                <a:spcPct val="114000"/>
              </a:lnSpc>
              <a:defRPr sz="20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Le </a:t>
            </a:r>
            <a:r>
              <a:rPr dirty="0" err="1"/>
              <a:t>disposizioni</a:t>
            </a:r>
            <a:r>
              <a:rPr dirty="0"/>
              <a:t> di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articolo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applicano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la persona </a:t>
            </a:r>
            <a:r>
              <a:rPr dirty="0" err="1"/>
              <a:t>aiutata</a:t>
            </a:r>
            <a:r>
              <a:rPr dirty="0"/>
              <a:t> non è </a:t>
            </a:r>
            <a:r>
              <a:rPr dirty="0" err="1"/>
              <a:t>imputabile</a:t>
            </a:r>
            <a:r>
              <a:rPr dirty="0"/>
              <a:t> o </a:t>
            </a:r>
            <a:r>
              <a:rPr dirty="0" err="1"/>
              <a:t>risulta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non ha </a:t>
            </a:r>
            <a:r>
              <a:rPr dirty="0" err="1"/>
              <a:t>commesso</a:t>
            </a:r>
            <a:r>
              <a:rPr dirty="0"/>
              <a:t> il </a:t>
            </a:r>
            <a:r>
              <a:rPr dirty="0" err="1"/>
              <a:t>delitto</a:t>
            </a:r>
            <a:r>
              <a:rPr dirty="0"/>
              <a:t>.»</a:t>
            </a:r>
          </a:p>
        </p:txBody>
      </p:sp>
      <p:pic>
        <p:nvPicPr>
          <p:cNvPr id="35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59" name="Rettangolo 5"/>
          <p:cNvSpPr txBox="1"/>
          <p:nvPr/>
        </p:nvSpPr>
        <p:spPr>
          <a:xfrm>
            <a:off x="2241456" y="4949816"/>
            <a:ext cx="5273156" cy="1707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Trib. monocratico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[c. 1 e 2, ad eccezione delle ipotesi di cui all’art. 381 c. 4 bis] non consentito [c.3]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6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personale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ttangolo 4"/>
          <p:cNvSpPr txBox="1"/>
          <p:nvPr/>
        </p:nvSpPr>
        <p:spPr>
          <a:xfrm>
            <a:off x="602771" y="1624224"/>
            <a:ext cx="7796471" cy="4702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/>
            <a:r>
              <a:rPr lang="it-IT" sz="2400" b="0" dirty="0">
                <a:latin typeface="Book Antiqua" panose="02040602050305030304" pitchFamily="18" charset="0"/>
              </a:rPr>
              <a:t>Il reato di favoreggiamento persegue la finalità di </a:t>
            </a:r>
            <a:r>
              <a:rPr lang="it-IT" sz="2400" u="sng" dirty="0">
                <a:solidFill>
                  <a:srgbClr val="FF0000"/>
                </a:solidFill>
                <a:latin typeface="Book Antiqua" panose="02040602050305030304" pitchFamily="18" charset="0"/>
              </a:rPr>
              <a:t>evitare che vengano frapposti ostacoli di qualsiasi tipo alle indagini o alla ricerca dei latitanti</a:t>
            </a:r>
            <a:r>
              <a:rPr lang="it-IT" sz="2400" b="0" dirty="0">
                <a:latin typeface="Book Antiqua" panose="02040602050305030304" pitchFamily="18" charset="0"/>
              </a:rPr>
              <a:t>. </a:t>
            </a:r>
          </a:p>
          <a:p>
            <a:pPr algn="just"/>
            <a:endParaRPr lang="it-IT" sz="2400" b="0" dirty="0">
              <a:latin typeface="Book Antiqua" panose="02040602050305030304" pitchFamily="18" charset="0"/>
            </a:endParaRPr>
          </a:p>
          <a:p>
            <a:pPr algn="just"/>
            <a:endParaRPr lang="it-IT" sz="2400" b="0" dirty="0">
              <a:latin typeface="Book Antiqua" panose="02040602050305030304" pitchFamily="18" charset="0"/>
            </a:endParaRPr>
          </a:p>
          <a:p>
            <a:pPr algn="just"/>
            <a:r>
              <a:rPr lang="it-IT" sz="2400" b="0" dirty="0">
                <a:latin typeface="Book Antiqua" panose="02040602050305030304" pitchFamily="18" charset="0"/>
              </a:rPr>
              <a:t>Il </a:t>
            </a:r>
            <a:r>
              <a:rPr lang="it-IT" sz="2400" u="sng" dirty="0">
                <a:solidFill>
                  <a:srgbClr val="00B050"/>
                </a:solidFill>
                <a:latin typeface="Book Antiqua" panose="02040602050305030304" pitchFamily="18" charset="0"/>
              </a:rPr>
              <a:t>bene tutelato </a:t>
            </a:r>
            <a:r>
              <a:rPr lang="it-IT" sz="2400" b="0" dirty="0">
                <a:latin typeface="Book Antiqua" panose="02040602050305030304" pitchFamily="18" charset="0"/>
              </a:rPr>
              <a:t>è l</a:t>
            </a:r>
            <a:r>
              <a:rPr lang="ar-SA" sz="2400" b="0" dirty="0">
                <a:latin typeface="Book Antiqua" panose="02040602050305030304" pitchFamily="18" charset="0"/>
              </a:rPr>
              <a:t>’</a:t>
            </a:r>
            <a:r>
              <a:rPr lang="it-IT" sz="2400" b="0" dirty="0">
                <a:latin typeface="Book Antiqua" panose="02040602050305030304" pitchFamily="18" charset="0"/>
              </a:rPr>
              <a:t>interesse </a:t>
            </a:r>
            <a:r>
              <a:rPr lang="it-IT" sz="2400" b="0" dirty="0" err="1">
                <a:latin typeface="Book Antiqua" panose="02040602050305030304" pitchFamily="18" charset="0"/>
              </a:rPr>
              <a:t>dell</a:t>
            </a:r>
            <a:r>
              <a:rPr lang="ar-SA" sz="2400" b="0" dirty="0">
                <a:latin typeface="Book Antiqua" panose="02040602050305030304" pitchFamily="18" charset="0"/>
              </a:rPr>
              <a:t>’</a:t>
            </a:r>
            <a:r>
              <a:rPr lang="it-IT" sz="2400" b="0" dirty="0">
                <a:latin typeface="Book Antiqua" panose="02040602050305030304" pitchFamily="18" charset="0"/>
              </a:rPr>
              <a:t>amministrazione della giustizia al </a:t>
            </a:r>
            <a:r>
              <a:rPr lang="it-IT" sz="2400" b="0" u="sng" dirty="0">
                <a:solidFill>
                  <a:srgbClr val="FF6600"/>
                </a:solidFill>
                <a:latin typeface="Book Antiqua" panose="02040602050305030304" pitchFamily="18" charset="0"/>
              </a:rPr>
              <a:t>regolare svolgimento del procedimento penale</a:t>
            </a:r>
            <a:r>
              <a:rPr lang="it-IT" sz="2400" b="0" dirty="0">
                <a:latin typeface="Book Antiqua" panose="02040602050305030304" pitchFamily="18" charset="0"/>
              </a:rPr>
              <a:t>, </a:t>
            </a:r>
            <a:r>
              <a:rPr lang="it-IT" sz="2400" b="0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nel momento delle indagini e delle ricerche</a:t>
            </a:r>
            <a:r>
              <a:rPr lang="it-IT" sz="2400" b="0" dirty="0">
                <a:latin typeface="Book Antiqua" panose="02040602050305030304" pitchFamily="18" charset="0"/>
              </a:rPr>
              <a:t>, intesa come </a:t>
            </a:r>
            <a:r>
              <a:rPr lang="it-IT" sz="2400" b="0" u="sng" dirty="0">
                <a:latin typeface="Book Antiqua" panose="02040602050305030304" pitchFamily="18" charset="0"/>
              </a:rPr>
              <a:t>buon funzionamento </a:t>
            </a:r>
            <a:r>
              <a:rPr lang="it-IT" sz="2400" b="0" u="sng" dirty="0" err="1">
                <a:latin typeface="Book Antiqua" panose="02040602050305030304" pitchFamily="18" charset="0"/>
              </a:rPr>
              <a:t>dell</a:t>
            </a:r>
            <a:r>
              <a:rPr lang="ar-SA" sz="2400" b="0" u="sng" dirty="0">
                <a:latin typeface="Book Antiqua" panose="02040602050305030304" pitchFamily="18" charset="0"/>
              </a:rPr>
              <a:t>’</a:t>
            </a:r>
            <a:r>
              <a:rPr lang="it-IT" sz="2400" b="0" u="sng" dirty="0">
                <a:latin typeface="Book Antiqua" panose="02040602050305030304" pitchFamily="18" charset="0"/>
              </a:rPr>
              <a:t>attività giudiziaria e di polizia giudiziaria</a:t>
            </a:r>
            <a:r>
              <a:rPr lang="it-IT" sz="2400" b="0" dirty="0">
                <a:latin typeface="Book Antiqua" panose="02040602050305030304" pitchFamily="18" charset="0"/>
              </a:rPr>
              <a:t>. </a:t>
            </a:r>
          </a:p>
          <a:p>
            <a:r>
              <a:rPr lang="it-IT" dirty="0"/>
              <a:t> </a:t>
            </a:r>
          </a:p>
          <a:p>
            <a:pPr algn="just">
              <a:lnSpc>
                <a:spcPct val="114000"/>
              </a:lnSpc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</p:txBody>
      </p:sp>
      <p:pic>
        <p:nvPicPr>
          <p:cNvPr id="36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personale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itolo 1"/>
          <p:cNvSpPr txBox="1">
            <a:spLocks noGrp="1"/>
          </p:cNvSpPr>
          <p:nvPr>
            <p:ph type="title"/>
          </p:nvPr>
        </p:nvSpPr>
        <p:spPr>
          <a:xfrm>
            <a:off x="-157228" y="85694"/>
            <a:ext cx="6851106" cy="92211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896111">
              <a:defRPr sz="2744">
                <a:solidFill>
                  <a:schemeClr val="accent3">
                    <a:lumOff val="44000"/>
                  </a:schemeClr>
                </a:solidFill>
                <a:effectLst/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sz="3600" dirty="0" err="1"/>
              <a:t>Favoreggiamento</a:t>
            </a:r>
            <a:r>
              <a:rPr sz="3600" dirty="0"/>
              <a:t> </a:t>
            </a:r>
            <a:r>
              <a:rPr sz="3600" dirty="0" err="1"/>
              <a:t>personale</a:t>
            </a:r>
            <a:br>
              <a:rPr dirty="0"/>
            </a:br>
            <a:endParaRPr dirty="0"/>
          </a:p>
        </p:txBody>
      </p:sp>
      <p:sp>
        <p:nvSpPr>
          <p:cNvPr id="367" name="Segnaposto contenuto 2"/>
          <p:cNvSpPr txBox="1">
            <a:spLocks noGrp="1"/>
          </p:cNvSpPr>
          <p:nvPr>
            <p:ph type="body" idx="1"/>
          </p:nvPr>
        </p:nvSpPr>
        <p:spPr>
          <a:xfrm>
            <a:off x="136850" y="820264"/>
            <a:ext cx="9007150" cy="607262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>
                <a:latin typeface="Book Antiqua" panose="02040602050305030304" pitchFamily="18" charset="0"/>
              </a:rPr>
              <a:t>È un </a:t>
            </a:r>
            <a:r>
              <a:rPr sz="2000" b="1" dirty="0">
                <a:solidFill>
                  <a:srgbClr val="008000"/>
                </a:solidFill>
                <a:latin typeface="Book Antiqua" panose="02040602050305030304" pitchFamily="18" charset="0"/>
              </a:rPr>
              <a:t>REATO COMUNE</a:t>
            </a:r>
            <a:r>
              <a:rPr sz="2000" dirty="0">
                <a:latin typeface="Book Antiqua" panose="02040602050305030304" pitchFamily="18" charset="0"/>
              </a:rPr>
              <a:t>, </a:t>
            </a:r>
            <a:r>
              <a:rPr sz="2000" dirty="0" err="1">
                <a:latin typeface="Book Antiqua" panose="02040602050305030304" pitchFamily="18" charset="0"/>
              </a:rPr>
              <a:t>l’autore</a:t>
            </a:r>
            <a:r>
              <a:rPr sz="2000" dirty="0">
                <a:latin typeface="Book Antiqua" panose="02040602050305030304" pitchFamily="18" charset="0"/>
              </a:rPr>
              <a:t> del </a:t>
            </a:r>
            <a:r>
              <a:rPr sz="2000" dirty="0" err="1">
                <a:latin typeface="Book Antiqua" panose="02040602050305030304" pitchFamily="18" charset="0"/>
              </a:rPr>
              <a:t>reato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può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essere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b="1" i="1" dirty="0" err="1">
                <a:latin typeface="Book Antiqua" panose="02040602050305030304" pitchFamily="18" charset="0"/>
              </a:rPr>
              <a:t>chiunque</a:t>
            </a:r>
            <a:r>
              <a:rPr sz="2000" dirty="0">
                <a:latin typeface="Book Antiqua" panose="02040602050305030304" pitchFamily="18" charset="0"/>
              </a:rPr>
              <a:t>.</a:t>
            </a:r>
            <a:endParaRPr lang="it-IT" sz="2000" dirty="0">
              <a:latin typeface="Book Antiqua" panose="0204060205030503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dirty="0">
              <a:latin typeface="Book Antiqua" panose="0204060205030503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Ciò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nonostante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lang="it-IT" sz="2000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NON</a:t>
            </a:r>
            <a:r>
              <a:rPr sz="2000" b="1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  <a:r>
              <a:rPr sz="2000" b="1" u="sng" dirty="0" err="1">
                <a:solidFill>
                  <a:srgbClr val="FF0000"/>
                </a:solidFill>
                <a:latin typeface="Book Antiqua" panose="02040602050305030304" pitchFamily="18" charset="0"/>
              </a:rPr>
              <a:t>può</a:t>
            </a:r>
            <a:r>
              <a:rPr sz="2000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  <a:r>
              <a:rPr sz="2000" b="1" u="sng" dirty="0" err="1">
                <a:solidFill>
                  <a:srgbClr val="FF0000"/>
                </a:solidFill>
                <a:latin typeface="Book Antiqua" panose="02040602050305030304" pitchFamily="18" charset="0"/>
              </a:rPr>
              <a:t>essere</a:t>
            </a:r>
            <a:r>
              <a:rPr sz="2000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  <a:r>
              <a:rPr sz="2000" b="1" u="sng" dirty="0" err="1">
                <a:solidFill>
                  <a:srgbClr val="FF0000"/>
                </a:solidFill>
                <a:latin typeface="Book Antiqua" panose="02040602050305030304" pitchFamily="18" charset="0"/>
              </a:rPr>
              <a:t>perseguito</a:t>
            </a:r>
            <a:r>
              <a:rPr sz="2000" b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  <a:r>
              <a:rPr sz="2000" dirty="0">
                <a:latin typeface="Book Antiqua" panose="02040602050305030304" pitchFamily="18" charset="0"/>
              </a:rPr>
              <a:t>per </a:t>
            </a:r>
            <a:r>
              <a:rPr sz="2000" dirty="0" err="1">
                <a:latin typeface="Book Antiqua" panose="02040602050305030304" pitchFamily="18" charset="0"/>
              </a:rPr>
              <a:t>il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presente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delitto</a:t>
            </a:r>
            <a:r>
              <a:rPr sz="2000" dirty="0">
                <a:latin typeface="Book Antiqua" panose="02040602050305030304" pitchFamily="18" charset="0"/>
              </a:rPr>
              <a:t>: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>
                <a:latin typeface="Book Antiqua" panose="02040602050305030304" pitchFamily="18" charset="0"/>
              </a:rPr>
              <a:t>                                            </a:t>
            </a:r>
          </a:p>
          <a:p>
            <a:pPr marL="182562" indent="-182562" algn="just">
              <a:lnSpc>
                <a:spcPct val="120000"/>
              </a:lnSpc>
              <a:spcBef>
                <a:spcPts val="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u="sng" dirty="0"/>
              <a:t>Non è punito il cd. AUTO-FAVOREGGIAMENTO </a:t>
            </a:r>
            <a:r>
              <a:rPr lang="it-IT" dirty="0"/>
              <a:t>- </a:t>
            </a:r>
            <a:r>
              <a:rPr sz="2000" dirty="0" err="1">
                <a:latin typeface="Book Antiqua" panose="02040602050305030304" pitchFamily="18" charset="0"/>
              </a:rPr>
              <a:t>quel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soggetto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che</a:t>
            </a:r>
            <a:r>
              <a:rPr sz="2000" dirty="0">
                <a:latin typeface="Book Antiqua" panose="02040602050305030304" pitchFamily="18" charset="0"/>
              </a:rPr>
              <a:t>, </a:t>
            </a:r>
            <a:r>
              <a:rPr sz="2000" dirty="0" err="1">
                <a:latin typeface="Book Antiqua" panose="02040602050305030304" pitchFamily="18" charset="0"/>
              </a:rPr>
              <a:t>dopo</a:t>
            </a:r>
            <a:r>
              <a:rPr sz="2000" dirty="0">
                <a:latin typeface="Book Antiqua" panose="02040602050305030304" pitchFamily="18" charset="0"/>
              </a:rPr>
              <a:t> aver </a:t>
            </a:r>
            <a:r>
              <a:rPr sz="2000" dirty="0" err="1">
                <a:latin typeface="Book Antiqua" panose="02040602050305030304" pitchFamily="18" charset="0"/>
              </a:rPr>
              <a:t>commesso</a:t>
            </a:r>
            <a:r>
              <a:rPr sz="2000" dirty="0">
                <a:latin typeface="Book Antiqua" panose="02040602050305030304" pitchFamily="18" charset="0"/>
              </a:rPr>
              <a:t> un </a:t>
            </a:r>
            <a:r>
              <a:rPr sz="2000" dirty="0" err="1">
                <a:latin typeface="Book Antiqua" panose="02040602050305030304" pitchFamily="18" charset="0"/>
              </a:rPr>
              <a:t>reato</a:t>
            </a:r>
            <a:r>
              <a:rPr lang="it-IT" sz="2000" dirty="0">
                <a:latin typeface="Book Antiqua" panose="02040602050305030304" pitchFamily="18" charset="0"/>
              </a:rPr>
              <a:t> – </a:t>
            </a:r>
            <a:r>
              <a:rPr lang="it-IT" sz="2000" b="1" dirty="0">
                <a:solidFill>
                  <a:srgbClr val="0070C0"/>
                </a:solidFill>
                <a:latin typeface="Book Antiqua" panose="02040602050305030304" pitchFamily="18" charset="0"/>
              </a:rPr>
              <a:t>DA SOLO o in CONCORSO CON ALTRI</a:t>
            </a:r>
            <a:r>
              <a:rPr lang="it-IT" sz="2000" b="1" dirty="0">
                <a:latin typeface="Book Antiqua" panose="02040602050305030304" pitchFamily="18" charset="0"/>
              </a:rPr>
              <a:t> </a:t>
            </a:r>
            <a:r>
              <a:rPr lang="it-IT" sz="2000" dirty="0">
                <a:latin typeface="Book Antiqua" panose="02040602050305030304" pitchFamily="18" charset="0"/>
              </a:rPr>
              <a:t>-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ponga</a:t>
            </a:r>
            <a:r>
              <a:rPr sz="2000" dirty="0">
                <a:latin typeface="Book Antiqua" panose="02040602050305030304" pitchFamily="18" charset="0"/>
              </a:rPr>
              <a:t> in </a:t>
            </a:r>
            <a:r>
              <a:rPr sz="2000" dirty="0" err="1">
                <a:latin typeface="Book Antiqua" panose="02040602050305030304" pitchFamily="18" charset="0"/>
              </a:rPr>
              <a:t>atto</a:t>
            </a:r>
            <a:r>
              <a:rPr sz="2000" dirty="0">
                <a:latin typeface="Book Antiqua" panose="02040602050305030304" pitchFamily="18" charset="0"/>
              </a:rPr>
              <a:t> la </a:t>
            </a:r>
            <a:r>
              <a:rPr sz="2000" dirty="0" err="1">
                <a:latin typeface="Book Antiqua" panose="02040602050305030304" pitchFamily="18" charset="0"/>
              </a:rPr>
              <a:t>condotta</a:t>
            </a:r>
            <a:r>
              <a:rPr sz="2000" dirty="0">
                <a:latin typeface="Book Antiqua" panose="02040602050305030304" pitchFamily="18" charset="0"/>
              </a:rPr>
              <a:t> di </a:t>
            </a:r>
            <a:r>
              <a:rPr sz="2000" dirty="0" err="1">
                <a:latin typeface="Book Antiqua" panose="02040602050305030304" pitchFamily="18" charset="0"/>
              </a:rPr>
              <a:t>favoreggiamento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b="1" dirty="0">
                <a:latin typeface="Book Antiqua" panose="02040602050305030304" pitchFamily="18" charset="0"/>
              </a:rPr>
              <a:t>per non far </a:t>
            </a:r>
            <a:r>
              <a:rPr sz="2000" b="1" dirty="0" err="1">
                <a:latin typeface="Book Antiqua" panose="02040602050305030304" pitchFamily="18" charset="0"/>
              </a:rPr>
              <a:t>emergere</a:t>
            </a:r>
            <a:r>
              <a:rPr sz="2000" b="1" dirty="0">
                <a:latin typeface="Book Antiqua" panose="02040602050305030304" pitchFamily="18" charset="0"/>
              </a:rPr>
              <a:t> le </a:t>
            </a:r>
            <a:r>
              <a:rPr sz="2000" b="1" dirty="0" err="1">
                <a:latin typeface="Book Antiqua" panose="02040602050305030304" pitchFamily="18" charset="0"/>
              </a:rPr>
              <a:t>proprie</a:t>
            </a:r>
            <a:r>
              <a:rPr sz="2000" b="1" dirty="0">
                <a:latin typeface="Book Antiqua" panose="02040602050305030304" pitchFamily="18" charset="0"/>
              </a:rPr>
              <a:t> </a:t>
            </a:r>
            <a:r>
              <a:rPr sz="2000" b="1" dirty="0" err="1">
                <a:latin typeface="Book Antiqua" panose="02040602050305030304" pitchFamily="18" charset="0"/>
              </a:rPr>
              <a:t>responsabilità</a:t>
            </a:r>
            <a:r>
              <a:rPr sz="2000" b="1" dirty="0">
                <a:latin typeface="Book Antiqua" panose="02040602050305030304" pitchFamily="18" charset="0"/>
              </a:rPr>
              <a:t> </a:t>
            </a:r>
            <a:r>
              <a:rPr sz="2000" b="1" dirty="0" err="1">
                <a:latin typeface="Book Antiqua" panose="02040602050305030304" pitchFamily="18" charset="0"/>
              </a:rPr>
              <a:t>penali</a:t>
            </a:r>
            <a:r>
              <a:rPr sz="2000" dirty="0">
                <a:latin typeface="Book Antiqua" panose="02040602050305030304" pitchFamily="18" charset="0"/>
              </a:rPr>
              <a:t>. </a:t>
            </a:r>
            <a:endParaRPr lang="it-IT" sz="2000" dirty="0">
              <a:latin typeface="Book Antiqua" panose="02040602050305030304" pitchFamily="18" charset="0"/>
            </a:endParaRPr>
          </a:p>
          <a:p>
            <a:pPr marL="182562" indent="-182562" algn="just">
              <a:lnSpc>
                <a:spcPct val="120000"/>
              </a:lnSpc>
              <a:spcBef>
                <a:spcPts val="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000" dirty="0">
              <a:latin typeface="Book Antiqua" panose="02040602050305030304" pitchFamily="18" charset="0"/>
            </a:endParaRPr>
          </a:p>
          <a:p>
            <a:pPr marL="182562" indent="-182562" algn="just">
              <a:lnSpc>
                <a:spcPct val="120000"/>
              </a:lnSpc>
              <a:spcBef>
                <a:spcPts val="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b="1" u="sng" dirty="0">
                <a:sym typeface="Times New Roman"/>
              </a:rPr>
              <a:t>il DIFENSORE</a:t>
            </a:r>
            <a:r>
              <a:rPr lang="it-IT" sz="2000" dirty="0">
                <a:sym typeface="Times New Roman"/>
              </a:rPr>
              <a:t>, salvo alcune eccezioni.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sym typeface="Times New Roman"/>
              </a:rPr>
              <a:t>Non realizza favoreggiamento la semplice rivelazione di alcune informazioni apprese dal difensore (magari anche per caso).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000" dirty="0">
                <a:sym typeface="Times New Roman"/>
              </a:rPr>
              <a:t>Risponderà del delitto il difensore che, acquisita illegalmente, e non per caso fortuito ed occasionale, la notizia </a:t>
            </a:r>
            <a:r>
              <a:rPr lang="it-IT" sz="2000" dirty="0" err="1">
                <a:sym typeface="Times New Roman"/>
              </a:rPr>
              <a:t>dell</a:t>
            </a:r>
            <a:r>
              <a:rPr lang="ar-SA" sz="2000" dirty="0">
                <a:sym typeface="Times New Roman"/>
              </a:rPr>
              <a:t>’</a:t>
            </a:r>
            <a:r>
              <a:rPr lang="it-IT" sz="2000" dirty="0">
                <a:sym typeface="Times New Roman"/>
              </a:rPr>
              <a:t>emissione nei confronti del proprio assistito di una misura cautelare, lo informi, consentendogli di sottrarsi </a:t>
            </a:r>
            <a:r>
              <a:rPr lang="it-IT" sz="2000" dirty="0" err="1">
                <a:sym typeface="Times New Roman"/>
              </a:rPr>
              <a:t>all</a:t>
            </a:r>
            <a:r>
              <a:rPr lang="ar-SA" sz="2000" dirty="0">
                <a:sym typeface="Times New Roman"/>
              </a:rPr>
              <a:t>’</a:t>
            </a:r>
            <a:r>
              <a:rPr lang="it-IT" sz="2000" dirty="0">
                <a:sym typeface="Times New Roman"/>
              </a:rPr>
              <a:t>esecuzione di questa ed alle successive ricerche </a:t>
            </a:r>
            <a:r>
              <a:rPr lang="it-IT" sz="2000" dirty="0" err="1">
                <a:sym typeface="Times New Roman"/>
              </a:rPr>
              <a:t>dell</a:t>
            </a:r>
            <a:r>
              <a:rPr lang="ar-SA" sz="2000" dirty="0">
                <a:sym typeface="Times New Roman"/>
              </a:rPr>
              <a:t>’</a:t>
            </a:r>
            <a:r>
              <a:rPr lang="it-IT" sz="2000" dirty="0">
                <a:sym typeface="Times New Roman"/>
              </a:rPr>
              <a:t>autorità;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dirty="0">
              <a:latin typeface="Book Antiqua" panose="02040602050305030304" pitchFamily="18" charset="0"/>
            </a:endParaRPr>
          </a:p>
          <a:p>
            <a:pPr marL="182562" indent="-182562" algn="just">
              <a:lnSpc>
                <a:spcPct val="120000"/>
              </a:lnSpc>
              <a:spcBef>
                <a:spcPts val="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0" dirty="0">
              <a:latin typeface="Book Antiqua" panose="02040602050305030304" pitchFamily="18" charset="0"/>
            </a:endParaRPr>
          </a:p>
          <a:p>
            <a:pPr marL="182562" indent="-182562" algn="just">
              <a:lnSpc>
                <a:spcPct val="120000"/>
              </a:lnSpc>
              <a:spcBef>
                <a:spcPts val="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 err="1">
                <a:latin typeface="Book Antiqua" panose="02040602050305030304" pitchFamily="18" charset="0"/>
              </a:rPr>
              <a:t>il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lang="it-IT" sz="2000" b="1" u="sng" dirty="0">
                <a:latin typeface="Book Antiqua" panose="02040602050305030304" pitchFamily="18" charset="0"/>
              </a:rPr>
              <a:t>PUBBLICO UFFICIALE </a:t>
            </a:r>
            <a:r>
              <a:rPr sz="2000" dirty="0" err="1">
                <a:latin typeface="Book Antiqua" panose="02040602050305030304" pitchFamily="18" charset="0"/>
              </a:rPr>
              <a:t>che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abbia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b="1" dirty="0" err="1">
                <a:latin typeface="Book Antiqua" panose="02040602050305030304" pitchFamily="18" charset="0"/>
              </a:rPr>
              <a:t>omesso</a:t>
            </a:r>
            <a:r>
              <a:rPr sz="2000" b="1" dirty="0">
                <a:latin typeface="Book Antiqua" panose="02040602050305030304" pitchFamily="18" charset="0"/>
              </a:rPr>
              <a:t> di </a:t>
            </a:r>
            <a:r>
              <a:rPr sz="2000" b="1" dirty="0" err="1">
                <a:latin typeface="Book Antiqua" panose="02040602050305030304" pitchFamily="18" charset="0"/>
              </a:rPr>
              <a:t>denunciare</a:t>
            </a:r>
            <a:r>
              <a:rPr sz="2000" b="1" dirty="0">
                <a:latin typeface="Book Antiqua" panose="02040602050305030304" pitchFamily="18" charset="0"/>
              </a:rPr>
              <a:t> un </a:t>
            </a:r>
            <a:r>
              <a:rPr sz="2000" b="1" dirty="0" err="1">
                <a:latin typeface="Book Antiqua" panose="02040602050305030304" pitchFamily="18" charset="0"/>
              </a:rPr>
              <a:t>fatto</a:t>
            </a:r>
            <a:r>
              <a:rPr sz="2000" b="1" dirty="0">
                <a:latin typeface="Book Antiqua" panose="02040602050305030304" pitchFamily="18" charset="0"/>
              </a:rPr>
              <a:t> </a:t>
            </a:r>
            <a:r>
              <a:rPr sz="2000" b="1" dirty="0" err="1">
                <a:latin typeface="Book Antiqua" panose="02040602050305030304" pitchFamily="18" charset="0"/>
              </a:rPr>
              <a:t>tipico</a:t>
            </a:r>
            <a:r>
              <a:rPr sz="2000" b="1" dirty="0">
                <a:latin typeface="Book Antiqua" panose="02040602050305030304" pitchFamily="18" charset="0"/>
              </a:rPr>
              <a:t> di </a:t>
            </a:r>
            <a:r>
              <a:rPr sz="2000" b="1" dirty="0" err="1">
                <a:latin typeface="Book Antiqua" panose="02040602050305030304" pitchFamily="18" charset="0"/>
              </a:rPr>
              <a:t>reato</a:t>
            </a:r>
            <a:r>
              <a:rPr sz="2000" b="1" dirty="0">
                <a:latin typeface="Book Antiqua" panose="02040602050305030304" pitchFamily="18" charset="0"/>
              </a:rPr>
              <a:t> di cui è </a:t>
            </a:r>
            <a:r>
              <a:rPr sz="2000" b="1" dirty="0" err="1">
                <a:latin typeface="Book Antiqua" panose="02040602050305030304" pitchFamily="18" charset="0"/>
              </a:rPr>
              <a:t>venuto</a:t>
            </a:r>
            <a:r>
              <a:rPr sz="2000" b="1" dirty="0">
                <a:latin typeface="Book Antiqua" panose="02040602050305030304" pitchFamily="18" charset="0"/>
              </a:rPr>
              <a:t> a </a:t>
            </a:r>
            <a:r>
              <a:rPr sz="2000" b="1" dirty="0" err="1">
                <a:latin typeface="Book Antiqua" panose="02040602050305030304" pitchFamily="18" charset="0"/>
              </a:rPr>
              <a:t>conoscenza</a:t>
            </a:r>
            <a:r>
              <a:rPr sz="2000" b="1" dirty="0">
                <a:latin typeface="Book Antiqua" panose="02040602050305030304" pitchFamily="18" charset="0"/>
              </a:rPr>
              <a:t>, per </a:t>
            </a:r>
            <a:r>
              <a:rPr sz="2000" b="1" dirty="0" err="1">
                <a:latin typeface="Book Antiqua" panose="02040602050305030304" pitchFamily="18" charset="0"/>
              </a:rPr>
              <a:t>il</a:t>
            </a:r>
            <a:r>
              <a:rPr sz="2000" b="1" dirty="0">
                <a:latin typeface="Book Antiqua" panose="02040602050305030304" pitchFamily="18" charset="0"/>
              </a:rPr>
              <a:t> solo </a:t>
            </a:r>
            <a:r>
              <a:rPr sz="2000" b="1" dirty="0" err="1">
                <a:latin typeface="Book Antiqua" panose="02040602050305030304" pitchFamily="18" charset="0"/>
              </a:rPr>
              <a:t>fatto</a:t>
            </a:r>
            <a:r>
              <a:rPr sz="2000" b="1" dirty="0">
                <a:latin typeface="Book Antiqua" panose="02040602050305030304" pitchFamily="18" charset="0"/>
              </a:rPr>
              <a:t> </a:t>
            </a:r>
            <a:r>
              <a:rPr sz="2000" b="1" dirty="0" err="1">
                <a:latin typeface="Book Antiqua" panose="02040602050305030304" pitchFamily="18" charset="0"/>
              </a:rPr>
              <a:t>dell’omissione</a:t>
            </a:r>
            <a:r>
              <a:rPr sz="2000" dirty="0">
                <a:latin typeface="Book Antiqua" panose="02040602050305030304" pitchFamily="18" charset="0"/>
              </a:rPr>
              <a:t>. </a:t>
            </a:r>
            <a:endParaRPr lang="it-IT" sz="2000" dirty="0">
              <a:latin typeface="Book Antiqua" panose="0204060205030503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>
                <a:latin typeface="Book Antiqua" panose="02040602050305030304" pitchFamily="18" charset="0"/>
              </a:rPr>
              <a:t>In tale </a:t>
            </a:r>
            <a:r>
              <a:rPr sz="2000" dirty="0" err="1">
                <a:latin typeface="Book Antiqua" panose="02040602050305030304" pitchFamily="18" charset="0"/>
              </a:rPr>
              <a:t>circostanza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si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potrà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avere</a:t>
            </a:r>
            <a:r>
              <a:rPr sz="2000" dirty="0">
                <a:latin typeface="Book Antiqua" panose="02040602050305030304" pitchFamily="18" charset="0"/>
              </a:rPr>
              <a:t> “</a:t>
            </a:r>
            <a:r>
              <a:rPr sz="2000" dirty="0" err="1">
                <a:latin typeface="Book Antiqua" panose="02040602050305030304" pitchFamily="18" charset="0"/>
              </a:rPr>
              <a:t>omessa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denuncia</a:t>
            </a:r>
            <a:r>
              <a:rPr sz="2000" dirty="0">
                <a:latin typeface="Book Antiqua" panose="02040602050305030304" pitchFamily="18" charset="0"/>
              </a:rPr>
              <a:t> di </a:t>
            </a:r>
            <a:r>
              <a:rPr sz="2000" dirty="0" err="1">
                <a:latin typeface="Book Antiqua" panose="02040602050305030304" pitchFamily="18" charset="0"/>
              </a:rPr>
              <a:t>reato</a:t>
            </a:r>
            <a:r>
              <a:rPr sz="2000" dirty="0">
                <a:latin typeface="Book Antiqua" panose="02040602050305030304" pitchFamily="18" charset="0"/>
              </a:rPr>
              <a:t>”, ma non </a:t>
            </a:r>
            <a:r>
              <a:rPr sz="2000" dirty="0" err="1">
                <a:latin typeface="Book Antiqua" panose="02040602050305030304" pitchFamily="18" charset="0"/>
              </a:rPr>
              <a:t>favoreggiamento</a:t>
            </a:r>
            <a:r>
              <a:rPr sz="2000" dirty="0">
                <a:latin typeface="Book Antiqua" panose="02040602050305030304" pitchFamily="18" charset="0"/>
              </a:rPr>
              <a:t>, salvo </a:t>
            </a:r>
            <a:r>
              <a:rPr sz="2000" dirty="0" err="1">
                <a:latin typeface="Book Antiqua" panose="02040602050305030304" pitchFamily="18" charset="0"/>
              </a:rPr>
              <a:t>che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il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pubblico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ufficiale</a:t>
            </a:r>
            <a:r>
              <a:rPr sz="2000" dirty="0">
                <a:latin typeface="Book Antiqua" panose="02040602050305030304" pitchFamily="18" charset="0"/>
              </a:rPr>
              <a:t> non </a:t>
            </a:r>
            <a:r>
              <a:rPr sz="2000" dirty="0" err="1">
                <a:latin typeface="Book Antiqua" panose="02040602050305030304" pitchFamily="18" charset="0"/>
              </a:rPr>
              <a:t>abbia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inteso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aiutare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il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soggetto</a:t>
            </a:r>
            <a:r>
              <a:rPr sz="2000" dirty="0">
                <a:latin typeface="Book Antiqua" panose="02040602050305030304" pitchFamily="18" charset="0"/>
              </a:rPr>
              <a:t> ad </a:t>
            </a:r>
            <a:r>
              <a:rPr sz="2000" dirty="0" err="1">
                <a:latin typeface="Book Antiqua" panose="02040602050305030304" pitchFamily="18" charset="0"/>
              </a:rPr>
              <a:t>eludere</a:t>
            </a:r>
            <a:r>
              <a:rPr sz="2000" dirty="0">
                <a:latin typeface="Book Antiqua" panose="02040602050305030304" pitchFamily="18" charset="0"/>
              </a:rPr>
              <a:t> le </a:t>
            </a:r>
            <a:r>
              <a:rPr sz="2000" dirty="0" err="1">
                <a:latin typeface="Book Antiqua" panose="02040602050305030304" pitchFamily="18" charset="0"/>
              </a:rPr>
              <a:t>investigazioni</a:t>
            </a:r>
            <a:r>
              <a:rPr sz="2000" dirty="0">
                <a:latin typeface="Book Antiqua" panose="02040602050305030304" pitchFamily="18" charset="0"/>
              </a:rPr>
              <a:t> o </a:t>
            </a:r>
            <a:r>
              <a:rPr sz="2000" dirty="0" err="1">
                <a:latin typeface="Book Antiqua" panose="02040602050305030304" pitchFamily="18" charset="0"/>
              </a:rPr>
              <a:t>sottrarsi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alle</a:t>
            </a:r>
            <a:r>
              <a:rPr sz="2000" dirty="0">
                <a:latin typeface="Book Antiqua" panose="02040602050305030304" pitchFamily="18" charset="0"/>
              </a:rPr>
              <a:t> </a:t>
            </a:r>
            <a:r>
              <a:rPr sz="2000" dirty="0" err="1">
                <a:latin typeface="Book Antiqua" panose="02040602050305030304" pitchFamily="18" charset="0"/>
              </a:rPr>
              <a:t>ricerche</a:t>
            </a:r>
            <a:r>
              <a:rPr sz="2000" dirty="0">
                <a:latin typeface="Book Antiqua" panose="02040602050305030304" pitchFamily="18" charset="0"/>
              </a:rPr>
              <a:t>.</a:t>
            </a:r>
          </a:p>
          <a:p>
            <a:pPr marL="182562" indent="-182562" algn="just">
              <a:lnSpc>
                <a:spcPct val="91200"/>
              </a:lnSpc>
              <a:spcBef>
                <a:spcPts val="0"/>
              </a:spcBef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400" dirty="0"/>
          </a:p>
        </p:txBody>
      </p:sp>
      <p:sp>
        <p:nvSpPr>
          <p:cNvPr id="368" name="Segnaposto numero diapositiva 3"/>
          <p:cNvSpPr txBox="1">
            <a:spLocks noGrp="1"/>
          </p:cNvSpPr>
          <p:nvPr>
            <p:ph type="sldNum" sz="quarter" idx="2"/>
          </p:nvPr>
        </p:nvSpPr>
        <p:spPr>
          <a:xfrm>
            <a:off x="8430259" y="6401179"/>
            <a:ext cx="256541" cy="27546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pic>
        <p:nvPicPr>
          <p:cNvPr id="369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ttangolo 4"/>
          <p:cNvSpPr txBox="1"/>
          <p:nvPr/>
        </p:nvSpPr>
        <p:spPr>
          <a:xfrm>
            <a:off x="182569" y="875439"/>
            <a:ext cx="8843703" cy="5281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Perché si configuri il reato in esame, occorrono </a:t>
            </a:r>
            <a:r>
              <a:rPr b="1"/>
              <a:t>due presupposti</a:t>
            </a:r>
            <a:r>
              <a:t>:</a:t>
            </a:r>
          </a:p>
          <a:p>
            <a:pPr marL="266700" indent="-266700" algn="just">
              <a:lnSpc>
                <a:spcPct val="114000"/>
              </a:lnSpc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cd. </a:t>
            </a:r>
            <a:r>
              <a:rPr b="1" u="sng">
                <a:solidFill>
                  <a:srgbClr val="008000"/>
                </a:solidFill>
              </a:rPr>
              <a:t>reato presupposto: </a:t>
            </a:r>
            <a:r>
              <a:t>ovvero che vi sia stata la </a:t>
            </a:r>
            <a:r>
              <a:rPr b="1"/>
              <a:t>pregressa commissione di un delitto o di una contravvenzione</a:t>
            </a:r>
            <a:r>
              <a:t> da persona diversa dal favoreggiatore;</a:t>
            </a:r>
          </a:p>
          <a:p>
            <a:pPr marL="266700" indent="-266700" algn="just">
              <a:lnSpc>
                <a:spcPct val="114000"/>
              </a:lnSpc>
              <a:buSzPct val="100000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66700" indent="-266700" algn="just">
              <a:lnSpc>
                <a:spcPct val="114000"/>
              </a:lnSpc>
              <a:buSzPct val="100000"/>
              <a:buAutoNum type="arabicPeriod" startAt="2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 </a:t>
            </a:r>
            <a:r>
              <a:rPr b="1" u="sng">
                <a:solidFill>
                  <a:srgbClr val="008000"/>
                </a:solidFill>
              </a:rPr>
              <a:t>il soggetto non abbia concorso nel reato precedentemente commesso</a:t>
            </a:r>
            <a:r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266700"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b="1">
                <a:solidFill>
                  <a:srgbClr val="008000"/>
                </a:solidFill>
              </a:rPr>
              <a:t>clausola di esclusione </a:t>
            </a:r>
            <a:r>
              <a:t>per il concorrente nel medesimo reato deve essere intesa come riferita al concorso nello specifico fatto storico commesso dal favorito. </a:t>
            </a:r>
            <a:r>
              <a:rPr u="sng"/>
              <a:t>È configurabile, pertanto, il reato di favoreggiamento nel caso in cui l’autore sia concorso con il soggetto aiutato in un reato della stessa specie, ma diverso da quello per il quale ha  prestato ausilio.</a:t>
            </a:r>
          </a:p>
        </p:txBody>
      </p:sp>
      <p:pic>
        <p:nvPicPr>
          <p:cNvPr id="372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personale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ttangolo 4"/>
          <p:cNvSpPr txBox="1"/>
          <p:nvPr/>
        </p:nvSpPr>
        <p:spPr>
          <a:xfrm>
            <a:off x="182569" y="875439"/>
            <a:ext cx="8843703" cy="609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u="none" dirty="0"/>
              <a:t> </a:t>
            </a:r>
            <a:r>
              <a:rPr b="0" u="none" dirty="0" err="1"/>
              <a:t>consiste</a:t>
            </a:r>
            <a:r>
              <a:rPr b="0" u="none" dirty="0"/>
              <a:t> in una </a:t>
            </a:r>
            <a:r>
              <a:rPr b="0" u="none" dirty="0" err="1"/>
              <a:t>condotta</a:t>
            </a:r>
            <a:r>
              <a:rPr b="0" u="none" dirty="0"/>
              <a:t> di chi </a:t>
            </a:r>
            <a:r>
              <a:rPr b="0" u="none" dirty="0" err="1"/>
              <a:t>aiuti</a:t>
            </a:r>
            <a:r>
              <a:rPr b="0" u="none" dirty="0"/>
              <a:t> un </a:t>
            </a:r>
            <a:r>
              <a:rPr b="0" u="none" dirty="0" err="1"/>
              <a:t>altro</a:t>
            </a:r>
            <a:r>
              <a:rPr b="0" u="none" dirty="0"/>
              <a:t> </a:t>
            </a:r>
            <a:r>
              <a:rPr b="0" u="none" dirty="0" err="1"/>
              <a:t>soggetto</a:t>
            </a:r>
            <a:r>
              <a:rPr b="0" u="none" dirty="0"/>
              <a:t> </a:t>
            </a:r>
            <a:r>
              <a:rPr b="0" u="none" dirty="0" err="1"/>
              <a:t>che</a:t>
            </a:r>
            <a:r>
              <a:rPr b="0" u="none" dirty="0"/>
              <a:t> </a:t>
            </a:r>
            <a:r>
              <a:rPr b="0" u="none" dirty="0" err="1"/>
              <a:t>abbia</a:t>
            </a:r>
            <a:r>
              <a:rPr b="0" u="none" dirty="0"/>
              <a:t> </a:t>
            </a:r>
            <a:r>
              <a:rPr b="0" u="none" dirty="0" err="1"/>
              <a:t>precedentemente</a:t>
            </a:r>
            <a:r>
              <a:rPr b="0" u="none" dirty="0"/>
              <a:t> </a:t>
            </a:r>
            <a:r>
              <a:rPr b="0" u="none" dirty="0" err="1"/>
              <a:t>commesso</a:t>
            </a:r>
            <a:r>
              <a:rPr b="0" u="none" dirty="0"/>
              <a:t> un </a:t>
            </a:r>
            <a:r>
              <a:rPr b="0" u="none" dirty="0" err="1"/>
              <a:t>reato</a:t>
            </a:r>
            <a:r>
              <a:rPr b="0" u="none" dirty="0"/>
              <a:t> :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b="0" u="none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– ad </a:t>
            </a:r>
            <a:r>
              <a:rPr sz="1800" b="1" dirty="0" err="1">
                <a:solidFill>
                  <a:srgbClr val="008000"/>
                </a:solidFill>
              </a:rPr>
              <a:t>eludere</a:t>
            </a:r>
            <a:r>
              <a:rPr sz="1800" b="1" dirty="0">
                <a:solidFill>
                  <a:srgbClr val="008000"/>
                </a:solidFill>
              </a:rPr>
              <a:t> le </a:t>
            </a:r>
            <a:r>
              <a:rPr sz="1800" b="1" dirty="0" err="1">
                <a:solidFill>
                  <a:srgbClr val="008000"/>
                </a:solidFill>
              </a:rPr>
              <a:t>investigazioni</a:t>
            </a:r>
            <a:r>
              <a:rPr sz="1800" b="1" dirty="0">
                <a:solidFill>
                  <a:srgbClr val="008000"/>
                </a:solidFill>
              </a:rPr>
              <a:t> </a:t>
            </a:r>
            <a:r>
              <a:rPr sz="1800" dirty="0" err="1"/>
              <a:t>della</a:t>
            </a:r>
            <a:r>
              <a:rPr sz="1800" dirty="0"/>
              <a:t> </a:t>
            </a:r>
            <a:r>
              <a:rPr sz="1800" dirty="0" err="1"/>
              <a:t>polizia</a:t>
            </a:r>
            <a:r>
              <a:rPr sz="1800" dirty="0"/>
              <a:t> </a:t>
            </a:r>
            <a:r>
              <a:rPr sz="1800" dirty="0" err="1"/>
              <a:t>giudiziaria</a:t>
            </a:r>
            <a:r>
              <a:rPr sz="1800" dirty="0"/>
              <a:t>;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             </a:t>
            </a:r>
            <a:r>
              <a:rPr sz="1800" dirty="0" err="1"/>
              <a:t>Oppure</a:t>
            </a:r>
            <a:r>
              <a:rPr sz="1800" dirty="0"/>
              <a:t>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– </a:t>
            </a:r>
            <a:r>
              <a:rPr sz="1800" b="1" dirty="0" err="1">
                <a:solidFill>
                  <a:srgbClr val="008000"/>
                </a:solidFill>
              </a:rPr>
              <a:t>sottrarsi</a:t>
            </a:r>
            <a:r>
              <a:rPr sz="1800" b="1" dirty="0">
                <a:solidFill>
                  <a:srgbClr val="008000"/>
                </a:solidFill>
              </a:rPr>
              <a:t> </a:t>
            </a:r>
            <a:r>
              <a:rPr sz="1800" b="1" dirty="0" err="1">
                <a:solidFill>
                  <a:srgbClr val="008000"/>
                </a:solidFill>
              </a:rPr>
              <a:t>alle</a:t>
            </a:r>
            <a:r>
              <a:rPr sz="1800" b="1" dirty="0">
                <a:solidFill>
                  <a:srgbClr val="008000"/>
                </a:solidFill>
              </a:rPr>
              <a:t> </a:t>
            </a:r>
            <a:r>
              <a:rPr sz="1800" b="1" dirty="0" err="1">
                <a:solidFill>
                  <a:srgbClr val="008000"/>
                </a:solidFill>
              </a:rPr>
              <a:t>ricerche</a:t>
            </a:r>
            <a:r>
              <a:rPr sz="1800" dirty="0"/>
              <a:t>.</a:t>
            </a:r>
          </a:p>
          <a:p>
            <a:pPr algn="just">
              <a:lnSpc>
                <a:spcPct val="114000"/>
              </a:lnSpc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0" dirty="0">
                <a:sym typeface="Times New Roman"/>
              </a:rPr>
              <a:t>Integra la condotta qualsiasi comportamento </a:t>
            </a:r>
            <a:r>
              <a:rPr lang="it-IT" sz="2200" b="0" u="sng" dirty="0">
                <a:sym typeface="Times New Roman"/>
              </a:rPr>
              <a:t>idoneo, seppur in astratto</a:t>
            </a:r>
            <a:r>
              <a:rPr lang="it-IT" sz="2200" b="0" dirty="0">
                <a:sym typeface="Times New Roman"/>
              </a:rPr>
              <a:t>, a intralciare il corso della giustizia, per cui non è richiesto che le investigazioni </a:t>
            </a:r>
            <a:r>
              <a:rPr lang="it-IT" sz="2200" b="0" dirty="0" err="1">
                <a:sym typeface="Times New Roman"/>
              </a:rPr>
              <a:t>dell</a:t>
            </a:r>
            <a:r>
              <a:rPr lang="ar-SA" sz="2200" b="0" dirty="0">
                <a:sym typeface="Times New Roman"/>
              </a:rPr>
              <a:t>’</a:t>
            </a:r>
            <a:r>
              <a:rPr lang="it-IT" sz="2200" b="0" dirty="0">
                <a:sym typeface="Times New Roman"/>
              </a:rPr>
              <a:t>autorità siano effettivamente fuorviate, </a:t>
            </a:r>
            <a:r>
              <a:rPr lang="it-IT" sz="2200" b="0" u="sng" dirty="0">
                <a:sym typeface="Times New Roman"/>
              </a:rPr>
              <a:t>bastando che la condotta </a:t>
            </a:r>
            <a:r>
              <a:rPr lang="it-IT" sz="2200" b="0" u="sng" dirty="0" err="1">
                <a:sym typeface="Times New Roman"/>
              </a:rPr>
              <a:t>dell</a:t>
            </a:r>
            <a:r>
              <a:rPr lang="ar-SA" sz="2200" b="0" u="sng" dirty="0">
                <a:sym typeface="Times New Roman"/>
              </a:rPr>
              <a:t>’</a:t>
            </a:r>
            <a:r>
              <a:rPr lang="it-IT" sz="2200" b="0" u="sng" dirty="0">
                <a:sym typeface="Times New Roman"/>
              </a:rPr>
              <a:t>agente abbia l</a:t>
            </a:r>
            <a:r>
              <a:rPr lang="ar-SA" sz="2200" b="0" u="sng" dirty="0">
                <a:sym typeface="Times New Roman"/>
              </a:rPr>
              <a:t>’</a:t>
            </a:r>
            <a:r>
              <a:rPr lang="it-IT" sz="2200" b="0" u="sng" dirty="0">
                <a:sym typeface="Times New Roman"/>
              </a:rPr>
              <a:t>attitudine e possa conseguire lo scopo di aiutare il colpevole ad eludere le indagini in corso.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u="sng" dirty="0">
                <a:solidFill>
                  <a:srgbClr val="FF0000"/>
                </a:solidFill>
                <a:sym typeface="Times New Roman"/>
              </a:rPr>
              <a:t>REATO A FORMA LIBERA</a:t>
            </a:r>
            <a:r>
              <a:rPr lang="it-IT" sz="2200" b="0" dirty="0">
                <a:sym typeface="Times New Roman"/>
              </a:rPr>
              <a:t>, che si realizza con </a:t>
            </a:r>
            <a:r>
              <a:rPr lang="it-IT" sz="2200" u="sng" dirty="0">
                <a:sym typeface="Times New Roman"/>
              </a:rPr>
              <a:t>qualsiasi condotta</a:t>
            </a:r>
            <a:r>
              <a:rPr lang="it-IT" sz="2200" b="0" dirty="0">
                <a:sym typeface="Times New Roman"/>
              </a:rPr>
              <a:t>, anche </a:t>
            </a:r>
            <a:r>
              <a:rPr lang="it-IT" sz="2200" b="0" u="sng" dirty="0">
                <a:sym typeface="Times New Roman"/>
              </a:rPr>
              <a:t>omissiva</a:t>
            </a:r>
            <a:r>
              <a:rPr lang="it-IT" sz="2200" b="0" dirty="0">
                <a:sym typeface="Times New Roman"/>
              </a:rPr>
              <a:t>, come il </a:t>
            </a:r>
            <a:r>
              <a:rPr lang="it-IT" sz="2200" b="0" u="sng" dirty="0">
                <a:sym typeface="Times New Roman"/>
              </a:rPr>
              <a:t>silenzio</a:t>
            </a:r>
            <a:r>
              <a:rPr lang="it-IT" sz="2200" b="0" dirty="0">
                <a:sym typeface="Times New Roman"/>
              </a:rPr>
              <a:t>, la </a:t>
            </a:r>
            <a:r>
              <a:rPr lang="it-IT" sz="2200" b="0" u="sng" dirty="0">
                <a:sym typeface="Times New Roman"/>
              </a:rPr>
              <a:t>reticenza</a:t>
            </a:r>
            <a:r>
              <a:rPr lang="it-IT" sz="2200" b="0" dirty="0">
                <a:sym typeface="Times New Roman"/>
              </a:rPr>
              <a:t>, il </a:t>
            </a:r>
            <a:r>
              <a:rPr lang="it-IT" sz="2200" b="0" u="sng" dirty="0">
                <a:sym typeface="Times New Roman"/>
              </a:rPr>
              <a:t>rifiuto di fornire notizie</a:t>
            </a:r>
            <a:r>
              <a:rPr lang="it-IT" sz="2200" b="0" dirty="0">
                <a:sym typeface="Times New Roman"/>
              </a:rPr>
              <a:t>, idonea a ottenere il risultato di consentire </a:t>
            </a:r>
            <a:r>
              <a:rPr lang="it-IT" sz="2200" b="0" dirty="0" err="1">
                <a:sym typeface="Times New Roman"/>
              </a:rPr>
              <a:t>all</a:t>
            </a:r>
            <a:r>
              <a:rPr lang="ar-SA" sz="2200" b="0" dirty="0">
                <a:sym typeface="Times New Roman"/>
              </a:rPr>
              <a:t>’</a:t>
            </a:r>
            <a:r>
              <a:rPr lang="it-IT" sz="2200" b="0" dirty="0">
                <a:sym typeface="Times New Roman"/>
              </a:rPr>
              <a:t>autore di un delitto di eludere le investigazioni </a:t>
            </a:r>
            <a:r>
              <a:rPr lang="it-IT" sz="2200" b="0" dirty="0" err="1">
                <a:sym typeface="Times New Roman"/>
              </a:rPr>
              <a:t>dell</a:t>
            </a:r>
            <a:r>
              <a:rPr lang="ar-SA" sz="2200" b="0" dirty="0">
                <a:sym typeface="Times New Roman"/>
              </a:rPr>
              <a:t>’</a:t>
            </a:r>
            <a:r>
              <a:rPr lang="it-IT" sz="2200" b="0" dirty="0">
                <a:sym typeface="Times New Roman"/>
              </a:rPr>
              <a:t>autorità.</a:t>
            </a:r>
            <a:endParaRPr dirty="0"/>
          </a:p>
        </p:txBody>
      </p:sp>
      <p:pic>
        <p:nvPicPr>
          <p:cNvPr id="376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personale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ttangolo 4"/>
          <p:cNvSpPr txBox="1"/>
          <p:nvPr/>
        </p:nvSpPr>
        <p:spPr>
          <a:xfrm>
            <a:off x="182569" y="875439"/>
            <a:ext cx="8843703" cy="6237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u="none" dirty="0"/>
              <a:t> </a:t>
            </a:r>
            <a:r>
              <a:rPr b="0" u="none" dirty="0"/>
              <a:t>è </a:t>
            </a:r>
            <a:r>
              <a:rPr b="0" u="none" dirty="0" err="1"/>
              <a:t>il</a:t>
            </a:r>
            <a:r>
              <a:rPr b="0" u="none" dirty="0"/>
              <a:t> </a:t>
            </a:r>
            <a:r>
              <a:rPr u="none" dirty="0">
                <a:solidFill>
                  <a:srgbClr val="008000"/>
                </a:solidFill>
              </a:rPr>
              <a:t>DOLO GENERICO</a:t>
            </a:r>
            <a:r>
              <a:rPr b="0" u="none" dirty="0"/>
              <a:t>, </a:t>
            </a:r>
            <a:r>
              <a:rPr b="0" u="none" dirty="0" err="1"/>
              <a:t>inteso</a:t>
            </a:r>
            <a:r>
              <a:rPr b="0" u="none" dirty="0"/>
              <a:t> come </a:t>
            </a:r>
            <a:r>
              <a:rPr b="0" u="none" dirty="0" err="1"/>
              <a:t>coscienza</a:t>
            </a:r>
            <a:r>
              <a:rPr b="0" u="none" dirty="0"/>
              <a:t> e </a:t>
            </a:r>
            <a:r>
              <a:rPr b="0" u="none" dirty="0" err="1"/>
              <a:t>volontà</a:t>
            </a:r>
            <a:r>
              <a:rPr b="0" u="none" dirty="0"/>
              <a:t> di </a:t>
            </a:r>
            <a:r>
              <a:rPr b="0" u="none" dirty="0" err="1"/>
              <a:t>prestare</a:t>
            </a:r>
            <a:r>
              <a:rPr b="0" u="none" dirty="0"/>
              <a:t> </a:t>
            </a:r>
            <a:r>
              <a:rPr b="0" u="none" dirty="0" err="1"/>
              <a:t>aiuto</a:t>
            </a:r>
            <a:r>
              <a:rPr b="0" u="none" dirty="0"/>
              <a:t> ad una persona in </a:t>
            </a:r>
            <a:r>
              <a:rPr b="0" u="none" dirty="0" err="1"/>
              <a:t>relazione</a:t>
            </a:r>
            <a:r>
              <a:rPr b="0" u="none" dirty="0"/>
              <a:t> ad un </a:t>
            </a:r>
            <a:r>
              <a:rPr b="0" u="none" dirty="0" err="1"/>
              <a:t>reato</a:t>
            </a:r>
            <a:r>
              <a:rPr b="0" u="none" dirty="0"/>
              <a:t> </a:t>
            </a:r>
            <a:r>
              <a:rPr b="0" u="none" dirty="0" err="1"/>
              <a:t>commesso</a:t>
            </a:r>
            <a:r>
              <a:rPr b="0" u="none" dirty="0"/>
              <a:t>, per </a:t>
            </a:r>
            <a:r>
              <a:rPr b="0" u="none" dirty="0" err="1"/>
              <a:t>eludere</a:t>
            </a:r>
            <a:r>
              <a:rPr b="0" u="none" dirty="0"/>
              <a:t> le </a:t>
            </a:r>
            <a:r>
              <a:rPr b="0" u="none" dirty="0" err="1"/>
              <a:t>investigazioni</a:t>
            </a:r>
            <a:r>
              <a:rPr b="0" u="none" dirty="0"/>
              <a:t> o per </a:t>
            </a:r>
            <a:r>
              <a:rPr b="0" u="none" dirty="0" err="1"/>
              <a:t>sottrarsi</a:t>
            </a:r>
            <a:r>
              <a:rPr b="0" u="none" dirty="0"/>
              <a:t> </a:t>
            </a:r>
            <a:r>
              <a:rPr b="0" u="none" dirty="0" err="1"/>
              <a:t>alle</a:t>
            </a:r>
            <a:r>
              <a:rPr b="0" u="none" dirty="0"/>
              <a:t> </a:t>
            </a:r>
            <a:r>
              <a:rPr b="0" u="none" dirty="0" err="1"/>
              <a:t>ricerche</a:t>
            </a:r>
            <a:r>
              <a:rPr b="0" u="none"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in cui </a:t>
            </a:r>
            <a:r>
              <a:rPr b="1" dirty="0" err="1">
                <a:solidFill>
                  <a:srgbClr val="008000"/>
                </a:solidFill>
              </a:rPr>
              <a:t>si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presta</a:t>
            </a:r>
            <a:r>
              <a:rPr b="1" dirty="0">
                <a:solidFill>
                  <a:srgbClr val="008000"/>
                </a:solidFill>
              </a:rPr>
              <a:t> </a:t>
            </a:r>
            <a:r>
              <a:rPr b="1" dirty="0" err="1">
                <a:solidFill>
                  <a:srgbClr val="008000"/>
                </a:solidFill>
              </a:rPr>
              <a:t>l'aiuto</a:t>
            </a:r>
            <a:r>
              <a:rPr b="1" dirty="0"/>
              <a:t>.</a:t>
            </a: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b="1" dirty="0" err="1">
                <a:solidFill>
                  <a:srgbClr val="008000"/>
                </a:solidFill>
              </a:rPr>
              <a:t>tentativo</a:t>
            </a:r>
            <a:r>
              <a:rPr b="1" dirty="0">
                <a:solidFill>
                  <a:srgbClr val="008000"/>
                </a:solidFill>
              </a:rPr>
              <a:t> è </a:t>
            </a:r>
            <a:r>
              <a:rPr b="1" dirty="0" err="1">
                <a:solidFill>
                  <a:srgbClr val="008000"/>
                </a:solidFill>
              </a:rPr>
              <a:t>configurabile</a:t>
            </a:r>
            <a:r>
              <a:rPr dirty="0">
                <a:solidFill>
                  <a:srgbClr val="008000"/>
                </a:solidFill>
              </a:rPr>
              <a:t> </a:t>
            </a:r>
            <a:r>
              <a:rPr u="sng" dirty="0" err="1"/>
              <a:t>allorché</a:t>
            </a:r>
            <a:r>
              <a:rPr dirty="0"/>
              <a:t>, per cause </a:t>
            </a:r>
            <a:r>
              <a:rPr dirty="0" err="1"/>
              <a:t>indipendenti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volontà</a:t>
            </a:r>
            <a:r>
              <a:rPr dirty="0"/>
              <a:t> </a:t>
            </a:r>
            <a:r>
              <a:rPr dirty="0" err="1"/>
              <a:t>dell’agente</a:t>
            </a:r>
            <a:r>
              <a:rPr dirty="0"/>
              <a:t>, </a:t>
            </a:r>
            <a:r>
              <a:rPr dirty="0" err="1"/>
              <a:t>l’atto</a:t>
            </a:r>
            <a:r>
              <a:rPr dirty="0"/>
              <a:t> </a:t>
            </a:r>
            <a:r>
              <a:rPr dirty="0" err="1"/>
              <a:t>compiuto</a:t>
            </a:r>
            <a:r>
              <a:rPr dirty="0"/>
              <a:t>, </a:t>
            </a:r>
            <a:r>
              <a:rPr dirty="0" err="1"/>
              <a:t>pur</a:t>
            </a:r>
            <a:r>
              <a:rPr dirty="0"/>
              <a:t> </a:t>
            </a:r>
            <a:r>
              <a:rPr dirty="0" err="1"/>
              <a:t>mirando</a:t>
            </a:r>
            <a:r>
              <a:rPr dirty="0"/>
              <a:t> a </a:t>
            </a:r>
            <a:r>
              <a:rPr dirty="0" err="1"/>
              <a:t>portare</a:t>
            </a:r>
            <a:r>
              <a:rPr dirty="0"/>
              <a:t> </a:t>
            </a:r>
            <a:r>
              <a:rPr dirty="0" err="1"/>
              <a:t>aiuto</a:t>
            </a:r>
            <a:r>
              <a:rPr dirty="0"/>
              <a:t>, </a:t>
            </a:r>
            <a:r>
              <a:rPr b="1" dirty="0"/>
              <a:t>non </a:t>
            </a:r>
            <a:r>
              <a:rPr b="1" dirty="0" err="1"/>
              <a:t>l’abbia</a:t>
            </a:r>
            <a:r>
              <a:rPr b="1" dirty="0"/>
              <a:t> </a:t>
            </a:r>
            <a:r>
              <a:rPr b="1" dirty="0" err="1"/>
              <a:t>realizzato</a:t>
            </a:r>
            <a:r>
              <a:rPr dirty="0"/>
              <a:t>. </a:t>
            </a: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È un </a:t>
            </a:r>
            <a:r>
              <a:rPr lang="it-IT" dirty="0">
                <a:solidFill>
                  <a:srgbClr val="008000"/>
                </a:solidFill>
              </a:rPr>
              <a:t>REATO DI PERICOLO, ISTANTANEO </a:t>
            </a:r>
            <a:r>
              <a:rPr lang="it-IT" dirty="0"/>
              <a:t>perché la norma </a:t>
            </a:r>
            <a:r>
              <a:rPr lang="it-IT" u="sng" dirty="0"/>
              <a:t>non richiede che le investigazioni o le ricerche siano effettivamente danneggiate</a:t>
            </a:r>
            <a:r>
              <a:rPr lang="it-IT" dirty="0"/>
              <a:t>, ma occorre valutare nel caso in concreto l’idoneità della condotta favoreggiatrice ad intralciare il corso della giustizia.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38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Favoreggiamento</a:t>
            </a:r>
            <a:r>
              <a:rPr dirty="0"/>
              <a:t> </a:t>
            </a:r>
            <a:r>
              <a:rPr dirty="0" err="1"/>
              <a:t>personale</a:t>
            </a:r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446D25-C8E5-45F4-A571-E589C659C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" y="1230924"/>
            <a:ext cx="8843027" cy="489524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t-IT" sz="2300" b="1" dirty="0">
                <a:solidFill>
                  <a:srgbClr val="FF0000"/>
                </a:solidFill>
                <a:latin typeface="Book Antiqua" panose="02040602050305030304" pitchFamily="18" charset="0"/>
              </a:rPr>
              <a:t>CONCORSO NEL REATO PERMANENTE e</a:t>
            </a:r>
            <a:r>
              <a:rPr lang="it-IT" sz="2300" b="1" dirty="0">
                <a:latin typeface="Book Antiqua" panose="02040602050305030304" pitchFamily="18" charset="0"/>
              </a:rPr>
              <a:t> </a:t>
            </a:r>
            <a:r>
              <a:rPr lang="it-IT" sz="2300" b="1" dirty="0">
                <a:solidFill>
                  <a:srgbClr val="FF0000"/>
                </a:solidFill>
                <a:latin typeface="Book Antiqua" panose="02040602050305030304" pitchFamily="18" charset="0"/>
              </a:rPr>
              <a:t>FAVOREGGIAMENTO</a:t>
            </a:r>
            <a:endParaRPr lang="it-IT" sz="2300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2600" dirty="0">
                <a:latin typeface="Book Antiqua" panose="02040602050305030304" pitchFamily="18" charset="0"/>
              </a:rPr>
              <a:t>Si esclude la possibilità di configurare il favoreggiamento nei reati permanenti in corso di esecuzione. </a:t>
            </a:r>
          </a:p>
          <a:p>
            <a:pPr marL="0" indent="0" algn="just">
              <a:buNone/>
            </a:pPr>
            <a:endParaRPr lang="it-IT" sz="26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2600" dirty="0">
                <a:latin typeface="Book Antiqua" panose="02040602050305030304" pitchFamily="18" charset="0"/>
              </a:rPr>
              <a:t>Si pensi, </a:t>
            </a:r>
            <a:r>
              <a:rPr lang="it-IT" sz="2600" i="1" dirty="0">
                <a:latin typeface="Book Antiqua" panose="02040602050305030304" pitchFamily="18" charset="0"/>
              </a:rPr>
              <a:t>ad es. </a:t>
            </a:r>
            <a:r>
              <a:rPr lang="it-IT" sz="2600" dirty="0">
                <a:latin typeface="Book Antiqua" panose="02040602050305030304" pitchFamily="18" charset="0"/>
              </a:rPr>
              <a:t>al caso riguardante la </a:t>
            </a:r>
            <a:r>
              <a:rPr lang="it-IT" sz="2600" u="sng" dirty="0">
                <a:latin typeface="Book Antiqua" panose="02040602050305030304" pitchFamily="18" charset="0"/>
              </a:rPr>
              <a:t>detenzione di stupefacenti </a:t>
            </a:r>
            <a:r>
              <a:rPr lang="it-IT" sz="2600" dirty="0">
                <a:latin typeface="Book Antiqua" panose="02040602050305030304" pitchFamily="18" charset="0"/>
              </a:rPr>
              <a:t>ove si è sostenuto che qualsiasi agevolazione del colpevole, </a:t>
            </a:r>
            <a:r>
              <a:rPr lang="it-IT" sz="2600" u="sng" dirty="0">
                <a:latin typeface="Book Antiqua" panose="02040602050305030304" pitchFamily="18" charset="0"/>
              </a:rPr>
              <a:t>prima che la sua condotta sia cessata, configuri inevitabilmente un concorso, </a:t>
            </a:r>
            <a:r>
              <a:rPr lang="it-IT" sz="2600" dirty="0">
                <a:latin typeface="Book Antiqua" panose="02040602050305030304" pitchFamily="18" charset="0"/>
              </a:rPr>
              <a:t>mentre il favoreggiamento personale richiede che il soggetto attivo non sia stato affatto coinvolto nella realizzazione del reato presupposto. </a:t>
            </a:r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131FE0C-7FC6-4DCB-98BA-ED7466196A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708" y="149386"/>
            <a:ext cx="8229600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rPr dirty="0" err="1"/>
              <a:t>Favoreggiamento</a:t>
            </a:r>
            <a:r>
              <a:rPr dirty="0"/>
              <a:t> </a:t>
            </a:r>
            <a:r>
              <a:rPr dirty="0" err="1"/>
              <a:t>personale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EF124BFA-F18C-4663-934F-66785EF4B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28476660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ttangolo 4"/>
          <p:cNvSpPr txBox="1"/>
          <p:nvPr/>
        </p:nvSpPr>
        <p:spPr>
          <a:xfrm>
            <a:off x="153224" y="882110"/>
            <a:ext cx="8736198" cy="357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379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Favoreggiamento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reale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u="sng" dirty="0" err="1"/>
              <a:t>Chiunque</a:t>
            </a:r>
            <a:r>
              <a:rPr u="sng" dirty="0"/>
              <a:t> </a:t>
            </a:r>
            <a:r>
              <a:rPr u="sng" dirty="0" err="1"/>
              <a:t>fuori</a:t>
            </a:r>
            <a:r>
              <a:rPr u="sng" dirty="0"/>
              <a:t> </a:t>
            </a:r>
            <a:r>
              <a:rPr u="sng" dirty="0" err="1"/>
              <a:t>dei</a:t>
            </a:r>
            <a:r>
              <a:rPr u="sng" dirty="0"/>
              <a:t> </a:t>
            </a:r>
            <a:r>
              <a:rPr u="sng" dirty="0" err="1"/>
              <a:t>casi</a:t>
            </a:r>
            <a:r>
              <a:rPr u="sng" dirty="0"/>
              <a:t> di </a:t>
            </a:r>
            <a:r>
              <a:rPr u="sng" dirty="0" err="1"/>
              <a:t>concorso</a:t>
            </a:r>
            <a:r>
              <a:rPr u="sng" dirty="0"/>
              <a:t> </a:t>
            </a:r>
            <a:r>
              <a:rPr u="sng" dirty="0" err="1"/>
              <a:t>nel</a:t>
            </a:r>
            <a:r>
              <a:rPr u="sng" dirty="0"/>
              <a:t> </a:t>
            </a:r>
            <a:r>
              <a:rPr u="sng" dirty="0" err="1"/>
              <a:t>reato</a:t>
            </a:r>
            <a:r>
              <a:rPr u="sng" dirty="0"/>
              <a:t> [110] e </a:t>
            </a:r>
            <a:r>
              <a:rPr u="sng" dirty="0" err="1"/>
              <a:t>dei</a:t>
            </a:r>
            <a:r>
              <a:rPr u="sng" dirty="0"/>
              <a:t> </a:t>
            </a:r>
            <a:r>
              <a:rPr u="sng" dirty="0" err="1"/>
              <a:t>casi</a:t>
            </a:r>
            <a:r>
              <a:rPr u="sng" dirty="0"/>
              <a:t> </a:t>
            </a:r>
            <a:r>
              <a:rPr u="sng" dirty="0" err="1"/>
              <a:t>previsti</a:t>
            </a:r>
            <a:r>
              <a:rPr u="sng" dirty="0"/>
              <a:t> </a:t>
            </a:r>
            <a:r>
              <a:rPr u="sng" dirty="0" err="1"/>
              <a:t>dagli</a:t>
            </a:r>
            <a:r>
              <a:rPr u="sng" dirty="0"/>
              <a:t> </a:t>
            </a:r>
            <a:r>
              <a:rPr u="sng" dirty="0" err="1"/>
              <a:t>articoli</a:t>
            </a:r>
            <a:r>
              <a:rPr u="sng" dirty="0"/>
              <a:t> 648 (</a:t>
            </a:r>
            <a:r>
              <a:rPr u="sng" dirty="0" err="1"/>
              <a:t>Ricettazione</a:t>
            </a:r>
            <a:r>
              <a:rPr u="sng" dirty="0"/>
              <a:t>), 648-bis (</a:t>
            </a:r>
            <a:r>
              <a:rPr u="sng" dirty="0" err="1"/>
              <a:t>Riciclaggio</a:t>
            </a:r>
            <a:r>
              <a:rPr u="sng" dirty="0"/>
              <a:t>), 648-ter (</a:t>
            </a:r>
            <a:r>
              <a:rPr u="sng" dirty="0" err="1"/>
              <a:t>impiego</a:t>
            </a:r>
            <a:r>
              <a:rPr u="sng" dirty="0"/>
              <a:t> di </a:t>
            </a:r>
            <a:r>
              <a:rPr u="sng" dirty="0" err="1"/>
              <a:t>denaro</a:t>
            </a:r>
            <a:r>
              <a:rPr u="sng" dirty="0"/>
              <a:t>, </a:t>
            </a:r>
            <a:r>
              <a:rPr u="sng" dirty="0" err="1"/>
              <a:t>beni</a:t>
            </a:r>
            <a:r>
              <a:rPr u="sng" dirty="0"/>
              <a:t> o </a:t>
            </a:r>
            <a:r>
              <a:rPr u="sng" dirty="0" err="1"/>
              <a:t>utilità</a:t>
            </a:r>
            <a:r>
              <a:rPr u="sng" dirty="0"/>
              <a:t> di </a:t>
            </a:r>
            <a:r>
              <a:rPr u="sng" dirty="0" err="1"/>
              <a:t>provenienza</a:t>
            </a:r>
            <a:r>
              <a:rPr u="sng" dirty="0"/>
              <a:t> </a:t>
            </a:r>
            <a:r>
              <a:rPr u="sng" dirty="0" err="1"/>
              <a:t>illecita</a:t>
            </a:r>
            <a:r>
              <a:rPr u="sng" dirty="0"/>
              <a:t>)</a:t>
            </a:r>
            <a:r>
              <a:rPr dirty="0"/>
              <a:t>, </a:t>
            </a:r>
            <a:r>
              <a:rPr b="1" dirty="0" err="1">
                <a:solidFill>
                  <a:srgbClr val="00B050"/>
                </a:solidFill>
              </a:rPr>
              <a:t>aiuta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taluno</a:t>
            </a:r>
            <a:r>
              <a:rPr b="1" dirty="0">
                <a:solidFill>
                  <a:srgbClr val="00B050"/>
                </a:solidFill>
              </a:rPr>
              <a:t> ad </a:t>
            </a:r>
            <a:r>
              <a:rPr b="1" dirty="0" err="1">
                <a:solidFill>
                  <a:srgbClr val="00B050"/>
                </a:solidFill>
              </a:rPr>
              <a:t>assicurare</a:t>
            </a:r>
            <a:r>
              <a:rPr b="1" dirty="0">
                <a:solidFill>
                  <a:srgbClr val="00B050"/>
                </a:solidFill>
              </a:rPr>
              <a:t> il </a:t>
            </a:r>
            <a:r>
              <a:rPr b="1" u="sng" dirty="0" err="1">
                <a:solidFill>
                  <a:srgbClr val="00B050"/>
                </a:solidFill>
              </a:rPr>
              <a:t>prodotto</a:t>
            </a:r>
            <a:r>
              <a:rPr b="1" dirty="0">
                <a:solidFill>
                  <a:srgbClr val="00B050"/>
                </a:solidFill>
              </a:rPr>
              <a:t> o il </a:t>
            </a:r>
            <a:r>
              <a:rPr b="1" u="sng" dirty="0" err="1">
                <a:solidFill>
                  <a:srgbClr val="00B050"/>
                </a:solidFill>
              </a:rPr>
              <a:t>profitto</a:t>
            </a:r>
            <a:r>
              <a:rPr b="1" dirty="0">
                <a:solidFill>
                  <a:srgbClr val="00B050"/>
                </a:solidFill>
              </a:rPr>
              <a:t> o il </a:t>
            </a:r>
            <a:r>
              <a:rPr b="1" u="sng" dirty="0" err="1">
                <a:solidFill>
                  <a:srgbClr val="00B050"/>
                </a:solidFill>
              </a:rPr>
              <a:t>prezzo</a:t>
            </a:r>
            <a:r>
              <a:rPr b="1" dirty="0">
                <a:solidFill>
                  <a:srgbClr val="00B050"/>
                </a:solidFill>
              </a:rPr>
              <a:t> di un </a:t>
            </a:r>
            <a:r>
              <a:rPr b="1" dirty="0" err="1">
                <a:solidFill>
                  <a:srgbClr val="00B050"/>
                </a:solidFill>
              </a:rPr>
              <a:t>reato</a:t>
            </a:r>
            <a:r>
              <a:rPr b="1" dirty="0"/>
              <a:t>,</a:t>
            </a:r>
            <a:r>
              <a:rPr dirty="0"/>
              <a:t>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cinque anni se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tratta</a:t>
            </a:r>
            <a:r>
              <a:rPr dirty="0"/>
              <a:t> di </a:t>
            </a:r>
            <a:r>
              <a:rPr dirty="0" err="1"/>
              <a:t>delitto</a:t>
            </a:r>
            <a:r>
              <a:rPr dirty="0"/>
              <a:t>, e con la </a:t>
            </a:r>
            <a:r>
              <a:rPr dirty="0" err="1"/>
              <a:t>multa</a:t>
            </a:r>
            <a:r>
              <a:rPr dirty="0"/>
              <a:t> da € 51 a € 1.032 se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tratta</a:t>
            </a:r>
            <a:r>
              <a:rPr dirty="0"/>
              <a:t> di </a:t>
            </a:r>
            <a:r>
              <a:rPr dirty="0" err="1"/>
              <a:t>contravvenzione</a:t>
            </a:r>
            <a:r>
              <a:rPr dirty="0"/>
              <a:t>. Si </a:t>
            </a:r>
            <a:r>
              <a:rPr dirty="0" err="1"/>
              <a:t>applicano</a:t>
            </a:r>
            <a:r>
              <a:rPr dirty="0"/>
              <a:t> le </a:t>
            </a:r>
            <a:r>
              <a:rPr dirty="0" err="1"/>
              <a:t>disposizioni</a:t>
            </a:r>
            <a:r>
              <a:rPr dirty="0"/>
              <a:t> del primo e </a:t>
            </a:r>
            <a:r>
              <a:rPr dirty="0" err="1"/>
              <a:t>dell'ultimo</a:t>
            </a:r>
            <a:r>
              <a:rPr dirty="0"/>
              <a:t> </a:t>
            </a:r>
            <a:r>
              <a:rPr dirty="0" err="1"/>
              <a:t>capoverso</a:t>
            </a:r>
            <a:r>
              <a:rPr dirty="0"/>
              <a:t> </a:t>
            </a:r>
            <a:r>
              <a:rPr dirty="0" err="1"/>
              <a:t>dell'articolo</a:t>
            </a:r>
            <a:r>
              <a:rPr dirty="0"/>
              <a:t> </a:t>
            </a:r>
            <a:r>
              <a:rPr dirty="0" err="1"/>
              <a:t>precedente</a:t>
            </a:r>
            <a:r>
              <a:rPr dirty="0"/>
              <a:t>.»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38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Rettangolo 5"/>
          <p:cNvSpPr txBox="1"/>
          <p:nvPr/>
        </p:nvSpPr>
        <p:spPr>
          <a:xfrm>
            <a:off x="2241456" y="4949816"/>
            <a:ext cx="5273156" cy="1440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Trib. monocratico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c. 1, Ip. 1 facoltativo, Ip.2 non consentito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9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ttangolo 4"/>
          <p:cNvSpPr txBox="1"/>
          <p:nvPr/>
        </p:nvSpPr>
        <p:spPr>
          <a:xfrm>
            <a:off x="81216" y="908720"/>
            <a:ext cx="8945056" cy="4307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L'INTERESSE TUTELATO </a:t>
            </a:r>
            <a:r>
              <a:rPr b="0" dirty="0"/>
              <a:t>è </a:t>
            </a:r>
            <a:r>
              <a:rPr b="0" dirty="0" err="1"/>
              <a:t>l’interesse</a:t>
            </a:r>
            <a:r>
              <a:rPr b="0" dirty="0"/>
              <a:t> </a:t>
            </a:r>
            <a:r>
              <a:rPr b="0" dirty="0" err="1"/>
              <a:t>generale</a:t>
            </a:r>
            <a:r>
              <a:rPr b="0" dirty="0"/>
              <a:t> </a:t>
            </a:r>
            <a:r>
              <a:rPr b="0" dirty="0" err="1"/>
              <a:t>dello</a:t>
            </a:r>
            <a:r>
              <a:rPr b="0" dirty="0"/>
              <a:t> </a:t>
            </a:r>
            <a:r>
              <a:rPr b="0" dirty="0" err="1"/>
              <a:t>Stato</a:t>
            </a:r>
            <a:r>
              <a:rPr b="0" dirty="0"/>
              <a:t> </a:t>
            </a:r>
            <a:r>
              <a:rPr dirty="0">
                <a:solidFill>
                  <a:srgbClr val="00B050"/>
                </a:solidFill>
              </a:rPr>
              <a:t>ad </a:t>
            </a:r>
            <a:r>
              <a:rPr dirty="0" err="1">
                <a:solidFill>
                  <a:srgbClr val="00B050"/>
                </a:solidFill>
              </a:rPr>
              <a:t>impedire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che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taluno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aiuti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l’autore</a:t>
            </a:r>
            <a:r>
              <a:rPr dirty="0">
                <a:solidFill>
                  <a:srgbClr val="00B050"/>
                </a:solidFill>
              </a:rPr>
              <a:t> di un </a:t>
            </a:r>
            <a:r>
              <a:rPr dirty="0" err="1">
                <a:solidFill>
                  <a:srgbClr val="00B050"/>
                </a:solidFill>
              </a:rPr>
              <a:t>reato</a:t>
            </a:r>
            <a:r>
              <a:rPr dirty="0">
                <a:solidFill>
                  <a:srgbClr val="00B050"/>
                </a:solidFill>
              </a:rPr>
              <a:t> a far </a:t>
            </a:r>
            <a:r>
              <a:rPr dirty="0" err="1">
                <a:solidFill>
                  <a:srgbClr val="00B050"/>
                </a:solidFill>
              </a:rPr>
              <a:t>diventare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definitivi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vantaggi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derivati</a:t>
            </a:r>
            <a:r>
              <a:rPr b="0" dirty="0"/>
              <a:t>.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algn="just">
              <a:lnSpc>
                <a:spcPct val="114000"/>
              </a:lnSpc>
              <a:defRPr sz="2200" b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>
              <a:solidFill>
                <a:srgbClr val="00B050"/>
              </a:solidFill>
            </a:endParaRP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ASSICURARE</a:t>
            </a:r>
            <a:r>
              <a:rPr b="0" dirty="0"/>
              <a:t> </a:t>
            </a:r>
            <a:r>
              <a:rPr b="0" dirty="0" err="1"/>
              <a:t>significa</a:t>
            </a:r>
            <a:r>
              <a:rPr b="0" dirty="0"/>
              <a:t> </a:t>
            </a:r>
            <a:r>
              <a:rPr b="0" dirty="0" err="1"/>
              <a:t>tenere</a:t>
            </a:r>
            <a:r>
              <a:rPr b="0" dirty="0"/>
              <a:t> un </a:t>
            </a:r>
            <a:r>
              <a:rPr b="0" dirty="0" err="1"/>
              <a:t>comportamento</a:t>
            </a:r>
            <a:r>
              <a:rPr b="0" dirty="0"/>
              <a:t> </a:t>
            </a:r>
            <a:r>
              <a:rPr b="0" dirty="0" err="1"/>
              <a:t>attivo</a:t>
            </a:r>
            <a:r>
              <a:rPr b="0" dirty="0"/>
              <a:t> od </a:t>
            </a:r>
            <a:r>
              <a:rPr b="0" dirty="0" err="1"/>
              <a:t>omissivo</a:t>
            </a:r>
            <a:r>
              <a:rPr b="0" dirty="0"/>
              <a:t> </a:t>
            </a:r>
            <a:r>
              <a:rPr b="0" dirty="0" err="1"/>
              <a:t>idoneo</a:t>
            </a:r>
            <a:r>
              <a:rPr b="0" dirty="0"/>
              <a:t> a </a:t>
            </a:r>
            <a:r>
              <a:rPr b="0" dirty="0" err="1"/>
              <a:t>garantire</a:t>
            </a:r>
            <a:r>
              <a:rPr b="0" dirty="0"/>
              <a:t>, in modo </a:t>
            </a:r>
            <a:r>
              <a:rPr b="0" dirty="0" err="1"/>
              <a:t>definitivo</a:t>
            </a:r>
            <a:r>
              <a:rPr b="0" dirty="0"/>
              <a:t>, al </a:t>
            </a:r>
            <a:r>
              <a:rPr b="0" dirty="0" err="1"/>
              <a:t>favorito</a:t>
            </a:r>
            <a:r>
              <a:rPr b="0" dirty="0"/>
              <a:t> </a:t>
            </a:r>
            <a:r>
              <a:rPr b="0" dirty="0" err="1"/>
              <a:t>il</a:t>
            </a:r>
            <a:r>
              <a:rPr b="0" dirty="0"/>
              <a:t> </a:t>
            </a:r>
            <a:r>
              <a:rPr b="0" dirty="0" err="1"/>
              <a:t>provento</a:t>
            </a:r>
            <a:r>
              <a:rPr b="0" dirty="0"/>
              <a:t> </a:t>
            </a:r>
            <a:r>
              <a:rPr b="0" dirty="0" err="1"/>
              <a:t>della</a:t>
            </a:r>
            <a:r>
              <a:rPr b="0" dirty="0"/>
              <a:t> propria </a:t>
            </a:r>
            <a:r>
              <a:rPr b="0" dirty="0" err="1"/>
              <a:t>attività</a:t>
            </a:r>
            <a:r>
              <a:rPr b="0" dirty="0"/>
              <a:t> </a:t>
            </a:r>
            <a:r>
              <a:rPr b="0" dirty="0" err="1"/>
              <a:t>antigiuridica</a:t>
            </a:r>
            <a:r>
              <a:rPr b="0" dirty="0"/>
              <a:t>.</a:t>
            </a: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 dirty="0"/>
              <a:t>- Non </a:t>
            </a:r>
            <a:r>
              <a:rPr b="0" dirty="0" err="1"/>
              <a:t>deve</a:t>
            </a:r>
            <a:r>
              <a:rPr b="0" dirty="0"/>
              <a:t> </a:t>
            </a:r>
            <a:r>
              <a:rPr b="0" dirty="0" err="1"/>
              <a:t>trattarsi</a:t>
            </a:r>
            <a:r>
              <a:rPr b="0" dirty="0"/>
              <a:t> di un </a:t>
            </a:r>
            <a:r>
              <a:rPr b="0" u="sng" dirty="0" err="1"/>
              <a:t>contributo</a:t>
            </a:r>
            <a:r>
              <a:rPr b="0" u="sng" dirty="0"/>
              <a:t> </a:t>
            </a:r>
            <a:r>
              <a:rPr b="0" u="sng" dirty="0" err="1"/>
              <a:t>causale</a:t>
            </a:r>
            <a:r>
              <a:rPr b="0" dirty="0"/>
              <a:t> - ossia un </a:t>
            </a:r>
            <a:r>
              <a:rPr b="0" dirty="0" err="1"/>
              <a:t>contributo</a:t>
            </a:r>
            <a:r>
              <a:rPr b="0" dirty="0"/>
              <a:t> </a:t>
            </a:r>
            <a:r>
              <a:rPr b="0" dirty="0" err="1"/>
              <a:t>essenziale</a:t>
            </a:r>
            <a:r>
              <a:rPr b="0" dirty="0"/>
              <a:t> </a:t>
            </a:r>
            <a:r>
              <a:rPr b="0" dirty="0" err="1"/>
              <a:t>alla</a:t>
            </a:r>
            <a:r>
              <a:rPr b="0" dirty="0"/>
              <a:t> </a:t>
            </a:r>
            <a:r>
              <a:rPr b="0" dirty="0" err="1"/>
              <a:t>commissione</a:t>
            </a:r>
            <a:r>
              <a:rPr b="0" dirty="0"/>
              <a:t> del </a:t>
            </a:r>
            <a:r>
              <a:rPr b="0" dirty="0" err="1"/>
              <a:t>reato</a:t>
            </a:r>
            <a:r>
              <a:rPr b="0" dirty="0"/>
              <a:t>. In </a:t>
            </a:r>
            <a:r>
              <a:rPr b="0" dirty="0" err="1"/>
              <a:t>tal</a:t>
            </a:r>
            <a:r>
              <a:rPr b="0" dirty="0"/>
              <a:t> </a:t>
            </a:r>
            <a:r>
              <a:rPr b="0" dirty="0" err="1"/>
              <a:t>caso</a:t>
            </a:r>
            <a:r>
              <a:rPr b="0" dirty="0"/>
              <a:t> </a:t>
            </a:r>
            <a:r>
              <a:rPr b="0" dirty="0" err="1"/>
              <a:t>si</a:t>
            </a:r>
            <a:r>
              <a:rPr b="0" dirty="0"/>
              <a:t> </a:t>
            </a:r>
            <a:r>
              <a:rPr b="0" dirty="0" err="1"/>
              <a:t>avrebbe</a:t>
            </a:r>
            <a:r>
              <a:rPr b="0" dirty="0"/>
              <a:t> </a:t>
            </a:r>
            <a:r>
              <a:rPr b="0" dirty="0" err="1"/>
              <a:t>concorso</a:t>
            </a:r>
            <a:r>
              <a:rPr b="0" dirty="0"/>
              <a:t> </a:t>
            </a:r>
            <a:r>
              <a:rPr b="0" dirty="0" err="1"/>
              <a:t>nel</a:t>
            </a:r>
            <a:r>
              <a:rPr b="0" dirty="0"/>
              <a:t> </a:t>
            </a:r>
            <a:r>
              <a:rPr b="0" dirty="0" err="1"/>
              <a:t>reato</a:t>
            </a:r>
            <a:r>
              <a:rPr b="0" dirty="0"/>
              <a:t>.</a:t>
            </a:r>
          </a:p>
        </p:txBody>
      </p:sp>
      <p:pic>
        <p:nvPicPr>
          <p:cNvPr id="39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ttangolo 4"/>
          <p:cNvSpPr txBox="1"/>
          <p:nvPr/>
        </p:nvSpPr>
        <p:spPr>
          <a:xfrm>
            <a:off x="182569" y="980728"/>
            <a:ext cx="8843703" cy="585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ELEMENTO OGGETTIVO: </a:t>
            </a:r>
            <a:r>
              <a:rPr lang="it-IT" b="0" dirty="0">
                <a:solidFill>
                  <a:schemeClr val="tx1"/>
                </a:solidFill>
              </a:rPr>
              <a:t>si sostanzia in una condotta consistente nel </a:t>
            </a:r>
            <a:r>
              <a:rPr lang="it-IT" dirty="0">
                <a:solidFill>
                  <a:schemeClr val="tx1"/>
                </a:solidFill>
              </a:rPr>
              <a:t>prestare un'attività di aiuto al fine di assicurare a taluno il prezzo, il prodotto e il profitto di un reato</a:t>
            </a:r>
            <a:r>
              <a:rPr lang="it-IT" b="0" dirty="0">
                <a:solidFill>
                  <a:schemeClr val="tx1"/>
                </a:solidFill>
              </a:rPr>
              <a:t>. Indipendentemente dal fatto che il favoreggiamento consegua il risultato.</a:t>
            </a:r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PRODOTTO</a:t>
            </a:r>
            <a:r>
              <a:rPr b="0" dirty="0">
                <a:solidFill>
                  <a:srgbClr val="000000"/>
                </a:solidFill>
              </a:rPr>
              <a:t> del </a:t>
            </a:r>
            <a:r>
              <a:rPr b="0" dirty="0" err="1">
                <a:solidFill>
                  <a:srgbClr val="000000"/>
                </a:solidFill>
              </a:rPr>
              <a:t>reato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sono</a:t>
            </a:r>
            <a:r>
              <a:rPr b="0" dirty="0">
                <a:solidFill>
                  <a:srgbClr val="000000"/>
                </a:solidFill>
              </a:rPr>
              <a:t> le </a:t>
            </a:r>
            <a:r>
              <a:rPr dirty="0" err="1">
                <a:solidFill>
                  <a:srgbClr val="000000"/>
                </a:solidFill>
              </a:rPr>
              <a:t>cose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pervenute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direttamente</a:t>
            </a:r>
            <a:r>
              <a:rPr dirty="0">
                <a:solidFill>
                  <a:srgbClr val="000000"/>
                </a:solidFill>
              </a:rPr>
              <a:t> in </a:t>
            </a:r>
            <a:r>
              <a:rPr dirty="0" err="1">
                <a:solidFill>
                  <a:srgbClr val="000000"/>
                </a:solidFill>
              </a:rPr>
              <a:t>possesso</a:t>
            </a:r>
            <a:r>
              <a:rPr dirty="0">
                <a:solidFill>
                  <a:srgbClr val="000000"/>
                </a:solidFill>
              </a:rPr>
              <a:t> del </a:t>
            </a:r>
            <a:r>
              <a:rPr dirty="0" err="1">
                <a:solidFill>
                  <a:srgbClr val="000000"/>
                </a:solidFill>
              </a:rPr>
              <a:t>reo</a:t>
            </a:r>
            <a:r>
              <a:rPr dirty="0">
                <a:solidFill>
                  <a:srgbClr val="000000"/>
                </a:solidFill>
              </a:rPr>
              <a:t> in </a:t>
            </a:r>
            <a:r>
              <a:rPr dirty="0" err="1">
                <a:solidFill>
                  <a:srgbClr val="000000"/>
                </a:solidFill>
              </a:rPr>
              <a:t>seguito</a:t>
            </a:r>
            <a:r>
              <a:rPr dirty="0">
                <a:solidFill>
                  <a:srgbClr val="000000"/>
                </a:solidFill>
              </a:rPr>
              <a:t> al </a:t>
            </a:r>
            <a:r>
              <a:rPr dirty="0" err="1">
                <a:solidFill>
                  <a:srgbClr val="000000"/>
                </a:solidFill>
              </a:rPr>
              <a:t>reato</a:t>
            </a:r>
            <a:r>
              <a:rPr b="0" dirty="0">
                <a:solidFill>
                  <a:srgbClr val="000000"/>
                </a:solidFill>
              </a:rPr>
              <a:t>, quelle derivate da </a:t>
            </a:r>
            <a:r>
              <a:rPr b="0" dirty="0" err="1">
                <a:solidFill>
                  <a:srgbClr val="000000"/>
                </a:solidFill>
              </a:rPr>
              <a:t>successiva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trasformazione</a:t>
            </a:r>
            <a:r>
              <a:rPr b="0" dirty="0">
                <a:solidFill>
                  <a:srgbClr val="000000"/>
                </a:solidFill>
              </a:rPr>
              <a:t>, o </a:t>
            </a:r>
            <a:r>
              <a:rPr dirty="0" err="1">
                <a:solidFill>
                  <a:srgbClr val="000000"/>
                </a:solidFill>
              </a:rPr>
              <a:t>ricavate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dall’alienazione</a:t>
            </a:r>
            <a:r>
              <a:rPr dirty="0">
                <a:solidFill>
                  <a:srgbClr val="000000"/>
                </a:solidFill>
              </a:rPr>
              <a:t> o quelle poste in </a:t>
            </a:r>
            <a:r>
              <a:rPr dirty="0" err="1">
                <a:solidFill>
                  <a:srgbClr val="000000"/>
                </a:solidFill>
              </a:rPr>
              <a:t>essere</a:t>
            </a:r>
            <a:r>
              <a:rPr dirty="0">
                <a:solidFill>
                  <a:srgbClr val="000000"/>
                </a:solidFill>
              </a:rPr>
              <a:t> con </a:t>
            </a:r>
            <a:r>
              <a:rPr dirty="0" err="1">
                <a:solidFill>
                  <a:srgbClr val="000000"/>
                </a:solidFill>
              </a:rPr>
              <a:t>il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reato</a:t>
            </a:r>
            <a:r>
              <a:rPr b="0" dirty="0">
                <a:solidFill>
                  <a:srgbClr val="000000"/>
                </a:solidFill>
              </a:rPr>
              <a:t>;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PROFITTO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ogni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vantaggio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derivato</a:t>
            </a:r>
            <a:r>
              <a:rPr b="0" dirty="0">
                <a:solidFill>
                  <a:srgbClr val="000000"/>
                </a:solidFill>
              </a:rPr>
              <a:t> dal </a:t>
            </a:r>
            <a:r>
              <a:rPr b="0" dirty="0" err="1">
                <a:solidFill>
                  <a:srgbClr val="000000"/>
                </a:solidFill>
              </a:rPr>
              <a:t>reato</a:t>
            </a:r>
            <a:r>
              <a:rPr b="0" dirty="0">
                <a:solidFill>
                  <a:srgbClr val="000000"/>
                </a:solidFill>
              </a:rPr>
              <a:t>;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PREZZO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qualsiasi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ricompensa</a:t>
            </a:r>
            <a:r>
              <a:rPr b="0" dirty="0">
                <a:solidFill>
                  <a:srgbClr val="000000"/>
                </a:solidFill>
              </a:rPr>
              <a:t> o </a:t>
            </a:r>
            <a:r>
              <a:rPr dirty="0" err="1">
                <a:solidFill>
                  <a:srgbClr val="000000"/>
                </a:solidFill>
              </a:rPr>
              <a:t>controprestazione</a:t>
            </a:r>
            <a:r>
              <a:rPr b="0" dirty="0">
                <a:solidFill>
                  <a:srgbClr val="000000"/>
                </a:solidFill>
              </a:rPr>
              <a:t> per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reato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commesso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39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ttangolo 4"/>
          <p:cNvSpPr txBox="1"/>
          <p:nvPr/>
        </p:nvSpPr>
        <p:spPr>
          <a:xfrm>
            <a:off x="171100" y="980728"/>
            <a:ext cx="8843703" cy="2283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u="none"/>
              <a:t> </a:t>
            </a:r>
            <a:r>
              <a:rPr b="0" u="none"/>
              <a:t>è il </a:t>
            </a:r>
            <a:r>
              <a:rPr u="none">
                <a:solidFill>
                  <a:srgbClr val="00B050"/>
                </a:solidFill>
              </a:rPr>
              <a:t>DOLO GENERICO</a:t>
            </a:r>
            <a:r>
              <a:rPr b="0" u="none"/>
              <a:t>, consiste nella coscienza e volontà di aiutare l’autore di un reato ad assicurarsene il prodotto, il profitto o il prezzo.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 è richiesto il fine di lucro e neppure è necessario che l’agente conosca quale sia il reato presupposto e il momento o il modo di consumazione dello stesso reato.</a:t>
            </a:r>
          </a:p>
        </p:txBody>
      </p:sp>
      <p:pic>
        <p:nvPicPr>
          <p:cNvPr id="40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In sintesi: l’aiuto deve essere prestato nell’interesse esclusivo dell’autore del reato principale;…"/>
          <p:cNvSpPr txBox="1">
            <a:spLocks noGrp="1"/>
          </p:cNvSpPr>
          <p:nvPr>
            <p:ph type="body" idx="1"/>
          </p:nvPr>
        </p:nvSpPr>
        <p:spPr>
          <a:xfrm>
            <a:off x="457200" y="1271406"/>
            <a:ext cx="8229600" cy="4525964"/>
          </a:xfrm>
          <a:prstGeom prst="rect">
            <a:avLst/>
          </a:prstGeom>
        </p:spPr>
        <p:txBody>
          <a:bodyPr/>
          <a:lstStyle/>
          <a:p>
            <a:pPr algn="just"/>
            <a:r>
              <a:rPr b="1" u="sng" dirty="0"/>
              <a:t>In </a:t>
            </a:r>
            <a:r>
              <a:rPr b="1" u="sng" dirty="0" err="1"/>
              <a:t>sintesi</a:t>
            </a:r>
            <a:r>
              <a:rPr b="1" u="sng" dirty="0"/>
              <a:t>:</a:t>
            </a:r>
            <a:r>
              <a:rPr dirty="0"/>
              <a:t> </a:t>
            </a:r>
            <a:r>
              <a:rPr dirty="0" err="1"/>
              <a:t>l’aiuto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prestato</a:t>
            </a:r>
            <a:r>
              <a:rPr dirty="0"/>
              <a:t> </a:t>
            </a:r>
            <a:r>
              <a:rPr dirty="0" err="1"/>
              <a:t>nell’interesse</a:t>
            </a:r>
            <a:r>
              <a:rPr dirty="0"/>
              <a:t> </a:t>
            </a:r>
            <a:r>
              <a:rPr dirty="0" err="1"/>
              <a:t>esclusivo</a:t>
            </a:r>
            <a:r>
              <a:rPr dirty="0"/>
              <a:t> </a:t>
            </a:r>
            <a:r>
              <a:rPr dirty="0" err="1"/>
              <a:t>dell’autore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principale</a:t>
            </a:r>
            <a:r>
              <a:rPr dirty="0"/>
              <a:t>; </a:t>
            </a:r>
            <a:endParaRPr lang="it-IT" dirty="0"/>
          </a:p>
          <a:p>
            <a:pPr algn="just"/>
            <a:endParaRPr dirty="0"/>
          </a:p>
          <a:p>
            <a:pPr algn="just"/>
            <a:r>
              <a:rPr dirty="0"/>
              <a:t>Se </a:t>
            </a:r>
            <a:r>
              <a:rPr dirty="0" err="1"/>
              <a:t>esso</a:t>
            </a:r>
            <a:r>
              <a:rPr dirty="0"/>
              <a:t> </a:t>
            </a:r>
            <a:r>
              <a:rPr dirty="0" err="1"/>
              <a:t>venga</a:t>
            </a:r>
            <a:r>
              <a:rPr dirty="0"/>
              <a:t>, </a:t>
            </a:r>
            <a:r>
              <a:rPr dirty="0" err="1"/>
              <a:t>invece</a:t>
            </a:r>
            <a:r>
              <a:rPr dirty="0"/>
              <a:t>, </a:t>
            </a:r>
            <a:r>
              <a:rPr dirty="0" err="1"/>
              <a:t>prestato</a:t>
            </a:r>
            <a:r>
              <a:rPr dirty="0"/>
              <a:t>, o </a:t>
            </a:r>
            <a:r>
              <a:rPr dirty="0" err="1"/>
              <a:t>anche</a:t>
            </a:r>
            <a:r>
              <a:rPr dirty="0"/>
              <a:t> solo </a:t>
            </a:r>
            <a:r>
              <a:rPr dirty="0" err="1"/>
              <a:t>offerto</a:t>
            </a:r>
            <a:r>
              <a:rPr dirty="0"/>
              <a:t>, per una </a:t>
            </a:r>
            <a:r>
              <a:rPr dirty="0" err="1"/>
              <a:t>finalità</a:t>
            </a:r>
            <a:r>
              <a:rPr dirty="0"/>
              <a:t> di </a:t>
            </a:r>
            <a:r>
              <a:rPr dirty="0" err="1"/>
              <a:t>profitto</a:t>
            </a:r>
            <a:r>
              <a:rPr dirty="0"/>
              <a:t> propria </a:t>
            </a:r>
            <a:r>
              <a:rPr dirty="0" err="1"/>
              <a:t>ricorre</a:t>
            </a:r>
            <a:r>
              <a:rPr dirty="0"/>
              <a:t> </a:t>
            </a:r>
            <a:r>
              <a:rPr dirty="0" err="1"/>
              <a:t>l’ipotesi</a:t>
            </a:r>
            <a:r>
              <a:rPr dirty="0"/>
              <a:t> di </a:t>
            </a:r>
            <a:r>
              <a:rPr dirty="0" err="1"/>
              <a:t>concorso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.</a:t>
            </a:r>
          </a:p>
        </p:txBody>
      </p:sp>
      <p:sp>
        <p:nvSpPr>
          <p:cNvPr id="40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sp>
        <p:nvSpPr>
          <p:cNvPr id="406" name="Favoreggiamento reale"/>
          <p:cNvSpPr txBox="1"/>
          <p:nvPr/>
        </p:nvSpPr>
        <p:spPr>
          <a:xfrm>
            <a:off x="760341" y="155476"/>
            <a:ext cx="4216163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  <p:pic>
        <p:nvPicPr>
          <p:cNvPr id="40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ttangolo 4"/>
          <p:cNvSpPr txBox="1"/>
          <p:nvPr/>
        </p:nvSpPr>
        <p:spPr>
          <a:xfrm>
            <a:off x="99472" y="1966042"/>
            <a:ext cx="8945056" cy="2377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DIFFERENZE </a:t>
            </a:r>
            <a:r>
              <a:rPr lang="it-IT" dirty="0"/>
              <a:t>con la RICETTAZIONE</a:t>
            </a:r>
          </a:p>
          <a:p>
            <a:pPr algn="ctr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sostanziale</a:t>
            </a:r>
            <a:r>
              <a:rPr dirty="0"/>
              <a:t> </a:t>
            </a:r>
            <a:r>
              <a:rPr dirty="0" err="1"/>
              <a:t>differenza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 in </a:t>
            </a:r>
            <a:r>
              <a:rPr dirty="0" err="1"/>
              <a:t>questione</a:t>
            </a:r>
            <a:r>
              <a:rPr dirty="0"/>
              <a:t> e </a:t>
            </a:r>
            <a:r>
              <a:rPr dirty="0" err="1"/>
              <a:t>quello</a:t>
            </a:r>
            <a:r>
              <a:rPr dirty="0"/>
              <a:t> di </a:t>
            </a:r>
            <a:r>
              <a:rPr b="1" u="sng" dirty="0" err="1">
                <a:solidFill>
                  <a:srgbClr val="00B050"/>
                </a:solidFill>
              </a:rPr>
              <a:t>ricettazione</a:t>
            </a:r>
            <a:r>
              <a:rPr dirty="0"/>
              <a:t> </a:t>
            </a:r>
            <a:r>
              <a:rPr dirty="0" err="1"/>
              <a:t>sta</a:t>
            </a:r>
            <a:r>
              <a:rPr dirty="0"/>
              <a:t>, </a:t>
            </a:r>
            <a:r>
              <a:rPr dirty="0" err="1"/>
              <a:t>dunque</a:t>
            </a:r>
            <a:r>
              <a:rPr dirty="0"/>
              <a:t>, </a:t>
            </a:r>
            <a:r>
              <a:rPr dirty="0" err="1"/>
              <a:t>nel</a:t>
            </a:r>
            <a:r>
              <a:rPr dirty="0"/>
              <a:t> </a:t>
            </a:r>
            <a:r>
              <a:rPr b="1" dirty="0" err="1">
                <a:solidFill>
                  <a:srgbClr val="00B050"/>
                </a:solidFill>
              </a:rPr>
              <a:t>dolo</a:t>
            </a:r>
            <a:r>
              <a:rPr dirty="0"/>
              <a:t>: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favoreggiatore</a:t>
            </a:r>
            <a:r>
              <a:rPr dirty="0"/>
              <a:t> </a:t>
            </a:r>
            <a:r>
              <a:rPr dirty="0" err="1"/>
              <a:t>agisce</a:t>
            </a:r>
            <a:r>
              <a:rPr dirty="0"/>
              <a:t> con </a:t>
            </a:r>
            <a:r>
              <a:rPr dirty="0" err="1"/>
              <a:t>il</a:t>
            </a:r>
            <a:r>
              <a:rPr dirty="0"/>
              <a:t> fine di </a:t>
            </a:r>
            <a:r>
              <a:rPr dirty="0" err="1"/>
              <a:t>agevolare</a:t>
            </a:r>
            <a:r>
              <a:rPr dirty="0"/>
              <a:t> </a:t>
            </a:r>
            <a:r>
              <a:rPr dirty="0" err="1"/>
              <a:t>qualcuno</a:t>
            </a:r>
            <a:r>
              <a:rPr dirty="0"/>
              <a:t>, </a:t>
            </a:r>
            <a:r>
              <a:rPr dirty="0" err="1"/>
              <a:t>diverso</a:t>
            </a:r>
            <a:r>
              <a:rPr dirty="0"/>
              <a:t> da se </a:t>
            </a:r>
            <a:r>
              <a:rPr dirty="0" err="1"/>
              <a:t>stesso</a:t>
            </a:r>
            <a:r>
              <a:rPr dirty="0"/>
              <a:t>, </a:t>
            </a:r>
            <a:r>
              <a:rPr dirty="0" err="1"/>
              <a:t>mentre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ricettatore</a:t>
            </a:r>
            <a:r>
              <a:rPr dirty="0"/>
              <a:t> </a:t>
            </a:r>
            <a:r>
              <a:rPr dirty="0" err="1"/>
              <a:t>persegue</a:t>
            </a:r>
            <a:r>
              <a:rPr dirty="0"/>
              <a:t> </a:t>
            </a:r>
            <a:r>
              <a:rPr dirty="0" err="1"/>
              <a:t>uno</a:t>
            </a:r>
            <a:r>
              <a:rPr dirty="0"/>
              <a:t> </a:t>
            </a:r>
            <a:r>
              <a:rPr dirty="0" err="1"/>
              <a:t>scopo</a:t>
            </a:r>
            <a:r>
              <a:rPr dirty="0"/>
              <a:t> </a:t>
            </a:r>
            <a:r>
              <a:rPr dirty="0" err="1"/>
              <a:t>prettamente</a:t>
            </a:r>
            <a:r>
              <a:rPr dirty="0"/>
              <a:t> </a:t>
            </a:r>
            <a:r>
              <a:rPr dirty="0" err="1"/>
              <a:t>personale</a:t>
            </a:r>
            <a:r>
              <a:rPr dirty="0"/>
              <a:t>.</a:t>
            </a:r>
          </a:p>
        </p:txBody>
      </p:sp>
      <p:pic>
        <p:nvPicPr>
          <p:cNvPr id="41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Favoreggiamento reale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ttangolo 4"/>
          <p:cNvSpPr txBox="1"/>
          <p:nvPr/>
        </p:nvSpPr>
        <p:spPr>
          <a:xfrm>
            <a:off x="153224" y="882110"/>
            <a:ext cx="8736198" cy="51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385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Evasione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/>
              <a:t>Chiunque</a:t>
            </a:r>
            <a:r>
              <a:rPr dirty="0"/>
              <a:t>, </a:t>
            </a:r>
            <a:r>
              <a:rPr b="1" u="sng" dirty="0" err="1"/>
              <a:t>essendo</a:t>
            </a:r>
            <a:r>
              <a:rPr b="1" u="sng" dirty="0"/>
              <a:t> </a:t>
            </a:r>
            <a:r>
              <a:rPr b="1" u="sng" dirty="0" err="1"/>
              <a:t>legalmente</a:t>
            </a:r>
            <a:r>
              <a:rPr b="1" u="sng" dirty="0"/>
              <a:t> </a:t>
            </a:r>
            <a:r>
              <a:rPr b="1" u="sng" dirty="0" err="1"/>
              <a:t>arrestato</a:t>
            </a:r>
            <a:r>
              <a:rPr b="1" u="sng" dirty="0"/>
              <a:t> o </a:t>
            </a:r>
            <a:r>
              <a:rPr b="1" u="sng" dirty="0" err="1"/>
              <a:t>detenuto</a:t>
            </a:r>
            <a:r>
              <a:rPr dirty="0"/>
              <a:t> per un </a:t>
            </a:r>
            <a:r>
              <a:rPr dirty="0" err="1"/>
              <a:t>reato</a:t>
            </a:r>
            <a:r>
              <a:rPr dirty="0"/>
              <a:t>, </a:t>
            </a:r>
            <a:r>
              <a:rPr b="1" dirty="0">
                <a:solidFill>
                  <a:srgbClr val="7030A0"/>
                </a:solidFill>
              </a:rPr>
              <a:t>evade</a:t>
            </a:r>
            <a:r>
              <a:rPr dirty="0"/>
              <a:t>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da </a:t>
            </a:r>
            <a:r>
              <a:rPr dirty="0" err="1"/>
              <a:t>uno</a:t>
            </a:r>
            <a:r>
              <a:rPr dirty="0"/>
              <a:t> a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anni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reclusione</a:t>
            </a:r>
            <a:r>
              <a:rPr dirty="0"/>
              <a:t> da due a cinque </a:t>
            </a:r>
            <a:r>
              <a:rPr dirty="0" err="1"/>
              <a:t>anni</a:t>
            </a:r>
            <a:r>
              <a:rPr dirty="0"/>
              <a:t> 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colpevole</a:t>
            </a:r>
            <a:r>
              <a:rPr dirty="0"/>
              <a:t> </a:t>
            </a:r>
            <a:r>
              <a:rPr dirty="0" err="1"/>
              <a:t>commette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</a:t>
            </a:r>
            <a:r>
              <a:rPr b="1" dirty="0" err="1">
                <a:solidFill>
                  <a:srgbClr val="7030A0"/>
                </a:solidFill>
              </a:rPr>
              <a:t>usando</a:t>
            </a:r>
            <a:r>
              <a:rPr b="1" dirty="0">
                <a:solidFill>
                  <a:srgbClr val="7030A0"/>
                </a:solidFill>
              </a:rPr>
              <a:t> </a:t>
            </a:r>
            <a:r>
              <a:rPr b="1" dirty="0" err="1">
                <a:solidFill>
                  <a:srgbClr val="7030A0"/>
                </a:solidFill>
              </a:rPr>
              <a:t>violenza</a:t>
            </a:r>
            <a:r>
              <a:rPr b="1" dirty="0">
                <a:solidFill>
                  <a:srgbClr val="7030A0"/>
                </a:solidFill>
              </a:rPr>
              <a:t> o </a:t>
            </a:r>
            <a:r>
              <a:rPr b="1" dirty="0" err="1">
                <a:solidFill>
                  <a:srgbClr val="7030A0"/>
                </a:solidFill>
              </a:rPr>
              <a:t>minaccia</a:t>
            </a:r>
            <a:r>
              <a:rPr b="1" dirty="0">
                <a:solidFill>
                  <a:srgbClr val="7030A0"/>
                </a:solidFill>
              </a:rPr>
              <a:t> verso le </a:t>
            </a:r>
            <a:r>
              <a:rPr b="1" dirty="0" err="1">
                <a:solidFill>
                  <a:srgbClr val="7030A0"/>
                </a:solidFill>
              </a:rPr>
              <a:t>persone</a:t>
            </a:r>
            <a:r>
              <a:rPr b="1" dirty="0">
                <a:solidFill>
                  <a:srgbClr val="7030A0"/>
                </a:solidFill>
              </a:rPr>
              <a:t>, </a:t>
            </a:r>
            <a:r>
              <a:rPr b="1" dirty="0" err="1">
                <a:solidFill>
                  <a:srgbClr val="7030A0"/>
                </a:solidFill>
              </a:rPr>
              <a:t>ovvero</a:t>
            </a:r>
            <a:r>
              <a:rPr b="1" dirty="0">
                <a:solidFill>
                  <a:srgbClr val="7030A0"/>
                </a:solidFill>
              </a:rPr>
              <a:t> </a:t>
            </a:r>
            <a:r>
              <a:rPr b="1" dirty="0" err="1">
                <a:solidFill>
                  <a:srgbClr val="7030A0"/>
                </a:solidFill>
              </a:rPr>
              <a:t>mediante</a:t>
            </a:r>
            <a:r>
              <a:rPr b="1" dirty="0">
                <a:solidFill>
                  <a:srgbClr val="7030A0"/>
                </a:solidFill>
              </a:rPr>
              <a:t> </a:t>
            </a:r>
            <a:r>
              <a:rPr b="1" dirty="0" err="1">
                <a:solidFill>
                  <a:srgbClr val="7030A0"/>
                </a:solidFill>
              </a:rPr>
              <a:t>effrazione</a:t>
            </a:r>
            <a:r>
              <a:rPr dirty="0"/>
              <a:t>; ed è da </a:t>
            </a:r>
            <a:r>
              <a:rPr dirty="0" err="1"/>
              <a:t>tre</a:t>
            </a:r>
            <a:r>
              <a:rPr dirty="0"/>
              <a:t> a sei </a:t>
            </a:r>
            <a:r>
              <a:rPr dirty="0" err="1"/>
              <a:t>anni</a:t>
            </a:r>
            <a:r>
              <a:rPr dirty="0"/>
              <a:t> se la </a:t>
            </a:r>
            <a:r>
              <a:rPr dirty="0" err="1"/>
              <a:t>violenza</a:t>
            </a:r>
            <a:r>
              <a:rPr dirty="0"/>
              <a:t> o </a:t>
            </a:r>
            <a:r>
              <a:rPr dirty="0" err="1"/>
              <a:t>minaccia</a:t>
            </a:r>
            <a:r>
              <a:rPr dirty="0"/>
              <a:t> è </a:t>
            </a:r>
            <a:r>
              <a:rPr dirty="0" err="1"/>
              <a:t>commessa</a:t>
            </a:r>
            <a:r>
              <a:rPr dirty="0"/>
              <a:t> </a:t>
            </a:r>
            <a:r>
              <a:rPr b="1" dirty="0">
                <a:solidFill>
                  <a:srgbClr val="7030A0"/>
                </a:solidFill>
              </a:rPr>
              <a:t>con </a:t>
            </a:r>
            <a:r>
              <a:rPr b="1" dirty="0" err="1">
                <a:solidFill>
                  <a:srgbClr val="7030A0"/>
                </a:solidFill>
              </a:rPr>
              <a:t>armi</a:t>
            </a:r>
            <a:r>
              <a:rPr dirty="0"/>
              <a:t> [585²] o </a:t>
            </a:r>
            <a:r>
              <a:rPr b="1" dirty="0">
                <a:solidFill>
                  <a:srgbClr val="7030A0"/>
                </a:solidFill>
              </a:rPr>
              <a:t>da </a:t>
            </a:r>
            <a:r>
              <a:rPr b="1" dirty="0" err="1">
                <a:solidFill>
                  <a:srgbClr val="7030A0"/>
                </a:solidFill>
              </a:rPr>
              <a:t>più</a:t>
            </a:r>
            <a:r>
              <a:rPr b="1" dirty="0">
                <a:solidFill>
                  <a:srgbClr val="7030A0"/>
                </a:solidFill>
              </a:rPr>
              <a:t> </a:t>
            </a:r>
            <a:r>
              <a:rPr b="1" dirty="0" err="1">
                <a:solidFill>
                  <a:srgbClr val="7030A0"/>
                </a:solidFill>
              </a:rPr>
              <a:t>persone</a:t>
            </a:r>
            <a:r>
              <a:rPr b="1" dirty="0">
                <a:solidFill>
                  <a:srgbClr val="7030A0"/>
                </a:solidFill>
              </a:rPr>
              <a:t> </a:t>
            </a:r>
            <a:r>
              <a:rPr b="1" dirty="0" err="1">
                <a:solidFill>
                  <a:srgbClr val="7030A0"/>
                </a:solidFill>
              </a:rPr>
              <a:t>riunite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Le </a:t>
            </a:r>
            <a:r>
              <a:rPr dirty="0" err="1"/>
              <a:t>disposizioni</a:t>
            </a:r>
            <a:r>
              <a:rPr dirty="0"/>
              <a:t> </a:t>
            </a:r>
            <a:r>
              <a:rPr dirty="0" err="1"/>
              <a:t>precedenti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applicano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</a:t>
            </a:r>
            <a:r>
              <a:rPr b="1" dirty="0" err="1">
                <a:solidFill>
                  <a:srgbClr val="7030A0"/>
                </a:solidFill>
              </a:rPr>
              <a:t>all’imputato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essendo</a:t>
            </a:r>
            <a:r>
              <a:rPr dirty="0"/>
              <a:t> in </a:t>
            </a:r>
            <a:r>
              <a:rPr dirty="0" err="1"/>
              <a:t>stato</a:t>
            </a:r>
            <a:r>
              <a:rPr dirty="0"/>
              <a:t> di </a:t>
            </a: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nella</a:t>
            </a:r>
            <a:r>
              <a:rPr dirty="0"/>
              <a:t> propria </a:t>
            </a:r>
            <a:r>
              <a:rPr dirty="0" err="1"/>
              <a:t>abitazione</a:t>
            </a:r>
            <a:r>
              <a:rPr dirty="0"/>
              <a:t> o in </a:t>
            </a:r>
            <a:r>
              <a:rPr dirty="0" err="1"/>
              <a:t>altro</a:t>
            </a:r>
            <a:r>
              <a:rPr dirty="0"/>
              <a:t> </a:t>
            </a:r>
            <a:r>
              <a:rPr dirty="0" err="1"/>
              <a:t>luogo</a:t>
            </a:r>
            <a:r>
              <a:rPr dirty="0"/>
              <a:t> </a:t>
            </a:r>
            <a:r>
              <a:rPr dirty="0" err="1"/>
              <a:t>designato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provvedimento</a:t>
            </a:r>
            <a:r>
              <a:rPr dirty="0"/>
              <a:t>, se ne </a:t>
            </a:r>
            <a:r>
              <a:rPr dirty="0" err="1"/>
              <a:t>allontani</a:t>
            </a:r>
            <a:r>
              <a:rPr dirty="0"/>
              <a:t>, </a:t>
            </a:r>
            <a:r>
              <a:rPr dirty="0" err="1"/>
              <a:t>nonché</a:t>
            </a:r>
            <a:r>
              <a:rPr dirty="0"/>
              <a:t> al </a:t>
            </a:r>
            <a:r>
              <a:rPr b="1" dirty="0" err="1">
                <a:solidFill>
                  <a:srgbClr val="7030A0"/>
                </a:solidFill>
              </a:rPr>
              <a:t>condannato</a:t>
            </a:r>
            <a:r>
              <a:rPr dirty="0"/>
              <a:t> </a:t>
            </a:r>
            <a:r>
              <a:rPr dirty="0" err="1"/>
              <a:t>ammesso</a:t>
            </a:r>
            <a:r>
              <a:rPr dirty="0"/>
              <a:t> a </a:t>
            </a:r>
            <a:r>
              <a:rPr dirty="0" err="1"/>
              <a:t>lavorare</a:t>
            </a:r>
            <a:r>
              <a:rPr dirty="0"/>
              <a:t> </a:t>
            </a:r>
            <a:r>
              <a:rPr dirty="0" err="1"/>
              <a:t>fuori</a:t>
            </a:r>
            <a:r>
              <a:rPr dirty="0"/>
              <a:t> </a:t>
            </a:r>
            <a:r>
              <a:rPr dirty="0" err="1"/>
              <a:t>dello</a:t>
            </a:r>
            <a:r>
              <a:rPr dirty="0"/>
              <a:t> </a:t>
            </a:r>
            <a:r>
              <a:rPr dirty="0" err="1"/>
              <a:t>stabilimento</a:t>
            </a:r>
            <a:r>
              <a:rPr dirty="0"/>
              <a:t> </a:t>
            </a:r>
            <a:r>
              <a:rPr dirty="0" err="1"/>
              <a:t>penale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l’evaso</a:t>
            </a:r>
            <a:r>
              <a:rPr dirty="0"/>
              <a:t> </a:t>
            </a:r>
            <a:r>
              <a:rPr b="1" u="sng" dirty="0" err="1"/>
              <a:t>si</a:t>
            </a:r>
            <a:r>
              <a:rPr b="1" u="sng" dirty="0"/>
              <a:t> </a:t>
            </a:r>
            <a:r>
              <a:rPr b="1" u="sng" dirty="0" err="1"/>
              <a:t>costituisce</a:t>
            </a:r>
            <a:r>
              <a:rPr b="1" u="sng" dirty="0"/>
              <a:t> in </a:t>
            </a:r>
            <a:r>
              <a:rPr b="1" u="sng" dirty="0" err="1"/>
              <a:t>carcere</a:t>
            </a:r>
            <a:r>
              <a:rPr b="1" u="sng" dirty="0"/>
              <a:t> prima </a:t>
            </a:r>
            <a:r>
              <a:rPr b="1" u="sng" dirty="0" err="1"/>
              <a:t>della</a:t>
            </a:r>
            <a:r>
              <a:rPr b="1" u="sng" dirty="0"/>
              <a:t> </a:t>
            </a:r>
            <a:r>
              <a:rPr b="1" u="sng" dirty="0" err="1"/>
              <a:t>condanna</a:t>
            </a:r>
            <a:r>
              <a:rPr dirty="0"/>
              <a:t>, 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diminuita</a:t>
            </a:r>
            <a:r>
              <a:rPr dirty="0"/>
              <a:t>.»</a:t>
            </a:r>
          </a:p>
        </p:txBody>
      </p:sp>
      <p:pic>
        <p:nvPicPr>
          <p:cNvPr id="422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Rettangolo 5"/>
          <p:cNvSpPr txBox="1"/>
          <p:nvPr/>
        </p:nvSpPr>
        <p:spPr>
          <a:xfrm>
            <a:off x="3616266" y="5803405"/>
            <a:ext cx="5273156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b="0" u="none" dirty="0"/>
              <a:t>:</a:t>
            </a:r>
            <a:endParaRPr b="0" dirty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42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Evasione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ttangolo 4"/>
          <p:cNvSpPr txBox="1"/>
          <p:nvPr/>
        </p:nvSpPr>
        <p:spPr>
          <a:xfrm>
            <a:off x="81216" y="908720"/>
            <a:ext cx="8945056" cy="557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00B050"/>
                </a:solidFill>
              </a:rPr>
              <a:t>INTERESSE TUTELATO </a:t>
            </a:r>
            <a:r>
              <a:rPr b="0" dirty="0"/>
              <a:t>è </a:t>
            </a:r>
            <a:r>
              <a:rPr b="0" dirty="0" err="1"/>
              <a:t>il</a:t>
            </a:r>
            <a:r>
              <a:rPr b="0" dirty="0"/>
              <a:t> </a:t>
            </a:r>
            <a:r>
              <a:rPr b="0" dirty="0" err="1"/>
              <a:t>corretto</a:t>
            </a:r>
            <a:r>
              <a:rPr b="0" dirty="0"/>
              <a:t> </a:t>
            </a:r>
            <a:r>
              <a:rPr b="0" dirty="0" err="1"/>
              <a:t>funzionamento</a:t>
            </a:r>
            <a:r>
              <a:rPr b="0" dirty="0"/>
              <a:t> </a:t>
            </a:r>
            <a:r>
              <a:rPr b="0" dirty="0" err="1"/>
              <a:t>dell'amministrazione</a:t>
            </a:r>
            <a:r>
              <a:rPr b="0" dirty="0"/>
              <a:t> </a:t>
            </a:r>
            <a:r>
              <a:rPr b="0" dirty="0" err="1"/>
              <a:t>della</a:t>
            </a:r>
            <a:r>
              <a:rPr b="0" dirty="0"/>
              <a:t> </a:t>
            </a:r>
            <a:r>
              <a:rPr b="0" dirty="0" err="1"/>
              <a:t>giustizia</a:t>
            </a:r>
            <a:r>
              <a:rPr b="0" dirty="0"/>
              <a:t>, </a:t>
            </a:r>
            <a:r>
              <a:rPr lang="it-IT" sz="2200" b="0" dirty="0">
                <a:sym typeface="Times New Roman"/>
              </a:rPr>
              <a:t>inteso come </a:t>
            </a:r>
            <a:r>
              <a:rPr lang="fr-FR" sz="2200" b="0" dirty="0">
                <a:sym typeface="Times New Roman"/>
              </a:rPr>
              <a:t>il </a:t>
            </a:r>
            <a:r>
              <a:rPr lang="it-IT" sz="2200" u="sng" dirty="0">
                <a:sym typeface="Times New Roman"/>
              </a:rPr>
              <a:t>rispetto delle decisioni </a:t>
            </a:r>
            <a:r>
              <a:rPr lang="it-IT" sz="2200" u="sng" dirty="0" err="1">
                <a:sym typeface="Times New Roman"/>
              </a:rPr>
              <a:t>dell</a:t>
            </a:r>
            <a:r>
              <a:rPr lang="ar-SA" sz="2200" u="sng" dirty="0">
                <a:sym typeface="Times New Roman"/>
              </a:rPr>
              <a:t>’</a:t>
            </a:r>
            <a:r>
              <a:rPr lang="it-IT" sz="2200" u="sng" dirty="0">
                <a:sym typeface="Times New Roman"/>
              </a:rPr>
              <a:t>Autorità giudiziaria</a:t>
            </a:r>
            <a:r>
              <a:rPr lang="it-IT" sz="2200" b="0" dirty="0">
                <a:sym typeface="Times New Roman"/>
              </a:rPr>
              <a:t>, a salvaguardia delle misure che impongono forme di detenzione o restrizioni della libertà personale. </a:t>
            </a: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b="0" dirty="0">
              <a:sym typeface="Times New Roman"/>
            </a:endParaRP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u="none" dirty="0"/>
              <a:t>: </a:t>
            </a:r>
            <a:r>
              <a:rPr b="0" u="none" dirty="0" err="1"/>
              <a:t>consiste</a:t>
            </a:r>
            <a:r>
              <a:rPr b="0" u="none" dirty="0"/>
              <a:t> in una </a:t>
            </a:r>
            <a:r>
              <a:rPr b="0" u="none" dirty="0" err="1"/>
              <a:t>condotta</a:t>
            </a:r>
            <a:r>
              <a:rPr b="0" u="none" dirty="0"/>
              <a:t> </a:t>
            </a:r>
            <a:r>
              <a:rPr b="0" u="none" dirty="0" err="1"/>
              <a:t>che</a:t>
            </a:r>
            <a:r>
              <a:rPr b="0" u="none" dirty="0"/>
              <a:t> </a:t>
            </a:r>
            <a:r>
              <a:rPr b="0" u="none" dirty="0" err="1"/>
              <a:t>si</a:t>
            </a:r>
            <a:r>
              <a:rPr b="0" u="none" dirty="0"/>
              <a:t> </a:t>
            </a:r>
            <a:r>
              <a:rPr b="0" u="none" dirty="0" err="1"/>
              <a:t>sostanzia</a:t>
            </a:r>
            <a:r>
              <a:rPr b="0" u="none" dirty="0"/>
              <a:t> </a:t>
            </a:r>
            <a:r>
              <a:rPr b="0" u="none" dirty="0" err="1"/>
              <a:t>nel</a:t>
            </a:r>
            <a:r>
              <a:rPr b="0" u="none" dirty="0"/>
              <a:t> </a:t>
            </a:r>
            <a:r>
              <a:rPr u="none" dirty="0" err="1">
                <a:solidFill>
                  <a:srgbClr val="7030A0"/>
                </a:solidFill>
              </a:rPr>
              <a:t>riacquistare</a:t>
            </a:r>
            <a:r>
              <a:rPr u="none" dirty="0">
                <a:solidFill>
                  <a:srgbClr val="7030A0"/>
                </a:solidFill>
              </a:rPr>
              <a:t> la propria </a:t>
            </a:r>
            <a:r>
              <a:rPr u="none" dirty="0" err="1">
                <a:solidFill>
                  <a:srgbClr val="7030A0"/>
                </a:solidFill>
              </a:rPr>
              <a:t>libertà</a:t>
            </a:r>
            <a:r>
              <a:rPr u="none" dirty="0">
                <a:solidFill>
                  <a:srgbClr val="7030A0"/>
                </a:solidFill>
              </a:rPr>
              <a:t> </a:t>
            </a:r>
            <a:r>
              <a:rPr u="none" dirty="0" err="1">
                <a:solidFill>
                  <a:srgbClr val="7030A0"/>
                </a:solidFill>
              </a:rPr>
              <a:t>personale</a:t>
            </a:r>
            <a:r>
              <a:rPr u="none" dirty="0">
                <a:solidFill>
                  <a:srgbClr val="7030A0"/>
                </a:solidFill>
              </a:rPr>
              <a:t> </a:t>
            </a:r>
            <a:r>
              <a:rPr u="none" dirty="0" err="1">
                <a:solidFill>
                  <a:srgbClr val="7030A0"/>
                </a:solidFill>
              </a:rPr>
              <a:t>eludendo</a:t>
            </a:r>
            <a:r>
              <a:rPr u="none" dirty="0">
                <a:solidFill>
                  <a:srgbClr val="7030A0"/>
                </a:solidFill>
              </a:rPr>
              <a:t> la </a:t>
            </a:r>
            <a:r>
              <a:rPr u="none" dirty="0" err="1">
                <a:solidFill>
                  <a:srgbClr val="7030A0"/>
                </a:solidFill>
              </a:rPr>
              <a:t>sorveglianza</a:t>
            </a:r>
            <a:r>
              <a:rPr b="0" u="none" dirty="0"/>
              <a:t> </a:t>
            </a:r>
            <a:r>
              <a:rPr b="0" u="none" dirty="0" err="1"/>
              <a:t>degli</a:t>
            </a:r>
            <a:r>
              <a:rPr b="0" u="none" dirty="0"/>
              <a:t> </a:t>
            </a:r>
            <a:r>
              <a:rPr b="0" u="none" dirty="0" err="1"/>
              <a:t>organi</a:t>
            </a:r>
            <a:r>
              <a:rPr b="0" u="none" dirty="0"/>
              <a:t> </a:t>
            </a:r>
            <a:r>
              <a:rPr b="0" u="none" dirty="0" err="1"/>
              <a:t>deputati</a:t>
            </a:r>
            <a:r>
              <a:rPr b="0" u="none" dirty="0"/>
              <a:t> a </a:t>
            </a:r>
            <a:r>
              <a:rPr b="0" u="none" dirty="0" err="1"/>
              <a:t>svolgere</a:t>
            </a:r>
            <a:r>
              <a:rPr b="0" u="none" dirty="0"/>
              <a:t> </a:t>
            </a:r>
            <a:r>
              <a:rPr b="0" u="none" dirty="0" err="1"/>
              <a:t>un'attività</a:t>
            </a:r>
            <a:r>
              <a:rPr b="0" u="none" dirty="0"/>
              <a:t> di </a:t>
            </a:r>
            <a:r>
              <a:rPr b="0" u="none" dirty="0" err="1"/>
              <a:t>vigilanza</a:t>
            </a:r>
            <a:r>
              <a:rPr b="0" u="none" dirty="0"/>
              <a:t> </a:t>
            </a:r>
            <a:r>
              <a:rPr b="0" u="none" dirty="0" err="1"/>
              <a:t>nei</a:t>
            </a:r>
            <a:r>
              <a:rPr b="0" u="none" dirty="0"/>
              <a:t> </a:t>
            </a:r>
            <a:r>
              <a:rPr b="0" u="none" dirty="0" err="1"/>
              <a:t>confronti</a:t>
            </a:r>
            <a:r>
              <a:rPr b="0" u="none" dirty="0"/>
              <a:t> di un </a:t>
            </a:r>
            <a:r>
              <a:rPr b="0" u="none" dirty="0" err="1"/>
              <a:t>soggetto</a:t>
            </a:r>
            <a:r>
              <a:rPr b="0" u="none" dirty="0"/>
              <a:t> </a:t>
            </a:r>
            <a:r>
              <a:rPr b="0" u="none" dirty="0" err="1"/>
              <a:t>che</a:t>
            </a:r>
            <a:r>
              <a:rPr b="0" u="none" dirty="0"/>
              <a:t> </a:t>
            </a:r>
            <a:r>
              <a:rPr b="0" u="none" dirty="0" err="1"/>
              <a:t>si</a:t>
            </a:r>
            <a:r>
              <a:rPr b="0" u="none" dirty="0"/>
              <a:t> </a:t>
            </a:r>
            <a:r>
              <a:rPr b="0" u="none" dirty="0" err="1"/>
              <a:t>trova</a:t>
            </a:r>
            <a:r>
              <a:rPr b="0" u="none" dirty="0"/>
              <a:t> in un </a:t>
            </a:r>
            <a:r>
              <a:rPr b="0" u="none" dirty="0" err="1"/>
              <a:t>legittimo</a:t>
            </a:r>
            <a:r>
              <a:rPr b="0" u="none" dirty="0"/>
              <a:t> </a:t>
            </a:r>
            <a:r>
              <a:rPr b="0" u="none" dirty="0" err="1"/>
              <a:t>stato</a:t>
            </a:r>
            <a:r>
              <a:rPr b="0" u="none" dirty="0"/>
              <a:t> di </a:t>
            </a:r>
            <a:r>
              <a:rPr b="0" u="none" dirty="0" err="1"/>
              <a:t>arresto</a:t>
            </a:r>
            <a:r>
              <a:rPr b="0" u="none" dirty="0"/>
              <a:t> o </a:t>
            </a:r>
            <a:r>
              <a:rPr b="0" u="none" dirty="0" err="1"/>
              <a:t>detenzione</a:t>
            </a:r>
            <a:r>
              <a:rPr b="0" u="none" dirty="0"/>
              <a:t>. </a:t>
            </a:r>
            <a:r>
              <a:rPr b="0" u="none" dirty="0" err="1"/>
              <a:t>Altra</a:t>
            </a:r>
            <a:r>
              <a:rPr b="0" u="none" dirty="0"/>
              <a:t> forma di </a:t>
            </a:r>
            <a:r>
              <a:rPr b="0" u="none" dirty="0" err="1"/>
              <a:t>condotta</a:t>
            </a:r>
            <a:r>
              <a:rPr b="0" u="none" dirty="0"/>
              <a:t> è </a:t>
            </a:r>
            <a:r>
              <a:rPr u="none" dirty="0" err="1">
                <a:solidFill>
                  <a:srgbClr val="7030A0"/>
                </a:solidFill>
              </a:rPr>
              <a:t>l’allontanamento</a:t>
            </a:r>
            <a:r>
              <a:rPr b="0" u="none" dirty="0"/>
              <a:t>.</a:t>
            </a:r>
            <a:endParaRPr lang="it-IT" b="0" u="none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0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0" u="none" dirty="0"/>
              <a:t>Il reato pertanto si configura anche se l’</a:t>
            </a:r>
            <a:r>
              <a:rPr lang="it-IT" u="none" dirty="0">
                <a:solidFill>
                  <a:srgbClr val="7030A0"/>
                </a:solidFill>
              </a:rPr>
              <a:t>allontanamento</a:t>
            </a:r>
            <a:r>
              <a:rPr lang="it-IT" b="0" u="none" dirty="0"/>
              <a:t> sia di </a:t>
            </a:r>
            <a:r>
              <a:rPr lang="it-IT" u="sng" dirty="0"/>
              <a:t>breve durata </a:t>
            </a:r>
            <a:r>
              <a:rPr lang="it-IT" b="0" u="none" dirty="0"/>
              <a:t>ed implichi uno spostamento di modesta distanza, non assumendo alcun rilievo, a tal fine, la durata o la distanza dello spostamento.</a:t>
            </a:r>
            <a:endParaRPr b="0" u="none" dirty="0"/>
          </a:p>
          <a:p>
            <a:pPr algn="just">
              <a:lnSpc>
                <a:spcPct val="114000"/>
              </a:lnSpc>
              <a:defRPr sz="5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</p:txBody>
      </p:sp>
      <p:pic>
        <p:nvPicPr>
          <p:cNvPr id="427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Evasione</a:t>
            </a:r>
            <a:endParaRPr dirty="0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C2984E-2382-424C-B0A3-910E5FAD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08186"/>
            <a:ext cx="8229600" cy="5117978"/>
          </a:xfrm>
        </p:spPr>
        <p:txBody>
          <a:bodyPr>
            <a:normAutofit lnSpcReduction="10000"/>
          </a:bodyPr>
          <a:lstStyle/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>
                <a:latin typeface="Book Antiqua" panose="02040602050305030304" pitchFamily="18" charset="0"/>
                <a:cs typeface="Times New Roman"/>
                <a:sym typeface="Times New Roman"/>
              </a:rPr>
              <a:t>Il termine </a:t>
            </a: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  <a:sym typeface="Times New Roman"/>
              </a:rPr>
              <a:t>ARRESTO</a:t>
            </a:r>
            <a:r>
              <a:rPr lang="it-IT" dirty="0">
                <a:latin typeface="Book Antiqua" panose="02040602050305030304" pitchFamily="18" charset="0"/>
                <a:cs typeface="Times New Roman"/>
                <a:sym typeface="Times New Roman"/>
              </a:rPr>
              <a:t> ricomprende in sé </a:t>
            </a:r>
            <a:r>
              <a:rPr lang="it-IT" b="1" dirty="0">
                <a:latin typeface="Book Antiqua" panose="02040602050305030304" pitchFamily="18" charset="0"/>
                <a:cs typeface="Times New Roman"/>
                <a:sym typeface="Times New Roman"/>
              </a:rPr>
              <a:t>ANCHE IL </a:t>
            </a: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  <a:sym typeface="Times New Roman"/>
              </a:rPr>
              <a:t>FERMO</a:t>
            </a:r>
            <a:r>
              <a:rPr lang="it-IT" b="1" dirty="0">
                <a:latin typeface="Book Antiqua" panose="02040602050305030304" pitchFamily="18" charset="0"/>
                <a:cs typeface="Times New Roman"/>
                <a:sym typeface="Times New Roman"/>
              </a:rPr>
              <a:t> </a:t>
            </a:r>
            <a:r>
              <a:rPr lang="it-IT" dirty="0">
                <a:latin typeface="Book Antiqua" panose="02040602050305030304" pitchFamily="18" charset="0"/>
                <a:cs typeface="Times New Roman"/>
                <a:sym typeface="Times New Roman"/>
              </a:rPr>
              <a:t>della polizia;</a:t>
            </a:r>
            <a:endParaRPr lang="it-IT" b="1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b="1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</a:rPr>
              <a:t>L'ARRESTO</a:t>
            </a:r>
            <a:r>
              <a:rPr lang="it-IT" dirty="0">
                <a:latin typeface="Book Antiqua" panose="02040602050305030304" pitchFamily="18" charset="0"/>
              </a:rPr>
              <a:t> e il </a:t>
            </a: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</a:rPr>
              <a:t>FERMO</a:t>
            </a:r>
            <a:r>
              <a:rPr lang="it-IT" dirty="0">
                <a:latin typeface="Book Antiqua" panose="02040602050305030304" pitchFamily="18" charset="0"/>
              </a:rPr>
              <a:t> sono provvedimenti che rappresentano un'anticipazione di quella tutela predisposta mediante le misure cautelari, dalle quali si differenziano per il connotato dell'</a:t>
            </a:r>
            <a:r>
              <a:rPr lang="it-IT" b="1" u="sng" dirty="0">
                <a:latin typeface="Book Antiqua" panose="02040602050305030304" pitchFamily="18" charset="0"/>
              </a:rPr>
              <a:t>urgenza</a:t>
            </a:r>
            <a:r>
              <a:rPr lang="it-IT" dirty="0">
                <a:latin typeface="Book Antiqua" panose="02040602050305030304" pitchFamily="18" charset="0"/>
              </a:rPr>
              <a:t> e </a:t>
            </a:r>
            <a:r>
              <a:rPr lang="it-IT" b="1" u="sng" dirty="0">
                <a:latin typeface="Book Antiqua" panose="02040602050305030304" pitchFamily="18" charset="0"/>
              </a:rPr>
              <a:t>l'assenza di un provvedimento dell'Autorità Giudiziaria</a:t>
            </a:r>
            <a:r>
              <a:rPr lang="it-IT" dirty="0">
                <a:latin typeface="Book Antiqua" panose="02040602050305030304" pitchFamily="18" charset="0"/>
              </a:rPr>
              <a:t> che interviene solo successivamente nelle forme della convalida.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AB19AAA-F033-402F-AE2D-3BCD28AFA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697" y="149386"/>
            <a:ext cx="2658862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Evasione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6D446E6B-6CAA-46D4-BECC-38ED084EA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75638090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B5A9D9-581F-4B1B-BB1C-9F7731E0F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2646"/>
            <a:ext cx="8229600" cy="488351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</a:rPr>
              <a:t>L'ARRESTO</a:t>
            </a:r>
          </a:p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consiste in una </a:t>
            </a:r>
            <a:r>
              <a:rPr lang="it-IT" b="1" dirty="0">
                <a:latin typeface="Book Antiqua" panose="02040602050305030304" pitchFamily="18" charset="0"/>
              </a:rPr>
              <a:t>temporanea privazione della libertà personale</a:t>
            </a:r>
            <a:r>
              <a:rPr lang="it-IT" dirty="0">
                <a:latin typeface="Book Antiqua" panose="02040602050305030304" pitchFamily="18" charset="0"/>
              </a:rPr>
              <a:t> che la P.G. dispone a carico di </a:t>
            </a:r>
            <a:r>
              <a:rPr lang="it-IT" u="sng" dirty="0">
                <a:latin typeface="Book Antiqua" panose="02040602050305030304" pitchFamily="18" charset="0"/>
              </a:rPr>
              <a:t>"chi viene colto nell'atto di commettere il reato"</a:t>
            </a:r>
            <a:r>
              <a:rPr lang="it-IT" dirty="0">
                <a:latin typeface="Book Antiqua" panose="02040602050305030304" pitchFamily="18" charset="0"/>
              </a:rPr>
              <a:t> (c.d. flagranza propria) </a:t>
            </a:r>
          </a:p>
          <a:p>
            <a:pPr marL="0" indent="0" algn="ctr">
              <a:buNone/>
            </a:pPr>
            <a:r>
              <a:rPr lang="it-IT" dirty="0">
                <a:latin typeface="Book Antiqua" panose="02040602050305030304" pitchFamily="18" charset="0"/>
              </a:rPr>
              <a:t>Oppure</a:t>
            </a:r>
          </a:p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 di </a:t>
            </a:r>
            <a:r>
              <a:rPr lang="it-IT" u="sng" dirty="0">
                <a:latin typeface="Book Antiqua" panose="02040602050305030304" pitchFamily="18" charset="0"/>
              </a:rPr>
              <a:t>"chi, subito dopo il reato, è inseguito dalla polizia giudiziaria, dalla persona offesa o da altre persone ovvero è sorpreso con cose o tracce dalle quali appaia che egli abbia commesso il reato immediatamente prima" </a:t>
            </a:r>
            <a:r>
              <a:rPr lang="it-IT" dirty="0">
                <a:latin typeface="Book Antiqua" panose="02040602050305030304" pitchFamily="18" charset="0"/>
              </a:rPr>
              <a:t>(c.d. flagranza impropria) (art. 382 c.p.p.).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8E5255F-19AC-44B8-BFDC-5E509C91B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675" y="149386"/>
            <a:ext cx="3173767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Evasione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308242A6-FAE2-44EF-95A2-7B61BE1D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9374054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C071232-CD78-40E7-BF3C-9FFC652A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27464"/>
            <a:ext cx="8229600" cy="558115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</a:rPr>
              <a:t>IL FERMO (ART. 384 C.P.P.)</a:t>
            </a:r>
          </a:p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Consiste in una privazione della libertà personale che </a:t>
            </a:r>
            <a:r>
              <a:rPr lang="it-IT" b="1" u="sng" dirty="0">
                <a:latin typeface="Book Antiqua" panose="02040602050305030304" pitchFamily="18" charset="0"/>
              </a:rPr>
              <a:t>il P.M.</a:t>
            </a:r>
            <a:r>
              <a:rPr lang="it-IT" dirty="0">
                <a:latin typeface="Book Antiqua" panose="02040602050305030304" pitchFamily="18" charset="0"/>
              </a:rPr>
              <a:t> dispone, </a:t>
            </a:r>
            <a:r>
              <a:rPr lang="it-IT" u="sng" dirty="0">
                <a:latin typeface="Book Antiqua" panose="02040602050305030304" pitchFamily="18" charset="0"/>
              </a:rPr>
              <a:t>"anche fuori dei casi di flagranza, </a:t>
            </a:r>
            <a:r>
              <a:rPr lang="it-IT" dirty="0">
                <a:latin typeface="Book Antiqua" panose="02040602050305030304" pitchFamily="18" charset="0"/>
              </a:rPr>
              <a:t>quando sussistono specifici elementi che fanno ritenere fondato il </a:t>
            </a:r>
            <a:r>
              <a:rPr lang="it-IT" b="1" u="sng" dirty="0">
                <a:latin typeface="Book Antiqua" panose="02040602050305030304" pitchFamily="18" charset="0"/>
              </a:rPr>
              <a:t>pericolo di fuga</a:t>
            </a:r>
            <a:r>
              <a:rPr lang="it-IT" dirty="0">
                <a:latin typeface="Book Antiqua" panose="02040602050305030304" pitchFamily="18" charset="0"/>
              </a:rPr>
              <a:t>" a carico della "persona gravemente indiziata di un delitto per il quale la legge stabilisce la pena dell'ergastolo o della reclusione non inferiore nel minimo a due anni e superiore nel massimo a sei anni ovvero di un delitto concernente le armi da guerra e gli esplosivi o di un delitto commesso per finalità di terrorismo, anche internazionale, o di eversione dell'ordine democratico".</a:t>
            </a: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Book Antiqua" panose="02040602050305030304" pitchFamily="18" charset="0"/>
              </a:rPr>
              <a:t>SCOPO</a:t>
            </a:r>
            <a:r>
              <a:rPr lang="it-IT" dirty="0">
                <a:latin typeface="Book Antiqua" panose="02040602050305030304" pitchFamily="18" charset="0"/>
              </a:rPr>
              <a:t>: di </a:t>
            </a:r>
            <a:r>
              <a:rPr lang="it-IT" b="1" u="sng" dirty="0">
                <a:latin typeface="Book Antiqua" panose="02040602050305030304" pitchFamily="18" charset="0"/>
              </a:rPr>
              <a:t>impedire che l'indagato possa darsi alla fuga </a:t>
            </a:r>
            <a:r>
              <a:rPr lang="it-IT" dirty="0">
                <a:latin typeface="Book Antiqua" panose="02040602050305030304" pitchFamily="18" charset="0"/>
              </a:rPr>
              <a:t>soprattutto quando, mancando il presupposto della flagranza, non può procedersi all'arresto.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C04A407-5B46-4D06-9114-DBF895E84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330" y="149386"/>
            <a:ext cx="3298054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Evasione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FFECA0ED-0DED-43C0-83F2-C310D0E1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2702890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1F4629-63EC-4E67-AF66-31122BB29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43354"/>
            <a:ext cx="8229600" cy="543734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>
                <a:latin typeface="Book Antiqua" panose="02040602050305030304" pitchFamily="18" charset="0"/>
              </a:rPr>
              <a:t>Al </a:t>
            </a:r>
            <a:r>
              <a:rPr lang="it-IT" b="1" dirty="0">
                <a:solidFill>
                  <a:srgbClr val="FF0000"/>
                </a:solidFill>
                <a:latin typeface="Book Antiqua" panose="02040602050305030304" pitchFamily="18" charset="0"/>
              </a:rPr>
              <a:t>FERMO</a:t>
            </a:r>
            <a:r>
              <a:rPr lang="it-IT" dirty="0">
                <a:latin typeface="Book Antiqua" panose="02040602050305030304" pitchFamily="18" charset="0"/>
              </a:rPr>
              <a:t> può procedere anche la </a:t>
            </a:r>
            <a:r>
              <a:rPr lang="it-IT" b="1" u="sng" dirty="0">
                <a:latin typeface="Book Antiqua" panose="02040602050305030304" pitchFamily="18" charset="0"/>
              </a:rPr>
              <a:t>P.G. di propria iniziativa</a:t>
            </a:r>
            <a:r>
              <a:rPr lang="it-IT" dirty="0">
                <a:latin typeface="Book Antiqua" panose="02040602050305030304" pitchFamily="18" charset="0"/>
              </a:rPr>
              <a:t> quando:</a:t>
            </a:r>
          </a:p>
          <a:p>
            <a:pPr marL="0" indent="0" algn="just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algn="just"/>
            <a:r>
              <a:rPr lang="it-IT" dirty="0">
                <a:latin typeface="Book Antiqua" panose="02040602050305030304" pitchFamily="18" charset="0"/>
              </a:rPr>
              <a:t>ancora </a:t>
            </a:r>
            <a:r>
              <a:rPr lang="it-IT" u="sng" dirty="0">
                <a:latin typeface="Book Antiqua" panose="02040602050305030304" pitchFamily="18" charset="0"/>
              </a:rPr>
              <a:t>non vi sia stata l'assunzione della direzione delle indagini da parte del P.M.;</a:t>
            </a:r>
          </a:p>
          <a:p>
            <a:pPr algn="just"/>
            <a:endParaRPr lang="it-IT" u="sng" dirty="0">
              <a:latin typeface="Book Antiqua" panose="02040602050305030304" pitchFamily="18" charset="0"/>
            </a:endParaRPr>
          </a:p>
          <a:p>
            <a:pPr algn="just"/>
            <a:r>
              <a:rPr lang="it-IT" dirty="0">
                <a:latin typeface="Book Antiqua" panose="02040602050305030304" pitchFamily="18" charset="0"/>
              </a:rPr>
              <a:t>"qualora sia successivamente individuato l'indiziato ovvero sopravvengano specifici elementi, quali il </a:t>
            </a:r>
            <a:r>
              <a:rPr lang="it-IT" u="sng" dirty="0">
                <a:latin typeface="Book Antiqua" panose="02040602050305030304" pitchFamily="18" charset="0"/>
              </a:rPr>
              <a:t>possesso di documenti falsi</a:t>
            </a:r>
            <a:r>
              <a:rPr lang="it-IT" dirty="0">
                <a:latin typeface="Book Antiqua" panose="02040602050305030304" pitchFamily="18" charset="0"/>
              </a:rPr>
              <a:t>, che rendano fondato il pericolo che l'indiziato sia per </a:t>
            </a:r>
            <a:r>
              <a:rPr lang="it-IT" u="sng" dirty="0">
                <a:latin typeface="Book Antiqua" panose="02040602050305030304" pitchFamily="18" charset="0"/>
              </a:rPr>
              <a:t>darsi alla fuga </a:t>
            </a:r>
            <a:r>
              <a:rPr lang="it-IT" dirty="0">
                <a:latin typeface="Book Antiqua" panose="02040602050305030304" pitchFamily="18" charset="0"/>
              </a:rPr>
              <a:t>e non sia possibile, per la situazione di urgenza, attendere il provvedimento del pubblico ministero".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F9EA799-6D98-4622-A5D2-68187532F0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787" y="86075"/>
            <a:ext cx="4496539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rPr dirty="0" err="1"/>
              <a:t>Evasione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78AAB99F-86E9-41B1-B71C-43C6C091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47947977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09ABDF-E6D5-4CA8-B56A-A0818BB7D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13896"/>
            <a:ext cx="8229600" cy="4812268"/>
          </a:xfrm>
        </p:spPr>
        <p:txBody>
          <a:bodyPr>
            <a:normAutofit fontScale="85000" lnSpcReduction="20000"/>
          </a:bodyPr>
          <a:lstStyle/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800" dirty="0">
                <a:latin typeface="Book Antiqua" panose="02040602050305030304" pitchFamily="18" charset="0"/>
                <a:cs typeface="Times New Roman"/>
                <a:sym typeface="Times New Roman"/>
              </a:rPr>
              <a:t>la </a:t>
            </a:r>
            <a:r>
              <a:rPr lang="it-IT" sz="2800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/>
                <a:sym typeface="Times New Roman"/>
              </a:rPr>
              <a:t>DETENZIONE</a:t>
            </a:r>
            <a:r>
              <a:rPr lang="it-IT" sz="2800" dirty="0">
                <a:latin typeface="Book Antiqua" panose="02040602050305030304" pitchFamily="18" charset="0"/>
                <a:cs typeface="Times New Roman"/>
                <a:sym typeface="Times New Roman"/>
              </a:rPr>
              <a:t>, invece, è la misura a cui viene sottoposto l'imputato.</a:t>
            </a: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5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900" dirty="0">
              <a:latin typeface="Book Antiqua" panose="02040602050305030304" pitchFamily="18" charset="0"/>
              <a:cs typeface="Times New Roman"/>
              <a:sym typeface="Times New Roman"/>
            </a:endParaRP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800" dirty="0">
                <a:latin typeface="Book Antiqua" panose="02040602050305030304" pitchFamily="18" charset="0"/>
                <a:cs typeface="Times New Roman"/>
                <a:sym typeface="Times New Roman"/>
              </a:rPr>
              <a:t>Il reato in questione è configurabile non solo quando il soggetto è </a:t>
            </a:r>
            <a:r>
              <a:rPr lang="it-IT" sz="2800" b="1" u="sng" dirty="0">
                <a:latin typeface="Book Antiqua" panose="02040602050305030304" pitchFamily="18" charset="0"/>
                <a:cs typeface="Times New Roman"/>
                <a:sym typeface="Times New Roman"/>
              </a:rPr>
              <a:t>detenuto in carcere</a:t>
            </a:r>
            <a:r>
              <a:rPr lang="it-IT" sz="2800" dirty="0">
                <a:latin typeface="Book Antiqua" panose="02040602050305030304" pitchFamily="18" charset="0"/>
                <a:cs typeface="Times New Roman"/>
                <a:sym typeface="Times New Roman"/>
              </a:rPr>
              <a:t>, ma anche quando è sottoposto degli </a:t>
            </a:r>
            <a:r>
              <a:rPr lang="it-IT" sz="2800" b="1" u="sng" dirty="0">
                <a:latin typeface="Book Antiqua" panose="02040602050305030304" pitchFamily="18" charset="0"/>
                <a:cs typeface="Times New Roman"/>
                <a:sym typeface="Times New Roman"/>
              </a:rPr>
              <a:t>arresti domiciliari</a:t>
            </a:r>
            <a:r>
              <a:rPr lang="it-IT" sz="2800" dirty="0">
                <a:latin typeface="Book Antiqua" panose="02040602050305030304" pitchFamily="18" charset="0"/>
                <a:cs typeface="Times New Roman"/>
                <a:sym typeface="Times New Roman"/>
              </a:rPr>
              <a:t>.</a:t>
            </a: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800" dirty="0">
              <a:latin typeface="Book Antiqua" panose="02040602050305030304" pitchFamily="18" charset="0"/>
              <a:cs typeface="Times New Roman"/>
              <a:sym typeface="Times New Roman"/>
            </a:endParaRPr>
          </a:p>
          <a:p>
            <a:pPr algn="just"/>
            <a:r>
              <a:rPr lang="it-IT" dirty="0">
                <a:latin typeface="Book Antiqua" panose="02040602050305030304" pitchFamily="18" charset="0"/>
                <a:cs typeface="Times New Roman" panose="02020603050405020304" pitchFamily="18" charset="0"/>
              </a:rPr>
              <a:t>La detenzione si ha quando la privazione della libertà sia avvenuta in esecuzione del </a:t>
            </a:r>
            <a:r>
              <a:rPr lang="it-IT" u="sng" dirty="0">
                <a:latin typeface="Book Antiqua" panose="02040602050305030304" pitchFamily="18" charset="0"/>
                <a:cs typeface="Times New Roman" panose="02020603050405020304" pitchFamily="18" charset="0"/>
              </a:rPr>
              <a:t>provvedimento che dispone la custodia cautelare in carcere </a:t>
            </a:r>
            <a:r>
              <a:rPr lang="it-IT" dirty="0">
                <a:latin typeface="Book Antiqua" panose="02040602050305030304" pitchFamily="18" charset="0"/>
                <a:cs typeface="Times New Roman" panose="02020603050405020304" pitchFamily="18" charset="0"/>
              </a:rPr>
              <a:t>ovvero in base ad un titolo emesso dal pubblico ministero in esecuzione di una </a:t>
            </a:r>
            <a:r>
              <a:rPr lang="it-IT" u="sng" dirty="0">
                <a:latin typeface="Book Antiqua" panose="02040602050305030304" pitchFamily="18" charset="0"/>
                <a:cs typeface="Times New Roman" panose="02020603050405020304" pitchFamily="18" charset="0"/>
              </a:rPr>
              <a:t>pena detentiva irrogata con sentenza irrevocabile di condanna. </a:t>
            </a:r>
          </a:p>
          <a:p>
            <a:endParaRPr lang="it-IT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DCF5FC7-745A-4DA2-A135-DD88A4174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1021" y="149386"/>
            <a:ext cx="4434396" cy="58245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Evasione</a:t>
            </a:r>
            <a:endParaRPr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D491A46B-33F0-4FD4-8735-DD6C68ED0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68562804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ttangolo 4"/>
          <p:cNvSpPr txBox="1"/>
          <p:nvPr/>
        </p:nvSpPr>
        <p:spPr>
          <a:xfrm>
            <a:off x="417554" y="2169349"/>
            <a:ext cx="8273685" cy="173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Presupposto</a:t>
            </a:r>
            <a:r>
              <a:rPr sz="3200" dirty="0"/>
              <a:t> </a:t>
            </a:r>
            <a:r>
              <a:rPr sz="3200" dirty="0" err="1"/>
              <a:t>necessario</a:t>
            </a:r>
            <a:r>
              <a:rPr sz="3200" dirty="0"/>
              <a:t>: </a:t>
            </a:r>
            <a:r>
              <a:rPr sz="3200" b="1" dirty="0" err="1">
                <a:solidFill>
                  <a:srgbClr val="7030A0"/>
                </a:solidFill>
              </a:rPr>
              <a:t>arresto</a:t>
            </a:r>
            <a:r>
              <a:rPr sz="3200" b="1" dirty="0">
                <a:solidFill>
                  <a:srgbClr val="7030A0"/>
                </a:solidFill>
              </a:rPr>
              <a:t>, </a:t>
            </a:r>
            <a:r>
              <a:rPr sz="3200" b="1" dirty="0" err="1">
                <a:solidFill>
                  <a:srgbClr val="7030A0"/>
                </a:solidFill>
              </a:rPr>
              <a:t>fermo</a:t>
            </a:r>
            <a:r>
              <a:rPr sz="3200" b="1" dirty="0">
                <a:solidFill>
                  <a:srgbClr val="7030A0"/>
                </a:solidFill>
              </a:rPr>
              <a:t> o </a:t>
            </a:r>
            <a:r>
              <a:rPr sz="3200" b="1" dirty="0" err="1">
                <a:solidFill>
                  <a:srgbClr val="7030A0"/>
                </a:solidFill>
              </a:rPr>
              <a:t>detenzione</a:t>
            </a:r>
            <a:r>
              <a:rPr sz="3200" b="1" dirty="0">
                <a:solidFill>
                  <a:srgbClr val="7030A0"/>
                </a:solidFill>
              </a:rPr>
              <a:t> </a:t>
            </a:r>
            <a:r>
              <a:rPr sz="3200" b="1" dirty="0" err="1">
                <a:solidFill>
                  <a:srgbClr val="7030A0"/>
                </a:solidFill>
              </a:rPr>
              <a:t>siano</a:t>
            </a:r>
            <a:r>
              <a:rPr sz="3200" b="1" dirty="0">
                <a:solidFill>
                  <a:srgbClr val="7030A0"/>
                </a:solidFill>
              </a:rPr>
              <a:t> </a:t>
            </a:r>
            <a:r>
              <a:rPr sz="3200" b="1" dirty="0" err="1">
                <a:solidFill>
                  <a:srgbClr val="7030A0"/>
                </a:solidFill>
              </a:rPr>
              <a:t>disposti</a:t>
            </a:r>
            <a:r>
              <a:rPr sz="3200" b="1" dirty="0">
                <a:solidFill>
                  <a:srgbClr val="7030A0"/>
                </a:solidFill>
              </a:rPr>
              <a:t> </a:t>
            </a:r>
            <a:r>
              <a:rPr sz="3200" b="1" dirty="0" err="1">
                <a:solidFill>
                  <a:srgbClr val="7030A0"/>
                </a:solidFill>
              </a:rPr>
              <a:t>legalmente</a:t>
            </a:r>
            <a:r>
              <a:rPr sz="3200" b="1" dirty="0">
                <a:solidFill>
                  <a:srgbClr val="7030A0"/>
                </a:solidFill>
              </a:rPr>
              <a:t> in </a:t>
            </a:r>
            <a:r>
              <a:rPr sz="3200" b="1" dirty="0" err="1">
                <a:solidFill>
                  <a:srgbClr val="7030A0"/>
                </a:solidFill>
              </a:rPr>
              <a:t>conseguenza</a:t>
            </a:r>
            <a:r>
              <a:rPr sz="3200" b="1" dirty="0">
                <a:solidFill>
                  <a:srgbClr val="7030A0"/>
                </a:solidFill>
              </a:rPr>
              <a:t> di un </a:t>
            </a:r>
            <a:r>
              <a:rPr sz="3200" b="1" dirty="0" err="1">
                <a:solidFill>
                  <a:srgbClr val="7030A0"/>
                </a:solidFill>
              </a:rPr>
              <a:t>reato</a:t>
            </a:r>
            <a:r>
              <a:rPr sz="3200" b="1" dirty="0">
                <a:solidFill>
                  <a:srgbClr val="7030A0"/>
                </a:solidFill>
              </a:rPr>
              <a:t>. </a:t>
            </a:r>
          </a:p>
        </p:txBody>
      </p:sp>
      <p:pic>
        <p:nvPicPr>
          <p:cNvPr id="431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Evasione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ttangolo 4"/>
          <p:cNvSpPr txBox="1"/>
          <p:nvPr/>
        </p:nvSpPr>
        <p:spPr>
          <a:xfrm>
            <a:off x="171100" y="980728"/>
            <a:ext cx="8843703" cy="486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u="none" dirty="0"/>
              <a:t> </a:t>
            </a:r>
            <a:r>
              <a:rPr b="0" u="none" dirty="0"/>
              <a:t>è </a:t>
            </a:r>
            <a:r>
              <a:rPr b="0" u="none" dirty="0" err="1"/>
              <a:t>il</a:t>
            </a:r>
            <a:r>
              <a:rPr b="0" u="none" dirty="0"/>
              <a:t> </a:t>
            </a:r>
            <a:r>
              <a:rPr u="none" dirty="0">
                <a:solidFill>
                  <a:srgbClr val="7030A0"/>
                </a:solidFill>
              </a:rPr>
              <a:t>DOLO GENERICO</a:t>
            </a:r>
            <a:r>
              <a:rPr b="0" u="none" dirty="0"/>
              <a:t>, </a:t>
            </a:r>
            <a:r>
              <a:rPr b="0" u="none" dirty="0" err="1"/>
              <a:t>coscienza</a:t>
            </a:r>
            <a:r>
              <a:rPr b="0" u="none" dirty="0"/>
              <a:t> e </a:t>
            </a:r>
            <a:r>
              <a:rPr b="0" u="none" dirty="0" err="1"/>
              <a:t>volontà</a:t>
            </a:r>
            <a:r>
              <a:rPr b="0" u="none" dirty="0"/>
              <a:t> di </a:t>
            </a:r>
            <a:r>
              <a:rPr b="0" u="none" dirty="0" err="1"/>
              <a:t>evadere</a:t>
            </a:r>
            <a:r>
              <a:rPr b="0" u="none" dirty="0"/>
              <a:t>, </a:t>
            </a:r>
            <a:r>
              <a:rPr b="0" u="none" dirty="0" err="1"/>
              <a:t>nella</a:t>
            </a:r>
            <a:r>
              <a:rPr b="0" u="none" dirty="0"/>
              <a:t> </a:t>
            </a:r>
            <a:r>
              <a:rPr b="0" u="none" dirty="0" err="1"/>
              <a:t>consapevolezza</a:t>
            </a:r>
            <a:r>
              <a:rPr b="0" u="none" dirty="0"/>
              <a:t> del proprio </a:t>
            </a:r>
            <a:r>
              <a:rPr b="0" u="none" dirty="0" err="1"/>
              <a:t>stato</a:t>
            </a:r>
            <a:r>
              <a:rPr b="0" u="none" dirty="0"/>
              <a:t> di </a:t>
            </a:r>
            <a:r>
              <a:rPr b="0" u="none" dirty="0" err="1"/>
              <a:t>arresto</a:t>
            </a:r>
            <a:r>
              <a:rPr b="0" u="none" dirty="0"/>
              <a:t> o </a:t>
            </a:r>
            <a:r>
              <a:rPr b="0" u="none" dirty="0" err="1"/>
              <a:t>detenzione</a:t>
            </a:r>
            <a:r>
              <a:rPr b="0" u="none" dirty="0"/>
              <a:t>, senza </a:t>
            </a:r>
            <a:r>
              <a:rPr b="0" u="none" dirty="0" err="1"/>
              <a:t>che</a:t>
            </a:r>
            <a:r>
              <a:rPr b="0" u="none" dirty="0"/>
              <a:t> </a:t>
            </a:r>
            <a:r>
              <a:rPr b="0" u="none" dirty="0" err="1"/>
              <a:t>abbia</a:t>
            </a:r>
            <a:r>
              <a:rPr b="0" u="none" dirty="0"/>
              <a:t> </a:t>
            </a:r>
            <a:r>
              <a:rPr b="0" u="none" dirty="0" err="1"/>
              <a:t>alcun</a:t>
            </a:r>
            <a:r>
              <a:rPr b="0" u="none" dirty="0"/>
              <a:t> </a:t>
            </a:r>
            <a:r>
              <a:rPr b="0" u="none" dirty="0" err="1"/>
              <a:t>rilievo</a:t>
            </a:r>
            <a:r>
              <a:rPr b="0" u="none" dirty="0"/>
              <a:t> lo </a:t>
            </a:r>
            <a:r>
              <a:rPr b="0" u="none" dirty="0" err="1"/>
              <a:t>scopo</a:t>
            </a:r>
            <a:r>
              <a:rPr b="0" u="none" dirty="0"/>
              <a:t> </a:t>
            </a:r>
            <a:r>
              <a:rPr b="0" u="none" dirty="0" err="1"/>
              <a:t>ulteriore</a:t>
            </a:r>
            <a:r>
              <a:rPr b="0" u="none" dirty="0"/>
              <a:t> </a:t>
            </a:r>
            <a:r>
              <a:rPr b="0" u="none" dirty="0" err="1"/>
              <a:t>che</a:t>
            </a:r>
            <a:r>
              <a:rPr b="0" u="none" dirty="0"/>
              <a:t> </a:t>
            </a:r>
            <a:r>
              <a:rPr b="0" u="none" dirty="0" err="1"/>
              <a:t>l’agente</a:t>
            </a:r>
            <a:r>
              <a:rPr b="0" u="none" dirty="0"/>
              <a:t> </a:t>
            </a:r>
            <a:r>
              <a:rPr b="0" u="none" dirty="0" err="1"/>
              <a:t>si</a:t>
            </a:r>
            <a:r>
              <a:rPr b="0" u="none" dirty="0"/>
              <a:t> propone.</a:t>
            </a:r>
            <a:endParaRPr lang="it-IT" b="0" u="none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defRPr sz="5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delitto</a:t>
            </a:r>
            <a:r>
              <a:rPr dirty="0"/>
              <a:t> di </a:t>
            </a:r>
            <a:r>
              <a:rPr dirty="0" err="1"/>
              <a:t>evasione</a:t>
            </a:r>
            <a:r>
              <a:rPr dirty="0"/>
              <a:t> ha </a:t>
            </a:r>
            <a:r>
              <a:rPr dirty="0" err="1"/>
              <a:t>natura</a:t>
            </a:r>
            <a:r>
              <a:rPr dirty="0"/>
              <a:t> di </a:t>
            </a:r>
            <a:r>
              <a:rPr b="1" dirty="0">
                <a:solidFill>
                  <a:srgbClr val="7030A0"/>
                </a:solidFill>
              </a:rPr>
              <a:t>REATO ISTANTANEO CON EFFETTI PERMANENTI</a:t>
            </a:r>
            <a:r>
              <a:rPr dirty="0"/>
              <a:t>. Si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in cui, con </a:t>
            </a:r>
            <a:r>
              <a:rPr dirty="0" err="1"/>
              <a:t>azione</a:t>
            </a:r>
            <a:r>
              <a:rPr dirty="0"/>
              <a:t> </a:t>
            </a:r>
            <a:r>
              <a:rPr dirty="0" err="1"/>
              <a:t>cosciente</a:t>
            </a:r>
            <a:r>
              <a:rPr dirty="0"/>
              <a:t> e </a:t>
            </a:r>
            <a:r>
              <a:rPr dirty="0" err="1"/>
              <a:t>volontaria</a:t>
            </a:r>
            <a:r>
              <a:rPr dirty="0"/>
              <a:t>, una persona, </a:t>
            </a:r>
            <a:r>
              <a:rPr dirty="0" err="1"/>
              <a:t>legalmente</a:t>
            </a:r>
            <a:r>
              <a:rPr dirty="0"/>
              <a:t> </a:t>
            </a:r>
            <a:r>
              <a:rPr dirty="0" err="1"/>
              <a:t>arrestata</a:t>
            </a:r>
            <a:r>
              <a:rPr dirty="0"/>
              <a:t> o </a:t>
            </a:r>
            <a:r>
              <a:rPr dirty="0" err="1"/>
              <a:t>detenuta</a:t>
            </a:r>
            <a:r>
              <a:rPr dirty="0"/>
              <a:t> per un </a:t>
            </a:r>
            <a:r>
              <a:rPr dirty="0" err="1"/>
              <a:t>reato</a:t>
            </a:r>
            <a:r>
              <a:rPr dirty="0"/>
              <a:t>, </a:t>
            </a:r>
            <a:r>
              <a:rPr dirty="0" err="1"/>
              <a:t>si</a:t>
            </a:r>
            <a:r>
              <a:rPr dirty="0"/>
              <a:t> </a:t>
            </a:r>
            <a:r>
              <a:rPr b="1" dirty="0" err="1"/>
              <a:t>sottrae</a:t>
            </a:r>
            <a:r>
              <a:rPr b="1" dirty="0"/>
              <a:t> </a:t>
            </a:r>
            <a:r>
              <a:rPr b="1" dirty="0" err="1"/>
              <a:t>completamente</a:t>
            </a:r>
            <a:r>
              <a:rPr b="1" dirty="0"/>
              <a:t> </a:t>
            </a:r>
            <a:r>
              <a:rPr b="1" dirty="0" err="1"/>
              <a:t>alla</a:t>
            </a:r>
            <a:r>
              <a:rPr b="1" dirty="0"/>
              <a:t> </a:t>
            </a:r>
            <a:r>
              <a:rPr b="1" dirty="0" err="1"/>
              <a:t>sfera</a:t>
            </a:r>
            <a:r>
              <a:rPr b="1" dirty="0"/>
              <a:t> di </a:t>
            </a:r>
            <a:r>
              <a:rPr b="1" dirty="0" err="1"/>
              <a:t>vigilanza</a:t>
            </a:r>
            <a:r>
              <a:rPr b="1" dirty="0"/>
              <a:t> </a:t>
            </a:r>
            <a:r>
              <a:rPr b="1" dirty="0" err="1"/>
              <a:t>i</a:t>
            </a:r>
            <a:r>
              <a:rPr lang="it-IT" b="1" dirty="0"/>
              <a:t>n</a:t>
            </a:r>
            <a:r>
              <a:rPr b="1" dirty="0"/>
              <a:t> cui </a:t>
            </a:r>
            <a:r>
              <a:rPr b="1" dirty="0" err="1"/>
              <a:t>si</a:t>
            </a:r>
            <a:r>
              <a:rPr b="1" dirty="0"/>
              <a:t> </a:t>
            </a:r>
            <a:r>
              <a:rPr b="1" dirty="0" err="1"/>
              <a:t>trova</a:t>
            </a:r>
            <a:r>
              <a:rPr dirty="0"/>
              <a:t> </a:t>
            </a:r>
            <a:r>
              <a:rPr b="1" dirty="0"/>
              <a:t>o </a:t>
            </a:r>
            <a:r>
              <a:rPr b="1" dirty="0" err="1"/>
              <a:t>si</a:t>
            </a:r>
            <a:r>
              <a:rPr b="1" dirty="0"/>
              <a:t> </a:t>
            </a:r>
            <a:r>
              <a:rPr b="1" dirty="0" err="1"/>
              <a:t>allontana</a:t>
            </a:r>
            <a:r>
              <a:rPr b="1" dirty="0"/>
              <a:t> dal </a:t>
            </a:r>
            <a:r>
              <a:rPr b="1" dirty="0" err="1"/>
              <a:t>luogo</a:t>
            </a:r>
            <a:r>
              <a:rPr b="1" dirty="0"/>
              <a:t> </a:t>
            </a:r>
            <a:r>
              <a:rPr b="1" dirty="0" err="1"/>
              <a:t>degli</a:t>
            </a:r>
            <a:r>
              <a:rPr b="1" dirty="0"/>
              <a:t> </a:t>
            </a:r>
            <a:r>
              <a:rPr b="1" dirty="0" err="1"/>
              <a:t>arresti</a:t>
            </a:r>
            <a:r>
              <a:rPr b="1" dirty="0"/>
              <a:t> </a:t>
            </a:r>
            <a:r>
              <a:rPr b="1" dirty="0" err="1"/>
              <a:t>domiciliari</a:t>
            </a:r>
            <a:r>
              <a:rPr b="1" dirty="0"/>
              <a:t> senza </a:t>
            </a:r>
            <a:r>
              <a:rPr b="1" dirty="0" err="1"/>
              <a:t>autorizzazione</a:t>
            </a:r>
            <a:r>
              <a:rPr dirty="0"/>
              <a:t>.</a:t>
            </a: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5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>
                <a:solidFill>
                  <a:srgbClr val="FF0000"/>
                </a:solidFill>
              </a:rPr>
              <a:t>tentativo</a:t>
            </a:r>
            <a:r>
              <a:rPr dirty="0">
                <a:solidFill>
                  <a:srgbClr val="FF0000"/>
                </a:solidFill>
              </a:rPr>
              <a:t> è </a:t>
            </a:r>
            <a:r>
              <a:rPr dirty="0" err="1">
                <a:solidFill>
                  <a:srgbClr val="FF0000"/>
                </a:solidFill>
              </a:rPr>
              <a:t>configurabile</a:t>
            </a:r>
            <a:endParaRPr dirty="0"/>
          </a:p>
        </p:txBody>
      </p:sp>
      <p:pic>
        <p:nvPicPr>
          <p:cNvPr id="43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Evasione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ttangolo 4"/>
          <p:cNvSpPr txBox="1"/>
          <p:nvPr/>
        </p:nvSpPr>
        <p:spPr>
          <a:xfrm>
            <a:off x="153224" y="882110"/>
            <a:ext cx="8736198" cy="51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A22E8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386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Procurata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evasione</a:t>
            </a:r>
            <a:endParaRPr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/>
              <a:t>Chiunque</a:t>
            </a:r>
            <a:r>
              <a:rPr dirty="0"/>
              <a:t> </a:t>
            </a:r>
            <a:r>
              <a:rPr b="1" dirty="0" err="1">
                <a:solidFill>
                  <a:srgbClr val="A22E8C"/>
                </a:solidFill>
              </a:rPr>
              <a:t>procura</a:t>
            </a:r>
            <a:r>
              <a:rPr dirty="0"/>
              <a:t> o </a:t>
            </a:r>
            <a:r>
              <a:rPr b="1" dirty="0" err="1">
                <a:solidFill>
                  <a:srgbClr val="A22E8C"/>
                </a:solidFill>
              </a:rPr>
              <a:t>agevola</a:t>
            </a:r>
            <a:r>
              <a:rPr dirty="0"/>
              <a:t> </a:t>
            </a:r>
            <a:r>
              <a:rPr b="1" dirty="0" err="1">
                <a:solidFill>
                  <a:srgbClr val="A22E8C"/>
                </a:solidFill>
              </a:rPr>
              <a:t>l’evasione</a:t>
            </a:r>
            <a:r>
              <a:rPr b="1" dirty="0">
                <a:solidFill>
                  <a:srgbClr val="A22E8C"/>
                </a:solidFill>
              </a:rPr>
              <a:t> di </a:t>
            </a:r>
            <a:r>
              <a:rPr b="1" dirty="0" err="1">
                <a:solidFill>
                  <a:srgbClr val="A22E8C"/>
                </a:solidFill>
              </a:rPr>
              <a:t>una</a:t>
            </a:r>
            <a:r>
              <a:rPr b="1" dirty="0">
                <a:solidFill>
                  <a:srgbClr val="A22E8C"/>
                </a:solidFill>
              </a:rPr>
              <a:t> persona </a:t>
            </a:r>
            <a:r>
              <a:rPr u="sng" dirty="0" err="1"/>
              <a:t>legalmente</a:t>
            </a:r>
            <a:r>
              <a:rPr u="sng" dirty="0"/>
              <a:t> </a:t>
            </a:r>
            <a:r>
              <a:rPr u="sng" dirty="0" err="1"/>
              <a:t>arrestata</a:t>
            </a:r>
            <a:r>
              <a:rPr u="sng" dirty="0"/>
              <a:t> o </a:t>
            </a:r>
            <a:r>
              <a:rPr u="sng" dirty="0" err="1"/>
              <a:t>detenuta</a:t>
            </a:r>
            <a:r>
              <a:rPr u="sng" dirty="0"/>
              <a:t> per un </a:t>
            </a:r>
            <a:r>
              <a:rPr u="sng" dirty="0" err="1"/>
              <a:t>reato</a:t>
            </a:r>
            <a:r>
              <a:rPr dirty="0"/>
              <a:t>,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da sei </a:t>
            </a:r>
            <a:r>
              <a:rPr dirty="0" err="1"/>
              <a:t>mesi</a:t>
            </a:r>
            <a:r>
              <a:rPr dirty="0"/>
              <a:t> a cinque anni.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dirty="0" err="1"/>
              <a:t>applica</a:t>
            </a:r>
            <a:r>
              <a:rPr dirty="0"/>
              <a:t> la </a:t>
            </a:r>
            <a:r>
              <a:rPr dirty="0" err="1"/>
              <a:t>reclusione</a:t>
            </a:r>
            <a:r>
              <a:rPr dirty="0"/>
              <a:t> da </a:t>
            </a:r>
            <a:r>
              <a:rPr dirty="0" err="1"/>
              <a:t>tre</a:t>
            </a:r>
            <a:r>
              <a:rPr dirty="0"/>
              <a:t> a </a:t>
            </a:r>
            <a:r>
              <a:rPr dirty="0" err="1"/>
              <a:t>dieci</a:t>
            </a:r>
            <a:r>
              <a:rPr dirty="0"/>
              <a:t> anni se il </a:t>
            </a:r>
            <a:r>
              <a:rPr dirty="0" err="1"/>
              <a:t>fatto</a:t>
            </a:r>
            <a:r>
              <a:rPr dirty="0"/>
              <a:t> è </a:t>
            </a:r>
            <a:r>
              <a:rPr dirty="0" err="1"/>
              <a:t>commesso</a:t>
            </a:r>
            <a:r>
              <a:rPr dirty="0"/>
              <a:t> </a:t>
            </a:r>
            <a:r>
              <a:rPr b="1" dirty="0"/>
              <a:t>a </a:t>
            </a:r>
            <a:r>
              <a:rPr b="1" dirty="0" err="1"/>
              <a:t>favore</a:t>
            </a:r>
            <a:r>
              <a:rPr b="1" dirty="0"/>
              <a:t> di un </a:t>
            </a:r>
            <a:r>
              <a:rPr b="1" dirty="0" err="1"/>
              <a:t>condannato</a:t>
            </a:r>
            <a:r>
              <a:rPr dirty="0"/>
              <a:t> </a:t>
            </a:r>
            <a:r>
              <a:rPr strike="sngStrike" dirty="0"/>
              <a:t>[alla </a:t>
            </a:r>
            <a:r>
              <a:rPr strike="sngStrike" dirty="0" err="1"/>
              <a:t>pena</a:t>
            </a:r>
            <a:r>
              <a:rPr strike="sngStrike" dirty="0"/>
              <a:t> di </a:t>
            </a:r>
            <a:r>
              <a:rPr strike="sngStrike" dirty="0" err="1"/>
              <a:t>morte</a:t>
            </a:r>
            <a:r>
              <a:rPr strike="sngStrike" dirty="0"/>
              <a:t> o] </a:t>
            </a:r>
            <a:r>
              <a:rPr b="1" dirty="0" err="1"/>
              <a:t>all’ergastolo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aumentata</a:t>
            </a:r>
            <a:r>
              <a:rPr dirty="0"/>
              <a:t> se il </a:t>
            </a:r>
            <a:r>
              <a:rPr dirty="0" err="1"/>
              <a:t>colpevole</a:t>
            </a:r>
            <a:r>
              <a:rPr dirty="0"/>
              <a:t>, per </a:t>
            </a:r>
            <a:r>
              <a:rPr dirty="0" err="1"/>
              <a:t>commettere</a:t>
            </a:r>
            <a:r>
              <a:rPr dirty="0"/>
              <a:t> il </a:t>
            </a:r>
            <a:r>
              <a:rPr dirty="0" err="1"/>
              <a:t>fatto</a:t>
            </a:r>
            <a:r>
              <a:rPr dirty="0"/>
              <a:t>, </a:t>
            </a:r>
            <a:r>
              <a:rPr b="1" dirty="0" err="1">
                <a:solidFill>
                  <a:srgbClr val="A22E8C"/>
                </a:solidFill>
              </a:rPr>
              <a:t>adopera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alcuno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dei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mezzi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/>
              <a:t>indicati</a:t>
            </a:r>
            <a:r>
              <a:rPr b="1" dirty="0"/>
              <a:t> </a:t>
            </a:r>
            <a:r>
              <a:rPr b="1" dirty="0" err="1"/>
              <a:t>nel</a:t>
            </a:r>
            <a:r>
              <a:rPr b="1" dirty="0"/>
              <a:t> primo </a:t>
            </a:r>
            <a:r>
              <a:rPr b="1" dirty="0" err="1"/>
              <a:t>capoverso</a:t>
            </a:r>
            <a:r>
              <a:rPr b="1" dirty="0"/>
              <a:t> </a:t>
            </a:r>
            <a:r>
              <a:rPr b="1" dirty="0" err="1"/>
              <a:t>dell’articolo</a:t>
            </a:r>
            <a:r>
              <a:rPr b="1" dirty="0"/>
              <a:t> </a:t>
            </a:r>
            <a:r>
              <a:rPr b="1" dirty="0" err="1"/>
              <a:t>precedente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b="1" u="sng" dirty="0" err="1"/>
              <a:t>diminuita</a:t>
            </a:r>
            <a:r>
              <a:rPr dirty="0"/>
              <a:t>: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1)se il </a:t>
            </a:r>
            <a:r>
              <a:rPr dirty="0" err="1"/>
              <a:t>colpevole</a:t>
            </a:r>
            <a:r>
              <a:rPr dirty="0"/>
              <a:t> è un </a:t>
            </a:r>
            <a:r>
              <a:rPr b="1" dirty="0" err="1">
                <a:solidFill>
                  <a:srgbClr val="A22E8C"/>
                </a:solidFill>
              </a:rPr>
              <a:t>prossimo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congiunto</a:t>
            </a:r>
            <a:r>
              <a:rPr dirty="0"/>
              <a:t>;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2)se il </a:t>
            </a:r>
            <a:r>
              <a:rPr dirty="0" err="1"/>
              <a:t>colpevole</a:t>
            </a:r>
            <a:r>
              <a:rPr dirty="0"/>
              <a:t>, </a:t>
            </a:r>
            <a:r>
              <a:rPr b="1" dirty="0" err="1">
                <a:solidFill>
                  <a:srgbClr val="A22E8C"/>
                </a:solidFill>
              </a:rPr>
              <a:t>nel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termine</a:t>
            </a:r>
            <a:r>
              <a:rPr b="1" dirty="0">
                <a:solidFill>
                  <a:srgbClr val="A22E8C"/>
                </a:solidFill>
              </a:rPr>
              <a:t> di </a:t>
            </a:r>
            <a:r>
              <a:rPr b="1" dirty="0" err="1">
                <a:solidFill>
                  <a:srgbClr val="A22E8C"/>
                </a:solidFill>
              </a:rPr>
              <a:t>tre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mesi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dall’evasione</a:t>
            </a:r>
            <a:r>
              <a:rPr b="1" dirty="0">
                <a:solidFill>
                  <a:srgbClr val="A22E8C"/>
                </a:solidFill>
              </a:rPr>
              <a:t>, </a:t>
            </a:r>
            <a:r>
              <a:rPr b="1" dirty="0" err="1">
                <a:solidFill>
                  <a:srgbClr val="A22E8C"/>
                </a:solidFill>
              </a:rPr>
              <a:t>procura</a:t>
            </a:r>
            <a:r>
              <a:rPr b="1" dirty="0">
                <a:solidFill>
                  <a:srgbClr val="A22E8C"/>
                </a:solidFill>
              </a:rPr>
              <a:t> la </a:t>
            </a:r>
            <a:r>
              <a:rPr b="1" dirty="0" err="1">
                <a:solidFill>
                  <a:srgbClr val="A22E8C"/>
                </a:solidFill>
              </a:rPr>
              <a:t>cattura</a:t>
            </a:r>
            <a:r>
              <a:rPr b="1" dirty="0">
                <a:solidFill>
                  <a:srgbClr val="A22E8C"/>
                </a:solidFill>
              </a:rPr>
              <a:t> della persona </a:t>
            </a:r>
            <a:r>
              <a:rPr b="1" dirty="0" err="1">
                <a:solidFill>
                  <a:srgbClr val="A22E8C"/>
                </a:solidFill>
              </a:rPr>
              <a:t>evasa</a:t>
            </a:r>
            <a:r>
              <a:rPr b="1" dirty="0">
                <a:solidFill>
                  <a:srgbClr val="A22E8C"/>
                </a:solidFill>
              </a:rPr>
              <a:t> o la </a:t>
            </a:r>
            <a:r>
              <a:rPr b="1" dirty="0" err="1">
                <a:solidFill>
                  <a:srgbClr val="A22E8C"/>
                </a:solidFill>
              </a:rPr>
              <a:t>presentazione</a:t>
            </a:r>
            <a:r>
              <a:rPr b="1" dirty="0">
                <a:solidFill>
                  <a:srgbClr val="A22E8C"/>
                </a:solidFill>
              </a:rPr>
              <a:t> di lei </a:t>
            </a:r>
            <a:r>
              <a:rPr b="1" dirty="0" err="1">
                <a:solidFill>
                  <a:srgbClr val="A22E8C"/>
                </a:solidFill>
              </a:rPr>
              <a:t>all’Autorità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condanna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 in ogni </a:t>
            </a:r>
            <a:r>
              <a:rPr dirty="0" err="1"/>
              <a:t>caso</a:t>
            </a:r>
            <a:r>
              <a:rPr dirty="0"/>
              <a:t> la </a:t>
            </a:r>
            <a:r>
              <a:rPr b="1" dirty="0" err="1">
                <a:solidFill>
                  <a:srgbClr val="A22E8C"/>
                </a:solidFill>
              </a:rPr>
              <a:t>interdizione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dai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pubblici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uffici</a:t>
            </a:r>
            <a:r>
              <a:rPr dirty="0"/>
              <a:t>.»</a:t>
            </a:r>
          </a:p>
        </p:txBody>
      </p:sp>
      <p:pic>
        <p:nvPicPr>
          <p:cNvPr id="43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Rettangolo 5"/>
          <p:cNvSpPr txBox="1"/>
          <p:nvPr/>
        </p:nvSpPr>
        <p:spPr>
          <a:xfrm>
            <a:off x="6582276" y="5947905"/>
            <a:ext cx="2494191" cy="907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44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Procurata evasione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ttangolo 4"/>
          <p:cNvSpPr txBox="1"/>
          <p:nvPr/>
        </p:nvSpPr>
        <p:spPr>
          <a:xfrm>
            <a:off x="292963" y="1743221"/>
            <a:ext cx="8620218" cy="3427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u="sng" dirty="0"/>
              <a:t>INTERESSE TUTELATO </a:t>
            </a:r>
            <a:r>
              <a:rPr sz="2400" b="0" dirty="0"/>
              <a:t>è lo </a:t>
            </a:r>
            <a:r>
              <a:rPr sz="2400" b="0" dirty="0" err="1"/>
              <a:t>stesso</a:t>
            </a:r>
            <a:r>
              <a:rPr sz="2400" b="0" dirty="0"/>
              <a:t> </a:t>
            </a:r>
            <a:r>
              <a:rPr sz="2400" b="0" dirty="0" err="1"/>
              <a:t>dell’articolo</a:t>
            </a:r>
            <a:r>
              <a:rPr sz="2400" b="0" dirty="0"/>
              <a:t> </a:t>
            </a:r>
            <a:r>
              <a:rPr sz="2400" b="0" dirty="0" err="1"/>
              <a:t>precedente</a:t>
            </a:r>
            <a:r>
              <a:rPr sz="2400" b="0"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Si </a:t>
            </a:r>
            <a:r>
              <a:rPr sz="2400" dirty="0" err="1"/>
              <a:t>ritiene</a:t>
            </a:r>
            <a:r>
              <a:rPr sz="2400" dirty="0"/>
              <a:t> </a:t>
            </a:r>
            <a:r>
              <a:rPr sz="2400" dirty="0" err="1"/>
              <a:t>che</a:t>
            </a:r>
            <a:r>
              <a:rPr sz="2400" dirty="0"/>
              <a:t> la </a:t>
            </a:r>
            <a:r>
              <a:rPr sz="2400" b="1" dirty="0" err="1">
                <a:solidFill>
                  <a:srgbClr val="A22E8C"/>
                </a:solidFill>
              </a:rPr>
              <a:t>figura</a:t>
            </a:r>
            <a:r>
              <a:rPr sz="2400" b="1" dirty="0">
                <a:solidFill>
                  <a:srgbClr val="A22E8C"/>
                </a:solidFill>
              </a:rPr>
              <a:t> </a:t>
            </a:r>
            <a:r>
              <a:rPr sz="2400" b="1" dirty="0" err="1">
                <a:solidFill>
                  <a:srgbClr val="A22E8C"/>
                </a:solidFill>
              </a:rPr>
              <a:t>sia</a:t>
            </a:r>
            <a:r>
              <a:rPr sz="2400" b="1" dirty="0">
                <a:solidFill>
                  <a:srgbClr val="A22E8C"/>
                </a:solidFill>
              </a:rPr>
              <a:t> </a:t>
            </a:r>
            <a:r>
              <a:rPr sz="2400" b="1" dirty="0" err="1">
                <a:solidFill>
                  <a:srgbClr val="A22E8C"/>
                </a:solidFill>
              </a:rPr>
              <a:t>accessoria</a:t>
            </a:r>
            <a:r>
              <a:rPr sz="2400" b="1" dirty="0">
                <a:solidFill>
                  <a:srgbClr val="A22E8C"/>
                </a:solidFill>
              </a:rPr>
              <a:t> </a:t>
            </a:r>
            <a:r>
              <a:rPr sz="2400" dirty="0"/>
              <a:t>rispetto a </a:t>
            </a:r>
            <a:r>
              <a:rPr sz="2400" dirty="0" err="1"/>
              <a:t>quella</a:t>
            </a:r>
            <a:r>
              <a:rPr sz="2400" dirty="0"/>
              <a:t> di cui al </a:t>
            </a:r>
            <a:r>
              <a:rPr sz="2400" dirty="0" err="1"/>
              <a:t>precedente</a:t>
            </a:r>
            <a:r>
              <a:rPr sz="2400" dirty="0"/>
              <a:t> </a:t>
            </a:r>
            <a:r>
              <a:rPr sz="2400" dirty="0" err="1"/>
              <a:t>articolo</a:t>
            </a:r>
            <a:r>
              <a:rPr sz="2400" dirty="0"/>
              <a:t>, </a:t>
            </a:r>
            <a:r>
              <a:rPr sz="2400" dirty="0" err="1"/>
              <a:t>incriminando</a:t>
            </a:r>
            <a:r>
              <a:rPr sz="2400" dirty="0"/>
              <a:t> </a:t>
            </a:r>
            <a:r>
              <a:rPr sz="2400" dirty="0" err="1"/>
              <a:t>autonomamente</a:t>
            </a:r>
            <a:r>
              <a:rPr sz="2400" dirty="0"/>
              <a:t> </a:t>
            </a:r>
            <a:r>
              <a:rPr sz="2400" dirty="0" err="1"/>
              <a:t>condotte</a:t>
            </a:r>
            <a:r>
              <a:rPr sz="2400" dirty="0"/>
              <a:t> di </a:t>
            </a:r>
            <a:r>
              <a:rPr sz="2400" dirty="0" err="1"/>
              <a:t>partecipazione</a:t>
            </a:r>
            <a:r>
              <a:rPr sz="2400" dirty="0"/>
              <a:t> al </a:t>
            </a:r>
            <a:r>
              <a:rPr sz="2400" dirty="0" err="1"/>
              <a:t>reato</a:t>
            </a:r>
            <a:r>
              <a:rPr sz="2400" dirty="0"/>
              <a:t> di </a:t>
            </a:r>
            <a:r>
              <a:rPr sz="2400" dirty="0" err="1"/>
              <a:t>evasione</a:t>
            </a:r>
            <a:r>
              <a:rPr sz="2400" dirty="0"/>
              <a:t>.</a:t>
            </a:r>
            <a:endParaRPr lang="it-IT" sz="2400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400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400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400" u="sng" dirty="0">
                <a:solidFill>
                  <a:srgbClr val="FF0000"/>
                </a:solidFill>
              </a:rPr>
              <a:t>Scopo</a:t>
            </a:r>
            <a:r>
              <a:rPr lang="it-IT" sz="2400" dirty="0"/>
              <a:t>: punire il reo in modo più grave di quanto avverrebbe applicando il concorso di persone.</a:t>
            </a:r>
          </a:p>
        </p:txBody>
      </p:sp>
      <p:pic>
        <p:nvPicPr>
          <p:cNvPr id="44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Procurata</a:t>
            </a:r>
            <a:r>
              <a:rPr dirty="0"/>
              <a:t> </a:t>
            </a:r>
            <a:r>
              <a:rPr dirty="0" err="1"/>
              <a:t>evasione</a:t>
            </a:r>
            <a:endParaRPr dirty="0"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6EF020-B7F0-4ECF-8CD7-B9CF378E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5760"/>
            <a:ext cx="4363375" cy="657517"/>
          </a:xfrm>
        </p:spPr>
        <p:txBody>
          <a:bodyPr>
            <a:noAutofit/>
          </a:bodyPr>
          <a:lstStyle/>
          <a:p>
            <a:r>
              <a:rPr lang="it-IT" sz="3600" dirty="0">
                <a:solidFill>
                  <a:schemeClr val="bg1"/>
                </a:solidFill>
              </a:rPr>
              <a:t>Procurata evasione</a:t>
            </a:r>
            <a:br>
              <a:rPr lang="it-IT" sz="3600" dirty="0">
                <a:solidFill>
                  <a:schemeClr val="bg1"/>
                </a:solidFill>
              </a:rPr>
            </a:b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EFCC0F-89A0-46EA-8173-CA5CD649E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20264"/>
            <a:ext cx="8229600" cy="5305899"/>
          </a:xfrm>
        </p:spPr>
        <p:txBody>
          <a:bodyPr>
            <a:normAutofit lnSpcReduction="10000"/>
          </a:bodyPr>
          <a:lstStyle/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dirty="0">
              <a:latin typeface="Times New Roman"/>
              <a:cs typeface="Times New Roman"/>
              <a:sym typeface="Times New Roman"/>
            </a:endParaRP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1" u="sng" dirty="0">
                <a:latin typeface="Times New Roman"/>
                <a:cs typeface="Times New Roman"/>
                <a:sym typeface="Times New Roman"/>
              </a:rPr>
              <a:t>ELEMENTO OGGETTIVO</a:t>
            </a:r>
            <a:r>
              <a:rPr lang="it-IT" sz="2200" b="1" dirty="0">
                <a:latin typeface="Times New Roman"/>
                <a:cs typeface="Times New Roman"/>
                <a:sym typeface="Times New Roman"/>
              </a:rPr>
              <a:t>: 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consiste nel </a:t>
            </a:r>
            <a:r>
              <a:rPr lang="it-IT" sz="2200" b="1" dirty="0">
                <a:solidFill>
                  <a:srgbClr val="A22E8C"/>
                </a:solidFill>
                <a:latin typeface="Times New Roman"/>
                <a:cs typeface="Times New Roman"/>
                <a:sym typeface="Times New Roman"/>
              </a:rPr>
              <a:t>PROCURARE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 o </a:t>
            </a:r>
            <a:r>
              <a:rPr lang="it-IT" sz="2200" b="1" dirty="0">
                <a:solidFill>
                  <a:srgbClr val="A22E8C"/>
                </a:solidFill>
                <a:latin typeface="Times New Roman"/>
                <a:cs typeface="Times New Roman"/>
                <a:sym typeface="Times New Roman"/>
              </a:rPr>
              <a:t>AGEVOLARE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it-IT" sz="2200" b="1" dirty="0">
                <a:solidFill>
                  <a:srgbClr val="A22E8C"/>
                </a:solidFill>
                <a:latin typeface="Times New Roman"/>
                <a:cs typeface="Times New Roman"/>
                <a:sym typeface="Times New Roman"/>
              </a:rPr>
              <a:t>l’evasione di una persona legalmente arrestata o detenuta</a:t>
            </a:r>
            <a:r>
              <a:rPr lang="it-IT" sz="2200" dirty="0">
                <a:solidFill>
                  <a:srgbClr val="A22E8C"/>
                </a:solidFill>
                <a:latin typeface="Times New Roman"/>
                <a:cs typeface="Times New Roman"/>
                <a:sym typeface="Times New Roman"/>
              </a:rPr>
              <a:t>. </a:t>
            </a: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dirty="0">
              <a:solidFill>
                <a:srgbClr val="A22E8C"/>
              </a:solidFill>
              <a:latin typeface="Times New Roman"/>
              <a:cs typeface="Times New Roman"/>
              <a:sym typeface="Times New Roman"/>
            </a:endParaRP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dirty="0">
                <a:latin typeface="Times New Roman"/>
                <a:cs typeface="Times New Roman"/>
                <a:sym typeface="Times New Roman"/>
              </a:rPr>
              <a:t>Prevede un delitto che può concretarsi in </a:t>
            </a:r>
            <a:r>
              <a:rPr lang="it-IT" sz="2200" u="sng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due distinte forme di attività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:</a:t>
            </a:r>
          </a:p>
          <a:p>
            <a:pPr marL="0" lvl="0" indent="0" algn="just" hangingPunct="0">
              <a:lnSpc>
                <a:spcPct val="114000"/>
              </a:lnSpc>
              <a:spcBef>
                <a:spcPts val="0"/>
              </a:spcBef>
              <a:buSzTx/>
              <a:buNone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dirty="0">
              <a:latin typeface="Times New Roman"/>
              <a:cs typeface="Times New Roman"/>
              <a:sym typeface="Times New Roman"/>
            </a:endParaRPr>
          </a:p>
          <a:p>
            <a:pPr marL="457200" lvl="0" indent="-457200" algn="just" hangingPunct="0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1" dirty="0">
                <a:latin typeface="Times New Roman"/>
                <a:cs typeface="Times New Roman"/>
                <a:sym typeface="Times New Roman"/>
              </a:rPr>
              <a:t>PROCURARE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: la prima diretta allo svolgimento di un ruolo determinante e di primo piano nella partecipazione immediata o nell’esecuzione dell’evasione;</a:t>
            </a:r>
          </a:p>
          <a:p>
            <a:pPr marL="457200" lvl="0" indent="-457200" algn="just" hangingPunct="0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sz="2200" dirty="0">
              <a:latin typeface="Times New Roman"/>
              <a:cs typeface="Times New Roman"/>
              <a:sym typeface="Times New Roman"/>
            </a:endParaRPr>
          </a:p>
          <a:p>
            <a:pPr marL="457200" lvl="0" indent="-457200" algn="just" hangingPunct="0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sz="2200" b="1" dirty="0">
                <a:latin typeface="Times New Roman"/>
                <a:cs typeface="Times New Roman"/>
                <a:sym typeface="Times New Roman"/>
              </a:rPr>
              <a:t>AGEVOLARE</a:t>
            </a:r>
            <a:r>
              <a:rPr lang="it-IT" sz="2200" dirty="0">
                <a:latin typeface="Times New Roman"/>
                <a:cs typeface="Times New Roman"/>
                <a:sym typeface="Times New Roman"/>
              </a:rPr>
              <a:t>: la seconda invece intesa a favorire la fuga, predisponendo i mezzi opportuni o assicurando gli aiuti necessari allo scopo.</a:t>
            </a:r>
          </a:p>
          <a:p>
            <a:endParaRPr lang="it-IT" dirty="0"/>
          </a:p>
        </p:txBody>
      </p:sp>
      <p:pic>
        <p:nvPicPr>
          <p:cNvPr id="5" name="Immagine 6" descr="Immagine 6">
            <a:extLst>
              <a:ext uri="{FF2B5EF4-FFF2-40B4-BE49-F238E27FC236}">
                <a16:creationId xmlns:a16="http://schemas.microsoft.com/office/drawing/2014/main" id="{1431C4C5-299D-4E4F-95A8-DE13C4FF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1631154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ttangolo 4"/>
          <p:cNvSpPr txBox="1"/>
          <p:nvPr/>
        </p:nvSpPr>
        <p:spPr>
          <a:xfrm>
            <a:off x="99472" y="908719"/>
            <a:ext cx="8945056" cy="5760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>
                <a:solidFill>
                  <a:srgbClr val="A22E8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PROCURARE </a:t>
            </a:r>
            <a:r>
              <a:rPr lang="it-IT" dirty="0"/>
              <a:t>          </a:t>
            </a:r>
            <a:r>
              <a:rPr b="0" dirty="0" err="1">
                <a:solidFill>
                  <a:srgbClr val="000000"/>
                </a:solidFill>
              </a:rPr>
              <a:t>concreta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attività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materiale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determinante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nella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fase</a:t>
            </a:r>
            <a:r>
              <a:rPr b="0" dirty="0">
                <a:solidFill>
                  <a:srgbClr val="000000"/>
                </a:solidFill>
              </a:rPr>
              <a:t> di </a:t>
            </a:r>
            <a:r>
              <a:rPr dirty="0" err="1"/>
              <a:t>attuazione</a:t>
            </a:r>
            <a:r>
              <a:rPr b="0" dirty="0">
                <a:solidFill>
                  <a:srgbClr val="000000"/>
                </a:solidFill>
              </a:rPr>
              <a:t> o di </a:t>
            </a:r>
            <a:r>
              <a:rPr dirty="0" err="1"/>
              <a:t>preparazione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/>
              <a:t>all’evasione</a:t>
            </a:r>
            <a:r>
              <a:rPr b="0" dirty="0">
                <a:solidFill>
                  <a:srgbClr val="000000"/>
                </a:solidFill>
              </a:rPr>
              <a:t>.</a:t>
            </a:r>
            <a:endParaRPr lang="it-IT" b="0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>
                <a:solidFill>
                  <a:srgbClr val="A22E8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0" dirty="0"/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>
                <a:solidFill>
                  <a:srgbClr val="A22E8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AGEVOLARE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lang="it-IT" b="0" dirty="0">
                <a:solidFill>
                  <a:srgbClr val="000000"/>
                </a:solidFill>
              </a:rPr>
              <a:t>           </a:t>
            </a:r>
            <a:r>
              <a:rPr dirty="0" err="1"/>
              <a:t>attività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rende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facile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programma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attraverso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consigli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istruzioni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promesse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d’aiuto</a:t>
            </a:r>
            <a:r>
              <a:rPr b="0" dirty="0">
                <a:solidFill>
                  <a:srgbClr val="000000"/>
                </a:solidFill>
              </a:rPr>
              <a:t>. </a:t>
            </a:r>
            <a:endParaRPr lang="it-IT"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A22E8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Il </a:t>
            </a:r>
            <a:r>
              <a:rPr sz="2000" dirty="0" err="1"/>
              <a:t>reato</a:t>
            </a:r>
            <a:r>
              <a:rPr sz="2000" dirty="0"/>
              <a:t> è </a:t>
            </a:r>
            <a:r>
              <a:rPr sz="2000" dirty="0" err="1"/>
              <a:t>perpetrabile</a:t>
            </a:r>
            <a:r>
              <a:rPr sz="2000" dirty="0"/>
              <a:t> </a:t>
            </a:r>
            <a:r>
              <a:rPr sz="2000" b="1" u="sng" dirty="0" err="1">
                <a:solidFill>
                  <a:srgbClr val="FF0000"/>
                </a:solidFill>
              </a:rPr>
              <a:t>anche</a:t>
            </a:r>
            <a:r>
              <a:rPr sz="2000" b="1" u="sng" dirty="0">
                <a:solidFill>
                  <a:srgbClr val="FF0000"/>
                </a:solidFill>
              </a:rPr>
              <a:t> </a:t>
            </a:r>
            <a:r>
              <a:rPr sz="2000" b="1" u="sng" dirty="0" err="1">
                <a:solidFill>
                  <a:srgbClr val="FF0000"/>
                </a:solidFill>
              </a:rPr>
              <a:t>mediante</a:t>
            </a:r>
            <a:r>
              <a:rPr sz="2000" b="1" u="sng" dirty="0">
                <a:solidFill>
                  <a:srgbClr val="FF0000"/>
                </a:solidFill>
              </a:rPr>
              <a:t> </a:t>
            </a:r>
            <a:r>
              <a:rPr sz="2000" b="1" u="sng" dirty="0" err="1">
                <a:solidFill>
                  <a:srgbClr val="FF0000"/>
                </a:solidFill>
              </a:rPr>
              <a:t>omissione</a:t>
            </a:r>
            <a:r>
              <a:rPr sz="2000" b="1" u="sng" dirty="0">
                <a:solidFill>
                  <a:srgbClr val="FF0000"/>
                </a:solidFill>
              </a:rPr>
              <a:t>: </a:t>
            </a:r>
            <a:r>
              <a:rPr sz="2000" dirty="0" err="1"/>
              <a:t>fattispecie</a:t>
            </a:r>
            <a:r>
              <a:rPr sz="2000" dirty="0"/>
              <a:t> in cui </a:t>
            </a:r>
            <a:r>
              <a:rPr sz="2000" dirty="0" err="1"/>
              <a:t>l’agevolazione</a:t>
            </a:r>
            <a:r>
              <a:rPr sz="2000" dirty="0"/>
              <a:t> </a:t>
            </a:r>
            <a:r>
              <a:rPr sz="2000" dirty="0" err="1"/>
              <a:t>dell’evasione</a:t>
            </a:r>
            <a:r>
              <a:rPr sz="2000" dirty="0"/>
              <a:t> di </a:t>
            </a:r>
            <a:r>
              <a:rPr sz="2000" dirty="0" err="1"/>
              <a:t>taluni</a:t>
            </a:r>
            <a:r>
              <a:rPr sz="2000" dirty="0"/>
              <a:t> </a:t>
            </a:r>
            <a:r>
              <a:rPr sz="2000" dirty="0" err="1"/>
              <a:t>reclusi</a:t>
            </a:r>
            <a:r>
              <a:rPr sz="2000" dirty="0"/>
              <a:t> era </a:t>
            </a:r>
            <a:r>
              <a:rPr sz="2000" dirty="0" err="1"/>
              <a:t>stata</a:t>
            </a:r>
            <a:r>
              <a:rPr sz="2000" dirty="0"/>
              <a:t> </a:t>
            </a:r>
            <a:r>
              <a:rPr sz="2000" dirty="0" err="1"/>
              <a:t>attuata</a:t>
            </a:r>
            <a:r>
              <a:rPr sz="2000" dirty="0"/>
              <a:t> </a:t>
            </a:r>
            <a:r>
              <a:rPr sz="2000" dirty="0" err="1"/>
              <a:t>mediante</a:t>
            </a:r>
            <a:r>
              <a:rPr sz="2000" dirty="0"/>
              <a:t> la </a:t>
            </a:r>
            <a:r>
              <a:rPr sz="2000" dirty="0" err="1"/>
              <a:t>totale</a:t>
            </a:r>
            <a:r>
              <a:rPr sz="2000" dirty="0"/>
              <a:t> </a:t>
            </a:r>
            <a:r>
              <a:rPr sz="2000" dirty="0" err="1"/>
              <a:t>omissione</a:t>
            </a:r>
            <a:r>
              <a:rPr sz="2000" dirty="0"/>
              <a:t> di </a:t>
            </a:r>
            <a:r>
              <a:rPr sz="2000" dirty="0" err="1"/>
              <a:t>controlli</a:t>
            </a:r>
            <a:r>
              <a:rPr sz="2000" dirty="0"/>
              <a:t>. </a:t>
            </a:r>
            <a:endParaRPr lang="it-IT" sz="2000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Il </a:t>
            </a:r>
            <a:r>
              <a:rPr sz="2000" dirty="0" err="1"/>
              <a:t>delitto</a:t>
            </a:r>
            <a:r>
              <a:rPr sz="2000" dirty="0"/>
              <a:t> è </a:t>
            </a:r>
            <a:r>
              <a:rPr sz="2000" dirty="0" err="1"/>
              <a:t>configurabile</a:t>
            </a:r>
            <a:r>
              <a:rPr sz="2000" dirty="0"/>
              <a:t> </a:t>
            </a:r>
            <a:r>
              <a:rPr sz="2000" dirty="0" err="1"/>
              <a:t>anche</a:t>
            </a:r>
            <a:r>
              <a:rPr sz="2000" dirty="0"/>
              <a:t> </a:t>
            </a:r>
            <a:r>
              <a:rPr sz="2000" dirty="0" err="1"/>
              <a:t>nel</a:t>
            </a:r>
            <a:r>
              <a:rPr sz="2000" dirty="0"/>
              <a:t> </a:t>
            </a:r>
            <a:r>
              <a:rPr sz="2000" dirty="0" err="1"/>
              <a:t>caso</a:t>
            </a:r>
            <a:r>
              <a:rPr sz="2000" dirty="0"/>
              <a:t> di </a:t>
            </a:r>
            <a:r>
              <a:rPr sz="2000" b="1" u="sng" dirty="0" err="1">
                <a:solidFill>
                  <a:srgbClr val="FF0000"/>
                </a:solidFill>
              </a:rPr>
              <a:t>procurata</a:t>
            </a:r>
            <a:r>
              <a:rPr sz="2000" b="1" u="sng" dirty="0">
                <a:solidFill>
                  <a:srgbClr val="FF0000"/>
                </a:solidFill>
              </a:rPr>
              <a:t> </a:t>
            </a:r>
            <a:r>
              <a:rPr sz="2000" b="1" u="sng" dirty="0" err="1">
                <a:solidFill>
                  <a:srgbClr val="FF0000"/>
                </a:solidFill>
              </a:rPr>
              <a:t>evasione</a:t>
            </a:r>
            <a:r>
              <a:rPr sz="2000" b="1" u="sng" dirty="0">
                <a:solidFill>
                  <a:srgbClr val="FF0000"/>
                </a:solidFill>
              </a:rPr>
              <a:t> cd. </a:t>
            </a:r>
            <a:r>
              <a:rPr sz="2000" b="1" u="sng" dirty="0" err="1">
                <a:solidFill>
                  <a:srgbClr val="FF0000"/>
                </a:solidFill>
              </a:rPr>
              <a:t>impropria</a:t>
            </a:r>
            <a:r>
              <a:rPr sz="2000" dirty="0"/>
              <a:t>, ossia dal </a:t>
            </a:r>
            <a:r>
              <a:rPr sz="2000" dirty="0" err="1"/>
              <a:t>luogo</a:t>
            </a:r>
            <a:r>
              <a:rPr sz="2000" dirty="0"/>
              <a:t> </a:t>
            </a:r>
            <a:r>
              <a:rPr sz="2000" dirty="0" err="1"/>
              <a:t>degli</a:t>
            </a:r>
            <a:r>
              <a:rPr sz="2000" dirty="0"/>
              <a:t> </a:t>
            </a:r>
            <a:r>
              <a:rPr sz="2000" dirty="0" err="1"/>
              <a:t>arresti</a:t>
            </a:r>
            <a:r>
              <a:rPr sz="2000" dirty="0"/>
              <a:t> </a:t>
            </a:r>
            <a:r>
              <a:rPr sz="2000" dirty="0" err="1"/>
              <a:t>domiciliari</a:t>
            </a:r>
            <a:r>
              <a:rPr sz="2000" dirty="0"/>
              <a:t> </a:t>
            </a:r>
            <a:r>
              <a:rPr sz="2000" dirty="0" err="1"/>
              <a:t>anche</a:t>
            </a:r>
            <a:r>
              <a:rPr sz="2000" dirty="0"/>
              <a:t> se </a:t>
            </a:r>
            <a:r>
              <a:rPr sz="2000" dirty="0" err="1"/>
              <a:t>difetta</a:t>
            </a:r>
            <a:r>
              <a:rPr sz="2000" dirty="0"/>
              <a:t> la </a:t>
            </a:r>
            <a:r>
              <a:rPr sz="2000" dirty="0" err="1"/>
              <a:t>presenza</a:t>
            </a:r>
            <a:r>
              <a:rPr sz="2000" dirty="0"/>
              <a:t> di </a:t>
            </a:r>
            <a:r>
              <a:rPr sz="2000" dirty="0" err="1"/>
              <a:t>sorveglianza</a:t>
            </a:r>
            <a:r>
              <a:rPr sz="2000" dirty="0"/>
              <a:t> </a:t>
            </a:r>
            <a:r>
              <a:rPr sz="2000" dirty="0" err="1"/>
              <a:t>diretta</a:t>
            </a:r>
            <a:r>
              <a:rPr sz="2000" dirty="0"/>
              <a:t> da </a:t>
            </a:r>
            <a:r>
              <a:rPr sz="2000" dirty="0" err="1"/>
              <a:t>parte</a:t>
            </a:r>
            <a:r>
              <a:rPr sz="2000" dirty="0"/>
              <a:t> di </a:t>
            </a:r>
            <a:r>
              <a:rPr sz="2000" dirty="0" err="1"/>
              <a:t>soggetti</a:t>
            </a:r>
            <a:r>
              <a:rPr sz="2000" dirty="0"/>
              <a:t> tenuti </a:t>
            </a:r>
            <a:r>
              <a:rPr sz="2000" i="1" dirty="0"/>
              <a:t>ex </a:t>
            </a:r>
            <a:r>
              <a:rPr sz="2000" i="1" dirty="0" err="1"/>
              <a:t>lege</a:t>
            </a:r>
            <a:r>
              <a:rPr sz="2000" dirty="0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Ne </a:t>
            </a:r>
            <a:r>
              <a:rPr sz="2000" dirty="0" err="1"/>
              <a:t>consegue</a:t>
            </a:r>
            <a:r>
              <a:rPr sz="2000" dirty="0"/>
              <a:t> </a:t>
            </a:r>
            <a:r>
              <a:rPr sz="2000" dirty="0" err="1"/>
              <a:t>che</a:t>
            </a:r>
            <a:r>
              <a:rPr sz="2000" dirty="0"/>
              <a:t> </a:t>
            </a:r>
            <a:r>
              <a:rPr sz="2000" dirty="0" err="1"/>
              <a:t>chiunque</a:t>
            </a:r>
            <a:r>
              <a:rPr sz="2000" dirty="0"/>
              <a:t> </a:t>
            </a:r>
            <a:r>
              <a:rPr sz="2000" dirty="0" err="1"/>
              <a:t>può</a:t>
            </a:r>
            <a:r>
              <a:rPr sz="2000" dirty="0"/>
              <a:t> </a:t>
            </a:r>
            <a:r>
              <a:rPr sz="2000" dirty="0" err="1"/>
              <a:t>agevolare</a:t>
            </a:r>
            <a:r>
              <a:rPr sz="2000" dirty="0"/>
              <a:t> </a:t>
            </a:r>
            <a:r>
              <a:rPr sz="2000" dirty="0" err="1"/>
              <a:t>l’evasione</a:t>
            </a:r>
            <a:r>
              <a:rPr sz="2000" dirty="0"/>
              <a:t> del </a:t>
            </a:r>
            <a:r>
              <a:rPr sz="2000" dirty="0" err="1"/>
              <a:t>soggetto</a:t>
            </a:r>
            <a:r>
              <a:rPr sz="2000" dirty="0"/>
              <a:t> </a:t>
            </a:r>
            <a:r>
              <a:rPr sz="2000" dirty="0" err="1"/>
              <a:t>legalmente</a:t>
            </a:r>
            <a:r>
              <a:rPr sz="2000" dirty="0"/>
              <a:t> </a:t>
            </a:r>
            <a:r>
              <a:rPr sz="2000" dirty="0" err="1"/>
              <a:t>privato</a:t>
            </a:r>
            <a:r>
              <a:rPr sz="2000" dirty="0"/>
              <a:t> </a:t>
            </a:r>
            <a:r>
              <a:rPr sz="2000" dirty="0" err="1"/>
              <a:t>della</a:t>
            </a:r>
            <a:r>
              <a:rPr sz="2000" dirty="0"/>
              <a:t> </a:t>
            </a:r>
            <a:r>
              <a:rPr sz="2000" dirty="0" err="1"/>
              <a:t>libertà</a:t>
            </a:r>
            <a:r>
              <a:rPr sz="2000" dirty="0"/>
              <a:t> </a:t>
            </a:r>
            <a:r>
              <a:rPr sz="2000" dirty="0" err="1"/>
              <a:t>personale</a:t>
            </a:r>
            <a:r>
              <a:rPr sz="2000" dirty="0"/>
              <a:t>, </a:t>
            </a:r>
            <a:r>
              <a:rPr sz="2000" dirty="0" err="1"/>
              <a:t>anche</a:t>
            </a:r>
            <a:r>
              <a:rPr sz="2000" dirty="0"/>
              <a:t> se </a:t>
            </a:r>
            <a:r>
              <a:rPr sz="2000" dirty="0" err="1"/>
              <a:t>questi</a:t>
            </a:r>
            <a:r>
              <a:rPr sz="2000" dirty="0"/>
              <a:t> </a:t>
            </a:r>
            <a:r>
              <a:rPr sz="2000" dirty="0" err="1"/>
              <a:t>si</a:t>
            </a:r>
            <a:r>
              <a:rPr sz="2000" dirty="0"/>
              <a:t> </a:t>
            </a:r>
            <a:r>
              <a:rPr sz="2000" dirty="0" err="1"/>
              <a:t>trovi</a:t>
            </a:r>
            <a:r>
              <a:rPr sz="2000" dirty="0"/>
              <a:t> in regime di </a:t>
            </a:r>
            <a:r>
              <a:rPr sz="2000" dirty="0" err="1"/>
              <a:t>arresti</a:t>
            </a:r>
            <a:r>
              <a:rPr sz="2000" dirty="0"/>
              <a:t> </a:t>
            </a:r>
            <a:r>
              <a:rPr sz="2000" dirty="0" err="1"/>
              <a:t>domiciliari</a:t>
            </a:r>
            <a:r>
              <a:rPr sz="2000" dirty="0"/>
              <a:t>. </a:t>
            </a:r>
          </a:p>
        </p:txBody>
      </p:sp>
      <p:pic>
        <p:nvPicPr>
          <p:cNvPr id="448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Procurata evasione</a:t>
            </a:r>
          </a:p>
        </p:txBody>
      </p:sp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F3529BFC-A9D4-46C5-858D-6FEF0C00A53A}"/>
              </a:ext>
            </a:extLst>
          </p:cNvPr>
          <p:cNvSpPr/>
          <p:nvPr/>
        </p:nvSpPr>
        <p:spPr>
          <a:xfrm>
            <a:off x="2352582" y="1020932"/>
            <a:ext cx="701336" cy="248575"/>
          </a:xfrm>
          <a:prstGeom prst="rightArrow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309458D3-06CD-495E-8DF5-3FD9B2C842F1}"/>
              </a:ext>
            </a:extLst>
          </p:cNvPr>
          <p:cNvSpPr/>
          <p:nvPr/>
        </p:nvSpPr>
        <p:spPr>
          <a:xfrm>
            <a:off x="2611514" y="2354063"/>
            <a:ext cx="701336" cy="248575"/>
          </a:xfrm>
          <a:prstGeom prst="rightArrow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ttangolo 4"/>
          <p:cNvSpPr txBox="1"/>
          <p:nvPr/>
        </p:nvSpPr>
        <p:spPr>
          <a:xfrm>
            <a:off x="399496" y="1823176"/>
            <a:ext cx="8407154" cy="1743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ELEMENTO SOGGETTIVO</a:t>
            </a:r>
            <a:r>
              <a:rPr sz="2400" u="none" dirty="0"/>
              <a:t> </a:t>
            </a:r>
            <a:r>
              <a:rPr sz="2400" b="0" u="none" dirty="0"/>
              <a:t>è </a:t>
            </a:r>
            <a:r>
              <a:rPr sz="2400" b="0" u="none" dirty="0" err="1"/>
              <a:t>il</a:t>
            </a:r>
            <a:r>
              <a:rPr sz="2400" b="0" u="none" dirty="0"/>
              <a:t> </a:t>
            </a:r>
            <a:r>
              <a:rPr sz="2400" u="none" dirty="0">
                <a:solidFill>
                  <a:srgbClr val="A22E8C"/>
                </a:solidFill>
              </a:rPr>
              <a:t>DOLO GENERICO</a:t>
            </a:r>
            <a:r>
              <a:rPr sz="2400" b="0" u="none" dirty="0"/>
              <a:t>, </a:t>
            </a:r>
            <a:r>
              <a:rPr sz="2400" b="0" u="none" dirty="0" err="1"/>
              <a:t>coscienza</a:t>
            </a:r>
            <a:r>
              <a:rPr sz="2400" b="0" u="none" dirty="0"/>
              <a:t> e </a:t>
            </a:r>
            <a:r>
              <a:rPr sz="2400" b="0" u="none" dirty="0" err="1"/>
              <a:t>volontà</a:t>
            </a:r>
            <a:r>
              <a:rPr sz="2400" b="0" u="none" dirty="0"/>
              <a:t> di </a:t>
            </a:r>
            <a:r>
              <a:rPr sz="2400" b="0" u="none" dirty="0" err="1"/>
              <a:t>agevolare</a:t>
            </a:r>
            <a:r>
              <a:rPr sz="2400" b="0" u="none" dirty="0"/>
              <a:t> o </a:t>
            </a:r>
            <a:r>
              <a:rPr sz="2400" b="0" u="none" dirty="0" err="1"/>
              <a:t>procurare</a:t>
            </a:r>
            <a:r>
              <a:rPr sz="2400" b="0" u="none" dirty="0"/>
              <a:t> </a:t>
            </a:r>
            <a:r>
              <a:rPr sz="2400" b="0" u="none" dirty="0" err="1"/>
              <a:t>l’evasione</a:t>
            </a:r>
            <a:r>
              <a:rPr sz="2400" b="0" u="none" dirty="0"/>
              <a:t> di una persona </a:t>
            </a:r>
            <a:r>
              <a:rPr sz="2400" b="0" u="none" dirty="0" err="1"/>
              <a:t>che</a:t>
            </a:r>
            <a:r>
              <a:rPr sz="2400" b="0" u="none" dirty="0"/>
              <a:t> </a:t>
            </a:r>
            <a:r>
              <a:rPr sz="2400" b="0" u="none" dirty="0" err="1"/>
              <a:t>si</a:t>
            </a:r>
            <a:r>
              <a:rPr sz="2400" b="0" u="none" dirty="0"/>
              <a:t> </a:t>
            </a:r>
            <a:r>
              <a:rPr sz="2400" b="0" u="none" dirty="0" err="1"/>
              <a:t>sa</a:t>
            </a:r>
            <a:r>
              <a:rPr sz="2400" b="0" u="none" dirty="0"/>
              <a:t> </a:t>
            </a:r>
            <a:r>
              <a:rPr sz="2400" b="0" u="none" dirty="0" err="1"/>
              <a:t>essere</a:t>
            </a:r>
            <a:r>
              <a:rPr sz="2400" b="0" u="none" dirty="0"/>
              <a:t> in </a:t>
            </a:r>
            <a:r>
              <a:rPr sz="2400" b="0" u="none" dirty="0" err="1"/>
              <a:t>stato</a:t>
            </a:r>
            <a:r>
              <a:rPr sz="2400" b="0" u="none" dirty="0"/>
              <a:t> di </a:t>
            </a:r>
            <a:r>
              <a:rPr sz="2400" b="0" u="none" dirty="0" err="1"/>
              <a:t>arresto</a:t>
            </a:r>
            <a:r>
              <a:rPr sz="2400" b="0" u="none" dirty="0"/>
              <a:t> o </a:t>
            </a:r>
            <a:r>
              <a:rPr sz="2400" b="0" u="none" dirty="0" err="1"/>
              <a:t>detenzione</a:t>
            </a:r>
            <a:r>
              <a:rPr sz="2400" b="0" u="none" dirty="0"/>
              <a:t>.</a:t>
            </a:r>
          </a:p>
        </p:txBody>
      </p:sp>
      <p:pic>
        <p:nvPicPr>
          <p:cNvPr id="452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Procurata evasione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ttangolo 4"/>
          <p:cNvSpPr txBox="1"/>
          <p:nvPr/>
        </p:nvSpPr>
        <p:spPr>
          <a:xfrm>
            <a:off x="171100" y="980728"/>
            <a:ext cx="8843703" cy="4307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delitto</a:t>
            </a:r>
            <a:r>
              <a:rPr dirty="0"/>
              <a:t> di </a:t>
            </a:r>
            <a:r>
              <a:rPr dirty="0" err="1"/>
              <a:t>procurata</a:t>
            </a:r>
            <a:r>
              <a:rPr dirty="0"/>
              <a:t> </a:t>
            </a:r>
            <a:r>
              <a:rPr dirty="0" err="1"/>
              <a:t>evasione</a:t>
            </a:r>
            <a:r>
              <a:rPr dirty="0"/>
              <a:t> </a:t>
            </a:r>
            <a:r>
              <a:rPr lang="it-IT" b="1" dirty="0"/>
              <a:t>SI CONSUMA </a:t>
            </a:r>
            <a:r>
              <a:rPr b="1" dirty="0"/>
              <a:t>con </a:t>
            </a:r>
            <a:r>
              <a:rPr b="1" dirty="0" err="1"/>
              <a:t>il</a:t>
            </a:r>
            <a:r>
              <a:rPr b="1" dirty="0"/>
              <a:t> </a:t>
            </a:r>
            <a:r>
              <a:rPr b="1" dirty="0" err="1"/>
              <a:t>verificarsi</a:t>
            </a:r>
            <a:r>
              <a:rPr b="1" dirty="0"/>
              <a:t> </a:t>
            </a:r>
            <a:r>
              <a:rPr b="1" dirty="0" err="1"/>
              <a:t>dell’evasione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ne </a:t>
            </a:r>
            <a:r>
              <a:rPr dirty="0" err="1"/>
              <a:t>rappresenta</a:t>
            </a:r>
            <a:r>
              <a:rPr dirty="0"/>
              <a:t> </a:t>
            </a:r>
            <a:r>
              <a:rPr dirty="0" err="1"/>
              <a:t>pertanto</a:t>
            </a:r>
            <a:r>
              <a:rPr dirty="0"/>
              <a:t> un </a:t>
            </a:r>
            <a:r>
              <a:rPr dirty="0" err="1"/>
              <a:t>elemento</a:t>
            </a:r>
            <a:r>
              <a:rPr dirty="0"/>
              <a:t> </a:t>
            </a:r>
            <a:r>
              <a:rPr dirty="0" err="1"/>
              <a:t>costitutivo</a:t>
            </a:r>
            <a:r>
              <a:rPr dirty="0"/>
              <a:t> 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consumativo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tentativo</a:t>
            </a:r>
            <a:r>
              <a:rPr dirty="0"/>
              <a:t> è </a:t>
            </a:r>
            <a:r>
              <a:rPr dirty="0" err="1"/>
              <a:t>configurabile</a:t>
            </a:r>
            <a:r>
              <a:rPr dirty="0"/>
              <a:t> (o </a:t>
            </a:r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l’evasione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rimasta</a:t>
            </a:r>
            <a:r>
              <a:rPr dirty="0"/>
              <a:t> </a:t>
            </a:r>
            <a:r>
              <a:rPr dirty="0" err="1"/>
              <a:t>allo</a:t>
            </a:r>
            <a:r>
              <a:rPr dirty="0"/>
              <a:t> </a:t>
            </a:r>
            <a:r>
              <a:rPr dirty="0" err="1"/>
              <a:t>stadio</a:t>
            </a:r>
            <a:r>
              <a:rPr dirty="0"/>
              <a:t> di </a:t>
            </a:r>
            <a:r>
              <a:rPr dirty="0" err="1"/>
              <a:t>tentativo</a:t>
            </a:r>
            <a:r>
              <a:rPr dirty="0"/>
              <a:t> o </a:t>
            </a:r>
            <a:r>
              <a:rPr dirty="0" err="1"/>
              <a:t>perché</a:t>
            </a:r>
            <a:r>
              <a:rPr dirty="0"/>
              <a:t> non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attuata</a:t>
            </a:r>
            <a:r>
              <a:rPr dirty="0"/>
              <a:t>). </a:t>
            </a:r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la </a:t>
            </a:r>
            <a:r>
              <a:rPr dirty="0" err="1"/>
              <a:t>configurabilità</a:t>
            </a:r>
            <a:r>
              <a:rPr dirty="0"/>
              <a:t> del </a:t>
            </a:r>
            <a:r>
              <a:rPr dirty="0" err="1"/>
              <a:t>delitto</a:t>
            </a:r>
            <a:r>
              <a:rPr dirty="0"/>
              <a:t>,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, a </a:t>
            </a:r>
            <a:r>
              <a:rPr dirty="0" err="1"/>
              <a:t>seconda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, del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consumato</a:t>
            </a:r>
            <a:r>
              <a:rPr dirty="0"/>
              <a:t> o </a:t>
            </a:r>
            <a:r>
              <a:rPr dirty="0" err="1"/>
              <a:t>tentato</a:t>
            </a:r>
            <a:r>
              <a:rPr dirty="0"/>
              <a:t>, </a:t>
            </a:r>
            <a:r>
              <a:rPr b="1" dirty="0">
                <a:solidFill>
                  <a:srgbClr val="A22E8C"/>
                </a:solidFill>
              </a:rPr>
              <a:t>è </a:t>
            </a:r>
            <a:r>
              <a:rPr b="1" dirty="0" err="1">
                <a:solidFill>
                  <a:srgbClr val="A22E8C"/>
                </a:solidFill>
              </a:rPr>
              <a:t>sempre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necessario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che</a:t>
            </a:r>
            <a:r>
              <a:rPr b="1" dirty="0">
                <a:solidFill>
                  <a:srgbClr val="A22E8C"/>
                </a:solidFill>
              </a:rPr>
              <a:t> la persona </a:t>
            </a:r>
            <a:r>
              <a:rPr b="1" dirty="0" err="1">
                <a:solidFill>
                  <a:srgbClr val="A22E8C"/>
                </a:solidFill>
              </a:rPr>
              <a:t>arrestata</a:t>
            </a:r>
            <a:r>
              <a:rPr b="1" dirty="0">
                <a:solidFill>
                  <a:srgbClr val="A22E8C"/>
                </a:solidFill>
              </a:rPr>
              <a:t> o </a:t>
            </a:r>
            <a:r>
              <a:rPr b="1" dirty="0" err="1">
                <a:solidFill>
                  <a:srgbClr val="A22E8C"/>
                </a:solidFill>
              </a:rPr>
              <a:t>detenuta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effettivamente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evada</a:t>
            </a:r>
            <a:r>
              <a:rPr b="1" dirty="0">
                <a:solidFill>
                  <a:srgbClr val="A22E8C"/>
                </a:solidFill>
              </a:rPr>
              <a:t>, </a:t>
            </a:r>
            <a:r>
              <a:rPr b="1" dirty="0" err="1">
                <a:solidFill>
                  <a:srgbClr val="A22E8C"/>
                </a:solidFill>
              </a:rPr>
              <a:t>tenti</a:t>
            </a:r>
            <a:r>
              <a:rPr b="1" dirty="0">
                <a:solidFill>
                  <a:srgbClr val="A22E8C"/>
                </a:solidFill>
              </a:rPr>
              <a:t> di </a:t>
            </a:r>
            <a:r>
              <a:rPr b="1" dirty="0" err="1">
                <a:solidFill>
                  <a:srgbClr val="A22E8C"/>
                </a:solidFill>
              </a:rPr>
              <a:t>evadere</a:t>
            </a:r>
            <a:r>
              <a:rPr b="1" dirty="0">
                <a:solidFill>
                  <a:srgbClr val="A22E8C"/>
                </a:solidFill>
              </a:rPr>
              <a:t> o </a:t>
            </a:r>
            <a:r>
              <a:rPr b="1" dirty="0" err="1">
                <a:solidFill>
                  <a:srgbClr val="A22E8C"/>
                </a:solidFill>
              </a:rPr>
              <a:t>comunque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abbia</a:t>
            </a:r>
            <a:r>
              <a:rPr b="1" dirty="0">
                <a:solidFill>
                  <a:srgbClr val="A22E8C"/>
                </a:solidFill>
              </a:rPr>
              <a:t> la </a:t>
            </a:r>
            <a:r>
              <a:rPr b="1" dirty="0" err="1">
                <a:solidFill>
                  <a:srgbClr val="A22E8C"/>
                </a:solidFill>
              </a:rPr>
              <a:t>sicura</a:t>
            </a:r>
            <a:r>
              <a:rPr b="1" dirty="0">
                <a:solidFill>
                  <a:srgbClr val="A22E8C"/>
                </a:solidFill>
              </a:rPr>
              <a:t> </a:t>
            </a:r>
            <a:r>
              <a:rPr b="1" dirty="0" err="1">
                <a:solidFill>
                  <a:srgbClr val="A22E8C"/>
                </a:solidFill>
              </a:rPr>
              <a:t>volontà</a:t>
            </a:r>
            <a:r>
              <a:rPr b="1" dirty="0">
                <a:solidFill>
                  <a:srgbClr val="A22E8C"/>
                </a:solidFill>
              </a:rPr>
              <a:t> di </a:t>
            </a:r>
            <a:r>
              <a:rPr b="1" dirty="0" err="1">
                <a:solidFill>
                  <a:srgbClr val="A22E8C"/>
                </a:solidFill>
              </a:rPr>
              <a:t>evadere</a:t>
            </a:r>
            <a:r>
              <a:rPr b="1" dirty="0">
                <a:solidFill>
                  <a:srgbClr val="A22E8C"/>
                </a:solidFill>
              </a:rPr>
              <a:t>.</a:t>
            </a:r>
          </a:p>
        </p:txBody>
      </p:sp>
      <p:pic>
        <p:nvPicPr>
          <p:cNvPr id="456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Procurata evasione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ttangolo 4"/>
          <p:cNvSpPr txBox="1"/>
          <p:nvPr/>
        </p:nvSpPr>
        <p:spPr>
          <a:xfrm>
            <a:off x="153224" y="882110"/>
            <a:ext cx="8736198" cy="2798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FF33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Art. 387 </a:t>
            </a:r>
            <a:r>
              <a:rPr dirty="0" err="1">
                <a:solidFill>
                  <a:srgbClr val="FF0000"/>
                </a:solidFill>
              </a:rPr>
              <a:t>c.p.</a:t>
            </a:r>
            <a:r>
              <a:rPr dirty="0">
                <a:solidFill>
                  <a:srgbClr val="FF0000"/>
                </a:solidFill>
              </a:rPr>
              <a:t> Colpa del custode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/>
              <a:t>Chiunque</a:t>
            </a:r>
            <a:r>
              <a:rPr dirty="0"/>
              <a:t>, </a:t>
            </a:r>
            <a:r>
              <a:rPr b="1" dirty="0" err="1">
                <a:solidFill>
                  <a:srgbClr val="FF3399"/>
                </a:solidFill>
              </a:rPr>
              <a:t>preposto</a:t>
            </a:r>
            <a:r>
              <a:rPr b="1" dirty="0">
                <a:solidFill>
                  <a:srgbClr val="FF3399"/>
                </a:solidFill>
              </a:rPr>
              <a:t> in </a:t>
            </a:r>
            <a:r>
              <a:rPr b="1" dirty="0" err="1">
                <a:solidFill>
                  <a:srgbClr val="FF3399"/>
                </a:solidFill>
              </a:rPr>
              <a:t>ragione</a:t>
            </a:r>
            <a:r>
              <a:rPr b="1" dirty="0">
                <a:solidFill>
                  <a:srgbClr val="FF3399"/>
                </a:solidFill>
              </a:rPr>
              <a:t> del </a:t>
            </a:r>
            <a:r>
              <a:rPr b="1" dirty="0" err="1">
                <a:solidFill>
                  <a:srgbClr val="FF3399"/>
                </a:solidFill>
              </a:rPr>
              <a:t>suo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b="1" dirty="0" err="1">
                <a:solidFill>
                  <a:srgbClr val="FF3399"/>
                </a:solidFill>
              </a:rPr>
              <a:t>ufficio</a:t>
            </a:r>
            <a:r>
              <a:rPr b="1" dirty="0">
                <a:solidFill>
                  <a:srgbClr val="FF3399"/>
                </a:solidFill>
              </a:rPr>
              <a:t> alla custodia</a:t>
            </a:r>
            <a:r>
              <a:rPr dirty="0"/>
              <a:t>, </a:t>
            </a:r>
            <a:r>
              <a:rPr dirty="0" err="1"/>
              <a:t>anche</a:t>
            </a:r>
            <a:r>
              <a:rPr dirty="0"/>
              <a:t> </a:t>
            </a:r>
            <a:r>
              <a:rPr dirty="0" err="1"/>
              <a:t>temporanea</a:t>
            </a:r>
            <a:r>
              <a:rPr dirty="0"/>
              <a:t>, </a:t>
            </a:r>
            <a:r>
              <a:rPr b="1" dirty="0"/>
              <a:t>di </a:t>
            </a:r>
            <a:r>
              <a:rPr b="1" dirty="0" err="1"/>
              <a:t>una</a:t>
            </a:r>
            <a:r>
              <a:rPr b="1" dirty="0"/>
              <a:t> persona </a:t>
            </a:r>
            <a:r>
              <a:rPr b="1" dirty="0" err="1"/>
              <a:t>arrestata</a:t>
            </a:r>
            <a:r>
              <a:rPr b="1" dirty="0"/>
              <a:t> o </a:t>
            </a:r>
            <a:r>
              <a:rPr b="1" dirty="0" err="1"/>
              <a:t>detenuta</a:t>
            </a:r>
            <a:r>
              <a:rPr b="1" dirty="0"/>
              <a:t> per un </a:t>
            </a:r>
            <a:r>
              <a:rPr b="1" dirty="0" err="1"/>
              <a:t>reato</a:t>
            </a:r>
            <a:r>
              <a:rPr dirty="0"/>
              <a:t>, </a:t>
            </a:r>
            <a:r>
              <a:rPr b="1" dirty="0">
                <a:solidFill>
                  <a:srgbClr val="FF3399"/>
                </a:solidFill>
              </a:rPr>
              <a:t>ne </a:t>
            </a:r>
            <a:r>
              <a:rPr b="1" dirty="0" err="1">
                <a:solidFill>
                  <a:srgbClr val="FF3399"/>
                </a:solidFill>
              </a:rPr>
              <a:t>cagiona</a:t>
            </a:r>
            <a:r>
              <a:rPr b="1" dirty="0">
                <a:solidFill>
                  <a:srgbClr val="FF3399"/>
                </a:solidFill>
              </a:rPr>
              <a:t>, </a:t>
            </a:r>
            <a:r>
              <a:rPr b="1" u="sng" dirty="0">
                <a:solidFill>
                  <a:srgbClr val="FF3399"/>
                </a:solidFill>
              </a:rPr>
              <a:t>per </a:t>
            </a:r>
            <a:r>
              <a:rPr b="1" u="sng" dirty="0" err="1">
                <a:solidFill>
                  <a:srgbClr val="FF3399"/>
                </a:solidFill>
              </a:rPr>
              <a:t>colpa</a:t>
            </a:r>
            <a:r>
              <a:rPr b="1" dirty="0">
                <a:solidFill>
                  <a:srgbClr val="FF3399"/>
                </a:solidFill>
              </a:rPr>
              <a:t>, </a:t>
            </a:r>
            <a:r>
              <a:rPr b="1" dirty="0" err="1">
                <a:solidFill>
                  <a:srgbClr val="FF3399"/>
                </a:solidFill>
              </a:rPr>
              <a:t>l’evasione</a:t>
            </a:r>
            <a:r>
              <a:rPr b="1" dirty="0">
                <a:solidFill>
                  <a:srgbClr val="FF3399"/>
                </a:solidFill>
              </a:rPr>
              <a:t>, </a:t>
            </a:r>
            <a:r>
              <a:rPr dirty="0"/>
              <a:t>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</a:t>
            </a:r>
            <a:r>
              <a:rPr dirty="0" err="1"/>
              <a:t>tre</a:t>
            </a:r>
            <a:r>
              <a:rPr dirty="0"/>
              <a:t> anni o con la </a:t>
            </a:r>
            <a:r>
              <a:rPr dirty="0" err="1"/>
              <a:t>multa</a:t>
            </a:r>
            <a:r>
              <a:rPr dirty="0"/>
              <a:t> da 103 a 1032 euro. </a:t>
            </a:r>
          </a:p>
          <a:p>
            <a:pPr algn="just">
              <a:lnSpc>
                <a:spcPct val="114000"/>
              </a:lnSpc>
              <a:defRPr sz="2200" b="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b="1" u="sng" dirty="0" err="1"/>
              <a:t>colpevole</a:t>
            </a:r>
            <a:r>
              <a:rPr b="1" u="sng" dirty="0"/>
              <a:t> non è </a:t>
            </a:r>
            <a:r>
              <a:rPr b="1" u="sng" dirty="0" err="1"/>
              <a:t>punibile</a:t>
            </a:r>
            <a:r>
              <a:rPr b="1" u="sng" dirty="0"/>
              <a:t> </a:t>
            </a:r>
            <a:r>
              <a:rPr dirty="0"/>
              <a:t>se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termine</a:t>
            </a:r>
            <a:r>
              <a:rPr dirty="0"/>
              <a:t> di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mesi</a:t>
            </a:r>
            <a:r>
              <a:rPr dirty="0"/>
              <a:t> </a:t>
            </a:r>
            <a:r>
              <a:rPr dirty="0" err="1"/>
              <a:t>dall’evasione</a:t>
            </a:r>
            <a:r>
              <a:rPr dirty="0"/>
              <a:t> </a:t>
            </a:r>
            <a:r>
              <a:rPr b="1" dirty="0" err="1">
                <a:solidFill>
                  <a:srgbClr val="FF3399"/>
                </a:solidFill>
              </a:rPr>
              <a:t>procura</a:t>
            </a:r>
            <a:r>
              <a:rPr b="1" dirty="0">
                <a:solidFill>
                  <a:srgbClr val="FF3399"/>
                </a:solidFill>
              </a:rPr>
              <a:t> la </a:t>
            </a:r>
            <a:r>
              <a:rPr b="1" dirty="0" err="1">
                <a:solidFill>
                  <a:srgbClr val="FF3399"/>
                </a:solidFill>
              </a:rPr>
              <a:t>cattura</a:t>
            </a:r>
            <a:r>
              <a:rPr dirty="0"/>
              <a:t> della persona </a:t>
            </a:r>
            <a:r>
              <a:rPr dirty="0" err="1"/>
              <a:t>evasa</a:t>
            </a:r>
            <a:r>
              <a:rPr dirty="0"/>
              <a:t> o la </a:t>
            </a:r>
            <a:r>
              <a:rPr dirty="0" err="1"/>
              <a:t>presentazione</a:t>
            </a:r>
            <a:r>
              <a:rPr dirty="0"/>
              <a:t> di lei </a:t>
            </a:r>
            <a:r>
              <a:rPr dirty="0" err="1"/>
              <a:t>all’Autorità</a:t>
            </a:r>
            <a:r>
              <a:rPr dirty="0"/>
              <a:t>.»</a:t>
            </a:r>
          </a:p>
        </p:txBody>
      </p:sp>
      <p:pic>
        <p:nvPicPr>
          <p:cNvPr id="46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65" name="Rettangolo 5"/>
          <p:cNvSpPr txBox="1"/>
          <p:nvPr/>
        </p:nvSpPr>
        <p:spPr>
          <a:xfrm>
            <a:off x="6057880" y="5157192"/>
            <a:ext cx="2494191" cy="907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non consentito</a:t>
            </a:r>
          </a:p>
          <a:p>
            <a:pPr marL="171450" indent="-171450" algn="just">
              <a:buSzPct val="100000"/>
              <a:buFont typeface="Arial"/>
              <a:buChar char="•"/>
              <a:defRPr sz="1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46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Colpa del custode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ttangolo 4"/>
          <p:cNvSpPr txBox="1"/>
          <p:nvPr/>
        </p:nvSpPr>
        <p:spPr>
          <a:xfrm>
            <a:off x="217502" y="1272704"/>
            <a:ext cx="8708996" cy="3835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INTERESSE TUTELATO</a:t>
            </a:r>
            <a:r>
              <a:rPr lang="it-IT" u="sng" dirty="0"/>
              <a:t> </a:t>
            </a:r>
            <a:r>
              <a:rPr lang="it-IT" sz="2200" b="0" dirty="0">
                <a:sym typeface="Times New Roman"/>
              </a:rPr>
              <a:t> è l'interesse al rispetto delle restrizioni della libertà personale legittimamente disposte, </a:t>
            </a:r>
            <a:r>
              <a:rPr b="0" dirty="0"/>
              <a:t>in </a:t>
            </a:r>
            <a:r>
              <a:rPr b="0" dirty="0" err="1"/>
              <a:t>più</a:t>
            </a:r>
            <a:r>
              <a:rPr b="0" dirty="0"/>
              <a:t> la </a:t>
            </a:r>
            <a:r>
              <a:rPr b="0" dirty="0" err="1"/>
              <a:t>norma</a:t>
            </a:r>
            <a:r>
              <a:rPr b="0" dirty="0"/>
              <a:t> </a:t>
            </a:r>
            <a:r>
              <a:rPr b="0" dirty="0" err="1"/>
              <a:t>coinvolge</a:t>
            </a:r>
            <a:r>
              <a:rPr b="0" dirty="0"/>
              <a:t> </a:t>
            </a:r>
            <a:r>
              <a:rPr b="0" dirty="0" err="1"/>
              <a:t>anche</a:t>
            </a:r>
            <a:r>
              <a:rPr b="0" dirty="0"/>
              <a:t> </a:t>
            </a:r>
            <a:r>
              <a:rPr b="0" dirty="0" err="1"/>
              <a:t>profili</a:t>
            </a:r>
            <a:r>
              <a:rPr b="0" dirty="0"/>
              <a:t> di </a:t>
            </a:r>
            <a:r>
              <a:rPr dirty="0" err="1">
                <a:solidFill>
                  <a:srgbClr val="FF3399"/>
                </a:solidFill>
              </a:rPr>
              <a:t>corretto</a:t>
            </a:r>
            <a:r>
              <a:rPr dirty="0">
                <a:solidFill>
                  <a:srgbClr val="FF3399"/>
                </a:solidFill>
              </a:rPr>
              <a:t> ed </a:t>
            </a:r>
            <a:r>
              <a:rPr dirty="0" err="1">
                <a:solidFill>
                  <a:srgbClr val="FF3399"/>
                </a:solidFill>
              </a:rPr>
              <a:t>efficiente</a:t>
            </a:r>
            <a:r>
              <a:rPr dirty="0">
                <a:solidFill>
                  <a:srgbClr val="FF3399"/>
                </a:solidFill>
              </a:rPr>
              <a:t> </a:t>
            </a:r>
            <a:r>
              <a:rPr dirty="0" err="1">
                <a:solidFill>
                  <a:srgbClr val="FF3399"/>
                </a:solidFill>
              </a:rPr>
              <a:t>svolgimento</a:t>
            </a:r>
            <a:r>
              <a:rPr dirty="0">
                <a:solidFill>
                  <a:srgbClr val="FF3399"/>
                </a:solidFill>
              </a:rPr>
              <a:t> </a:t>
            </a:r>
            <a:r>
              <a:rPr dirty="0" err="1">
                <a:solidFill>
                  <a:srgbClr val="FF3399"/>
                </a:solidFill>
              </a:rPr>
              <a:t>della</a:t>
            </a:r>
            <a:r>
              <a:rPr dirty="0">
                <a:solidFill>
                  <a:srgbClr val="FF3399"/>
                </a:solidFill>
              </a:rPr>
              <a:t> </a:t>
            </a:r>
            <a:r>
              <a:rPr dirty="0" err="1">
                <a:solidFill>
                  <a:srgbClr val="FF3399"/>
                </a:solidFill>
              </a:rPr>
              <a:t>funzione</a:t>
            </a:r>
            <a:r>
              <a:rPr dirty="0">
                <a:solidFill>
                  <a:srgbClr val="FF3399"/>
                </a:solidFill>
              </a:rPr>
              <a:t> da </a:t>
            </a:r>
            <a:r>
              <a:rPr dirty="0" err="1">
                <a:solidFill>
                  <a:srgbClr val="FF3399"/>
                </a:solidFill>
              </a:rPr>
              <a:t>parte</a:t>
            </a:r>
            <a:r>
              <a:rPr dirty="0">
                <a:solidFill>
                  <a:srgbClr val="FF3399"/>
                </a:solidFill>
              </a:rPr>
              <a:t> del </a:t>
            </a:r>
            <a:r>
              <a:rPr dirty="0" err="1">
                <a:solidFill>
                  <a:srgbClr val="FF3399"/>
                </a:solidFill>
              </a:rPr>
              <a:t>soggetto</a:t>
            </a:r>
            <a:r>
              <a:rPr dirty="0">
                <a:solidFill>
                  <a:srgbClr val="FF3399"/>
                </a:solidFill>
              </a:rPr>
              <a:t> </a:t>
            </a:r>
            <a:r>
              <a:rPr dirty="0" err="1">
                <a:solidFill>
                  <a:srgbClr val="FF3399"/>
                </a:solidFill>
              </a:rPr>
              <a:t>attivo</a:t>
            </a:r>
            <a:r>
              <a:rPr dirty="0">
                <a:solidFill>
                  <a:srgbClr val="FF3399"/>
                </a:solidFill>
              </a:rPr>
              <a:t> del </a:t>
            </a:r>
            <a:r>
              <a:rPr dirty="0" err="1">
                <a:solidFill>
                  <a:srgbClr val="FF3399"/>
                </a:solidFill>
              </a:rPr>
              <a:t>delitto</a:t>
            </a:r>
            <a:r>
              <a:rPr b="0" dirty="0"/>
              <a:t>. </a:t>
            </a:r>
            <a:endParaRPr lang="it-IT" b="0" dirty="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b="0" dirty="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algn="just">
              <a:lnSpc>
                <a:spcPct val="114000"/>
              </a:lnSpc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Risponde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non solo chi </a:t>
            </a:r>
            <a:r>
              <a:rPr b="1" dirty="0" err="1">
                <a:solidFill>
                  <a:srgbClr val="FF3399"/>
                </a:solidFill>
              </a:rPr>
              <a:t>svolge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b="1" dirty="0" err="1">
                <a:solidFill>
                  <a:srgbClr val="FF3399"/>
                </a:solidFill>
              </a:rPr>
              <a:t>funzioni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b="1" dirty="0" err="1">
                <a:solidFill>
                  <a:srgbClr val="FF3399"/>
                </a:solidFill>
              </a:rPr>
              <a:t>direttive</a:t>
            </a:r>
            <a:r>
              <a:rPr b="1" dirty="0">
                <a:solidFill>
                  <a:srgbClr val="FF3399"/>
                </a:solidFill>
              </a:rPr>
              <a:t> e di </a:t>
            </a:r>
            <a:r>
              <a:rPr b="1" dirty="0" err="1">
                <a:solidFill>
                  <a:srgbClr val="FF3399"/>
                </a:solidFill>
              </a:rPr>
              <a:t>controllo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dirty="0" err="1"/>
              <a:t>nella</a:t>
            </a:r>
            <a:r>
              <a:rPr dirty="0"/>
              <a:t> </a:t>
            </a:r>
            <a:r>
              <a:rPr dirty="0" err="1"/>
              <a:t>sorveglianza</a:t>
            </a:r>
            <a:r>
              <a:rPr dirty="0"/>
              <a:t> del </a:t>
            </a:r>
            <a:r>
              <a:rPr dirty="0" err="1"/>
              <a:t>detenuto</a:t>
            </a:r>
            <a:r>
              <a:rPr dirty="0"/>
              <a:t>, ma </a:t>
            </a:r>
            <a:r>
              <a:rPr dirty="0" err="1"/>
              <a:t>anche</a:t>
            </a:r>
            <a:r>
              <a:rPr dirty="0"/>
              <a:t> chi </a:t>
            </a:r>
            <a:r>
              <a:rPr dirty="0" err="1"/>
              <a:t>abbia</a:t>
            </a:r>
            <a:r>
              <a:rPr dirty="0"/>
              <a:t> </a:t>
            </a:r>
            <a:r>
              <a:rPr b="1" dirty="0" err="1">
                <a:solidFill>
                  <a:srgbClr val="FF3399"/>
                </a:solidFill>
              </a:rPr>
              <a:t>mansioni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b="1" dirty="0" err="1">
                <a:solidFill>
                  <a:srgbClr val="FF3399"/>
                </a:solidFill>
              </a:rPr>
              <a:t>esecutive</a:t>
            </a:r>
            <a:r>
              <a:rPr b="1" dirty="0">
                <a:solidFill>
                  <a:srgbClr val="FF3399"/>
                </a:solidFill>
              </a:rPr>
              <a:t> </a:t>
            </a:r>
            <a:r>
              <a:rPr b="1" dirty="0" err="1">
                <a:solidFill>
                  <a:srgbClr val="FF3399"/>
                </a:solidFill>
              </a:rPr>
              <a:t>concretamente</a:t>
            </a:r>
            <a:r>
              <a:rPr b="1" dirty="0">
                <a:solidFill>
                  <a:srgbClr val="FF3399"/>
                </a:solidFill>
              </a:rPr>
              <a:t> individuate</a:t>
            </a:r>
            <a:r>
              <a:rPr dirty="0"/>
              <a:t> (</a:t>
            </a:r>
            <a:r>
              <a:rPr dirty="0" err="1"/>
              <a:t>agente</a:t>
            </a:r>
            <a:r>
              <a:rPr dirty="0"/>
              <a:t> di </a:t>
            </a:r>
            <a:r>
              <a:rPr dirty="0" err="1"/>
              <a:t>polizia</a:t>
            </a:r>
            <a:r>
              <a:rPr dirty="0"/>
              <a:t> </a:t>
            </a:r>
            <a:r>
              <a:rPr dirty="0" err="1"/>
              <a:t>penitenziaria</a:t>
            </a:r>
            <a:r>
              <a:rPr dirty="0"/>
              <a:t>).</a:t>
            </a:r>
          </a:p>
          <a:p>
            <a:pPr algn="just">
              <a:lnSpc>
                <a:spcPct val="114000"/>
              </a:lnSpc>
              <a:defRPr sz="8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46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Colpa</a:t>
            </a:r>
            <a:r>
              <a:rPr dirty="0"/>
              <a:t> del custode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66F44D-B1DB-4D72-94D7-C4E16C21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0783"/>
            <a:ext cx="4114800" cy="542108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</a:rPr>
              <a:t>Colpa del custode</a:t>
            </a:r>
            <a:br>
              <a:rPr lang="it-IT" dirty="0">
                <a:solidFill>
                  <a:schemeClr val="bg1"/>
                </a:solidFill>
              </a:rPr>
            </a:b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359C78-FC3F-4516-8529-A82CAF4DA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3950"/>
            <a:ext cx="8229600" cy="4912214"/>
          </a:xfrm>
        </p:spPr>
        <p:txBody>
          <a:bodyPr/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b="1" dirty="0"/>
              <a:t>ELEMENTO OGGETTIVO</a:t>
            </a:r>
            <a:r>
              <a:rPr lang="it-IT" dirty="0"/>
              <a:t>: consiste nel </a:t>
            </a:r>
            <a:r>
              <a:rPr lang="it-IT" dirty="0">
                <a:solidFill>
                  <a:srgbClr val="FF3399"/>
                </a:solidFill>
              </a:rPr>
              <a:t>cagionare l’evasione </a:t>
            </a:r>
            <a:r>
              <a:rPr lang="it-IT" dirty="0"/>
              <a:t>ovvero porre in essere una concausa del fatto doloso altrui, </a:t>
            </a:r>
            <a:r>
              <a:rPr lang="it-IT" dirty="0">
                <a:highlight>
                  <a:srgbClr val="FFFF00"/>
                </a:highlight>
              </a:rPr>
              <a:t>omettendo cautele doverose </a:t>
            </a:r>
            <a:r>
              <a:rPr lang="it-IT" dirty="0"/>
              <a:t>o </a:t>
            </a:r>
            <a:r>
              <a:rPr lang="it-IT" dirty="0">
                <a:highlight>
                  <a:srgbClr val="00FF00"/>
                </a:highlight>
              </a:rPr>
              <a:t>violando norme regolamentari di servizio</a:t>
            </a:r>
            <a:r>
              <a:rPr lang="it-IT" dirty="0"/>
              <a:t>, nonché </a:t>
            </a:r>
            <a:r>
              <a:rPr lang="it-IT" dirty="0">
                <a:highlight>
                  <a:srgbClr val="00FFFF"/>
                </a:highlight>
              </a:rPr>
              <a:t>norme generali di prudenza</a:t>
            </a:r>
            <a:r>
              <a:rPr lang="it-IT" dirty="0"/>
              <a:t>. 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it-IT" dirty="0"/>
          </a:p>
          <a:p>
            <a:pPr algn="just">
              <a:lnSpc>
                <a:spcPct val="114000"/>
              </a:lnSpc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it-IT" dirty="0"/>
              <a:t>Ai fini dell’integrazione del reato è necessario che sussista, e sia all’evidenza riconoscibile, </a:t>
            </a:r>
            <a:r>
              <a:rPr lang="it-IT" b="1" dirty="0">
                <a:solidFill>
                  <a:srgbClr val="FF3399"/>
                </a:solidFill>
              </a:rPr>
              <a:t>il nesso di causalità tra l’evasione</a:t>
            </a:r>
            <a:r>
              <a:rPr lang="it-IT" dirty="0"/>
              <a:t> della persona sottoposta a custodia </a:t>
            </a:r>
            <a:r>
              <a:rPr lang="it-IT" b="1" dirty="0">
                <a:solidFill>
                  <a:srgbClr val="FF3399"/>
                </a:solidFill>
              </a:rPr>
              <a:t>e il fatto addebitato all’agente</a:t>
            </a:r>
            <a:r>
              <a:rPr lang="it-IT" dirty="0"/>
              <a:t>. </a:t>
            </a:r>
          </a:p>
          <a:p>
            <a:endParaRPr lang="it-IT" dirty="0"/>
          </a:p>
        </p:txBody>
      </p:sp>
      <p:pic>
        <p:nvPicPr>
          <p:cNvPr id="4" name="Immagine 6" descr="Immagine 6">
            <a:extLst>
              <a:ext uri="{FF2B5EF4-FFF2-40B4-BE49-F238E27FC236}">
                <a16:creationId xmlns:a16="http://schemas.microsoft.com/office/drawing/2014/main" id="{E8CE4A1F-015A-4038-B40A-04CD1E47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6790700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ttangolo 4"/>
          <p:cNvSpPr txBox="1"/>
          <p:nvPr/>
        </p:nvSpPr>
        <p:spPr>
          <a:xfrm>
            <a:off x="99472" y="908720"/>
            <a:ext cx="8945056" cy="51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custode non è </a:t>
            </a:r>
            <a:r>
              <a:rPr dirty="0" err="1"/>
              <a:t>punibile</a:t>
            </a:r>
            <a:r>
              <a:rPr dirty="0"/>
              <a:t> se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termine</a:t>
            </a:r>
            <a:r>
              <a:rPr dirty="0"/>
              <a:t> di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mesi</a:t>
            </a:r>
            <a:r>
              <a:rPr dirty="0"/>
              <a:t> </a:t>
            </a:r>
            <a:r>
              <a:rPr dirty="0" err="1"/>
              <a:t>dall’evasione</a:t>
            </a:r>
            <a:r>
              <a:rPr dirty="0"/>
              <a:t> </a:t>
            </a:r>
            <a:r>
              <a:rPr dirty="0" err="1"/>
              <a:t>procura</a:t>
            </a:r>
            <a:r>
              <a:rPr dirty="0"/>
              <a:t> la </a:t>
            </a:r>
            <a:r>
              <a:rPr dirty="0" err="1"/>
              <a:t>cattura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persona </a:t>
            </a:r>
            <a:r>
              <a:rPr dirty="0" err="1"/>
              <a:t>evasa</a:t>
            </a:r>
            <a:r>
              <a:rPr dirty="0"/>
              <a:t> o la </a:t>
            </a:r>
            <a:r>
              <a:rPr dirty="0" err="1"/>
              <a:t>presentazione</a:t>
            </a:r>
            <a:r>
              <a:rPr dirty="0"/>
              <a:t> di lei </a:t>
            </a:r>
            <a:r>
              <a:rPr dirty="0" err="1"/>
              <a:t>all’autorità</a:t>
            </a:r>
            <a:r>
              <a:rPr dirty="0"/>
              <a:t>. </a:t>
            </a:r>
            <a:r>
              <a:rPr u="sng" dirty="0">
                <a:solidFill>
                  <a:srgbClr val="FF0000"/>
                </a:solidFill>
              </a:rPr>
              <a:t>A </a:t>
            </a:r>
            <a:r>
              <a:rPr u="sng" dirty="0" err="1">
                <a:solidFill>
                  <a:srgbClr val="FF0000"/>
                </a:solidFill>
              </a:rPr>
              <a:t>tal</a:t>
            </a:r>
            <a:r>
              <a:rPr u="sng" dirty="0">
                <a:solidFill>
                  <a:srgbClr val="FF0000"/>
                </a:solidFill>
              </a:rPr>
              <a:t> fine è </a:t>
            </a:r>
            <a:r>
              <a:rPr u="sng" dirty="0" err="1">
                <a:solidFill>
                  <a:srgbClr val="FF0000"/>
                </a:solidFill>
              </a:rPr>
              <a:t>necessario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che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l’evento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descritto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sia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frutto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dell’attività</a:t>
            </a:r>
            <a:r>
              <a:rPr u="sng" dirty="0">
                <a:solidFill>
                  <a:srgbClr val="FF0000"/>
                </a:solidFill>
              </a:rPr>
              <a:t> del custode e non </a:t>
            </a:r>
            <a:r>
              <a:rPr u="sng" dirty="0" err="1">
                <a:solidFill>
                  <a:srgbClr val="FF0000"/>
                </a:solidFill>
              </a:rPr>
              <a:t>della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lang="it-IT" u="sng" dirty="0">
                <a:solidFill>
                  <a:srgbClr val="FF0000"/>
                </a:solidFill>
              </a:rPr>
              <a:t>ravvedimento</a:t>
            </a:r>
            <a:r>
              <a:rPr u="sng" dirty="0">
                <a:solidFill>
                  <a:srgbClr val="FF0000"/>
                </a:solidFill>
              </a:rPr>
              <a:t> </a:t>
            </a:r>
            <a:r>
              <a:rPr u="sng" dirty="0" err="1">
                <a:solidFill>
                  <a:srgbClr val="FF0000"/>
                </a:solidFill>
              </a:rPr>
              <a:t>dell’evaso</a:t>
            </a:r>
            <a:r>
              <a:rPr u="sng" dirty="0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u="none" dirty="0"/>
              <a:t> </a:t>
            </a:r>
            <a:r>
              <a:rPr b="0" u="none" dirty="0"/>
              <a:t>è </a:t>
            </a:r>
            <a:r>
              <a:rPr lang="it-IT" b="0" u="none" dirty="0"/>
              <a:t>la</a:t>
            </a:r>
            <a:r>
              <a:rPr b="0" u="none" dirty="0"/>
              <a:t> </a:t>
            </a:r>
            <a:r>
              <a:rPr u="none" dirty="0">
                <a:solidFill>
                  <a:srgbClr val="FF3399"/>
                </a:solidFill>
              </a:rPr>
              <a:t>COLPA</a:t>
            </a:r>
            <a:r>
              <a:rPr b="0" u="none" dirty="0"/>
              <a:t>, </a:t>
            </a:r>
            <a:r>
              <a:rPr b="0" u="none" dirty="0" err="1"/>
              <a:t>rappresenta</a:t>
            </a:r>
            <a:r>
              <a:rPr b="0" u="none" dirty="0"/>
              <a:t>, in </a:t>
            </a:r>
            <a:r>
              <a:rPr b="0" u="none" dirty="0" err="1"/>
              <a:t>particolare</a:t>
            </a:r>
            <a:r>
              <a:rPr b="0" u="none" dirty="0"/>
              <a:t>, una forma </a:t>
            </a:r>
            <a:r>
              <a:rPr b="0" u="none" dirty="0" err="1"/>
              <a:t>colposa</a:t>
            </a:r>
            <a:r>
              <a:rPr b="0" u="none" dirty="0"/>
              <a:t> di </a:t>
            </a:r>
            <a:r>
              <a:rPr b="0" u="none" dirty="0" err="1"/>
              <a:t>procurata</a:t>
            </a:r>
            <a:r>
              <a:rPr b="0" u="none" dirty="0"/>
              <a:t> </a:t>
            </a:r>
            <a:r>
              <a:rPr b="0" u="none" dirty="0" err="1"/>
              <a:t>evasione</a:t>
            </a:r>
            <a:r>
              <a:rPr b="0" u="none" dirty="0"/>
              <a:t>. </a:t>
            </a:r>
            <a:endParaRPr lang="it-IT"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delitto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consuma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cui </a:t>
            </a:r>
            <a:r>
              <a:rPr dirty="0" err="1"/>
              <a:t>si</a:t>
            </a:r>
            <a:r>
              <a:rPr dirty="0"/>
              <a:t> </a:t>
            </a:r>
            <a:r>
              <a:rPr b="1" dirty="0" err="1"/>
              <a:t>realizza</a:t>
            </a:r>
            <a:r>
              <a:rPr b="1" dirty="0"/>
              <a:t> </a:t>
            </a:r>
            <a:r>
              <a:rPr b="1" dirty="0" err="1"/>
              <a:t>l’evasione</a:t>
            </a:r>
            <a:r>
              <a:rPr dirty="0"/>
              <a:t>.</a:t>
            </a:r>
            <a:endParaRPr lang="it-IT"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b="1" dirty="0" err="1"/>
              <a:t>tentativo</a:t>
            </a:r>
            <a:r>
              <a:rPr b="1" dirty="0"/>
              <a:t> non è </a:t>
            </a:r>
            <a:r>
              <a:rPr b="1" dirty="0" err="1"/>
              <a:t>configurabile</a:t>
            </a:r>
            <a:r>
              <a:rPr dirty="0"/>
              <a:t>, in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incompatibile</a:t>
            </a:r>
            <a:r>
              <a:rPr dirty="0"/>
              <a:t> </a:t>
            </a:r>
            <a:r>
              <a:rPr dirty="0" err="1"/>
              <a:t>strutturalmente</a:t>
            </a:r>
            <a:r>
              <a:rPr dirty="0"/>
              <a:t> con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 </a:t>
            </a:r>
            <a:r>
              <a:rPr dirty="0" err="1"/>
              <a:t>colposo</a:t>
            </a:r>
            <a:r>
              <a:rPr dirty="0"/>
              <a:t>.</a:t>
            </a:r>
          </a:p>
        </p:txBody>
      </p:sp>
      <p:pic>
        <p:nvPicPr>
          <p:cNvPr id="473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st="17961" dir="2700000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569" tIns="44569" rIns="44569" bIns="44569">
            <a:spAutoFit/>
          </a:bodyPr>
          <a:lstStyle>
            <a:lvl1pPr>
              <a:defRPr sz="3200" b="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Colpa del custode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egnaposto contenuto 2"/>
          <p:cNvSpPr txBox="1">
            <a:spLocks noGrp="1"/>
          </p:cNvSpPr>
          <p:nvPr>
            <p:ph type="body" sz="quarter" idx="1"/>
          </p:nvPr>
        </p:nvSpPr>
        <p:spPr>
          <a:xfrm>
            <a:off x="2411759" y="980728"/>
            <a:ext cx="4717505" cy="1296145"/>
          </a:xfrm>
          <a:prstGeom prst="rect">
            <a:avLst/>
          </a:prstGeom>
        </p:spPr>
        <p:txBody>
          <a:bodyPr/>
          <a:lstStyle/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marL="0" indent="0" algn="ctr" defTabSz="411479">
              <a:spcBef>
                <a:spcPts val="500"/>
              </a:spcBef>
              <a:buSzTx/>
              <a:buNone/>
              <a:defRPr sz="2430" b="1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DOMANDE?</a:t>
            </a:r>
          </a:p>
        </p:txBody>
      </p:sp>
      <p:pic>
        <p:nvPicPr>
          <p:cNvPr id="477" name="Immagine 4" descr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65" y="3916715"/>
            <a:ext cx="4879270" cy="2439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" name="Immagine 3" descr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6904</Words>
  <Application>Microsoft Office PowerPoint</Application>
  <PresentationFormat>Presentazione su schermo (4:3)</PresentationFormat>
  <Paragraphs>490</Paragraphs>
  <Slides>68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68</vt:i4>
      </vt:variant>
    </vt:vector>
  </HeadingPairs>
  <TitlesOfParts>
    <vt:vector size="73" baseType="lpstr">
      <vt:lpstr>Arial</vt:lpstr>
      <vt:lpstr>Book Antiqua</vt:lpstr>
      <vt:lpstr>Calibri</vt:lpstr>
      <vt:lpstr>Times New Roman</vt:lpstr>
      <vt:lpstr>1_Personalizza struttura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Calunnia</vt:lpstr>
      <vt:lpstr>Presentazione standard di PowerPoint</vt:lpstr>
      <vt:lpstr>Presentazione standard di PowerPoint</vt:lpstr>
      <vt:lpstr>Calunnia</vt:lpstr>
      <vt:lpstr>Presentazione standard di PowerPoint</vt:lpstr>
      <vt:lpstr>Calunnia</vt:lpstr>
      <vt:lpstr>Presentazione standard di PowerPoint</vt:lpstr>
      <vt:lpstr>Presentazione standard di PowerPoint</vt:lpstr>
      <vt:lpstr>AUTOCALUNNIA - ART. 369 </vt:lpstr>
      <vt:lpstr>Presentazione standard di PowerPoint</vt:lpstr>
      <vt:lpstr>Presentazione standard di PowerPoint</vt:lpstr>
      <vt:lpstr>Falsa testimonianza </vt:lpstr>
      <vt:lpstr>Presentazione standard di PowerPoint</vt:lpstr>
      <vt:lpstr>Falsa testimonianza </vt:lpstr>
      <vt:lpstr>Presentazione standard di PowerPoint</vt:lpstr>
      <vt:lpstr>Falsa testimonianza </vt:lpstr>
      <vt:lpstr>Falsa testimonianza </vt:lpstr>
      <vt:lpstr>Presentazione standard di PowerPoint</vt:lpstr>
      <vt:lpstr>Presentazione standard di PowerPoint</vt:lpstr>
      <vt:lpstr>Favoreggiamento personale </vt:lpstr>
      <vt:lpstr>Presentazione standard di PowerPoint</vt:lpstr>
      <vt:lpstr>Presentazione standard di PowerPoint</vt:lpstr>
      <vt:lpstr>Presentazione standard di PowerPoint</vt:lpstr>
      <vt:lpstr>Favoreggiamento personale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Evasione</vt:lpstr>
      <vt:lpstr>Evasione</vt:lpstr>
      <vt:lpstr>Evasione</vt:lpstr>
      <vt:lpstr>Evasione</vt:lpstr>
      <vt:lpstr>Evasione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Procurata evasione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Colpa del custode 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Aula</cp:lastModifiedBy>
  <cp:revision>55</cp:revision>
  <dcterms:modified xsi:type="dcterms:W3CDTF">2026-01-14T07:20:43Z</dcterms:modified>
</cp:coreProperties>
</file>