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3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1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9144000" cy="6858000" type="screen4x3"/>
  <p:notesSz cx="6858000" cy="9144000"/>
  <p:defaultTextStyle>
    <a:defPPr algn="l" defTabSz="914400" hangingPunct="0" indent="0" latinLnBrk="1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kumimoji="0" normalizeH="0" spc="0" strike="noStrike" sz="1800" u="none">
        <a:ln>
          <a:noFill/>
        </a:ln>
        <a:solidFill>
          <a:srgbClr val="000000"/>
        </a:solidFill>
        <a:effectLst/>
        <a:uFillTx/>
      </a:defRPr>
    </a:defPPr>
    <a:lvl1pPr algn="l" defTabSz="914400" hangingPunct="0" indent="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algn="l" defTabSz="914400" hangingPunct="0" indent="4572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algn="l" defTabSz="914400" hangingPunct="0" indent="9144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algn="l" defTabSz="914400" hangingPunct="0" indent="13716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algn="l" defTabSz="914400" hangingPunct="0" indent="18288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algn="l" defTabSz="914400" hangingPunct="0" indent="22860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algn="l" defTabSz="914400" hangingPunct="0" indent="27432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algn="l" defTabSz="914400" hangingPunct="0" indent="32004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algn="l" defTabSz="914400" hangingPunct="0" indent="3657600" latinLnBrk="0" marL="0" marR="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kumimoji="0" normalizeH="0" spc="0" strike="noStrike" sz="700" u="none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CCD9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cap="flat" w="12700">
              <a:noFill/>
              <a:miter lim="400000"/>
            </a:ln>
          </a:left>
          <a:right>
            <a:ln cap="flat" w="12700">
              <a:noFill/>
              <a:miter lim="400000"/>
            </a:ln>
          </a:right>
          <a:top>
            <a:ln cap="flat" w="12700">
              <a:noFill/>
              <a:miter lim="400000"/>
            </a:ln>
          </a:top>
          <a:bottom>
            <a:ln cap="flat" w="12700">
              <a:noFill/>
              <a:miter lim="400000"/>
            </a:ln>
          </a:bottom>
          <a:insideH>
            <a:ln cap="flat" w="12700">
              <a:noFill/>
              <a:miter lim="400000"/>
            </a:ln>
          </a:insideH>
          <a:insideV>
            <a:ln cap="flat" w="12700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noFill/>
              <a:miter lim="400000"/>
            </a:ln>
          </a:left>
          <a:right>
            <a:ln cap="flat" w="12700">
              <a:noFill/>
              <a:miter lim="400000"/>
            </a:ln>
          </a:right>
          <a:top>
            <a:ln cap="flat" w="12700">
              <a:noFill/>
              <a:miter lim="400000"/>
            </a:ln>
          </a:top>
          <a:bottom>
            <a:ln cap="flat" w="12700">
              <a:noFill/>
              <a:miter lim="400000"/>
            </a:ln>
          </a:bottom>
          <a:insideH>
            <a:ln cap="flat" w="12700">
              <a:noFill/>
              <a:miter lim="400000"/>
            </a:ln>
          </a:insideH>
          <a:insideV>
            <a:ln cap="flat" w="12700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cap="flat" w="12700">
              <a:noFill/>
              <a:miter lim="400000"/>
            </a:ln>
          </a:left>
          <a:right>
            <a:ln cap="flat" w="12700">
              <a:noFill/>
              <a:miter lim="400000"/>
            </a:ln>
          </a:right>
          <a:top>
            <a:ln cap="flat" w="50800">
              <a:solidFill>
                <a:srgbClr val="000000"/>
              </a:solidFill>
              <a:prstDash val="solid"/>
              <a:round/>
            </a:ln>
          </a:top>
          <a:bottom>
            <a:ln cap="flat" w="25400">
              <a:solidFill>
                <a:srgbClr val="000000"/>
              </a:solidFill>
              <a:prstDash val="solid"/>
              <a:round/>
            </a:ln>
          </a:bottom>
          <a:insideH>
            <a:ln cap="flat" w="12700">
              <a:noFill/>
              <a:miter lim="400000"/>
            </a:ln>
          </a:insideH>
          <a:insideV>
            <a:ln cap="flat" w="12700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noFill/>
              <a:miter lim="400000"/>
            </a:ln>
          </a:left>
          <a:right>
            <a:ln cap="flat" w="12700">
              <a:noFill/>
              <a:miter lim="400000"/>
            </a:ln>
          </a:right>
          <a:top>
            <a:ln cap="flat" w="25400">
              <a:solidFill>
                <a:srgbClr val="000000"/>
              </a:solidFill>
              <a:prstDash val="solid"/>
              <a:round/>
            </a:ln>
          </a:top>
          <a:bottom>
            <a:ln cap="flat" w="25400">
              <a:solidFill>
                <a:srgbClr val="000000"/>
              </a:solidFill>
              <a:prstDash val="solid"/>
              <a:round/>
            </a:ln>
          </a:bottom>
          <a:insideH>
            <a:ln cap="flat" w="12700">
              <a:noFill/>
              <a:miter lim="400000"/>
            </a:ln>
          </a:insideH>
          <a:insideV>
            <a:ln cap="flat" w="12700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cap="flat" w="38100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cap="flat" w="12700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rgbClr val="000000"/>
              </a:solidFill>
              <a:prstDash val="solid"/>
              <a:round/>
            </a:ln>
          </a:left>
          <a:right>
            <a:ln cap="flat" w="12700">
              <a:solidFill>
                <a:srgbClr val="000000"/>
              </a:solidFill>
              <a:prstDash val="solid"/>
              <a:round/>
            </a:ln>
          </a:right>
          <a:top>
            <a:ln cap="flat" w="12700">
              <a:solidFill>
                <a:srgbClr val="000000"/>
              </a:solidFill>
              <a:prstDash val="solid"/>
              <a:round/>
            </a:ln>
          </a:top>
          <a:bottom>
            <a:ln cap="flat" w="12700">
              <a:solidFill>
                <a:srgbClr val="000000"/>
              </a:solidFill>
              <a:prstDash val="solid"/>
              <a:round/>
            </a:ln>
          </a:bottom>
          <a:insideH>
            <a:ln cap="flat" w="12700">
              <a:solidFill>
                <a:srgbClr val="000000"/>
              </a:solidFill>
              <a:prstDash val="solid"/>
              <a:round/>
            </a:ln>
          </a:insideH>
          <a:insideV>
            <a:ln cap="flat" w="12700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rgbClr val="000000"/>
              </a:solidFill>
              <a:prstDash val="solid"/>
              <a:round/>
            </a:ln>
          </a:left>
          <a:right>
            <a:ln cap="flat" w="12700">
              <a:solidFill>
                <a:srgbClr val="000000"/>
              </a:solidFill>
              <a:prstDash val="solid"/>
              <a:round/>
            </a:ln>
          </a:right>
          <a:top>
            <a:ln cap="flat" w="12700">
              <a:solidFill>
                <a:srgbClr val="000000"/>
              </a:solidFill>
              <a:prstDash val="solid"/>
              <a:round/>
            </a:ln>
          </a:top>
          <a:bottom>
            <a:ln cap="flat" w="12700">
              <a:solidFill>
                <a:srgbClr val="000000"/>
              </a:solidFill>
              <a:prstDash val="solid"/>
              <a:round/>
            </a:ln>
          </a:bottom>
          <a:insideH>
            <a:ln cap="flat" w="12700">
              <a:solidFill>
                <a:srgbClr val="000000"/>
              </a:solidFill>
              <a:prstDash val="solid"/>
              <a:round/>
            </a:ln>
          </a:insideH>
          <a:insideV>
            <a:ln cap="flat" w="12700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rgbClr val="000000"/>
              </a:solidFill>
              <a:prstDash val="solid"/>
              <a:round/>
            </a:ln>
          </a:left>
          <a:right>
            <a:ln cap="flat" w="12700">
              <a:solidFill>
                <a:srgbClr val="000000"/>
              </a:solidFill>
              <a:prstDash val="solid"/>
              <a:round/>
            </a:ln>
          </a:right>
          <a:top>
            <a:ln cap="flat" w="50800">
              <a:solidFill>
                <a:srgbClr val="000000"/>
              </a:solidFill>
              <a:prstDash val="solid"/>
              <a:round/>
            </a:ln>
          </a:top>
          <a:bottom>
            <a:ln cap="flat" w="12700">
              <a:solidFill>
                <a:srgbClr val="000000"/>
              </a:solidFill>
              <a:prstDash val="solid"/>
              <a:round/>
            </a:ln>
          </a:bottom>
          <a:insideH>
            <a:ln cap="flat" w="12700">
              <a:solidFill>
                <a:srgbClr val="000000"/>
              </a:solidFill>
              <a:prstDash val="solid"/>
              <a:round/>
            </a:ln>
          </a:insideH>
          <a:insideV>
            <a:ln cap="flat" w="12700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cap="flat" w="12700">
              <a:solidFill>
                <a:srgbClr val="000000"/>
              </a:solidFill>
              <a:prstDash val="solid"/>
              <a:round/>
            </a:ln>
          </a:left>
          <a:right>
            <a:ln cap="flat" w="12700">
              <a:solidFill>
                <a:srgbClr val="000000"/>
              </a:solidFill>
              <a:prstDash val="solid"/>
              <a:round/>
            </a:ln>
          </a:right>
          <a:top>
            <a:ln cap="flat" w="12700">
              <a:solidFill>
                <a:srgbClr val="000000"/>
              </a:solidFill>
              <a:prstDash val="solid"/>
              <a:round/>
            </a:ln>
          </a:top>
          <a:bottom>
            <a:ln cap="flat" w="25400">
              <a:solidFill>
                <a:srgbClr val="000000"/>
              </a:solidFill>
              <a:prstDash val="solid"/>
              <a:round/>
            </a:ln>
          </a:bottom>
          <a:insideH>
            <a:ln cap="flat" w="12700">
              <a:solidFill>
                <a:srgbClr val="000000"/>
              </a:solidFill>
              <a:prstDash val="solid"/>
              <a:round/>
            </a:ln>
          </a:insideH>
          <a:insideV>
            <a:ln cap="flat" w="12700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d="100" n="85"/>
          <a:sy d="100" n="85"/>
        </p:scale>
        <p:origin x="1152" y="9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<Relationships xmlns="http://schemas.openxmlformats.org/package/2006/relationships"><Relationship Id="rId73" Target="slides/slide67.xml" Type="http://schemas.openxmlformats.org/officeDocument/2006/relationships/slide"/><Relationship Id="rId72" Target="slides/slide66.xml" Type="http://schemas.openxmlformats.org/officeDocument/2006/relationships/slide"/><Relationship Id="rId71" Target="slides/slide65.xml" Type="http://schemas.openxmlformats.org/officeDocument/2006/relationships/slide"/><Relationship Id="rId70" Target="slides/slide64.xml" Type="http://schemas.openxmlformats.org/officeDocument/2006/relationships/slide"/><Relationship Id="rId63" Target="slides/slide57.xml" Type="http://schemas.openxmlformats.org/officeDocument/2006/relationships/slide"/><Relationship Id="rId62" Target="slides/slide56.xml" Type="http://schemas.openxmlformats.org/officeDocument/2006/relationships/slide"/><Relationship Id="rId61" Target="slides/slide55.xml" Type="http://schemas.openxmlformats.org/officeDocument/2006/relationships/slide"/><Relationship Id="rId60" Target="slides/slide54.xml" Type="http://schemas.openxmlformats.org/officeDocument/2006/relationships/slide"/><Relationship Id="rId53" Target="slides/slide47.xml" Type="http://schemas.openxmlformats.org/officeDocument/2006/relationships/slide"/><Relationship Id="rId52" Target="slides/slide46.xml" Type="http://schemas.openxmlformats.org/officeDocument/2006/relationships/slide"/><Relationship Id="rId51" Target="slides/slide45.xml" Type="http://schemas.openxmlformats.org/officeDocument/2006/relationships/slide"/><Relationship Id="rId50" Target="slides/slide44.xml" Type="http://schemas.openxmlformats.org/officeDocument/2006/relationships/slide"/><Relationship Id="rId5" Target="slideMasters/slideMaster1.xml" Type="http://schemas.openxmlformats.org/officeDocument/2006/relationships/slideMaster"/><Relationship Id="rId39" Target="slides/slide33.xml" Type="http://schemas.openxmlformats.org/officeDocument/2006/relationships/slide"/><Relationship Id="rId4" Target="tableStyles.xml" Type="http://schemas.openxmlformats.org/officeDocument/2006/relationships/tableStyles"/><Relationship Id="rId38" Target="slides/slide32.xml" Type="http://schemas.openxmlformats.org/officeDocument/2006/relationships/slide"/><Relationship Id="rId3" Target="presProps.xml" Type="http://schemas.openxmlformats.org/officeDocument/2006/relationships/presProps"/><Relationship Id="rId37" Target="slides/slide31.xml" Type="http://schemas.openxmlformats.org/officeDocument/2006/relationships/slide"/><Relationship Id="rId2" Target="viewProps.xml" Type="http://schemas.openxmlformats.org/officeDocument/2006/relationships/viewProps"/><Relationship Id="rId36" Target="slides/slide30.xml" Type="http://schemas.openxmlformats.org/officeDocument/2006/relationships/slide"/><Relationship Id="rId69" Target="slides/slide63.xml" Type="http://schemas.openxmlformats.org/officeDocument/2006/relationships/slide"/><Relationship Id="rId1" Target="theme/theme1.xml" Type="http://schemas.openxmlformats.org/officeDocument/2006/relationships/theme"/><Relationship Id="rId35" Target="slides/slide29.xml" Type="http://schemas.openxmlformats.org/officeDocument/2006/relationships/slide"/><Relationship Id="rId68" Target="slides/slide62.xml" Type="http://schemas.openxmlformats.org/officeDocument/2006/relationships/slide"/><Relationship Id="rId34" Target="slides/slide28.xml" Type="http://schemas.openxmlformats.org/officeDocument/2006/relationships/slide"/><Relationship Id="rId67" Target="slides/slide61.xml" Type="http://schemas.openxmlformats.org/officeDocument/2006/relationships/slide"/><Relationship Id="rId33" Target="slides/slide27.xml" Type="http://schemas.openxmlformats.org/officeDocument/2006/relationships/slide"/><Relationship Id="rId66" Target="slides/slide60.xml" Type="http://schemas.openxmlformats.org/officeDocument/2006/relationships/slide"/><Relationship Id="rId32" Target="slides/slide26.xml" Type="http://schemas.openxmlformats.org/officeDocument/2006/relationships/slide"/><Relationship Id="rId65" Target="slides/slide59.xml" Type="http://schemas.openxmlformats.org/officeDocument/2006/relationships/slide"/><Relationship Id="rId31" Target="slides/slide25.xml" Type="http://schemas.openxmlformats.org/officeDocument/2006/relationships/slide"/><Relationship Id="rId64" Target="slides/slide58.xml" Type="http://schemas.openxmlformats.org/officeDocument/2006/relationships/slide"/><Relationship Id="rId30" Target="slides/slide24.xml" Type="http://schemas.openxmlformats.org/officeDocument/2006/relationships/slide"/><Relationship Id="rId27" Target="slides/slide21.xml" Type="http://schemas.openxmlformats.org/officeDocument/2006/relationships/slide"/><Relationship Id="rId26" Target="slides/slide20.xml" Type="http://schemas.openxmlformats.org/officeDocument/2006/relationships/slide"/><Relationship Id="rId59" Target="slides/slide53.xml" Type="http://schemas.openxmlformats.org/officeDocument/2006/relationships/slide"/><Relationship Id="rId25" Target="slides/slide19.xml" Type="http://schemas.openxmlformats.org/officeDocument/2006/relationships/slide"/><Relationship Id="rId58" Target="slides/slide52.xml" Type="http://schemas.openxmlformats.org/officeDocument/2006/relationships/slide"/><Relationship Id="rId24" Target="slides/slide18.xml" Type="http://schemas.openxmlformats.org/officeDocument/2006/relationships/slide"/><Relationship Id="rId57" Target="slides/slide51.xml" Type="http://schemas.openxmlformats.org/officeDocument/2006/relationships/slide"/><Relationship Id="rId23" Target="slides/slide17.xml" Type="http://schemas.openxmlformats.org/officeDocument/2006/relationships/slide"/><Relationship Id="rId56" Target="slides/slide50.xml" Type="http://schemas.openxmlformats.org/officeDocument/2006/relationships/slide"/><Relationship Id="rId22" Target="slides/slide16.xml" Type="http://schemas.openxmlformats.org/officeDocument/2006/relationships/slide"/><Relationship Id="rId55" Target="slides/slide49.xml" Type="http://schemas.openxmlformats.org/officeDocument/2006/relationships/slide"/><Relationship Id="rId21" Target="slides/slide15.xml" Type="http://schemas.openxmlformats.org/officeDocument/2006/relationships/slide"/><Relationship Id="rId54" Target="slides/slide48.xml" Type="http://schemas.openxmlformats.org/officeDocument/2006/relationships/slide"/><Relationship Id="rId20" Target="slides/slide14.xml" Type="http://schemas.openxmlformats.org/officeDocument/2006/relationships/slide"/><Relationship Id="rId19" Target="slides/slide13.xml" Type="http://schemas.openxmlformats.org/officeDocument/2006/relationships/slide"/><Relationship Id="rId18" Target="slides/slide12.xml" Type="http://schemas.openxmlformats.org/officeDocument/2006/relationships/slide"/><Relationship Id="rId17" Target="slides/slide11.xml" Type="http://schemas.openxmlformats.org/officeDocument/2006/relationships/slide"/><Relationship Id="rId13" Target="slides/slide7.xml" Type="http://schemas.openxmlformats.org/officeDocument/2006/relationships/slide"/><Relationship Id="rId47" Target="slides/slide41.xml" Type="http://schemas.openxmlformats.org/officeDocument/2006/relationships/slide"/><Relationship Id="rId16" Target="slides/slide10.xml" Type="http://schemas.openxmlformats.org/officeDocument/2006/relationships/slide"/><Relationship Id="rId12" Target="slides/slide6.xml" Type="http://schemas.openxmlformats.org/officeDocument/2006/relationships/slide"/><Relationship Id="rId46" Target="slides/slide40.xml" Type="http://schemas.openxmlformats.org/officeDocument/2006/relationships/slide"/><Relationship Id="rId49" Target="slides/slide43.xml" Type="http://schemas.openxmlformats.org/officeDocument/2006/relationships/slide"/><Relationship Id="rId15" Target="slides/slide9.xml" Type="http://schemas.openxmlformats.org/officeDocument/2006/relationships/slide"/><Relationship Id="rId11" Target="slides/slide5.xml" Type="http://schemas.openxmlformats.org/officeDocument/2006/relationships/slide"/><Relationship Id="rId45" Target="slides/slide39.xml" Type="http://schemas.openxmlformats.org/officeDocument/2006/relationships/slide"/><Relationship Id="rId48" Target="slides/slide42.xml" Type="http://schemas.openxmlformats.org/officeDocument/2006/relationships/slide"/><Relationship Id="rId14" Target="slides/slide8.xml" Type="http://schemas.openxmlformats.org/officeDocument/2006/relationships/slide"/><Relationship Id="rId10" Target="slides/slide4.xml" Type="http://schemas.openxmlformats.org/officeDocument/2006/relationships/slide"/><Relationship Id="rId44" Target="slides/slide38.xml" Type="http://schemas.openxmlformats.org/officeDocument/2006/relationships/slide"/><Relationship Id="rId43" Target="slides/slide37.xml" Type="http://schemas.openxmlformats.org/officeDocument/2006/relationships/slide"/><Relationship Id="rId42" Target="slides/slide36.xml" Type="http://schemas.openxmlformats.org/officeDocument/2006/relationships/slide"/><Relationship Id="rId41" Target="slides/slide35.xml" Type="http://schemas.openxmlformats.org/officeDocument/2006/relationships/slide"/><Relationship Id="rId9" Target="slides/slide3.xml" Type="http://schemas.openxmlformats.org/officeDocument/2006/relationships/slide"/><Relationship Id="rId40" Target="slides/slide34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29" Target="slides/slide23.xml" Type="http://schemas.openxmlformats.org/officeDocument/2006/relationships/slide"/><Relationship Id="rId28" Target="slides/slide22.xml" Type="http://schemas.openxmlformats.org/officeDocument/2006/relationships/slid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ChangeAspect="1" noGrp="1" noRo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numCol="1"/>
          <a:lstStyle/>
          <a:p>
            <a:endParaRPr/>
          </a:p>
        </p:txBody>
      </p:sp>
      <p:sp>
        <p:nvSpPr>
          <p:cNvPr id="207" name="Shape 207"/>
          <p:cNvSpPr>
            <a:spLocks noGrp="1"/>
          </p:cNvSpPr>
          <p:nvPr>
            <p:ph idx="1" sz="quarter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numCol="1"/>
          <a:lstStyle/>
          <a:p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4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5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6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7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8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9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0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1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2.xml.rels><?xml version="1.0" encoding="UTF-8" standalone="yes"?><Relationships xmlns="http://schemas.openxmlformats.org/package/2006/relationships"><Relationship Id="rId2" Target="../media/image2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Testo"/>
          <p:cNvSpPr txBox="1">
            <a:spLocks noGrp="1"/>
          </p:cNvSpPr>
          <p:nvPr>
            <p:ph type="title"/>
          </p:nvPr>
        </p:nvSpPr>
        <p:spPr>
          <a:xfrm>
            <a:off x="685800" y="3209925"/>
            <a:ext cx="7772400" cy="2019300"/>
          </a:xfrm>
          <a:prstGeom prst="rect">
            <a:avLst/>
          </a:prstGeom>
          <a:noFill/>
        </p:spPr>
        <p:txBody>
          <a:bodyPr anchor="t" numCol="1">
            <a:normAutofit/>
          </a:bodyPr>
          <a:lstStyle>
            <a:lvl1pPr>
              <a:defRPr sz="3200">
                <a:effectLst>
                  <a:outerShdw blurRad="38100" dir="2700000" dist="38100" rotWithShape="0">
                    <a:srgbClr val="C0C0C0"/>
                  </a:outerShdw>
                </a:effectLst>
              </a:defRPr>
            </a:lvl1pPr>
          </a:lstStyle>
          <a:p>
            <a:r>
              <a:t>Titolo Testo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21" name="Corpo livello uno…"/>
          <p:cNvSpPr txBox="1"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2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olo Testo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 numCol="1">
            <a:normAutofit/>
          </a:bodyPr>
          <a:lstStyle>
            <a:lvl1pPr algn="l">
              <a:defRPr cap="all" sz="4000"/>
            </a:lvl1pPr>
          </a:lstStyle>
          <a:p>
            <a:r>
              <a:t>Titolo Testo</a:t>
            </a:r>
          </a:p>
        </p:txBody>
      </p:sp>
      <p:sp>
        <p:nvSpPr>
          <p:cNvPr id="30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 numCol="1">
            <a:normAutofit/>
          </a:bodyPr>
          <a:lstStyle>
            <a:lvl1pPr indent="0" marL="0">
              <a:spcBef>
                <a:spcPts val="400"/>
              </a:spcBef>
              <a:buSzTx/>
              <a:buNone/>
              <a:defRPr sz="2000"/>
            </a:lvl1pPr>
            <a:lvl2pPr indent="457200" marL="0">
              <a:spcBef>
                <a:spcPts val="400"/>
              </a:spcBef>
              <a:buSzTx/>
              <a:buNone/>
              <a:defRPr sz="2000"/>
            </a:lvl2pPr>
            <a:lvl3pPr indent="914400" marL="0">
              <a:spcBef>
                <a:spcPts val="400"/>
              </a:spcBef>
              <a:buSzTx/>
              <a:buNone/>
              <a:defRPr sz="2000"/>
            </a:lvl3pPr>
            <a:lvl4pPr indent="1371600" marL="0">
              <a:spcBef>
                <a:spcPts val="400"/>
              </a:spcBef>
              <a:buSzTx/>
              <a:buNone/>
              <a:defRPr sz="2000"/>
            </a:lvl4pPr>
            <a:lvl5pPr indent="1828800" marL="0">
              <a:spcBef>
                <a:spcPts val="400"/>
              </a:spcBef>
              <a:buSzTx/>
              <a:buNone/>
              <a:defRPr sz="20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39" name="Corpo livello uno…"/>
          <p:cNvSpPr txBox="1">
            <a:spLocks noGrp="1"/>
          </p:cNvSpPr>
          <p:nvPr>
            <p:ph idx="1" sz="half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numCol="1">
            <a:normAutofit/>
          </a:bodyPr>
          <a:lstStyle>
            <a:lvl1pPr>
              <a:spcBef>
                <a:spcPts val="600"/>
              </a:spcBef>
              <a:defRPr sz="2800"/>
            </a:lvl1pPr>
            <a:lvl2pPr indent="-333375" marL="790575">
              <a:spcBef>
                <a:spcPts val="600"/>
              </a:spcBef>
              <a:defRPr sz="2800"/>
            </a:lvl2pPr>
            <a:lvl3pPr indent="-320039" marL="1234439">
              <a:spcBef>
                <a:spcPts val="600"/>
              </a:spcBef>
              <a:defRPr sz="2800"/>
            </a:lvl3pPr>
            <a:lvl4pPr indent="-355600" marL="1727200">
              <a:spcBef>
                <a:spcPts val="600"/>
              </a:spcBef>
              <a:defRPr sz="2800"/>
            </a:lvl4pPr>
            <a:lvl5pPr indent="-355600" marL="2184400">
              <a:spcBef>
                <a:spcPts val="600"/>
              </a:spcBef>
              <a:defRPr sz="2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0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48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 numCol="1">
            <a:normAutofit/>
          </a:bodyPr>
          <a:lstStyle>
            <a:lvl1pPr indent="0" marL="0">
              <a:spcBef>
                <a:spcPts val="500"/>
              </a:spcBef>
              <a:buSzTx/>
              <a:buNone/>
              <a:defRPr b="1" sz="2400"/>
            </a:lvl1pPr>
            <a:lvl2pPr indent="457200" marL="0">
              <a:spcBef>
                <a:spcPts val="500"/>
              </a:spcBef>
              <a:buSzTx/>
              <a:buNone/>
              <a:defRPr b="1" sz="2400"/>
            </a:lvl2pPr>
            <a:lvl3pPr indent="914400" marL="0">
              <a:spcBef>
                <a:spcPts val="500"/>
              </a:spcBef>
              <a:buSzTx/>
              <a:buNone/>
              <a:defRPr b="1" sz="2400"/>
            </a:lvl3pPr>
            <a:lvl4pPr indent="1371600" marL="0">
              <a:spcBef>
                <a:spcPts val="500"/>
              </a:spcBef>
              <a:buSzTx/>
              <a:buNone/>
              <a:defRPr b="1" sz="2400"/>
            </a:lvl4pPr>
            <a:lvl5pPr indent="1828800" marL="0">
              <a:spcBef>
                <a:spcPts val="500"/>
              </a:spcBef>
              <a:buSzTx/>
              <a:buNone/>
              <a:defRPr b="1" sz="24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9" name="Segnaposto testo 4"/>
          <p:cNvSpPr>
            <a:spLocks noGrp="1"/>
          </p:cNvSpPr>
          <p:nvPr>
            <p:ph idx="21" sz="quarter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 numCol="1">
            <a:normAutofit/>
          </a:bodyPr>
          <a:lstStyle/>
          <a:p>
            <a:pPr indent="0" marL="0">
              <a:spcBef>
                <a:spcPts val="500"/>
              </a:spcBef>
              <a:buSzTx/>
              <a:buNone/>
              <a:defRPr b="1" sz="2400"/>
            </a:pPr>
            <a:endParaRPr/>
          </a:p>
        </p:txBody>
      </p:sp>
      <p:sp>
        <p:nvSpPr>
          <p:cNvPr id="50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olo Testo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 numCol="1">
            <a:normAutofit/>
          </a:bodyPr>
          <a:lstStyle>
            <a:lvl1pPr algn="l">
              <a:defRPr sz="2000"/>
            </a:lvl1pPr>
          </a:lstStyle>
          <a:p>
            <a:r>
              <a:t>Titolo Testo</a:t>
            </a:r>
          </a:p>
        </p:txBody>
      </p:sp>
      <p:sp>
        <p:nvSpPr>
          <p:cNvPr id="73" name="Corpo livello uno…"/>
          <p:cNvSpPr txBox="1">
            <a:spLocks noGrp="1"/>
          </p:cNvSpPr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4" name="Segnaposto testo 3"/>
          <p:cNvSpPr>
            <a:spLocks noGrp="1"/>
          </p:cNvSpPr>
          <p:nvPr>
            <p:ph idx="21" sz="half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pPr indent="0" marL="0">
              <a:spcBef>
                <a:spcPts val="300"/>
              </a:spcBef>
              <a:buSzTx/>
              <a:buNone/>
              <a:defRPr sz="1400"/>
            </a:pPr>
            <a:endParaRPr/>
          </a:p>
        </p:txBody>
      </p:sp>
      <p:sp>
        <p:nvSpPr>
          <p:cNvPr id="75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olo Testo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 numCol="1">
            <a:normAutofit/>
          </a:bodyPr>
          <a:lstStyle>
            <a:lvl1pPr algn="l">
              <a:defRPr sz="2000"/>
            </a:lvl1pPr>
          </a:lstStyle>
          <a:p>
            <a:r>
              <a:t>Titolo Testo</a:t>
            </a:r>
          </a:p>
        </p:txBody>
      </p:sp>
      <p:sp>
        <p:nvSpPr>
          <p:cNvPr id="83" name="Segnaposto immagine 2"/>
          <p:cNvSpPr>
            <a:spLocks noGrp="1"/>
          </p:cNvSpPr>
          <p:nvPr>
            <p:ph idx="21" sz="half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numCol="1" rIns="91439"/>
          <a:lstStyle/>
          <a:p>
            <a:endParaRPr/>
          </a:p>
        </p:txBody>
      </p:sp>
      <p:sp>
        <p:nvSpPr>
          <p:cNvPr id="84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 numCol="1">
            <a:normAutofit/>
          </a:bodyPr>
          <a:lstStyle>
            <a:lvl1pPr indent="0" marL="0">
              <a:spcBef>
                <a:spcPts val="300"/>
              </a:spcBef>
              <a:buSzTx/>
              <a:buNone/>
              <a:defRPr sz="1400"/>
            </a:lvl1pPr>
            <a:lvl2pPr indent="457200" marL="0">
              <a:spcBef>
                <a:spcPts val="300"/>
              </a:spcBef>
              <a:buSzTx/>
              <a:buNone/>
              <a:defRPr sz="1400"/>
            </a:lvl2pPr>
            <a:lvl3pPr indent="914400" marL="0">
              <a:spcBef>
                <a:spcPts val="300"/>
              </a:spcBef>
              <a:buSzTx/>
              <a:buNone/>
              <a:defRPr sz="1400"/>
            </a:lvl3pPr>
            <a:lvl4pPr indent="1371600" marL="0">
              <a:spcBef>
                <a:spcPts val="300"/>
              </a:spcBef>
              <a:buSzTx/>
              <a:buNone/>
              <a:defRPr sz="1400"/>
            </a:lvl4pPr>
            <a:lvl5pPr indent="1828800" marL="0">
              <a:spcBef>
                <a:spcPts val="300"/>
              </a:spcBef>
              <a:buSzTx/>
              <a:buNone/>
              <a:defRPr sz="14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5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93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101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109" name="Corpo livello uno…"/>
          <p:cNvSpPr txBox="1">
            <a:spLocks noGrp="1"/>
          </p:cNvSpPr>
          <p:nvPr>
            <p:ph idx="1" sz="half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0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olo Testo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Titolo Testo</a:t>
            </a:r>
          </a:p>
        </p:txBody>
      </p:sp>
      <p:sp>
        <p:nvSpPr>
          <p:cNvPr id="118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457200" y="1600200"/>
            <a:ext cx="4038600" cy="2185989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9" name="Numero diapositiva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</p:spPr>
        <p:txBody>
          <a:bodyPr numCol="1"/>
          <a:lstStyle/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a 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olo Testo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</p:spPr>
        <p:txBody>
          <a:bodyPr numCol="1">
            <a:normAutofit/>
          </a:bodyPr>
          <a:lstStyle>
            <a:lvl1pPr>
              <a:defRPr b="0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27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numCol="1">
            <a:normAutofit/>
          </a:bodyPr>
          <a:lstStyle>
            <a:lvl1pPr algn="ctr" indent="0" marL="0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ctr" indent="457200" marL="0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ctr" indent="914400" marL="0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ctr" indent="1371600" marL="0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ctr" indent="1828800" marL="0">
              <a:buSzTx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28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olo e contenu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 numCol="1">
            <a:normAutofit/>
          </a:bodyPr>
          <a:lstStyle>
            <a:lvl1pPr>
              <a:defRPr b="0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36" name="Corpo livello uno…"/>
          <p:cNvSpPr txBox="1"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numCol="1">
            <a:normAutofit/>
          </a:bodyPr>
          <a:lstStyle>
            <a:lvl1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7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testazione sezion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olo Testo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</p:spPr>
        <p:txBody>
          <a:bodyPr anchor="t" numCol="1">
            <a:normAutofit/>
          </a:bodyPr>
          <a:lstStyle>
            <a:lvl1pPr algn="l">
              <a:defRPr cap="all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45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 numCol="1">
            <a:normAutofit/>
          </a:bodyPr>
          <a:lstStyle>
            <a:lvl1pPr indent="0" marL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457200" marL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914400" marL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1371600" marL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1828800" marL="0">
              <a:spcBef>
                <a:spcPts val="400"/>
              </a:spcBef>
              <a:buSzTx/>
              <a:buNone/>
              <a:defRPr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46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ue contenuti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 numCol="1">
            <a:normAutofit/>
          </a:bodyPr>
          <a:lstStyle>
            <a:lvl1pPr>
              <a:defRPr b="0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54" name="Corpo livello uno…"/>
          <p:cNvSpPr txBox="1">
            <a:spLocks noGrp="1"/>
          </p:cNvSpPr>
          <p:nvPr>
            <p:ph idx="1" sz="half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numCol="1">
            <a:normAutofit/>
          </a:bodyPr>
          <a:lstStyle>
            <a:lvl1pPr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33375" marL="790575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20039" marL="1234439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indent="-355600" marL="1727200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indent="-355600" marL="2184400">
              <a:spcBef>
                <a:spcPts val="6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55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fron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 numCol="1">
            <a:normAutofit/>
          </a:bodyPr>
          <a:lstStyle>
            <a:lvl1pPr>
              <a:defRPr b="0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63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 numCol="1">
            <a:normAutofit/>
          </a:bodyPr>
          <a:lstStyle>
            <a:lvl1pPr indent="0" marL="0">
              <a:spcBef>
                <a:spcPts val="500"/>
              </a:spcBef>
              <a:buSz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457200" marL="0">
              <a:spcBef>
                <a:spcPts val="500"/>
              </a:spcBef>
              <a:buSz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2pPr>
            <a:lvl3pPr indent="914400" marL="0">
              <a:spcBef>
                <a:spcPts val="500"/>
              </a:spcBef>
              <a:buSz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3pPr>
            <a:lvl4pPr indent="1371600" marL="0">
              <a:spcBef>
                <a:spcPts val="500"/>
              </a:spcBef>
              <a:buSz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4pPr>
            <a:lvl5pPr indent="1828800" marL="0">
              <a:spcBef>
                <a:spcPts val="500"/>
              </a:spcBef>
              <a:buSz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64" name="Segnaposto testo 4"/>
          <p:cNvSpPr>
            <a:spLocks noGrp="1"/>
          </p:cNvSpPr>
          <p:nvPr>
            <p:ph idx="21" sz="quarter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 numCol="1">
            <a:normAutofit/>
          </a:bodyPr>
          <a:lstStyle/>
          <a:p>
            <a:pPr indent="0" marL="0">
              <a:spcBef>
                <a:spcPts val="500"/>
              </a:spcBef>
              <a:buSz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5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</p:spPr>
        <p:txBody>
          <a:bodyPr numCol="1">
            <a:normAutofit/>
          </a:bodyPr>
          <a:lstStyle>
            <a:lvl1pPr>
              <a:defRPr b="0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73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uot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uto con didascal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olo Testo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</p:spPr>
        <p:txBody>
          <a:bodyPr anchor="b" numCol="1">
            <a:normAutofit/>
          </a:bodyPr>
          <a:lstStyle>
            <a:lvl1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88" name="Corpo livello uno…"/>
          <p:cNvSpPr txBox="1">
            <a:spLocks noGrp="1"/>
          </p:cNvSpPr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numCol="1">
            <a:normAutofit/>
          </a:bodyPr>
          <a:lstStyle>
            <a:lvl1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buFont typeface="Arial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89" name="Segnaposto testo 3"/>
          <p:cNvSpPr>
            <a:spLocks noGrp="1"/>
          </p:cNvSpPr>
          <p:nvPr>
            <p:ph idx="21" sz="half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pPr indent="0" marL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magine con didascali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olo Testo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</p:spPr>
        <p:txBody>
          <a:bodyPr anchor="b" numCol="1">
            <a:normAutofit/>
          </a:bodyPr>
          <a:lstStyle>
            <a:lvl1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Titolo Testo</a:t>
            </a:r>
          </a:p>
        </p:txBody>
      </p:sp>
      <p:sp>
        <p:nvSpPr>
          <p:cNvPr id="198" name="Segnaposto immagine 2"/>
          <p:cNvSpPr>
            <a:spLocks noGrp="1"/>
          </p:cNvSpPr>
          <p:nvPr>
            <p:ph idx="21" sz="half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numCol="1" rIns="91439"/>
          <a:lstStyle/>
          <a:p>
            <a:endParaRPr/>
          </a:p>
        </p:txBody>
      </p:sp>
      <p:sp>
        <p:nvSpPr>
          <p:cNvPr id="199" name="Corpo livello uno…"/>
          <p:cNvSpPr txBox="1">
            <a:spLocks noGrp="1"/>
          </p:cNvSpPr>
          <p:nvPr>
            <p:ph idx="1" sz="quarter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 numCol="1">
            <a:normAutofit/>
          </a:bodyPr>
          <a:lstStyle>
            <a:lvl1pPr indent="0" marL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457200" marL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2pPr>
            <a:lvl3pPr indent="914400" marL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3pPr>
            <a:lvl4pPr indent="1371600" marL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indent="1828800" marL="0">
              <a:spcBef>
                <a:spcPts val="300"/>
              </a:spcBef>
              <a:buSzTx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00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430260" y="6401179"/>
            <a:ext cx="256541" cy="275467"/>
          </a:xfrm>
          <a:prstGeom prst="rect">
            <a:avLst/>
          </a:prstGeom>
        </p:spPr>
        <p:txBody>
          <a:bodyPr anchor="ctr" numCol="1"/>
          <a:lstStyle>
            <a:lvl1pPr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<Relationships xmlns="http://schemas.openxmlformats.org/package/2006/relationships"><Relationship Id="rId24" Target="../slideLayouts/slideLayout22.xml" Type="http://schemas.openxmlformats.org/officeDocument/2006/relationships/slideLayout"/><Relationship Id="rId21" Target="../slideLayouts/slideLayout19.xml" Type="http://schemas.openxmlformats.org/officeDocument/2006/relationships/slideLayout"/><Relationship Id="rId19" Target="../slideLayouts/slideLayout17.xml" Type="http://schemas.openxmlformats.org/officeDocument/2006/relationships/slideLayout"/><Relationship Id="rId20" Target="../slideLayouts/slideLayout18.xml" Type="http://schemas.openxmlformats.org/officeDocument/2006/relationships/slideLayout"/><Relationship Id="rId18" Target="../slideLayouts/slideLayout16.xml" Type="http://schemas.openxmlformats.org/officeDocument/2006/relationships/slideLayout"/><Relationship Id="rId17" Target="../slideLayouts/slideLayout15.xml" Type="http://schemas.openxmlformats.org/officeDocument/2006/relationships/slideLayout"/><Relationship Id="rId16" Target="../slideLayouts/slideLayout14.xml" Type="http://schemas.openxmlformats.org/officeDocument/2006/relationships/slideLayout"/><Relationship Id="rId15" Target="../slideLayouts/slideLayout13.xml" Type="http://schemas.openxmlformats.org/officeDocument/2006/relationships/slideLayout"/><Relationship Id="rId14" Target="../slideLayouts/slideLayout12.xml" Type="http://schemas.openxmlformats.org/officeDocument/2006/relationships/slideLayout"/><Relationship Id="rId13" Target="../slideLayouts/slideLayout11.xml" Type="http://schemas.openxmlformats.org/officeDocument/2006/relationships/slideLayout"/><Relationship Id="rId12" Target="../slideLayouts/slideLayout10.xml" Type="http://schemas.openxmlformats.org/officeDocument/2006/relationships/slideLayout"/><Relationship Id="rId11" Target="../slideLayouts/slideLayout9.xml" Type="http://schemas.openxmlformats.org/officeDocument/2006/relationships/slideLayout"/><Relationship Id="rId9" Target="../slideLayouts/slideLayout7.xml" Type="http://schemas.openxmlformats.org/officeDocument/2006/relationships/slideLayout"/><Relationship Id="rId10" Target="../slideLayouts/slideLayout8.xml" Type="http://schemas.openxmlformats.org/officeDocument/2006/relationships/slideLayout"/><Relationship Id="rId8" Target="../slideLayouts/slideLayout6.xml" Type="http://schemas.openxmlformats.org/officeDocument/2006/relationships/slideLayout"/><Relationship Id="rId7" Target="../slideLayouts/slideLayout5.xml" Type="http://schemas.openxmlformats.org/officeDocument/2006/relationships/slideLayout"/><Relationship Id="rId6" Target="../slideLayouts/slideLayout4.xml" Type="http://schemas.openxmlformats.org/officeDocument/2006/relationships/slideLayout"/><Relationship Id="rId5" Target="../slideLayouts/slideLayout3.xml" Type="http://schemas.openxmlformats.org/officeDocument/2006/relationships/slideLayout"/><Relationship Id="rId4" Target="../slideLayouts/slideLayout2.xml" Type="http://schemas.openxmlformats.org/officeDocument/2006/relationships/slideLayout"/><Relationship Id="rId3" Target="../slideLayouts/slideLayout1.xml" Type="http://schemas.openxmlformats.org/officeDocument/2006/relationships/slideLayout"/><Relationship Id="rId23" Target="../slideLayouts/slideLayout21.xml" Type="http://schemas.openxmlformats.org/officeDocument/2006/relationships/slideLayout"/><Relationship Id="rId2" Target="../media/image1.jpeg" Type="http://schemas.openxmlformats.org/officeDocument/2006/relationships/image"/><Relationship Id="rId22" Target="../slideLayouts/slideLayout20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836612"/>
            <a:ext cx="9144000" cy="71438"/>
          </a:xfrm>
          <a:prstGeom prst="rect">
            <a:avLst/>
          </a:prstGeom>
          <a:gradFill>
            <a:gsLst>
              <a:gs pos="0">
                <a:schemeClr val="accent2">
                  <a:alpha val="79999"/>
                </a:schemeClr>
              </a:gs>
              <a:gs pos="100000">
                <a:srgbClr val="181847"/>
              </a:gs>
            </a:gsLst>
            <a:lin ang="5400000" scaled="0"/>
          </a:gradFill>
          <a:ln w="12700">
            <a:miter lim="400000"/>
          </a:ln>
        </p:spPr>
        <p:txBody>
          <a:bodyPr anchor="ctr" lIns="45719" numCol="1" rIns="45719"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" name="Titolo Testo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anchor="ctr" lIns="45719" numCol="1" rIns="45719"/>
          <a:lstStyle/>
          <a:p>
            <a:r>
              <a:t>Titolo Testo</a:t>
            </a:r>
          </a:p>
        </p:txBody>
      </p:sp>
      <p:sp>
        <p:nvSpPr>
          <p:cNvPr id="4" name="Corpo livello uno…"/>
          <p:cNvSpPr txBox="1">
            <a:spLocks noGrp="1"/>
          </p:cNvSpPr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" name="Numero diapositiva"/>
          <p:cNvSpPr txBox="1">
            <a:spLocks noGrp="1"/>
          </p:cNvSpPr>
          <p:nvPr>
            <p:ph idx="2" sz="quarter" type="sldNum"/>
          </p:nvPr>
        </p:nvSpPr>
        <p:spPr>
          <a:xfrm>
            <a:off x="83848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lIns="45719" numCol="1" rIns="45719" wrap="none">
            <a:spAutoFit/>
          </a:bodyPr>
          <a:lstStyle>
            <a:lvl1pPr algn="r">
              <a:defRPr b="0" sz="1400"/>
            </a:lvl1pPr>
          </a:lstStyle>
          <a:p>
            <a:fld id="{86CB4B4D-7CA3-9044-876B-883B54F8677D}" type="slidenum">
              <a:rPr/>
              <a:t>‹N›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</p:sldLayoutIdLst>
  <p:transition spd="med"/>
  <p:txStyles>
    <p:titleStyle>
      <a:lvl1pPr algn="ct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1pPr>
      <a:lvl2pPr algn="ct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2pPr>
      <a:lvl3pPr algn="ct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3pPr>
      <a:lvl4pPr algn="ct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4pPr>
      <a:lvl5pPr algn="ct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5pPr>
      <a:lvl6pPr algn="ctr" defTabSz="914400" indent="4572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6pPr>
      <a:lvl7pPr algn="ctr" defTabSz="914400" indent="9144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7pPr>
      <a:lvl8pPr algn="ctr" defTabSz="914400" indent="13716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8pPr>
      <a:lvl9pPr algn="ctr" defTabSz="914400" indent="18288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accent3">
              <a:lumOff val="44000"/>
            </a:schemeClr>
          </a:solidFill>
          <a:effectLst>
            <a:outerShdw blurRad="38100" dir="2700000" dist="38100" rotWithShape="0">
              <a:srgbClr val="000000"/>
            </a:outerShdw>
          </a:effectLst>
          <a:uFillTx/>
          <a:latin typeface="+mj-lt"/>
          <a:ea typeface="+mj-ea"/>
          <a:cs typeface="+mj-cs"/>
          <a:sym typeface="Arial"/>
        </a:defRPr>
      </a:lvl9pPr>
    </p:titleStyle>
    <p:bodyStyle>
      <a:lvl1pPr algn="l" defTabSz="914400" indent="-342900" latinLnBrk="0" marL="342900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algn="l" defTabSz="914400" indent="-326571" latinLnBrk="0" marL="783771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algn="l" defTabSz="914400" indent="-304800" latinLnBrk="0" marL="1219200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algn="l" defTabSz="914400" indent="-365760" latinLnBrk="0" marL="1737360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algn="l" defTabSz="914400" indent="-365760" latinLnBrk="0" marL="2194560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algn="l" defTabSz="914400" indent="-365760" latinLnBrk="0" marL="2651760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algn="l" defTabSz="914400" indent="-365760" latinLnBrk="0" marL="3108960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algn="l" defTabSz="914400" indent="-365759" latinLnBrk="0" marL="3566159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algn="l" defTabSz="914400" indent="-365759" latinLnBrk="0" marL="4023359" marR="0" rtl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algn="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algn="r" defTabSz="914400" indent="4572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algn="r" defTabSz="914400" indent="9144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algn="r" defTabSz="914400" indent="13716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algn="r" defTabSz="914400" indent="18288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algn="r" defTabSz="914400" indent="22860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algn="r" defTabSz="914400" indent="27432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algn="r" defTabSz="914400" indent="32004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algn="r" defTabSz="914400" indent="36576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20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8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19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0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8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29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0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8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39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0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8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49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0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1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https://www.studiocataldi.it/articoli/33896-sindacato.asp" TargetMode="External" Type="http://schemas.openxmlformats.org/officeDocument/2006/relationships/hyperlink"/><Relationship Id="rId1" Target="../slideLayouts/slideLayout15.xml" Type="http://schemas.openxmlformats.org/officeDocument/2006/relationships/slideLayout"/></Relationships>
</file>

<file path=ppt/slides/_rels/slide5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7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8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59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0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1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3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4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5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6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_rels/slide67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4.jpeg" Type="http://schemas.openxmlformats.org/officeDocument/2006/relationships/image"/><Relationship Id="rId1" Target="../slideLayouts/slideLayout1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1" id="209" name="Immagin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 Box 4"/>
          <p:cNvSpPr txBox="1"/>
          <p:nvPr/>
        </p:nvSpPr>
        <p:spPr>
          <a:xfrm>
            <a:off x="45719" y="1723587"/>
            <a:ext cx="9052561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>
            <a:lvl1pPr algn="ctr">
              <a:lnSpc>
                <a:spcPct val="85000"/>
              </a:lnSpc>
              <a:spcBef>
                <a:spcPts val="4300"/>
              </a:spcBef>
              <a:defRPr i="1" sz="72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Diritto Penale</a:t>
            </a:r>
          </a:p>
        </p:txBody>
      </p:sp>
      <p:sp>
        <p:nvSpPr>
          <p:cNvPr id="211" name="Text Box 4"/>
          <p:cNvSpPr txBox="1"/>
          <p:nvPr/>
        </p:nvSpPr>
        <p:spPr>
          <a:xfrm>
            <a:off x="174876" y="6303648"/>
            <a:ext cx="478345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>
            <a:lvl1pPr>
              <a:lnSpc>
                <a:spcPct val="85000"/>
              </a:lnSpc>
              <a:spcBef>
                <a:spcPts val="1000"/>
              </a:spcBef>
              <a:defRPr b="0" sz="1800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143°Corso Formativo per Allievi Carabinieri</a:t>
            </a:r>
          </a:p>
        </p:txBody>
      </p:sp>
      <p:sp>
        <p:nvSpPr>
          <p:cNvPr id="212" name="Text Box 4"/>
          <p:cNvSpPr txBox="1"/>
          <p:nvPr/>
        </p:nvSpPr>
        <p:spPr>
          <a:xfrm>
            <a:off x="45719" y="53165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>
            <a:lvl1pPr algn="r">
              <a:lnSpc>
                <a:spcPct val="85000"/>
              </a:lnSpc>
              <a:spcBef>
                <a:spcPts val="1800"/>
              </a:spcBef>
              <a:defRPr cap="small" sz="30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Scuola Allievi Carabinieri</a:t>
            </a:r>
          </a:p>
        </p:txBody>
      </p:sp>
      <p:sp>
        <p:nvSpPr>
          <p:cNvPr id="213" name="Text Box 4"/>
          <p:cNvSpPr txBox="1"/>
          <p:nvPr/>
        </p:nvSpPr>
        <p:spPr>
          <a:xfrm>
            <a:off x="45719" y="2918692"/>
            <a:ext cx="9052561" cy="246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ctr">
              <a:lnSpc>
                <a:spcPct val="85000"/>
              </a:lnSpc>
              <a:spcBef>
                <a:spcPts val="2400"/>
              </a:spcBef>
              <a:defRPr cap="small" sz="4000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V Tesi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85000"/>
              </a:lnSpc>
              <a:spcBef>
                <a:spcPts val="2800"/>
              </a:spcBef>
              <a:defRPr cap="small" sz="1000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 </a:t>
            </a:r>
            <a:br>
              <a:rPr/>
            </a:br>
            <a:r>
              <a:rPr cap="none" i="1" sz="4800"/>
              <a:t>I delitti contro la Pubblica Amministrazione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egnaposto contenuto 2"/>
          <p:cNvSpPr txBox="1">
            <a:spLocks noGrp="1"/>
          </p:cNvSpPr>
          <p:nvPr>
            <p:ph idx="1" type="body"/>
          </p:nvPr>
        </p:nvSpPr>
        <p:spPr>
          <a:xfrm>
            <a:off x="136850" y="980727"/>
            <a:ext cx="8899646" cy="5877274"/>
          </a:xfrm>
          <a:prstGeom prst="rect">
            <a:avLst/>
          </a:prstGeom>
        </p:spPr>
        <p:txBody>
          <a:bodyPr numCol="1"/>
          <a:lstStyle/>
          <a:p>
            <a:pPr indent="0" marL="0">
              <a:lnSpc>
                <a:spcPct val="107200"/>
              </a:lnSpc>
              <a:spcBef>
                <a:spcPts val="0"/>
              </a:spcBef>
              <a:buSzTx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titoli sono i seguenti: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- Delitti contro la personalità dello Stato (artt. 241-313),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 - Delitti contro la pubblica amministrazione (artt. 314-360),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III - Delitti contro l’Amministrazione della giustizia (artt. 361-401),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IV - Delitti contro il sentimento religioso e contro la pietà dei defunti (artt. 402-413),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 - Delitti contro l’ordine pubblico (artt. 414-421),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 - Delitti contro l’incolumità pubblica (artt. 422-452),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 bis – Delitti contro l’ambiente (artt. 452bis-452terdecies),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VII - Delitti contro la fede pubblica (artt. 453-498),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VIII - Delitti contro l’economia pubblica, l’industria e il commercio (artt. 499-518),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- Delitti contro la moralità pubblica e il buon costume (artt. 519-544), 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bis - Delitti contro il sentimento per gli animali (artt. 544bis-544sexies),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 - Delitti contro l’integrità e la sanità della stirpe (artt. 545-555) [titolo abrogato], 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 - Delitti contro la famiglia (artt. 556-574),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XII - Delitti contro la persona (artt. 575-623bis),</a:t>
            </a:r>
            <a:endParaRPr sz="800"/>
          </a:p>
          <a:p>
            <a:pPr>
              <a:lnSpc>
                <a:spcPct val="107200"/>
              </a:lnSpc>
              <a:spcBef>
                <a:spcPts val="0"/>
              </a:spcBef>
              <a:buFontTx/>
              <a:buChar char="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XIII - Delitti contro il patrimonio (artt. 624-649).</a:t>
            </a:r>
          </a:p>
        </p:txBody>
      </p:sp>
      <p:pic>
        <p:nvPicPr>
          <p:cNvPr descr="Immagine 5" id="216" name="Immagin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ttangolo 4"/>
          <p:cNvSpPr txBox="1"/>
          <p:nvPr/>
        </p:nvSpPr>
        <p:spPr>
          <a:xfrm>
            <a:off x="182570" y="980728"/>
            <a:ext cx="8736198" cy="476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II </a:t>
            </a:r>
            <a:r>
              <a:rPr err="1"/>
              <a:t>titolo</a:t>
            </a:r>
            <a:r>
              <a:t> II del Libro Secondo del </a:t>
            </a:r>
            <a:r>
              <a:rPr err="1"/>
              <a:t>codice</a:t>
            </a:r>
            <a:r>
              <a:t> </a:t>
            </a:r>
            <a:r>
              <a:rPr err="1"/>
              <a:t>penale</a:t>
            </a:r>
            <a:r>
              <a:t>, </a:t>
            </a:r>
            <a:r>
              <a:rPr err="1"/>
              <a:t>riformato</a:t>
            </a:r>
            <a:r>
              <a:t> dal </a:t>
            </a:r>
            <a:r>
              <a:rPr err="1"/>
              <a:t>Legislatore</a:t>
            </a:r>
            <a:r>
              <a:t> </a:t>
            </a:r>
            <a:r>
              <a:rPr err="1"/>
              <a:t>negli</a:t>
            </a:r>
            <a:r>
              <a:t> </a:t>
            </a:r>
            <a:r>
              <a:rPr err="1"/>
              <a:t>anni</a:t>
            </a:r>
            <a:r>
              <a:t> </a:t>
            </a:r>
            <a:r>
              <a:rPr err="1"/>
              <a:t>Novanta</a:t>
            </a:r>
            <a:r>
              <a:t>, è </a:t>
            </a:r>
            <a:r>
              <a:rPr err="1"/>
              <a:t>dedicato</a:t>
            </a:r>
            <a:r>
              <a:t> ai «</a:t>
            </a:r>
            <a:r>
              <a:rPr b="1" err="1" u="sng">
                <a:solidFill>
                  <a:srgbClr val="FF0000"/>
                </a:solidFill>
              </a:rPr>
              <a:t>delitti</a:t>
            </a:r>
            <a:r>
              <a:rPr b="1" u="sng">
                <a:solidFill>
                  <a:srgbClr val="FF0000"/>
                </a:solidFill>
              </a:rPr>
              <a:t> </a:t>
            </a:r>
            <a:r>
              <a:rPr b="1" err="1" u="sng">
                <a:solidFill>
                  <a:srgbClr val="FF0000"/>
                </a:solidFill>
              </a:rPr>
              <a:t>contro</a:t>
            </a:r>
            <a:r>
              <a:rPr b="1" u="sng">
                <a:solidFill>
                  <a:srgbClr val="FF0000"/>
                </a:solidFill>
              </a:rPr>
              <a:t> la </a:t>
            </a:r>
            <a:r>
              <a:rPr b="1" err="1" u="sng">
                <a:solidFill>
                  <a:srgbClr val="FF0000"/>
                </a:solidFill>
              </a:rPr>
              <a:t>Pubblica</a:t>
            </a:r>
            <a:r>
              <a:rPr b="1" u="sng">
                <a:solidFill>
                  <a:srgbClr val="FF0000"/>
                </a:solidFill>
              </a:rPr>
              <a:t> </a:t>
            </a:r>
            <a:r>
              <a:rPr b="1" err="1" u="sng">
                <a:solidFill>
                  <a:srgbClr val="FF0000"/>
                </a:solidFill>
              </a:rPr>
              <a:t>Amministrazione</a:t>
            </a:r>
            <a:r>
              <a:t>» ed è </a:t>
            </a:r>
            <a:r>
              <a:rPr err="1"/>
              <a:t>suddiviso</a:t>
            </a:r>
            <a:r>
              <a:t> in </a:t>
            </a:r>
            <a:r>
              <a:rPr err="1"/>
              <a:t>tre</a:t>
            </a:r>
            <a:r>
              <a:t> </a:t>
            </a:r>
            <a:r>
              <a:rPr err="1"/>
              <a:t>capi</a:t>
            </a:r>
            <a:r>
              <a:t>:</a:t>
            </a:r>
            <a:endParaRPr altLang="it-IT" lang="it-IT"/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primo (</a:t>
            </a:r>
            <a:r>
              <a:rPr err="1"/>
              <a:t>artt</a:t>
            </a:r>
            <a:r>
              <a:t>. 314 – 335-bis) </a:t>
            </a:r>
            <a:r>
              <a:rPr err="1"/>
              <a:t>si</a:t>
            </a:r>
            <a:r>
              <a:t> </a:t>
            </a:r>
            <a:r>
              <a:rPr err="1"/>
              <a:t>occupa</a:t>
            </a:r>
            <a:r>
              <a:t> </a:t>
            </a:r>
            <a:r>
              <a:rPr err="1"/>
              <a:t>dei</a:t>
            </a:r>
            <a:r>
              <a:t> «</a:t>
            </a:r>
            <a:r>
              <a:rPr b="1" err="1" u="sng">
                <a:solidFill>
                  <a:srgbClr val="0433FF"/>
                </a:solidFill>
              </a:rPr>
              <a:t>delitti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dei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pubblici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ufficiali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contro</a:t>
            </a:r>
            <a:r>
              <a:rPr b="1" u="sng">
                <a:solidFill>
                  <a:srgbClr val="0433FF"/>
                </a:solidFill>
              </a:rPr>
              <a:t> la </a:t>
            </a:r>
            <a:r>
              <a:rPr b="1" err="1" u="sng">
                <a:solidFill>
                  <a:srgbClr val="0433FF"/>
                </a:solidFill>
              </a:rPr>
              <a:t>pubblica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amministrazione</a:t>
            </a:r>
            <a:r>
              <a:t>», -&gt; </a:t>
            </a:r>
            <a:r>
              <a:rPr err="1"/>
              <a:t>l’offesa</a:t>
            </a:r>
            <a:r>
              <a:t> </a:t>
            </a:r>
            <a:r>
              <a:rPr err="1"/>
              <a:t>implica</a:t>
            </a:r>
            <a:r>
              <a:t> </a:t>
            </a:r>
            <a:r>
              <a:rPr err="1"/>
              <a:t>sempre</a:t>
            </a:r>
            <a:r>
              <a:t> una </a:t>
            </a:r>
            <a:r>
              <a:rPr err="1"/>
              <a:t>violazione</a:t>
            </a:r>
            <a:r>
              <a:t> </a:t>
            </a:r>
            <a:r>
              <a:rPr err="1"/>
              <a:t>dei</a:t>
            </a:r>
            <a:r>
              <a:t> </a:t>
            </a:r>
            <a:r>
              <a:rPr err="1"/>
              <a:t>doveri</a:t>
            </a:r>
            <a:r>
              <a:t> </a:t>
            </a:r>
            <a:r>
              <a:rPr err="1"/>
              <a:t>funzionali</a:t>
            </a:r>
            <a:r>
              <a:t> </a:t>
            </a:r>
            <a:r>
              <a:rPr err="1"/>
              <a:t>delle</a:t>
            </a:r>
            <a:r>
              <a:t> </a:t>
            </a:r>
            <a:r>
              <a:rPr err="1"/>
              <a:t>persone</a:t>
            </a:r>
            <a:r>
              <a:t> </a:t>
            </a:r>
            <a:r>
              <a:rPr err="1"/>
              <a:t>che</a:t>
            </a:r>
            <a:r>
              <a:t> </a:t>
            </a:r>
            <a:r>
              <a:rPr err="1"/>
              <a:t>esercitano</a:t>
            </a:r>
            <a:r>
              <a:t> </a:t>
            </a:r>
            <a:r>
              <a:rPr err="1"/>
              <a:t>mansioni</a:t>
            </a:r>
            <a:r>
              <a:t> </a:t>
            </a:r>
            <a:r>
              <a:rPr err="1"/>
              <a:t>pubbliche</a:t>
            </a:r>
            <a:r>
              <a:t>.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secondo (</a:t>
            </a:r>
            <a:r>
              <a:rPr err="1"/>
              <a:t>artt</a:t>
            </a:r>
            <a:r>
              <a:t>. 336 – 356) </a:t>
            </a:r>
            <a:r>
              <a:rPr err="1"/>
              <a:t>riguarda</a:t>
            </a:r>
            <a:r>
              <a:t> </a:t>
            </a:r>
            <a:r>
              <a:rPr err="1"/>
              <a:t>i</a:t>
            </a:r>
            <a:r>
              <a:t> «</a:t>
            </a:r>
            <a:r>
              <a:rPr b="1" err="1" u="sng">
                <a:solidFill>
                  <a:srgbClr val="0433FF"/>
                </a:solidFill>
              </a:rPr>
              <a:t>delitti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dei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privati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contro</a:t>
            </a:r>
            <a:r>
              <a:rPr b="1" u="sng">
                <a:solidFill>
                  <a:srgbClr val="0433FF"/>
                </a:solidFill>
              </a:rPr>
              <a:t> la </a:t>
            </a:r>
            <a:r>
              <a:rPr b="1" err="1" u="sng">
                <a:solidFill>
                  <a:srgbClr val="0433FF"/>
                </a:solidFill>
              </a:rPr>
              <a:t>pubblica</a:t>
            </a:r>
            <a:r>
              <a:rPr b="1" u="sng">
                <a:solidFill>
                  <a:srgbClr val="0433FF"/>
                </a:solidFill>
              </a:rPr>
              <a:t> </a:t>
            </a:r>
            <a:r>
              <a:rPr b="1" err="1" u="sng">
                <a:solidFill>
                  <a:srgbClr val="0433FF"/>
                </a:solidFill>
              </a:rPr>
              <a:t>amministrazione</a:t>
            </a:r>
            <a:r>
              <a:t>», -&gt; </a:t>
            </a:r>
            <a:r>
              <a:rPr err="1"/>
              <a:t>il</a:t>
            </a:r>
            <a:r>
              <a:t> </a:t>
            </a:r>
            <a:r>
              <a:rPr err="1"/>
              <a:t>turbamento</a:t>
            </a:r>
            <a:r>
              <a:t> è </a:t>
            </a:r>
            <a:r>
              <a:rPr err="1"/>
              <a:t>recato</a:t>
            </a:r>
            <a:r>
              <a:t> da </a:t>
            </a:r>
            <a:r>
              <a:rPr err="1"/>
              <a:t>soggetti</a:t>
            </a:r>
            <a:r>
              <a:t> </a:t>
            </a:r>
            <a:r>
              <a:rPr err="1"/>
              <a:t>estranei</a:t>
            </a:r>
            <a:r>
              <a:t> </a:t>
            </a:r>
            <a:r>
              <a:rPr err="1"/>
              <a:t>all’attività</a:t>
            </a:r>
            <a:r>
              <a:t> </a:t>
            </a:r>
            <a:r>
              <a:rPr err="1"/>
              <a:t>funzionale</a:t>
            </a:r>
            <a:r>
              <a:t> </a:t>
            </a:r>
            <a:r>
              <a:rPr err="1"/>
              <a:t>colpita</a:t>
            </a:r>
            <a:r>
              <a:t> </a:t>
            </a:r>
            <a:r>
              <a:rPr err="1"/>
              <a:t>dall’azione</a:t>
            </a:r>
            <a:r>
              <a:t> </a:t>
            </a:r>
            <a:r>
              <a:rPr err="1"/>
              <a:t>criminosa</a:t>
            </a:r>
            <a:r>
              <a:t>.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err="1"/>
              <a:t>terzo</a:t>
            </a:r>
            <a:r>
              <a:t> (</a:t>
            </a:r>
            <a:r>
              <a:rPr err="1"/>
              <a:t>artt</a:t>
            </a:r>
            <a:r>
              <a:t>. 357 – 360) </a:t>
            </a:r>
            <a:r>
              <a:rPr err="1"/>
              <a:t>riguarda</a:t>
            </a:r>
            <a:r>
              <a:t> le «</a:t>
            </a:r>
            <a:r>
              <a:rPr b="1" err="1" i="1"/>
              <a:t>disposizioni</a:t>
            </a:r>
            <a:r>
              <a:rPr b="1" i="1"/>
              <a:t> </a:t>
            </a:r>
            <a:r>
              <a:rPr b="1" err="1" i="1"/>
              <a:t>comuni</a:t>
            </a:r>
            <a:r>
              <a:rPr b="1" i="1"/>
              <a:t> ai </a:t>
            </a:r>
            <a:r>
              <a:rPr b="1" err="1" i="1"/>
              <a:t>capi</a:t>
            </a:r>
            <a:r>
              <a:rPr b="1" i="1"/>
              <a:t> </a:t>
            </a:r>
            <a:r>
              <a:rPr b="1" err="1" i="1"/>
              <a:t>precedenti</a:t>
            </a:r>
            <a:r>
              <a:t>».</a:t>
            </a:r>
          </a:p>
        </p:txBody>
      </p:sp>
      <p:pic>
        <p:nvPicPr>
          <p:cNvPr descr="Immagine 6" id="220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ttangolo 4"/>
          <p:cNvSpPr txBox="1"/>
          <p:nvPr/>
        </p:nvSpPr>
        <p:spPr>
          <a:xfrm>
            <a:off x="203901" y="962955"/>
            <a:ext cx="8736198" cy="47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b="0" sz="29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PUBBLICA AMMINISTRAZIONE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concepita come quel complesso di </a:t>
            </a:r>
            <a:r>
              <a:rPr b="1">
                <a:solidFill>
                  <a:srgbClr val="002F8E"/>
                </a:solidFill>
              </a:rPr>
              <a:t>strutture che perseguono finalità pubbliche </a:t>
            </a:r>
            <a:r>
              <a:t>(e quindi l’interesse della collettività) nel rispetto della normativa pubblicistica e con i poteri pubblici da essa accordati. Il concetto di P.A. comprende tutta l’attività dello Stato.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descr="Immagine 6" id="224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eneralità"/>
          <p:cNvSpPr txBox="1">
            <a:spLocks noGrp="1"/>
          </p:cNvSpPr>
          <p:nvPr>
            <p:ph type="title"/>
          </p:nvPr>
        </p:nvSpPr>
        <p:spPr>
          <a:xfrm>
            <a:off x="546062" y="-169677"/>
            <a:ext cx="8229601" cy="1143001"/>
          </a:xfrm>
          <a:prstGeom prst="rect">
            <a:avLst/>
          </a:prstGeom>
        </p:spPr>
        <p:txBody>
          <a:bodyPr numCol="1"/>
          <a:lstStyle>
            <a:lvl1pPr algn="l">
              <a:defRPr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>
              <a:defRPr>
                <a:effectLst/>
              </a:defRPr>
            </a:pPr>
            <a:r>
              <a:t>Generalità</a:t>
            </a:r>
          </a:p>
        </p:txBody>
      </p:sp>
      <p:sp>
        <p:nvSpPr>
          <p:cNvPr id="228" name="Il bene giuridico tutelato da questi delitti è la FUNZIONE AMMINISTRATIVA, per come descritta dall’ art. 97 della Costituzione.…"/>
          <p:cNvSpPr txBox="1">
            <a:spLocks noGrp="1"/>
          </p:cNvSpPr>
          <p:nvPr>
            <p:ph idx="1" type="body"/>
          </p:nvPr>
        </p:nvSpPr>
        <p:spPr>
          <a:xfrm>
            <a:off x="457200" y="1098679"/>
            <a:ext cx="8229600" cy="5027484"/>
          </a:xfrm>
          <a:prstGeom prst="rect">
            <a:avLst/>
          </a:prstGeom>
        </p:spPr>
        <p:txBody>
          <a:bodyPr numCol="1">
            <a:normAutofit lnSpcReduction="10000"/>
          </a:bodyPr>
          <a:lstStyle/>
          <a:p>
            <a:pPr algn="just" defTabSz="896111" indent="0" marL="0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b="1" cap="all">
                <a:solidFill>
                  <a:srgbClr val="002F8E"/>
                </a:solidFill>
              </a:rPr>
              <a:t>bene giuridico</a:t>
            </a:r>
            <a:r>
              <a:rPr b="1">
                <a:solidFill>
                  <a:srgbClr val="002F8E"/>
                </a:solidFill>
              </a:rPr>
              <a:t> </a:t>
            </a:r>
            <a:r>
              <a:t>tutelato da questi delitti è la </a:t>
            </a:r>
            <a:r>
              <a:rPr b="1">
                <a:solidFill>
                  <a:srgbClr val="002F8E"/>
                </a:solidFill>
              </a:rPr>
              <a:t>FUNZIONE AMMINISTRATIVA</a:t>
            </a:r>
            <a:r>
              <a:t>, per come descritta dall’ </a:t>
            </a:r>
            <a:r>
              <a:rPr>
                <a:solidFill>
                  <a:srgbClr val="FF0000"/>
                </a:solidFill>
              </a:rPr>
              <a:t>art. 97 </a:t>
            </a:r>
            <a:r>
              <a:t>della Costituzione. </a:t>
            </a:r>
          </a:p>
          <a:p>
            <a:pPr algn="just" defTabSz="896111" indent="0" marL="0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defTabSz="896111" indent="0" marL="0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— “… i pubblici uffici sono organizzati secondo disposizioni di legge, in modo che siano assicurati il </a:t>
            </a:r>
            <a:r>
              <a:rPr i="1" u="sng">
                <a:solidFill>
                  <a:srgbClr val="FF0000"/>
                </a:solidFill>
              </a:rPr>
              <a:t>buon andamento</a:t>
            </a:r>
            <a:r>
              <a:t> e l’</a:t>
            </a:r>
            <a:r>
              <a:rPr i="1" u="sng">
                <a:solidFill>
                  <a:srgbClr val="FF0000"/>
                </a:solidFill>
              </a:rPr>
              <a:t>imparzialità</a:t>
            </a:r>
            <a:r>
              <a:t> dell’amministrazione…”</a:t>
            </a:r>
          </a:p>
          <a:p>
            <a:pPr algn="just" defTabSz="896111" indent="0" marL="0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defTabSz="896111" indent="0" marL="0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Pertanto, i delitti contro la P.A. sono tutti quelli che colpiscono l’attività funzionale dello Stato.</a:t>
            </a:r>
          </a:p>
          <a:p>
            <a:pPr algn="just" defTabSz="896111" indent="0" marL="0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 delitti contro la pubblica amministrazione si suddividono in due categorie:</a:t>
            </a:r>
          </a:p>
          <a:p>
            <a:pPr algn="just" defTabSz="896111" indent="-348488" marL="348488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Ø	</a:t>
            </a:r>
            <a:r>
              <a:rPr b="1"/>
              <a:t>delitti commessi dai pubblici ufficiali contro la PA </a:t>
            </a:r>
            <a:r>
              <a:t>(detti delitti sono quindi propri);</a:t>
            </a:r>
          </a:p>
          <a:p>
            <a:pPr algn="just" defTabSz="896111" indent="-348488" marL="348488">
              <a:lnSpc>
                <a:spcPct val="114000"/>
              </a:lnSpc>
              <a:spcBef>
                <a:spcPts val="500"/>
              </a:spcBef>
              <a:buSzTx/>
              <a:buFontTx/>
              <a:buNone/>
              <a:defRPr sz="20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Ø	</a:t>
            </a:r>
            <a:r>
              <a:rPr b="1"/>
              <a:t>delitti commessi dai privati contro la PA</a:t>
            </a:r>
            <a:r>
              <a:t>.</a:t>
            </a:r>
          </a:p>
        </p:txBody>
      </p:sp>
      <p:pic>
        <p:nvPicPr>
          <p:cNvPr descr="Immagine 6" id="229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ttangolo 4"/>
          <p:cNvSpPr txBox="1"/>
          <p:nvPr/>
        </p:nvSpPr>
        <p:spPr>
          <a:xfrm>
            <a:off x="203901" y="722107"/>
            <a:ext cx="8736198" cy="6274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PUBBLICO UFFICIALE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357 </a:t>
            </a:r>
            <a:r>
              <a:rPr err="1"/>
              <a:t>c.p.</a:t>
            </a: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/>
              <a:t>«</a:t>
            </a:r>
            <a:r>
              <a:rPr altLang="it-IT" i="1" lang="it-IT" sz="2000"/>
              <a:t>Agli effetti della legge penale, sono </a:t>
            </a:r>
            <a:r>
              <a:rPr altLang="it-IT" i="1" lang="it-IT" sz="2000">
                <a:solidFill>
                  <a:srgbClr val="002F8E"/>
                </a:solidFill>
              </a:rPr>
              <a:t>pubblici ufficiali </a:t>
            </a:r>
            <a:r>
              <a:rPr altLang="it-IT" i="1" lang="it-IT" sz="2000"/>
              <a:t>coloro i quali </a:t>
            </a:r>
            <a:r>
              <a:rPr altLang="it-IT" i="1" lang="it-IT" sz="2000">
                <a:solidFill>
                  <a:srgbClr val="002F8E"/>
                </a:solidFill>
              </a:rPr>
              <a:t>esercitano una pubblica funzione </a:t>
            </a:r>
            <a:r>
              <a:rPr altLang="it-IT" i="1" lang="it-IT" sz="2000">
                <a:solidFill>
                  <a:srgbClr val="FF0000"/>
                </a:solidFill>
              </a:rPr>
              <a:t>legislativa, giudiziaria o amministrativa</a:t>
            </a:r>
            <a:r>
              <a:rPr altLang="it-IT" i="1" lang="it-IT" sz="200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i="1" lang="it-IT" sz="2000"/>
              <a:t> </a:t>
            </a:r>
            <a:r>
              <a:rPr altLang="it-IT" lang="it-IT" sz="2000"/>
              <a:t>Agli stessi effetti </a:t>
            </a:r>
            <a:r>
              <a:rPr altLang="it-IT" lang="it-IT" sz="2000">
                <a:solidFill>
                  <a:srgbClr val="002F8E"/>
                </a:solidFill>
              </a:rPr>
              <a:t>è pubblica </a:t>
            </a:r>
            <a:r>
              <a:rPr altLang="it-IT" lang="it-IT" sz="2000"/>
              <a:t>la funzione amministrativa disciplinata da norme di  diritto pubblico e da atti autoritativi, e caratterizzata dalla formazione e dalla manifestazione della volontà della P.A. o dal suo svolgersi per mezzo di poteri autoritativi o certificativi».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 sz="160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600">
                <a:solidFill>
                  <a:srgbClr val="FF0000"/>
                </a:solidFill>
              </a:rPr>
              <a:t>Funzione amministrativa</a:t>
            </a:r>
            <a:r>
              <a:rPr altLang="it-IT" lang="it-IT" sz="1600"/>
              <a:t>= mira alla realizzazione concreta dei fini dello Stato attraverso statuizioni che permettono di dare effettiva ed immediata operatività all’astratta previsione legislativa.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 sz="9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600"/>
              <a:t>Il Pubblico Ufficiale è un soggetto a cui lo Stato ha conferito poteri particolari che sono espressione dell’autorità statale.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600"/>
              <a:t>Non deve lavorare necessariamente alle dipendenze dello Stato.  </a:t>
            </a:r>
            <a:r>
              <a:rPr altLang="it-IT" i="1" lang="it-IT" sz="1600" u="sng"/>
              <a:t>-es. Notaio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600"/>
              <a:t>Ci sono poi soggetti che sono solo temporaneamente Pubblici ufficiali, per il tempo necessario a svolgere una certa incombenza: </a:t>
            </a:r>
            <a:r>
              <a:rPr altLang="it-IT" i="1" lang="it-IT" sz="1600" u="sng"/>
              <a:t>es. consulente tecnico d’ufficio nominato dal tribunale.</a:t>
            </a:r>
          </a:p>
          <a:p>
            <a:pPr algn="just" defTabSz="457200">
              <a:defRPr b="0" sz="1900">
                <a:latin typeface="+mn-lt"/>
                <a:ea typeface="+mn-ea"/>
                <a:cs typeface="+mn-cs"/>
                <a:sym typeface="Helvetica"/>
              </a:defRPr>
            </a:pP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magine 6" id="232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ttangolo 4"/>
          <p:cNvSpPr txBox="1"/>
          <p:nvPr/>
        </p:nvSpPr>
        <p:spPr>
          <a:xfrm>
            <a:off x="182570" y="908720"/>
            <a:ext cx="8736198" cy="4851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PUBBLICO UFFICIALE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pubblico ufficiale si </a:t>
            </a:r>
            <a:r>
              <a:rPr>
                <a:solidFill>
                  <a:srgbClr val="FF0000"/>
                </a:solidFill>
              </a:rPr>
              <a:t>differenzia</a:t>
            </a:r>
            <a:r>
              <a:t> d</a:t>
            </a:r>
            <a:r>
              <a:rPr u="sng"/>
              <a:t>all’incaricato di pubblico servizio</a:t>
            </a:r>
            <a:r>
              <a:t> (art. 358), in quanto il primo è destinatario dei seguenti poteri: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POTERI DELIBERATIVI</a:t>
            </a:r>
            <a:r>
              <a:rPr b="0">
                <a:solidFill>
                  <a:srgbClr val="000000"/>
                </a:solidFill>
              </a:rPr>
              <a:t>, che si sostanziano nella manifestazione all'esterno della volontà dell'ente pubblico;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POTERI AUTORITATIVI</a:t>
            </a:r>
            <a:r>
              <a:rPr b="0">
                <a:solidFill>
                  <a:srgbClr val="000000"/>
                </a:solidFill>
              </a:rPr>
              <a:t>, caratterizzati dall'attività che permette alla P.A. di portare a termine i propri fini istituzionali, tramite il c.d. potere d'imperio;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000">
                <a:solidFill>
                  <a:srgbClr val="002F8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POTERI CERTIFICATIVI</a:t>
            </a:r>
            <a:r>
              <a:rPr b="0">
                <a:solidFill>
                  <a:srgbClr val="000000"/>
                </a:solidFill>
              </a:rPr>
              <a:t>, i quali attestano, certificano, documentano fatti e valutazioni in modo da garantire la sicurezza dei traffici giuridici (ad es. scritture private autenticate).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Es. l'ufficiale giudiziario, l'assistente universitario, l'ispettore sanitario di un ospedale, i carabinieri e gli agenti di Pubblica Sicurezza, etc. </a:t>
            </a:r>
          </a:p>
        </p:txBody>
      </p:sp>
      <p:pic>
        <p:nvPicPr>
          <p:cNvPr descr="Immagine 6" id="236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ttangolo 4"/>
          <p:cNvSpPr txBox="1"/>
          <p:nvPr/>
        </p:nvSpPr>
        <p:spPr>
          <a:xfrm>
            <a:off x="182570" y="836712"/>
            <a:ext cx="8736198" cy="4111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ctr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INCARICATO DI PUBBLICO SERVIZIO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358 c.p.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«</a:t>
            </a:r>
            <a:r>
              <a:rPr i="1"/>
              <a:t>Agli effetti della legge penale, sono </a:t>
            </a:r>
            <a:r>
              <a:rPr b="1" i="1">
                <a:solidFill>
                  <a:srgbClr val="002F8E"/>
                </a:solidFill>
              </a:rPr>
              <a:t>incaricati di pubblico servizio</a:t>
            </a:r>
            <a:r>
              <a:rPr b="1" i="1"/>
              <a:t> </a:t>
            </a:r>
            <a:r>
              <a:rPr i="1"/>
              <a:t>coloro i quali, a qualunque titolo, </a:t>
            </a:r>
            <a:r>
              <a:rPr b="1" i="1">
                <a:solidFill>
                  <a:srgbClr val="002F8E"/>
                </a:solidFill>
              </a:rPr>
              <a:t>prestano un pubblico servizio</a:t>
            </a:r>
            <a:r>
              <a:rPr i="1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 </a:t>
            </a:r>
            <a:r>
              <a:rPr b="1">
                <a:solidFill>
                  <a:srgbClr val="002F8E"/>
                </a:solidFill>
              </a:rPr>
              <a:t>pubblico servizio </a:t>
            </a:r>
            <a:r>
              <a:t>deve intendersi un’attività disciplinata nelle stesse forme della pubblica funzione, ma caratterizzata dalla </a:t>
            </a:r>
            <a:r>
              <a:rPr u="sng"/>
              <a:t>mancanza dei poteri tipici </a:t>
            </a:r>
            <a:r>
              <a:t>di questa ultima, e con esclusione dello svolgimento di semplici mansioni di ordine e della prestazione di opera meramente materiale</a:t>
            </a:r>
            <a:r>
              <a:rPr i="0"/>
              <a:t>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0"/>
          </a:p>
        </p:txBody>
      </p:sp>
      <p:pic>
        <p:nvPicPr>
          <p:cNvPr descr="Immagine 6" id="240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i individua in maniera negativa rispetto alla funzione tipica del pubblico ufficiale per la mancanza dei poteri tipici di quest’ultimo, e con esclusione, dello svolgimento di semplici mansioni d’ordine e della prestazione di opera meramente materiale.…"/>
          <p:cNvSpPr txBox="1">
            <a:spLocks noGrp="1"/>
          </p:cNvSpPr>
          <p:nvPr>
            <p:ph idx="1" type="body"/>
          </p:nvPr>
        </p:nvSpPr>
        <p:spPr>
          <a:xfrm>
            <a:off x="457200" y="1208057"/>
            <a:ext cx="8229600" cy="4918106"/>
          </a:xfrm>
          <a:prstGeom prst="rect">
            <a:avLst/>
          </a:prstGeom>
        </p:spPr>
        <p:txBody>
          <a:bodyPr numCol="1"/>
          <a:lstStyle/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individua in maniera negativa rispetto alla funzione tipica del pubblico ufficiale per la </a:t>
            </a:r>
            <a:r>
              <a:rPr b="1">
                <a:solidFill>
                  <a:srgbClr val="002F8E"/>
                </a:solidFill>
              </a:rPr>
              <a:t>mancanza dei poteri tipici </a:t>
            </a:r>
            <a:r>
              <a:t>di quest’ultimo, e con esclusione, dello </a:t>
            </a:r>
            <a:r>
              <a:rPr u="sng"/>
              <a:t>svolgimento di semplici mansioni d’ordine</a:t>
            </a:r>
            <a:r>
              <a:t> e della </a:t>
            </a:r>
            <a:r>
              <a:rPr u="sng"/>
              <a:t>prestazione di opera meramente materiale.</a:t>
            </a: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sng"/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comune con la nozione di pubblico ufficiale vi è la </a:t>
            </a:r>
            <a:r>
              <a:rPr b="1">
                <a:solidFill>
                  <a:srgbClr val="002F8E"/>
                </a:solidFill>
              </a:rPr>
              <a:t>circostanza obiettiva di esercitare un pubblico servizio</a:t>
            </a:r>
            <a:r>
              <a:t>, senza che assuma importanza il dato formale dell’esistenza di un rapporto di pubblico impiego.</a:t>
            </a: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FontTx/>
              <a:buNone/>
              <a:defRPr i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Es. bidello scolastico, la guardia giurata, presentatori-conduttori televisivi, etc.</a:t>
            </a:r>
          </a:p>
        </p:txBody>
      </p:sp>
      <p:sp>
        <p:nvSpPr>
          <p:cNvPr id="244" name="Generalità"/>
          <p:cNvSpPr txBox="1"/>
          <p:nvPr/>
        </p:nvSpPr>
        <p:spPr>
          <a:xfrm>
            <a:off x="642350" y="128817"/>
            <a:ext cx="4813706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Generalità</a:t>
            </a:r>
          </a:p>
        </p:txBody>
      </p:sp>
      <p:pic>
        <p:nvPicPr>
          <p:cNvPr descr="Immagine 6" id="245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ttangolo 4"/>
          <p:cNvSpPr txBox="1"/>
          <p:nvPr/>
        </p:nvSpPr>
        <p:spPr>
          <a:xfrm>
            <a:off x="363233" y="965297"/>
            <a:ext cx="8736198" cy="3338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314 </a:t>
            </a:r>
            <a:r>
              <a:rPr err="1"/>
              <a:t>c.p.</a:t>
            </a:r>
            <a:r>
              <a:t> </a:t>
            </a:r>
            <a:r>
              <a:rPr err="1"/>
              <a:t>Peculato</a:t>
            </a: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«c.1 </a:t>
            </a:r>
            <a:r>
              <a:rPr i="1"/>
              <a:t>Il </a:t>
            </a:r>
            <a:r>
              <a:rPr err="1" i="1"/>
              <a:t>pubblico</a:t>
            </a:r>
            <a:r>
              <a:rPr i="1"/>
              <a:t> </a:t>
            </a:r>
            <a:r>
              <a:rPr err="1" i="1"/>
              <a:t>ufficiale</a:t>
            </a:r>
            <a:r>
              <a:rPr i="1"/>
              <a:t> o </a:t>
            </a:r>
            <a:r>
              <a:rPr err="1" i="1"/>
              <a:t>l'incaricato</a:t>
            </a:r>
            <a:r>
              <a:rPr i="1"/>
              <a:t> di un </a:t>
            </a:r>
            <a:r>
              <a:rPr err="1" i="1"/>
              <a:t>pubblico</a:t>
            </a:r>
            <a:r>
              <a:rPr i="1"/>
              <a:t> </a:t>
            </a:r>
            <a:r>
              <a:rPr err="1" i="1"/>
              <a:t>servizio</a:t>
            </a:r>
            <a:r>
              <a:rPr i="1"/>
              <a:t>, </a:t>
            </a:r>
            <a:r>
              <a:rPr err="1" i="1"/>
              <a:t>che</a:t>
            </a:r>
            <a:r>
              <a:rPr i="1"/>
              <a:t>, </a:t>
            </a:r>
            <a:r>
              <a:rPr err="1" i="1"/>
              <a:t>avendo</a:t>
            </a:r>
            <a:r>
              <a:rPr i="1"/>
              <a:t> </a:t>
            </a:r>
            <a:r>
              <a:rPr b="1" i="1"/>
              <a:t>per </a:t>
            </a:r>
            <a:r>
              <a:rPr b="1" err="1" i="1"/>
              <a:t>ragione</a:t>
            </a:r>
            <a:r>
              <a:rPr b="1" i="1"/>
              <a:t> del </a:t>
            </a:r>
            <a:r>
              <a:rPr b="1" err="1" i="1"/>
              <a:t>suo</a:t>
            </a:r>
            <a:r>
              <a:rPr b="1" i="1"/>
              <a:t> </a:t>
            </a:r>
            <a:r>
              <a:rPr b="1" err="1" i="1"/>
              <a:t>ufficio</a:t>
            </a:r>
            <a:r>
              <a:rPr b="1" i="1"/>
              <a:t> o </a:t>
            </a:r>
            <a:r>
              <a:rPr b="1" err="1" i="1"/>
              <a:t>servizio</a:t>
            </a:r>
            <a:r>
              <a:rPr i="1"/>
              <a:t> </a:t>
            </a:r>
            <a:r>
              <a:rPr b="1" err="1" i="1"/>
              <a:t>il</a:t>
            </a:r>
            <a:r>
              <a:rPr b="1" i="1"/>
              <a:t> </a:t>
            </a:r>
            <a:r>
              <a:rPr b="1" err="1" i="1"/>
              <a:t>possesso</a:t>
            </a:r>
            <a:r>
              <a:rPr b="1" i="1"/>
              <a:t> o </a:t>
            </a:r>
            <a:r>
              <a:rPr b="1" err="1" i="1"/>
              <a:t>comunque</a:t>
            </a:r>
            <a:r>
              <a:rPr b="1" i="1"/>
              <a:t> la </a:t>
            </a:r>
            <a:r>
              <a:rPr b="1" err="1" i="1"/>
              <a:t>disponibilità</a:t>
            </a:r>
            <a:r>
              <a:rPr b="1" i="1"/>
              <a:t> di </a:t>
            </a:r>
            <a:r>
              <a:rPr b="1" err="1" i="1"/>
              <a:t>denaro</a:t>
            </a:r>
            <a:r>
              <a:rPr b="1" i="1"/>
              <a:t> o di </a:t>
            </a:r>
            <a:r>
              <a:rPr b="1" err="1" i="1"/>
              <a:t>altra</a:t>
            </a:r>
            <a:r>
              <a:rPr b="1" i="1"/>
              <a:t> </a:t>
            </a:r>
            <a:r>
              <a:rPr b="1" err="1" i="1"/>
              <a:t>cosa</a:t>
            </a:r>
            <a:r>
              <a:rPr b="1" i="1"/>
              <a:t> mobile </a:t>
            </a:r>
            <a:r>
              <a:rPr b="1" err="1" i="1"/>
              <a:t>altrui</a:t>
            </a:r>
            <a:r>
              <a:rPr i="1"/>
              <a:t>, </a:t>
            </a:r>
            <a:r>
              <a:rPr b="1" i="1">
                <a:solidFill>
                  <a:srgbClr val="FF0000"/>
                </a:solidFill>
              </a:rPr>
              <a:t>se ne </a:t>
            </a:r>
            <a:r>
              <a:rPr b="1" err="1" i="1">
                <a:solidFill>
                  <a:srgbClr val="FF0000"/>
                </a:solidFill>
              </a:rPr>
              <a:t>appropria</a:t>
            </a:r>
            <a:r>
              <a:rPr i="1"/>
              <a:t>, è </a:t>
            </a:r>
            <a:r>
              <a:rPr err="1" i="1"/>
              <a:t>punito</a:t>
            </a:r>
            <a:r>
              <a:rPr i="1"/>
              <a:t> con la </a:t>
            </a:r>
            <a:r>
              <a:rPr err="1" i="1"/>
              <a:t>reclusione</a:t>
            </a:r>
            <a:r>
              <a:rPr i="1"/>
              <a:t> da quattro </a:t>
            </a:r>
            <a:r>
              <a:rPr err="1" i="1"/>
              <a:t>anni</a:t>
            </a:r>
            <a:r>
              <a:rPr i="1"/>
              <a:t> a </a:t>
            </a:r>
            <a:r>
              <a:rPr err="1" i="1"/>
              <a:t>dieci</a:t>
            </a:r>
            <a:r>
              <a:rPr i="1"/>
              <a:t> </a:t>
            </a:r>
            <a:r>
              <a:rPr err="1" i="1"/>
              <a:t>anni</a:t>
            </a:r>
            <a:r>
              <a:rPr i="1"/>
              <a:t> e sei </a:t>
            </a:r>
            <a:r>
              <a:rPr err="1" i="1"/>
              <a:t>mesi</a:t>
            </a:r>
            <a:r>
              <a:rPr i="1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c.2 Si </a:t>
            </a:r>
            <a:r>
              <a:rPr err="1"/>
              <a:t>applica</a:t>
            </a:r>
            <a:r>
              <a:t> la </a:t>
            </a:r>
            <a:r>
              <a:rPr err="1"/>
              <a:t>pena</a:t>
            </a:r>
            <a:r>
              <a:t> </a:t>
            </a:r>
            <a:r>
              <a:rPr err="1"/>
              <a:t>della</a:t>
            </a:r>
            <a:r>
              <a:t> </a:t>
            </a:r>
            <a:r>
              <a:rPr err="1"/>
              <a:t>reclusione</a:t>
            </a:r>
            <a:r>
              <a:t> da sei </a:t>
            </a:r>
            <a:r>
              <a:rPr err="1"/>
              <a:t>mesi</a:t>
            </a:r>
            <a:r>
              <a:t> a </a:t>
            </a:r>
            <a:r>
              <a:rPr err="1"/>
              <a:t>tre</a:t>
            </a:r>
            <a:r>
              <a:t> </a:t>
            </a:r>
            <a:r>
              <a:rPr err="1"/>
              <a:t>anni</a:t>
            </a:r>
            <a:r>
              <a:t> </a:t>
            </a:r>
            <a:r>
              <a:rPr err="1"/>
              <a:t>quando</a:t>
            </a:r>
            <a:r>
              <a:t> </a:t>
            </a:r>
            <a:r>
              <a:rPr err="1"/>
              <a:t>il</a:t>
            </a:r>
            <a:r>
              <a:t> </a:t>
            </a:r>
            <a:r>
              <a:rPr err="1"/>
              <a:t>colpevole</a:t>
            </a:r>
            <a:r>
              <a:t> ha agito </a:t>
            </a:r>
            <a:r>
              <a:rPr b="1">
                <a:solidFill>
                  <a:srgbClr val="0070C0"/>
                </a:solidFill>
              </a:rPr>
              <a:t>al solo </a:t>
            </a:r>
            <a:r>
              <a:rPr b="1" err="1">
                <a:solidFill>
                  <a:srgbClr val="0070C0"/>
                </a:solidFill>
              </a:rPr>
              <a:t>scopo</a:t>
            </a:r>
            <a:r>
              <a:rPr b="1">
                <a:solidFill>
                  <a:srgbClr val="0070C0"/>
                </a:solidFill>
              </a:rPr>
              <a:t> di fare </a:t>
            </a:r>
            <a:r>
              <a:rPr b="1" err="1">
                <a:solidFill>
                  <a:srgbClr val="FF0000"/>
                </a:solidFill>
              </a:rPr>
              <a:t>uso</a:t>
            </a:r>
            <a:r>
              <a:rPr b="1">
                <a:solidFill>
                  <a:srgbClr val="FF0000"/>
                </a:solidFill>
              </a:rPr>
              <a:t> </a:t>
            </a:r>
            <a:r>
              <a:rPr b="1" err="1">
                <a:solidFill>
                  <a:srgbClr val="FF0000"/>
                </a:solidFill>
              </a:rPr>
              <a:t>momentaneo</a:t>
            </a:r>
            <a:r>
              <a:rPr b="1">
                <a:solidFill>
                  <a:srgbClr val="FF0000"/>
                </a:solidFill>
              </a:rPr>
              <a:t> </a:t>
            </a:r>
            <a:r>
              <a:rPr b="1" err="1">
                <a:solidFill>
                  <a:srgbClr val="0070C0"/>
                </a:solidFill>
              </a:rPr>
              <a:t>della</a:t>
            </a:r>
            <a:r>
              <a:rPr b="1">
                <a:solidFill>
                  <a:srgbClr val="0070C0"/>
                </a:solidFill>
              </a:rPr>
              <a:t> </a:t>
            </a:r>
            <a:r>
              <a:rPr b="1" err="1">
                <a:solidFill>
                  <a:srgbClr val="0070C0"/>
                </a:solidFill>
              </a:rPr>
              <a:t>cosa</a:t>
            </a:r>
            <a:r>
              <a:t>, e </a:t>
            </a:r>
            <a:r>
              <a:rPr err="1"/>
              <a:t>questa</a:t>
            </a:r>
            <a:r>
              <a:t>, </a:t>
            </a:r>
            <a:r>
              <a:rPr err="1"/>
              <a:t>dopo</a:t>
            </a:r>
            <a:r>
              <a:t> </a:t>
            </a:r>
            <a:r>
              <a:rPr err="1"/>
              <a:t>l'uso</a:t>
            </a:r>
            <a:r>
              <a:t> </a:t>
            </a:r>
            <a:r>
              <a:rPr err="1"/>
              <a:t>momentaneo</a:t>
            </a:r>
            <a:r>
              <a:t>, </a:t>
            </a:r>
            <a:r>
              <a:rPr b="1">
                <a:solidFill>
                  <a:srgbClr val="0070C0"/>
                </a:solidFill>
              </a:rPr>
              <a:t>è </a:t>
            </a:r>
            <a:r>
              <a:rPr b="1" err="1">
                <a:solidFill>
                  <a:srgbClr val="0070C0"/>
                </a:solidFill>
              </a:rPr>
              <a:t>stata</a:t>
            </a:r>
            <a:r>
              <a:rPr b="1">
                <a:solidFill>
                  <a:srgbClr val="0070C0"/>
                </a:solidFill>
              </a:rPr>
              <a:t> </a:t>
            </a:r>
            <a:r>
              <a:rPr b="1" err="1">
                <a:solidFill>
                  <a:srgbClr val="0070C0"/>
                </a:solidFill>
              </a:rPr>
              <a:t>immediatamente</a:t>
            </a:r>
            <a:r>
              <a:rPr b="1">
                <a:solidFill>
                  <a:srgbClr val="0070C0"/>
                </a:solidFill>
              </a:rPr>
              <a:t> </a:t>
            </a:r>
            <a:r>
              <a:rPr b="1" err="1">
                <a:solidFill>
                  <a:srgbClr val="0070C0"/>
                </a:solidFill>
              </a:rPr>
              <a:t>restituita</a:t>
            </a:r>
            <a:r>
              <a:rPr i="0"/>
              <a:t>».</a:t>
            </a:r>
          </a:p>
        </p:txBody>
      </p:sp>
      <p:pic>
        <p:nvPicPr>
          <p:cNvPr descr="Immagine 6" id="251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Rettangolo 5"/>
          <p:cNvSpPr txBox="1"/>
          <p:nvPr/>
        </p:nvSpPr>
        <p:spPr>
          <a:xfrm>
            <a:off x="1521375" y="4725144"/>
            <a:ext cx="6893337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Competenza</a:t>
            </a:r>
            <a:r>
              <a:t> </a:t>
            </a:r>
            <a:r>
              <a:rPr err="1"/>
              <a:t>Tribunale</a:t>
            </a:r>
            <a:r>
              <a:t> </a:t>
            </a:r>
            <a:r>
              <a:rPr err="1"/>
              <a:t>collegiale</a:t>
            </a:r>
            <a:endParaRPr/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Arresto</a:t>
            </a:r>
            <a:r>
              <a:t> </a:t>
            </a:r>
            <a:r>
              <a:rPr err="1"/>
              <a:t>facoltativo</a:t>
            </a:r>
            <a:r>
              <a:t> [comma 1] </a:t>
            </a:r>
            <a:r>
              <a:rPr err="1"/>
              <a:t>arresto</a:t>
            </a:r>
            <a:r>
              <a:t> non </a:t>
            </a:r>
            <a:r>
              <a:rPr err="1"/>
              <a:t>consentito</a:t>
            </a:r>
            <a:r>
              <a:t> [comma 2]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Fermo</a:t>
            </a:r>
            <a:r>
              <a:t> </a:t>
            </a:r>
            <a:r>
              <a:rPr err="1"/>
              <a:t>consentito</a:t>
            </a:r>
            <a:r>
              <a:t> [comma 1] </a:t>
            </a:r>
            <a:r>
              <a:rPr err="1"/>
              <a:t>fermo</a:t>
            </a:r>
            <a:r>
              <a:t> non </a:t>
            </a:r>
            <a:r>
              <a:rPr err="1"/>
              <a:t>consentito</a:t>
            </a:r>
            <a:r>
              <a:t> [comma 2]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>
                <a:solidFill>
                  <a:srgbClr val="FF0000"/>
                </a:solidFill>
              </a:rPr>
              <a:t>Procedibilità</a:t>
            </a:r>
            <a:r>
              <a:rPr>
                <a:solidFill>
                  <a:srgbClr val="FF0000"/>
                </a:solidFill>
              </a:rPr>
              <a:t> </a:t>
            </a:r>
            <a:r>
              <a:rPr err="1">
                <a:solidFill>
                  <a:srgbClr val="FF0000"/>
                </a:solidFill>
              </a:rPr>
              <a:t>d’ufficio</a:t>
            </a:r>
            <a:endParaRPr>
              <a:solidFill>
                <a:srgbClr val="FF0000"/>
              </a:solidFill>
            </a:endParaRP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Tentativo</a:t>
            </a:r>
            <a:r>
              <a:t> </a:t>
            </a:r>
            <a:r>
              <a:rPr err="1"/>
              <a:t>ammissibile</a:t>
            </a:r>
            <a:endParaRPr/>
          </a:p>
        </p:txBody>
      </p:sp>
      <p:sp>
        <p:nvSpPr>
          <p:cNvPr id="25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Peculato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335DB6-D0B3-4438-B657-1D4F8546E2AF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457200" y="1109710"/>
            <a:ext cx="8229600" cy="5016454"/>
          </a:xfrm>
        </p:spPr>
        <p:txBody>
          <a:bodyPr numCol="1">
            <a:normAutofit lnSpcReduction="10000"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Si tratta di un </a:t>
            </a:r>
            <a:r>
              <a:rPr altLang="it-IT" b="1" lang="it-IT">
                <a:solidFill>
                  <a:srgbClr val="FF0000"/>
                </a:solidFill>
              </a:rPr>
              <a:t>REATO PROPRIO non esclusivo</a:t>
            </a:r>
            <a:r>
              <a:rPr altLang="it-IT" lang="it-IT">
                <a:solidFill>
                  <a:srgbClr val="0070C0"/>
                </a:solidFill>
              </a:rPr>
              <a:t>, </a:t>
            </a:r>
            <a:r>
              <a:rPr altLang="it-IT" b="1" lang="it-IT">
                <a:solidFill>
                  <a:srgbClr val="0070C0"/>
                </a:solidFill>
              </a:rPr>
              <a:t>DI DANNO, DI MERA CONDOTTA A FORMA LIBERA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1" lang="it-IT">
              <a:solidFill>
                <a:srgbClr val="0070C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1" lang="it-IT">
                <a:solidFill>
                  <a:srgbClr val="FF0000"/>
                </a:solidFill>
              </a:rPr>
              <a:t>REATO PROPRIO non esclusivo- </a:t>
            </a:r>
            <a:r>
              <a:rPr altLang="it-IT" lang="it-IT">
                <a:solidFill>
                  <a:schemeClr val="tx1"/>
                </a:solidFill>
              </a:rPr>
              <a:t>in quanto la medesima condotta tipica, commessa da un </a:t>
            </a:r>
            <a:r>
              <a:rPr altLang="it-IT" err="1" lang="it-IT">
                <a:solidFill>
                  <a:schemeClr val="tx1"/>
                </a:solidFill>
              </a:rPr>
              <a:t>extraneus</a:t>
            </a:r>
            <a:r>
              <a:rPr altLang="it-IT" lang="it-IT">
                <a:solidFill>
                  <a:schemeClr val="tx1"/>
                </a:solidFill>
              </a:rPr>
              <a:t>, configurerebbe comunque un reato, ma diverso dal peculato.- (ossia reato di appropriazione indebita)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>
              <a:solidFill>
                <a:schemeClr val="tx1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1" lang="it-IT">
              <a:solidFill>
                <a:srgbClr val="0070C0"/>
              </a:solidFill>
            </a:endParaRP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None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E’ un </a:t>
            </a:r>
            <a:r>
              <a:rPr altLang="it-IT" b="1" lang="it-IT">
                <a:solidFill>
                  <a:srgbClr val="0070C0"/>
                </a:solidFill>
              </a:rPr>
              <a:t>REATO PLURIOFFENSIVO </a:t>
            </a:r>
            <a:r>
              <a:rPr altLang="it-IT" lang="it-IT"/>
              <a:t>in quanto l’oggetto della tutela penale è non solo la tutela del </a:t>
            </a:r>
            <a:r>
              <a:rPr altLang="it-IT" lang="it-IT" u="sng"/>
              <a:t>regolare funzionamento e del prestigio degli enti pubblici</a:t>
            </a:r>
            <a:r>
              <a:rPr altLang="it-IT" lang="it-IT"/>
              <a:t> ma anche e soprattutto quello di </a:t>
            </a:r>
            <a:r>
              <a:rPr altLang="it-IT" lang="it-IT" u="sng"/>
              <a:t>impedire danni patrimoniali alla Pubblica Amministrazione</a:t>
            </a:r>
            <a:r>
              <a:rPr altLang="it-IT" lang="it-IT"/>
              <a:t>.</a:t>
            </a:r>
          </a:p>
          <a:p>
            <a:endParaRPr altLang="it-IT" lang="it-IT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0393C3AE-93DE-4E91-AB23-C32E974462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386" y="149386"/>
            <a:ext cx="8229600" cy="58245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l"/>
            <a:r>
              <a:t>Peculato</a:t>
            </a:r>
          </a:p>
        </p:txBody>
      </p:sp>
      <p:pic>
        <p:nvPicPr>
          <p:cNvPr descr="Immagine 6" id="5" name="Immagine 6">
            <a:extLst>
              <a:ext uri="{FF2B5EF4-FFF2-40B4-BE49-F238E27FC236}">
                <a16:creationId xmlns:a16="http://schemas.microsoft.com/office/drawing/2014/main" id="{40F25624-4554-45F7-814E-E5472E935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401637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ttangolo 4"/>
          <p:cNvSpPr txBox="1"/>
          <p:nvPr/>
        </p:nvSpPr>
        <p:spPr>
          <a:xfrm>
            <a:off x="203901" y="912032"/>
            <a:ext cx="8736198" cy="5860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</a:t>
            </a:r>
            <a:r>
              <a:rPr b="0" u="none"/>
              <a:t>:</a:t>
            </a:r>
            <a:endParaRPr altLang="it-IT" b="0" lang="it-IT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 sz="1800" u="none"/>
              <a:t> </a:t>
            </a:r>
            <a:r>
              <a:rPr sz="1800" u="none">
                <a:solidFill>
                  <a:srgbClr val="FF0000"/>
                </a:solidFill>
              </a:rPr>
              <a:t>La </a:t>
            </a:r>
            <a:r>
              <a:rPr err="1" sz="1800" u="none">
                <a:solidFill>
                  <a:srgbClr val="FF0000"/>
                </a:solidFill>
              </a:rPr>
              <a:t>condotta</a:t>
            </a:r>
            <a:r>
              <a:rPr sz="1800" u="none">
                <a:solidFill>
                  <a:srgbClr val="FF0000"/>
                </a:solidFill>
              </a:rPr>
              <a:t> </a:t>
            </a:r>
            <a:r>
              <a:rPr b="0" sz="1800" u="none"/>
              <a:t>è di </a:t>
            </a:r>
            <a:r>
              <a:rPr altLang="it-IT" lang="it-IT" sz="1800">
                <a:solidFill>
                  <a:srgbClr val="0070C0"/>
                </a:solidFill>
              </a:rPr>
              <a:t>APPROPRIAZIONE</a:t>
            </a:r>
            <a:r>
              <a:rPr altLang="it-IT" lang="it-IT" sz="1800" u="none">
                <a:solidFill>
                  <a:srgbClr val="0070C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18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800"/>
              <a:t>il PRESUPPOSTO della condotta è il </a:t>
            </a:r>
            <a:r>
              <a:rPr altLang="it-IT" b="1" lang="it-IT" sz="1800" u="sng">
                <a:solidFill>
                  <a:srgbClr val="0070C0"/>
                </a:solidFill>
              </a:rPr>
              <a:t>possesso</a:t>
            </a:r>
            <a:r>
              <a:rPr altLang="it-IT" lang="it-IT" sz="1800"/>
              <a:t> o la </a:t>
            </a:r>
            <a:r>
              <a:rPr altLang="it-IT" b="1" lang="it-IT" sz="1800" u="sng">
                <a:solidFill>
                  <a:srgbClr val="0070C0"/>
                </a:solidFill>
              </a:rPr>
              <a:t>disponibilità</a:t>
            </a:r>
            <a:r>
              <a:rPr altLang="it-IT" lang="it-IT" sz="1800"/>
              <a:t> di denaro o altra cosa mobile </a:t>
            </a:r>
            <a:r>
              <a:rPr altLang="it-IT" b="1" lang="it-IT" sz="1800">
                <a:solidFill>
                  <a:srgbClr val="0070C0"/>
                </a:solidFill>
              </a:rPr>
              <a:t>altrui</a:t>
            </a:r>
            <a:r>
              <a:rPr altLang="it-IT" lang="it-IT" sz="1800"/>
              <a:t>, in ragione del proprio </a:t>
            </a:r>
            <a:r>
              <a:rPr altLang="it-IT" b="1" lang="it-IT" sz="1800">
                <a:solidFill>
                  <a:srgbClr val="0070C0"/>
                </a:solidFill>
              </a:rPr>
              <a:t>ufficio</a:t>
            </a:r>
            <a:r>
              <a:rPr altLang="it-IT" lang="it-IT" sz="1800"/>
              <a:t> o </a:t>
            </a:r>
            <a:r>
              <a:rPr altLang="it-IT" b="1" lang="it-IT" sz="1800">
                <a:solidFill>
                  <a:srgbClr val="0070C0"/>
                </a:solidFill>
              </a:rPr>
              <a:t>servizio</a:t>
            </a:r>
            <a:r>
              <a:rPr altLang="it-IT" lang="it-IT" sz="1800"/>
              <a:t>, svolto dai soggetti pubblici (</a:t>
            </a:r>
            <a:r>
              <a:rPr altLang="it-IT" b="1" lang="it-IT" sz="1800"/>
              <a:t>≠ reato di appropriazione indebita </a:t>
            </a:r>
            <a:r>
              <a:rPr altLang="it-IT" lang="it-IT" sz="1800"/>
              <a:t>nella quale chi si appropria di qualcosa lo fa su qualcosa che non è nella disponibilità del soggetto in funzione del pubblico servizio).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 sz="16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600" u="sng">
                <a:solidFill>
                  <a:srgbClr val="0070C0"/>
                </a:solidFill>
              </a:rPr>
              <a:t>Possesso</a:t>
            </a:r>
            <a:r>
              <a:rPr altLang="it-IT" lang="it-IT" sz="1600"/>
              <a:t> = </a:t>
            </a:r>
            <a:r>
              <a:rPr altLang="it-IT" b="0" lang="it-IT" sz="1600">
                <a:sym typeface="Times New Roman"/>
              </a:rPr>
              <a:t>la dottrina è concorde nel non considerarlo alla stregua del possesso civile, ma nel ritenerlo un mero potere di fatto sul bene, direttamente collegato ai poteri e ai doveri funzionali dell'incarico ricoperto.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 sz="16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400" u="sng">
                <a:solidFill>
                  <a:srgbClr val="0070C0"/>
                </a:solidFill>
              </a:rPr>
              <a:t>Disponibilità</a:t>
            </a:r>
            <a:r>
              <a:rPr altLang="it-IT" lang="it-IT" sz="1400"/>
              <a:t>= </a:t>
            </a:r>
            <a:r>
              <a:rPr altLang="it-IT" b="0" lang="it-IT" sz="1400">
                <a:sym typeface="Times New Roman"/>
              </a:rPr>
              <a:t>possibilità di disporre della cosa a prescindere dalla materiale detenzione.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 sz="2400" u="sng"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 u="sng"/>
              <a:t>ELEMENTO SOGGETTIVO: </a:t>
            </a:r>
            <a:r>
              <a:rPr altLang="it-IT" lang="it-IT" sz="1400"/>
              <a:t>è sufficiente il </a:t>
            </a:r>
            <a:r>
              <a:rPr altLang="it-IT" lang="it-IT" sz="2000" u="sng">
                <a:solidFill>
                  <a:srgbClr val="0070C0"/>
                </a:solidFill>
              </a:rPr>
              <a:t>DOLO GENERICO</a:t>
            </a:r>
            <a:r>
              <a:rPr altLang="it-IT" lang="it-IT" sz="140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 sz="1400"/>
          </a:p>
        </p:txBody>
      </p:sp>
      <p:pic>
        <p:nvPicPr>
          <p:cNvPr descr="Immagine 6" id="256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Peculato (comma 1)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ttangolo 4"/>
          <p:cNvSpPr txBox="1"/>
          <p:nvPr/>
        </p:nvSpPr>
        <p:spPr>
          <a:xfrm>
            <a:off x="182570" y="912031"/>
            <a:ext cx="8736198" cy="6203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altLang="it-IT" b="1" lang="it-IT" u="sng">
                <a:solidFill>
                  <a:srgbClr val="FF0000"/>
                </a:solidFill>
              </a:rPr>
              <a:t>PECULATO D’USO </a:t>
            </a:r>
            <a:r>
              <a:t>è una </a:t>
            </a:r>
            <a:r>
              <a:rPr b="1">
                <a:solidFill>
                  <a:srgbClr val="0070C0"/>
                </a:solidFill>
              </a:rPr>
              <a:t>FIGURA AUTONOMA DI REATO AUTONOMA</a:t>
            </a:r>
            <a:r>
              <a:t>, non una </a:t>
            </a:r>
            <a:r>
              <a:rPr err="1"/>
              <a:t>mera</a:t>
            </a:r>
            <a:r>
              <a:t> </a:t>
            </a:r>
            <a:r>
              <a:rPr err="1"/>
              <a:t>circostanza</a:t>
            </a:r>
            <a:r>
              <a:t> </a:t>
            </a:r>
            <a:r>
              <a:rPr err="1"/>
              <a:t>attenuante</a:t>
            </a:r>
            <a:r>
              <a:t>. </a:t>
            </a:r>
            <a:endParaRPr altLang="it-IT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000"/>
              <a:t>ELEMENTO OGGETTIVO</a:t>
            </a:r>
            <a:r>
              <a:rPr altLang="it-IT" b="0" lang="it-IT" sz="2000"/>
              <a:t>: la condotta incriminata è </a:t>
            </a:r>
            <a:r>
              <a:rPr altLang="it-IT" lang="it-IT" sz="2000">
                <a:solidFill>
                  <a:srgbClr val="0070C0"/>
                </a:solidFill>
              </a:rPr>
              <a:t>l’appropriazione</a:t>
            </a:r>
            <a:r>
              <a:rPr altLang="it-IT" b="0" lang="it-IT" sz="2000"/>
              <a:t> </a:t>
            </a:r>
            <a:r>
              <a:rPr altLang="it-IT" lang="it-IT" sz="2000">
                <a:solidFill>
                  <a:srgbClr val="0070C0"/>
                </a:solidFill>
              </a:rPr>
              <a:t>per l’uso momentaneo</a:t>
            </a:r>
            <a:r>
              <a:rPr altLang="it-IT" b="0" lang="it-IT" sz="2000"/>
              <a:t>. Occorre, comunque, un certo grado di offensività della condotta, ossia una </a:t>
            </a:r>
            <a:r>
              <a:rPr altLang="it-IT" lang="it-IT" sz="2000">
                <a:solidFill>
                  <a:srgbClr val="0070C0"/>
                </a:solidFill>
              </a:rPr>
              <a:t>concreta lesione della funzionalità dell'ufficio </a:t>
            </a:r>
            <a:r>
              <a:rPr altLang="it-IT" b="0" lang="it-IT" sz="2000"/>
              <a:t>che abbia pregiudicato in modo apprezzabile i beni giuridici protetti.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0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00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000" u="sng">
                <a:solidFill>
                  <a:schemeClr val="tx1"/>
                </a:solidFill>
              </a:rPr>
              <a:t>ELEMENTO SOGGETTIVO:</a:t>
            </a:r>
            <a:r>
              <a:rPr altLang="it-IT" lang="it-IT" sz="2000">
                <a:solidFill>
                  <a:schemeClr val="tx1"/>
                </a:solidFill>
              </a:rPr>
              <a:t>  </a:t>
            </a:r>
            <a:r>
              <a:rPr altLang="it-IT" b="0" lang="it-IT" sz="2000"/>
              <a:t>Al c. 2 è disciplinato il </a:t>
            </a:r>
            <a:r>
              <a:rPr altLang="it-IT" i="1" lang="it-IT" sz="2000"/>
              <a:t>c.d. peculato d’uso</a:t>
            </a:r>
            <a:r>
              <a:rPr altLang="it-IT" b="0" lang="it-IT" sz="2000"/>
              <a:t>, avente come elemento soggettivo il </a:t>
            </a:r>
            <a:r>
              <a:rPr altLang="it-IT" lang="it-IT" sz="2000">
                <a:solidFill>
                  <a:srgbClr val="FF0000"/>
                </a:solidFill>
              </a:rPr>
              <a:t>DOLO SPECIFICO </a:t>
            </a:r>
            <a:r>
              <a:rPr altLang="it-IT" b="0" lang="it-IT" sz="2000"/>
              <a:t>che consiste nella volontà di far </a:t>
            </a:r>
            <a:r>
              <a:rPr altLang="it-IT" lang="it-IT" sz="2000"/>
              <a:t>uso solo momentaneamente della cosa </a:t>
            </a:r>
            <a:r>
              <a:rPr altLang="it-IT" b="0" lang="it-IT" sz="2000"/>
              <a:t>che, subito dopo, viene </a:t>
            </a:r>
            <a:r>
              <a:rPr altLang="it-IT" lang="it-IT" sz="2000"/>
              <a:t>immediatamente restituita</a:t>
            </a:r>
            <a:r>
              <a:rPr altLang="it-IT" b="0" lang="it-IT" sz="2000"/>
              <a:t>.</a:t>
            </a:r>
            <a:endParaRPr altLang="it-IT" b="0" lang="it-IT" sz="24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90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800"/>
              <a:t>In entrambe le figure sopra descritte (peculato e peculato d’uso) il delitto si consuma quando il soggetto </a:t>
            </a:r>
            <a:r>
              <a:rPr altLang="it-IT" lang="it-IT" sz="1800">
                <a:solidFill>
                  <a:srgbClr val="0070C0"/>
                </a:solidFill>
              </a:rPr>
              <a:t>inizia a comportarsi </a:t>
            </a:r>
            <a:r>
              <a:rPr altLang="it-IT" err="1" i="1" lang="it-IT" sz="1800">
                <a:solidFill>
                  <a:srgbClr val="0070C0"/>
                </a:solidFill>
              </a:rPr>
              <a:t>uti</a:t>
            </a:r>
            <a:r>
              <a:rPr altLang="it-IT" i="1" lang="it-IT" sz="1800">
                <a:solidFill>
                  <a:srgbClr val="0070C0"/>
                </a:solidFill>
              </a:rPr>
              <a:t> dominus </a:t>
            </a:r>
            <a:r>
              <a:rPr altLang="it-IT" lang="it-IT" sz="1800"/>
              <a:t>(ossia come se fosse il proprietario).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descr="Immagine 6" id="260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Peculato d’uso (comma 2)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ttangolo 4"/>
          <p:cNvSpPr txBox="1"/>
          <p:nvPr/>
        </p:nvSpPr>
        <p:spPr>
          <a:xfrm>
            <a:off x="182570" y="912032"/>
            <a:ext cx="8736198" cy="210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317 </a:t>
            </a:r>
            <a:r>
              <a:rPr err="1"/>
              <a:t>c.p.</a:t>
            </a:r>
            <a:r>
              <a:t> </a:t>
            </a:r>
            <a:r>
              <a:rPr err="1"/>
              <a:t>Concussione</a:t>
            </a: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«</a:t>
            </a:r>
            <a:r>
              <a:rPr altLang="it-IT" i="1" lang="it-IT"/>
              <a:t>Il pubblico ufficiale o l’incaricato di un pubblico servizio che, </a:t>
            </a:r>
            <a:r>
              <a:rPr altLang="it-IT" lang="it-IT" u="sng">
                <a:solidFill>
                  <a:srgbClr val="FF0000"/>
                </a:solidFill>
              </a:rPr>
              <a:t>abusando della sua qualità </a:t>
            </a:r>
            <a:r>
              <a:rPr altLang="it-IT" i="1" lang="it-IT"/>
              <a:t>o </a:t>
            </a:r>
            <a:r>
              <a:rPr altLang="it-IT" i="1" lang="it-IT" u="sng">
                <a:solidFill>
                  <a:srgbClr val="FF0000"/>
                </a:solidFill>
              </a:rPr>
              <a:t>dei suoi poteri</a:t>
            </a:r>
            <a:r>
              <a:rPr altLang="it-IT" i="1" lang="it-IT"/>
              <a:t>, </a:t>
            </a:r>
            <a:r>
              <a:rPr altLang="it-IT" i="1" lang="it-IT" u="sng">
                <a:solidFill>
                  <a:srgbClr val="00B0F0"/>
                </a:solidFill>
              </a:rPr>
              <a:t>costringe</a:t>
            </a:r>
            <a:r>
              <a:rPr altLang="it-IT" i="1" lang="it-IT"/>
              <a:t> taluno </a:t>
            </a:r>
            <a:r>
              <a:rPr altLang="it-IT" i="1" lang="it-IT">
                <a:solidFill>
                  <a:srgbClr val="C00000"/>
                </a:solidFill>
              </a:rPr>
              <a:t>a dare o a promettere indebitamente</a:t>
            </a:r>
            <a:r>
              <a:rPr altLang="it-IT" i="1" lang="it-IT"/>
              <a:t>, a lui o ad un terzo, </a:t>
            </a:r>
            <a:r>
              <a:rPr altLang="it-IT" i="1" lang="it-IT">
                <a:solidFill>
                  <a:srgbClr val="C00000"/>
                </a:solidFill>
              </a:rPr>
              <a:t>denaro od altra utilità</a:t>
            </a:r>
            <a:r>
              <a:rPr altLang="it-IT" i="1" lang="it-IT"/>
              <a:t>, è punito con la reclusione da sei a dodici anni</a:t>
            </a:r>
            <a:r>
              <a:rPr altLang="it-IT" lang="it-IT"/>
              <a:t>».</a:t>
            </a:r>
            <a:endParaRPr/>
          </a:p>
        </p:txBody>
      </p:sp>
      <p:pic>
        <p:nvPicPr>
          <p:cNvPr descr="Immagine 6" id="264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Rettangolo 5"/>
          <p:cNvSpPr txBox="1"/>
          <p:nvPr/>
        </p:nvSpPr>
        <p:spPr>
          <a:xfrm>
            <a:off x="2388093" y="3559946"/>
            <a:ext cx="540650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 wrap="square">
            <a:spAutoFit/>
          </a:bodyPr>
          <a:lstStyle/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altLang="it-IT" b="0" lang="it-IT" u="none"/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/>
              <a:t>Competenza Tribunale collegiale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/>
              <a:t>Arresto facoltativo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/>
              <a:t>Fermo consentito 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/>
              <a:t>Procedibilità d’ufficio</a:t>
            </a:r>
          </a:p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/>
          </a:p>
        </p:txBody>
      </p:sp>
      <p:sp>
        <p:nvSpPr>
          <p:cNvPr id="26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ttangolo 4"/>
          <p:cNvSpPr txBox="1"/>
          <p:nvPr/>
        </p:nvSpPr>
        <p:spPr>
          <a:xfrm>
            <a:off x="421116" y="1844824"/>
            <a:ext cx="8405505" cy="448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descr="Immagine 6" id="269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DBC1321-2C53-478F-AB5C-33E5E9CA5E02}"/>
              </a:ext>
            </a:extLst>
          </p:cNvPr>
          <p:cNvSpPr/>
          <p:nvPr/>
        </p:nvSpPr>
        <p:spPr>
          <a:xfrm>
            <a:off x="628051" y="1970235"/>
            <a:ext cx="7887898" cy="2917530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Fino al 2012, la norma in esame contemplava due diverse fattispecie di concussione: </a:t>
            </a:r>
            <a:r>
              <a:rPr altLang="it-IT" dirty="0" lang="it-IT" u="sng">
                <a:solidFill>
                  <a:srgbClr val="00B050"/>
                </a:solidFill>
              </a:rPr>
              <a:t>per costrizione </a:t>
            </a:r>
            <a:r>
              <a:rPr altLang="it-IT" dirty="0" lang="it-IT"/>
              <a:t>e </a:t>
            </a:r>
            <a:r>
              <a:rPr altLang="it-IT" dirty="0" lang="it-IT" u="sng">
                <a:solidFill>
                  <a:schemeClr val="accent2"/>
                </a:solidFill>
              </a:rPr>
              <a:t>per induzione</a:t>
            </a:r>
            <a:r>
              <a:rPr altLang="it-IT" dirty="0" lang="it-IT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L'art. 1 della l. 6 novembre 2012, n. 190 (Legge Severino) ha eliminato il riferimento all'induzione, ora disciplinata </a:t>
            </a:r>
            <a:r>
              <a:rPr altLang="it-IT" dirty="0" i="1" lang="it-IT"/>
              <a:t>ex</a:t>
            </a:r>
            <a:r>
              <a:rPr altLang="it-IT" dirty="0" lang="it-IT"/>
              <a:t> art. 319 </a:t>
            </a:r>
            <a:r>
              <a:rPr altLang="it-IT" dirty="0" i="1" lang="it-IT"/>
              <a:t>quater (induzione indebita)</a:t>
            </a:r>
            <a:r>
              <a:rPr altLang="it-IT" dirty="0" lang="it-IT"/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Nell’ambito dell’art. 317 rimane dunque disciplinata la sola </a:t>
            </a:r>
            <a:r>
              <a:rPr altLang="it-IT" dirty="0" lang="it-IT">
                <a:solidFill>
                  <a:srgbClr val="C00000"/>
                </a:solidFill>
              </a:rPr>
              <a:t>concussione “costrittiva”.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ttangolo 4"/>
          <p:cNvSpPr txBox="1"/>
          <p:nvPr/>
        </p:nvSpPr>
        <p:spPr>
          <a:xfrm>
            <a:off x="114144" y="752233"/>
            <a:ext cx="8915711" cy="6721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altLang="it-IT" dirty="0" lang="it-IT"/>
              <a:t>tratta</a:t>
            </a:r>
            <a:r>
              <a:rPr dirty="0"/>
              <a:t> di un </a:t>
            </a:r>
            <a:r>
              <a:rPr b="1" dirty="0">
                <a:solidFill>
                  <a:srgbClr val="C00000"/>
                </a:solidFill>
              </a:rPr>
              <a:t>REATO PROPRIO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dirty="0" u="none"/>
              <a:t>: </a:t>
            </a:r>
            <a:endParaRPr altLang="it-IT" b="0" dirty="0" lang="it-IT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dirty="0" lang="it-IT"/>
              <a:t>LA CONDOTTA: consiste nel </a:t>
            </a:r>
            <a:r>
              <a:rPr altLang="it-IT" dirty="0" lang="it-IT">
                <a:solidFill>
                  <a:srgbClr val="C00000"/>
                </a:solidFill>
              </a:rPr>
              <a:t>costringere </a:t>
            </a:r>
            <a:r>
              <a:rPr altLang="it-IT" b="0" dirty="0" lang="it-IT"/>
              <a:t>taluno a </a:t>
            </a:r>
            <a:r>
              <a:rPr altLang="it-IT" dirty="0" lang="it-IT">
                <a:solidFill>
                  <a:srgbClr val="C00000"/>
                </a:solidFill>
              </a:rPr>
              <a:t>dare o promettere indebitamente </a:t>
            </a:r>
            <a:r>
              <a:rPr altLang="it-IT" b="0" dirty="0" lang="it-IT"/>
              <a:t>denaro o altra utilità per sé o per altri mediante l’</a:t>
            </a:r>
            <a:r>
              <a:rPr altLang="it-IT" dirty="0" lang="it-IT">
                <a:solidFill>
                  <a:srgbClr val="C00000"/>
                </a:solidFill>
              </a:rPr>
              <a:t>abuso della propria qualità o dei propri poteri</a:t>
            </a:r>
            <a:r>
              <a:rPr altLang="it-IT" b="0" dirty="0" lang="it-IT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Occorre, dunque, un </a:t>
            </a:r>
            <a:r>
              <a:rPr altLang="it-IT" dirty="0" lang="it-IT" u="sng"/>
              <a:t>abuso</a:t>
            </a:r>
            <a:r>
              <a:rPr altLang="it-IT" dirty="0" lang="it-IT"/>
              <a:t> che può essere: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Della sua qualità</a:t>
            </a:r>
            <a:r>
              <a:rPr altLang="it-IT" b="0" dirty="0" lang="it-IT"/>
              <a:t>: il </a:t>
            </a:r>
            <a:r>
              <a:rPr altLang="it-IT" b="0" dirty="0" err="1" lang="it-IT"/>
              <a:t>p.u</a:t>
            </a:r>
            <a:r>
              <a:rPr altLang="it-IT" b="0" dirty="0" lang="it-IT"/>
              <a:t>. fa valere la propria </a:t>
            </a:r>
            <a:r>
              <a:rPr altLang="it-IT" b="0" dirty="0" lang="it-IT" u="sng"/>
              <a:t>posizione</a:t>
            </a:r>
            <a:r>
              <a:rPr altLang="it-IT" b="0" dirty="0" lang="it-IT"/>
              <a:t>, strumentalizzandola al fine di ottenere denaro o altra utilità.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Del suo potere</a:t>
            </a:r>
            <a:r>
              <a:rPr altLang="it-IT" b="0" dirty="0" lang="it-IT"/>
              <a:t>: il </a:t>
            </a:r>
            <a:r>
              <a:rPr altLang="it-IT" b="0" dirty="0" err="1" lang="it-IT"/>
              <a:t>p.u</a:t>
            </a:r>
            <a:r>
              <a:rPr altLang="it-IT" b="0" dirty="0" lang="it-IT"/>
              <a:t>. utilizza in maniera distorta le </a:t>
            </a:r>
            <a:r>
              <a:rPr altLang="it-IT" b="0" dirty="0" lang="it-IT" u="sng"/>
              <a:t>attribuzioni</a:t>
            </a:r>
            <a:r>
              <a:rPr altLang="it-IT" b="0" dirty="0" lang="it-IT"/>
              <a:t> dell'ufficio ossia il suo potere.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u="sng">
                <a:solidFill>
                  <a:srgbClr val="00B050"/>
                </a:solidFill>
              </a:rPr>
              <a:t>COSTRIZIONE</a:t>
            </a:r>
            <a:r>
              <a:rPr altLang="it-IT" dirty="0" lang="it-IT">
                <a:solidFill>
                  <a:srgbClr val="00B050"/>
                </a:solidFill>
              </a:rPr>
              <a:t> </a:t>
            </a:r>
            <a:r>
              <a:rPr altLang="it-IT" dirty="0" lang="it-IT"/>
              <a:t>-Il soggetto deve quindi obbligare taluno con </a:t>
            </a:r>
            <a:r>
              <a:rPr altLang="it-IT" dirty="0" lang="it-IT" u="sng">
                <a:solidFill>
                  <a:srgbClr val="FF0000"/>
                </a:solidFill>
              </a:rPr>
              <a:t>violenza</a:t>
            </a:r>
            <a:r>
              <a:rPr altLang="it-IT" dirty="0" lang="it-IT" u="sng"/>
              <a:t> o </a:t>
            </a:r>
            <a:r>
              <a:rPr altLang="it-IT" dirty="0" lang="it-IT" u="sng">
                <a:solidFill>
                  <a:srgbClr val="FF0000"/>
                </a:solidFill>
              </a:rPr>
              <a:t>minaccia</a:t>
            </a:r>
            <a:r>
              <a:rPr altLang="it-IT" dirty="0" lang="it-IT"/>
              <a:t> a compiere un'azione che diversamente non avrebbe compiuto, ponendolo così in una posizione di assoggettamento.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sz="1600"/>
              <a:t>Coazione assoluta</a:t>
            </a:r>
            <a:r>
              <a:rPr altLang="it-IT" b="0" dirty="0" lang="it-IT" sz="1600"/>
              <a:t>: se la vittima è privata di qualsiasi potere di autodeterminazione;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sz="1600"/>
              <a:t>Coazione relativa</a:t>
            </a:r>
            <a:r>
              <a:rPr altLang="it-IT" b="0" dirty="0" lang="it-IT" sz="1600"/>
              <a:t>: quando si può prospettare per la vittima una libertà di scelta tra il male minacciato e le conseguenze negative che subirebbe nel caso di un suo rifiuto.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 u="none"/>
          </a:p>
        </p:txBody>
      </p:sp>
      <p:pic>
        <p:nvPicPr>
          <p:cNvPr descr="Immagine 6" id="273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ttangolo 4"/>
          <p:cNvSpPr txBox="1"/>
          <p:nvPr/>
        </p:nvSpPr>
        <p:spPr>
          <a:xfrm>
            <a:off x="182570" y="912032"/>
            <a:ext cx="8736198" cy="595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spcBef>
                <a:spcPts val="600"/>
              </a:spcBef>
              <a:defRPr b="0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000" u="sng">
                <a:solidFill>
                  <a:srgbClr val="C00000"/>
                </a:solidFill>
              </a:rPr>
              <a:t>REATO A CONSUAMZIONE FRAZIONATA</a:t>
            </a:r>
            <a:endParaRPr altLang="it-IT" lang="it-IT" sz="2000" u="sng"/>
          </a:p>
          <a:p>
            <a:pPr algn="just">
              <a:spcBef>
                <a:spcPts val="600"/>
              </a:spcBef>
              <a:defRPr b="0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000"/>
              <a:t>Il reato si consuma nel momento in cui </a:t>
            </a:r>
            <a:r>
              <a:rPr altLang="it-IT" lang="it-IT" sz="2000">
                <a:solidFill>
                  <a:srgbClr val="C00000"/>
                </a:solidFill>
              </a:rPr>
              <a:t>ha luogo la dazione o la promessa </a:t>
            </a:r>
            <a:r>
              <a:rPr altLang="it-IT" lang="it-IT" sz="2000"/>
              <a:t>(a duplice schema). Se la promessa e la dazione si susseguono, il momento consumativo si cristallizza nell’ultimo atto. Pertanto, il reato è perfetto e consumato già nel momento della promessa, ma le successive dazioni di denaro spostano in avanti la consumazione </a:t>
            </a:r>
            <a:r>
              <a:rPr altLang="it-IT" b="0" lang="it-IT" sz="2000">
                <a:sym typeface="Times New Roman"/>
              </a:rPr>
              <a:t> con vari effetti, quali il decorso posticipato del </a:t>
            </a:r>
            <a:r>
              <a:rPr altLang="it-IT" b="0" lang="it-IT" sz="2000" u="sng">
                <a:sym typeface="Times New Roman"/>
              </a:rPr>
              <a:t>termine di prescrizione</a:t>
            </a:r>
            <a:r>
              <a:rPr altLang="it-IT" b="0" lang="it-IT" sz="2000">
                <a:sym typeface="Times New Roman"/>
              </a:rPr>
              <a:t> del reato.</a:t>
            </a:r>
            <a:endParaRPr altLang="it-IT" lang="it-IT" sz="2000">
              <a:solidFill>
                <a:srgbClr val="C00000"/>
              </a:solidFill>
            </a:endParaRPr>
          </a:p>
          <a:p>
            <a:pPr algn="just">
              <a:spcBef>
                <a:spcPts val="600"/>
              </a:spcBef>
              <a:defRPr b="0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1" lang="it-IT">
              <a:solidFill>
                <a:srgbClr val="C00000"/>
              </a:solidFill>
            </a:endParaRPr>
          </a:p>
          <a:p>
            <a:pPr algn="just">
              <a:spcBef>
                <a:spcPts val="600"/>
              </a:spcBef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La dazione o la promessa devono:</a:t>
            </a:r>
          </a:p>
          <a:p>
            <a:pPr algn="just" indent="-342900" marL="342900">
              <a:spcBef>
                <a:spcPts val="600"/>
              </a:spcBef>
              <a:buSzPct val="100000"/>
              <a:buChar char="-"/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essere </a:t>
            </a:r>
            <a:r>
              <a:rPr altLang="it-IT" lang="it-IT">
                <a:solidFill>
                  <a:srgbClr val="C00000"/>
                </a:solidFill>
              </a:rPr>
              <a:t>indebita</a:t>
            </a:r>
            <a:r>
              <a:rPr altLang="it-IT" lang="it-IT"/>
              <a:t>, ossia non dovuta in tutto o in parte, per legge o per consuetudine, né al pubblico ufficiale o incaricato di pubblico servizio né alla Pubblica Amministrazione.</a:t>
            </a:r>
          </a:p>
          <a:p>
            <a:pPr algn="just" indent="-342900" marL="342900">
              <a:spcBef>
                <a:spcPts val="600"/>
              </a:spcBef>
              <a:buSzPct val="100000"/>
              <a:buChar char="-"/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avere ad oggetto il </a:t>
            </a:r>
            <a:r>
              <a:rPr altLang="it-IT" lang="it-IT">
                <a:solidFill>
                  <a:srgbClr val="C00000"/>
                </a:solidFill>
              </a:rPr>
              <a:t>denaro</a:t>
            </a:r>
            <a:r>
              <a:rPr altLang="it-IT" lang="it-IT"/>
              <a:t> o </a:t>
            </a:r>
            <a:r>
              <a:rPr altLang="it-IT" lang="it-IT">
                <a:solidFill>
                  <a:srgbClr val="C00000"/>
                </a:solidFill>
              </a:rPr>
              <a:t>altra utilità. </a:t>
            </a:r>
            <a:r>
              <a:rPr altLang="it-IT" lang="it-IT"/>
              <a:t>In merito al concetto di </a:t>
            </a:r>
            <a:r>
              <a:rPr altLang="it-IT" lang="it-IT">
                <a:solidFill>
                  <a:srgbClr val="C00000"/>
                </a:solidFill>
              </a:rPr>
              <a:t>altra utilità</a:t>
            </a:r>
            <a:r>
              <a:rPr altLang="it-IT" lang="it-IT"/>
              <a:t>, la giurisprudenza prevalente ritiene sia quella identificabile solo con i vantaggi che vi potrebbero derivare per il patrimonio o la persona dell'agente, con esclusione quindi dei profitti meramente sentimentali, dei compiacimenti estetici e dei piaceri sessuali. </a:t>
            </a:r>
          </a:p>
          <a:p>
            <a:pPr algn="just">
              <a:spcBef>
                <a:spcPts val="600"/>
              </a:spcBef>
              <a:defRPr b="0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descr="Immagine 6" id="277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ttangolo 4"/>
          <p:cNvSpPr txBox="1"/>
          <p:nvPr/>
        </p:nvSpPr>
        <p:spPr>
          <a:xfrm>
            <a:off x="182570" y="912032"/>
            <a:ext cx="8736198" cy="5617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E’ </a:t>
            </a:r>
            <a:r>
              <a:rPr b="0" err="1" u="none"/>
              <a:t>sufficiente</a:t>
            </a:r>
            <a:r>
              <a:rPr b="0" u="none"/>
              <a:t> </a:t>
            </a:r>
            <a:r>
              <a:rPr b="0" err="1" u="none"/>
              <a:t>il</a:t>
            </a:r>
            <a:r>
              <a:rPr b="0" u="none"/>
              <a:t> </a:t>
            </a:r>
            <a:r>
              <a:rPr u="none">
                <a:solidFill>
                  <a:srgbClr val="C00000"/>
                </a:solidFill>
              </a:rPr>
              <a:t>DOLO GENERICO</a:t>
            </a:r>
            <a:r>
              <a:rPr b="0" u="none"/>
              <a:t>.</a:t>
            </a:r>
            <a:endParaRPr altLang="it-IT" b="0" lang="it-IT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/>
              <a:t>E’ un </a:t>
            </a:r>
            <a:r>
              <a:rPr altLang="it-IT" lang="it-IT" sz="2400">
                <a:solidFill>
                  <a:srgbClr val="C00000"/>
                </a:solidFill>
              </a:rPr>
              <a:t>REATO PLURIOFFENSIVO </a:t>
            </a:r>
            <a:r>
              <a:rPr altLang="it-IT" lang="it-IT" sz="2400"/>
              <a:t>in quanto l’obiettivo è sia tutelare l’interesse dell’Amministrazione di </a:t>
            </a:r>
            <a:r>
              <a:rPr altLang="it-IT" lang="it-IT" sz="2400" u="sng"/>
              <a:t>imparzialità, correttezza e buona reputazione dei suoi pubblici funzionari</a:t>
            </a:r>
            <a:r>
              <a:rPr altLang="it-IT" lang="it-IT" sz="2400"/>
              <a:t>, sia impedire </a:t>
            </a:r>
            <a:r>
              <a:rPr altLang="it-IT" lang="it-IT" sz="2400" u="sng"/>
              <a:t>che gli estranei subiscano delle sopraffazioni e</a:t>
            </a:r>
            <a:r>
              <a:rPr altLang="it-IT" lang="it-IT" sz="2400"/>
              <a:t>, in generale, danni per gli abusi di potere dei funzionari medesimi.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N.B. DIFFERENZA TRA CONCUSSIONE E TRUFFA AGGRAVATA:</a:t>
            </a:r>
            <a:endParaRPr altLang="it-IT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-Nella concussione la vittima sa di non essere tenuta a dare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-Nella truffa aggravata, invece, è convinta di dover dare per effetto dell’errore in cui è stata indotta dal Pubblico Ufficiale.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descr="Immagine 6" id="281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Concussione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ttangolo 4"/>
          <p:cNvSpPr txBox="1"/>
          <p:nvPr/>
        </p:nvSpPr>
        <p:spPr>
          <a:xfrm>
            <a:off x="182570" y="912031"/>
            <a:ext cx="8736198" cy="3833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319 </a:t>
            </a:r>
            <a:r>
              <a:rPr err="1" i="1"/>
              <a:t>quater</a:t>
            </a:r>
            <a:r>
              <a:t> </a:t>
            </a:r>
            <a:r>
              <a:rPr err="1"/>
              <a:t>c.p.</a:t>
            </a:r>
            <a:r>
              <a:t> </a:t>
            </a:r>
            <a:r>
              <a:rPr err="1"/>
              <a:t>Induzione</a:t>
            </a:r>
            <a:r>
              <a:t> </a:t>
            </a:r>
            <a:r>
              <a:rPr err="1"/>
              <a:t>indebita</a:t>
            </a:r>
            <a:endParaRPr altLang="it-IT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«</a:t>
            </a:r>
            <a:r>
              <a:rPr altLang="it-IT" i="1" lang="it-IT"/>
              <a:t>Salvo che il fatto costituisca più grave reato, il pubblico ufficiale o l'incaricato di pubblico servizio che, abusando della sua qualità o dei suoi poteri, </a:t>
            </a:r>
            <a:r>
              <a:rPr altLang="it-IT" i="1" lang="it-IT" u="sng">
                <a:solidFill>
                  <a:srgbClr val="FF0000"/>
                </a:solidFill>
              </a:rPr>
              <a:t>induce</a:t>
            </a:r>
            <a:r>
              <a:rPr altLang="it-IT" i="1" lang="it-IT"/>
              <a:t> taluno </a:t>
            </a:r>
            <a:r>
              <a:rPr altLang="it-IT" i="1" lang="it-IT">
                <a:solidFill>
                  <a:srgbClr val="E46C0A"/>
                </a:solidFill>
              </a:rPr>
              <a:t>a dare o a promettere indebitamente</a:t>
            </a:r>
            <a:r>
              <a:rPr altLang="it-IT" i="1" lang="it-IT"/>
              <a:t>, a lui o a un terzo, denaro o altra utilità è punito con la reclusione da sei anni a dieci anni e sei mesi.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Nei casi previsti dal primo comma, chi </a:t>
            </a:r>
            <a:r>
              <a:rPr altLang="it-IT" lang="it-IT">
                <a:solidFill>
                  <a:srgbClr val="E46C0A"/>
                </a:solidFill>
              </a:rPr>
              <a:t>dà o promette denaro o altra utilità </a:t>
            </a:r>
            <a:r>
              <a:rPr altLang="it-IT" lang="it-IT"/>
              <a:t>è punito con la reclusione fino a tre anni».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descr="Immagine 6" id="285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Rettangolo 5"/>
          <p:cNvSpPr txBox="1"/>
          <p:nvPr/>
        </p:nvSpPr>
        <p:spPr>
          <a:xfrm>
            <a:off x="1764512" y="4653136"/>
            <a:ext cx="7325384" cy="159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4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 (comma 1), non consentito (comma 2)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consentito (comma 1), non consentito (comma 2)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28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Induzione indebita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ttangolo 4"/>
          <p:cNvSpPr txBox="1"/>
          <p:nvPr/>
        </p:nvSpPr>
        <p:spPr>
          <a:xfrm>
            <a:off x="182570" y="912031"/>
            <a:ext cx="8736198" cy="4744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 del comma 1</a:t>
            </a:r>
            <a:r>
              <a:rPr b="0" u="none"/>
              <a:t>: </a:t>
            </a:r>
            <a:endParaRPr altLang="it-IT" b="0" lang="it-IT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u="none"/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Font charset="0" panose="020B0604020202020204" pitchFamily="34" typeface="Arial"/>
              <a:buChar char="•"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lang="it-IT" sz="2400"/>
              <a:t>la CONDOTTA punita è </a:t>
            </a:r>
            <a:r>
              <a:rPr altLang="it-IT" lang="it-IT" sz="2400">
                <a:solidFill>
                  <a:srgbClr val="FF0000"/>
                </a:solidFill>
              </a:rPr>
              <a:t>l’induzione</a:t>
            </a:r>
            <a:r>
              <a:rPr altLang="it-IT" b="0" lang="it-IT" sz="2400">
                <a:solidFill>
                  <a:srgbClr val="FF0000"/>
                </a:solidFill>
              </a:rPr>
              <a:t>.</a:t>
            </a:r>
            <a:r>
              <a:rPr altLang="it-IT" b="0" lang="it-IT" sz="2400"/>
              <a:t>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400"/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Font charset="0" panose="020B0604020202020204" pitchFamily="34" typeface="Arial"/>
              <a:buChar char="•"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lang="it-IT" sz="2400"/>
              <a:t>Tale concetto esprime </a:t>
            </a:r>
            <a:r>
              <a:rPr altLang="it-IT" lang="it-IT" sz="2400">
                <a:solidFill>
                  <a:srgbClr val="FF0000"/>
                </a:solidFill>
              </a:rPr>
              <a:t>l’idea della pressione su un terzo </a:t>
            </a:r>
            <a:r>
              <a:rPr altLang="it-IT" b="0" lang="it-IT" sz="2400"/>
              <a:t>affinché tenga un determinato comportamento.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40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400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400"/>
              <a:t>Il reato del c.1 è un </a:t>
            </a:r>
            <a:r>
              <a:rPr altLang="it-IT" lang="it-IT" sz="2400">
                <a:solidFill>
                  <a:srgbClr val="00B050"/>
                </a:solidFill>
              </a:rPr>
              <a:t>REATO PROPRIO</a:t>
            </a:r>
            <a:endParaRPr altLang="it-IT" b="0" lang="it-IT" sz="2400">
              <a:solidFill>
                <a:srgbClr val="00B05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400" u="none"/>
          </a:p>
        </p:txBody>
      </p:sp>
      <p:pic>
        <p:nvPicPr>
          <p:cNvPr descr="Immagine 6" id="290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err="1"/>
              <a:t>Induzione</a:t>
            </a:r>
            <a:r>
              <a:t> </a:t>
            </a:r>
            <a:r>
              <a:rPr err="1"/>
              <a:t>indebita</a:t>
            </a:r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658884-7B2B-424F-BE4A-0A43DF2A5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274637"/>
            <a:ext cx="4869402" cy="675273"/>
          </a:xfrm>
        </p:spPr>
        <p:txBody>
          <a:bodyPr numCol="1">
            <a:normAutofit fontScale="90000"/>
          </a:bodyPr>
          <a:lstStyle/>
          <a:p>
            <a:r>
              <a:rPr altLang="it-IT" lang="it-IT">
                <a:solidFill>
                  <a:schemeClr val="bg1"/>
                </a:solidFill>
              </a:rPr>
              <a:t>Induzione indebita</a:t>
            </a:r>
            <a:br>
              <a:rPr altLang="it-IT" lang="it-IT">
                <a:solidFill>
                  <a:schemeClr val="bg1"/>
                </a:solidFill>
              </a:rPr>
            </a:br>
            <a:endParaRPr altLang="it-IT" lang="it-IT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6BB671-8C30-43B4-8E74-F2AE4EBA0E5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457200" y="949910"/>
            <a:ext cx="8229600" cy="5176253"/>
          </a:xfrm>
        </p:spPr>
        <p:txBody>
          <a:bodyPr numCol="1">
            <a:normAutofit lnSpcReduction="10000"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La condotta induttiva si distingue a quella costrittiva in base a </a:t>
            </a:r>
            <a:r>
              <a:rPr altLang="it-IT" dirty="0" lang="it-IT">
                <a:solidFill>
                  <a:srgbClr val="FF0000"/>
                </a:solidFill>
              </a:rPr>
              <a:t>3 criteri</a:t>
            </a:r>
            <a:r>
              <a:rPr altLang="it-IT" dirty="0" lang="it-IT"/>
              <a:t>: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 indent="-266700" marL="266700">
              <a:lnSpc>
                <a:spcPct val="114000"/>
              </a:lnSpc>
              <a:spcBef>
                <a:spcPts val="600"/>
              </a:spcBef>
              <a:buAutoNum type="alphaLcPeriod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>
                <a:solidFill>
                  <a:srgbClr val="00B0F0"/>
                </a:solidFill>
              </a:rPr>
              <a:t>diversità della condotta: </a:t>
            </a:r>
            <a:r>
              <a:rPr altLang="it-IT" dirty="0" lang="it-IT"/>
              <a:t>in una si </a:t>
            </a:r>
            <a:r>
              <a:rPr altLang="it-IT" dirty="0" lang="it-IT" u="sng"/>
              <a:t>costringe</a:t>
            </a:r>
            <a:r>
              <a:rPr altLang="it-IT" dirty="0" lang="it-IT"/>
              <a:t>, in una si </a:t>
            </a:r>
            <a:r>
              <a:rPr altLang="it-IT" dirty="0" lang="it-IT">
                <a:solidFill>
                  <a:srgbClr val="FF0000"/>
                </a:solidFill>
              </a:rPr>
              <a:t>persuade</a:t>
            </a:r>
            <a:r>
              <a:rPr altLang="it-IT" dirty="0" lang="it-IT"/>
              <a:t>, si </a:t>
            </a:r>
            <a:r>
              <a:rPr altLang="it-IT" dirty="0" lang="it-IT">
                <a:solidFill>
                  <a:srgbClr val="FF0000"/>
                </a:solidFill>
              </a:rPr>
              <a:t>induce</a:t>
            </a:r>
            <a:r>
              <a:rPr altLang="it-IT" dirty="0" lang="it-IT"/>
              <a:t> (attività di incisione sulla libertà personale);</a:t>
            </a:r>
          </a:p>
          <a:p>
            <a:pPr algn="just" indent="-266700" marL="266700">
              <a:lnSpc>
                <a:spcPct val="114000"/>
              </a:lnSpc>
              <a:spcBef>
                <a:spcPts val="600"/>
              </a:spcBef>
              <a:buAutoNum type="alphaLcPeriod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u="sng"/>
              <a:t>verificare se il </a:t>
            </a:r>
            <a:r>
              <a:rPr altLang="it-IT" dirty="0" lang="it-IT" u="sng">
                <a:solidFill>
                  <a:srgbClr val="FF0000"/>
                </a:solidFill>
              </a:rPr>
              <a:t>pregiudizio è giusto </a:t>
            </a:r>
            <a:r>
              <a:rPr altLang="it-IT" dirty="0" lang="it-IT" u="sng"/>
              <a:t>o </a:t>
            </a:r>
            <a:r>
              <a:rPr altLang="it-IT" dirty="0" lang="it-IT" u="sng">
                <a:solidFill>
                  <a:srgbClr val="FF0000"/>
                </a:solidFill>
              </a:rPr>
              <a:t>ingiusto</a:t>
            </a:r>
            <a:r>
              <a:rPr altLang="it-IT" dirty="0" lang="it-IT" u="sng"/>
              <a:t> </a:t>
            </a:r>
            <a:r>
              <a:rPr altLang="it-IT" dirty="0" lang="it-IT"/>
              <a:t>in riferimento al </a:t>
            </a:r>
            <a:r>
              <a:rPr altLang="it-IT" dirty="0" lang="it-IT" u="sng"/>
              <a:t>contenuto</a:t>
            </a:r>
            <a:r>
              <a:rPr altLang="it-IT" dirty="0" lang="it-IT"/>
              <a:t> della proposta. Si ha </a:t>
            </a:r>
            <a:r>
              <a:rPr altLang="it-IT" b="1" dirty="0" lang="it-IT" u="sng">
                <a:solidFill>
                  <a:schemeClr val="tx1"/>
                </a:solidFill>
              </a:rPr>
              <a:t>induzione se la cosa minacciata è lecita e si propone come salvezza da una attività che il pubblico ufficiale deve fare </a:t>
            </a:r>
            <a:r>
              <a:rPr altLang="it-IT" dirty="0" lang="it-IT"/>
              <a:t>(ti devo fare una multa «prevista», dammi 100€). La costrizione invece minaccia qualcosa di illecito (Dammi 200€ e libero tuo fratello, che deve essere comunque liberato perché ha finito il periodo in cui deve stare in carcere – in caso contrario commetterebbe sequestro di persona - illecito);</a:t>
            </a:r>
          </a:p>
          <a:p>
            <a:pPr algn="just" indent="-266700" marL="266700">
              <a:lnSpc>
                <a:spcPct val="114000"/>
              </a:lnSpc>
              <a:spcBef>
                <a:spcPts val="600"/>
              </a:spcBef>
              <a:buAutoNum type="alphaLcPeriod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>
                <a:solidFill>
                  <a:schemeClr val="accent2"/>
                </a:solidFill>
              </a:rPr>
              <a:t>effetto sulla psiche del soggetto passivo</a:t>
            </a:r>
            <a:r>
              <a:rPr altLang="it-IT" dirty="0" lang="it-IT"/>
              <a:t>: se la libertà è del tutto annullata, siamo nell’ambito della costrizione, se c’è uno </a:t>
            </a:r>
            <a:r>
              <a:rPr altLang="it-IT" dirty="0" lang="it-IT">
                <a:solidFill>
                  <a:srgbClr val="FF0000"/>
                </a:solidFill>
              </a:rPr>
              <a:t>spazio più ampio di libertà siamo nell’induzione. </a:t>
            </a:r>
          </a:p>
          <a:p>
            <a:endParaRPr altLang="it-IT" dirty="0" lang="it-IT"/>
          </a:p>
        </p:txBody>
      </p:sp>
      <p:pic>
        <p:nvPicPr>
          <p:cNvPr descr="Immagine 6" id="4" name="Immagine 6">
            <a:extLst>
              <a:ext uri="{FF2B5EF4-FFF2-40B4-BE49-F238E27FC236}">
                <a16:creationId xmlns:a16="http://schemas.microsoft.com/office/drawing/2014/main" id="{C7F4EA98-4139-4EC3-9AD2-57083CA79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1208563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ttangolo 4"/>
          <p:cNvSpPr txBox="1"/>
          <p:nvPr/>
        </p:nvSpPr>
        <p:spPr>
          <a:xfrm>
            <a:off x="182570" y="912031"/>
            <a:ext cx="8736198" cy="399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lang="it-IT" sz="280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800"/>
              <a:t>Con la riforma del 2012 viene dunque introdotta </a:t>
            </a:r>
            <a:r>
              <a:rPr altLang="it-IT" b="1" lang="it-IT" sz="2800" u="sng">
                <a:solidFill>
                  <a:srgbClr val="FF0000"/>
                </a:solidFill>
              </a:rPr>
              <a:t>la punibilità del soggetto privato </a:t>
            </a:r>
            <a:r>
              <a:rPr altLang="it-IT" lang="it-IT" sz="2800"/>
              <a:t>che è indotto alla dazione o alla promessa di denaro o altra utilità. In precedenza infatti, al pari del "concusso mediante costrizione", il "concusso mediante induzione" non era punibile, mentre ora invece è considerato </a:t>
            </a:r>
            <a:r>
              <a:rPr altLang="it-IT" b="1" lang="it-IT" sz="2800"/>
              <a:t>concorrente necessario del reato</a:t>
            </a:r>
            <a:r>
              <a:rPr altLang="it-IT" lang="it-IT" sz="2800"/>
              <a:t>.</a:t>
            </a:r>
          </a:p>
        </p:txBody>
      </p:sp>
      <p:pic>
        <p:nvPicPr>
          <p:cNvPr descr="Immagine 6" id="294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err="1"/>
              <a:t>Induzione</a:t>
            </a:r>
            <a:r>
              <a:t> </a:t>
            </a:r>
            <a:r>
              <a:rPr err="1"/>
              <a:t>indebita</a:t>
            </a: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C341FF-1792-4F54-A100-7B6D8DE0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6"/>
            <a:ext cx="4487662" cy="1143001"/>
          </a:xfrm>
        </p:spPr>
        <p:txBody>
          <a:bodyPr numCol="1">
            <a:normAutofit fontScale="90000"/>
          </a:bodyPr>
          <a:lstStyle/>
          <a:p>
            <a:r>
              <a:rPr altLang="it-IT" lang="it-IT">
                <a:solidFill>
                  <a:schemeClr val="bg1"/>
                </a:solidFill>
              </a:rPr>
              <a:t>Induzione indebita</a:t>
            </a:r>
            <a:br>
              <a:rPr altLang="it-IT" lang="it-IT">
                <a:solidFill>
                  <a:schemeClr val="bg1"/>
                </a:solidFill>
              </a:rPr>
            </a:br>
            <a:endParaRPr altLang="it-IT" lang="it-IT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53541D-8783-465C-8BF2-04649F2D038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457200" y="1109710"/>
            <a:ext cx="8229600" cy="5016454"/>
          </a:xfrm>
        </p:spPr>
        <p:txBody>
          <a:bodyPr numCol="1"/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1" lang="it-IT"/>
              <a:t>ELEMENTO OGGETTIVO del comma 2</a:t>
            </a:r>
            <a:r>
              <a:rPr altLang="it-IT" lang="it-IT"/>
              <a:t>: </a:t>
            </a: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None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>
                <a:solidFill>
                  <a:srgbClr val="FF0000"/>
                </a:solidFill>
              </a:rPr>
              <a:t>dare</a:t>
            </a:r>
            <a:r>
              <a:rPr altLang="it-IT" lang="it-IT"/>
              <a:t> o </a:t>
            </a:r>
            <a:r>
              <a:rPr altLang="it-IT" lang="it-IT">
                <a:solidFill>
                  <a:srgbClr val="FF0000"/>
                </a:solidFill>
              </a:rPr>
              <a:t>promettere</a:t>
            </a:r>
            <a:r>
              <a:rPr altLang="it-IT" lang="it-IT"/>
              <a:t> denaro o altra utilità. </a:t>
            </a:r>
            <a:r>
              <a:rPr altLang="it-IT" lang="it-IT">
                <a:solidFill>
                  <a:srgbClr val="FF0000"/>
                </a:solidFill>
              </a:rPr>
              <a:t>(REATO COMUNE)</a:t>
            </a: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None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>
              <a:solidFill>
                <a:srgbClr val="FF0000"/>
              </a:solidFill>
            </a:endParaRP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None/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1" lang="it-IT"/>
              <a:t>ELEMENTO SOGGETTIVO (per entrami i commi): </a:t>
            </a:r>
            <a:r>
              <a:rPr altLang="it-IT" lang="it-IT"/>
              <a:t>il </a:t>
            </a:r>
            <a:r>
              <a:rPr altLang="it-IT" lang="it-IT">
                <a:solidFill>
                  <a:srgbClr val="FF0000"/>
                </a:solidFill>
              </a:rPr>
              <a:t>DOLO GENERICO.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/>
          </a:p>
          <a:p>
            <a:pPr algn="ctr">
              <a:lnSpc>
                <a:spcPct val="114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CONCUSSIONE e INDUZIONE INDEBITA ≠ CORRUZIONE </a:t>
            </a:r>
          </a:p>
          <a:p>
            <a:pPr algn="ctr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poiché </a:t>
            </a:r>
            <a:r>
              <a:rPr altLang="it-IT" b="1" lang="it-IT">
                <a:solidFill>
                  <a:srgbClr val="E46C0A"/>
                </a:solidFill>
              </a:rPr>
              <a:t>l’iniziativa è del pubblico ufficiale e non del privato</a:t>
            </a:r>
            <a:r>
              <a:rPr altLang="it-IT" lang="it-IT"/>
              <a:t>. </a:t>
            </a:r>
          </a:p>
          <a:p>
            <a:endParaRPr altLang="it-IT" lang="it-IT"/>
          </a:p>
        </p:txBody>
      </p:sp>
      <p:pic>
        <p:nvPicPr>
          <p:cNvPr descr="Immagine 6" id="4" name="Immagine 6">
            <a:extLst>
              <a:ext uri="{FF2B5EF4-FFF2-40B4-BE49-F238E27FC236}">
                <a16:creationId xmlns:a16="http://schemas.microsoft.com/office/drawing/2014/main" id="{CB2A3798-62CD-42C3-980C-46BA8F88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265453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ttangolo 4"/>
          <p:cNvSpPr txBox="1"/>
          <p:nvPr/>
        </p:nvSpPr>
        <p:spPr>
          <a:xfrm>
            <a:off x="182570" y="912032"/>
            <a:ext cx="8736198" cy="5135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corruzione è disciplinata dal codice penale all’interno degli </a:t>
            </a:r>
            <a:r>
              <a:rPr b="1">
                <a:solidFill>
                  <a:srgbClr val="008000"/>
                </a:solidFill>
              </a:rPr>
              <a:t>artt. 318-322 c.p.</a:t>
            </a:r>
            <a:r>
              <a:t>. Il reato in oggetto può essere definito come un </a:t>
            </a:r>
            <a:r>
              <a:rPr b="1">
                <a:solidFill>
                  <a:srgbClr val="008000"/>
                </a:solidFill>
              </a:rPr>
              <a:t>particolare accordo </a:t>
            </a:r>
            <a:r>
              <a:t>(c.d. </a:t>
            </a:r>
            <a:r>
              <a:rPr i="1"/>
              <a:t>pactum sceleris</a:t>
            </a:r>
            <a:r>
              <a:t>) tra un </a:t>
            </a:r>
            <a:r>
              <a:rPr b="1"/>
              <a:t>funzionario pubblico ed un soggetto privato</a:t>
            </a:r>
            <a:r>
              <a:t>, mediante il quale viene </a:t>
            </a:r>
            <a:r>
              <a:rPr b="1"/>
              <a:t>promesso o dato un compenso non dovuto </a:t>
            </a:r>
            <a:r>
              <a:t>(o altra utilità) </a:t>
            </a:r>
            <a:r>
              <a:rPr b="1"/>
              <a:t>in cambio del compimento di un atto relativo alle proprie attribuzioni</a:t>
            </a:r>
            <a:r>
              <a:t>. 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</a:t>
            </a:r>
            <a:r>
              <a:rPr b="1">
                <a:solidFill>
                  <a:srgbClr val="008000"/>
                </a:solidFill>
              </a:rPr>
              <a:t>CORRUZIONE</a:t>
            </a:r>
            <a:r>
              <a:t> può essere: 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PROPRIA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rPr>
                <a:solidFill>
                  <a:srgbClr val="000000"/>
                </a:solidFill>
              </a:rPr>
              <a:t>per un atto contrario ai doveri d’ufficio</a:t>
            </a:r>
            <a:r>
              <a:rPr b="0">
                <a:solidFill>
                  <a:srgbClr val="000000"/>
                </a:solidFill>
              </a:rPr>
              <a:t>, cioè un atto che non si sarebbe dovuto porre in essere (</a:t>
            </a:r>
            <a:r>
              <a:rPr b="0" i="1">
                <a:solidFill>
                  <a:srgbClr val="000000"/>
                </a:solidFill>
              </a:rPr>
              <a:t>es. il PU rilascia l’autorizzazione edilizia a persona che non ha i requisiti previsti, dietro compenso</a:t>
            </a:r>
            <a:r>
              <a:rPr b="0">
                <a:solidFill>
                  <a:srgbClr val="000000"/>
                </a:solidFill>
              </a:rPr>
              <a:t>);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2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IMPROPRIA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rPr>
                <a:solidFill>
                  <a:srgbClr val="000000"/>
                </a:solidFill>
              </a:rPr>
              <a:t>per un atto che il pubblico ufficiale avrebbe comunque dovuto assumere </a:t>
            </a:r>
            <a:r>
              <a:rPr b="0">
                <a:solidFill>
                  <a:srgbClr val="000000"/>
                </a:solidFill>
              </a:rPr>
              <a:t>(</a:t>
            </a:r>
            <a:r>
              <a:rPr b="0" i="1">
                <a:solidFill>
                  <a:srgbClr val="000000"/>
                </a:solidFill>
              </a:rPr>
              <a:t>es. l’appalto sarebbe stato comunque vinto da quel concorrente ma il PU accelera i tempi di aggiudicazione</a:t>
            </a:r>
            <a:r>
              <a:rPr b="0">
                <a:solidFill>
                  <a:srgbClr val="000000"/>
                </a:solidFill>
              </a:rPr>
              <a:t>). </a:t>
            </a:r>
          </a:p>
        </p:txBody>
      </p:sp>
      <p:pic>
        <p:nvPicPr>
          <p:cNvPr descr="Immagine 6" id="298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9F57BA-37A2-4716-8F74-3E2D15C0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69" y="160336"/>
            <a:ext cx="3142694" cy="1143001"/>
          </a:xfrm>
        </p:spPr>
        <p:txBody>
          <a:bodyPr numCol="1">
            <a:normAutofit fontScale="90000"/>
          </a:bodyPr>
          <a:lstStyle/>
          <a:p>
            <a:r>
              <a:rPr altLang="it-IT" lang="it-IT">
                <a:solidFill>
                  <a:schemeClr val="bg1"/>
                </a:solidFill>
                <a:latin charset="0" panose="02040602050305030304" pitchFamily="18" typeface="Book Antiqua"/>
              </a:rPr>
              <a:t>Corruzione</a:t>
            </a:r>
            <a:br>
              <a:rPr altLang="it-IT" lang="it-IT"/>
            </a:br>
            <a:endParaRPr altLang="it-IT"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633BEF-B27D-4B36-A591-ED13E3C3EB05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34234" y="774570"/>
            <a:ext cx="8229600" cy="4525861"/>
          </a:xfrm>
        </p:spPr>
        <p:txBody>
          <a:bodyPr numCol="1"/>
          <a:lstStyle/>
          <a:p>
            <a:pPr algn="just">
              <a:lnSpc>
                <a:spcPct val="114000"/>
              </a:lnSpc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Ne esistono </a:t>
            </a:r>
            <a:r>
              <a:rPr altLang="it-IT" b="1" lang="it-IT" u="sng">
                <a:solidFill>
                  <a:srgbClr val="FF0000"/>
                </a:solidFill>
              </a:rPr>
              <a:t>DUE FORME </a:t>
            </a:r>
            <a:r>
              <a:rPr altLang="it-IT" lang="it-IT"/>
              <a:t>diverse: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Char char="-"/>
              <a:defRPr sz="20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>
                <a:solidFill>
                  <a:srgbClr val="FF0000"/>
                </a:solidFill>
              </a:rPr>
              <a:t>corruzione antecedente: </a:t>
            </a:r>
            <a:r>
              <a:rPr altLang="it-IT" lang="it-IT">
                <a:solidFill>
                  <a:schemeClr val="tx1"/>
                </a:solidFill>
              </a:rPr>
              <a:t>il pubblico ufficiale che, </a:t>
            </a:r>
            <a:r>
              <a:rPr altLang="it-IT" lang="it-IT" u="sng">
                <a:solidFill>
                  <a:schemeClr val="tx1"/>
                </a:solidFill>
              </a:rPr>
              <a:t>per compiere un atto del suo ufficio o contrario</a:t>
            </a:r>
            <a:r>
              <a:rPr altLang="it-IT" lang="it-IT">
                <a:solidFill>
                  <a:schemeClr val="tx1"/>
                </a:solidFill>
              </a:rPr>
              <a:t>, riceve, per sé o per un terzo, in denaro o altra utilità, una retribuzione che non gli è dovuta, o ne accetta la promessa;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Char char="-"/>
              <a:defRPr sz="20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>
              <a:solidFill>
                <a:schemeClr val="tx1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buChar char="-"/>
              <a:defRPr sz="20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>
                <a:solidFill>
                  <a:srgbClr val="FF0000"/>
                </a:solidFill>
              </a:rPr>
              <a:t>corruzione susseguente: </a:t>
            </a:r>
            <a:r>
              <a:rPr altLang="it-IT" lang="it-IT">
                <a:solidFill>
                  <a:schemeClr val="tx1"/>
                </a:solidFill>
              </a:rPr>
              <a:t>il pubblico ufficiale che riceve la retribuzione </a:t>
            </a:r>
            <a:r>
              <a:rPr altLang="it-IT" lang="it-IT" u="sng">
                <a:solidFill>
                  <a:schemeClr val="tx1"/>
                </a:solidFill>
              </a:rPr>
              <a:t>per un atto del suo ufficio o contrario da lui già compiuto</a:t>
            </a:r>
            <a:r>
              <a:rPr altLang="it-IT" lang="it-IT">
                <a:solidFill>
                  <a:schemeClr val="tx1"/>
                </a:solidFill>
              </a:rPr>
              <a:t>.</a:t>
            </a:r>
          </a:p>
          <a:p>
            <a:endParaRPr altLang="it-IT" lang="it-IT"/>
          </a:p>
        </p:txBody>
      </p:sp>
      <p:pic>
        <p:nvPicPr>
          <p:cNvPr descr="Immagine 6" id="4" name="Immagine 6">
            <a:extLst>
              <a:ext uri="{FF2B5EF4-FFF2-40B4-BE49-F238E27FC236}">
                <a16:creationId xmlns:a16="http://schemas.microsoft.com/office/drawing/2014/main" id="{4614A03D-D273-4AD0-A2EF-581459722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0909134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ttangolo 4"/>
          <p:cNvSpPr txBox="1"/>
          <p:nvPr/>
        </p:nvSpPr>
        <p:spPr>
          <a:xfrm>
            <a:off x="81215" y="912032"/>
            <a:ext cx="8981569" cy="291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318 </a:t>
            </a:r>
            <a:r>
              <a:rPr err="1"/>
              <a:t>c.p.</a:t>
            </a:r>
            <a:r>
              <a:t> «cd. CORRUZIONE IMPROPRIA»</a:t>
            </a:r>
          </a:p>
          <a:p>
            <a:pPr algn="just" indent="4484687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 </a:t>
            </a:r>
            <a:r>
              <a:rPr err="1"/>
              <a:t>esercizio</a:t>
            </a:r>
            <a:r>
              <a:t> </a:t>
            </a:r>
            <a:r>
              <a:rPr err="1"/>
              <a:t>della</a:t>
            </a:r>
            <a:r>
              <a:t> </a:t>
            </a:r>
            <a:r>
              <a:rPr err="1"/>
              <a:t>funzione</a:t>
            </a:r>
            <a:endParaRPr altLang="it-IT" lang="it-IT"/>
          </a:p>
          <a:p>
            <a:pPr algn="just" indent="4484687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2200"/>
              <a:t>«</a:t>
            </a:r>
            <a:r>
              <a:rPr altLang="it-IT" i="1" lang="it-IT" sz="2200"/>
              <a:t>Il pubblico ufficiale che, </a:t>
            </a:r>
            <a:r>
              <a:rPr altLang="it-IT" i="1" lang="it-IT" sz="2200" u="sng"/>
              <a:t>per l’esercizio delle sue funzioni o dei suoi poteri</a:t>
            </a:r>
            <a:r>
              <a:rPr altLang="it-IT" i="1" lang="it-IT" sz="2200"/>
              <a:t>, </a:t>
            </a:r>
            <a:r>
              <a:rPr altLang="it-IT" i="1" lang="it-IT" sz="2200">
                <a:solidFill>
                  <a:srgbClr val="00B800"/>
                </a:solidFill>
              </a:rPr>
              <a:t>indebitamente riceve,</a:t>
            </a:r>
            <a:r>
              <a:rPr altLang="it-IT" i="1" lang="it-IT" sz="2200"/>
              <a:t> per sé o per un terzo, denaro o altra utilità o ne </a:t>
            </a:r>
            <a:r>
              <a:rPr altLang="it-IT" i="1" lang="it-IT" sz="2200">
                <a:solidFill>
                  <a:srgbClr val="00B800"/>
                </a:solidFill>
              </a:rPr>
              <a:t>accetta</a:t>
            </a:r>
            <a:r>
              <a:rPr altLang="it-IT" i="1" lang="it-IT" sz="2200"/>
              <a:t> la promessa è punito con la reclusione da uno a sei anni</a:t>
            </a:r>
            <a:r>
              <a:rPr altLang="it-IT" lang="it-IT" sz="2200"/>
              <a:t>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descr="Immagine 6" id="302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Rettangolo 1"/>
          <p:cNvSpPr txBox="1"/>
          <p:nvPr/>
        </p:nvSpPr>
        <p:spPr>
          <a:xfrm>
            <a:off x="5481816" y="5238715"/>
            <a:ext cx="3580969" cy="154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Note:</a:t>
            </a:r>
          </a:p>
          <a:p>
            <a:pPr algn="just"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algn="just"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 </a:t>
            </a:r>
          </a:p>
          <a:p>
            <a:pPr algn="just"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 </a:t>
            </a:r>
          </a:p>
          <a:p>
            <a:pPr algn="just">
              <a:lnSpc>
                <a:spcPct val="114000"/>
              </a:lnSpc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04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asellaDiTesto 6"/>
          <p:cNvSpPr txBox="1"/>
          <p:nvPr/>
        </p:nvSpPr>
        <p:spPr>
          <a:xfrm>
            <a:off x="118617" y="980728"/>
            <a:ext cx="8623964" cy="4307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SOGGETTO ATTIVO</a:t>
            </a:r>
            <a:r>
              <a:rPr altLang="it-IT" b="0" lang="it-IT"/>
              <a:t>: il </a:t>
            </a:r>
            <a:r>
              <a:rPr altLang="it-IT" lang="it-IT">
                <a:solidFill>
                  <a:srgbClr val="00B800"/>
                </a:solidFill>
              </a:rPr>
              <a:t>Pubblico Ufficiale</a:t>
            </a: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>
              <a:solidFill>
                <a:srgbClr val="00B800"/>
              </a:solidFill>
            </a:endParaRPr>
          </a:p>
          <a:p>
            <a:pPr algn="just" indent="-342900" marL="342900">
              <a:lnSpc>
                <a:spcPct val="114000"/>
              </a:lnSpc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u="sng">
                <a:solidFill>
                  <a:srgbClr val="FF0000"/>
                </a:solidFill>
              </a:rPr>
              <a:t>L’art. 320 </a:t>
            </a:r>
            <a:r>
              <a:rPr altLang="it-IT" lang="it-IT"/>
              <a:t>stabilisce, al primo comma, che le disposizioni dell’art. 318 si applicano anche all’</a:t>
            </a:r>
            <a:r>
              <a:rPr altLang="it-IT" lang="it-IT" u="sng">
                <a:solidFill>
                  <a:srgbClr val="00B800"/>
                </a:solidFill>
              </a:rPr>
              <a:t>incaricato di pubblico servizio</a:t>
            </a:r>
            <a:r>
              <a:rPr altLang="it-IT" lang="it-IT"/>
              <a:t>.</a:t>
            </a:r>
          </a:p>
          <a:p>
            <a:pPr algn="just" indent="-342900" marL="342900">
              <a:lnSpc>
                <a:spcPct val="114000"/>
              </a:lnSpc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/>
          </a:p>
          <a:p>
            <a:pPr algn="just" indent="-342900" marL="342900">
              <a:lnSpc>
                <a:spcPct val="114000"/>
              </a:lnSpc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u="sng">
                <a:solidFill>
                  <a:srgbClr val="FF0000"/>
                </a:solidFill>
              </a:rPr>
              <a:t>L’art. 321  </a:t>
            </a:r>
            <a:r>
              <a:rPr altLang="it-IT" lang="it-IT"/>
              <a:t>punisce i </a:t>
            </a:r>
            <a:r>
              <a:rPr altLang="it-IT" lang="it-IT">
                <a:solidFill>
                  <a:srgbClr val="00B800"/>
                </a:solidFill>
              </a:rPr>
              <a:t>corruttori</a:t>
            </a:r>
            <a:r>
              <a:rPr altLang="it-IT" lang="it-IT"/>
              <a:t>.</a:t>
            </a: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</a:t>
            </a:r>
            <a:r>
              <a:rPr err="1"/>
              <a:t>tratta</a:t>
            </a:r>
            <a:r>
              <a:t> di un </a:t>
            </a:r>
            <a:r>
              <a:rPr b="1" u="sng"/>
              <a:t>REATO PROPRIO</a:t>
            </a:r>
            <a:r>
              <a:t>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REATO A CONCORSO NECESSARIO </a:t>
            </a:r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REATO PLURISOGGETTIVO</a:t>
            </a:r>
          </a:p>
        </p:txBody>
      </p:sp>
      <p:pic>
        <p:nvPicPr>
          <p:cNvPr descr="Immagine 7" id="307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  <p:sp>
        <p:nvSpPr>
          <p:cNvPr id="309" name="Rettangolo 1"/>
          <p:cNvSpPr/>
          <p:nvPr/>
        </p:nvSpPr>
        <p:spPr>
          <a:xfrm>
            <a:off x="5193439" y="4301926"/>
            <a:ext cx="3384377" cy="759021"/>
          </a:xfrm>
          <a:prstGeom prst="rect">
            <a:avLst/>
          </a:prstGeom>
          <a:ln w="19050">
            <a:solidFill>
              <a:srgbClr val="00B8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>
            <a:lvl1pPr algn="ctr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err="1"/>
              <a:t>il</a:t>
            </a:r>
            <a:r>
              <a:t> </a:t>
            </a:r>
            <a:r>
              <a:rPr err="1"/>
              <a:t>corrotto</a:t>
            </a:r>
            <a:r>
              <a:t> e </a:t>
            </a:r>
            <a:r>
              <a:rPr err="1"/>
              <a:t>il</a:t>
            </a:r>
            <a:r>
              <a:t> </a:t>
            </a:r>
            <a:r>
              <a:rPr err="1"/>
              <a:t>corruttore</a:t>
            </a:r>
            <a:r>
              <a:t> </a:t>
            </a:r>
            <a:r>
              <a:rPr err="1"/>
              <a:t>che</a:t>
            </a:r>
            <a:r>
              <a:t> </a:t>
            </a:r>
            <a:r>
              <a:rPr err="1"/>
              <a:t>sono</a:t>
            </a:r>
            <a:r>
              <a:t> </a:t>
            </a:r>
            <a:r>
              <a:rPr err="1"/>
              <a:t>entrambi</a:t>
            </a:r>
            <a:r>
              <a:t> </a:t>
            </a:r>
            <a:r>
              <a:rPr err="1"/>
              <a:t>puniti</a:t>
            </a:r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asellaDiTesto 6"/>
          <p:cNvSpPr txBox="1"/>
          <p:nvPr/>
        </p:nvSpPr>
        <p:spPr>
          <a:xfrm>
            <a:off x="260018" y="980728"/>
            <a:ext cx="8623964" cy="4693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</a:t>
            </a:r>
            <a:r>
              <a:rPr b="0" u="none"/>
              <a:t>:</a:t>
            </a:r>
            <a:r>
              <a:rPr altLang="it-IT" b="0" lang="it-IT" u="none"/>
              <a:t> CONDOTTA-</a:t>
            </a:r>
            <a:r>
              <a:rPr b="0" u="none"/>
              <a:t> </a:t>
            </a:r>
            <a:r>
              <a:rPr altLang="it-IT" b="0" lang="it-IT" u="sng"/>
              <a:t>ACCETTARE O RICEVERE</a:t>
            </a:r>
            <a:r>
              <a:rPr altLang="it-IT" b="0" lang="it-IT" u="none"/>
              <a:t> la promessa di una retribuzione non dovuta in cambio di una controprestazione</a:t>
            </a:r>
            <a:r>
              <a:rPr b="0" u="none"/>
              <a:t>. 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u="none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err="1"/>
              <a:t>reato</a:t>
            </a:r>
            <a:r>
              <a:t> </a:t>
            </a:r>
            <a:r>
              <a:rPr err="1"/>
              <a:t>si</a:t>
            </a:r>
            <a:r>
              <a:t> </a:t>
            </a:r>
            <a:r>
              <a:rPr err="1"/>
              <a:t>consuma</a:t>
            </a:r>
            <a:r>
              <a:t> al </a:t>
            </a:r>
            <a:r>
              <a:rPr err="1"/>
              <a:t>momento</a:t>
            </a:r>
            <a:r>
              <a:t> </a:t>
            </a:r>
            <a:r>
              <a:rPr err="1"/>
              <a:t>dell’</a:t>
            </a:r>
            <a:r>
              <a:rPr b="1" err="1" u="sng">
                <a:solidFill>
                  <a:srgbClr val="00B800"/>
                </a:solidFill>
              </a:rPr>
              <a:t>ACCETTAZIONE</a:t>
            </a:r>
            <a:r>
              <a:t> </a:t>
            </a:r>
            <a:r>
              <a:rPr err="1"/>
              <a:t>della</a:t>
            </a:r>
            <a:r>
              <a:t> </a:t>
            </a:r>
            <a:r>
              <a:rPr err="1"/>
              <a:t>promessa</a:t>
            </a:r>
            <a:r>
              <a:t> o </a:t>
            </a:r>
            <a:r>
              <a:rPr err="1"/>
              <a:t>della</a:t>
            </a:r>
            <a:r>
              <a:t> </a:t>
            </a:r>
            <a:r>
              <a:rPr err="1"/>
              <a:t>dazione</a:t>
            </a:r>
            <a:r>
              <a:t>, </a:t>
            </a:r>
            <a:r>
              <a:rPr err="1"/>
              <a:t>quindi</a:t>
            </a:r>
            <a:r>
              <a:t> </a:t>
            </a:r>
            <a:r>
              <a:rPr err="1"/>
              <a:t>nel</a:t>
            </a:r>
            <a:r>
              <a:t> </a:t>
            </a:r>
            <a:r>
              <a:rPr err="1"/>
              <a:t>momento</a:t>
            </a:r>
            <a:r>
              <a:t> </a:t>
            </a:r>
            <a:r>
              <a:rPr err="1"/>
              <a:t>dell’</a:t>
            </a:r>
            <a:r>
              <a:rPr b="1" err="1" u="sng">
                <a:solidFill>
                  <a:srgbClr val="00B800"/>
                </a:solidFill>
              </a:rPr>
              <a:t>ACCORDO</a:t>
            </a:r>
            <a:r>
              <a:t>.</a:t>
            </a:r>
          </a:p>
          <a:p>
            <a:pPr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per </a:t>
            </a:r>
            <a:r>
              <a:rPr b="0" err="1" u="none"/>
              <a:t>quanto</a:t>
            </a:r>
            <a:r>
              <a:rPr b="0" u="none"/>
              <a:t> </a:t>
            </a:r>
            <a:r>
              <a:rPr b="0" err="1" u="none"/>
              <a:t>riguarda</a:t>
            </a:r>
            <a:r>
              <a:rPr b="0" u="none"/>
              <a:t> </a:t>
            </a:r>
            <a:r>
              <a:rPr b="0" err="1" u="none"/>
              <a:t>il</a:t>
            </a:r>
            <a:r>
              <a:rPr b="0" u="none"/>
              <a:t> </a:t>
            </a:r>
            <a:r>
              <a:rPr b="0" err="1" u="none"/>
              <a:t>dolo</a:t>
            </a:r>
            <a:r>
              <a:rPr b="0" u="none"/>
              <a:t> è </a:t>
            </a:r>
            <a:r>
              <a:rPr b="0" err="1" u="none"/>
              <a:t>richiesto</a:t>
            </a:r>
            <a:r>
              <a:rPr b="0" u="none"/>
              <a:t>:</a:t>
            </a:r>
          </a:p>
          <a:p>
            <a:pPr algn="just" indent="-342900" marL="342900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il</a:t>
            </a:r>
            <a:r>
              <a:t> </a:t>
            </a:r>
            <a:r>
              <a:rPr b="1">
                <a:solidFill>
                  <a:srgbClr val="00B800"/>
                </a:solidFill>
              </a:rPr>
              <a:t>DOLO SPECIFICO</a:t>
            </a:r>
            <a:r>
              <a:rPr>
                <a:solidFill>
                  <a:srgbClr val="00B800"/>
                </a:solidFill>
              </a:rPr>
              <a:t> </a:t>
            </a:r>
            <a:r>
              <a:t>del </a:t>
            </a:r>
            <a:r>
              <a:rPr err="1"/>
              <a:t>corruttore</a:t>
            </a:r>
            <a:r>
              <a:t> (</a:t>
            </a:r>
            <a:r>
              <a:rPr err="1"/>
              <a:t>il</a:t>
            </a:r>
            <a:r>
              <a:t> </a:t>
            </a:r>
            <a:r>
              <a:rPr err="1"/>
              <a:t>privato</a:t>
            </a:r>
            <a:r>
              <a:t>), </a:t>
            </a:r>
          </a:p>
          <a:p>
            <a:pPr algn="just" indent="-342900" marL="342900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il</a:t>
            </a:r>
            <a:r>
              <a:t> </a:t>
            </a:r>
            <a:r>
              <a:rPr b="1">
                <a:solidFill>
                  <a:srgbClr val="00B800"/>
                </a:solidFill>
              </a:rPr>
              <a:t>DOLO GENERICO</a:t>
            </a:r>
            <a:r>
              <a:rPr>
                <a:solidFill>
                  <a:srgbClr val="00B800"/>
                </a:solidFill>
              </a:rPr>
              <a:t> </a:t>
            </a:r>
            <a:r>
              <a:t>del </a:t>
            </a:r>
            <a:r>
              <a:rPr err="1"/>
              <a:t>corrotto</a:t>
            </a:r>
            <a:r>
              <a:t> (P.U. o Inc. Pub. Serv.)</a:t>
            </a:r>
          </a:p>
          <a:p>
            <a:pPr algn="just" indent="-342900" marL="342900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REATO DI DANNO, DI MERA CONDOTTA</a:t>
            </a:r>
          </a:p>
        </p:txBody>
      </p:sp>
      <p:pic>
        <p:nvPicPr>
          <p:cNvPr descr="Immagine 7" id="312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asellaDiTesto 6"/>
          <p:cNvSpPr txBox="1"/>
          <p:nvPr/>
        </p:nvSpPr>
        <p:spPr>
          <a:xfrm>
            <a:off x="135476" y="1071545"/>
            <a:ext cx="8873048" cy="507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err="1"/>
              <a:t>delitto</a:t>
            </a:r>
            <a:r>
              <a:t> di </a:t>
            </a:r>
            <a:r>
              <a:rPr err="1"/>
              <a:t>corruzione</a:t>
            </a:r>
            <a:r>
              <a:t> </a:t>
            </a:r>
            <a:r>
              <a:rPr err="1"/>
              <a:t>si</a:t>
            </a:r>
            <a:r>
              <a:t> </a:t>
            </a:r>
            <a:r>
              <a:rPr err="1"/>
              <a:t>configura</a:t>
            </a:r>
            <a:r>
              <a:t> come </a:t>
            </a:r>
            <a:r>
              <a:rPr b="1">
                <a:solidFill>
                  <a:srgbClr val="00B800"/>
                </a:solidFill>
              </a:rPr>
              <a:t>REATO A DUPLICE SCHEMA</a:t>
            </a:r>
            <a:r>
              <a:t>:</a:t>
            </a:r>
          </a:p>
          <a:p>
            <a:pPr algn="just" indent="-342900" marL="342900">
              <a:lnSpc>
                <a:spcPct val="114000"/>
              </a:lnSpc>
              <a:buSzPct val="100000"/>
              <a:buChar char="-"/>
              <a:defRPr sz="22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Principale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il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reato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viene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commesso</a:t>
            </a:r>
            <a:r>
              <a:rPr b="0">
                <a:solidFill>
                  <a:srgbClr val="000000"/>
                </a:solidFill>
              </a:rPr>
              <a:t> con due </a:t>
            </a:r>
            <a:r>
              <a:rPr b="0" err="1">
                <a:solidFill>
                  <a:srgbClr val="000000"/>
                </a:solidFill>
              </a:rPr>
              <a:t>attività</a:t>
            </a:r>
            <a:r>
              <a:rPr b="0">
                <a:solidFill>
                  <a:srgbClr val="000000"/>
                </a:solidFill>
              </a:rPr>
              <a:t>:</a:t>
            </a:r>
          </a:p>
          <a:p>
            <a:pPr algn="just" indent="-266700" marL="622300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l’accettazione</a:t>
            </a:r>
            <a:r>
              <a:t> </a:t>
            </a:r>
            <a:r>
              <a:rPr err="1"/>
              <a:t>della</a:t>
            </a:r>
            <a:r>
              <a:t> </a:t>
            </a:r>
            <a:r>
              <a:rPr err="1"/>
              <a:t>promessa</a:t>
            </a:r>
            <a:endParaRPr/>
          </a:p>
          <a:p>
            <a:pPr algn="just" indent="-266700" marL="622300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il</a:t>
            </a:r>
            <a:r>
              <a:t> </a:t>
            </a:r>
            <a:r>
              <a:rPr err="1"/>
              <a:t>ricevimento</a:t>
            </a:r>
            <a:r>
              <a:t> </a:t>
            </a:r>
            <a:r>
              <a:rPr err="1"/>
              <a:t>della</a:t>
            </a:r>
            <a:r>
              <a:t> </a:t>
            </a:r>
            <a:r>
              <a:rPr err="1"/>
              <a:t>utilità</a:t>
            </a:r>
            <a:endParaRPr/>
          </a:p>
          <a:p>
            <a:pPr algn="just" indent="355600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/>
          </a:p>
          <a:p>
            <a:pPr algn="just" indent="355600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u="sng">
                <a:solidFill>
                  <a:srgbClr val="FF0000"/>
                </a:solidFill>
              </a:rPr>
              <a:t>Consumazione frazionata</a:t>
            </a:r>
            <a:r>
              <a:rPr altLang="it-IT" lang="it-IT"/>
              <a:t>= </a:t>
            </a:r>
            <a:r>
              <a:t>Il </a:t>
            </a:r>
            <a:r>
              <a:rPr err="1"/>
              <a:t>momento</a:t>
            </a:r>
            <a:r>
              <a:t> </a:t>
            </a:r>
            <a:r>
              <a:rPr err="1"/>
              <a:t>consumativo</a:t>
            </a:r>
            <a:r>
              <a:t> coincide con </a:t>
            </a:r>
            <a:r>
              <a:rPr err="1"/>
              <a:t>il</a:t>
            </a:r>
            <a:r>
              <a:t> </a:t>
            </a:r>
            <a:r>
              <a:rPr b="1" err="1">
                <a:solidFill>
                  <a:srgbClr val="00B800"/>
                </a:solidFill>
              </a:rPr>
              <a:t>ricevimento</a:t>
            </a:r>
            <a:r>
              <a:rPr b="1">
                <a:solidFill>
                  <a:srgbClr val="00B800"/>
                </a:solidFill>
              </a:rPr>
              <a:t> </a:t>
            </a:r>
            <a:r>
              <a:rPr b="1" err="1">
                <a:solidFill>
                  <a:srgbClr val="00B800"/>
                </a:solidFill>
              </a:rPr>
              <a:t>della</a:t>
            </a:r>
            <a:r>
              <a:rPr b="1">
                <a:solidFill>
                  <a:srgbClr val="00B800"/>
                </a:solidFill>
              </a:rPr>
              <a:t> </a:t>
            </a:r>
            <a:r>
              <a:rPr b="1" err="1">
                <a:solidFill>
                  <a:srgbClr val="00B800"/>
                </a:solidFill>
              </a:rPr>
              <a:t>utilità</a:t>
            </a:r>
            <a:r>
              <a:rPr b="1">
                <a:solidFill>
                  <a:srgbClr val="00B800"/>
                </a:solidFill>
              </a:rPr>
              <a:t> </a:t>
            </a:r>
            <a:r>
              <a:t>e, </a:t>
            </a:r>
            <a:r>
              <a:rPr err="1"/>
              <a:t>allorché</a:t>
            </a:r>
            <a:r>
              <a:t> vi </a:t>
            </a:r>
            <a:r>
              <a:rPr err="1"/>
              <a:t>siano</a:t>
            </a:r>
            <a:r>
              <a:t> </a:t>
            </a:r>
            <a:r>
              <a:rPr err="1"/>
              <a:t>più</a:t>
            </a:r>
            <a:r>
              <a:t> </a:t>
            </a:r>
            <a:r>
              <a:rPr err="1"/>
              <a:t>dazioni</a:t>
            </a:r>
            <a:r>
              <a:t> di </a:t>
            </a:r>
            <a:r>
              <a:rPr err="1"/>
              <a:t>pagamento</a:t>
            </a:r>
            <a:r>
              <a:t>, </a:t>
            </a:r>
            <a:r>
              <a:rPr err="1"/>
              <a:t>ogni</a:t>
            </a:r>
            <a:r>
              <a:t> </a:t>
            </a:r>
            <a:r>
              <a:rPr err="1"/>
              <a:t>remunerazione</a:t>
            </a:r>
            <a:r>
              <a:t> integra un </a:t>
            </a:r>
            <a:r>
              <a:rPr err="1"/>
              <a:t>fatto-reato</a:t>
            </a:r>
            <a:r>
              <a:t> e una </a:t>
            </a:r>
            <a:r>
              <a:rPr err="1"/>
              <a:t>pluralità</a:t>
            </a:r>
            <a:r>
              <a:t> di </a:t>
            </a:r>
            <a:r>
              <a:rPr err="1"/>
              <a:t>dazioni</a:t>
            </a:r>
            <a:r>
              <a:t> </a:t>
            </a:r>
            <a:r>
              <a:rPr err="1"/>
              <a:t>corrisposte</a:t>
            </a:r>
            <a:r>
              <a:t> in </a:t>
            </a:r>
            <a:r>
              <a:rPr err="1"/>
              <a:t>esecuzione</a:t>
            </a:r>
            <a:r>
              <a:t> di un </a:t>
            </a:r>
            <a:r>
              <a:rPr err="1"/>
              <a:t>unico</a:t>
            </a:r>
            <a:r>
              <a:t> </a:t>
            </a:r>
            <a:r>
              <a:rPr err="1"/>
              <a:t>patto</a:t>
            </a:r>
            <a:r>
              <a:t> </a:t>
            </a:r>
            <a:r>
              <a:rPr err="1"/>
              <a:t>corruttivo</a:t>
            </a:r>
            <a:r>
              <a:t> </a:t>
            </a:r>
            <a:r>
              <a:rPr err="1"/>
              <a:t>configura</a:t>
            </a:r>
            <a:r>
              <a:t> un </a:t>
            </a:r>
            <a:r>
              <a:rPr err="1"/>
              <a:t>delitto</a:t>
            </a:r>
            <a:r>
              <a:t> </a:t>
            </a:r>
            <a:r>
              <a:rPr err="1"/>
              <a:t>continuato</a:t>
            </a:r>
            <a:r>
              <a:t>.</a:t>
            </a:r>
          </a:p>
          <a:p>
            <a:pPr algn="just" indent="-342900" marL="342900">
              <a:lnSpc>
                <a:spcPct val="114000"/>
              </a:lnSpc>
              <a:buSzPct val="100000"/>
              <a:buChar char="-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indent="-342900" marL="342900">
              <a:lnSpc>
                <a:spcPct val="114000"/>
              </a:lnSpc>
              <a:buSzPct val="100000"/>
              <a:buChar char="-"/>
              <a:defRPr sz="2200">
                <a:solidFill>
                  <a:srgbClr val="00B8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Sussidiario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che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si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realizza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quando</a:t>
            </a:r>
            <a:r>
              <a:rPr b="0">
                <a:solidFill>
                  <a:srgbClr val="000000"/>
                </a:solidFill>
              </a:rPr>
              <a:t> la </a:t>
            </a:r>
            <a:r>
              <a:rPr b="0" err="1">
                <a:solidFill>
                  <a:srgbClr val="000000"/>
                </a:solidFill>
              </a:rPr>
              <a:t>promessa</a:t>
            </a:r>
            <a:r>
              <a:rPr b="0">
                <a:solidFill>
                  <a:srgbClr val="000000"/>
                </a:solidFill>
              </a:rPr>
              <a:t> non </a:t>
            </a:r>
            <a:r>
              <a:rPr b="0" err="1">
                <a:solidFill>
                  <a:srgbClr val="000000"/>
                </a:solidFill>
              </a:rPr>
              <a:t>viene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mantenuta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il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reato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si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perfeziona</a:t>
            </a:r>
            <a:r>
              <a:rPr b="0">
                <a:solidFill>
                  <a:srgbClr val="000000"/>
                </a:solidFill>
              </a:rPr>
              <a:t> con la sola </a:t>
            </a:r>
            <a:r>
              <a:rPr b="0" err="1">
                <a:solidFill>
                  <a:srgbClr val="000000"/>
                </a:solidFill>
              </a:rPr>
              <a:t>accettazione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della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promessa</a:t>
            </a:r>
            <a:r>
              <a:rPr b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0000"/>
              </a:solidFill>
            </a:endParaRPr>
          </a:p>
        </p:txBody>
      </p:sp>
      <p:pic>
        <p:nvPicPr>
          <p:cNvPr descr="Immagine 7" id="316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asellaDiTesto 6"/>
          <p:cNvSpPr txBox="1"/>
          <p:nvPr/>
        </p:nvSpPr>
        <p:spPr>
          <a:xfrm>
            <a:off x="260002" y="1071546"/>
            <a:ext cx="8623964" cy="453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</a:t>
            </a:r>
            <a:r>
              <a:rPr b="1"/>
              <a:t> </a:t>
            </a:r>
            <a:r>
              <a:rPr b="1">
                <a:solidFill>
                  <a:srgbClr val="00B800"/>
                </a:solidFill>
              </a:rPr>
              <a:t>TENTATIVO</a:t>
            </a:r>
            <a:r>
              <a:rPr b="1"/>
              <a:t> </a:t>
            </a:r>
            <a:r>
              <a:t>del reato di corruzione per l’esercizio della funzione è sicuramente </a:t>
            </a:r>
            <a:r>
              <a:rPr b="1"/>
              <a:t>configurabile</a:t>
            </a:r>
            <a:r>
              <a:t>.</a:t>
            </a:r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Trattandosi di </a:t>
            </a:r>
            <a:r>
              <a:rPr b="1" cap="small"/>
              <a:t>fattispecie a concorso necessario</a:t>
            </a:r>
            <a:r>
              <a:t>, la soglia del tentativo potrà dirsi raggiunta qualora entrambi i soggetti pongano in essere </a:t>
            </a:r>
            <a:r>
              <a:rPr b="1"/>
              <a:t>atti idonei, diretti in modo non equivoco, alla conclusione dell’accordo corruttivo</a:t>
            </a:r>
            <a:r>
              <a:t> ma tale accordo non si concretizzi </a:t>
            </a:r>
            <a:r>
              <a:rPr i="1"/>
              <a:t>(si pensi, a titolo esemplificativo all’ipotesi delle trattative).</a:t>
            </a:r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/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N.B. Qualora il pubblico ufficiale o il privato pongano in essere condotte di tipo </a:t>
            </a:r>
            <a:r>
              <a:rPr b="1" u="sng">
                <a:solidFill>
                  <a:srgbClr val="00B800"/>
                </a:solidFill>
              </a:rPr>
              <a:t>unilaterale</a:t>
            </a:r>
            <a:r>
              <a:t>, senza la partecipazione dell’altro soggetto, queste saranno punite ai sensi dell’art. 322 c.p. (</a:t>
            </a:r>
            <a:r>
              <a:rPr b="1">
                <a:solidFill>
                  <a:srgbClr val="00B800"/>
                </a:solidFill>
              </a:rPr>
              <a:t>ISTIGAZIONE ALLA CORRUZIONE</a:t>
            </a:r>
            <a:r>
              <a:t>)</a:t>
            </a:r>
            <a:r>
              <a:rPr i="1"/>
              <a:t>.</a:t>
            </a:r>
          </a:p>
        </p:txBody>
      </p:sp>
      <p:pic>
        <p:nvPicPr>
          <p:cNvPr descr="Immagine 7" id="320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l’esercizio della funzione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B57CF-76BA-4A6E-8200-577E0B27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2" y="118708"/>
            <a:ext cx="3067235" cy="613129"/>
          </a:xfrm>
        </p:spPr>
        <p:txBody>
          <a:bodyPr numCol="1">
            <a:normAutofit fontScale="90000"/>
          </a:bodyPr>
          <a:lstStyle/>
          <a:p>
            <a:r>
              <a:rPr altLang="it-IT" lang="it-IT">
                <a:solidFill>
                  <a:schemeClr val="bg1"/>
                </a:solidFill>
              </a:rPr>
              <a:t>Corruzione</a:t>
            </a:r>
            <a:r>
              <a:rPr altLang="it-IT" lang="it-IT"/>
              <a:t>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B57825-8D79-4DDB-8972-50839796E55F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57326" y="1047566"/>
            <a:ext cx="8429348" cy="5078598"/>
          </a:xfrm>
        </p:spPr>
        <p:txBody>
          <a:bodyPr numCol="1">
            <a:normAutofit fontScale="70000" lnSpcReduction="20000"/>
          </a:bodyPr>
          <a:lstStyle/>
          <a:p>
            <a:pPr indent="0" marL="0">
              <a:buNone/>
            </a:pPr>
            <a:r>
              <a:rPr altLang="it-IT" b="1" dirty="0" lang="it-IT" sz="3400" u="sng">
                <a:solidFill>
                  <a:srgbClr val="FF0000"/>
                </a:solidFill>
              </a:rPr>
              <a:t>PROPORZIONE</a:t>
            </a:r>
            <a:r>
              <a:rPr altLang="it-IT" dirty="0" lang="it-IT" sz="3400"/>
              <a:t> tra la </a:t>
            </a:r>
            <a:r>
              <a:rPr altLang="it-IT" b="1" dirty="0" lang="it-IT" sz="3400" u="sng"/>
              <a:t>prestazione </a:t>
            </a:r>
            <a:r>
              <a:rPr altLang="it-IT" dirty="0" lang="it-IT" sz="3400"/>
              <a:t>(denaro o altra utilità) e </a:t>
            </a:r>
            <a:r>
              <a:rPr altLang="it-IT" b="1" dirty="0" lang="it-IT" sz="3400" u="sng"/>
              <a:t>controprestazione</a:t>
            </a:r>
          </a:p>
          <a:p>
            <a:endParaRPr altLang="it-IT" dirty="0" lang="it-IT"/>
          </a:p>
          <a:p>
            <a:r>
              <a:rPr altLang="it-IT" b="1" dirty="0" lang="it-IT" u="sng"/>
              <a:t>L’opinione prevalente </a:t>
            </a:r>
            <a:r>
              <a:rPr altLang="it-IT" dirty="0" lang="it-IT"/>
              <a:t>ritiene che un’offerta di irrisorio valore non sia sufficiente a configurare il reato. </a:t>
            </a:r>
          </a:p>
          <a:p>
            <a:endParaRPr altLang="it-IT" dirty="0" lang="it-IT"/>
          </a:p>
          <a:p>
            <a:r>
              <a:rPr altLang="it-IT" dirty="0" lang="it-IT"/>
              <a:t>Ai sensi </a:t>
            </a:r>
            <a:r>
              <a:rPr altLang="it-IT" b="1" dirty="0" lang="it-IT" u="sng">
                <a:solidFill>
                  <a:srgbClr val="FF0000"/>
                </a:solidFill>
              </a:rPr>
              <a:t>dell’art. 4 del DPR 62/2013 </a:t>
            </a:r>
            <a:r>
              <a:rPr altLang="it-IT" dirty="0" lang="it-IT">
                <a:solidFill>
                  <a:schemeClr val="tx1"/>
                </a:solidFill>
              </a:rPr>
              <a:t>(</a:t>
            </a:r>
            <a:r>
              <a:rPr altLang="it-IT" dirty="0" lang="it-IT"/>
              <a:t>codice di comportamento dei dipendenti pubblici), i donativi (regali o altra utilità) offerti dal privato ai </a:t>
            </a:r>
            <a:r>
              <a:rPr altLang="it-IT" dirty="0" err="1" lang="it-IT"/>
              <a:t>p.u</a:t>
            </a:r>
            <a:r>
              <a:rPr altLang="it-IT" dirty="0" lang="it-IT"/>
              <a:t>. non possano essere accettati, </a:t>
            </a:r>
            <a:r>
              <a:rPr altLang="it-IT" b="1" dirty="0" lang="it-IT" u="sng"/>
              <a:t>salvo</a:t>
            </a:r>
            <a:r>
              <a:rPr altLang="it-IT" dirty="0" lang="it-IT"/>
              <a:t> i casi in cui </a:t>
            </a:r>
            <a:r>
              <a:rPr altLang="it-IT" b="1" dirty="0" lang="it-IT" u="sng"/>
              <a:t>non superino il valore di 150 euro</a:t>
            </a:r>
            <a:r>
              <a:rPr altLang="it-IT" dirty="0" lang="it-IT"/>
              <a:t> (salva diversa previsione delle singole amministrazioni) e siano </a:t>
            </a:r>
            <a:r>
              <a:rPr altLang="it-IT" b="1" dirty="0" lang="it-IT" u="sng"/>
              <a:t>occasionali</a:t>
            </a:r>
            <a:r>
              <a:rPr altLang="it-IT" dirty="0" lang="it-IT"/>
              <a:t> nell’ambito delle </a:t>
            </a:r>
            <a:r>
              <a:rPr altLang="it-IT" b="1" dirty="0" lang="it-IT" u="sng"/>
              <a:t>normali relazioni di cortesia</a:t>
            </a:r>
            <a:r>
              <a:rPr altLang="it-IT" dirty="0" lang="it-IT"/>
              <a:t>. </a:t>
            </a:r>
          </a:p>
          <a:p>
            <a:endParaRPr altLang="it-IT" dirty="0" lang="it-IT"/>
          </a:p>
          <a:p>
            <a:r>
              <a:rPr altLang="it-IT" dirty="0" lang="it-IT"/>
              <a:t>Fatto salvo questo riferimento di massima, la </a:t>
            </a:r>
            <a:r>
              <a:rPr altLang="it-IT" dirty="0" err="1" lang="it-IT"/>
              <a:t>retributività</a:t>
            </a:r>
            <a:r>
              <a:rPr altLang="it-IT" dirty="0" lang="it-IT"/>
              <a:t> dell’offerta rispetto alla prestazione andrà </a:t>
            </a:r>
            <a:r>
              <a:rPr altLang="it-IT" b="1" dirty="0" lang="it-IT" u="sng"/>
              <a:t>valutata caso per caso</a:t>
            </a:r>
            <a:r>
              <a:rPr altLang="it-IT" dirty="0" lang="it-IT"/>
              <a:t>.</a:t>
            </a:r>
          </a:p>
          <a:p>
            <a:endParaRPr altLang="it-IT" dirty="0" lang="it-IT"/>
          </a:p>
        </p:txBody>
      </p:sp>
      <p:pic>
        <p:nvPicPr>
          <p:cNvPr descr="Immagine 7" id="4" name="Immagine 7">
            <a:extLst>
              <a:ext uri="{FF2B5EF4-FFF2-40B4-BE49-F238E27FC236}">
                <a16:creationId xmlns:a16="http://schemas.microsoft.com/office/drawing/2014/main" id="{5140EB74-A74A-4F01-9660-1CA09C471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062627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asellaDiTesto 13"/>
          <p:cNvSpPr txBox="1"/>
          <p:nvPr/>
        </p:nvSpPr>
        <p:spPr>
          <a:xfrm>
            <a:off x="260001" y="980727"/>
            <a:ext cx="8656141" cy="374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>
              <a:lnSpc>
                <a:spcPct val="114000"/>
              </a:lnSpc>
              <a:defRPr sz="24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319 </a:t>
            </a:r>
            <a:r>
              <a:rPr err="1"/>
              <a:t>c.p.</a:t>
            </a:r>
            <a:r>
              <a:rPr b="0"/>
              <a:t> cd. </a:t>
            </a:r>
            <a:r>
              <a:t>«CORRUZIONE PROPRIA»</a:t>
            </a:r>
            <a:endParaRPr b="0"/>
          </a:p>
          <a:p>
            <a:pPr indent="4484687">
              <a:lnSpc>
                <a:spcPct val="114000"/>
              </a:lnSpc>
              <a:defRPr sz="24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 </a:t>
            </a:r>
            <a:r>
              <a:rPr err="1"/>
              <a:t>atto</a:t>
            </a:r>
            <a:r>
              <a:t> </a:t>
            </a:r>
            <a:r>
              <a:rPr err="1"/>
              <a:t>contrario</a:t>
            </a:r>
            <a:endParaRPr/>
          </a:p>
          <a:p>
            <a:pPr>
              <a:lnSpc>
                <a:spcPct val="114000"/>
              </a:lnSpc>
              <a:defRPr b="0" sz="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«Il pubblico ufficiale che, per omettere o ritardare o per aver omesso o ritardato un atto del suo ufficio, ovvero per compiere o per aver compiuto un atto contrario ai doveri d’ufficio, </a:t>
            </a:r>
            <a:r>
              <a:rPr altLang="it-IT" lang="it-IT">
                <a:solidFill>
                  <a:srgbClr val="008000"/>
                </a:solidFill>
              </a:rPr>
              <a:t>riceve</a:t>
            </a:r>
            <a:r>
              <a:rPr altLang="it-IT" lang="it-IT"/>
              <a:t>, per sé o per un terzo, denaro o altra utilità, </a:t>
            </a:r>
            <a:r>
              <a:rPr altLang="it-IT" lang="it-IT">
                <a:solidFill>
                  <a:srgbClr val="008000"/>
                </a:solidFill>
              </a:rPr>
              <a:t>o ne accetta la promessa</a:t>
            </a:r>
            <a:r>
              <a:rPr altLang="it-IT" lang="it-IT"/>
              <a:t>, è punito con la reclusione da sei a dieci anni».</a:t>
            </a:r>
          </a:p>
          <a:p>
            <a:pPr algn="just">
              <a:lnSpc>
                <a:spcPct val="114000"/>
              </a:lnSpc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lang="it-IT"/>
          </a:p>
          <a:p>
            <a:pPr algn="just">
              <a:lnSpc>
                <a:spcPct val="114000"/>
              </a:lnSpc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324" name="CasellaDiTesto 6"/>
          <p:cNvSpPr txBox="1"/>
          <p:nvPr/>
        </p:nvSpPr>
        <p:spPr>
          <a:xfrm>
            <a:off x="297239" y="3884727"/>
            <a:ext cx="8688287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 indent="-285750" marL="285750"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>
                <a:solidFill>
                  <a:srgbClr val="FF0000"/>
                </a:solidFill>
              </a:rPr>
              <a:t>L’art</a:t>
            </a:r>
            <a:r>
              <a:rPr>
                <a:solidFill>
                  <a:srgbClr val="FF0000"/>
                </a:solidFill>
              </a:rPr>
              <a:t>. 320 </a:t>
            </a:r>
            <a:r>
              <a:t>lo </a:t>
            </a:r>
            <a:r>
              <a:rPr err="1"/>
              <a:t>applica</a:t>
            </a:r>
            <a:r>
              <a:t> </a:t>
            </a:r>
            <a:r>
              <a:rPr err="1"/>
              <a:t>anche</a:t>
            </a:r>
            <a:r>
              <a:t> </a:t>
            </a:r>
            <a:r>
              <a:rPr err="1"/>
              <a:t>all’</a:t>
            </a:r>
            <a:r>
              <a:rPr b="1" err="1"/>
              <a:t>incaricato</a:t>
            </a:r>
            <a:r>
              <a:rPr b="1"/>
              <a:t> di </a:t>
            </a:r>
            <a:r>
              <a:rPr b="1" err="1"/>
              <a:t>pubblico</a:t>
            </a:r>
            <a:r>
              <a:rPr b="1"/>
              <a:t> </a:t>
            </a:r>
            <a:r>
              <a:rPr b="1" err="1"/>
              <a:t>servizio</a:t>
            </a:r>
            <a:r>
              <a:t>.</a:t>
            </a:r>
          </a:p>
          <a:p>
            <a:pPr algn="just">
              <a:defRPr b="0" sz="1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indent="-285750" marL="285750"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>
                <a:solidFill>
                  <a:srgbClr val="FF0000"/>
                </a:solidFill>
              </a:rPr>
              <a:t>L’art</a:t>
            </a:r>
            <a:r>
              <a:rPr>
                <a:solidFill>
                  <a:srgbClr val="FF0000"/>
                </a:solidFill>
              </a:rPr>
              <a:t>. 321 </a:t>
            </a:r>
            <a:r>
              <a:t>lo </a:t>
            </a:r>
            <a:r>
              <a:rPr err="1"/>
              <a:t>applica</a:t>
            </a:r>
            <a:r>
              <a:t> </a:t>
            </a:r>
            <a:r>
              <a:rPr err="1"/>
              <a:t>anche</a:t>
            </a:r>
            <a:r>
              <a:t> a </a:t>
            </a:r>
            <a:r>
              <a:rPr b="1"/>
              <a:t>chi </a:t>
            </a:r>
            <a:r>
              <a:rPr b="1" err="1"/>
              <a:t>dà</a:t>
            </a:r>
            <a:r>
              <a:rPr b="1"/>
              <a:t> o </a:t>
            </a:r>
            <a:r>
              <a:rPr b="1" err="1"/>
              <a:t>promette</a:t>
            </a:r>
            <a:r>
              <a:rPr b="1"/>
              <a:t> </a:t>
            </a:r>
            <a:r>
              <a:t>al </a:t>
            </a:r>
            <a:r>
              <a:rPr err="1"/>
              <a:t>pubblico</a:t>
            </a:r>
            <a:r>
              <a:t> </a:t>
            </a:r>
            <a:r>
              <a:rPr err="1"/>
              <a:t>ufficiale</a:t>
            </a:r>
            <a:r>
              <a:t> o </a:t>
            </a:r>
            <a:r>
              <a:rPr err="1"/>
              <a:t>all’incaricato</a:t>
            </a:r>
            <a:r>
              <a:t> di un </a:t>
            </a:r>
            <a:r>
              <a:rPr err="1"/>
              <a:t>pubblico</a:t>
            </a:r>
            <a:r>
              <a:t> </a:t>
            </a:r>
            <a:r>
              <a:rPr err="1"/>
              <a:t>servizio</a:t>
            </a:r>
            <a:r>
              <a:t> </a:t>
            </a:r>
            <a:r>
              <a:rPr err="1"/>
              <a:t>il</a:t>
            </a:r>
            <a:r>
              <a:t> </a:t>
            </a:r>
            <a:r>
              <a:rPr err="1"/>
              <a:t>denaro</a:t>
            </a:r>
            <a:r>
              <a:t> o </a:t>
            </a:r>
            <a:r>
              <a:rPr err="1"/>
              <a:t>altre</a:t>
            </a:r>
            <a:r>
              <a:t> </a:t>
            </a:r>
            <a:r>
              <a:rPr err="1"/>
              <a:t>utilità</a:t>
            </a:r>
            <a:r>
              <a:t> (</a:t>
            </a:r>
            <a:r>
              <a:rPr err="1"/>
              <a:t>corruttore</a:t>
            </a:r>
            <a:r>
              <a:t>)</a:t>
            </a:r>
          </a:p>
        </p:txBody>
      </p:sp>
      <p:pic>
        <p:nvPicPr>
          <p:cNvPr descr="Immagine 8" id="325" name="Immagin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Text Box 5"/>
          <p:cNvSpPr txBox="1"/>
          <p:nvPr/>
        </p:nvSpPr>
        <p:spPr>
          <a:xfrm>
            <a:off x="825746" y="98863"/>
            <a:ext cx="8273685" cy="5209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28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un atto contrario ai doveri di ufficio</a:t>
            </a:r>
          </a:p>
        </p:txBody>
      </p:sp>
      <p:sp>
        <p:nvSpPr>
          <p:cNvPr id="327" name="Rettangolo 1"/>
          <p:cNvSpPr txBox="1"/>
          <p:nvPr/>
        </p:nvSpPr>
        <p:spPr>
          <a:xfrm>
            <a:off x="5409808" y="5157192"/>
            <a:ext cx="3688472" cy="154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facoltativo 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consentito </a:t>
            </a:r>
          </a:p>
          <a:p>
            <a:pPr algn="just" indent="-171450" marL="171450"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asellaDiTesto 13"/>
          <p:cNvSpPr txBox="1"/>
          <p:nvPr/>
        </p:nvSpPr>
        <p:spPr>
          <a:xfrm>
            <a:off x="153224" y="841228"/>
            <a:ext cx="8808206" cy="582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</a:t>
            </a:r>
            <a:r>
              <a:rPr u="none"/>
              <a:t>: </a:t>
            </a:r>
            <a:r>
              <a:rPr b="0" u="none"/>
              <a:t>la CONDOTTA </a:t>
            </a:r>
            <a:r>
              <a:rPr b="0" err="1" u="none"/>
              <a:t>sanzionata</a:t>
            </a:r>
            <a:r>
              <a:rPr b="0" u="none"/>
              <a:t> è:</a:t>
            </a:r>
            <a:endParaRPr altLang="it-IT" b="0" lang="it-IT" u="none"/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lang="it-IT">
                <a:solidFill>
                  <a:srgbClr val="FF0000"/>
                </a:solidFill>
              </a:rPr>
              <a:t>P.U. :</a:t>
            </a:r>
          </a:p>
          <a:p>
            <a:pPr algn="just" indent="-184150" marL="534987">
              <a:buSzPct val="100000"/>
              <a:buFont typeface="Arial"/>
              <a:buChar char="•"/>
              <a:defRPr sz="2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omettere o ritardare un atto d’ufficio;</a:t>
            </a:r>
          </a:p>
          <a:p>
            <a:pPr algn="just" indent="-184150" marL="534987">
              <a:buSzPct val="100000"/>
              <a:buFont typeface="Arial"/>
              <a:buChar char="•"/>
              <a:defRPr sz="2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compiere un atto contrario ai doveri d’ufficio</a:t>
            </a:r>
            <a:r>
              <a:rPr altLang="it-IT" b="0" lang="it-IT"/>
              <a:t>, </a:t>
            </a:r>
            <a:r>
              <a:rPr altLang="it-IT" b="0" lang="it-IT">
                <a:solidFill>
                  <a:schemeClr val="tx1"/>
                </a:solidFill>
              </a:rPr>
              <a:t>e cioè di un atto illegittimo, che sia in contrasto alle norme giuridiche o alle istruzioni di servizio nonché col buon uso del potere discrezionale.</a:t>
            </a:r>
          </a:p>
          <a:p>
            <a:pPr algn="just">
              <a:lnSpc>
                <a:spcPct val="114000"/>
              </a:lnSpc>
              <a:buSzPct val="100000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lang="it-IT"/>
              <a:t> </a:t>
            </a:r>
            <a:r>
              <a:rPr altLang="it-IT" b="0" lang="it-IT" u="sng"/>
              <a:t>al fine </a:t>
            </a:r>
            <a:r>
              <a:rPr altLang="it-IT" b="0" lang="it-IT"/>
              <a:t>di r</a:t>
            </a:r>
            <a:r>
              <a:rPr altLang="it-IT" lang="it-IT"/>
              <a:t>icevere denaro o altra utilità o accettare la promessa;</a:t>
            </a:r>
          </a:p>
          <a:p>
            <a:pPr algn="just">
              <a:lnSpc>
                <a:spcPct val="114000"/>
              </a:lnSpc>
              <a:buSzPct val="100000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u="sng">
                <a:solidFill>
                  <a:srgbClr val="FF0000"/>
                </a:solidFill>
              </a:rPr>
              <a:t>(corruttore- privato):</a:t>
            </a:r>
          </a:p>
          <a:p>
            <a:pPr algn="just" indent="-357188" marL="357188">
              <a:lnSpc>
                <a:spcPct val="114000"/>
              </a:lnSpc>
              <a:buSzPct val="100000"/>
              <a:buChar char="-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/>
              <a:t>dare o premettere il </a:t>
            </a:r>
            <a:r>
              <a:rPr altLang="it-IT" b="1" lang="it-IT">
                <a:solidFill>
                  <a:srgbClr val="008000"/>
                </a:solidFill>
              </a:rPr>
              <a:t>compenso</a:t>
            </a:r>
            <a:r>
              <a:rPr altLang="it-IT" lang="it-IT"/>
              <a:t> per uno scopo.</a:t>
            </a:r>
          </a:p>
          <a:p>
            <a:pPr algn="just">
              <a:lnSpc>
                <a:spcPct val="114000"/>
              </a:lnSpc>
              <a:defRPr b="0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</a:t>
            </a:r>
            <a:r>
              <a:rPr b="0" sz="1800" u="none"/>
              <a:t>per </a:t>
            </a:r>
            <a:r>
              <a:rPr b="0" err="1" sz="1800" u="none"/>
              <a:t>quanto</a:t>
            </a:r>
            <a:r>
              <a:rPr b="0" sz="1800" u="none"/>
              <a:t> </a:t>
            </a:r>
            <a:r>
              <a:rPr b="0" err="1" sz="1800" u="none"/>
              <a:t>riguarda</a:t>
            </a:r>
            <a:r>
              <a:rPr b="0" sz="1800" u="none"/>
              <a:t> </a:t>
            </a:r>
            <a:r>
              <a:rPr b="0" err="1" sz="1800" u="none"/>
              <a:t>il</a:t>
            </a:r>
            <a:r>
              <a:rPr b="0" sz="1800" u="none"/>
              <a:t> </a:t>
            </a:r>
            <a:r>
              <a:rPr b="0" err="1" sz="1800" u="none"/>
              <a:t>dolo</a:t>
            </a:r>
            <a:r>
              <a:rPr b="0" sz="1800" u="none"/>
              <a:t> è </a:t>
            </a:r>
            <a:r>
              <a:rPr b="0" err="1" sz="1800" u="none"/>
              <a:t>richiesto</a:t>
            </a:r>
            <a:r>
              <a:rPr b="0" sz="1800" u="none"/>
              <a:t>:</a:t>
            </a:r>
          </a:p>
          <a:p>
            <a:pPr algn="just" indent="-174625" marL="174625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lang="it-IT" sz="1800"/>
              <a:t>Per il </a:t>
            </a:r>
            <a:r>
              <a:rPr altLang="it-IT" lang="it-IT" sz="1800" u="sng">
                <a:solidFill>
                  <a:srgbClr val="FF0000"/>
                </a:solidFill>
              </a:rPr>
              <a:t>CORRUTTORE</a:t>
            </a:r>
            <a:r>
              <a:rPr altLang="it-IT" lang="it-IT" sz="1800"/>
              <a:t>: nella forma antecedente è richiesto il </a:t>
            </a:r>
            <a:r>
              <a:rPr altLang="it-IT" lang="it-IT" sz="1800" u="sng">
                <a:solidFill>
                  <a:srgbClr val="008000"/>
                </a:solidFill>
              </a:rPr>
              <a:t>dolo specifico</a:t>
            </a:r>
            <a:r>
              <a:rPr altLang="it-IT" lang="it-IT" sz="1800"/>
              <a:t>, in quanto gli agenti devono compiere il fatto per il fine indicato nella norma, mentre in quella susseguente è </a:t>
            </a:r>
            <a:r>
              <a:rPr altLang="it-IT" lang="it-IT" sz="1800" u="sng"/>
              <a:t>sufficiente</a:t>
            </a:r>
            <a:r>
              <a:rPr altLang="it-IT" lang="it-IT" sz="1800"/>
              <a:t> il </a:t>
            </a:r>
            <a:r>
              <a:rPr altLang="it-IT" lang="it-IT" sz="1800" u="sng">
                <a:solidFill>
                  <a:srgbClr val="008000"/>
                </a:solidFill>
              </a:rPr>
              <a:t>dolo generico</a:t>
            </a:r>
            <a:r>
              <a:rPr altLang="it-IT" lang="it-IT" sz="1800"/>
              <a:t>.</a:t>
            </a:r>
          </a:p>
          <a:p>
            <a:pPr algn="just" indent="-174625" marL="174625">
              <a:lnSpc>
                <a:spcPct val="114000"/>
              </a:lnSpc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/>
              <a:t>Per </a:t>
            </a:r>
            <a:r>
              <a:rPr err="1" sz="1800"/>
              <a:t>il</a:t>
            </a:r>
            <a:r>
              <a:rPr sz="1800"/>
              <a:t> </a:t>
            </a:r>
            <a:r>
              <a:rPr b="0" sz="1800" u="sng">
                <a:solidFill>
                  <a:srgbClr val="FF0000"/>
                </a:solidFill>
              </a:rPr>
              <a:t>CORROTTO</a:t>
            </a:r>
            <a:r>
              <a:rPr sz="1800"/>
              <a:t>: </a:t>
            </a:r>
            <a:r>
              <a:rPr err="1" sz="1800"/>
              <a:t>il</a:t>
            </a:r>
            <a:r>
              <a:rPr sz="1800"/>
              <a:t> </a:t>
            </a:r>
            <a:r>
              <a:rPr b="1" err="1" sz="1800" u="sng">
                <a:solidFill>
                  <a:srgbClr val="008000"/>
                </a:solidFill>
              </a:rPr>
              <a:t>dolo</a:t>
            </a:r>
            <a:r>
              <a:rPr b="1" sz="1800" u="sng">
                <a:solidFill>
                  <a:srgbClr val="008000"/>
                </a:solidFill>
              </a:rPr>
              <a:t> </a:t>
            </a:r>
            <a:r>
              <a:rPr b="1" err="1" sz="1800" u="sng">
                <a:solidFill>
                  <a:srgbClr val="008000"/>
                </a:solidFill>
              </a:rPr>
              <a:t>generico</a:t>
            </a:r>
            <a:r>
              <a:rPr sz="1800" u="sng"/>
              <a:t>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/>
          </a:p>
          <a:p>
            <a:pPr algn="just">
              <a:lnSpc>
                <a:spcPct val="114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/>
              <a:t>REATO DI DANNO, DI MERA CONDOTTA</a:t>
            </a:r>
          </a:p>
        </p:txBody>
      </p:sp>
      <p:pic>
        <p:nvPicPr>
          <p:cNvPr descr="Immagine 6" id="330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Text Box 5"/>
          <p:cNvSpPr txBox="1"/>
          <p:nvPr/>
        </p:nvSpPr>
        <p:spPr>
          <a:xfrm>
            <a:off x="825746" y="98863"/>
            <a:ext cx="8273685" cy="5209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28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Corruzione per un atto contrario ai doveri di ufficio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asellaDiTesto 13"/>
          <p:cNvSpPr txBox="1"/>
          <p:nvPr/>
        </p:nvSpPr>
        <p:spPr>
          <a:xfrm>
            <a:off x="331440" y="1052736"/>
            <a:ext cx="8552558" cy="5893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Art. 323 </a:t>
            </a:r>
            <a:r>
              <a:rPr err="1"/>
              <a:t>c.p.</a:t>
            </a:r>
            <a:r>
              <a:t> </a:t>
            </a:r>
            <a:r>
              <a:rPr err="1"/>
              <a:t>Abuso</a:t>
            </a:r>
            <a:r>
              <a:t> </a:t>
            </a:r>
            <a:r>
              <a:rPr err="1"/>
              <a:t>d’ufficio</a:t>
            </a:r>
            <a:endParaRPr altLang="it-IT" lang="it-IT"/>
          </a:p>
          <a:p>
            <a:pPr algn="just">
              <a:defRPr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/>
            <a:r>
              <a:rPr altLang="it-IT" b="0" i="1" lang="it-IT" sz="1900"/>
              <a:t>«Salvo che il fatto non costituisca un più grave reato, il </a:t>
            </a:r>
            <a:r>
              <a:rPr altLang="it-IT" b="0" i="1" lang="it-IT" sz="1900" u="sng"/>
              <a:t>P.U.</a:t>
            </a:r>
            <a:r>
              <a:rPr altLang="it-IT" b="0" i="1" lang="it-IT" sz="1900"/>
              <a:t> o l’</a:t>
            </a:r>
            <a:r>
              <a:rPr altLang="it-IT" b="0" i="1" lang="it-IT" sz="1900" u="sng"/>
              <a:t>incaricato di pubblico servizio</a:t>
            </a:r>
            <a:r>
              <a:rPr altLang="it-IT" b="0" i="1" lang="it-IT" sz="1900"/>
              <a:t> che, </a:t>
            </a:r>
            <a:r>
              <a:rPr altLang="it-IT" i="1" lang="it-IT" sz="1900"/>
              <a:t>nello svolgimento delle funzioni o del servizio</a:t>
            </a:r>
            <a:r>
              <a:rPr altLang="it-IT" b="0" i="1" lang="it-IT" sz="1900"/>
              <a:t>, in </a:t>
            </a:r>
            <a:r>
              <a:rPr altLang="it-IT" b="0" i="1" lang="it-IT" sz="1900" u="sng"/>
              <a:t>violazione di specifiche regole di condotta espressamente previste dalla legge o da atti aventi forza di legge</a:t>
            </a:r>
            <a:r>
              <a:rPr altLang="it-IT" b="0" i="1" lang="it-IT" sz="1900"/>
              <a:t> e </a:t>
            </a:r>
            <a:r>
              <a:rPr altLang="it-IT" i="1" lang="it-IT" sz="1900" u="sng"/>
              <a:t>dalle quali non residuino margini di discrezionalità</a:t>
            </a:r>
            <a:r>
              <a:rPr altLang="it-IT" b="0" i="1" lang="it-IT" sz="1900"/>
              <a:t>, ovvero </a:t>
            </a:r>
            <a:r>
              <a:rPr altLang="it-IT" b="0" i="1" lang="it-IT" sz="1900" u="sng"/>
              <a:t>omettendo di astenersi in presenza di un interesse proprio o di un prossimo congiunto o negli altri casi prescrit</a:t>
            </a:r>
            <a:r>
              <a:rPr altLang="it-IT" b="0" i="1" lang="it-IT" sz="1900"/>
              <a:t>ti, intenzionalmente procura a sé o ad altri un ingiusto </a:t>
            </a:r>
            <a:r>
              <a:rPr altLang="it-IT" b="0" i="1" lang="it-IT" sz="1900" u="sng">
                <a:solidFill>
                  <a:srgbClr val="FF0000"/>
                </a:solidFill>
              </a:rPr>
              <a:t>vantaggio patrimoniale</a:t>
            </a:r>
            <a:r>
              <a:rPr altLang="it-IT" b="0" i="1" lang="it-IT" sz="1900"/>
              <a:t> ovvero arreca ad altri un danno ingiusto, è punito con la </a:t>
            </a:r>
            <a:r>
              <a:rPr altLang="it-IT" b="0" i="1" lang="it-IT" sz="1900" u="sng"/>
              <a:t>reclusione</a:t>
            </a:r>
            <a:r>
              <a:rPr altLang="it-IT" b="0" i="1" lang="it-IT" sz="1900"/>
              <a:t> da uno a quattro anni.</a:t>
            </a:r>
          </a:p>
          <a:p>
            <a:pPr algn="just"/>
            <a:r>
              <a:rPr altLang="it-IT" b="0" i="1" lang="it-IT" sz="1900"/>
              <a:t>La pena è aumentata nei casi in cui il vantaggio o il danno hanno carattere di rilevante gravità.»</a:t>
            </a:r>
          </a:p>
          <a:p>
            <a:br>
              <a:rPr altLang="it-IT" b="0" lang="it-IT"/>
            </a:br>
            <a:endParaRPr/>
          </a:p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u="none"/>
              <a:t>:</a:t>
            </a:r>
          </a:p>
          <a:p>
            <a:pPr algn="just" indent="-171450" marL="171450"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Competenza</a:t>
            </a:r>
            <a:r>
              <a:t> </a:t>
            </a:r>
            <a:r>
              <a:rPr err="1"/>
              <a:t>Tribunale</a:t>
            </a:r>
            <a:r>
              <a:t> </a:t>
            </a:r>
            <a:r>
              <a:rPr err="1"/>
              <a:t>collegiale</a:t>
            </a:r>
            <a:endParaRPr/>
          </a:p>
          <a:p>
            <a:pPr algn="just" indent="-171450" marL="171450"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Arresto</a:t>
            </a:r>
            <a:r>
              <a:t> </a:t>
            </a:r>
            <a:r>
              <a:rPr err="1"/>
              <a:t>facoltativo</a:t>
            </a:r>
            <a:r>
              <a:t> </a:t>
            </a:r>
          </a:p>
          <a:p>
            <a:pPr algn="just" indent="-171450" marL="171450"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Fermo</a:t>
            </a:r>
            <a:r>
              <a:t> non </a:t>
            </a:r>
            <a:r>
              <a:rPr err="1"/>
              <a:t>consentito</a:t>
            </a:r>
            <a:r>
              <a:t> </a:t>
            </a:r>
          </a:p>
          <a:p>
            <a:pPr algn="just" indent="-171450" marL="171450">
              <a:buSzPct val="100000"/>
              <a:buFont typeface="Arial"/>
              <a:buChar char="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Procedibilità</a:t>
            </a:r>
            <a:r>
              <a:t> </a:t>
            </a:r>
            <a:r>
              <a:rPr err="1"/>
              <a:t>d’ufficio</a:t>
            </a:r>
            <a:endParaRPr/>
          </a:p>
        </p:txBody>
      </p:sp>
      <p:pic>
        <p:nvPicPr>
          <p:cNvPr descr="Immagine 6" id="334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Abuso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DBCC1F-91BD-4508-8439-BE579E932900}"/>
              </a:ext>
            </a:extLst>
          </p:cNvPr>
          <p:cNvSpPr txBox="1"/>
          <p:nvPr/>
        </p:nvSpPr>
        <p:spPr>
          <a:xfrm>
            <a:off x="5317723" y="4856085"/>
            <a:ext cx="3701990" cy="1600436"/>
          </a:xfrm>
          <a:prstGeom prst="rect">
            <a:avLst/>
          </a:prstGeom>
          <a:noFill/>
          <a:ln cap="flat" w="12700">
            <a:noFill/>
            <a:miter lim="400000"/>
          </a:ln>
          <a:effectLst/>
          <a:sp3d/>
        </p:spPr>
        <p:style>
          <a:lnRef idx="0">
            <a:scrgbClr b="0" g="0" r="0"/>
          </a:lnRef>
          <a:fillRef idx="0">
            <a:scrgbClr b="0" g="0" r="0"/>
          </a:fillRef>
          <a:effectRef idx="0">
            <a:scrgbClr b="0" g="0" r="0"/>
          </a:effectRef>
          <a:fontRef idx="none"/>
        </p:style>
        <p:txBody>
          <a:bodyPr anchor="t" bIns="45719" horzOverflow="overflow" lIns="45719" numCol="1" rIns="45719" rot="0" rtlCol="0" spcCol="38100" spcFirstLastPara="1" tIns="45719" vert="horz" vertOverflow="overflow" wrap="square">
            <a:spAutoFit/>
          </a:bodyPr>
          <a:lstStyle/>
          <a:p>
            <a:pPr algn="just"/>
            <a:r>
              <a:rPr altLang="it-IT" lang="it-IT" sz="1400"/>
              <a:t>Es. - </a:t>
            </a:r>
            <a:r>
              <a:rPr altLang="it-IT" b="0" lang="it-IT" sz="1400"/>
              <a:t>il sindaco che concede un appalto, aggirando le regole pubbliche, per ottenere in cambio un favore.</a:t>
            </a:r>
            <a:endParaRPr altLang="it-IT" b="0" lang="it-IT" sz="1400">
              <a:solidFill>
                <a:schemeClr val="tx1"/>
              </a:solidFill>
            </a:endParaRPr>
          </a:p>
          <a:p>
            <a:pPr algn="just"/>
            <a:endParaRPr altLang="it-IT" b="1" baseline="0" cap="none" i="0" kumimoji="0" lang="it-IT" normalizeH="0" spc="0" strike="noStrike" sz="1400" u="none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  <a:p>
            <a:pPr algn="just" defTabSz="914400" hangingPunct="0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altLang="it-IT" lang="it-IT" sz="1400"/>
              <a:t>- </a:t>
            </a:r>
            <a:r>
              <a:rPr altLang="it-IT" b="0" lang="it-IT" sz="1400"/>
              <a:t>Il dirigente comunale che </a:t>
            </a:r>
            <a:r>
              <a:rPr altLang="it-IT" b="0" lang="it-IT" sz="1400" u="sng"/>
              <a:t>assume un familiare, favorendolo a discapito </a:t>
            </a:r>
            <a:r>
              <a:rPr altLang="it-IT" b="0" lang="it-IT" sz="1400"/>
              <a:t>di altri candidati in possesso di requisiti più adeguati.</a:t>
            </a:r>
            <a:endParaRPr altLang="it-IT" b="0" baseline="0" cap="none" i="0" kumimoji="0" lang="it-IT" normalizeH="0" spc="0" strike="noStrike" sz="1400" u="none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82DF57-49D5-48BD-92FE-72D24FA21B0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457200" y="1377244"/>
            <a:ext cx="8229600" cy="4748919"/>
          </a:xfrm>
        </p:spPr>
        <p:txBody>
          <a:bodyPr numCol="1">
            <a:normAutofit fontScale="85000" lnSpcReduction="10000"/>
          </a:bodyPr>
          <a:lstStyle/>
          <a:p>
            <a:pPr algn="just" indent="0" marL="0">
              <a:buNone/>
            </a:pPr>
            <a:r>
              <a:rPr altLang="it-IT" b="1" dirty="0" lang="it-IT" u="sng">
                <a:solidFill>
                  <a:srgbClr val="FF0000"/>
                </a:solidFill>
              </a:rPr>
              <a:t>L</a:t>
            </a:r>
            <a:r>
              <a:rPr altLang="ar-SA" b="1" dirty="0" lang="ar-SA" u="sng">
                <a:solidFill>
                  <a:srgbClr val="FF0000"/>
                </a:solidFill>
              </a:rPr>
              <a:t>’</a:t>
            </a:r>
            <a:r>
              <a:rPr altLang="it-IT" b="1" dirty="0" lang="it-IT" u="sng">
                <a:solidFill>
                  <a:srgbClr val="FF0000"/>
                </a:solidFill>
              </a:rPr>
              <a:t>art.  23 del D.L. 76/2020 (convertito con L. 120/2020) </a:t>
            </a:r>
          </a:p>
          <a:p>
            <a:pPr algn="just" indent="0" marL="0">
              <a:buNone/>
            </a:pPr>
            <a:endParaRPr altLang="it-IT" b="1" dirty="0" lang="it-IT" u="sng">
              <a:solidFill>
                <a:srgbClr val="FF0000"/>
              </a:solidFill>
            </a:endParaRPr>
          </a:p>
          <a:p>
            <a:pPr algn="just" indent="0" marL="0">
              <a:buNone/>
            </a:pPr>
            <a:r>
              <a:rPr altLang="it-IT" dirty="0" lang="it-IT"/>
              <a:t>ha modificato la disciplina del delitto di abuso di ufficio per circoscrivere l</a:t>
            </a:r>
            <a:r>
              <a:rPr altLang="ar-SA" dirty="0" lang="ar-SA"/>
              <a:t>’</a:t>
            </a:r>
            <a:r>
              <a:rPr altLang="it-IT" dirty="0" lang="it-IT"/>
              <a:t>ambito di applicazione della fattispecie. Per </a:t>
            </a:r>
            <a:r>
              <a:rPr altLang="it-IT" b="1" dirty="0" lang="it-IT"/>
              <a:t>determinare l</a:t>
            </a:r>
            <a:r>
              <a:rPr altLang="ar-SA" b="1" dirty="0" lang="ar-SA"/>
              <a:t>’</a:t>
            </a:r>
            <a:r>
              <a:rPr altLang="pt-PT" b="1" dirty="0" lang="pt-PT"/>
              <a:t>illiceit</a:t>
            </a:r>
            <a:r>
              <a:rPr altLang="it-IT" b="1" dirty="0" lang="it-IT"/>
              <a:t>à della condotta</a:t>
            </a:r>
            <a:r>
              <a:rPr altLang="it-IT" dirty="0" lang="it-IT"/>
              <a:t> del pubblico ufficiale o </a:t>
            </a:r>
            <a:r>
              <a:rPr altLang="it-IT" dirty="0" err="1" lang="it-IT"/>
              <a:t>dell</a:t>
            </a:r>
            <a:r>
              <a:rPr altLang="ar-SA" dirty="0" lang="ar-SA"/>
              <a:t>’</a:t>
            </a:r>
            <a:r>
              <a:rPr altLang="it-IT" dirty="0" lang="it-IT"/>
              <a:t>incaricato di pubblico servizio, </a:t>
            </a:r>
            <a:r>
              <a:rPr altLang="it-IT" b="1" dirty="0" lang="it-IT"/>
              <a:t>nello svolgimento delle sue funzioni,</a:t>
            </a:r>
            <a:r>
              <a:rPr altLang="it-IT" dirty="0" lang="it-IT"/>
              <a:t> viene attribuita </a:t>
            </a:r>
            <a:r>
              <a:rPr altLang="it-IT" b="1" dirty="0" lang="it-IT"/>
              <a:t>rilevanza</a:t>
            </a:r>
            <a:r>
              <a:rPr altLang="it-IT" dirty="0" lang="it-IT"/>
              <a:t> non più alla violazione di norme di legge o di regolamento, </a:t>
            </a:r>
            <a:r>
              <a:rPr altLang="it-IT" dirty="0" lang="it-IT" u="sng">
                <a:solidFill>
                  <a:srgbClr val="0070C0"/>
                </a:solidFill>
              </a:rPr>
              <a:t>bensì alla </a:t>
            </a:r>
            <a:r>
              <a:rPr altLang="it-IT" b="1" dirty="0" lang="it-IT" u="sng">
                <a:solidFill>
                  <a:srgbClr val="0070C0"/>
                </a:solidFill>
              </a:rPr>
              <a:t>violazione di specifiche regole di condotta espressamente previste dalla legge o da atti aventi forza di legge</a:t>
            </a:r>
            <a:r>
              <a:rPr altLang="it-IT" dirty="0" lang="it-IT"/>
              <a:t>, dalle quali non residuino margini di discrezionalità per il soggetto agente.</a:t>
            </a:r>
          </a:p>
          <a:p>
            <a:endParaRPr altLang="it-IT" dirty="0" lang="it-IT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553A564-202E-42BA-9584-2282712D5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386"/>
            <a:ext cx="5063067" cy="58245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 wrap="square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Abuso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pic>
        <p:nvPicPr>
          <p:cNvPr descr="Immagine 6" id="5" name="Immagine 6">
            <a:extLst>
              <a:ext uri="{FF2B5EF4-FFF2-40B4-BE49-F238E27FC236}">
                <a16:creationId xmlns:a16="http://schemas.microsoft.com/office/drawing/2014/main" id="{EA28B6D6-F9DE-40DF-9136-B8A37F89F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8961615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asellaDiTesto 13"/>
          <p:cNvSpPr txBox="1"/>
          <p:nvPr/>
        </p:nvSpPr>
        <p:spPr>
          <a:xfrm>
            <a:off x="331440" y="1285859"/>
            <a:ext cx="8552558" cy="4693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</a:t>
            </a:r>
            <a:r>
              <a:rPr err="1"/>
              <a:t>norma</a:t>
            </a:r>
            <a:r>
              <a:t> </a:t>
            </a:r>
            <a:r>
              <a:rPr err="1"/>
              <a:t>si</a:t>
            </a:r>
            <a:r>
              <a:t> </a:t>
            </a:r>
            <a:r>
              <a:rPr err="1"/>
              <a:t>apre</a:t>
            </a:r>
            <a:r>
              <a:t> con una </a:t>
            </a:r>
            <a:r>
              <a:rPr b="1" err="1">
                <a:solidFill>
                  <a:srgbClr val="7030A0"/>
                </a:solidFill>
              </a:rPr>
              <a:t>clausola</a:t>
            </a:r>
            <a:r>
              <a:rPr b="1">
                <a:solidFill>
                  <a:srgbClr val="7030A0"/>
                </a:solidFill>
              </a:rPr>
              <a:t> di </a:t>
            </a:r>
            <a:r>
              <a:rPr b="1" err="1">
                <a:solidFill>
                  <a:srgbClr val="7030A0"/>
                </a:solidFill>
              </a:rPr>
              <a:t>consunzione</a:t>
            </a:r>
            <a:r>
              <a:rPr u="sng"/>
              <a:t>: </a:t>
            </a:r>
            <a:r>
              <a:rPr i="1" u="sng"/>
              <a:t>“salvo </a:t>
            </a:r>
            <a:r>
              <a:rPr err="1" i="1" u="sng"/>
              <a:t>che</a:t>
            </a:r>
            <a:r>
              <a:rPr i="1" u="sng"/>
              <a:t> </a:t>
            </a:r>
            <a:r>
              <a:rPr err="1" i="1" u="sng"/>
              <a:t>il</a:t>
            </a:r>
            <a:r>
              <a:rPr i="1" u="sng"/>
              <a:t> </a:t>
            </a:r>
            <a:r>
              <a:rPr err="1" i="1" u="sng"/>
              <a:t>fatto</a:t>
            </a:r>
            <a:r>
              <a:rPr i="1" u="sng"/>
              <a:t> non </a:t>
            </a:r>
            <a:r>
              <a:rPr err="1" i="1" u="sng"/>
              <a:t>costituisca</a:t>
            </a:r>
            <a:r>
              <a:rPr i="1" u="sng"/>
              <a:t> </a:t>
            </a:r>
            <a:r>
              <a:rPr err="1" i="1" u="sng"/>
              <a:t>più</a:t>
            </a:r>
            <a:r>
              <a:rPr i="1" u="sng"/>
              <a:t> grave </a:t>
            </a:r>
            <a:r>
              <a:rPr err="1" i="1" u="sng"/>
              <a:t>reato</a:t>
            </a:r>
            <a:r>
              <a:rPr i="1" u="sng"/>
              <a:t>”</a:t>
            </a:r>
            <a:r>
              <a:rPr u="sng"/>
              <a:t>.</a:t>
            </a:r>
            <a:r>
              <a:rPr b="1"/>
              <a:t> </a:t>
            </a:r>
            <a:r>
              <a:t>E’ una formula </a:t>
            </a:r>
            <a:r>
              <a:rPr err="1"/>
              <a:t>che</a:t>
            </a:r>
            <a:r>
              <a:t> </a:t>
            </a:r>
            <a:r>
              <a:rPr err="1"/>
              <a:t>esprime</a:t>
            </a:r>
            <a:r>
              <a:t> </a:t>
            </a:r>
            <a:r>
              <a:rPr err="1"/>
              <a:t>l’idea</a:t>
            </a:r>
            <a:r>
              <a:t> </a:t>
            </a:r>
            <a:r>
              <a:rPr err="1"/>
              <a:t>che</a:t>
            </a:r>
            <a:r>
              <a:t> la </a:t>
            </a:r>
            <a:r>
              <a:rPr err="1"/>
              <a:t>fattispecie</a:t>
            </a:r>
            <a:r>
              <a:t> in </a:t>
            </a:r>
            <a:r>
              <a:rPr err="1"/>
              <a:t>commento</a:t>
            </a:r>
            <a:r>
              <a:t> </a:t>
            </a:r>
            <a:r>
              <a:rPr err="1"/>
              <a:t>possieda</a:t>
            </a:r>
            <a:r>
              <a:t> un </a:t>
            </a:r>
            <a:r>
              <a:rPr b="1" err="1">
                <a:solidFill>
                  <a:srgbClr val="7030A0"/>
                </a:solidFill>
              </a:rPr>
              <a:t>ruolo</a:t>
            </a:r>
            <a:r>
              <a:rPr b="1">
                <a:solidFill>
                  <a:srgbClr val="7030A0"/>
                </a:solidFill>
              </a:rPr>
              <a:t> </a:t>
            </a:r>
            <a:r>
              <a:rPr b="1" err="1">
                <a:solidFill>
                  <a:srgbClr val="7030A0"/>
                </a:solidFill>
              </a:rPr>
              <a:t>sussidiario</a:t>
            </a:r>
            <a:r>
              <a:rPr b="1">
                <a:solidFill>
                  <a:srgbClr val="7030A0"/>
                </a:solidFill>
              </a:rPr>
              <a:t>, </a:t>
            </a:r>
            <a:r>
              <a:rPr b="1" err="1">
                <a:solidFill>
                  <a:srgbClr val="7030A0"/>
                </a:solidFill>
              </a:rPr>
              <a:t>residuale</a:t>
            </a:r>
            <a:r>
              <a:rPr b="1">
                <a:solidFill>
                  <a:srgbClr val="7030A0"/>
                </a:solidFill>
              </a:rPr>
              <a:t> </a:t>
            </a:r>
            <a:r>
              <a:t>rispetto a </a:t>
            </a:r>
            <a:r>
              <a:rPr err="1"/>
              <a:t>fatti</a:t>
            </a:r>
            <a:r>
              <a:t> </a:t>
            </a:r>
            <a:r>
              <a:rPr err="1"/>
              <a:t>abusivi</a:t>
            </a:r>
            <a:r>
              <a:t>, </a:t>
            </a:r>
            <a:r>
              <a:rPr err="1"/>
              <a:t>che</a:t>
            </a:r>
            <a:r>
              <a:t> </a:t>
            </a:r>
            <a:r>
              <a:rPr err="1"/>
              <a:t>integrino</a:t>
            </a:r>
            <a:r>
              <a:t> </a:t>
            </a:r>
            <a:r>
              <a:rPr err="1"/>
              <a:t>gli</a:t>
            </a:r>
            <a:r>
              <a:t> </a:t>
            </a:r>
            <a:r>
              <a:rPr err="1"/>
              <a:t>estremi</a:t>
            </a:r>
            <a:r>
              <a:t> di </a:t>
            </a:r>
            <a:r>
              <a:rPr err="1"/>
              <a:t>più</a:t>
            </a:r>
            <a:r>
              <a:t> </a:t>
            </a:r>
            <a:r>
              <a:rPr err="1"/>
              <a:t>gravi</a:t>
            </a:r>
            <a:r>
              <a:t> </a:t>
            </a:r>
            <a:r>
              <a:rPr err="1"/>
              <a:t>reato</a:t>
            </a:r>
            <a:r>
              <a:t> </a:t>
            </a:r>
            <a:r>
              <a:rPr err="1"/>
              <a:t>contro</a:t>
            </a:r>
            <a:r>
              <a:t> la </a:t>
            </a:r>
            <a:r>
              <a:rPr err="1"/>
              <a:t>pubblica</a:t>
            </a:r>
            <a:r>
              <a:t> </a:t>
            </a:r>
            <a:r>
              <a:rPr err="1"/>
              <a:t>amministrazione</a:t>
            </a:r>
            <a:r>
              <a:t> (es. </a:t>
            </a:r>
            <a:r>
              <a:rPr err="1"/>
              <a:t>corruzione</a:t>
            </a:r>
            <a:r>
              <a:t> o </a:t>
            </a:r>
            <a:r>
              <a:rPr err="1"/>
              <a:t>concussione</a:t>
            </a:r>
            <a:r>
              <a:t>).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</a:t>
            </a:r>
            <a:r>
              <a:rPr err="1"/>
              <a:t>tratta</a:t>
            </a:r>
            <a:r>
              <a:t> di un </a:t>
            </a:r>
            <a:r>
              <a:rPr b="1">
                <a:solidFill>
                  <a:srgbClr val="7030A0"/>
                </a:solidFill>
              </a:rPr>
              <a:t>REATO PROPRIO</a:t>
            </a:r>
            <a:r>
              <a:t>.</a:t>
            </a:r>
          </a:p>
          <a:p>
            <a:pPr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E’ un </a:t>
            </a:r>
            <a:r>
              <a:rPr b="1">
                <a:solidFill>
                  <a:srgbClr val="7030A0"/>
                </a:solidFill>
              </a:rPr>
              <a:t>REATO PLURIOFFENSIVO </a:t>
            </a:r>
            <a:r>
              <a:t>in </a:t>
            </a:r>
            <a:r>
              <a:rPr err="1"/>
              <a:t>quanto</a:t>
            </a:r>
            <a:r>
              <a:t> tutela:</a:t>
            </a:r>
          </a:p>
          <a:p>
            <a:pPr indent="-457200" marL="457200">
              <a:lnSpc>
                <a:spcPct val="114000"/>
              </a:lnSpc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Interesse </a:t>
            </a:r>
            <a:r>
              <a:rPr err="1"/>
              <a:t>alla</a:t>
            </a:r>
            <a:r>
              <a:t> </a:t>
            </a:r>
            <a:r>
              <a:rPr err="1"/>
              <a:t>correttezza</a:t>
            </a:r>
            <a:r>
              <a:t> del </a:t>
            </a:r>
            <a:r>
              <a:rPr err="1"/>
              <a:t>pubblico</a:t>
            </a:r>
            <a:r>
              <a:t> </a:t>
            </a:r>
            <a:r>
              <a:rPr err="1"/>
              <a:t>ufficiale</a:t>
            </a:r>
            <a:r>
              <a:t>;</a:t>
            </a:r>
          </a:p>
          <a:p>
            <a:pPr indent="-457200" marL="457200">
              <a:lnSpc>
                <a:spcPct val="114000"/>
              </a:lnSpc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Interesse al </a:t>
            </a:r>
            <a:r>
              <a:rPr err="1"/>
              <a:t>buon</a:t>
            </a:r>
            <a:r>
              <a:t> </a:t>
            </a:r>
            <a:r>
              <a:rPr err="1"/>
              <a:t>andamento</a:t>
            </a:r>
            <a:r>
              <a:t> e </a:t>
            </a:r>
            <a:r>
              <a:rPr err="1"/>
              <a:t>all’imparzialità</a:t>
            </a:r>
            <a:r>
              <a:t> </a:t>
            </a:r>
            <a:r>
              <a:rPr err="1"/>
              <a:t>della</a:t>
            </a:r>
            <a:r>
              <a:t> </a:t>
            </a:r>
            <a:r>
              <a:rPr err="1"/>
              <a:t>pubblica</a:t>
            </a:r>
            <a:r>
              <a:t> </a:t>
            </a:r>
            <a:r>
              <a:rPr err="1"/>
              <a:t>amministrazione</a:t>
            </a:r>
            <a:r>
              <a:t>.</a:t>
            </a:r>
          </a:p>
        </p:txBody>
      </p:sp>
      <p:pic>
        <p:nvPicPr>
          <p:cNvPr descr="Immagine 6" id="338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3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Abuso d’ufficio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egnaposto contenuto 2"/>
          <p:cNvSpPr txBox="1">
            <a:spLocks noGrp="1"/>
          </p:cNvSpPr>
          <p:nvPr>
            <p:ph idx="1" type="body"/>
          </p:nvPr>
        </p:nvSpPr>
        <p:spPr>
          <a:xfrm>
            <a:off x="106897" y="908719"/>
            <a:ext cx="8899646" cy="5661250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/>
          <a:p>
            <a:pPr algn="just" indent="0" marL="0">
              <a:lnSpc>
                <a:spcPct val="114000"/>
              </a:lnSpc>
              <a:spcBef>
                <a:spcPts val="0"/>
              </a:spcBef>
              <a:buSzTx/>
              <a:buNone/>
              <a:defRPr b="1"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</a:t>
            </a:r>
            <a:r>
              <a:rPr b="0" u="none"/>
              <a:t>: </a:t>
            </a:r>
            <a:r>
              <a:rPr b="0" err="1" u="none"/>
              <a:t>sono</a:t>
            </a:r>
            <a:r>
              <a:rPr b="0" u="none"/>
              <a:t> due le </a:t>
            </a:r>
            <a:r>
              <a:rPr b="0" err="1" u="none"/>
              <a:t>condotte</a:t>
            </a:r>
            <a:r>
              <a:rPr b="0" u="none"/>
              <a:t> </a:t>
            </a:r>
            <a:r>
              <a:rPr b="0" err="1" u="none"/>
              <a:t>sanzionate</a:t>
            </a:r>
            <a:r>
              <a:rPr b="0" u="none"/>
              <a:t>: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Tx/>
              <a:buChar char="➢"/>
              <a:defRPr b="1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Procurare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0">
                <a:solidFill>
                  <a:srgbClr val="000000"/>
                </a:solidFill>
              </a:rPr>
              <a:t>(</a:t>
            </a:r>
            <a:r>
              <a:rPr b="0" err="1">
                <a:solidFill>
                  <a:srgbClr val="000000"/>
                </a:solidFill>
              </a:rPr>
              <a:t>condotta</a:t>
            </a:r>
            <a:r>
              <a:rPr b="0">
                <a:solidFill>
                  <a:srgbClr val="000000"/>
                </a:solidFill>
              </a:rPr>
              <a:t>) a </a:t>
            </a:r>
            <a:r>
              <a:rPr b="0" err="1">
                <a:solidFill>
                  <a:srgbClr val="000000"/>
                </a:solidFill>
              </a:rPr>
              <a:t>sé</a:t>
            </a:r>
            <a:r>
              <a:rPr b="0">
                <a:solidFill>
                  <a:srgbClr val="000000"/>
                </a:solidFill>
              </a:rPr>
              <a:t> o ad </a:t>
            </a:r>
            <a:r>
              <a:rPr b="0" err="1">
                <a:solidFill>
                  <a:srgbClr val="000000"/>
                </a:solidFill>
              </a:rPr>
              <a:t>altri</a:t>
            </a:r>
            <a:r>
              <a:rPr b="0">
                <a:solidFill>
                  <a:srgbClr val="000000"/>
                </a:solidFill>
              </a:rPr>
              <a:t> un</a:t>
            </a:r>
            <a:r>
              <a:rPr>
                <a:solidFill>
                  <a:srgbClr val="000000"/>
                </a:solidFill>
              </a:rPr>
              <a:t> </a:t>
            </a:r>
            <a:r>
              <a:rPr err="1"/>
              <a:t>ingiusto</a:t>
            </a:r>
            <a:r>
              <a:t> </a:t>
            </a:r>
            <a:r>
              <a:rPr err="1"/>
              <a:t>vantaggio</a:t>
            </a:r>
            <a:r>
              <a:t> </a:t>
            </a:r>
          </a:p>
          <a:p>
            <a:pPr algn="just" indent="357188" marL="0">
              <a:lnSpc>
                <a:spcPct val="114000"/>
              </a:lnSpc>
              <a:spcBef>
                <a:spcPts val="0"/>
              </a:spcBef>
              <a:buSzTx/>
              <a:buNone/>
              <a:defRPr b="1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patrimoniale</a:t>
            </a:r>
            <a:r>
              <a:t> </a:t>
            </a:r>
            <a:r>
              <a:rPr b="0">
                <a:solidFill>
                  <a:srgbClr val="000000"/>
                </a:solidFill>
              </a:rPr>
              <a:t>(</a:t>
            </a:r>
            <a:r>
              <a:rPr b="0" err="1">
                <a:solidFill>
                  <a:srgbClr val="000000"/>
                </a:solidFill>
              </a:rPr>
              <a:t>evento</a:t>
            </a:r>
            <a:r>
              <a:rPr b="0">
                <a:solidFill>
                  <a:srgbClr val="000000"/>
                </a:solidFill>
              </a:rPr>
              <a:t>)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FontTx/>
              <a:buChar char="➢"/>
              <a:defRPr b="1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Arrecare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0">
                <a:solidFill>
                  <a:srgbClr val="000000"/>
                </a:solidFill>
              </a:rPr>
              <a:t>(</a:t>
            </a:r>
            <a:r>
              <a:rPr b="0" err="1">
                <a:solidFill>
                  <a:srgbClr val="000000"/>
                </a:solidFill>
              </a:rPr>
              <a:t>condotta</a:t>
            </a:r>
            <a:r>
              <a:rPr b="0">
                <a:solidFill>
                  <a:srgbClr val="000000"/>
                </a:solidFill>
              </a:rPr>
              <a:t>) ad </a:t>
            </a:r>
            <a:r>
              <a:rPr b="0" err="1">
                <a:solidFill>
                  <a:srgbClr val="000000"/>
                </a:solidFill>
              </a:rPr>
              <a:t>altri</a:t>
            </a:r>
            <a:r>
              <a:rPr b="0">
                <a:solidFill>
                  <a:srgbClr val="000000"/>
                </a:solidFill>
              </a:rPr>
              <a:t> un </a:t>
            </a:r>
            <a:r>
              <a:rPr err="1"/>
              <a:t>danno</a:t>
            </a:r>
            <a:r>
              <a:t> </a:t>
            </a:r>
            <a:r>
              <a:rPr err="1"/>
              <a:t>ingiusto</a:t>
            </a:r>
            <a:r>
              <a:t> </a:t>
            </a:r>
            <a:r>
              <a:rPr b="0">
                <a:solidFill>
                  <a:srgbClr val="000000"/>
                </a:solidFill>
              </a:rPr>
              <a:t>(</a:t>
            </a:r>
            <a:r>
              <a:rPr b="0" err="1">
                <a:solidFill>
                  <a:srgbClr val="000000"/>
                </a:solidFill>
              </a:rPr>
              <a:t>evento</a:t>
            </a:r>
            <a:r>
              <a:rPr b="0">
                <a:solidFill>
                  <a:srgbClr val="000000"/>
                </a:solidFill>
              </a:rPr>
              <a:t>)</a:t>
            </a:r>
          </a:p>
          <a:p>
            <a:pPr algn="just" indent="0" marL="0">
              <a:lnSpc>
                <a:spcPct val="114000"/>
              </a:lnSpc>
              <a:spcBef>
                <a:spcPts val="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entrambe</a:t>
            </a:r>
            <a:r>
              <a:t> </a:t>
            </a:r>
            <a:r>
              <a:rPr err="1"/>
              <a:t>realizzate</a:t>
            </a:r>
            <a:r>
              <a:t>, </a:t>
            </a:r>
            <a:r>
              <a:rPr err="1"/>
              <a:t>nello</a:t>
            </a:r>
            <a:r>
              <a:t> </a:t>
            </a:r>
            <a:r>
              <a:rPr b="1" err="1"/>
              <a:t>svolgimento</a:t>
            </a:r>
            <a:r>
              <a:rPr b="1"/>
              <a:t> </a:t>
            </a:r>
            <a:r>
              <a:rPr b="1" err="1"/>
              <a:t>delle</a:t>
            </a:r>
            <a:r>
              <a:rPr b="1"/>
              <a:t> </a:t>
            </a:r>
            <a:r>
              <a:rPr b="1" err="1"/>
              <a:t>funzioni</a:t>
            </a:r>
            <a:r>
              <a:rPr b="1"/>
              <a:t> o del </a:t>
            </a:r>
            <a:r>
              <a:rPr b="1" err="1"/>
              <a:t>servizio</a:t>
            </a:r>
            <a:r>
              <a:t>,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Tx/>
              <a:buChar char="-"/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</a:t>
            </a:r>
            <a:r>
              <a:rPr err="1"/>
              <a:t>violazione</a:t>
            </a:r>
            <a:r>
              <a:t> di </a:t>
            </a:r>
            <a:r>
              <a:rPr altLang="it-IT" lang="it-IT"/>
              <a:t>di specifiche regole di condotta espressamente previste dalla legge o da atti aventi forza di legge, dalle quali non residuino margini di discrezionalità.</a:t>
            </a: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buFontTx/>
              <a:buChar char="-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err="1"/>
              <a:t>ovvero</a:t>
            </a:r>
            <a:r>
              <a:t> </a:t>
            </a:r>
            <a:r>
              <a:rPr b="1" err="1"/>
              <a:t>omettendo</a:t>
            </a:r>
            <a:r>
              <a:rPr b="1"/>
              <a:t> di </a:t>
            </a:r>
            <a:r>
              <a:rPr b="1" err="1"/>
              <a:t>astenersi</a:t>
            </a:r>
            <a:r>
              <a:rPr b="1"/>
              <a:t> </a:t>
            </a:r>
            <a:r>
              <a:t>in </a:t>
            </a:r>
            <a:r>
              <a:rPr err="1"/>
              <a:t>presenza</a:t>
            </a:r>
            <a:r>
              <a:t> di un interesse</a:t>
            </a: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None/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None/>
              <a:defRPr b="1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OMETTERE DI ASTENERSI </a:t>
            </a:r>
            <a:r>
              <a:rPr b="0">
                <a:solidFill>
                  <a:srgbClr val="000000"/>
                </a:solidFill>
              </a:rPr>
              <a:t>= fare </a:t>
            </a:r>
            <a:r>
              <a:rPr b="0" err="1">
                <a:solidFill>
                  <a:srgbClr val="000000"/>
                </a:solidFill>
              </a:rPr>
              <a:t>qualcosa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che</a:t>
            </a:r>
            <a:r>
              <a:rPr b="0">
                <a:solidFill>
                  <a:srgbClr val="000000"/>
                </a:solidFill>
              </a:rPr>
              <a:t> non </a:t>
            </a:r>
            <a:r>
              <a:rPr b="0" err="1">
                <a:solidFill>
                  <a:srgbClr val="000000"/>
                </a:solidFill>
              </a:rPr>
              <a:t>si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doveva</a:t>
            </a:r>
            <a:r>
              <a:rPr b="0">
                <a:solidFill>
                  <a:srgbClr val="000000"/>
                </a:solidFill>
              </a:rPr>
              <a:t> fare, la </a:t>
            </a:r>
            <a:r>
              <a:rPr b="0" err="1">
                <a:solidFill>
                  <a:srgbClr val="000000"/>
                </a:solidFill>
              </a:rPr>
              <a:t>condotta</a:t>
            </a:r>
            <a:r>
              <a:rPr b="0">
                <a:solidFill>
                  <a:srgbClr val="000000"/>
                </a:solidFill>
              </a:rPr>
              <a:t> è </a:t>
            </a:r>
            <a:r>
              <a:rPr b="0" err="1">
                <a:solidFill>
                  <a:srgbClr val="000000"/>
                </a:solidFill>
              </a:rPr>
              <a:t>quindi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err="1" u="sng">
                <a:solidFill>
                  <a:srgbClr val="000000"/>
                </a:solidFill>
              </a:rPr>
              <a:t>attiva</a:t>
            </a:r>
            <a:r>
              <a:rPr b="0">
                <a:solidFill>
                  <a:srgbClr val="000000"/>
                </a:solidFill>
              </a:rPr>
              <a:t> e non </a:t>
            </a:r>
            <a:r>
              <a:rPr b="0" err="1">
                <a:solidFill>
                  <a:srgbClr val="000000"/>
                </a:solidFill>
              </a:rPr>
              <a:t>omissiva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causalmente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orientata</a:t>
            </a:r>
            <a:r>
              <a:rPr b="0">
                <a:solidFill>
                  <a:srgbClr val="000000"/>
                </a:solidFill>
              </a:rPr>
              <a:t> verso la </a:t>
            </a:r>
            <a:r>
              <a:rPr b="0" err="1">
                <a:solidFill>
                  <a:srgbClr val="000000"/>
                </a:solidFill>
              </a:rPr>
              <a:t>produzione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dell’evento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tipico</a:t>
            </a:r>
            <a:r>
              <a:rPr b="0">
                <a:solidFill>
                  <a:srgbClr val="000000"/>
                </a:solidFill>
              </a:rPr>
              <a:t> (</a:t>
            </a:r>
            <a:r>
              <a:rPr b="0" err="1">
                <a:solidFill>
                  <a:srgbClr val="000000"/>
                </a:solidFill>
              </a:rPr>
              <a:t>l’ingiusto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danno</a:t>
            </a:r>
            <a:r>
              <a:rPr b="0">
                <a:solidFill>
                  <a:srgbClr val="000000"/>
                </a:solidFill>
              </a:rPr>
              <a:t> o </a:t>
            </a:r>
            <a:r>
              <a:rPr b="0" err="1">
                <a:solidFill>
                  <a:srgbClr val="000000"/>
                </a:solidFill>
              </a:rPr>
              <a:t>l’ingiusto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vantaggio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patrimoniale</a:t>
            </a:r>
            <a:r>
              <a:rPr b="0">
                <a:solidFill>
                  <a:srgbClr val="000000"/>
                </a:solidFill>
              </a:rPr>
              <a:t>). Non vi è </a:t>
            </a:r>
            <a:r>
              <a:rPr b="0" err="1">
                <a:solidFill>
                  <a:srgbClr val="000000"/>
                </a:solidFill>
              </a:rPr>
              <a:t>alcun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dubbio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peraltro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che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l’attuale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formulazione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dell’abuso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d’ufficio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possa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configurarsi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err="1" u="sng">
                <a:solidFill>
                  <a:srgbClr val="000000"/>
                </a:solidFill>
              </a:rPr>
              <a:t>anche</a:t>
            </a:r>
            <a:r>
              <a:rPr u="sng">
                <a:solidFill>
                  <a:srgbClr val="000000"/>
                </a:solidFill>
              </a:rPr>
              <a:t> </a:t>
            </a:r>
            <a:r>
              <a:rPr err="1" u="sng">
                <a:solidFill>
                  <a:srgbClr val="000000"/>
                </a:solidFill>
              </a:rPr>
              <a:t>mediante</a:t>
            </a:r>
            <a:r>
              <a:rPr u="sng">
                <a:solidFill>
                  <a:srgbClr val="000000"/>
                </a:solidFill>
              </a:rPr>
              <a:t> una </a:t>
            </a:r>
            <a:r>
              <a:rPr err="1" u="sng">
                <a:solidFill>
                  <a:srgbClr val="000000"/>
                </a:solidFill>
              </a:rPr>
              <a:t>omissione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sempre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che</a:t>
            </a:r>
            <a:r>
              <a:rPr b="0">
                <a:solidFill>
                  <a:srgbClr val="000000"/>
                </a:solidFill>
              </a:rPr>
              <a:t>, </a:t>
            </a:r>
            <a:r>
              <a:rPr b="0" err="1">
                <a:solidFill>
                  <a:srgbClr val="000000"/>
                </a:solidFill>
              </a:rPr>
              <a:t>ovviamente</a:t>
            </a:r>
            <a:r>
              <a:rPr b="0">
                <a:solidFill>
                  <a:srgbClr val="000000"/>
                </a:solidFill>
              </a:rPr>
              <a:t>, la </a:t>
            </a:r>
            <a:r>
              <a:rPr b="0" err="1">
                <a:solidFill>
                  <a:srgbClr val="000000"/>
                </a:solidFill>
              </a:rPr>
              <a:t>norma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legislativa</a:t>
            </a:r>
            <a:r>
              <a:rPr b="0">
                <a:solidFill>
                  <a:srgbClr val="000000"/>
                </a:solidFill>
              </a:rPr>
              <a:t> o </a:t>
            </a:r>
            <a:r>
              <a:rPr b="0" err="1">
                <a:solidFill>
                  <a:srgbClr val="000000"/>
                </a:solidFill>
              </a:rPr>
              <a:t>regolamentare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violata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abbia</a:t>
            </a:r>
            <a:r>
              <a:rPr b="0">
                <a:solidFill>
                  <a:srgbClr val="000000"/>
                </a:solidFill>
              </a:rPr>
              <a:t> come </a:t>
            </a:r>
            <a:r>
              <a:rPr b="0" err="1">
                <a:solidFill>
                  <a:srgbClr val="000000"/>
                </a:solidFill>
              </a:rPr>
              <a:t>contenuto</a:t>
            </a:r>
            <a:r>
              <a:rPr b="0">
                <a:solidFill>
                  <a:srgbClr val="000000"/>
                </a:solidFill>
              </a:rPr>
              <a:t> un </a:t>
            </a:r>
            <a:r>
              <a:rPr b="0" err="1">
                <a:solidFill>
                  <a:srgbClr val="000000"/>
                </a:solidFill>
              </a:rPr>
              <a:t>obbligo</a:t>
            </a:r>
            <a:r>
              <a:rPr b="0">
                <a:solidFill>
                  <a:srgbClr val="000000"/>
                </a:solidFill>
              </a:rPr>
              <a:t> di fare </a:t>
            </a:r>
            <a:r>
              <a:rPr b="0" err="1">
                <a:solidFill>
                  <a:srgbClr val="000000"/>
                </a:solidFill>
              </a:rPr>
              <a:t>che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il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funzionario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pubblico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rPr b="0" err="1">
                <a:solidFill>
                  <a:srgbClr val="000000"/>
                </a:solidFill>
              </a:rPr>
              <a:t>disattende</a:t>
            </a:r>
            <a:r>
              <a:rPr b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descr="Immagine 5" id="342" name="Immagin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Abuso d’ufficio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egnaposto contenuto 2"/>
          <p:cNvSpPr txBox="1">
            <a:spLocks noGrp="1"/>
          </p:cNvSpPr>
          <p:nvPr>
            <p:ph idx="1" type="body"/>
          </p:nvPr>
        </p:nvSpPr>
        <p:spPr>
          <a:xfrm>
            <a:off x="53449" y="1052735"/>
            <a:ext cx="9037103" cy="5661250"/>
          </a:xfrm>
          <a:prstGeom prst="rect">
            <a:avLst/>
          </a:prstGeom>
        </p:spPr>
        <p:txBody>
          <a:bodyPr numCol="1"/>
          <a:lstStyle/>
          <a:p>
            <a:pPr algn="just" indent="0" marL="0">
              <a:lnSpc>
                <a:spcPct val="114000"/>
              </a:lnSpc>
              <a:spcBef>
                <a:spcPts val="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Ai </a:t>
            </a:r>
            <a:r>
              <a:rPr dirty="0" err="1"/>
              <a:t>fini</a:t>
            </a:r>
            <a:r>
              <a:rPr dirty="0"/>
              <a:t> </a:t>
            </a:r>
            <a:r>
              <a:rPr dirty="0" err="1"/>
              <a:t>dell’integrazione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di </a:t>
            </a:r>
            <a:r>
              <a:rPr dirty="0" err="1"/>
              <a:t>abuso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 è </a:t>
            </a:r>
            <a:r>
              <a:rPr dirty="0" err="1"/>
              <a:t>necessario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sussista</a:t>
            </a:r>
            <a:r>
              <a:rPr dirty="0"/>
              <a:t> la </a:t>
            </a:r>
            <a:r>
              <a:rPr b="1" dirty="0">
                <a:solidFill>
                  <a:srgbClr val="7030A0"/>
                </a:solidFill>
              </a:rPr>
              <a:t>c.d. doppia </a:t>
            </a:r>
            <a:r>
              <a:rPr b="1" dirty="0" err="1">
                <a:solidFill>
                  <a:srgbClr val="7030A0"/>
                </a:solidFill>
              </a:rPr>
              <a:t>ingiustizia</a:t>
            </a:r>
            <a:r>
              <a:rPr b="1" dirty="0"/>
              <a:t>:</a:t>
            </a:r>
          </a:p>
          <a:p>
            <a:pPr algn="just" indent="-176212" marL="176212">
              <a:lnSpc>
                <a:spcPct val="114000"/>
              </a:lnSpc>
              <a:spcBef>
                <a:spcPts val="600"/>
              </a:spcBef>
              <a:buFontTx/>
              <a:buChar char="-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ingiusta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la </a:t>
            </a:r>
            <a:r>
              <a:rPr b="1" dirty="0" err="1"/>
              <a:t>condotta</a:t>
            </a:r>
            <a:r>
              <a:rPr dirty="0"/>
              <a:t>, in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connotata</a:t>
            </a:r>
            <a:r>
              <a:rPr dirty="0"/>
              <a:t> da </a:t>
            </a:r>
            <a:r>
              <a:rPr dirty="0" err="1"/>
              <a:t>violazione</a:t>
            </a:r>
            <a:r>
              <a:rPr dirty="0"/>
              <a:t> di </a:t>
            </a:r>
            <a:r>
              <a:rPr dirty="0" err="1"/>
              <a:t>legge</a:t>
            </a:r>
            <a:r>
              <a:rPr dirty="0"/>
              <a:t>;</a:t>
            </a:r>
          </a:p>
          <a:p>
            <a:pPr algn="just" indent="-176212" marL="176212">
              <a:lnSpc>
                <a:spcPct val="114000"/>
              </a:lnSpc>
              <a:spcBef>
                <a:spcPts val="600"/>
              </a:spcBef>
              <a:buFontTx/>
              <a:buChar char="-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ingiusto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b="1" dirty="0" err="1"/>
              <a:t>l’evento</a:t>
            </a:r>
            <a:r>
              <a:rPr b="1" dirty="0"/>
              <a:t> di </a:t>
            </a:r>
            <a:r>
              <a:rPr b="1" dirty="0" err="1"/>
              <a:t>vantaggio</a:t>
            </a:r>
            <a:r>
              <a:rPr b="1" dirty="0"/>
              <a:t> </a:t>
            </a:r>
            <a:r>
              <a:rPr b="1" dirty="0" err="1"/>
              <a:t>patrimoniale</a:t>
            </a:r>
            <a:r>
              <a:rPr b="1" dirty="0"/>
              <a:t> o di </a:t>
            </a:r>
            <a:r>
              <a:rPr b="1" dirty="0" err="1"/>
              <a:t>danno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FontTx/>
              <a:buChar char="-"/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 indent="0" marL="0">
              <a:lnSpc>
                <a:spcPct val="114000"/>
              </a:lnSpc>
              <a:spcBef>
                <a:spcPts val="600"/>
              </a:spcBef>
              <a:buSzTx/>
              <a:buNone/>
              <a:defRPr b="1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DI EVENTO, DI DANNO, A FORMA </a:t>
            </a:r>
            <a:r>
              <a:rPr altLang="it-IT" dirty="0" lang="it-IT"/>
              <a:t>VINCOLATA</a:t>
            </a:r>
            <a:r>
              <a:rPr dirty="0"/>
              <a:t>, SUSSIDIARIO</a:t>
            </a:r>
          </a:p>
        </p:txBody>
      </p:sp>
      <p:pic>
        <p:nvPicPr>
          <p:cNvPr descr="Immagine 5" id="346" name="Immagin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4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Abuso d’ufficio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asellaDiTesto 13"/>
          <p:cNvSpPr txBox="1"/>
          <p:nvPr/>
        </p:nvSpPr>
        <p:spPr>
          <a:xfrm>
            <a:off x="182570" y="1124744"/>
            <a:ext cx="8808206" cy="5365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b="0" dirty="0" u="none"/>
              <a:t>: è </a:t>
            </a:r>
            <a:r>
              <a:rPr b="0" dirty="0" err="1" u="none"/>
              <a:t>il</a:t>
            </a:r>
            <a:r>
              <a:rPr b="0" dirty="0" u="none"/>
              <a:t> </a:t>
            </a:r>
            <a:r>
              <a:rPr dirty="0" u="none">
                <a:solidFill>
                  <a:srgbClr val="7030A0"/>
                </a:solidFill>
              </a:rPr>
              <a:t>DOLO GENERICO</a:t>
            </a:r>
            <a:endParaRPr altLang="it-IT" dirty="0" lang="it-IT" u="none">
              <a:solidFill>
                <a:srgbClr val="7030A0"/>
              </a:solidFill>
            </a:endParaRPr>
          </a:p>
          <a:p>
            <a:pPr algn="just">
              <a:lnSpc>
                <a:spcPct val="120000"/>
              </a:lnSpc>
            </a:pPr>
            <a:r>
              <a:rPr altLang="it-IT" b="0" dirty="0" lang="it-IT" sz="2400">
                <a:latin charset="0" panose="02020603050405020304" pitchFamily="18" typeface="Times New Roman"/>
                <a:ea charset="-128" panose="020B0604020202020204" pitchFamily="34" typeface="Arial Unicode MS"/>
                <a:cs charset="-128" panose="020B0604020202020204" pitchFamily="34" typeface="Arial Unicode MS"/>
              </a:rPr>
              <a:t>E consiste nella rappresentazione della volontà di violare specifiche regole di condotta, attinenti alla funzione o al servizio, espressamente previste dalla legge o da atti aventi forza di legge e dalle quali non residuino margini di discrezionalità oppure di non osservare un obbligo di astensione. </a:t>
            </a:r>
            <a:endParaRPr altLang="it-IT" b="0" dirty="0" lang="it-IT" sz="2400">
              <a:latin charset="0" panose="02040503050406030204" pitchFamily="18" typeface="Cambria"/>
              <a:ea charset="-128" panose="020B0604020202020204" pitchFamily="34" typeface="Arial Unicode MS"/>
              <a:cs charset="-128" panose="020B0604020202020204" pitchFamily="34" typeface="Arial Unicode MS"/>
            </a:endParaRP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dirty="0" lang="it-IT">
              <a:solidFill>
                <a:srgbClr val="7030A0"/>
              </a:solidFill>
            </a:endParaRP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dirty="0" lang="it-IT" u="none">
              <a:solidFill>
                <a:srgbClr val="7030A0"/>
              </a:solidFill>
            </a:endParaRPr>
          </a:p>
          <a:p>
            <a:pPr algn="just">
              <a:lnSpc>
                <a:spcPct val="114000"/>
              </a:lnSpc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 u="none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 u="sng"/>
              <a:t>momento</a:t>
            </a:r>
            <a:r>
              <a:rPr dirty="0" u="sng"/>
              <a:t> </a:t>
            </a:r>
            <a:r>
              <a:rPr dirty="0" err="1" u="sng"/>
              <a:t>consumativo</a:t>
            </a:r>
            <a:r>
              <a:rPr dirty="0" u="sng"/>
              <a:t> </a:t>
            </a:r>
            <a:r>
              <a:rPr dirty="0"/>
              <a:t>è </a:t>
            </a:r>
            <a:r>
              <a:rPr dirty="0" err="1"/>
              <a:t>individuato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verificarsi</a:t>
            </a:r>
            <a:r>
              <a:rPr dirty="0"/>
              <a:t> del </a:t>
            </a:r>
            <a:r>
              <a:rPr dirty="0" err="1"/>
              <a:t>vantaggio</a:t>
            </a:r>
            <a:r>
              <a:rPr dirty="0"/>
              <a:t> </a:t>
            </a:r>
            <a:r>
              <a:rPr dirty="0" err="1"/>
              <a:t>patrimoniale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descr="Immagine 6" id="350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Abuso d’ufficio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asellaDiTesto 7"/>
          <p:cNvSpPr txBox="1"/>
          <p:nvPr/>
        </p:nvSpPr>
        <p:spPr>
          <a:xfrm>
            <a:off x="45719" y="948490"/>
            <a:ext cx="9052561" cy="489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400">
                <a:solidFill>
                  <a:srgbClr val="00319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326 </a:t>
            </a:r>
            <a:r>
              <a:rPr dirty="0" err="1"/>
              <a:t>c.p.</a:t>
            </a:r>
            <a:r>
              <a:rPr dirty="0"/>
              <a:t> </a:t>
            </a:r>
            <a:r>
              <a:rPr dirty="0" err="1"/>
              <a:t>Rivelazione</a:t>
            </a:r>
            <a:r>
              <a:rPr dirty="0"/>
              <a:t> ed </a:t>
            </a:r>
            <a:r>
              <a:rPr dirty="0" err="1"/>
              <a:t>utilizzazione</a:t>
            </a:r>
            <a:r>
              <a:rPr dirty="0"/>
              <a:t> di </a:t>
            </a:r>
            <a:r>
              <a:rPr dirty="0" err="1"/>
              <a:t>segreti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  <a:p>
            <a:pPr algn="just">
              <a:defRPr b="0" i="1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b="0" i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sz="2000"/>
              <a:t>«c.1 Il pubblico ufficiale o la persona incaricata di un pubblico servizio, che, violando i doveri inerenti alle funzioni o al servizio, o comunque abusando della sua qualità, </a:t>
            </a:r>
            <a:r>
              <a:rPr altLang="it-IT" dirty="0" lang="it-IT" sz="2000" u="sng">
                <a:solidFill>
                  <a:srgbClr val="002F8E"/>
                </a:solidFill>
              </a:rPr>
              <a:t>rivela notizie di ufficio</a:t>
            </a:r>
            <a:r>
              <a:rPr altLang="it-IT" dirty="0" lang="it-IT" sz="2000"/>
              <a:t>, le quali debbano rimanere segrete, </a:t>
            </a:r>
            <a:r>
              <a:rPr altLang="it-IT" dirty="0" lang="it-IT" sz="2000" u="sng">
                <a:solidFill>
                  <a:srgbClr val="002F8E"/>
                </a:solidFill>
              </a:rPr>
              <a:t>o ne agevola in qualsiasi modo la conoscenza</a:t>
            </a:r>
            <a:r>
              <a:rPr altLang="it-IT" dirty="0" lang="it-IT" sz="2000" u="sng"/>
              <a:t>, </a:t>
            </a:r>
            <a:r>
              <a:rPr altLang="it-IT" dirty="0" lang="it-IT" sz="2000"/>
              <a:t>è punito con la reclusione da sei mesi a tre anni.</a:t>
            </a:r>
          </a:p>
          <a:p>
            <a:pPr algn="just">
              <a:defRPr b="0" i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 sz="2000"/>
          </a:p>
          <a:p>
            <a:pPr algn="just">
              <a:defRPr b="0" i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sz="2000"/>
              <a:t>c.2 Se l'agevolazione è </a:t>
            </a:r>
            <a:r>
              <a:rPr altLang="it-IT" dirty="0" lang="it-IT" sz="2000" u="sng"/>
              <a:t>soltanto colposa</a:t>
            </a:r>
            <a:r>
              <a:rPr altLang="it-IT" dirty="0" lang="it-IT" sz="2000"/>
              <a:t>, si applica la reclusione fino a un anno.</a:t>
            </a:r>
          </a:p>
          <a:p>
            <a:pPr algn="just">
              <a:defRPr b="0" i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 sz="2000"/>
          </a:p>
          <a:p>
            <a:pPr algn="just">
              <a:defRPr b="0" i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sz="2000"/>
              <a:t>c.3 Il pubblico ufficiale o la persona incaricata di un pubblico servizio, che, per procurare a sé o ad altri un indebito profitto patrimoniale, </a:t>
            </a:r>
            <a:r>
              <a:rPr altLang="it-IT" dirty="0" lang="it-IT" sz="2000">
                <a:solidFill>
                  <a:srgbClr val="002F8E"/>
                </a:solidFill>
              </a:rPr>
              <a:t>si avvale illegittimamente di notizie di ufficio</a:t>
            </a:r>
            <a:r>
              <a:rPr altLang="it-IT" dirty="0" lang="it-IT" sz="2000"/>
              <a:t>, le quali debbano rimanere segrete, è punito con la reclusione da due a cinque anni. Se il fatto è commesso al fine di procurare a sé o ad altri un ingiusto profitto non patrimoniale o di cagionare ad altri un danno ingiusto, si applica la pena della reclusione fino a due anni». (aggravanti)</a:t>
            </a:r>
          </a:p>
          <a:p>
            <a:pPr algn="just">
              <a:defRPr b="0" i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 sz="2000"/>
          </a:p>
        </p:txBody>
      </p:sp>
      <p:pic>
        <p:nvPicPr>
          <p:cNvPr descr="Immagine 6" id="354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Rettangolo 1"/>
          <p:cNvSpPr txBox="1"/>
          <p:nvPr/>
        </p:nvSpPr>
        <p:spPr>
          <a:xfrm>
            <a:off x="1305017" y="5548544"/>
            <a:ext cx="7500281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 wrap="square">
            <a:spAutoFit/>
          </a:bodyPr>
          <a:lstStyle/>
          <a:p>
            <a:pPr algn="just">
              <a:defRPr b="0"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sz="1600"/>
              <a:t>Note</a:t>
            </a:r>
            <a:r>
              <a:rPr dirty="0" sz="1600" u="none"/>
              <a:t>: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Competenza</a:t>
            </a:r>
            <a:r>
              <a:rPr dirty="0" sz="1600"/>
              <a:t> </a:t>
            </a:r>
            <a:r>
              <a:rPr dirty="0" err="1" sz="1600"/>
              <a:t>Tribunale</a:t>
            </a:r>
            <a:r>
              <a:rPr dirty="0" sz="1600"/>
              <a:t> </a:t>
            </a:r>
            <a:r>
              <a:rPr dirty="0" err="1" sz="1600"/>
              <a:t>collegiale</a:t>
            </a:r>
            <a:endParaRPr dirty="0" sz="1600"/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Arresto</a:t>
            </a:r>
            <a:r>
              <a:rPr dirty="0" sz="1600"/>
              <a:t> non </a:t>
            </a:r>
            <a:r>
              <a:rPr dirty="0" err="1" sz="1600"/>
              <a:t>consentito</a:t>
            </a:r>
            <a:r>
              <a:rPr dirty="0" sz="1600"/>
              <a:t> [c. 1, 2 e 2^ </a:t>
            </a:r>
            <a:r>
              <a:rPr dirty="0" err="1" sz="1600"/>
              <a:t>parte</a:t>
            </a:r>
            <a:r>
              <a:rPr dirty="0" sz="1600"/>
              <a:t> c. 3] </a:t>
            </a:r>
            <a:r>
              <a:rPr dirty="0" err="1" sz="1600"/>
              <a:t>facoltativo</a:t>
            </a:r>
            <a:r>
              <a:rPr dirty="0" sz="1600"/>
              <a:t> [c. 3 1^ </a:t>
            </a:r>
            <a:r>
              <a:rPr dirty="0" err="1" sz="1600"/>
              <a:t>parte</a:t>
            </a:r>
            <a:r>
              <a:rPr dirty="0" sz="1600"/>
              <a:t>]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Fermo</a:t>
            </a:r>
            <a:r>
              <a:rPr dirty="0" sz="1600"/>
              <a:t> non </a:t>
            </a:r>
            <a:r>
              <a:rPr dirty="0" err="1" sz="1600"/>
              <a:t>consentito</a:t>
            </a:r>
            <a:r>
              <a:rPr dirty="0" sz="1600"/>
              <a:t> 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Procedibilità</a:t>
            </a:r>
            <a:r>
              <a:rPr dirty="0" sz="1600"/>
              <a:t> </a:t>
            </a:r>
            <a:r>
              <a:rPr dirty="0" err="1" sz="1600"/>
              <a:t>d’ufficio</a:t>
            </a:r>
            <a:endParaRPr dirty="0" sz="1600"/>
          </a:p>
        </p:txBody>
      </p:sp>
      <p:sp>
        <p:nvSpPr>
          <p:cNvPr id="356" name="Text Box 5"/>
          <p:cNvSpPr txBox="1"/>
          <p:nvPr/>
        </p:nvSpPr>
        <p:spPr>
          <a:xfrm>
            <a:off x="825745" y="98863"/>
            <a:ext cx="8670236" cy="5717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1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Rivelazione ed utilizzazione di segreti d’ufficio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asellaDiTesto 13"/>
          <p:cNvSpPr txBox="1"/>
          <p:nvPr/>
        </p:nvSpPr>
        <p:spPr>
          <a:xfrm>
            <a:off x="182569" y="980728"/>
            <a:ext cx="8708068" cy="563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L'interesse</a:t>
            </a:r>
            <a:r>
              <a:rPr dirty="0"/>
              <a:t> </a:t>
            </a:r>
            <a:r>
              <a:rPr dirty="0" err="1"/>
              <a:t>tutelato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norma</a:t>
            </a:r>
            <a:r>
              <a:rPr dirty="0"/>
              <a:t> è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/>
              <a:t>buon</a:t>
            </a:r>
            <a:r>
              <a:rPr b="1" dirty="0"/>
              <a:t> </a:t>
            </a:r>
            <a:r>
              <a:rPr b="1" dirty="0" err="1"/>
              <a:t>andamento</a:t>
            </a:r>
            <a:r>
              <a:rPr b="1" dirty="0"/>
              <a:t> </a:t>
            </a:r>
            <a:r>
              <a:rPr dirty="0" err="1"/>
              <a:t>della</a:t>
            </a:r>
            <a:r>
              <a:rPr dirty="0"/>
              <a:t> P.A. </a:t>
            </a:r>
          </a:p>
          <a:p>
            <a:pPr algn="just"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Si </a:t>
            </a:r>
            <a:r>
              <a:rPr dirty="0" err="1"/>
              <a:t>tratta</a:t>
            </a:r>
            <a:r>
              <a:rPr dirty="0"/>
              <a:t> di un </a:t>
            </a:r>
            <a:r>
              <a:rPr b="1" dirty="0">
                <a:solidFill>
                  <a:srgbClr val="002F8E"/>
                </a:solidFill>
              </a:rPr>
              <a:t>REATO PROPRIO</a:t>
            </a:r>
            <a:r>
              <a:rPr dirty="0"/>
              <a:t>.</a:t>
            </a: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>
              <a:solidFill>
                <a:srgbClr val="003192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>
              <a:solidFill>
                <a:srgbClr val="003192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>
              <a:solidFill>
                <a:srgbClr val="003192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>
                <a:solidFill>
                  <a:srgbClr val="003192"/>
                </a:solidFill>
              </a:rPr>
              <a:t>SEGRETO D’UFFICIO - </a:t>
            </a:r>
            <a:r>
              <a:rPr altLang="it-IT" dirty="0" lang="it-IT">
                <a:sym typeface="Times New Roman"/>
              </a:rPr>
              <a:t>obbligo giuridico riconosciuto in capo al pubblico impiegato e consistente nel </a:t>
            </a:r>
            <a:r>
              <a:rPr altLang="it-IT" dirty="0" lang="it-IT" u="sng">
                <a:solidFill>
                  <a:srgbClr val="FF0000"/>
                </a:solidFill>
                <a:sym typeface="Times New Roman"/>
              </a:rPr>
              <a:t>dovere di non rivelare a terzi quanto appreso nell'esercizio della propria professione</a:t>
            </a:r>
            <a:r>
              <a:rPr altLang="it-IT" dirty="0" lang="it-IT">
                <a:sym typeface="Times New Roman"/>
              </a:rPr>
              <a:t>.</a:t>
            </a: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>
              <a:solidFill>
                <a:srgbClr val="003192"/>
              </a:solidFill>
              <a:sym typeface="Times New Roman"/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/>
              <a:t>la notizia che, per espressa previsione di legge, per ordine dell’autorità, per consuetudine riconosciuta ed anche per sua espressa natura, </a:t>
            </a:r>
            <a:r>
              <a:rPr altLang="it-IT" dirty="0" lang="it-IT">
                <a:solidFill>
                  <a:srgbClr val="003192"/>
                </a:solidFill>
              </a:rPr>
              <a:t>non deve essere palesata ad altri.</a:t>
            </a:r>
          </a:p>
          <a:p>
            <a:pPr algn="just" indent="-342900" marL="342900">
              <a:buSzPct val="100000"/>
              <a:buChar char="▪"/>
              <a:defRPr sz="2200">
                <a:solidFill>
                  <a:srgbClr val="00319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1" dirty="0" lang="it-IT">
              <a:solidFill>
                <a:srgbClr val="003192"/>
              </a:solidFill>
            </a:endParaRPr>
          </a:p>
        </p:txBody>
      </p:sp>
      <p:pic>
        <p:nvPicPr>
          <p:cNvPr descr="Immagine 6" id="359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 Box 5"/>
          <p:cNvSpPr txBox="1"/>
          <p:nvPr/>
        </p:nvSpPr>
        <p:spPr>
          <a:xfrm>
            <a:off x="825745" y="98863"/>
            <a:ext cx="8670236" cy="5717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1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Rivelazione</a:t>
            </a:r>
            <a:r>
              <a:rPr dirty="0"/>
              <a:t> ed </a:t>
            </a:r>
            <a:r>
              <a:rPr dirty="0" err="1"/>
              <a:t>utilizzazione</a:t>
            </a:r>
            <a:r>
              <a:rPr dirty="0"/>
              <a:t> di </a:t>
            </a:r>
            <a:r>
              <a:rPr dirty="0" err="1"/>
              <a:t>segreti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94C904-A26F-44DE-BC26-564ACF1E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27" y="443028"/>
            <a:ext cx="7674746" cy="577618"/>
          </a:xfrm>
        </p:spPr>
        <p:txBody>
          <a:bodyPr numCol="1">
            <a:normAutofit fontScale="90000"/>
          </a:bodyPr>
          <a:lstStyle/>
          <a:p>
            <a:r>
              <a:rPr altLang="it-IT" dirty="0" lang="it-IT" sz="3100">
                <a:solidFill>
                  <a:schemeClr val="bg1"/>
                </a:solidFill>
                <a:latin charset="0" panose="02040602050305030304" pitchFamily="18" typeface="Book Antiqua"/>
              </a:rPr>
              <a:t>Rivelazione ed utilizzazione di segreti d’ufficio</a:t>
            </a:r>
            <a:br>
              <a:rPr altLang="it-IT" dirty="0" lang="it-IT"/>
            </a:br>
            <a:endParaRPr altLang="it-IT" dirty="0"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6F65D2-DC77-435F-8DEC-DB02016AC692}"/>
              </a:ext>
            </a:extLst>
          </p:cNvPr>
          <p:cNvSpPr>
            <a:spLocks noGrp="1"/>
          </p:cNvSpPr>
          <p:nvPr>
            <p:ph idx="1" type="body"/>
          </p:nvPr>
        </p:nvSpPr>
        <p:spPr/>
        <p:txBody>
          <a:bodyPr numCol="1">
            <a:normAutofit fontScale="70000" lnSpcReduction="20000"/>
          </a:bodyPr>
          <a:lstStyle/>
          <a:p>
            <a:pPr indent="0" marL="0">
              <a:buNone/>
            </a:pPr>
            <a:r>
              <a:rPr altLang="it-IT" b="1" dirty="0" lang="it-IT" u="sng">
                <a:solidFill>
                  <a:srgbClr val="FF0000"/>
                </a:solidFill>
              </a:rPr>
              <a:t>ELEMENTO OGGETTIVO</a:t>
            </a:r>
            <a:r>
              <a:rPr altLang="it-IT" b="1" dirty="0" lang="it-IT">
                <a:solidFill>
                  <a:srgbClr val="FF0000"/>
                </a:solidFill>
              </a:rPr>
              <a:t>: </a:t>
            </a:r>
            <a:r>
              <a:rPr altLang="it-IT" dirty="0" lang="it-IT"/>
              <a:t>al </a:t>
            </a:r>
            <a:r>
              <a:rPr altLang="it-IT" b="1" dirty="0" lang="it-IT"/>
              <a:t>comma 1</a:t>
            </a:r>
            <a:r>
              <a:rPr altLang="it-IT" dirty="0" lang="it-IT"/>
              <a:t> prevede 2 condotte alternative=</a:t>
            </a:r>
          </a:p>
          <a:p>
            <a:pPr indent="0" marL="0">
              <a:buNone/>
            </a:pPr>
            <a:endParaRPr altLang="it-IT" dirty="0" lang="it-IT"/>
          </a:p>
          <a:p>
            <a:r>
              <a:rPr altLang="it-IT" dirty="0" lang="it-IT" u="sng"/>
              <a:t>Rivelazione della notizia</a:t>
            </a:r>
            <a:r>
              <a:rPr altLang="it-IT" dirty="0" lang="it-IT"/>
              <a:t>;</a:t>
            </a:r>
          </a:p>
          <a:p>
            <a:r>
              <a:rPr altLang="it-IT" dirty="0" lang="it-IT" u="sng"/>
              <a:t>L’agevolazione della diffusione della notizia.</a:t>
            </a:r>
          </a:p>
          <a:p>
            <a:endParaRPr altLang="it-IT" dirty="0" lang="it-IT"/>
          </a:p>
          <a:p>
            <a:pPr indent="0" marL="0">
              <a:buNone/>
            </a:pPr>
            <a:r>
              <a:rPr altLang="it-IT" dirty="0" lang="it-IT"/>
              <a:t>Al </a:t>
            </a:r>
            <a:r>
              <a:rPr altLang="it-IT" b="1" dirty="0" lang="it-IT"/>
              <a:t>comma 3 </a:t>
            </a:r>
            <a:r>
              <a:rPr altLang="it-IT" dirty="0" lang="it-IT"/>
              <a:t>sono invece disciplinate </a:t>
            </a:r>
            <a:r>
              <a:rPr altLang="it-IT" b="1" dirty="0" lang="it-IT" u="sng"/>
              <a:t>2 fattispecie aggravate:</a:t>
            </a:r>
          </a:p>
          <a:p>
            <a:pPr indent="0" marL="0">
              <a:buNone/>
            </a:pPr>
            <a:endParaRPr altLang="it-IT" b="1" dirty="0" lang="it-IT" u="sng"/>
          </a:p>
          <a:p>
            <a:r>
              <a:rPr altLang="it-IT" dirty="0" lang="it-IT"/>
              <a:t>Qualora il soggetto pubblico si avvalga delle notizie per conseguire un indebito profitto patrimoniale;</a:t>
            </a:r>
          </a:p>
          <a:p>
            <a:r>
              <a:rPr altLang="it-IT" dirty="0" lang="it-IT"/>
              <a:t>Qualora il fatto sia commesso per conseguire un ingiusto profitto non patrimoniale o per causare ad altri un danno ingiusto.</a:t>
            </a:r>
          </a:p>
        </p:txBody>
      </p:sp>
      <p:pic>
        <p:nvPicPr>
          <p:cNvPr descr="Immagine 6" id="4" name="Immagine 6">
            <a:extLst>
              <a:ext uri="{FF2B5EF4-FFF2-40B4-BE49-F238E27FC236}">
                <a16:creationId xmlns:a16="http://schemas.microsoft.com/office/drawing/2014/main" id="{26D03C46-14BF-4DA0-A916-6B81AE797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8729500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asellaDiTesto 13"/>
          <p:cNvSpPr txBox="1"/>
          <p:nvPr/>
        </p:nvSpPr>
        <p:spPr>
          <a:xfrm>
            <a:off x="217966" y="1113892"/>
            <a:ext cx="8708068" cy="4585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solidFill>
                  <a:srgbClr val="FF0000"/>
                </a:solidFill>
              </a:rPr>
              <a:t>ELEMENTO SOGGETTIVO</a:t>
            </a:r>
            <a:r>
              <a:rPr b="0" dirty="0" u="none"/>
              <a:t>, </a:t>
            </a:r>
            <a:r>
              <a:rPr b="0" dirty="0" err="1" u="none"/>
              <a:t>occorre</a:t>
            </a:r>
            <a:r>
              <a:rPr b="0" dirty="0" u="none"/>
              <a:t>:</a:t>
            </a:r>
          </a:p>
          <a:p>
            <a:pPr algn="just" indent="-342900" marL="342900"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dirty="0" err="1"/>
              <a:t>nel</a:t>
            </a:r>
            <a:r>
              <a:rPr dirty="0"/>
              <a:t> primo comma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002F8E"/>
                </a:solidFill>
              </a:rPr>
              <a:t>dolo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generico</a:t>
            </a:r>
            <a:r>
              <a:rPr dirty="0"/>
              <a:t>;</a:t>
            </a:r>
          </a:p>
          <a:p>
            <a:pPr algn="just" indent="-342900" marL="342900"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dirty="0" err="1"/>
              <a:t>nel</a:t>
            </a:r>
            <a:r>
              <a:rPr dirty="0"/>
              <a:t> secondo comma la </a:t>
            </a:r>
            <a:r>
              <a:rPr b="1" dirty="0" err="1">
                <a:solidFill>
                  <a:srgbClr val="002F8E"/>
                </a:solidFill>
              </a:rPr>
              <a:t>colpa</a:t>
            </a:r>
            <a:r>
              <a:rPr dirty="0"/>
              <a:t>;</a:t>
            </a:r>
          </a:p>
          <a:p>
            <a:pPr algn="just" indent="-342900" marL="342900"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terzo</a:t>
            </a:r>
            <a:r>
              <a:rPr dirty="0"/>
              <a:t> comma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002F8E"/>
                </a:solidFill>
              </a:rPr>
              <a:t>dolo</a:t>
            </a:r>
            <a:r>
              <a:rPr b="1" dirty="0">
                <a:solidFill>
                  <a:srgbClr val="002F8E"/>
                </a:solidFill>
              </a:rPr>
              <a:t> </a:t>
            </a:r>
            <a:r>
              <a:rPr b="1" dirty="0" err="1">
                <a:solidFill>
                  <a:srgbClr val="002F8E"/>
                </a:solidFill>
              </a:rPr>
              <a:t>specifico</a:t>
            </a:r>
            <a:r>
              <a:rPr dirty="0"/>
              <a:t>, </a:t>
            </a:r>
            <a:r>
              <a:rPr dirty="0" err="1" sz="2400"/>
              <a:t>coscienza</a:t>
            </a:r>
            <a:r>
              <a:rPr dirty="0" sz="2400"/>
              <a:t> e </a:t>
            </a:r>
            <a:r>
              <a:rPr dirty="0" err="1" sz="2400"/>
              <a:t>volontà</a:t>
            </a:r>
            <a:r>
              <a:rPr dirty="0" sz="2400"/>
              <a:t> del </a:t>
            </a:r>
            <a:r>
              <a:rPr dirty="0" err="1" sz="2400"/>
              <a:t>fatto</a:t>
            </a:r>
            <a:r>
              <a:rPr dirty="0" sz="2400"/>
              <a:t>, con </a:t>
            </a:r>
            <a:r>
              <a:rPr dirty="0" err="1" sz="2400"/>
              <a:t>l'ulteriore</a:t>
            </a:r>
            <a:r>
              <a:rPr dirty="0" sz="2400"/>
              <a:t> </a:t>
            </a:r>
            <a:r>
              <a:rPr dirty="0" err="1" sz="2400"/>
              <a:t>scopo</a:t>
            </a:r>
            <a:r>
              <a:rPr dirty="0" sz="2400"/>
              <a:t> di </a:t>
            </a:r>
            <a:r>
              <a:rPr dirty="0" err="1" sz="2400"/>
              <a:t>procurare</a:t>
            </a:r>
            <a:r>
              <a:rPr dirty="0" sz="2400"/>
              <a:t> un </a:t>
            </a:r>
            <a:r>
              <a:rPr dirty="0" err="1" sz="2400"/>
              <a:t>vantaggio</a:t>
            </a:r>
            <a:r>
              <a:rPr dirty="0" sz="2400"/>
              <a:t> o un </a:t>
            </a:r>
            <a:r>
              <a:rPr dirty="0" err="1" sz="2400"/>
              <a:t>danno</a:t>
            </a:r>
            <a:r>
              <a:rPr dirty="0" sz="2400"/>
              <a:t>.</a:t>
            </a: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 sz="2400"/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dirty="0" lang="it-IT" u="sng"/>
              <a:t>REATO DI PERICOLO CONCRETO </a:t>
            </a:r>
            <a:r>
              <a:rPr altLang="it-IT" dirty="0" lang="it-IT"/>
              <a:t>- </a:t>
            </a:r>
            <a:r>
              <a:rPr altLang="it-IT" b="0" dirty="0" lang="it-IT" sz="2200">
                <a:sym typeface="Times New Roman"/>
              </a:rPr>
              <a:t>poiché rivelazione del segreto è </a:t>
            </a:r>
            <a:r>
              <a:rPr altLang="it-IT" dirty="0" lang="it-IT" sz="2200" u="sng">
                <a:sym typeface="Times New Roman"/>
              </a:rPr>
              <a:t>punibile</a:t>
            </a:r>
            <a:r>
              <a:rPr altLang="it-IT" b="0" dirty="0" lang="it-IT" sz="2200">
                <a:sym typeface="Times New Roman"/>
              </a:rPr>
              <a:t> non già in s</a:t>
            </a:r>
            <a:r>
              <a:rPr altLang="fr-FR" b="0" dirty="0" lang="fr-FR" sz="2200">
                <a:sym typeface="Times New Roman"/>
              </a:rPr>
              <a:t>é </a:t>
            </a:r>
            <a:r>
              <a:rPr altLang="it-IT" b="0" dirty="0" lang="it-IT" sz="2200">
                <a:sym typeface="Times New Roman"/>
              </a:rPr>
              <a:t>e per s</a:t>
            </a:r>
            <a:r>
              <a:rPr altLang="fr-FR" b="0" dirty="0" lang="fr-FR" sz="2200">
                <a:sym typeface="Times New Roman"/>
              </a:rPr>
              <a:t>é </a:t>
            </a:r>
            <a:r>
              <a:rPr altLang="it-IT" b="0" dirty="0" lang="it-IT" sz="2200">
                <a:sym typeface="Times New Roman"/>
              </a:rPr>
              <a:t>ma soltanto se dalla divulgazione della notizia </a:t>
            </a:r>
            <a:r>
              <a:rPr altLang="it-IT" b="0" dirty="0" lang="it-IT" sz="2200" u="sng">
                <a:sym typeface="Times New Roman"/>
              </a:rPr>
              <a:t>possa derivare un qualche nocumento alla Pubblica Amministrazione </a:t>
            </a:r>
            <a:r>
              <a:rPr altLang="it-IT" b="0" dirty="0" lang="it-IT" sz="2200">
                <a:sym typeface="Times New Roman"/>
              </a:rPr>
              <a:t>o ai terzi.</a:t>
            </a: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tentativo</a:t>
            </a:r>
            <a:r>
              <a:rPr dirty="0"/>
              <a:t> è </a:t>
            </a:r>
            <a:r>
              <a:rPr dirty="0" err="1"/>
              <a:t>ammissibile</a:t>
            </a:r>
            <a:r>
              <a:rPr dirty="0"/>
              <a:t> (salvo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di cui al comma 2).</a:t>
            </a:r>
          </a:p>
        </p:txBody>
      </p:sp>
      <p:pic>
        <p:nvPicPr>
          <p:cNvPr descr="Immagine 6" id="363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Text Box 5"/>
          <p:cNvSpPr txBox="1"/>
          <p:nvPr/>
        </p:nvSpPr>
        <p:spPr>
          <a:xfrm>
            <a:off x="825745" y="98863"/>
            <a:ext cx="8670236" cy="5717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1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Rivelazione ed utilizzazione di segreti d’ufficio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asellaDiTesto 7"/>
          <p:cNvSpPr txBox="1"/>
          <p:nvPr/>
        </p:nvSpPr>
        <p:spPr>
          <a:xfrm>
            <a:off x="217871" y="908720"/>
            <a:ext cx="8700897" cy="4485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328 </a:t>
            </a:r>
            <a:r>
              <a:rPr dirty="0" err="1"/>
              <a:t>c.p.</a:t>
            </a:r>
            <a:r>
              <a:rPr dirty="0"/>
              <a:t> </a:t>
            </a:r>
            <a:r>
              <a:rPr dirty="0" err="1"/>
              <a:t>Rifiuto</a:t>
            </a:r>
            <a:r>
              <a:rPr dirty="0"/>
              <a:t> di </a:t>
            </a:r>
            <a:r>
              <a:rPr dirty="0" err="1"/>
              <a:t>atti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. </a:t>
            </a:r>
            <a:r>
              <a:rPr dirty="0" err="1"/>
              <a:t>Omissione</a:t>
            </a:r>
            <a:endParaRPr dirty="0"/>
          </a:p>
          <a:p>
            <a:pPr algn="just">
              <a:lnSpc>
                <a:spcPct val="114000"/>
              </a:lnSpc>
              <a:defRPr b="0" i="1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sz="2000"/>
              <a:t>«c.1 Il </a:t>
            </a:r>
            <a:r>
              <a:rPr dirty="0" err="1" sz="2000"/>
              <a:t>pubblico</a:t>
            </a:r>
            <a:r>
              <a:rPr dirty="0" sz="2000"/>
              <a:t> </a:t>
            </a:r>
            <a:r>
              <a:rPr dirty="0" err="1" sz="2000"/>
              <a:t>ufficiale</a:t>
            </a:r>
            <a:r>
              <a:rPr dirty="0" sz="2000"/>
              <a:t> o </a:t>
            </a:r>
            <a:r>
              <a:rPr dirty="0" err="1" sz="2000"/>
              <a:t>l'incaricato</a:t>
            </a:r>
            <a:r>
              <a:rPr dirty="0" sz="2000"/>
              <a:t> di un </a:t>
            </a:r>
            <a:r>
              <a:rPr dirty="0" err="1" sz="2000"/>
              <a:t>pubblico</a:t>
            </a:r>
            <a:r>
              <a:rPr dirty="0" sz="2000"/>
              <a:t> </a:t>
            </a:r>
            <a:r>
              <a:rPr dirty="0" err="1" sz="2000"/>
              <a:t>servizio</a:t>
            </a:r>
            <a:r>
              <a:rPr dirty="0" sz="2000"/>
              <a:t>, </a:t>
            </a:r>
            <a:r>
              <a:rPr dirty="0" err="1" sz="2000"/>
              <a:t>che</a:t>
            </a:r>
            <a:r>
              <a:rPr dirty="0" sz="2000"/>
              <a:t> </a:t>
            </a:r>
            <a:r>
              <a:rPr b="1" dirty="0" err="1" sz="2000">
                <a:solidFill>
                  <a:srgbClr val="0070C0"/>
                </a:solidFill>
              </a:rPr>
              <a:t>indebitamente</a:t>
            </a:r>
            <a:r>
              <a:rPr b="1" dirty="0" sz="2000">
                <a:solidFill>
                  <a:srgbClr val="0070C0"/>
                </a:solidFill>
              </a:rPr>
              <a:t> </a:t>
            </a:r>
            <a:r>
              <a:rPr b="1" dirty="0" err="1" sz="2000">
                <a:solidFill>
                  <a:srgbClr val="0070C0"/>
                </a:solidFill>
              </a:rPr>
              <a:t>rifiuta</a:t>
            </a:r>
            <a:r>
              <a:rPr b="1" dirty="0" sz="2000">
                <a:solidFill>
                  <a:srgbClr val="0070C0"/>
                </a:solidFill>
              </a:rPr>
              <a:t> un </a:t>
            </a:r>
            <a:r>
              <a:rPr b="1" dirty="0" err="1" sz="2000">
                <a:solidFill>
                  <a:srgbClr val="0070C0"/>
                </a:solidFill>
              </a:rPr>
              <a:t>atto</a:t>
            </a:r>
            <a:r>
              <a:rPr b="1" dirty="0" sz="2000">
                <a:solidFill>
                  <a:srgbClr val="0070C0"/>
                </a:solidFill>
              </a:rPr>
              <a:t> del </a:t>
            </a:r>
            <a:r>
              <a:rPr b="1" dirty="0" err="1" sz="2000">
                <a:solidFill>
                  <a:srgbClr val="0070C0"/>
                </a:solidFill>
              </a:rPr>
              <a:t>suo</a:t>
            </a:r>
            <a:r>
              <a:rPr b="1" dirty="0" sz="2000">
                <a:solidFill>
                  <a:srgbClr val="0070C0"/>
                </a:solidFill>
              </a:rPr>
              <a:t> </a:t>
            </a:r>
            <a:r>
              <a:rPr b="1" dirty="0" err="1" sz="2000">
                <a:solidFill>
                  <a:srgbClr val="0070C0"/>
                </a:solidFill>
              </a:rPr>
              <a:t>ufficio</a:t>
            </a:r>
            <a:r>
              <a:rPr dirty="0" sz="2000"/>
              <a:t> </a:t>
            </a:r>
            <a:r>
              <a:rPr dirty="0" err="1" sz="2000"/>
              <a:t>che</a:t>
            </a:r>
            <a:r>
              <a:rPr dirty="0" sz="2000"/>
              <a:t>, per </a:t>
            </a:r>
            <a:r>
              <a:rPr dirty="0" err="1" sz="2000"/>
              <a:t>ragioni</a:t>
            </a:r>
            <a:r>
              <a:rPr dirty="0" sz="2000"/>
              <a:t> di </a:t>
            </a:r>
            <a:r>
              <a:rPr dirty="0" err="1" sz="2000"/>
              <a:t>giustizia</a:t>
            </a:r>
            <a:r>
              <a:rPr dirty="0" sz="2000"/>
              <a:t> o di </a:t>
            </a:r>
            <a:r>
              <a:rPr dirty="0" err="1" sz="2000"/>
              <a:t>sicurezza</a:t>
            </a:r>
            <a:r>
              <a:rPr dirty="0" sz="2000"/>
              <a:t> </a:t>
            </a:r>
            <a:r>
              <a:rPr dirty="0" err="1" sz="2000"/>
              <a:t>pubblica</a:t>
            </a:r>
            <a:r>
              <a:rPr dirty="0" sz="2000"/>
              <a:t>, o di </a:t>
            </a:r>
            <a:r>
              <a:rPr dirty="0" err="1" sz="2000"/>
              <a:t>ordine</a:t>
            </a:r>
            <a:r>
              <a:rPr dirty="0" sz="2000"/>
              <a:t> </a:t>
            </a:r>
            <a:r>
              <a:rPr dirty="0" err="1" sz="2000"/>
              <a:t>pubblico</a:t>
            </a:r>
            <a:r>
              <a:rPr dirty="0" sz="2000"/>
              <a:t> o di </a:t>
            </a:r>
            <a:r>
              <a:rPr dirty="0" err="1" sz="2000"/>
              <a:t>igiene</a:t>
            </a:r>
            <a:r>
              <a:rPr dirty="0" sz="2000"/>
              <a:t> e </a:t>
            </a:r>
            <a:r>
              <a:rPr dirty="0" err="1" sz="2000"/>
              <a:t>sanità</a:t>
            </a:r>
            <a:r>
              <a:rPr dirty="0" sz="2000"/>
              <a:t>, </a:t>
            </a:r>
            <a:r>
              <a:rPr dirty="0" err="1" sz="2000"/>
              <a:t>deve</a:t>
            </a:r>
            <a:r>
              <a:rPr dirty="0" sz="2000"/>
              <a:t> </a:t>
            </a:r>
            <a:r>
              <a:rPr dirty="0" err="1" sz="2000"/>
              <a:t>essere</a:t>
            </a:r>
            <a:r>
              <a:rPr dirty="0" sz="2000"/>
              <a:t> </a:t>
            </a:r>
            <a:r>
              <a:rPr dirty="0" err="1" sz="2000"/>
              <a:t>compiuto</a:t>
            </a:r>
            <a:r>
              <a:rPr dirty="0" sz="2000"/>
              <a:t> senza </a:t>
            </a:r>
            <a:r>
              <a:rPr dirty="0" err="1" sz="2000"/>
              <a:t>ritardo</a:t>
            </a:r>
            <a:r>
              <a:rPr dirty="0" sz="2000"/>
              <a:t>, è </a:t>
            </a:r>
            <a:r>
              <a:rPr dirty="0" err="1" sz="2000"/>
              <a:t>punito</a:t>
            </a:r>
            <a:r>
              <a:rPr dirty="0" sz="2000"/>
              <a:t> con la </a:t>
            </a:r>
            <a:r>
              <a:rPr dirty="0" err="1" sz="2000"/>
              <a:t>reclusione</a:t>
            </a:r>
            <a:r>
              <a:rPr dirty="0" sz="2000"/>
              <a:t> da sei </a:t>
            </a:r>
            <a:r>
              <a:rPr dirty="0" err="1" sz="2000"/>
              <a:t>mesi</a:t>
            </a:r>
            <a:r>
              <a:rPr dirty="0" sz="2000"/>
              <a:t> a due </a:t>
            </a:r>
            <a:r>
              <a:rPr dirty="0" err="1" sz="2000"/>
              <a:t>anni</a:t>
            </a:r>
            <a:r>
              <a:rPr dirty="0" sz="2000"/>
              <a:t>.</a:t>
            </a:r>
            <a:endParaRPr altLang="it-IT" dirty="0" lang="it-IT" sz="2000"/>
          </a:p>
          <a:p>
            <a:pPr algn="just">
              <a:lnSpc>
                <a:spcPct val="114000"/>
              </a:lnSpc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 sz="2000"/>
          </a:p>
          <a:p>
            <a:pPr algn="just">
              <a:lnSpc>
                <a:spcPct val="114000"/>
              </a:lnSpc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sz="2000"/>
              <a:t>c.2 </a:t>
            </a:r>
            <a:r>
              <a:rPr dirty="0" err="1" sz="2000"/>
              <a:t>Fuori</a:t>
            </a:r>
            <a:r>
              <a:rPr dirty="0" sz="2000"/>
              <a:t> </a:t>
            </a:r>
            <a:r>
              <a:rPr dirty="0" err="1" sz="2000"/>
              <a:t>dei</a:t>
            </a:r>
            <a:r>
              <a:rPr dirty="0" sz="2000"/>
              <a:t> </a:t>
            </a:r>
            <a:r>
              <a:rPr dirty="0" err="1" sz="2000"/>
              <a:t>casi</a:t>
            </a:r>
            <a:r>
              <a:rPr dirty="0" sz="2000"/>
              <a:t> </a:t>
            </a:r>
            <a:r>
              <a:rPr dirty="0" err="1" sz="2000"/>
              <a:t>previsti</a:t>
            </a:r>
            <a:r>
              <a:rPr dirty="0" sz="2000"/>
              <a:t> dal primo comma, </a:t>
            </a:r>
            <a:r>
              <a:rPr dirty="0" err="1" sz="2000"/>
              <a:t>il</a:t>
            </a:r>
            <a:r>
              <a:rPr dirty="0" sz="2000"/>
              <a:t> </a:t>
            </a:r>
            <a:r>
              <a:rPr dirty="0" err="1" sz="2000"/>
              <a:t>pubblico</a:t>
            </a:r>
            <a:r>
              <a:rPr dirty="0" sz="2000"/>
              <a:t> </a:t>
            </a:r>
            <a:r>
              <a:rPr dirty="0" err="1" sz="2000"/>
              <a:t>ufficiale</a:t>
            </a:r>
            <a:r>
              <a:rPr dirty="0" sz="2000"/>
              <a:t> o </a:t>
            </a:r>
            <a:r>
              <a:rPr dirty="0" err="1" sz="2000"/>
              <a:t>l'incaricato</a:t>
            </a:r>
            <a:r>
              <a:rPr dirty="0" sz="2000"/>
              <a:t> di un </a:t>
            </a:r>
            <a:r>
              <a:rPr dirty="0" err="1" sz="2000"/>
              <a:t>pubblico</a:t>
            </a:r>
            <a:r>
              <a:rPr dirty="0" sz="2000"/>
              <a:t> </a:t>
            </a:r>
            <a:r>
              <a:rPr dirty="0" err="1" sz="2000"/>
              <a:t>servizio</a:t>
            </a:r>
            <a:r>
              <a:rPr dirty="0" sz="2000"/>
              <a:t>, </a:t>
            </a:r>
            <a:r>
              <a:rPr dirty="0" err="1" sz="2000"/>
              <a:t>che</a:t>
            </a:r>
            <a:r>
              <a:rPr dirty="0" sz="2000"/>
              <a:t> </a:t>
            </a:r>
            <a:r>
              <a:rPr dirty="0" err="1" sz="2000"/>
              <a:t>entro</a:t>
            </a:r>
            <a:r>
              <a:rPr dirty="0" sz="2000"/>
              <a:t> </a:t>
            </a:r>
            <a:r>
              <a:rPr dirty="0" err="1" sz="2000"/>
              <a:t>trenta</a:t>
            </a:r>
            <a:r>
              <a:rPr dirty="0" sz="2000"/>
              <a:t> </a:t>
            </a:r>
            <a:r>
              <a:rPr dirty="0" err="1" sz="2000"/>
              <a:t>giorni</a:t>
            </a:r>
            <a:r>
              <a:rPr dirty="0" sz="2000"/>
              <a:t> </a:t>
            </a:r>
            <a:r>
              <a:rPr dirty="0" err="1" sz="2000"/>
              <a:t>dalla</a:t>
            </a:r>
            <a:r>
              <a:rPr dirty="0" sz="2000"/>
              <a:t> </a:t>
            </a:r>
            <a:r>
              <a:rPr dirty="0" err="1" sz="2000"/>
              <a:t>richiesta</a:t>
            </a:r>
            <a:r>
              <a:rPr dirty="0" sz="2000"/>
              <a:t> di chi vi </a:t>
            </a:r>
            <a:r>
              <a:rPr dirty="0" err="1" sz="2000"/>
              <a:t>abbia</a:t>
            </a:r>
            <a:r>
              <a:rPr dirty="0" sz="2000"/>
              <a:t> interesse </a:t>
            </a:r>
            <a:r>
              <a:rPr b="1" dirty="0" sz="2000">
                <a:solidFill>
                  <a:srgbClr val="0070C0"/>
                </a:solidFill>
              </a:rPr>
              <a:t>non </a:t>
            </a:r>
            <a:r>
              <a:rPr b="1" dirty="0" err="1" sz="2000">
                <a:solidFill>
                  <a:srgbClr val="0070C0"/>
                </a:solidFill>
              </a:rPr>
              <a:t>compie</a:t>
            </a:r>
            <a:r>
              <a:rPr b="1" dirty="0" sz="2000">
                <a:solidFill>
                  <a:srgbClr val="0070C0"/>
                </a:solidFill>
              </a:rPr>
              <a:t> </a:t>
            </a:r>
            <a:r>
              <a:rPr b="1" dirty="0" err="1" sz="2000">
                <a:solidFill>
                  <a:srgbClr val="0070C0"/>
                </a:solidFill>
              </a:rPr>
              <a:t>l'atto</a:t>
            </a:r>
            <a:r>
              <a:rPr b="1" dirty="0" sz="2000">
                <a:solidFill>
                  <a:srgbClr val="0070C0"/>
                </a:solidFill>
              </a:rPr>
              <a:t> del </a:t>
            </a:r>
            <a:r>
              <a:rPr b="1" dirty="0" err="1" sz="2000">
                <a:solidFill>
                  <a:srgbClr val="0070C0"/>
                </a:solidFill>
              </a:rPr>
              <a:t>suo</a:t>
            </a:r>
            <a:r>
              <a:rPr b="1" dirty="0" sz="2000">
                <a:solidFill>
                  <a:srgbClr val="0070C0"/>
                </a:solidFill>
              </a:rPr>
              <a:t> </a:t>
            </a:r>
            <a:r>
              <a:rPr b="1" dirty="0" err="1" sz="2000">
                <a:solidFill>
                  <a:srgbClr val="0070C0"/>
                </a:solidFill>
              </a:rPr>
              <a:t>ufficio</a:t>
            </a:r>
            <a:r>
              <a:rPr b="1" dirty="0" sz="2000">
                <a:solidFill>
                  <a:srgbClr val="0070C0"/>
                </a:solidFill>
              </a:rPr>
              <a:t> e non </a:t>
            </a:r>
            <a:r>
              <a:rPr b="1" dirty="0" err="1" sz="2000">
                <a:solidFill>
                  <a:srgbClr val="0070C0"/>
                </a:solidFill>
              </a:rPr>
              <a:t>risponde</a:t>
            </a:r>
            <a:r>
              <a:rPr b="1" dirty="0" sz="2000">
                <a:solidFill>
                  <a:srgbClr val="0070C0"/>
                </a:solidFill>
              </a:rPr>
              <a:t> per </a:t>
            </a:r>
            <a:r>
              <a:rPr b="1" dirty="0" err="1" sz="2000">
                <a:solidFill>
                  <a:srgbClr val="0070C0"/>
                </a:solidFill>
              </a:rPr>
              <a:t>esporre</a:t>
            </a:r>
            <a:r>
              <a:rPr b="1" dirty="0" sz="2000">
                <a:solidFill>
                  <a:srgbClr val="0070C0"/>
                </a:solidFill>
              </a:rPr>
              <a:t> le </a:t>
            </a:r>
            <a:r>
              <a:rPr b="1" dirty="0" err="1" sz="2000">
                <a:solidFill>
                  <a:srgbClr val="0070C0"/>
                </a:solidFill>
              </a:rPr>
              <a:t>ragioni</a:t>
            </a:r>
            <a:r>
              <a:rPr b="1" dirty="0" sz="2000">
                <a:solidFill>
                  <a:srgbClr val="0070C0"/>
                </a:solidFill>
              </a:rPr>
              <a:t> del </a:t>
            </a:r>
            <a:r>
              <a:rPr b="1" dirty="0" err="1" sz="2000">
                <a:solidFill>
                  <a:srgbClr val="0070C0"/>
                </a:solidFill>
              </a:rPr>
              <a:t>ritardo</a:t>
            </a:r>
            <a:r>
              <a:rPr dirty="0" sz="2000"/>
              <a:t>, è </a:t>
            </a:r>
            <a:r>
              <a:rPr dirty="0" err="1" sz="2000"/>
              <a:t>punito</a:t>
            </a:r>
            <a:r>
              <a:rPr dirty="0" sz="2000"/>
              <a:t> con la </a:t>
            </a:r>
            <a:r>
              <a:rPr dirty="0" err="1" sz="2000"/>
              <a:t>reclusione</a:t>
            </a:r>
            <a:r>
              <a:rPr dirty="0" sz="2000"/>
              <a:t> </a:t>
            </a:r>
            <a:r>
              <a:rPr dirty="0" err="1" sz="2000"/>
              <a:t>fino</a:t>
            </a:r>
            <a:r>
              <a:rPr dirty="0" sz="2000"/>
              <a:t> ad un anno o con la </a:t>
            </a:r>
            <a:r>
              <a:rPr dirty="0" err="1" sz="2000"/>
              <a:t>multa</a:t>
            </a:r>
            <a:r>
              <a:rPr dirty="0" sz="2000"/>
              <a:t> </a:t>
            </a:r>
            <a:r>
              <a:rPr dirty="0" err="1" sz="2000"/>
              <a:t>fino</a:t>
            </a:r>
            <a:r>
              <a:rPr dirty="0" sz="2000"/>
              <a:t> a </a:t>
            </a:r>
            <a:r>
              <a:rPr altLang="it-IT" dirty="0" lang="it-IT" sz="2000"/>
              <a:t>1.032</a:t>
            </a:r>
            <a:r>
              <a:rPr dirty="0" sz="2000"/>
              <a:t> euro. Tale </a:t>
            </a:r>
            <a:r>
              <a:rPr dirty="0" err="1" sz="2000"/>
              <a:t>richiesta</a:t>
            </a:r>
            <a:r>
              <a:rPr dirty="0" sz="2000"/>
              <a:t> </a:t>
            </a:r>
            <a:r>
              <a:rPr dirty="0" err="1" sz="2000"/>
              <a:t>deve</a:t>
            </a:r>
            <a:r>
              <a:rPr dirty="0" sz="2000"/>
              <a:t> </a:t>
            </a:r>
            <a:r>
              <a:rPr dirty="0" err="1" sz="2000"/>
              <a:t>essere</a:t>
            </a:r>
            <a:r>
              <a:rPr dirty="0" sz="2000"/>
              <a:t> </a:t>
            </a:r>
            <a:r>
              <a:rPr dirty="0" err="1" sz="2000"/>
              <a:t>redatta</a:t>
            </a:r>
            <a:r>
              <a:rPr dirty="0" sz="2000"/>
              <a:t> in forma </a:t>
            </a:r>
            <a:r>
              <a:rPr dirty="0" err="1" sz="2000"/>
              <a:t>scritta</a:t>
            </a:r>
            <a:r>
              <a:rPr dirty="0" sz="2000"/>
              <a:t> ed </a:t>
            </a:r>
            <a:r>
              <a:rPr dirty="0" err="1" sz="2000"/>
              <a:t>il</a:t>
            </a:r>
            <a:r>
              <a:rPr dirty="0" sz="2000"/>
              <a:t> </a:t>
            </a:r>
            <a:r>
              <a:rPr dirty="0" err="1" sz="2000"/>
              <a:t>termine</a:t>
            </a:r>
            <a:r>
              <a:rPr dirty="0" sz="2000"/>
              <a:t> di </a:t>
            </a:r>
            <a:r>
              <a:rPr dirty="0" err="1" sz="2000"/>
              <a:t>trenta</a:t>
            </a:r>
            <a:r>
              <a:rPr dirty="0" sz="2000"/>
              <a:t> </a:t>
            </a:r>
            <a:r>
              <a:rPr dirty="0" err="1" sz="2000"/>
              <a:t>giorni</a:t>
            </a:r>
            <a:r>
              <a:rPr dirty="0" sz="2000"/>
              <a:t> </a:t>
            </a:r>
            <a:r>
              <a:rPr dirty="0" err="1" sz="2000"/>
              <a:t>decorre</a:t>
            </a:r>
            <a:r>
              <a:rPr dirty="0" sz="2000"/>
              <a:t> </a:t>
            </a:r>
            <a:r>
              <a:rPr dirty="0" err="1" sz="2000"/>
              <a:t>dalla</a:t>
            </a:r>
            <a:r>
              <a:rPr dirty="0" sz="2000"/>
              <a:t> </a:t>
            </a:r>
            <a:r>
              <a:rPr dirty="0" err="1" sz="2000"/>
              <a:t>ricezione</a:t>
            </a:r>
            <a:r>
              <a:rPr dirty="0" sz="2000"/>
              <a:t> </a:t>
            </a:r>
            <a:r>
              <a:rPr dirty="0" err="1" sz="2000"/>
              <a:t>della</a:t>
            </a:r>
            <a:r>
              <a:rPr dirty="0" sz="2000"/>
              <a:t> </a:t>
            </a:r>
            <a:r>
              <a:rPr dirty="0" err="1" sz="2000"/>
              <a:t>richiesta</a:t>
            </a:r>
            <a:r>
              <a:rPr dirty="0" sz="2000"/>
              <a:t> </a:t>
            </a:r>
            <a:r>
              <a:rPr dirty="0" err="1" sz="2000"/>
              <a:t>stessa</a:t>
            </a:r>
            <a:r>
              <a:rPr dirty="0" sz="2000"/>
              <a:t>».</a:t>
            </a:r>
          </a:p>
        </p:txBody>
      </p:sp>
      <p:pic>
        <p:nvPicPr>
          <p:cNvPr descr="Immagine 6" id="367" name="Immagin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Rettangolo 1"/>
          <p:cNvSpPr txBox="1"/>
          <p:nvPr/>
        </p:nvSpPr>
        <p:spPr>
          <a:xfrm>
            <a:off x="4905752" y="5380671"/>
            <a:ext cx="3364944" cy="141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Note</a:t>
            </a:r>
            <a:r>
              <a:rPr b="0" u="none"/>
              <a:t>:</a:t>
            </a:r>
            <a:endParaRPr b="0"/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Competenza Tribunale collegiale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Arresto non consentito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Fermo non consentito 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Procedibilità d’ufficio</a:t>
            </a:r>
          </a:p>
        </p:txBody>
      </p:sp>
      <p:sp>
        <p:nvSpPr>
          <p:cNvPr id="36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asellaDiTesto 4"/>
          <p:cNvSpPr txBox="1"/>
          <p:nvPr/>
        </p:nvSpPr>
        <p:spPr>
          <a:xfrm>
            <a:off x="354685" y="820264"/>
            <a:ext cx="8409683" cy="5832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disposizione</a:t>
            </a:r>
            <a:r>
              <a:rPr dirty="0"/>
              <a:t> include </a:t>
            </a:r>
            <a:r>
              <a:rPr b="1" dirty="0">
                <a:solidFill>
                  <a:srgbClr val="0070C0"/>
                </a:solidFill>
              </a:rPr>
              <a:t>due </a:t>
            </a:r>
            <a:r>
              <a:rPr b="1" dirty="0" err="1">
                <a:solidFill>
                  <a:srgbClr val="0070C0"/>
                </a:solidFill>
              </a:rPr>
              <a:t>autonome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fattispecie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dirty="0" err="1"/>
              <a:t>penalmente</a:t>
            </a:r>
            <a:r>
              <a:rPr dirty="0"/>
              <a:t> </a:t>
            </a:r>
            <a:r>
              <a:rPr dirty="0" err="1"/>
              <a:t>rilevanti</a:t>
            </a:r>
            <a:r>
              <a:rPr dirty="0"/>
              <a:t>:</a:t>
            </a: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sz="1700" u="sng">
                <a:solidFill>
                  <a:srgbClr val="FF0000"/>
                </a:solidFill>
              </a:rPr>
              <a:t>RIFIUTO DI ATTI DI UFFICIO</a:t>
            </a:r>
            <a:r>
              <a:rPr b="0" dirty="0" sz="1700">
                <a:solidFill>
                  <a:srgbClr val="000000"/>
                </a:solidFill>
              </a:rPr>
              <a:t>: al </a:t>
            </a:r>
            <a:r>
              <a:rPr dirty="0" sz="1700">
                <a:solidFill>
                  <a:srgbClr val="000000"/>
                </a:solidFill>
              </a:rPr>
              <a:t>primo comma </a:t>
            </a:r>
            <a:r>
              <a:rPr b="0" dirty="0" err="1" sz="1700">
                <a:solidFill>
                  <a:srgbClr val="000000"/>
                </a:solidFill>
              </a:rPr>
              <a:t>si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punisce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il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pubblico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funzionario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che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dirty="0" err="1" sz="1700"/>
              <a:t>rifiuti</a:t>
            </a:r>
            <a:r>
              <a:rPr dirty="0" sz="1700"/>
              <a:t> </a:t>
            </a:r>
            <a:r>
              <a:rPr dirty="0" err="1" sz="1700"/>
              <a:t>indebitamente</a:t>
            </a:r>
            <a:r>
              <a:rPr dirty="0" sz="1700"/>
              <a:t> di </a:t>
            </a:r>
            <a:r>
              <a:rPr dirty="0" err="1" sz="1700"/>
              <a:t>eseguire</a:t>
            </a:r>
            <a:r>
              <a:rPr dirty="0" sz="1700"/>
              <a:t> un </a:t>
            </a:r>
            <a:r>
              <a:rPr dirty="0" err="1" sz="1700"/>
              <a:t>atto</a:t>
            </a:r>
            <a:r>
              <a:rPr dirty="0" sz="1700"/>
              <a:t> </a:t>
            </a:r>
            <a:r>
              <a:rPr b="0" dirty="0" err="1" sz="1700">
                <a:solidFill>
                  <a:srgbClr val="000000"/>
                </a:solidFill>
              </a:rPr>
              <a:t>che</a:t>
            </a:r>
            <a:r>
              <a:rPr b="0" dirty="0" sz="1700">
                <a:solidFill>
                  <a:srgbClr val="000000"/>
                </a:solidFill>
              </a:rPr>
              <a:t> per </a:t>
            </a:r>
            <a:r>
              <a:rPr b="0" dirty="0" err="1" sz="1700">
                <a:solidFill>
                  <a:srgbClr val="000000"/>
                </a:solidFill>
              </a:rPr>
              <a:t>alcuni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motivi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tassativamente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determinati</a:t>
            </a:r>
            <a:r>
              <a:rPr b="0" dirty="0" sz="1700">
                <a:solidFill>
                  <a:srgbClr val="000000"/>
                </a:solidFill>
              </a:rPr>
              <a:t> (</a:t>
            </a:r>
            <a:r>
              <a:rPr b="0" dirty="0" err="1" sz="1700">
                <a:solidFill>
                  <a:srgbClr val="000000"/>
                </a:solidFill>
              </a:rPr>
              <a:t>ragioni</a:t>
            </a:r>
            <a:r>
              <a:rPr b="0" dirty="0" sz="1700">
                <a:solidFill>
                  <a:srgbClr val="000000"/>
                </a:solidFill>
              </a:rPr>
              <a:t> di </a:t>
            </a:r>
            <a:r>
              <a:rPr b="0" dirty="0" err="1" sz="1700">
                <a:solidFill>
                  <a:srgbClr val="000000"/>
                </a:solidFill>
              </a:rPr>
              <a:t>giustizia</a:t>
            </a:r>
            <a:r>
              <a:rPr b="0" dirty="0" sz="1700">
                <a:solidFill>
                  <a:srgbClr val="000000"/>
                </a:solidFill>
              </a:rPr>
              <a:t>, </a:t>
            </a:r>
            <a:r>
              <a:rPr b="0" dirty="0" err="1" sz="1700">
                <a:solidFill>
                  <a:srgbClr val="000000"/>
                </a:solidFill>
              </a:rPr>
              <a:t>sicurezza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pubblica</a:t>
            </a:r>
            <a:r>
              <a:rPr b="0" dirty="0" sz="1700">
                <a:solidFill>
                  <a:srgbClr val="000000"/>
                </a:solidFill>
              </a:rPr>
              <a:t>, </a:t>
            </a:r>
            <a:r>
              <a:rPr b="0" dirty="0" err="1" sz="1700">
                <a:solidFill>
                  <a:srgbClr val="000000"/>
                </a:solidFill>
              </a:rPr>
              <a:t>ordine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pubblico</a:t>
            </a:r>
            <a:r>
              <a:rPr b="0" dirty="0" sz="1700">
                <a:solidFill>
                  <a:srgbClr val="000000"/>
                </a:solidFill>
              </a:rPr>
              <a:t>, </a:t>
            </a:r>
            <a:r>
              <a:rPr b="0" dirty="0" err="1" sz="1700">
                <a:solidFill>
                  <a:srgbClr val="000000"/>
                </a:solidFill>
              </a:rPr>
              <a:t>igiene</a:t>
            </a:r>
            <a:r>
              <a:rPr b="0" dirty="0" sz="1700">
                <a:solidFill>
                  <a:srgbClr val="000000"/>
                </a:solidFill>
              </a:rPr>
              <a:t> o </a:t>
            </a:r>
            <a:r>
              <a:rPr b="0" dirty="0" err="1" sz="1700">
                <a:solidFill>
                  <a:srgbClr val="000000"/>
                </a:solidFill>
              </a:rPr>
              <a:t>sanità</a:t>
            </a:r>
            <a:r>
              <a:rPr b="0" dirty="0" sz="1700">
                <a:solidFill>
                  <a:srgbClr val="000000"/>
                </a:solidFill>
              </a:rPr>
              <a:t>) </a:t>
            </a:r>
            <a:r>
              <a:rPr dirty="0" err="1" sz="1700" u="sng">
                <a:solidFill>
                  <a:srgbClr val="000000"/>
                </a:solidFill>
              </a:rPr>
              <a:t>deve</a:t>
            </a:r>
            <a:r>
              <a:rPr dirty="0" sz="1700" u="sng">
                <a:solidFill>
                  <a:srgbClr val="000000"/>
                </a:solidFill>
              </a:rPr>
              <a:t> </a:t>
            </a:r>
            <a:r>
              <a:rPr dirty="0" err="1" sz="1700" u="sng">
                <a:solidFill>
                  <a:srgbClr val="000000"/>
                </a:solidFill>
              </a:rPr>
              <a:t>essere</a:t>
            </a:r>
            <a:r>
              <a:rPr dirty="0" sz="1700" u="sng">
                <a:solidFill>
                  <a:srgbClr val="000000"/>
                </a:solidFill>
              </a:rPr>
              <a:t> </a:t>
            </a:r>
            <a:r>
              <a:rPr dirty="0" err="1" sz="1700" u="sng">
                <a:solidFill>
                  <a:srgbClr val="000000"/>
                </a:solidFill>
              </a:rPr>
              <a:t>compiuto</a:t>
            </a:r>
            <a:r>
              <a:rPr dirty="0" sz="1700" u="sng">
                <a:solidFill>
                  <a:srgbClr val="000000"/>
                </a:solidFill>
              </a:rPr>
              <a:t> senza </a:t>
            </a:r>
            <a:r>
              <a:rPr dirty="0" err="1" sz="1700" u="sng">
                <a:solidFill>
                  <a:srgbClr val="000000"/>
                </a:solidFill>
              </a:rPr>
              <a:t>ritardo</a:t>
            </a:r>
            <a:r>
              <a:rPr b="0" dirty="0" sz="1700">
                <a:solidFill>
                  <a:srgbClr val="000000"/>
                </a:solidFill>
              </a:rPr>
              <a:t>. </a:t>
            </a:r>
            <a:r>
              <a:rPr b="0" dirty="0" err="1" sz="1700">
                <a:solidFill>
                  <a:srgbClr val="000000"/>
                </a:solidFill>
              </a:rPr>
              <a:t>L’atto</a:t>
            </a:r>
            <a:r>
              <a:rPr b="0" dirty="0" sz="1700">
                <a:solidFill>
                  <a:srgbClr val="000000"/>
                </a:solidFill>
              </a:rPr>
              <a:t> in </a:t>
            </a:r>
            <a:r>
              <a:rPr b="0" dirty="0" err="1" sz="1700">
                <a:solidFill>
                  <a:srgbClr val="000000"/>
                </a:solidFill>
              </a:rPr>
              <a:t>questione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deve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rivestire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i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caratteri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dell’indifferibilità</a:t>
            </a:r>
            <a:r>
              <a:rPr b="0" dirty="0" sz="1700">
                <a:solidFill>
                  <a:srgbClr val="000000"/>
                </a:solidFill>
              </a:rPr>
              <a:t> e </a:t>
            </a:r>
            <a:r>
              <a:rPr b="0" dirty="0" err="1" sz="1700">
                <a:solidFill>
                  <a:srgbClr val="000000"/>
                </a:solidFill>
              </a:rPr>
              <a:t>dell’urgenza</a:t>
            </a:r>
            <a:r>
              <a:rPr b="0" dirty="0" sz="1700">
                <a:solidFill>
                  <a:srgbClr val="000000"/>
                </a:solidFill>
              </a:rPr>
              <a:t>;</a:t>
            </a:r>
            <a:r>
              <a:rPr altLang="it-IT" b="0" dirty="0" lang="it-IT" sz="1700">
                <a:solidFill>
                  <a:srgbClr val="000000"/>
                </a:solidFill>
              </a:rPr>
              <a:t> </a:t>
            </a:r>
            <a:r>
              <a:rPr altLang="it-IT" b="0" dirty="0" lang="it-IT" sz="1400">
                <a:solidFill>
                  <a:srgbClr val="000000"/>
                </a:solidFill>
              </a:rPr>
              <a:t>(es.</a:t>
            </a:r>
            <a:r>
              <a:rPr altLang="it-IT" b="0" dirty="0" i="1" lang="it-IT" sz="1600">
                <a:solidFill>
                  <a:schemeClr val="tx1"/>
                </a:solidFill>
                <a:sym typeface="Times New Roman"/>
              </a:rPr>
              <a:t> sequestri obbligatori amministrativi, la confisca amministrativa, gli ordini di distruzione degli immobili abusivi, gli ordini di scioglimento delle manifestazioni vietate, la sospensione e la revoca della patente di guida, gli ordini di non circolare su determinate strade).</a:t>
            </a:r>
            <a:endParaRPr altLang="it-IT" b="0" dirty="0" lang="it-IT" sz="1400">
              <a:solidFill>
                <a:schemeClr val="tx1"/>
              </a:solidFill>
            </a:endParaRP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 sz="1800">
              <a:solidFill>
                <a:srgbClr val="000000"/>
              </a:solidFill>
            </a:endParaRPr>
          </a:p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▪"/>
              <a:defRPr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sz="1700" u="sng">
                <a:solidFill>
                  <a:srgbClr val="FF0000"/>
                </a:solidFill>
              </a:rPr>
              <a:t>OMISSIONE DI ATTI D’UFFICIO</a:t>
            </a:r>
            <a:r>
              <a:rPr b="0" dirty="0" sz="1700">
                <a:solidFill>
                  <a:srgbClr val="000000"/>
                </a:solidFill>
              </a:rPr>
              <a:t>: al </a:t>
            </a:r>
            <a:r>
              <a:rPr dirty="0" sz="1700">
                <a:solidFill>
                  <a:srgbClr val="000000"/>
                </a:solidFill>
              </a:rPr>
              <a:t>secondo comma </a:t>
            </a:r>
            <a:r>
              <a:rPr b="0" dirty="0" err="1" sz="1700">
                <a:solidFill>
                  <a:srgbClr val="000000"/>
                </a:solidFill>
              </a:rPr>
              <a:t>si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sanziona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il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pubblico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funzionario</a:t>
            </a:r>
            <a:r>
              <a:rPr b="0" dirty="0" sz="1700">
                <a:solidFill>
                  <a:srgbClr val="000000"/>
                </a:solidFill>
              </a:rPr>
              <a:t> “</a:t>
            </a:r>
            <a:r>
              <a:rPr b="0" dirty="0" err="1" sz="1700">
                <a:solidFill>
                  <a:srgbClr val="000000"/>
                </a:solidFill>
              </a:rPr>
              <a:t>che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dirty="0" err="1" sz="1700" u="sng">
                <a:solidFill>
                  <a:srgbClr val="000000"/>
                </a:solidFill>
              </a:rPr>
              <a:t>entro</a:t>
            </a:r>
            <a:r>
              <a:rPr dirty="0" sz="1700" u="sng">
                <a:solidFill>
                  <a:srgbClr val="000000"/>
                </a:solidFill>
              </a:rPr>
              <a:t> </a:t>
            </a:r>
            <a:r>
              <a:rPr dirty="0" err="1" sz="1700" u="sng">
                <a:solidFill>
                  <a:srgbClr val="000000"/>
                </a:solidFill>
              </a:rPr>
              <a:t>trenta</a:t>
            </a:r>
            <a:r>
              <a:rPr dirty="0" sz="1700" u="sng">
                <a:solidFill>
                  <a:srgbClr val="000000"/>
                </a:solidFill>
              </a:rPr>
              <a:t> </a:t>
            </a:r>
            <a:r>
              <a:rPr dirty="0" err="1" sz="1700" u="sng">
                <a:solidFill>
                  <a:srgbClr val="000000"/>
                </a:solidFill>
              </a:rPr>
              <a:t>giorni</a:t>
            </a:r>
            <a:r>
              <a:rPr dirty="0" sz="1700" u="sng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dalla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richiesta</a:t>
            </a:r>
            <a:r>
              <a:rPr b="0" dirty="0" sz="1700">
                <a:solidFill>
                  <a:srgbClr val="000000"/>
                </a:solidFill>
              </a:rPr>
              <a:t> di chi vi </a:t>
            </a:r>
            <a:r>
              <a:rPr b="0" dirty="0" err="1" sz="1700">
                <a:solidFill>
                  <a:srgbClr val="000000"/>
                </a:solidFill>
              </a:rPr>
              <a:t>abbia</a:t>
            </a:r>
            <a:r>
              <a:rPr b="0" dirty="0" sz="1700">
                <a:solidFill>
                  <a:srgbClr val="000000"/>
                </a:solidFill>
              </a:rPr>
              <a:t> interesse </a:t>
            </a:r>
            <a:r>
              <a:rPr dirty="0" sz="1700" u="sng"/>
              <a:t>non</a:t>
            </a:r>
            <a:r>
              <a:rPr dirty="0" sz="1700"/>
              <a:t> </a:t>
            </a:r>
            <a:r>
              <a:rPr dirty="0" err="1" sz="1700"/>
              <a:t>compie</a:t>
            </a:r>
            <a:r>
              <a:rPr dirty="0" sz="1700"/>
              <a:t> </a:t>
            </a:r>
            <a:r>
              <a:rPr dirty="0" err="1" sz="1700"/>
              <a:t>l'atto</a:t>
            </a:r>
            <a:r>
              <a:rPr dirty="0" sz="1700"/>
              <a:t> del </a:t>
            </a:r>
            <a:r>
              <a:rPr dirty="0" err="1" sz="1700"/>
              <a:t>suo</a:t>
            </a:r>
            <a:r>
              <a:rPr dirty="0" sz="1700"/>
              <a:t> </a:t>
            </a:r>
            <a:r>
              <a:rPr dirty="0" err="1" sz="1700"/>
              <a:t>ufficio</a:t>
            </a:r>
            <a:r>
              <a:rPr dirty="0" sz="1700"/>
              <a:t> e </a:t>
            </a:r>
            <a:r>
              <a:rPr dirty="0" sz="1700" u="sng"/>
              <a:t>non</a:t>
            </a:r>
            <a:r>
              <a:rPr dirty="0" sz="1700"/>
              <a:t> </a:t>
            </a:r>
            <a:r>
              <a:rPr dirty="0" err="1" sz="1700"/>
              <a:t>risponde</a:t>
            </a:r>
            <a:r>
              <a:rPr dirty="0" sz="1700"/>
              <a:t> per </a:t>
            </a:r>
            <a:r>
              <a:rPr dirty="0" err="1" sz="1700"/>
              <a:t>esporre</a:t>
            </a:r>
            <a:r>
              <a:rPr dirty="0" sz="1700"/>
              <a:t> le </a:t>
            </a:r>
            <a:r>
              <a:rPr dirty="0" err="1" sz="1700"/>
              <a:t>ragioni</a:t>
            </a:r>
            <a:r>
              <a:rPr dirty="0" sz="1700"/>
              <a:t> del </a:t>
            </a:r>
            <a:r>
              <a:rPr dirty="0" err="1" sz="1700"/>
              <a:t>ritardo</a:t>
            </a:r>
            <a:r>
              <a:rPr b="0" dirty="0" sz="1700" u="sng">
                <a:solidFill>
                  <a:srgbClr val="FF0000"/>
                </a:solidFill>
              </a:rPr>
              <a:t>”. La </a:t>
            </a:r>
            <a:r>
              <a:rPr b="0" dirty="0" err="1" sz="1700" u="sng">
                <a:solidFill>
                  <a:srgbClr val="FF0000"/>
                </a:solidFill>
              </a:rPr>
              <a:t>richiesta</a:t>
            </a:r>
            <a:r>
              <a:rPr b="0" dirty="0" sz="1700" u="sng">
                <a:solidFill>
                  <a:srgbClr val="FF0000"/>
                </a:solidFill>
              </a:rPr>
              <a:t> cui </a:t>
            </a:r>
            <a:r>
              <a:rPr b="0" dirty="0" err="1" sz="1700" u="sng">
                <a:solidFill>
                  <a:srgbClr val="FF0000"/>
                </a:solidFill>
              </a:rPr>
              <a:t>si</a:t>
            </a:r>
            <a:r>
              <a:rPr b="0" dirty="0" sz="1700" u="sng">
                <a:solidFill>
                  <a:srgbClr val="FF0000"/>
                </a:solidFill>
              </a:rPr>
              <a:t> fa </a:t>
            </a:r>
            <a:r>
              <a:rPr b="0" dirty="0" err="1" sz="1700" u="sng">
                <a:solidFill>
                  <a:srgbClr val="FF0000"/>
                </a:solidFill>
              </a:rPr>
              <a:t>menzione</a:t>
            </a:r>
            <a:r>
              <a:rPr b="0" dirty="0" sz="1700" u="sng">
                <a:solidFill>
                  <a:srgbClr val="FF0000"/>
                </a:solidFill>
              </a:rPr>
              <a:t> non è </a:t>
            </a:r>
            <a:r>
              <a:rPr b="0" dirty="0" err="1" sz="1700" u="sng">
                <a:solidFill>
                  <a:srgbClr val="FF0000"/>
                </a:solidFill>
              </a:rPr>
              <a:t>quella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iniziale</a:t>
            </a:r>
            <a:r>
              <a:rPr b="0" dirty="0" sz="1700" u="sng">
                <a:solidFill>
                  <a:srgbClr val="FF0000"/>
                </a:solidFill>
              </a:rPr>
              <a:t> con la quale </a:t>
            </a:r>
            <a:r>
              <a:rPr b="0" dirty="0" err="1" sz="1700" u="sng">
                <a:solidFill>
                  <a:srgbClr val="FF0000"/>
                </a:solidFill>
              </a:rPr>
              <a:t>si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richiede</a:t>
            </a:r>
            <a:r>
              <a:rPr b="0" dirty="0" sz="1700" u="sng">
                <a:solidFill>
                  <a:srgbClr val="FF0000"/>
                </a:solidFill>
              </a:rPr>
              <a:t> per la prima </a:t>
            </a:r>
            <a:r>
              <a:rPr b="0" dirty="0" err="1" sz="1700" u="sng">
                <a:solidFill>
                  <a:srgbClr val="FF0000"/>
                </a:solidFill>
              </a:rPr>
              <a:t>volta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il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compimento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dell’atto</a:t>
            </a:r>
            <a:r>
              <a:rPr b="0" dirty="0" sz="1700" u="sng">
                <a:solidFill>
                  <a:srgbClr val="FF0000"/>
                </a:solidFill>
              </a:rPr>
              <a:t>, </a:t>
            </a:r>
            <a:r>
              <a:rPr b="0" dirty="0" err="1" sz="1700" u="sng">
                <a:solidFill>
                  <a:srgbClr val="FF0000"/>
                </a:solidFill>
              </a:rPr>
              <a:t>bensì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quella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dirty="0" err="1" sz="1700" u="sng">
                <a:solidFill>
                  <a:srgbClr val="FF0000"/>
                </a:solidFill>
              </a:rPr>
              <a:t>successiva</a:t>
            </a:r>
            <a:r>
              <a:rPr dirty="0" sz="1700" u="sng">
                <a:solidFill>
                  <a:srgbClr val="FF0000"/>
                </a:solidFill>
              </a:rPr>
              <a:t> di </a:t>
            </a:r>
            <a:r>
              <a:rPr dirty="0" err="1" sz="1700" u="sng">
                <a:solidFill>
                  <a:srgbClr val="FF0000"/>
                </a:solidFill>
              </a:rPr>
              <a:t>messa</a:t>
            </a:r>
            <a:r>
              <a:rPr dirty="0" sz="1700" u="sng">
                <a:solidFill>
                  <a:srgbClr val="FF0000"/>
                </a:solidFill>
              </a:rPr>
              <a:t> in mora </a:t>
            </a:r>
            <a:r>
              <a:rPr b="0" dirty="0" err="1" sz="1700" u="sng">
                <a:solidFill>
                  <a:srgbClr val="FF0000"/>
                </a:solidFill>
              </a:rPr>
              <a:t>che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può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essere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inoltrata</a:t>
            </a:r>
            <a:r>
              <a:rPr b="0" dirty="0" sz="1700" u="sng">
                <a:solidFill>
                  <a:srgbClr val="FF0000"/>
                </a:solidFill>
              </a:rPr>
              <a:t> una </a:t>
            </a:r>
            <a:r>
              <a:rPr b="0" dirty="0" err="1" sz="1700" u="sng">
                <a:solidFill>
                  <a:srgbClr val="FF0000"/>
                </a:solidFill>
              </a:rPr>
              <a:t>volta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che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i</a:t>
            </a:r>
            <a:r>
              <a:rPr b="0" dirty="0" sz="1700" u="sng">
                <a:solidFill>
                  <a:srgbClr val="FF0000"/>
                </a:solidFill>
              </a:rPr>
              <a:t> tempi </a:t>
            </a:r>
            <a:r>
              <a:rPr b="0" dirty="0" err="1" sz="1700" u="sng">
                <a:solidFill>
                  <a:srgbClr val="FF0000"/>
                </a:solidFill>
              </a:rPr>
              <a:t>massimi</a:t>
            </a:r>
            <a:r>
              <a:rPr b="0" dirty="0" sz="1700" u="sng">
                <a:solidFill>
                  <a:srgbClr val="FF0000"/>
                </a:solidFill>
              </a:rPr>
              <a:t> per </a:t>
            </a:r>
            <a:r>
              <a:rPr b="0" dirty="0" err="1" sz="1700" u="sng">
                <a:solidFill>
                  <a:srgbClr val="FF0000"/>
                </a:solidFill>
              </a:rPr>
              <a:t>l’esecuzione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dell’atto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siano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già</a:t>
            </a:r>
            <a:r>
              <a:rPr b="0" dirty="0" sz="1700" u="sng">
                <a:solidFill>
                  <a:srgbClr val="FF0000"/>
                </a:solidFill>
              </a:rPr>
              <a:t> </a:t>
            </a:r>
            <a:r>
              <a:rPr b="0" dirty="0" err="1" sz="1700" u="sng">
                <a:solidFill>
                  <a:srgbClr val="FF0000"/>
                </a:solidFill>
              </a:rPr>
              <a:t>decorsi</a:t>
            </a:r>
            <a:r>
              <a:rPr b="0" dirty="0" sz="1700" u="sng">
                <a:solidFill>
                  <a:srgbClr val="FF0000"/>
                </a:solidFill>
              </a:rPr>
              <a:t>.</a:t>
            </a:r>
            <a:r>
              <a:rPr b="0" dirty="0" sz="1700">
                <a:solidFill>
                  <a:srgbClr val="000000"/>
                </a:solidFill>
              </a:rPr>
              <a:t> La </a:t>
            </a:r>
            <a:r>
              <a:rPr b="0" dirty="0" err="1" sz="1700">
                <a:solidFill>
                  <a:srgbClr val="000000"/>
                </a:solidFill>
              </a:rPr>
              <a:t>richiesta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scritta</a:t>
            </a:r>
            <a:r>
              <a:rPr b="0" dirty="0" sz="1700">
                <a:solidFill>
                  <a:srgbClr val="000000"/>
                </a:solidFill>
              </a:rPr>
              <a:t> di cui </a:t>
            </a:r>
            <a:r>
              <a:rPr b="0" dirty="0" err="1" sz="1700">
                <a:solidFill>
                  <a:srgbClr val="000000"/>
                </a:solidFill>
              </a:rPr>
              <a:t>all’art</a:t>
            </a:r>
            <a:r>
              <a:rPr b="0" dirty="0" sz="1700">
                <a:solidFill>
                  <a:srgbClr val="000000"/>
                </a:solidFill>
              </a:rPr>
              <a:t>. 328, co. 2, assume </a:t>
            </a:r>
            <a:r>
              <a:rPr b="0" dirty="0" err="1" sz="1700">
                <a:solidFill>
                  <a:srgbClr val="000000"/>
                </a:solidFill>
              </a:rPr>
              <a:t>quindi</a:t>
            </a:r>
            <a:r>
              <a:rPr b="0" dirty="0" sz="1700">
                <a:solidFill>
                  <a:srgbClr val="000000"/>
                </a:solidFill>
              </a:rPr>
              <a:t> la </a:t>
            </a:r>
            <a:r>
              <a:rPr b="0" dirty="0" err="1" sz="1700">
                <a:solidFill>
                  <a:srgbClr val="000000"/>
                </a:solidFill>
              </a:rPr>
              <a:t>natura</a:t>
            </a:r>
            <a:r>
              <a:rPr b="0" dirty="0" sz="1700">
                <a:solidFill>
                  <a:srgbClr val="000000"/>
                </a:solidFill>
              </a:rPr>
              <a:t> e la </a:t>
            </a:r>
            <a:r>
              <a:rPr b="0" dirty="0" err="1" sz="1700">
                <a:solidFill>
                  <a:srgbClr val="000000"/>
                </a:solidFill>
              </a:rPr>
              <a:t>funzione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tipica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della</a:t>
            </a:r>
            <a:r>
              <a:rPr b="0" dirty="0" sz="1700">
                <a:solidFill>
                  <a:srgbClr val="000000"/>
                </a:solidFill>
              </a:rPr>
              <a:t> </a:t>
            </a:r>
            <a:r>
              <a:rPr b="0" dirty="0" err="1" sz="1700">
                <a:solidFill>
                  <a:srgbClr val="000000"/>
                </a:solidFill>
              </a:rPr>
              <a:t>diffida</a:t>
            </a:r>
            <a:r>
              <a:rPr b="0" dirty="0" sz="1700">
                <a:solidFill>
                  <a:srgbClr val="000000"/>
                </a:solidFill>
              </a:rPr>
              <a:t> ad </a:t>
            </a:r>
            <a:r>
              <a:rPr b="0" dirty="0" err="1" sz="1700">
                <a:solidFill>
                  <a:srgbClr val="000000"/>
                </a:solidFill>
              </a:rPr>
              <a:t>adempiere</a:t>
            </a:r>
            <a:r>
              <a:rPr b="0" dirty="0" sz="170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descr="Immagine 7" id="372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asellaDiTesto 4"/>
          <p:cNvSpPr txBox="1"/>
          <p:nvPr/>
        </p:nvSpPr>
        <p:spPr>
          <a:xfrm>
            <a:off x="203901" y="748922"/>
            <a:ext cx="8736198" cy="4693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Mentre</a:t>
            </a:r>
            <a:r>
              <a:rPr dirty="0"/>
              <a:t> la </a:t>
            </a:r>
            <a:r>
              <a:rPr dirty="0" err="1"/>
              <a:t>condotta</a:t>
            </a:r>
            <a:r>
              <a:rPr dirty="0"/>
              <a:t> di cui al </a:t>
            </a:r>
            <a:r>
              <a:rPr b="1" dirty="0"/>
              <a:t>primo comma </a:t>
            </a:r>
            <a:r>
              <a:rPr dirty="0"/>
              <a:t>è </a:t>
            </a:r>
            <a:r>
              <a:rPr b="1" dirty="0">
                <a:solidFill>
                  <a:srgbClr val="0070C0"/>
                </a:solidFill>
              </a:rPr>
              <a:t>MONOFFENSIVA</a:t>
            </a:r>
            <a:r>
              <a:rPr dirty="0"/>
              <a:t>, </a:t>
            </a:r>
            <a:r>
              <a:rPr dirty="0" err="1"/>
              <a:t>tutelando</a:t>
            </a:r>
            <a:r>
              <a:rPr dirty="0"/>
              <a:t> solo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/>
              <a:t>buon</a:t>
            </a:r>
            <a:r>
              <a:rPr b="1" dirty="0"/>
              <a:t> </a:t>
            </a:r>
            <a:r>
              <a:rPr b="1" dirty="0" err="1"/>
              <a:t>andamento</a:t>
            </a:r>
            <a:r>
              <a:rPr b="1" dirty="0"/>
              <a:t> </a:t>
            </a:r>
            <a:r>
              <a:rPr b="1" dirty="0" err="1"/>
              <a:t>della</a:t>
            </a:r>
            <a:r>
              <a:rPr b="1" dirty="0"/>
              <a:t> P.A. </a:t>
            </a:r>
            <a:r>
              <a:rPr dirty="0"/>
              <a:t>ed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suo</a:t>
            </a:r>
            <a:r>
              <a:rPr dirty="0"/>
              <a:t> </a:t>
            </a:r>
            <a:r>
              <a:rPr dirty="0" err="1"/>
              <a:t>normale</a:t>
            </a:r>
            <a:r>
              <a:rPr dirty="0"/>
              <a:t> </a:t>
            </a:r>
            <a:r>
              <a:rPr dirty="0" err="1"/>
              <a:t>funzionamento</a:t>
            </a:r>
            <a:r>
              <a:rPr dirty="0"/>
              <a:t>, </a:t>
            </a:r>
            <a:r>
              <a:rPr dirty="0" err="1"/>
              <a:t>quella</a:t>
            </a:r>
            <a:r>
              <a:rPr dirty="0"/>
              <a:t> di cui al </a:t>
            </a:r>
            <a:r>
              <a:rPr b="1" dirty="0"/>
              <a:t>secondo comma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invece</a:t>
            </a:r>
            <a:r>
              <a:rPr dirty="0"/>
              <a:t> una </a:t>
            </a:r>
            <a:r>
              <a:rPr dirty="0" err="1"/>
              <a:t>natura</a:t>
            </a:r>
            <a:r>
              <a:rPr dirty="0"/>
              <a:t> </a:t>
            </a:r>
            <a:r>
              <a:rPr b="1" dirty="0">
                <a:solidFill>
                  <a:srgbClr val="0070C0"/>
                </a:solidFill>
              </a:rPr>
              <a:t>PLURIOFFENSIVA</a:t>
            </a:r>
            <a:r>
              <a:rPr dirty="0"/>
              <a:t>, </a:t>
            </a:r>
            <a:r>
              <a:rPr b="1" dirty="0" err="1"/>
              <a:t>tutelando</a:t>
            </a:r>
            <a:r>
              <a:rPr b="1" dirty="0"/>
              <a:t> </a:t>
            </a:r>
            <a:r>
              <a:rPr b="1" dirty="0" err="1"/>
              <a:t>anche</a:t>
            </a:r>
            <a:r>
              <a:rPr b="1" dirty="0"/>
              <a:t> </a:t>
            </a:r>
            <a:r>
              <a:rPr b="1" dirty="0" err="1"/>
              <a:t>il</a:t>
            </a:r>
            <a:r>
              <a:rPr b="1" dirty="0"/>
              <a:t> </a:t>
            </a:r>
            <a:r>
              <a:rPr b="1" dirty="0" err="1"/>
              <a:t>concorrente</a:t>
            </a:r>
            <a:r>
              <a:rPr b="1" dirty="0"/>
              <a:t> interesse del </a:t>
            </a:r>
            <a:r>
              <a:rPr b="1" dirty="0" err="1"/>
              <a:t>privato</a:t>
            </a:r>
            <a:r>
              <a:rPr b="1" dirty="0"/>
              <a:t> </a:t>
            </a:r>
            <a:r>
              <a:rPr dirty="0" err="1"/>
              <a:t>richiedente</a:t>
            </a:r>
            <a:r>
              <a:rPr dirty="0"/>
              <a:t> un </a:t>
            </a:r>
            <a:r>
              <a:rPr dirty="0" err="1"/>
              <a:t>atto</a:t>
            </a:r>
            <a:r>
              <a:rPr dirty="0"/>
              <a:t> a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dovuto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due </a:t>
            </a:r>
            <a:r>
              <a:rPr dirty="0" err="1"/>
              <a:t>commi</a:t>
            </a:r>
            <a:r>
              <a:rPr dirty="0"/>
              <a:t> </a:t>
            </a:r>
            <a:r>
              <a:rPr dirty="0" err="1"/>
              <a:t>hanno</a:t>
            </a:r>
            <a:r>
              <a:rPr dirty="0"/>
              <a:t> in </a:t>
            </a:r>
            <a:r>
              <a:rPr dirty="0" err="1"/>
              <a:t>comune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costituiscono</a:t>
            </a:r>
            <a:r>
              <a:rPr dirty="0"/>
              <a:t> </a:t>
            </a:r>
            <a:r>
              <a:rPr dirty="0" err="1"/>
              <a:t>entrambi</a:t>
            </a:r>
            <a:r>
              <a:rPr dirty="0"/>
              <a:t> </a:t>
            </a:r>
            <a:r>
              <a:rPr dirty="0" err="1"/>
              <a:t>ipotesi</a:t>
            </a:r>
            <a:r>
              <a:rPr dirty="0"/>
              <a:t> di </a:t>
            </a:r>
            <a:r>
              <a:rPr b="1" dirty="0" u="sng">
                <a:solidFill>
                  <a:srgbClr val="0070C0"/>
                </a:solidFill>
              </a:rPr>
              <a:t>REATI DI PERICOLO E DI TIPO OMISSIVO </a:t>
            </a:r>
            <a:r>
              <a:rPr altLang="it-IT" dirty="0" lang="it-IT" u="sng">
                <a:solidFill>
                  <a:srgbClr val="0070C0"/>
                </a:solidFill>
              </a:rPr>
              <a:t>IM</a:t>
            </a:r>
            <a:r>
              <a:rPr b="1" dirty="0" u="sng">
                <a:solidFill>
                  <a:srgbClr val="0070C0"/>
                </a:solidFill>
              </a:rPr>
              <a:t>PROPRIO</a:t>
            </a:r>
            <a:r>
              <a:rPr dirty="0"/>
              <a:t>,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puniscono</a:t>
            </a:r>
            <a:r>
              <a:rPr dirty="0"/>
              <a:t> una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consistente</a:t>
            </a:r>
            <a:r>
              <a:rPr dirty="0"/>
              <a:t> in un semplice </a:t>
            </a:r>
            <a:r>
              <a:rPr b="1" dirty="0" u="sng"/>
              <a:t>non fare</a:t>
            </a:r>
            <a:r>
              <a:rPr dirty="0"/>
              <a:t>, </a:t>
            </a:r>
            <a:r>
              <a:rPr dirty="0" err="1"/>
              <a:t>prescindendo</a:t>
            </a:r>
            <a:r>
              <a:rPr dirty="0"/>
              <a:t> </a:t>
            </a:r>
            <a:r>
              <a:rPr dirty="0" err="1"/>
              <a:t>completamente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causazione</a:t>
            </a:r>
            <a:r>
              <a:rPr dirty="0"/>
              <a:t> di un </a:t>
            </a:r>
            <a:r>
              <a:rPr dirty="0" err="1"/>
              <a:t>evento</a:t>
            </a:r>
            <a:r>
              <a:rPr dirty="0"/>
              <a:t> di </a:t>
            </a:r>
            <a:r>
              <a:rPr dirty="0" err="1"/>
              <a:t>danno</a:t>
            </a:r>
            <a:r>
              <a:rPr dirty="0"/>
              <a:t> </a:t>
            </a:r>
            <a:r>
              <a:rPr dirty="0" err="1"/>
              <a:t>naturalisticamente</a:t>
            </a:r>
            <a:r>
              <a:rPr dirty="0"/>
              <a:t> </a:t>
            </a:r>
            <a:r>
              <a:rPr dirty="0" err="1"/>
              <a:t>inteso</a:t>
            </a:r>
            <a:r>
              <a:rPr dirty="0"/>
              <a:t>.</a:t>
            </a:r>
            <a:endParaRPr altLang="it-IT" dirty="0" lang="it-IT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descr="Immagine 7" id="376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asellaDiTesto 4"/>
          <p:cNvSpPr txBox="1"/>
          <p:nvPr/>
        </p:nvSpPr>
        <p:spPr>
          <a:xfrm>
            <a:off x="354685" y="1661240"/>
            <a:ext cx="8409683" cy="3535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Con </a:t>
            </a:r>
            <a:r>
              <a:rPr dirty="0" err="1"/>
              <a:t>riguardo</a:t>
            </a:r>
            <a:r>
              <a:rPr dirty="0"/>
              <a:t> al </a:t>
            </a:r>
            <a:r>
              <a:rPr b="1" dirty="0"/>
              <a:t>primo comma</a:t>
            </a:r>
            <a:r>
              <a:rPr dirty="0"/>
              <a:t>,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0070C0"/>
                </a:solidFill>
              </a:rPr>
              <a:t>rifiuto</a:t>
            </a:r>
            <a:r>
              <a:rPr dirty="0"/>
              <a:t> </a:t>
            </a:r>
            <a:r>
              <a:rPr dirty="0" err="1"/>
              <a:t>può</a:t>
            </a:r>
            <a:r>
              <a:rPr dirty="0"/>
              <a:t> </a:t>
            </a:r>
            <a:r>
              <a:rPr dirty="0" err="1"/>
              <a:t>manifestarsi</a:t>
            </a:r>
            <a:r>
              <a:rPr dirty="0"/>
              <a:t> in </a:t>
            </a:r>
            <a:r>
              <a:rPr dirty="0" err="1"/>
              <a:t>qualsiasi</a:t>
            </a:r>
            <a:r>
              <a:rPr dirty="0"/>
              <a:t> forma, </a:t>
            </a:r>
            <a:r>
              <a:rPr dirty="0" err="1"/>
              <a:t>scritta</a:t>
            </a:r>
            <a:r>
              <a:rPr dirty="0"/>
              <a:t> o </a:t>
            </a:r>
            <a:r>
              <a:rPr dirty="0" err="1"/>
              <a:t>orale</a:t>
            </a:r>
            <a:r>
              <a:rPr dirty="0"/>
              <a:t>, e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b="1" dirty="0" err="1">
                <a:solidFill>
                  <a:srgbClr val="0070C0"/>
                </a:solidFill>
              </a:rPr>
              <a:t>indebito</a:t>
            </a:r>
            <a:r>
              <a:rPr dirty="0"/>
              <a:t> (</a:t>
            </a:r>
            <a:r>
              <a:rPr dirty="0" err="1"/>
              <a:t>quindi</a:t>
            </a:r>
            <a:r>
              <a:rPr dirty="0"/>
              <a:t> non </a:t>
            </a:r>
            <a:r>
              <a:rPr dirty="0" err="1"/>
              <a:t>sorretto</a:t>
            </a:r>
            <a:r>
              <a:rPr dirty="0"/>
              <a:t> da cause di </a:t>
            </a:r>
            <a:r>
              <a:rPr dirty="0" err="1"/>
              <a:t>giustificazione</a:t>
            </a:r>
            <a:r>
              <a:rPr dirty="0"/>
              <a:t>). </a:t>
            </a:r>
            <a:endParaRPr altLang="it-IT" dirty="0" lang="it-IT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connotazione</a:t>
            </a:r>
            <a:r>
              <a:rPr dirty="0"/>
              <a:t> </a:t>
            </a:r>
            <a:r>
              <a:rPr b="1" dirty="0" err="1">
                <a:solidFill>
                  <a:srgbClr val="0070C0"/>
                </a:solidFill>
              </a:rPr>
              <a:t>indebita</a:t>
            </a:r>
            <a:r>
              <a:rPr dirty="0"/>
              <a:t>, secondo la </a:t>
            </a:r>
            <a:r>
              <a:rPr dirty="0" err="1"/>
              <a:t>giurisprudenza</a:t>
            </a:r>
            <a:r>
              <a:rPr dirty="0"/>
              <a:t>, </a:t>
            </a:r>
            <a:r>
              <a:rPr dirty="0" err="1"/>
              <a:t>sussiste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risulti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soggetto</a:t>
            </a:r>
            <a:r>
              <a:rPr dirty="0"/>
              <a:t> non </a:t>
            </a:r>
            <a:r>
              <a:rPr dirty="0" err="1"/>
              <a:t>abbia</a:t>
            </a:r>
            <a:r>
              <a:rPr dirty="0"/>
              <a:t> </a:t>
            </a:r>
            <a:r>
              <a:rPr dirty="0" err="1"/>
              <a:t>esercitato</a:t>
            </a:r>
            <a:r>
              <a:rPr dirty="0"/>
              <a:t> alcuna </a:t>
            </a:r>
            <a:r>
              <a:rPr dirty="0" err="1"/>
              <a:t>discrezionalità</a:t>
            </a:r>
            <a:r>
              <a:rPr dirty="0"/>
              <a:t> </a:t>
            </a:r>
            <a:r>
              <a:rPr dirty="0" err="1"/>
              <a:t>tecnica</a:t>
            </a:r>
            <a:r>
              <a:rPr dirty="0"/>
              <a:t>, ma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semplicemente</a:t>
            </a:r>
            <a:r>
              <a:rPr dirty="0"/>
              <a:t> </a:t>
            </a:r>
            <a:r>
              <a:rPr dirty="0" err="1"/>
              <a:t>sottratto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valutazione</a:t>
            </a:r>
            <a:r>
              <a:rPr dirty="0"/>
              <a:t> </a:t>
            </a:r>
            <a:r>
              <a:rPr dirty="0" err="1"/>
              <a:t>d'urgenza</a:t>
            </a:r>
            <a:r>
              <a:rPr dirty="0"/>
              <a:t> </a:t>
            </a:r>
            <a:r>
              <a:rPr dirty="0" err="1"/>
              <a:t>dell'atto</a:t>
            </a:r>
            <a:r>
              <a:rPr dirty="0"/>
              <a:t> del </a:t>
            </a:r>
            <a:r>
              <a:rPr dirty="0" err="1"/>
              <a:t>suo</a:t>
            </a:r>
            <a:r>
              <a:rPr dirty="0"/>
              <a:t> </a:t>
            </a:r>
            <a:r>
              <a:rPr dirty="0" err="1"/>
              <a:t>ufficio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descr="Immagine 7" id="380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asellaDiTesto 4"/>
          <p:cNvSpPr txBox="1"/>
          <p:nvPr/>
        </p:nvSpPr>
        <p:spPr>
          <a:xfrm>
            <a:off x="288548" y="973599"/>
            <a:ext cx="8409683" cy="404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 quanto concerne il </a:t>
            </a:r>
            <a:r>
              <a:rPr b="1"/>
              <a:t>secondo comma</a:t>
            </a:r>
            <a:r>
              <a:t>, la condotta si esprime in una </a:t>
            </a:r>
            <a:r>
              <a:rPr b="1">
                <a:solidFill>
                  <a:srgbClr val="0070C0"/>
                </a:solidFill>
              </a:rPr>
              <a:t>omissione di un atto d'ufficio</a:t>
            </a:r>
            <a:r>
              <a:t>, conseguente ad una formale </a:t>
            </a:r>
            <a:r>
              <a:rPr b="1"/>
              <a:t>messa in mora</a:t>
            </a:r>
            <a:r>
              <a:t>, vale a dire una richiesta scritta del privato, da cui decorre il termine per l'adozione dell'atto ovvero per formulare una risposta negativa che espliciti i motivi del diniego.</a:t>
            </a:r>
          </a:p>
          <a:p>
            <a:pPr algn="just">
              <a:lnSpc>
                <a:spcPct val="114000"/>
              </a:lnSpc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È comunque necessario che sussista un </a:t>
            </a:r>
            <a:r>
              <a:rPr b="1">
                <a:solidFill>
                  <a:srgbClr val="0070C0"/>
                </a:solidFill>
              </a:rPr>
              <a:t>effettivo obbligo di avvio del procedimento</a:t>
            </a:r>
            <a:r>
              <a:t>.</a:t>
            </a:r>
          </a:p>
          <a:p>
            <a:pPr algn="just">
              <a:lnSpc>
                <a:spcPct val="114000"/>
              </a:lnSpc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defRPr sz="2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L'interesse del privato </a:t>
            </a:r>
            <a:r>
              <a:rPr b="0">
                <a:solidFill>
                  <a:srgbClr val="000000"/>
                </a:solidFill>
              </a:rPr>
              <a:t>deve inoltre essere </a:t>
            </a:r>
            <a:r>
              <a:rPr>
                <a:solidFill>
                  <a:srgbClr val="000000"/>
                </a:solidFill>
              </a:rPr>
              <a:t>qualificato</a:t>
            </a:r>
            <a:r>
              <a:rPr b="0">
                <a:solidFill>
                  <a:srgbClr val="000000"/>
                </a:solidFill>
              </a:rPr>
              <a:t> e cioè essere un interesse diretto, concreto ed attuale, corrispondente ad una situazione giuridicamente tutelata.</a:t>
            </a:r>
          </a:p>
        </p:txBody>
      </p:sp>
      <p:pic>
        <p:nvPicPr>
          <p:cNvPr descr="Immagine 7" id="384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8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CasellaDiTesto 4"/>
          <p:cNvSpPr txBox="1"/>
          <p:nvPr/>
        </p:nvSpPr>
        <p:spPr>
          <a:xfrm>
            <a:off x="288548" y="1234494"/>
            <a:ext cx="8409683" cy="4167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b="0" u="none"/>
              <a:t>: è sufficiente il </a:t>
            </a:r>
            <a:r>
              <a:rPr u="none">
                <a:solidFill>
                  <a:srgbClr val="0070C0"/>
                </a:solidFill>
              </a:rPr>
              <a:t>DOLO GENERICO</a:t>
            </a:r>
            <a:endParaRPr b="0">
              <a:solidFill>
                <a:srgbClr val="0070C0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70C0"/>
              </a:solidFill>
            </a:endParaRPr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reato si </a:t>
            </a:r>
            <a:r>
              <a:rPr b="1"/>
              <a:t>consuma</a:t>
            </a:r>
            <a:r>
              <a:t>:</a:t>
            </a:r>
          </a:p>
          <a:p>
            <a:pPr algn="just" indent="-342900" marL="342900">
              <a:buSzPct val="100000"/>
              <a:buChar char="-"/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 nel momento in cui l'atto non viene compiuto </a:t>
            </a:r>
          </a:p>
          <a:p>
            <a:pPr algn="just" indent="-342900" marL="342900">
              <a:buSzPct val="100000"/>
              <a:buChar char="-"/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 nel momento in cui sono decorsi 30 giorni dalla richiesta del privato senza che l'atto venga ad esistenza.</a:t>
            </a:r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Il </a:t>
            </a:r>
            <a:r>
              <a:rPr b="1">
                <a:solidFill>
                  <a:srgbClr val="0070C0"/>
                </a:solidFill>
              </a:rPr>
              <a:t>tentativo</a:t>
            </a:r>
            <a:r>
              <a:t> </a:t>
            </a:r>
          </a:p>
          <a:p>
            <a:pPr algn="just" indent="-342900" marL="342900">
              <a:buSzPct val="100000"/>
              <a:buChar char="-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 è configurabile </a:t>
            </a:r>
            <a:r>
              <a:rPr b="0"/>
              <a:t>al primo comma, </a:t>
            </a:r>
          </a:p>
          <a:p>
            <a:pPr algn="just" indent="-342900" marL="342900">
              <a:buSzPct val="100000"/>
              <a:buChar char="-"/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mentre </a:t>
            </a:r>
            <a:r>
              <a:rPr b="1"/>
              <a:t>è ammissibile </a:t>
            </a:r>
            <a:r>
              <a:t>al secondo.</a:t>
            </a:r>
          </a:p>
          <a:p>
            <a:pPr algn="just">
              <a:defRPr b="0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descr="Immagine 7" id="388" name="Immagin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Rifiuto di atti d’ufficio. Omissione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ttangolo 5"/>
          <p:cNvSpPr txBox="1"/>
          <p:nvPr/>
        </p:nvSpPr>
        <p:spPr>
          <a:xfrm>
            <a:off x="81215" y="980728"/>
            <a:ext cx="8693537" cy="4869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 indent="-1878013" marL="1878013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31859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329 </a:t>
            </a:r>
            <a:r>
              <a:rPr dirty="0" err="1"/>
              <a:t>c.p.</a:t>
            </a:r>
            <a:r>
              <a:rPr dirty="0"/>
              <a:t> </a:t>
            </a:r>
            <a:r>
              <a:rPr dirty="0" err="1"/>
              <a:t>Rifiuto</a:t>
            </a:r>
            <a:r>
              <a:rPr dirty="0"/>
              <a:t> o </a:t>
            </a:r>
            <a:r>
              <a:rPr dirty="0" err="1"/>
              <a:t>ritardo</a:t>
            </a:r>
            <a:r>
              <a:rPr dirty="0"/>
              <a:t> di </a:t>
            </a:r>
            <a:r>
              <a:rPr dirty="0" err="1"/>
              <a:t>obbedienza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 da un </a:t>
            </a:r>
            <a:r>
              <a:rPr dirty="0" err="1"/>
              <a:t>militare</a:t>
            </a:r>
            <a:r>
              <a:rPr dirty="0"/>
              <a:t> o da 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endParaRPr altLang="it-IT" dirty="0" lang="it-IT"/>
          </a:p>
          <a:p>
            <a:pPr algn="just" indent="-1878013" marL="1878013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31859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 sz="1050"/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«Il </a:t>
            </a:r>
            <a:r>
              <a:rPr dirty="0" err="1"/>
              <a:t>militare</a:t>
            </a:r>
            <a:r>
              <a:rPr dirty="0"/>
              <a:t> o </a:t>
            </a:r>
            <a:r>
              <a:rPr dirty="0" err="1"/>
              <a:t>l’agente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r>
              <a:rPr dirty="0"/>
              <a:t>, </a:t>
            </a:r>
            <a:r>
              <a:rPr dirty="0" err="1"/>
              <a:t>il</a:t>
            </a:r>
            <a:r>
              <a:rPr dirty="0"/>
              <a:t> quale </a:t>
            </a:r>
            <a:r>
              <a:rPr b="1" dirty="0" err="1">
                <a:solidFill>
                  <a:srgbClr val="31859C"/>
                </a:solidFill>
              </a:rPr>
              <a:t>rifiuta</a:t>
            </a:r>
            <a:r>
              <a:rPr dirty="0"/>
              <a:t> o </a:t>
            </a:r>
            <a:r>
              <a:rPr b="1" dirty="0" err="1">
                <a:solidFill>
                  <a:srgbClr val="31859C"/>
                </a:solidFill>
              </a:rPr>
              <a:t>ritarda</a:t>
            </a:r>
            <a:r>
              <a:rPr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indebitamente</a:t>
            </a:r>
            <a:r>
              <a:rPr dirty="0">
                <a:solidFill>
                  <a:srgbClr val="31859C"/>
                </a:solidFill>
              </a:rPr>
              <a:t> </a:t>
            </a:r>
            <a:r>
              <a:rPr b="1" dirty="0">
                <a:solidFill>
                  <a:srgbClr val="31859C"/>
                </a:solidFill>
              </a:rPr>
              <a:t>di </a:t>
            </a:r>
            <a:r>
              <a:rPr b="1" dirty="0" err="1">
                <a:solidFill>
                  <a:srgbClr val="31859C"/>
                </a:solidFill>
              </a:rPr>
              <a:t>eseguire</a:t>
            </a:r>
            <a:r>
              <a:rPr b="1" dirty="0">
                <a:solidFill>
                  <a:srgbClr val="31859C"/>
                </a:solidFill>
              </a:rPr>
              <a:t> una </a:t>
            </a:r>
            <a:r>
              <a:rPr b="1" dirty="0" err="1">
                <a:solidFill>
                  <a:srgbClr val="31859C"/>
                </a:solidFill>
              </a:rPr>
              <a:t>richiesta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fattagli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dall’Autorità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competente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stabilite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legge</a:t>
            </a:r>
            <a:r>
              <a:rPr dirty="0"/>
              <a:t>, è </a:t>
            </a:r>
            <a:r>
              <a:rPr dirty="0" err="1"/>
              <a:t>punito</a:t>
            </a:r>
            <a:r>
              <a:rPr dirty="0"/>
              <a:t> con la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due </a:t>
            </a:r>
            <a:r>
              <a:rPr dirty="0" err="1"/>
              <a:t>anni</a:t>
            </a:r>
            <a:r>
              <a:rPr dirty="0"/>
              <a:t>».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presente</a:t>
            </a:r>
            <a:r>
              <a:rPr dirty="0"/>
              <a:t> </a:t>
            </a:r>
            <a:r>
              <a:rPr dirty="0" err="1"/>
              <a:t>disposizione</a:t>
            </a:r>
            <a:r>
              <a:rPr dirty="0"/>
              <a:t> </a:t>
            </a:r>
            <a:r>
              <a:rPr dirty="0" err="1"/>
              <a:t>disciplina</a:t>
            </a:r>
            <a:r>
              <a:rPr dirty="0"/>
              <a:t> </a:t>
            </a:r>
            <a:r>
              <a:rPr dirty="0" err="1"/>
              <a:t>essenzialmente</a:t>
            </a:r>
            <a:r>
              <a:rPr dirty="0"/>
              <a:t> </a:t>
            </a:r>
            <a:r>
              <a:rPr dirty="0" err="1"/>
              <a:t>un’</a:t>
            </a:r>
            <a:r>
              <a:rPr b="1" dirty="0" err="1">
                <a:solidFill>
                  <a:srgbClr val="31859C"/>
                </a:solidFill>
              </a:rPr>
              <a:t>ipotesi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alternativa</a:t>
            </a:r>
            <a:r>
              <a:rPr b="1" dirty="0">
                <a:solidFill>
                  <a:srgbClr val="31859C"/>
                </a:solidFill>
              </a:rPr>
              <a:t> di </a:t>
            </a:r>
            <a:r>
              <a:rPr b="1" dirty="0" err="1">
                <a:solidFill>
                  <a:srgbClr val="31859C"/>
                </a:solidFill>
              </a:rPr>
              <a:t>rifiuto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d'atti</a:t>
            </a:r>
            <a:r>
              <a:rPr b="1" dirty="0">
                <a:solidFill>
                  <a:srgbClr val="31859C"/>
                </a:solidFill>
              </a:rPr>
              <a:t> </a:t>
            </a:r>
            <a:r>
              <a:rPr b="1" dirty="0" err="1">
                <a:solidFill>
                  <a:srgbClr val="31859C"/>
                </a:solidFill>
              </a:rPr>
              <a:t>d'ufficio</a:t>
            </a:r>
            <a:r>
              <a:rPr dirty="0"/>
              <a:t> di cui </a:t>
            </a:r>
            <a:r>
              <a:rPr dirty="0" err="1"/>
              <a:t>all'art</a:t>
            </a:r>
            <a:r>
              <a:rPr dirty="0"/>
              <a:t>. 328 </a:t>
            </a:r>
            <a:r>
              <a:rPr dirty="0" err="1"/>
              <a:t>c.p.</a:t>
            </a:r>
            <a:r>
              <a:rPr dirty="0"/>
              <a:t>, </a:t>
            </a:r>
            <a:r>
              <a:rPr dirty="0" err="1"/>
              <a:t>differenziandosi</a:t>
            </a:r>
            <a:r>
              <a:rPr dirty="0"/>
              <a:t> </a:t>
            </a:r>
            <a:r>
              <a:rPr dirty="0" err="1"/>
              <a:t>solamente</a:t>
            </a:r>
            <a:r>
              <a:rPr dirty="0"/>
              <a:t> in </a:t>
            </a:r>
            <a:r>
              <a:rPr dirty="0" err="1"/>
              <a:t>relazione</a:t>
            </a:r>
            <a:r>
              <a:rPr dirty="0"/>
              <a:t> al </a:t>
            </a:r>
            <a:r>
              <a:rPr dirty="0" err="1"/>
              <a:t>soggetto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, </a:t>
            </a:r>
            <a:r>
              <a:rPr dirty="0" err="1"/>
              <a:t>militare</a:t>
            </a:r>
            <a:r>
              <a:rPr dirty="0"/>
              <a:t> o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r>
              <a:rPr dirty="0"/>
              <a:t>, ed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richiesta</a:t>
            </a:r>
            <a:r>
              <a:rPr dirty="0"/>
              <a:t> di </a:t>
            </a:r>
            <a:r>
              <a:rPr dirty="0" err="1"/>
              <a:t>attivarsi</a:t>
            </a:r>
            <a:r>
              <a:rPr dirty="0"/>
              <a:t>, </a:t>
            </a:r>
            <a:r>
              <a:rPr dirty="0" err="1"/>
              <a:t>ovvero</a:t>
            </a:r>
            <a:r>
              <a:rPr dirty="0"/>
              <a:t> </a:t>
            </a:r>
            <a:r>
              <a:rPr dirty="0" err="1"/>
              <a:t>l'Autorità</a:t>
            </a:r>
            <a:r>
              <a:rPr dirty="0"/>
              <a:t> </a:t>
            </a:r>
            <a:r>
              <a:rPr dirty="0" err="1"/>
              <a:t>competente</a:t>
            </a:r>
            <a:r>
              <a:rPr dirty="0"/>
              <a:t> di </a:t>
            </a:r>
            <a:r>
              <a:rPr dirty="0" err="1"/>
              <a:t>volta</a:t>
            </a:r>
            <a:r>
              <a:rPr dirty="0"/>
              <a:t> in </a:t>
            </a:r>
            <a:r>
              <a:rPr dirty="0" err="1"/>
              <a:t>volta</a:t>
            </a:r>
            <a:r>
              <a:rPr dirty="0"/>
              <a:t> </a:t>
            </a:r>
            <a:r>
              <a:rPr dirty="0" err="1"/>
              <a:t>individuabile</a:t>
            </a:r>
            <a:r>
              <a:rPr dirty="0"/>
              <a:t>.</a:t>
            </a:r>
          </a:p>
        </p:txBody>
      </p:sp>
      <p:pic>
        <p:nvPicPr>
          <p:cNvPr descr="Immagine 3" id="392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Rettangolo 1"/>
          <p:cNvSpPr txBox="1"/>
          <p:nvPr/>
        </p:nvSpPr>
        <p:spPr>
          <a:xfrm>
            <a:off x="5130983" y="5384135"/>
            <a:ext cx="4013017" cy="1473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sz="1600"/>
              <a:t>Note</a:t>
            </a:r>
            <a:r>
              <a:rPr dirty="0" sz="1600" u="none"/>
              <a:t>: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Competenza</a:t>
            </a:r>
            <a:r>
              <a:rPr dirty="0" sz="1600"/>
              <a:t> </a:t>
            </a:r>
            <a:r>
              <a:rPr dirty="0" err="1" sz="1600"/>
              <a:t>Tribunale</a:t>
            </a:r>
            <a:r>
              <a:rPr dirty="0" sz="1600"/>
              <a:t> </a:t>
            </a:r>
            <a:r>
              <a:rPr dirty="0" err="1" sz="1600"/>
              <a:t>monocratico</a:t>
            </a:r>
            <a:endParaRPr dirty="0" sz="1600"/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Arresto</a:t>
            </a:r>
            <a:r>
              <a:rPr dirty="0" sz="1600"/>
              <a:t> non </a:t>
            </a:r>
            <a:r>
              <a:rPr dirty="0" err="1" sz="1600"/>
              <a:t>consentito</a:t>
            </a:r>
            <a:endParaRPr dirty="0" sz="1600"/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Fermo</a:t>
            </a:r>
            <a:r>
              <a:rPr dirty="0" sz="1600"/>
              <a:t> non </a:t>
            </a:r>
            <a:r>
              <a:rPr dirty="0" err="1" sz="1600"/>
              <a:t>consentito</a:t>
            </a:r>
            <a:r>
              <a:rPr dirty="0" sz="1600"/>
              <a:t> 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 sz="1600"/>
              <a:t>Procedibilità</a:t>
            </a:r>
            <a:r>
              <a:rPr dirty="0" sz="1600"/>
              <a:t> </a:t>
            </a:r>
            <a:r>
              <a:rPr dirty="0" err="1" sz="1600"/>
              <a:t>d’ufficio</a:t>
            </a:r>
            <a:endParaRPr dirty="0" sz="1800"/>
          </a:p>
        </p:txBody>
      </p:sp>
      <p:sp>
        <p:nvSpPr>
          <p:cNvPr id="394" name="Text Box 5"/>
          <p:cNvSpPr txBox="1"/>
          <p:nvPr/>
        </p:nvSpPr>
        <p:spPr>
          <a:xfrm>
            <a:off x="665826" y="-43066"/>
            <a:ext cx="8433606" cy="9527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 wrap="square">
            <a:spAutoFit/>
          </a:bodyPr>
          <a:lstStyle>
            <a:lvl1pPr>
              <a:defRPr b="0" sz="28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o </a:t>
            </a:r>
            <a:r>
              <a:rPr dirty="0" err="1"/>
              <a:t>ritardo</a:t>
            </a:r>
            <a:r>
              <a:rPr dirty="0"/>
              <a:t> di </a:t>
            </a:r>
            <a:r>
              <a:rPr dirty="0" err="1"/>
              <a:t>obbedienza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 da un </a:t>
            </a:r>
            <a:r>
              <a:rPr dirty="0" err="1"/>
              <a:t>militare</a:t>
            </a:r>
            <a:r>
              <a:rPr dirty="0"/>
              <a:t> o da 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endParaRPr dirty="0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ttangolo 5"/>
          <p:cNvSpPr txBox="1"/>
          <p:nvPr/>
        </p:nvSpPr>
        <p:spPr>
          <a:xfrm>
            <a:off x="405251" y="1119856"/>
            <a:ext cx="8333497" cy="7238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dirty="0" u="none"/>
              <a:t>: </a:t>
            </a:r>
            <a:r>
              <a:rPr dirty="0" err="1" u="none">
                <a:solidFill>
                  <a:srgbClr val="31859C"/>
                </a:solidFill>
              </a:rPr>
              <a:t>rifiuto</a:t>
            </a:r>
            <a:r>
              <a:rPr b="0" dirty="0" u="none"/>
              <a:t> o </a:t>
            </a:r>
            <a:r>
              <a:rPr dirty="0" err="1" u="none">
                <a:solidFill>
                  <a:srgbClr val="31859C"/>
                </a:solidFill>
              </a:rPr>
              <a:t>ritardo</a:t>
            </a:r>
            <a:r>
              <a:rPr b="0" dirty="0" u="none"/>
              <a:t> </a:t>
            </a:r>
            <a:r>
              <a:rPr b="0" dirty="0" err="1" u="none"/>
              <a:t>indebito</a:t>
            </a:r>
            <a:r>
              <a:rPr b="0" dirty="0" u="none"/>
              <a:t> ad </a:t>
            </a:r>
            <a:r>
              <a:rPr b="0" dirty="0" err="1" u="none"/>
              <a:t>obbedire</a:t>
            </a:r>
            <a:r>
              <a:rPr b="0" dirty="0" u="none"/>
              <a:t> ad una </a:t>
            </a:r>
            <a:r>
              <a:rPr b="0" dirty="0" err="1" u="none"/>
              <a:t>richiesta</a:t>
            </a:r>
            <a:r>
              <a:rPr b="0" dirty="0" u="none"/>
              <a:t> </a:t>
            </a:r>
            <a:r>
              <a:rPr b="0" dirty="0" err="1" u="none"/>
              <a:t>dell’Autorità</a:t>
            </a:r>
            <a:r>
              <a:rPr b="0" dirty="0" u="none"/>
              <a:t> </a:t>
            </a:r>
            <a:r>
              <a:rPr b="0" dirty="0" err="1" u="none"/>
              <a:t>competente</a:t>
            </a:r>
            <a:r>
              <a:rPr b="0" dirty="0" u="none"/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 u="none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b="0" dirty="0" u="none"/>
              <a:t>: </a:t>
            </a:r>
            <a:r>
              <a:rPr dirty="0" u="none">
                <a:solidFill>
                  <a:srgbClr val="31859C"/>
                </a:solidFill>
              </a:rPr>
              <a:t>DOLO </a:t>
            </a:r>
            <a:r>
              <a:rPr dirty="0">
                <a:solidFill>
                  <a:srgbClr val="31859C"/>
                </a:solidFill>
              </a:rPr>
              <a:t>GENERICO</a:t>
            </a:r>
            <a:r>
              <a:rPr altLang="it-IT" dirty="0" lang="it-IT">
                <a:solidFill>
                  <a:srgbClr val="31859C"/>
                </a:solidFill>
              </a:rPr>
              <a:t> </a:t>
            </a:r>
            <a:r>
              <a:rPr altLang="it-IT" b="0" dirty="0" lang="it-IT" sz="2200" u="sng">
                <a:sym typeface="Times New Roman"/>
              </a:rPr>
              <a:t>, che si sostanzia nella volontà cosciente e premeditata di voler omettere un atto dovuto.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dirty="0" lang="it-IT" sz="2200" u="sng">
              <a:solidFill>
                <a:srgbClr val="31859C"/>
              </a:solidFill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dirty="0" lang="it-IT" sz="2200" u="sng">
              <a:solidFill>
                <a:srgbClr val="31859C"/>
              </a:solidFill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dirty="0" lang="it-IT">
                <a:solidFill>
                  <a:srgbClr val="FF0000"/>
                </a:solidFill>
                <a:latin charset="0" panose="020B0604030504040204" pitchFamily="34" typeface="Verdana"/>
              </a:rPr>
              <a:t>L'art. 51 c.p.(esercizio di un diritto o adempimento di un dovere) </a:t>
            </a:r>
            <a:r>
              <a:rPr altLang="it-IT" b="0" dirty="0" lang="it-IT">
                <a:latin charset="0" panose="020B0604030504040204" pitchFamily="34" typeface="Verdana"/>
              </a:rPr>
              <a:t>si applica anche alla norma in esame, quindi è esclusa la penale responsabilità se il militare o l'appartenente alla forza pubblica </a:t>
            </a:r>
            <a:r>
              <a:rPr altLang="it-IT" b="0" dirty="0" lang="it-IT">
                <a:solidFill>
                  <a:srgbClr val="FF0000"/>
                </a:solidFill>
                <a:latin charset="0" panose="020B0604030504040204" pitchFamily="34" typeface="Verdana"/>
              </a:rPr>
              <a:t>rifiuta un atto illecito </a:t>
            </a:r>
            <a:r>
              <a:rPr altLang="it-IT" b="0" dirty="0" lang="it-IT">
                <a:latin charset="0" panose="020B0604030504040204" pitchFamily="34" typeface="Verdana"/>
              </a:rPr>
              <a:t>o di evidente criminosità, ad eccezione dei casi in cui la Legge non consenta alcun </a:t>
            </a:r>
            <a:r>
              <a:rPr altLang="it-IT" b="0" dirty="0" lang="it-IT">
                <a:solidFill>
                  <a:srgbClr val="2E697A"/>
                </a:solidFill>
                <a:latin charset="0" panose="020B0604030504040204" pitchFamily="34" typeface="Verdana"/>
                <a:hlinkClick r:id="rId2" tooltip="Guida al sindacat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sindacato</a:t>
            </a:r>
            <a:r>
              <a:rPr altLang="it-IT" b="0" dirty="0" lang="it-IT">
                <a:latin charset="0" panose="020B0604030504040204" pitchFamily="34" typeface="Verdana"/>
              </a:rPr>
              <a:t> sulla legittimità dell'ordine.</a:t>
            </a:r>
            <a:endParaRPr altLang="it-IT" b="0" dirty="0" lang="it-IT" sz="2200">
              <a:solidFill>
                <a:srgbClr val="31859C"/>
              </a:solidFill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dirty="0" lang="it-IT" sz="2200" u="sng">
              <a:solidFill>
                <a:srgbClr val="31859C"/>
              </a:solidFill>
              <a:sym typeface="Times New Roman"/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>
              <a:solidFill>
                <a:srgbClr val="31859C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 u="none">
              <a:solidFill>
                <a:srgbClr val="31859C"/>
              </a:solidFill>
            </a:endParaRPr>
          </a:p>
        </p:txBody>
      </p:sp>
      <p:pic>
        <p:nvPicPr>
          <p:cNvPr descr="Immagine 3" id="397" name="Immagin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Text Box 5"/>
          <p:cNvSpPr txBox="1"/>
          <p:nvPr/>
        </p:nvSpPr>
        <p:spPr>
          <a:xfrm>
            <a:off x="825746" y="-43066"/>
            <a:ext cx="8273685" cy="9527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28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Rifiuto</a:t>
            </a:r>
            <a:r>
              <a:rPr dirty="0"/>
              <a:t> o </a:t>
            </a:r>
            <a:r>
              <a:rPr dirty="0" err="1"/>
              <a:t>ritardo</a:t>
            </a:r>
            <a:r>
              <a:rPr dirty="0"/>
              <a:t> di </a:t>
            </a:r>
            <a:r>
              <a:rPr dirty="0" err="1"/>
              <a:t>obbedienza</a:t>
            </a:r>
            <a:r>
              <a:rPr dirty="0"/>
              <a:t> </a:t>
            </a:r>
            <a:r>
              <a:rPr dirty="0" err="1"/>
              <a:t>commesso</a:t>
            </a:r>
            <a:r>
              <a:rPr dirty="0"/>
              <a:t> da un </a:t>
            </a:r>
            <a:r>
              <a:rPr dirty="0" err="1"/>
              <a:t>militare</a:t>
            </a:r>
            <a:r>
              <a:rPr dirty="0"/>
              <a:t> o da 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forza </a:t>
            </a:r>
            <a:r>
              <a:rPr dirty="0" err="1"/>
              <a:t>pubblica</a:t>
            </a:r>
            <a:endParaRPr dirty="0"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asellaDiTesto 13"/>
          <p:cNvSpPr txBox="1"/>
          <p:nvPr/>
        </p:nvSpPr>
        <p:spPr>
          <a:xfrm>
            <a:off x="182570" y="908719"/>
            <a:ext cx="8736198" cy="3095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336 </a:t>
            </a:r>
            <a:r>
              <a:rPr dirty="0" err="1"/>
              <a:t>c.p.</a:t>
            </a:r>
            <a:r>
              <a:rPr dirty="0"/>
              <a:t> </a:t>
            </a:r>
            <a:r>
              <a:rPr dirty="0" err="1"/>
              <a:t>Violenza</a:t>
            </a:r>
            <a:r>
              <a:rPr dirty="0"/>
              <a:t> e </a:t>
            </a:r>
            <a:r>
              <a:rPr dirty="0" err="1"/>
              <a:t>minaccia</a:t>
            </a:r>
            <a:r>
              <a:rPr dirty="0"/>
              <a:t> a un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 i="1"/>
              <a:t>Chiunque</a:t>
            </a:r>
            <a:r>
              <a:rPr dirty="0" i="1"/>
              <a:t> </a:t>
            </a:r>
            <a:r>
              <a:rPr b="1" dirty="0" err="1" i="1">
                <a:solidFill>
                  <a:srgbClr val="C00000"/>
                </a:solidFill>
              </a:rPr>
              <a:t>usa</a:t>
            </a:r>
            <a:r>
              <a:rPr b="1" dirty="0" i="1">
                <a:solidFill>
                  <a:srgbClr val="C00000"/>
                </a:solidFill>
              </a:rPr>
              <a:t> </a:t>
            </a:r>
            <a:r>
              <a:rPr b="1" dirty="0" err="1" i="1">
                <a:solidFill>
                  <a:srgbClr val="C00000"/>
                </a:solidFill>
              </a:rPr>
              <a:t>violenza</a:t>
            </a:r>
            <a:r>
              <a:rPr b="1" dirty="0" i="1">
                <a:solidFill>
                  <a:srgbClr val="C00000"/>
                </a:solidFill>
              </a:rPr>
              <a:t> o </a:t>
            </a:r>
            <a:r>
              <a:rPr b="1" dirty="0" err="1" i="1">
                <a:solidFill>
                  <a:srgbClr val="C00000"/>
                </a:solidFill>
              </a:rPr>
              <a:t>minaccia</a:t>
            </a:r>
            <a:r>
              <a:rPr b="1" dirty="0" i="1">
                <a:solidFill>
                  <a:srgbClr val="C00000"/>
                </a:solidFill>
              </a:rPr>
              <a:t> </a:t>
            </a:r>
            <a:r>
              <a:rPr dirty="0" i="1"/>
              <a:t>a un </a:t>
            </a:r>
            <a:r>
              <a:rPr dirty="0" err="1" i="1"/>
              <a:t>pubblico</a:t>
            </a:r>
            <a:r>
              <a:rPr dirty="0" i="1"/>
              <a:t> </a:t>
            </a:r>
            <a:r>
              <a:rPr dirty="0" err="1" i="1"/>
              <a:t>ufficiale</a:t>
            </a:r>
            <a:r>
              <a:rPr dirty="0" i="1"/>
              <a:t> o ad un </a:t>
            </a:r>
            <a:r>
              <a:rPr dirty="0" err="1" i="1"/>
              <a:t>incaricato</a:t>
            </a:r>
            <a:r>
              <a:rPr dirty="0" i="1"/>
              <a:t> di un </a:t>
            </a:r>
            <a:r>
              <a:rPr dirty="0" err="1" i="1"/>
              <a:t>pubblico</a:t>
            </a:r>
            <a:r>
              <a:rPr dirty="0" i="1"/>
              <a:t> </a:t>
            </a:r>
            <a:r>
              <a:rPr dirty="0" err="1" i="1"/>
              <a:t>servizio</a:t>
            </a:r>
            <a:r>
              <a:rPr b="1" dirty="0" i="1">
                <a:solidFill>
                  <a:srgbClr val="C00000"/>
                </a:solidFill>
              </a:rPr>
              <a:t>, per </a:t>
            </a:r>
            <a:r>
              <a:rPr b="1" dirty="0" err="1" i="1">
                <a:solidFill>
                  <a:srgbClr val="C00000"/>
                </a:solidFill>
              </a:rPr>
              <a:t>costringerlo</a:t>
            </a:r>
            <a:r>
              <a:rPr b="1" dirty="0" i="1">
                <a:solidFill>
                  <a:srgbClr val="C00000"/>
                </a:solidFill>
              </a:rPr>
              <a:t> a fare un </a:t>
            </a:r>
            <a:r>
              <a:rPr b="1" dirty="0" err="1" i="1">
                <a:solidFill>
                  <a:srgbClr val="C00000"/>
                </a:solidFill>
              </a:rPr>
              <a:t>atto</a:t>
            </a:r>
            <a:r>
              <a:rPr b="1" dirty="0" i="1">
                <a:solidFill>
                  <a:srgbClr val="C00000"/>
                </a:solidFill>
              </a:rPr>
              <a:t> </a:t>
            </a:r>
            <a:r>
              <a:rPr b="1" dirty="0" err="1" i="1">
                <a:solidFill>
                  <a:srgbClr val="C00000"/>
                </a:solidFill>
              </a:rPr>
              <a:t>contrario</a:t>
            </a:r>
            <a:r>
              <a:rPr b="1" dirty="0" i="1">
                <a:solidFill>
                  <a:srgbClr val="C00000"/>
                </a:solidFill>
              </a:rPr>
              <a:t> ai </a:t>
            </a:r>
            <a:r>
              <a:rPr b="1" dirty="0" err="1" i="1">
                <a:solidFill>
                  <a:srgbClr val="C00000"/>
                </a:solidFill>
              </a:rPr>
              <a:t>propri</a:t>
            </a:r>
            <a:r>
              <a:rPr b="1" dirty="0" i="1">
                <a:solidFill>
                  <a:srgbClr val="C00000"/>
                </a:solidFill>
              </a:rPr>
              <a:t> </a:t>
            </a:r>
            <a:r>
              <a:rPr b="1" dirty="0" err="1" i="1">
                <a:solidFill>
                  <a:srgbClr val="C00000"/>
                </a:solidFill>
              </a:rPr>
              <a:t>doveri</a:t>
            </a:r>
            <a:r>
              <a:rPr b="1" dirty="0" i="1">
                <a:solidFill>
                  <a:srgbClr val="C00000"/>
                </a:solidFill>
              </a:rPr>
              <a:t>, o ad </a:t>
            </a:r>
            <a:r>
              <a:rPr b="1" dirty="0" err="1" i="1">
                <a:solidFill>
                  <a:srgbClr val="C00000"/>
                </a:solidFill>
              </a:rPr>
              <a:t>omettere</a:t>
            </a:r>
            <a:r>
              <a:rPr b="1" dirty="0" i="1">
                <a:solidFill>
                  <a:srgbClr val="C00000"/>
                </a:solidFill>
              </a:rPr>
              <a:t> un </a:t>
            </a:r>
            <a:r>
              <a:rPr b="1" dirty="0" err="1" i="1">
                <a:solidFill>
                  <a:srgbClr val="C00000"/>
                </a:solidFill>
              </a:rPr>
              <a:t>atto</a:t>
            </a:r>
            <a:r>
              <a:rPr b="1" dirty="0" i="1">
                <a:solidFill>
                  <a:srgbClr val="C00000"/>
                </a:solidFill>
              </a:rPr>
              <a:t> </a:t>
            </a:r>
            <a:r>
              <a:rPr b="1" dirty="0" err="1" i="1">
                <a:solidFill>
                  <a:srgbClr val="C00000"/>
                </a:solidFill>
              </a:rPr>
              <a:t>dell'ufficio</a:t>
            </a:r>
            <a:r>
              <a:rPr b="1" dirty="0" i="1">
                <a:solidFill>
                  <a:srgbClr val="C00000"/>
                </a:solidFill>
              </a:rPr>
              <a:t> o del </a:t>
            </a:r>
            <a:r>
              <a:rPr b="1" dirty="0" err="1" i="1">
                <a:solidFill>
                  <a:srgbClr val="C00000"/>
                </a:solidFill>
              </a:rPr>
              <a:t>servizio</a:t>
            </a:r>
            <a:r>
              <a:rPr dirty="0" i="1"/>
              <a:t>, è </a:t>
            </a:r>
            <a:r>
              <a:rPr dirty="0" err="1" i="1"/>
              <a:t>punito</a:t>
            </a:r>
            <a:r>
              <a:rPr dirty="0" i="1"/>
              <a:t> con la </a:t>
            </a:r>
            <a:r>
              <a:rPr dirty="0" err="1" i="1"/>
              <a:t>reclusione</a:t>
            </a:r>
            <a:r>
              <a:rPr dirty="0" i="1"/>
              <a:t> da </a:t>
            </a:r>
            <a:r>
              <a:rPr altLang="it-IT" dirty="0" i="1" lang="it-IT"/>
              <a:t>6 mesi a 5 anni.</a:t>
            </a:r>
            <a:endParaRPr dirty="0" i="1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i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pena</a:t>
            </a:r>
            <a:r>
              <a:rPr dirty="0"/>
              <a:t> è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reclusione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</a:t>
            </a:r>
            <a:r>
              <a:rPr altLang="it-IT" dirty="0" lang="it-IT"/>
              <a:t>3</a:t>
            </a:r>
            <a:r>
              <a:rPr dirty="0"/>
              <a:t> </a:t>
            </a:r>
            <a:r>
              <a:rPr dirty="0" err="1"/>
              <a:t>anni</a:t>
            </a:r>
            <a:r>
              <a:rPr altLang="it-IT" dirty="0" lang="it-IT"/>
              <a:t>, </a:t>
            </a:r>
            <a:r>
              <a:rPr dirty="0"/>
              <a:t>se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fatto</a:t>
            </a:r>
            <a:r>
              <a:rPr dirty="0"/>
              <a:t> è </a:t>
            </a:r>
            <a:r>
              <a:rPr dirty="0" err="1"/>
              <a:t>commesso</a:t>
            </a:r>
            <a:r>
              <a:rPr dirty="0"/>
              <a:t> </a:t>
            </a:r>
            <a:r>
              <a:rPr b="1" dirty="0">
                <a:solidFill>
                  <a:srgbClr val="C00000"/>
                </a:solidFill>
              </a:rPr>
              <a:t>per </a:t>
            </a:r>
            <a:r>
              <a:rPr b="1" dirty="0" err="1">
                <a:solidFill>
                  <a:srgbClr val="C00000"/>
                </a:solidFill>
              </a:rPr>
              <a:t>costringere</a:t>
            </a:r>
            <a:r>
              <a:rPr b="1" dirty="0">
                <a:solidFill>
                  <a:srgbClr val="C00000"/>
                </a:solidFill>
              </a:rPr>
              <a:t> alcuna </a:t>
            </a:r>
            <a:r>
              <a:rPr b="1" dirty="0" err="1">
                <a:solidFill>
                  <a:srgbClr val="C00000"/>
                </a:solidFill>
              </a:rPr>
              <a:t>delle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persone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anzidette</a:t>
            </a:r>
            <a:r>
              <a:rPr b="1" dirty="0">
                <a:solidFill>
                  <a:srgbClr val="C00000"/>
                </a:solidFill>
              </a:rPr>
              <a:t> a </a:t>
            </a:r>
            <a:r>
              <a:rPr b="1" dirty="0" err="1">
                <a:solidFill>
                  <a:srgbClr val="C00000"/>
                </a:solidFill>
              </a:rPr>
              <a:t>compiere</a:t>
            </a:r>
            <a:r>
              <a:rPr b="1" dirty="0">
                <a:solidFill>
                  <a:srgbClr val="C00000"/>
                </a:solidFill>
              </a:rPr>
              <a:t> un </a:t>
            </a:r>
            <a:r>
              <a:rPr b="1" dirty="0" err="1">
                <a:solidFill>
                  <a:srgbClr val="C00000"/>
                </a:solidFill>
              </a:rPr>
              <a:t>atto</a:t>
            </a:r>
            <a:r>
              <a:rPr b="1" dirty="0">
                <a:solidFill>
                  <a:srgbClr val="C00000"/>
                </a:solidFill>
              </a:rPr>
              <a:t> del proprio </a:t>
            </a:r>
            <a:r>
              <a:rPr b="1" dirty="0" err="1">
                <a:solidFill>
                  <a:srgbClr val="C00000"/>
                </a:solidFill>
              </a:rPr>
              <a:t>ufficio</a:t>
            </a:r>
            <a:r>
              <a:rPr b="1" dirty="0">
                <a:solidFill>
                  <a:srgbClr val="C00000"/>
                </a:solidFill>
              </a:rPr>
              <a:t> o </a:t>
            </a:r>
            <a:r>
              <a:rPr b="1" dirty="0" err="1">
                <a:solidFill>
                  <a:srgbClr val="C00000"/>
                </a:solidFill>
              </a:rPr>
              <a:t>servizio</a:t>
            </a:r>
            <a:r>
              <a:rPr b="1" dirty="0">
                <a:solidFill>
                  <a:srgbClr val="C00000"/>
                </a:solidFill>
              </a:rPr>
              <a:t>, o per </a:t>
            </a:r>
            <a:r>
              <a:rPr b="1" dirty="0" err="1">
                <a:solidFill>
                  <a:srgbClr val="C00000"/>
                </a:solidFill>
              </a:rPr>
              <a:t>influire</a:t>
            </a:r>
            <a:r>
              <a:rPr b="1" dirty="0">
                <a:solidFill>
                  <a:srgbClr val="C00000"/>
                </a:solidFill>
              </a:rPr>
              <a:t>, </a:t>
            </a:r>
            <a:r>
              <a:rPr dirty="0" err="1"/>
              <a:t>comunque</a:t>
            </a:r>
            <a:r>
              <a:rPr dirty="0"/>
              <a:t>, </a:t>
            </a:r>
            <a:r>
              <a:rPr dirty="0" err="1"/>
              <a:t>su</a:t>
            </a:r>
            <a:r>
              <a:rPr dirty="0"/>
              <a:t> di </a:t>
            </a:r>
            <a:r>
              <a:rPr dirty="0" err="1"/>
              <a:t>essa</a:t>
            </a:r>
            <a:r>
              <a:rPr dirty="0"/>
              <a:t>.</a:t>
            </a:r>
          </a:p>
        </p:txBody>
      </p:sp>
      <p:pic>
        <p:nvPicPr>
          <p:cNvPr descr="Immagine 3" id="402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Rettangolo 5"/>
          <p:cNvSpPr txBox="1"/>
          <p:nvPr/>
        </p:nvSpPr>
        <p:spPr>
          <a:xfrm>
            <a:off x="5103520" y="4725144"/>
            <a:ext cx="4013017" cy="2030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dirty="0" u="none"/>
              <a:t>: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monocratico</a:t>
            </a:r>
            <a:endParaRPr dirty="0"/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facoltativo</a:t>
            </a:r>
            <a:r>
              <a:rPr dirty="0"/>
              <a:t> [c.1 e 2]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Fermo</a:t>
            </a:r>
            <a:r>
              <a:rPr dirty="0"/>
              <a:t> non </a:t>
            </a:r>
            <a:r>
              <a:rPr dirty="0" err="1"/>
              <a:t>consentito</a:t>
            </a:r>
            <a:r>
              <a:rPr dirty="0"/>
              <a:t> 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Tentativo</a:t>
            </a:r>
            <a:r>
              <a:rPr dirty="0"/>
              <a:t> </a:t>
            </a:r>
            <a:r>
              <a:rPr dirty="0" err="1"/>
              <a:t>configurabile</a:t>
            </a:r>
            <a:endParaRPr dirty="0"/>
          </a:p>
        </p:txBody>
      </p:sp>
      <p:sp>
        <p:nvSpPr>
          <p:cNvPr id="40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CasellaDiTesto 13"/>
          <p:cNvSpPr txBox="1"/>
          <p:nvPr/>
        </p:nvSpPr>
        <p:spPr>
          <a:xfrm>
            <a:off x="369570" y="1391285"/>
            <a:ext cx="8080959" cy="4154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PLURIOFFENSIVO</a:t>
            </a:r>
            <a:r>
              <a:rPr b="0" dirty="0">
                <a:solidFill>
                  <a:srgbClr val="000000"/>
                </a:solidFill>
              </a:rPr>
              <a:t>, in </a:t>
            </a:r>
            <a:r>
              <a:rPr b="0" dirty="0" err="1">
                <a:solidFill>
                  <a:srgbClr val="000000"/>
                </a:solidFill>
              </a:rPr>
              <a:t>quanto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idoneo</a:t>
            </a:r>
            <a:r>
              <a:rPr b="0" dirty="0">
                <a:solidFill>
                  <a:srgbClr val="000000"/>
                </a:solidFill>
              </a:rPr>
              <a:t> a </a:t>
            </a:r>
            <a:r>
              <a:rPr b="0" dirty="0" err="1">
                <a:solidFill>
                  <a:srgbClr val="000000"/>
                </a:solidFill>
              </a:rPr>
              <a:t>ledere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sia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buon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andamento</a:t>
            </a:r>
            <a:r>
              <a:rPr dirty="0">
                <a:solidFill>
                  <a:srgbClr val="000000"/>
                </a:solidFill>
              </a:rPr>
              <a:t>/</a:t>
            </a:r>
            <a:r>
              <a:rPr dirty="0" err="1">
                <a:solidFill>
                  <a:srgbClr val="000000"/>
                </a:solidFill>
              </a:rPr>
              <a:t>prestigio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della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Pubblica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Amministrazione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la </a:t>
            </a:r>
            <a:r>
              <a:rPr dirty="0" err="1">
                <a:solidFill>
                  <a:srgbClr val="000000"/>
                </a:solidFill>
              </a:rPr>
              <a:t>libertà</a:t>
            </a:r>
            <a:r>
              <a:rPr dirty="0">
                <a:solidFill>
                  <a:srgbClr val="000000"/>
                </a:solidFill>
              </a:rPr>
              <a:t> morale/</a:t>
            </a:r>
            <a:r>
              <a:rPr dirty="0" err="1">
                <a:solidFill>
                  <a:srgbClr val="000000"/>
                </a:solidFill>
              </a:rPr>
              <a:t>incolumità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fisica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pubblici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funzionari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ctr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COMUNE</a:t>
            </a:r>
            <a:r>
              <a:rPr b="0" dirty="0">
                <a:solidFill>
                  <a:srgbClr val="000000"/>
                </a:solidFill>
              </a:rPr>
              <a:t>: lo </a:t>
            </a:r>
            <a:r>
              <a:rPr b="0" dirty="0" err="1">
                <a:solidFill>
                  <a:srgbClr val="000000"/>
                </a:solidFill>
              </a:rPr>
              <a:t>può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commettere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chiunque</a:t>
            </a:r>
            <a:endParaRPr b="0" dirty="0">
              <a:solidFill>
                <a:srgbClr val="000000"/>
              </a:solidFill>
            </a:endParaRPr>
          </a:p>
          <a:p>
            <a:pPr algn="just" indent="-342900" marL="342900">
              <a:buSzPct val="100000"/>
              <a:buChar char="➢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</a:t>
            </a:r>
            <a:r>
              <a:rPr altLang="it-IT" b="1" dirty="0" lang="it-IT" u="sng">
                <a:solidFill>
                  <a:schemeClr val="accent2"/>
                </a:solidFill>
              </a:rPr>
              <a:t>SOGGETTI PASSIVI DEL REATO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C00000"/>
                </a:solidFill>
              </a:rPr>
              <a:t>pubblico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ufficiale</a:t>
            </a:r>
            <a:r>
              <a:rPr b="1" dirty="0">
                <a:solidFill>
                  <a:srgbClr val="C00000"/>
                </a:solidFill>
              </a:rPr>
              <a:t> e </a:t>
            </a:r>
            <a:r>
              <a:rPr b="1" dirty="0" err="1">
                <a:solidFill>
                  <a:srgbClr val="C00000"/>
                </a:solidFill>
              </a:rPr>
              <a:t>l’incaricato</a:t>
            </a:r>
            <a:r>
              <a:rPr b="1" dirty="0">
                <a:solidFill>
                  <a:srgbClr val="C00000"/>
                </a:solidFill>
              </a:rPr>
              <a:t> di </a:t>
            </a:r>
            <a:r>
              <a:rPr b="1" dirty="0" err="1">
                <a:solidFill>
                  <a:srgbClr val="C00000"/>
                </a:solidFill>
              </a:rPr>
              <a:t>pubblico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servizio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subiscono</a:t>
            </a:r>
            <a:r>
              <a:rPr dirty="0"/>
              <a:t> </a:t>
            </a:r>
            <a:r>
              <a:rPr dirty="0" err="1"/>
              <a:t>violenza</a:t>
            </a:r>
            <a:r>
              <a:rPr dirty="0"/>
              <a:t> o </a:t>
            </a:r>
            <a:r>
              <a:rPr dirty="0" err="1"/>
              <a:t>minaccia</a:t>
            </a:r>
            <a:r>
              <a:rPr dirty="0"/>
              <a:t>. </a:t>
            </a:r>
            <a:endParaRPr altLang="it-IT" dirty="0" lang="it-IT"/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Detta</a:t>
            </a:r>
            <a:r>
              <a:rPr dirty="0"/>
              <a:t>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violenta</a:t>
            </a:r>
            <a:r>
              <a:rPr dirty="0"/>
              <a:t> o </a:t>
            </a:r>
            <a:r>
              <a:rPr dirty="0" err="1"/>
              <a:t>minacciosa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mirare</a:t>
            </a:r>
            <a:r>
              <a:rPr dirty="0"/>
              <a:t> a </a:t>
            </a:r>
            <a:r>
              <a:rPr b="1" dirty="0" err="1"/>
              <a:t>condizionarne</a:t>
            </a:r>
            <a:r>
              <a:rPr b="1" dirty="0"/>
              <a:t> </a:t>
            </a:r>
            <a:r>
              <a:rPr b="1" dirty="0" err="1"/>
              <a:t>il</a:t>
            </a:r>
            <a:r>
              <a:rPr b="1" dirty="0"/>
              <a:t> </a:t>
            </a:r>
            <a:r>
              <a:rPr b="1" dirty="0" err="1"/>
              <a:t>comportamento</a:t>
            </a:r>
            <a:r>
              <a:rPr b="1" dirty="0"/>
              <a:t> </a:t>
            </a:r>
            <a:r>
              <a:rPr b="1" dirty="0" err="1"/>
              <a:t>futuro</a:t>
            </a:r>
            <a:r>
              <a:rPr b="1" dirty="0"/>
              <a:t>, </a:t>
            </a:r>
            <a:r>
              <a:rPr b="1" dirty="0" err="1"/>
              <a:t>influendo</a:t>
            </a:r>
            <a:r>
              <a:rPr b="1" dirty="0"/>
              <a:t> </a:t>
            </a:r>
            <a:r>
              <a:rPr b="1" dirty="0" err="1"/>
              <a:t>sull’esercizio</a:t>
            </a:r>
            <a:r>
              <a:rPr b="1" dirty="0"/>
              <a:t> </a:t>
            </a:r>
            <a:r>
              <a:rPr b="1" dirty="0" err="1"/>
              <a:t>delle</a:t>
            </a:r>
            <a:r>
              <a:rPr b="1" dirty="0"/>
              <a:t> </a:t>
            </a:r>
            <a:r>
              <a:rPr b="1" dirty="0" err="1"/>
              <a:t>loro</a:t>
            </a:r>
            <a:r>
              <a:rPr b="1" dirty="0"/>
              <a:t> </a:t>
            </a:r>
            <a:r>
              <a:rPr b="1" dirty="0" err="1"/>
              <a:t>pubbliche</a:t>
            </a:r>
            <a:r>
              <a:rPr b="1" dirty="0"/>
              <a:t> </a:t>
            </a:r>
            <a:r>
              <a:rPr b="1" dirty="0" err="1"/>
              <a:t>funzioni</a:t>
            </a:r>
            <a:r>
              <a:rPr b="1" dirty="0"/>
              <a:t>.</a:t>
            </a:r>
          </a:p>
        </p:txBody>
      </p:sp>
      <p:pic>
        <p:nvPicPr>
          <p:cNvPr descr="Immagine 4" id="408" name="Immagin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CasellaDiTesto 13"/>
          <p:cNvSpPr txBox="1"/>
          <p:nvPr/>
        </p:nvSpPr>
        <p:spPr>
          <a:xfrm>
            <a:off x="225231" y="908720"/>
            <a:ext cx="8765545" cy="5600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OGGETTIVO:</a:t>
            </a:r>
            <a:r>
              <a:rPr u="none"/>
              <a:t> </a:t>
            </a:r>
            <a:r>
              <a:rPr b="0" u="none"/>
              <a:t>il reato può realizzarsi in due modalità alternative, con due tipologie di condotte:</a:t>
            </a:r>
          </a:p>
          <a:p>
            <a:pPr algn="just" indent="-265112" marL="265112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</a:t>
            </a:r>
            <a:r>
              <a:rPr b="1" u="sng">
                <a:solidFill>
                  <a:srgbClr val="C00000"/>
                </a:solidFill>
              </a:rPr>
              <a:t>violenza o minaccia</a:t>
            </a:r>
            <a:r>
              <a:rPr b="1">
                <a:solidFill>
                  <a:srgbClr val="C00000"/>
                </a:solidFill>
              </a:rPr>
              <a:t> </a:t>
            </a:r>
            <a:r>
              <a:t>esercitata su un pubblico ufficiale o incaricato di pubblico servizio </a:t>
            </a:r>
            <a:r>
              <a:rPr b="1">
                <a:solidFill>
                  <a:srgbClr val="C00000"/>
                </a:solidFill>
              </a:rPr>
              <a:t>al fine di costringerlo a compiere un atto contrario ai propri doveri o ad ometterne uno del proprio ufficio o servizio</a:t>
            </a:r>
            <a:r>
              <a:t>;</a:t>
            </a:r>
          </a:p>
          <a:p>
            <a:pPr algn="just" indent="-265112" marL="265112">
              <a:lnSpc>
                <a:spcPct val="114000"/>
              </a:lnSpc>
              <a:spcBef>
                <a:spcPts val="600"/>
              </a:spcBef>
              <a:buSzPct val="100000"/>
              <a:buAutoNum type="arabicPeriod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 attua invece con la </a:t>
            </a:r>
            <a:r>
              <a:rPr b="1" u="sng">
                <a:solidFill>
                  <a:srgbClr val="C00000"/>
                </a:solidFill>
              </a:rPr>
              <a:t>violenza o minaccia </a:t>
            </a:r>
            <a:r>
              <a:t>che sono dirette </a:t>
            </a:r>
            <a:r>
              <a:rPr b="1">
                <a:solidFill>
                  <a:srgbClr val="C00000"/>
                </a:solidFill>
              </a:rPr>
              <a:t>a far commettere al pubblico funzionario un atto del suo ufficio o del servizio</a:t>
            </a:r>
            <a: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L’autore del fatto deve porre in essere</a:t>
            </a:r>
            <a:r>
              <a:rPr b="1">
                <a:solidFill>
                  <a:srgbClr val="C00000"/>
                </a:solidFill>
              </a:rPr>
              <a:t> delle minacce e/o delle violenze </a:t>
            </a:r>
            <a:r>
              <a:t>per condizionare il processo decisionale del pubblico ufficiale in relazione alla commissione od omissione di atti da compiere in futuro:</a:t>
            </a:r>
          </a:p>
          <a:p>
            <a:pPr algn="just" indent="-268288" lvl="1" marL="354013">
              <a:lnSpc>
                <a:spcPct val="114000"/>
              </a:lnSpc>
              <a:spcBef>
                <a:spcPts val="600"/>
              </a:spcBef>
              <a:buSzPct val="100000"/>
              <a:buFont typeface="Courier New"/>
              <a:buChar char="o"/>
              <a:defRPr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MINACCIA </a:t>
            </a:r>
            <a:r>
              <a:rPr b="0">
                <a:solidFill>
                  <a:srgbClr val="000000"/>
                </a:solidFill>
              </a:rPr>
              <a:t>= </a:t>
            </a:r>
            <a:r>
              <a:rPr>
                <a:solidFill>
                  <a:srgbClr val="000000"/>
                </a:solidFill>
              </a:rPr>
              <a:t>prospettazione di un male futuro ed ingiusto</a:t>
            </a:r>
            <a:r>
              <a:rPr b="0">
                <a:solidFill>
                  <a:srgbClr val="000000"/>
                </a:solidFill>
              </a:rPr>
              <a:t>, dipendente dalla volontà di chi minaccia; verosimile ed idonea a determinare una costrizione del soggetto passivo;</a:t>
            </a:r>
          </a:p>
          <a:p>
            <a:pPr algn="just" indent="-268288" lvl="1" marL="354013">
              <a:lnSpc>
                <a:spcPct val="114000"/>
              </a:lnSpc>
              <a:spcBef>
                <a:spcPts val="600"/>
              </a:spcBef>
              <a:buSzPct val="100000"/>
              <a:buFont typeface="Courier New"/>
              <a:buChar char="o"/>
              <a:defRPr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VIOLENZA </a:t>
            </a:r>
            <a:r>
              <a:rPr b="0">
                <a:solidFill>
                  <a:srgbClr val="000000"/>
                </a:solidFill>
              </a:rPr>
              <a:t>= </a:t>
            </a:r>
            <a:r>
              <a:rPr>
                <a:solidFill>
                  <a:srgbClr val="000000"/>
                </a:solidFill>
              </a:rPr>
              <a:t>aggressione fisica o morale </a:t>
            </a:r>
            <a:r>
              <a:rPr b="0">
                <a:solidFill>
                  <a:srgbClr val="000000"/>
                </a:solidFill>
              </a:rPr>
              <a:t>diretta alla persona del p.u.; non è necessario che ne derivino lesioni.</a:t>
            </a:r>
          </a:p>
        </p:txBody>
      </p:sp>
      <p:pic>
        <p:nvPicPr>
          <p:cNvPr descr="Immagine 4" id="412" name="Immagin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asellaDiTesto 13"/>
          <p:cNvSpPr txBox="1"/>
          <p:nvPr/>
        </p:nvSpPr>
        <p:spPr>
          <a:xfrm>
            <a:off x="189227" y="1783591"/>
            <a:ext cx="8765545" cy="315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 indent="92075">
              <a:lnSpc>
                <a:spcPct val="114000"/>
              </a:lnSpc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dirty="0" u="none"/>
              <a:t>: </a:t>
            </a:r>
            <a:r>
              <a:rPr dirty="0" u="none">
                <a:solidFill>
                  <a:srgbClr val="C00000"/>
                </a:solidFill>
              </a:rPr>
              <a:t>DOLO SPECIFICO</a:t>
            </a:r>
            <a:r>
              <a:rPr b="0" dirty="0" i="1" u="none">
                <a:solidFill>
                  <a:srgbClr val="002F8E"/>
                </a:solidFill>
              </a:rPr>
              <a:t>,</a:t>
            </a:r>
            <a:r>
              <a:rPr b="0" dirty="0" i="1" u="none"/>
              <a:t> </a:t>
            </a:r>
            <a:r>
              <a:rPr b="0" dirty="0" err="1" u="none"/>
              <a:t>inteso</a:t>
            </a:r>
            <a:r>
              <a:rPr b="0" dirty="0" u="none"/>
              <a:t> come </a:t>
            </a:r>
            <a:r>
              <a:rPr b="0" dirty="0" err="1" u="none"/>
              <a:t>coscienza</a:t>
            </a:r>
            <a:r>
              <a:rPr b="0" dirty="0" u="none"/>
              <a:t> e </a:t>
            </a:r>
            <a:r>
              <a:rPr b="0" dirty="0" err="1" u="none"/>
              <a:t>volontà</a:t>
            </a:r>
            <a:r>
              <a:rPr b="0" dirty="0" u="none"/>
              <a:t>  di </a:t>
            </a:r>
            <a:r>
              <a:rPr b="0" dirty="0" err="1" u="none"/>
              <a:t>usare</a:t>
            </a:r>
            <a:r>
              <a:rPr b="0" dirty="0" u="none"/>
              <a:t> </a:t>
            </a:r>
            <a:r>
              <a:rPr b="0" dirty="0" err="1" u="none"/>
              <a:t>violenza</a:t>
            </a:r>
            <a:r>
              <a:rPr b="0" dirty="0" u="none"/>
              <a:t> o </a:t>
            </a:r>
            <a:r>
              <a:rPr b="0" dirty="0" err="1" u="none"/>
              <a:t>minaccia</a:t>
            </a:r>
            <a:r>
              <a:rPr b="0" dirty="0" u="none"/>
              <a:t> per </a:t>
            </a:r>
            <a:r>
              <a:rPr b="0" dirty="0" err="1" u="none"/>
              <a:t>raggiungere</a:t>
            </a:r>
            <a:r>
              <a:rPr b="0" dirty="0" u="none"/>
              <a:t> </a:t>
            </a:r>
            <a:r>
              <a:rPr b="0" dirty="0" err="1" u="none"/>
              <a:t>gli</a:t>
            </a:r>
            <a:r>
              <a:rPr b="0" dirty="0" u="none"/>
              <a:t> </a:t>
            </a:r>
            <a:r>
              <a:rPr b="0" dirty="0" err="1" u="none"/>
              <a:t>scopi</a:t>
            </a:r>
            <a:r>
              <a:rPr b="0" dirty="0" u="none"/>
              <a:t> </a:t>
            </a:r>
            <a:r>
              <a:rPr b="0" dirty="0" err="1" u="none"/>
              <a:t>descritti</a:t>
            </a:r>
            <a:r>
              <a:rPr b="0" dirty="0" u="none"/>
              <a:t> </a:t>
            </a:r>
            <a:r>
              <a:rPr b="0" dirty="0" err="1" u="none"/>
              <a:t>dalla</a:t>
            </a:r>
            <a:r>
              <a:rPr b="0" dirty="0" u="none"/>
              <a:t> </a:t>
            </a:r>
            <a:r>
              <a:rPr b="0" dirty="0" err="1" u="none"/>
              <a:t>norma</a:t>
            </a:r>
            <a:r>
              <a:rPr b="0" dirty="0" u="none"/>
              <a:t>:</a:t>
            </a:r>
          </a:p>
          <a:p>
            <a:pPr algn="just" indent="-342900" marL="434975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dirty="0" err="1"/>
              <a:t>costringerlo</a:t>
            </a:r>
            <a:r>
              <a:rPr dirty="0"/>
              <a:t> a fare un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contrario</a:t>
            </a:r>
            <a:r>
              <a:rPr dirty="0"/>
              <a:t> ai </a:t>
            </a:r>
            <a:r>
              <a:rPr dirty="0" err="1"/>
              <a:t>propri</a:t>
            </a:r>
            <a:r>
              <a:rPr dirty="0"/>
              <a:t> </a:t>
            </a:r>
            <a:r>
              <a:rPr dirty="0" err="1"/>
              <a:t>doveri</a:t>
            </a:r>
            <a:r>
              <a:rPr dirty="0"/>
              <a:t>, o ad </a:t>
            </a:r>
            <a:r>
              <a:rPr dirty="0" err="1"/>
              <a:t>omettere</a:t>
            </a:r>
            <a:r>
              <a:rPr dirty="0"/>
              <a:t> un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dell'ufficio</a:t>
            </a:r>
            <a:r>
              <a:rPr dirty="0"/>
              <a:t> o del </a:t>
            </a:r>
            <a:r>
              <a:rPr dirty="0" err="1"/>
              <a:t>servizio</a:t>
            </a:r>
            <a:r>
              <a:rPr dirty="0"/>
              <a:t> [c.1];</a:t>
            </a:r>
          </a:p>
          <a:p>
            <a:pPr algn="just" indent="-342900" marL="434975">
              <a:lnSpc>
                <a:spcPct val="114000"/>
              </a:lnSpc>
              <a:spcBef>
                <a:spcPts val="600"/>
              </a:spcBef>
              <a:buSzPct val="100000"/>
              <a:buChar char="-"/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per </a:t>
            </a:r>
            <a:r>
              <a:rPr dirty="0" err="1"/>
              <a:t>costringere</a:t>
            </a:r>
            <a:r>
              <a:rPr dirty="0"/>
              <a:t> alcuna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persone</a:t>
            </a:r>
            <a:r>
              <a:rPr dirty="0"/>
              <a:t> </a:t>
            </a:r>
            <a:r>
              <a:rPr dirty="0" err="1"/>
              <a:t>anzidette</a:t>
            </a:r>
            <a:r>
              <a:rPr dirty="0"/>
              <a:t> a </a:t>
            </a:r>
            <a:r>
              <a:rPr dirty="0" err="1"/>
              <a:t>compiere</a:t>
            </a:r>
            <a:r>
              <a:rPr dirty="0"/>
              <a:t> un </a:t>
            </a:r>
            <a:r>
              <a:rPr dirty="0" err="1"/>
              <a:t>atto</a:t>
            </a:r>
            <a:r>
              <a:rPr dirty="0"/>
              <a:t> del proprio </a:t>
            </a:r>
            <a:r>
              <a:rPr dirty="0" err="1"/>
              <a:t>ufficio</a:t>
            </a:r>
            <a:r>
              <a:rPr dirty="0"/>
              <a:t> o </a:t>
            </a:r>
            <a:r>
              <a:rPr dirty="0" err="1"/>
              <a:t>servizio</a:t>
            </a:r>
            <a:r>
              <a:rPr dirty="0"/>
              <a:t>, o per </a:t>
            </a:r>
            <a:r>
              <a:rPr dirty="0" err="1"/>
              <a:t>influire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di </a:t>
            </a:r>
            <a:r>
              <a:rPr dirty="0" err="1"/>
              <a:t>esso</a:t>
            </a:r>
            <a:r>
              <a:rPr dirty="0"/>
              <a:t> [c. 2].</a:t>
            </a:r>
          </a:p>
          <a:p>
            <a:pPr algn="just" indent="92075">
              <a:lnSpc>
                <a:spcPct val="114000"/>
              </a:lnSpc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descr="Immagine 4" id="416" name="Immagin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asellaDiTesto 13"/>
          <p:cNvSpPr txBox="1"/>
          <p:nvPr/>
        </p:nvSpPr>
        <p:spPr>
          <a:xfrm>
            <a:off x="189227" y="1565011"/>
            <a:ext cx="8765545" cy="4692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 indent="92075" lvl="0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dirty="0" lang="it-IT" sz="2200">
                <a:latin typeface="Times New Roman"/>
                <a:cs typeface="Times New Roman"/>
                <a:sym typeface="Times New Roman"/>
              </a:rPr>
              <a:t>Allorché il comportamento violento o minaccioso non sia diretto a costringere, ma </a:t>
            </a:r>
            <a:r>
              <a:rPr altLang="it-IT" dirty="0" lang="it-IT" sz="220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sia solo espressione di volgarità ingiuriosa o di atteggiamento genericamente minaccioso</a:t>
            </a:r>
            <a:r>
              <a:rPr altLang="it-IT" b="0" dirty="0" lang="it-IT" sz="2200">
                <a:latin typeface="Times New Roman"/>
                <a:cs typeface="Times New Roman"/>
                <a:sym typeface="Times New Roman"/>
              </a:rPr>
              <a:t>, senza alcuna finalità costrittiva, tale condotta potrà tutt'al più integrare i reati di ingiuria (oggi depenalizzato) o </a:t>
            </a:r>
            <a:r>
              <a:rPr altLang="it-IT" dirty="0" lang="it-IT" sz="2200">
                <a:latin typeface="Times New Roman"/>
                <a:cs typeface="Times New Roman"/>
                <a:sym typeface="Times New Roman"/>
              </a:rPr>
              <a:t>di minaccia, aggravati dalla qualità delle persone offese</a:t>
            </a:r>
            <a:r>
              <a:rPr altLang="it-IT" b="0" dirty="0" lang="it-IT" sz="2200">
                <a:latin typeface="Times New Roman"/>
                <a:cs typeface="Times New Roman"/>
                <a:sym typeface="Times New Roman"/>
              </a:rPr>
              <a:t>.</a:t>
            </a:r>
          </a:p>
          <a:p>
            <a:pPr algn="just" indent="92075" lvl="0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b="0" dirty="0" lang="it-IT" sz="2200">
              <a:latin typeface="Times New Roman"/>
              <a:cs typeface="Times New Roman"/>
              <a:sym typeface="Times New Roman"/>
            </a:endParaRPr>
          </a:p>
          <a:p>
            <a:pPr algn="just" indent="92075" lvl="0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altLang="it-IT" b="0" dirty="0" lang="it-IT" sz="2200">
                <a:latin typeface="Times New Roman"/>
                <a:cs typeface="Times New Roman"/>
                <a:sym typeface="Times New Roman"/>
              </a:rPr>
              <a:t>Ad ogni modo, </a:t>
            </a:r>
            <a:r>
              <a:rPr altLang="it-IT" dirty="0" lang="it-IT" sz="2200" u="sng">
                <a:latin typeface="Times New Roman"/>
                <a:cs typeface="Times New Roman"/>
                <a:sym typeface="Times New Roman"/>
              </a:rPr>
              <a:t>presupposto</a:t>
            </a:r>
            <a:r>
              <a:rPr altLang="it-IT" b="0" dirty="0" lang="it-IT" sz="2200">
                <a:latin typeface="Times New Roman"/>
                <a:cs typeface="Times New Roman"/>
                <a:sym typeface="Times New Roman"/>
              </a:rPr>
              <a:t> implicito è che </a:t>
            </a:r>
            <a:r>
              <a:rPr altLang="it-IT" dirty="0" lang="it-IT" sz="220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il privato sia consapevole della qualifica soggettiva.</a:t>
            </a:r>
          </a:p>
          <a:p>
            <a:pPr algn="just" indent="92075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 indent="92075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 indent="92075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descr="Immagine 4" id="420" name="Immagin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Violenza e minaccia a un pubblico ufficiale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CasellaDiTesto 13"/>
          <p:cNvSpPr txBox="1"/>
          <p:nvPr/>
        </p:nvSpPr>
        <p:spPr>
          <a:xfrm>
            <a:off x="153223" y="980727"/>
            <a:ext cx="8765545" cy="2601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337 </a:t>
            </a:r>
            <a:r>
              <a:rPr dirty="0" err="1"/>
              <a:t>c.p.</a:t>
            </a:r>
            <a:r>
              <a:rPr dirty="0"/>
              <a:t> </a:t>
            </a:r>
            <a:r>
              <a:rPr dirty="0" err="1"/>
              <a:t>Resistenza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altLang="it-IT" dirty="0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sz="24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«</a:t>
            </a:r>
            <a:r>
              <a:rPr dirty="0" err="1" i="1"/>
              <a:t>Chiunque</a:t>
            </a:r>
            <a:r>
              <a:rPr dirty="0" i="1"/>
              <a:t> </a:t>
            </a:r>
            <a:r>
              <a:rPr b="1" dirty="0" err="1" i="1">
                <a:solidFill>
                  <a:srgbClr val="E46C0A"/>
                </a:solidFill>
              </a:rPr>
              <a:t>usa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b="1" dirty="0" err="1" i="1">
                <a:solidFill>
                  <a:srgbClr val="E46C0A"/>
                </a:solidFill>
              </a:rPr>
              <a:t>violenza</a:t>
            </a:r>
            <a:r>
              <a:rPr b="1" dirty="0" i="1">
                <a:solidFill>
                  <a:srgbClr val="E46C0A"/>
                </a:solidFill>
              </a:rPr>
              <a:t> o </a:t>
            </a:r>
            <a:r>
              <a:rPr b="1" dirty="0" err="1" i="1">
                <a:solidFill>
                  <a:srgbClr val="E46C0A"/>
                </a:solidFill>
              </a:rPr>
              <a:t>minaccia</a:t>
            </a:r>
            <a:r>
              <a:rPr b="1" dirty="0" i="1">
                <a:solidFill>
                  <a:srgbClr val="E46C0A"/>
                </a:solidFill>
              </a:rPr>
              <a:t> per </a:t>
            </a:r>
            <a:r>
              <a:rPr b="1" dirty="0" err="1" i="1">
                <a:solidFill>
                  <a:srgbClr val="E46C0A"/>
                </a:solidFill>
              </a:rPr>
              <a:t>opporsi</a:t>
            </a:r>
            <a:r>
              <a:rPr b="1" dirty="0" i="1">
                <a:solidFill>
                  <a:srgbClr val="E46C0A"/>
                </a:solidFill>
              </a:rPr>
              <a:t> a un </a:t>
            </a:r>
            <a:r>
              <a:rPr b="1" dirty="0" err="1" i="1">
                <a:solidFill>
                  <a:srgbClr val="E46C0A"/>
                </a:solidFill>
              </a:rPr>
              <a:t>pubblico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b="1" dirty="0" err="1" i="1">
                <a:solidFill>
                  <a:srgbClr val="E46C0A"/>
                </a:solidFill>
              </a:rPr>
              <a:t>ufficiale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dirty="0" i="1"/>
              <a:t>o ad un </a:t>
            </a:r>
            <a:r>
              <a:rPr dirty="0" err="1" i="1"/>
              <a:t>incaricato</a:t>
            </a:r>
            <a:r>
              <a:rPr dirty="0" i="1"/>
              <a:t> di un </a:t>
            </a:r>
            <a:r>
              <a:rPr dirty="0" err="1" i="1"/>
              <a:t>pubblico</a:t>
            </a:r>
            <a:r>
              <a:rPr dirty="0" i="1"/>
              <a:t> </a:t>
            </a:r>
            <a:r>
              <a:rPr dirty="0" err="1" i="1"/>
              <a:t>servizio</a:t>
            </a:r>
            <a:r>
              <a:rPr dirty="0" i="1"/>
              <a:t>, </a:t>
            </a:r>
            <a:r>
              <a:rPr b="1" dirty="0" err="1" i="1">
                <a:solidFill>
                  <a:srgbClr val="E46C0A"/>
                </a:solidFill>
              </a:rPr>
              <a:t>mentre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b="1" dirty="0" err="1" i="1">
                <a:solidFill>
                  <a:srgbClr val="E46C0A"/>
                </a:solidFill>
              </a:rPr>
              <a:t>compie</a:t>
            </a:r>
            <a:r>
              <a:rPr b="1" dirty="0" i="1">
                <a:solidFill>
                  <a:srgbClr val="E46C0A"/>
                </a:solidFill>
              </a:rPr>
              <a:t> un </a:t>
            </a:r>
            <a:r>
              <a:rPr b="1" dirty="0" err="1" i="1">
                <a:solidFill>
                  <a:srgbClr val="E46C0A"/>
                </a:solidFill>
              </a:rPr>
              <a:t>atto</a:t>
            </a:r>
            <a:r>
              <a:rPr b="1" dirty="0" i="1">
                <a:solidFill>
                  <a:srgbClr val="E46C0A"/>
                </a:solidFill>
              </a:rPr>
              <a:t> di </a:t>
            </a:r>
            <a:r>
              <a:rPr b="1" dirty="0" err="1" i="1">
                <a:solidFill>
                  <a:srgbClr val="E46C0A"/>
                </a:solidFill>
              </a:rPr>
              <a:t>ufficio</a:t>
            </a:r>
            <a:r>
              <a:rPr b="1" dirty="0" i="1">
                <a:solidFill>
                  <a:srgbClr val="E46C0A"/>
                </a:solidFill>
              </a:rPr>
              <a:t> o di </a:t>
            </a:r>
            <a:r>
              <a:rPr b="1" dirty="0" err="1" i="1">
                <a:solidFill>
                  <a:srgbClr val="E46C0A"/>
                </a:solidFill>
              </a:rPr>
              <a:t>servizio</a:t>
            </a:r>
            <a:r>
              <a:rPr dirty="0" i="1"/>
              <a:t>, o </a:t>
            </a:r>
            <a:r>
              <a:rPr b="1" dirty="0" i="1">
                <a:solidFill>
                  <a:srgbClr val="E46C0A"/>
                </a:solidFill>
              </a:rPr>
              <a:t>a </a:t>
            </a:r>
            <a:r>
              <a:rPr b="1" dirty="0" err="1" i="1">
                <a:solidFill>
                  <a:srgbClr val="E46C0A"/>
                </a:solidFill>
              </a:rPr>
              <a:t>coloro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b="1" dirty="0" err="1" i="1">
                <a:solidFill>
                  <a:srgbClr val="E46C0A"/>
                </a:solidFill>
              </a:rPr>
              <a:t>che</a:t>
            </a:r>
            <a:r>
              <a:rPr b="1" dirty="0" i="1">
                <a:solidFill>
                  <a:srgbClr val="E46C0A"/>
                </a:solidFill>
              </a:rPr>
              <a:t>, </a:t>
            </a:r>
            <a:r>
              <a:rPr b="1" dirty="0" err="1" i="1">
                <a:solidFill>
                  <a:srgbClr val="E46C0A"/>
                </a:solidFill>
              </a:rPr>
              <a:t>richiesti</a:t>
            </a:r>
            <a:r>
              <a:rPr b="1" dirty="0" i="1">
                <a:solidFill>
                  <a:srgbClr val="E46C0A"/>
                </a:solidFill>
              </a:rPr>
              <a:t>, </a:t>
            </a:r>
            <a:r>
              <a:rPr b="1" dirty="0" err="1" i="1">
                <a:solidFill>
                  <a:srgbClr val="E46C0A"/>
                </a:solidFill>
              </a:rPr>
              <a:t>gli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b="1" dirty="0" err="1" i="1">
                <a:solidFill>
                  <a:srgbClr val="E46C0A"/>
                </a:solidFill>
              </a:rPr>
              <a:t>prestano</a:t>
            </a:r>
            <a:r>
              <a:rPr b="1" dirty="0" i="1">
                <a:solidFill>
                  <a:srgbClr val="E46C0A"/>
                </a:solidFill>
              </a:rPr>
              <a:t> </a:t>
            </a:r>
            <a:r>
              <a:rPr b="1" dirty="0" err="1" i="1">
                <a:solidFill>
                  <a:srgbClr val="E46C0A"/>
                </a:solidFill>
              </a:rPr>
              <a:t>assistenza</a:t>
            </a:r>
            <a:r>
              <a:rPr dirty="0" i="1"/>
              <a:t>, è </a:t>
            </a:r>
            <a:r>
              <a:rPr dirty="0" err="1" i="1"/>
              <a:t>punito</a:t>
            </a:r>
            <a:r>
              <a:rPr dirty="0" i="1"/>
              <a:t> con la </a:t>
            </a:r>
            <a:r>
              <a:rPr dirty="0" err="1" i="1"/>
              <a:t>reclusione</a:t>
            </a:r>
            <a:r>
              <a:rPr dirty="0" i="1"/>
              <a:t> da </a:t>
            </a:r>
            <a:r>
              <a:rPr dirty="0" i="1">
                <a:solidFill>
                  <a:schemeClr val="tx1"/>
                </a:solidFill>
              </a:rPr>
              <a:t>6 </a:t>
            </a:r>
            <a:r>
              <a:rPr dirty="0" err="1" i="1">
                <a:solidFill>
                  <a:schemeClr val="tx1"/>
                </a:solidFill>
              </a:rPr>
              <a:t>mesi</a:t>
            </a:r>
            <a:r>
              <a:rPr dirty="0" i="1">
                <a:solidFill>
                  <a:schemeClr val="tx1"/>
                </a:solidFill>
              </a:rPr>
              <a:t> </a:t>
            </a:r>
            <a:r>
              <a:rPr altLang="it-IT" dirty="0" i="1" lang="it-IT">
                <a:solidFill>
                  <a:schemeClr val="tx1"/>
                </a:solidFill>
              </a:rPr>
              <a:t>a</a:t>
            </a:r>
            <a:r>
              <a:rPr dirty="0" i="1">
                <a:solidFill>
                  <a:schemeClr val="tx1"/>
                </a:solidFill>
              </a:rPr>
              <a:t> 5 </a:t>
            </a:r>
            <a:r>
              <a:rPr dirty="0" err="1" i="1">
                <a:solidFill>
                  <a:schemeClr val="tx1"/>
                </a:solidFill>
              </a:rPr>
              <a:t>anni</a:t>
            </a:r>
            <a:r>
              <a:rPr altLang="it-IT" dirty="0" i="1" lang="it-IT">
                <a:solidFill>
                  <a:schemeClr val="tx1"/>
                </a:solidFill>
              </a:rPr>
              <a:t>.»</a:t>
            </a:r>
            <a:endParaRPr dirty="0" i="1">
              <a:solidFill>
                <a:schemeClr val="tx1"/>
              </a:solidFill>
            </a:endParaRPr>
          </a:p>
        </p:txBody>
      </p:sp>
      <p:pic>
        <p:nvPicPr>
          <p:cNvPr descr="Immagine 3" id="424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Rettangolo 5"/>
          <p:cNvSpPr txBox="1"/>
          <p:nvPr/>
        </p:nvSpPr>
        <p:spPr>
          <a:xfrm>
            <a:off x="5193784" y="4261032"/>
            <a:ext cx="4013017" cy="2030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dirty="0" u="none"/>
              <a:t>: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monocratico</a:t>
            </a:r>
            <a:endParaRPr dirty="0"/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dirty="0"/>
              <a:t> </a:t>
            </a:r>
            <a:r>
              <a:rPr dirty="0" err="1"/>
              <a:t>facoltativo</a:t>
            </a:r>
            <a:r>
              <a:rPr dirty="0"/>
              <a:t> 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Fermo</a:t>
            </a:r>
            <a:r>
              <a:rPr dirty="0"/>
              <a:t> non </a:t>
            </a:r>
            <a:r>
              <a:rPr dirty="0" err="1"/>
              <a:t>consentito</a:t>
            </a:r>
            <a:r>
              <a:rPr dirty="0"/>
              <a:t> </a:t>
            </a:r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  <a:p>
            <a:pPr algn="just" indent="-171450" marL="171450">
              <a:lnSpc>
                <a:spcPct val="114000"/>
              </a:lnSpc>
              <a:buSzPct val="100000"/>
              <a:buFont typeface="Arial"/>
              <a:buChar char="•"/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Tentativo</a:t>
            </a:r>
            <a:r>
              <a:rPr dirty="0"/>
              <a:t> </a:t>
            </a:r>
            <a:r>
              <a:rPr dirty="0" err="1"/>
              <a:t>configurabile</a:t>
            </a:r>
            <a:endParaRPr dirty="0"/>
          </a:p>
        </p:txBody>
      </p:sp>
      <p:sp>
        <p:nvSpPr>
          <p:cNvPr id="427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Resistenza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3F83E6-7D0D-4A24-9552-52F8A3FB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160336"/>
            <a:ext cx="7031115" cy="1143001"/>
          </a:xfrm>
        </p:spPr>
        <p:txBody>
          <a:bodyPr numCol="1">
            <a:normAutofit fontScale="90000"/>
          </a:bodyPr>
          <a:lstStyle/>
          <a:p>
            <a:r>
              <a:rPr altLang="it-IT" dirty="0" lang="it-IT">
                <a:solidFill>
                  <a:schemeClr val="bg1"/>
                </a:solidFill>
              </a:rPr>
              <a:t>Resistenza a pubblico ufficiale</a:t>
            </a:r>
            <a:br>
              <a:rPr altLang="it-IT" dirty="0" lang="it-IT">
                <a:solidFill>
                  <a:schemeClr val="bg1"/>
                </a:solidFill>
              </a:rPr>
            </a:br>
            <a:endParaRPr altLang="it-IT" dirty="0" lang="it-IT">
              <a:solidFill>
                <a:schemeClr val="bg1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0B8FC87-4992-49E1-A46D-55441B4A9CA2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457200" y="1085295"/>
            <a:ext cx="8229600" cy="4525963"/>
          </a:xfrm>
        </p:spPr>
        <p:txBody>
          <a:bodyPr numCol="1">
            <a:normAutofit fontScale="92500" lnSpcReduction="20000"/>
          </a:bodyPr>
          <a:lstStyle/>
          <a:p>
            <a:pPr algn="just" indent="0" marL="0">
              <a:buNone/>
            </a:pPr>
            <a:r>
              <a:rPr altLang="it-IT" dirty="0" lang="it-IT">
                <a:solidFill>
                  <a:srgbClr val="FF0000"/>
                </a:solidFill>
              </a:rPr>
              <a:t>Elemento peculiare </a:t>
            </a:r>
            <a:r>
              <a:rPr altLang="it-IT" dirty="0" lang="it-IT"/>
              <a:t>del delitto di resistenza a pubblico ufficiale è rappresentato dal fatto che esso </a:t>
            </a:r>
            <a:r>
              <a:rPr altLang="it-IT" b="1" dirty="0" lang="it-IT" u="sng"/>
              <a:t>si consuma </a:t>
            </a:r>
            <a:r>
              <a:rPr altLang="it-IT" dirty="0" lang="it-IT" u="sng"/>
              <a:t>anche qualora </a:t>
            </a:r>
            <a:r>
              <a:rPr altLang="it-IT" b="1" dirty="0" lang="it-IT" u="sng"/>
              <a:t>la violenza si manifesti </a:t>
            </a:r>
            <a:r>
              <a:rPr altLang="it-IT" dirty="0" lang="it-IT" u="sng"/>
              <a:t>non avverso la persona del pubblico ufficiale</a:t>
            </a:r>
            <a:r>
              <a:rPr altLang="it-IT" dirty="0" lang="it-IT"/>
              <a:t>, </a:t>
            </a:r>
            <a:r>
              <a:rPr altLang="it-IT" b="1" dirty="0" lang="it-IT" u="sng"/>
              <a:t>ma contro un oggetto comunque necessario o correlato al compimento dell’atto d’ufficio.</a:t>
            </a:r>
          </a:p>
          <a:p>
            <a:pPr algn="just" indent="0" marL="0">
              <a:buNone/>
            </a:pPr>
            <a:endParaRPr altLang="it-IT" b="1" dirty="0" lang="it-IT" u="sng"/>
          </a:p>
          <a:p>
            <a:pPr algn="just"/>
            <a:r>
              <a:rPr altLang="it-IT" dirty="0" lang="it-IT"/>
              <a:t>Ad esempio, un soggetto che strappa il verbale di contestazione al codice della strada durante la compilazione incorrerà nella fattispecie appena descritta.</a:t>
            </a:r>
          </a:p>
          <a:p>
            <a:endParaRPr altLang="it-IT" dirty="0" lang="it-IT"/>
          </a:p>
        </p:txBody>
      </p:sp>
      <p:pic>
        <p:nvPicPr>
          <p:cNvPr descr="Immagine 3" id="4" name="Immagine 3">
            <a:extLst>
              <a:ext uri="{FF2B5EF4-FFF2-40B4-BE49-F238E27FC236}">
                <a16:creationId xmlns:a16="http://schemas.microsoft.com/office/drawing/2014/main" id="{DF8F91DF-78DC-437B-8C46-9584D3A3F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3390726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asellaDiTesto 13"/>
          <p:cNvSpPr txBox="1"/>
          <p:nvPr/>
        </p:nvSpPr>
        <p:spPr>
          <a:xfrm>
            <a:off x="77752" y="1124744"/>
            <a:ext cx="8801040" cy="5751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PLURIOFFENSIVO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l'interesse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tutelato</a:t>
            </a:r>
            <a:r>
              <a:rPr b="0" dirty="0">
                <a:solidFill>
                  <a:srgbClr val="000000"/>
                </a:solidFill>
              </a:rPr>
              <a:t> è, da un </a:t>
            </a:r>
            <a:r>
              <a:rPr b="0" dirty="0" err="1">
                <a:solidFill>
                  <a:srgbClr val="000000"/>
                </a:solidFill>
              </a:rPr>
              <a:t>lato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quello</a:t>
            </a:r>
            <a:r>
              <a:rPr b="0" dirty="0">
                <a:solidFill>
                  <a:srgbClr val="000000"/>
                </a:solidFill>
              </a:rPr>
              <a:t> del </a:t>
            </a:r>
            <a:r>
              <a:rPr b="0" dirty="0" err="1">
                <a:solidFill>
                  <a:srgbClr val="000000"/>
                </a:solidFill>
              </a:rPr>
              <a:t>regolare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funzionamento</a:t>
            </a:r>
            <a:r>
              <a:rPr dirty="0">
                <a:solidFill>
                  <a:srgbClr val="000000"/>
                </a:solidFill>
              </a:rPr>
              <a:t> e del </a:t>
            </a:r>
            <a:r>
              <a:rPr dirty="0" err="1">
                <a:solidFill>
                  <a:srgbClr val="000000"/>
                </a:solidFill>
              </a:rPr>
              <a:t>prestigio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della</a:t>
            </a:r>
            <a:r>
              <a:rPr dirty="0">
                <a:solidFill>
                  <a:srgbClr val="000000"/>
                </a:solidFill>
              </a:rPr>
              <a:t> P.A</a:t>
            </a:r>
            <a:r>
              <a:rPr b="0" dirty="0">
                <a:solidFill>
                  <a:srgbClr val="000000"/>
                </a:solidFill>
              </a:rPr>
              <a:t>. e, </a:t>
            </a:r>
            <a:r>
              <a:rPr b="0" dirty="0" err="1">
                <a:solidFill>
                  <a:srgbClr val="000000"/>
                </a:solidFill>
              </a:rPr>
              <a:t>dall'altro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lato</a:t>
            </a:r>
            <a:r>
              <a:rPr b="0" dirty="0">
                <a:solidFill>
                  <a:srgbClr val="000000"/>
                </a:solidFill>
              </a:rPr>
              <a:t>, la </a:t>
            </a:r>
            <a:r>
              <a:rPr dirty="0" err="1">
                <a:solidFill>
                  <a:srgbClr val="000000"/>
                </a:solidFill>
              </a:rPr>
              <a:t>libertà</a:t>
            </a:r>
            <a:r>
              <a:rPr dirty="0">
                <a:solidFill>
                  <a:srgbClr val="000000"/>
                </a:solidFill>
              </a:rPr>
              <a:t> e </a:t>
            </a:r>
            <a:r>
              <a:rPr dirty="0" err="1">
                <a:solidFill>
                  <a:srgbClr val="000000"/>
                </a:solidFill>
              </a:rPr>
              <a:t>l'incolumità</a:t>
            </a:r>
            <a:r>
              <a:rPr dirty="0">
                <a:solidFill>
                  <a:srgbClr val="000000"/>
                </a:solidFill>
              </a:rPr>
              <a:t> del </a:t>
            </a:r>
            <a:r>
              <a:rPr dirty="0" err="1">
                <a:solidFill>
                  <a:srgbClr val="000000"/>
                </a:solidFill>
              </a:rPr>
              <a:t>pubblico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ufficiale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altLang="it-IT" dirty="0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COMUNE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perché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può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essere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commesso</a:t>
            </a:r>
            <a:r>
              <a:rPr b="0" dirty="0">
                <a:solidFill>
                  <a:srgbClr val="000000"/>
                </a:solidFill>
              </a:rPr>
              <a:t> da </a:t>
            </a:r>
            <a:r>
              <a:rPr dirty="0" err="1">
                <a:solidFill>
                  <a:srgbClr val="000000"/>
                </a:solidFill>
              </a:rPr>
              <a:t>chiunque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 </a:t>
            </a:r>
            <a:r>
              <a:rPr b="1" dirty="0" err="1"/>
              <a:t>soggetti</a:t>
            </a:r>
            <a:r>
              <a:rPr b="1" dirty="0"/>
              <a:t> </a:t>
            </a:r>
            <a:r>
              <a:rPr b="1" dirty="0" err="1"/>
              <a:t>passivi</a:t>
            </a:r>
            <a:r>
              <a:rPr b="1" dirty="0"/>
              <a:t> del </a:t>
            </a:r>
            <a:r>
              <a:rPr b="1" dirty="0" err="1"/>
              <a:t>reato</a:t>
            </a:r>
            <a:r>
              <a:rPr b="1"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>
                <a:solidFill>
                  <a:srgbClr val="E46C0A"/>
                </a:solidFill>
              </a:rPr>
              <a:t>pubblico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ufficiale</a:t>
            </a:r>
            <a:r>
              <a:rPr b="1" dirty="0">
                <a:solidFill>
                  <a:srgbClr val="E46C0A"/>
                </a:solidFill>
              </a:rPr>
              <a:t>/</a:t>
            </a:r>
            <a:r>
              <a:rPr b="1" dirty="0" err="1">
                <a:solidFill>
                  <a:srgbClr val="E46C0A"/>
                </a:solidFill>
              </a:rPr>
              <a:t>incaricato</a:t>
            </a:r>
            <a:r>
              <a:rPr b="1" dirty="0">
                <a:solidFill>
                  <a:srgbClr val="E46C0A"/>
                </a:solidFill>
              </a:rPr>
              <a:t> di </a:t>
            </a:r>
            <a:r>
              <a:rPr b="1" dirty="0" err="1">
                <a:solidFill>
                  <a:srgbClr val="E46C0A"/>
                </a:solidFill>
              </a:rPr>
              <a:t>pubblico</a:t>
            </a:r>
            <a:r>
              <a:rPr b="1" dirty="0">
                <a:solidFill>
                  <a:srgbClr val="E46C0A"/>
                </a:solidFill>
              </a:rPr>
              <a:t> </a:t>
            </a:r>
            <a:r>
              <a:rPr b="1" dirty="0" err="1">
                <a:solidFill>
                  <a:srgbClr val="E46C0A"/>
                </a:solidFill>
              </a:rPr>
              <a:t>servizio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subiscono</a:t>
            </a:r>
            <a:r>
              <a:rPr dirty="0"/>
              <a:t> </a:t>
            </a:r>
            <a:r>
              <a:rPr dirty="0" err="1"/>
              <a:t>violenza</a:t>
            </a:r>
            <a:r>
              <a:rPr dirty="0"/>
              <a:t> o </a:t>
            </a:r>
            <a:r>
              <a:rPr dirty="0" err="1"/>
              <a:t>minaccia</a:t>
            </a:r>
            <a:r>
              <a:rPr dirty="0"/>
              <a:t>. </a:t>
            </a:r>
            <a:endParaRPr altLang="it-IT" dirty="0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Detta</a:t>
            </a:r>
            <a:r>
              <a:rPr dirty="0"/>
              <a:t>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violenta</a:t>
            </a:r>
            <a:r>
              <a:rPr dirty="0"/>
              <a:t> o </a:t>
            </a:r>
            <a:r>
              <a:rPr dirty="0" err="1"/>
              <a:t>minacciosa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avere</a:t>
            </a:r>
            <a:r>
              <a:rPr dirty="0"/>
              <a:t> </a:t>
            </a:r>
            <a:r>
              <a:rPr b="1" dirty="0">
                <a:solidFill>
                  <a:srgbClr val="E46C0A"/>
                </a:solidFill>
              </a:rPr>
              <a:t>lo </a:t>
            </a:r>
            <a:r>
              <a:rPr b="1" dirty="0" err="1">
                <a:solidFill>
                  <a:srgbClr val="E46C0A"/>
                </a:solidFill>
              </a:rPr>
              <a:t>scopo</a:t>
            </a:r>
            <a:r>
              <a:rPr b="1" dirty="0">
                <a:solidFill>
                  <a:srgbClr val="E46C0A"/>
                </a:solidFill>
              </a:rPr>
              <a:t> di </a:t>
            </a:r>
            <a:r>
              <a:rPr b="1" dirty="0" err="1" u="sng">
                <a:solidFill>
                  <a:srgbClr val="E46C0A"/>
                </a:solidFill>
              </a:rPr>
              <a:t>impedire</a:t>
            </a:r>
            <a:r>
              <a:rPr b="1" dirty="0" u="sng">
                <a:solidFill>
                  <a:srgbClr val="E46C0A"/>
                </a:solidFill>
              </a:rPr>
              <a:t> </a:t>
            </a:r>
            <a:r>
              <a:rPr b="1" dirty="0" err="1" u="sng">
                <a:solidFill>
                  <a:srgbClr val="E46C0A"/>
                </a:solidFill>
              </a:rPr>
              <a:t>il</a:t>
            </a:r>
            <a:r>
              <a:rPr b="1" dirty="0" u="sng">
                <a:solidFill>
                  <a:srgbClr val="E46C0A"/>
                </a:solidFill>
              </a:rPr>
              <a:t> </a:t>
            </a:r>
            <a:r>
              <a:rPr b="1" dirty="0" err="1" u="sng">
                <a:solidFill>
                  <a:srgbClr val="E46C0A"/>
                </a:solidFill>
              </a:rPr>
              <a:t>compimento</a:t>
            </a:r>
            <a:r>
              <a:rPr b="1" dirty="0" u="sng">
                <a:solidFill>
                  <a:srgbClr val="E46C0A"/>
                </a:solidFill>
              </a:rPr>
              <a:t> di </a:t>
            </a:r>
            <a:r>
              <a:rPr b="1" dirty="0" err="1" u="sng">
                <a:solidFill>
                  <a:srgbClr val="E46C0A"/>
                </a:solidFill>
              </a:rPr>
              <a:t>un’attività</a:t>
            </a:r>
            <a:r>
              <a:rPr b="1" dirty="0" u="sng">
                <a:solidFill>
                  <a:srgbClr val="E46C0A"/>
                </a:solidFill>
              </a:rPr>
              <a:t> in </a:t>
            </a:r>
            <a:r>
              <a:rPr b="1" dirty="0" err="1" u="sng">
                <a:solidFill>
                  <a:srgbClr val="E46C0A"/>
                </a:solidFill>
              </a:rPr>
              <a:t>corso</a:t>
            </a:r>
            <a:r>
              <a:rPr b="1" dirty="0">
                <a:solidFill>
                  <a:srgbClr val="E46C0A"/>
                </a:solidFill>
              </a:rPr>
              <a:t>. </a:t>
            </a:r>
            <a:r>
              <a:rPr dirty="0" err="1"/>
              <a:t>L’autore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non </a:t>
            </a:r>
            <a:r>
              <a:rPr dirty="0" err="1"/>
              <a:t>vuole</a:t>
            </a:r>
            <a:r>
              <a:rPr dirty="0"/>
              <a:t>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condizionare</a:t>
            </a:r>
            <a:r>
              <a:rPr dirty="0"/>
              <a:t> un </a:t>
            </a:r>
            <a:r>
              <a:rPr dirty="0" err="1"/>
              <a:t>futuro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decisionale</a:t>
            </a:r>
            <a:r>
              <a:rPr dirty="0"/>
              <a:t>, </a:t>
            </a:r>
            <a:r>
              <a:rPr dirty="0" err="1"/>
              <a:t>bensì</a:t>
            </a:r>
            <a:r>
              <a:rPr dirty="0"/>
              <a:t> </a:t>
            </a:r>
            <a:r>
              <a:rPr dirty="0" err="1"/>
              <a:t>opporsi</a:t>
            </a:r>
            <a:r>
              <a:rPr dirty="0"/>
              <a:t> ad </a:t>
            </a:r>
            <a:r>
              <a:rPr dirty="0" err="1"/>
              <a:t>uno</a:t>
            </a:r>
            <a:r>
              <a:rPr dirty="0"/>
              <a:t> </a:t>
            </a:r>
            <a:r>
              <a:rPr dirty="0" err="1"/>
              <a:t>specifico</a:t>
            </a:r>
            <a:r>
              <a:rPr dirty="0"/>
              <a:t> </a:t>
            </a:r>
            <a:r>
              <a:rPr dirty="0" err="1"/>
              <a:t>atto</a:t>
            </a:r>
            <a:r>
              <a:rPr dirty="0"/>
              <a:t> </a:t>
            </a:r>
            <a:r>
              <a:rPr dirty="0" err="1"/>
              <a:t>d’ufficio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 </a:t>
            </a:r>
            <a:r>
              <a:rPr dirty="0" err="1"/>
              <a:t>sta</a:t>
            </a:r>
            <a:r>
              <a:rPr dirty="0"/>
              <a:t> </a:t>
            </a:r>
            <a:r>
              <a:rPr dirty="0" err="1"/>
              <a:t>ponendo</a:t>
            </a:r>
            <a:r>
              <a:rPr dirty="0"/>
              <a:t> in </a:t>
            </a:r>
            <a:r>
              <a:rPr dirty="0" err="1"/>
              <a:t>essere</a:t>
            </a:r>
            <a:r>
              <a:rPr dirty="0"/>
              <a:t> in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preciso</a:t>
            </a:r>
            <a:r>
              <a:rPr dirty="0"/>
              <a:t> </a:t>
            </a:r>
            <a:r>
              <a:rPr dirty="0" err="1"/>
              <a:t>momento</a:t>
            </a:r>
            <a:r>
              <a:rPr altLang="it-IT" dirty="0" lang="it-IT"/>
              <a:t>.</a:t>
            </a:r>
            <a:endParaRPr dirty="0"/>
          </a:p>
        </p:txBody>
      </p:sp>
      <p:pic>
        <p:nvPicPr>
          <p:cNvPr descr="Immagine 5" id="430" name="Immagin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1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Resistenza a pubblico ufficiale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asellaDiTesto 8"/>
          <p:cNvSpPr txBox="1"/>
          <p:nvPr/>
        </p:nvSpPr>
        <p:spPr>
          <a:xfrm>
            <a:off x="354685" y="1590327"/>
            <a:ext cx="8552527" cy="4134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dirty="0" u="none"/>
              <a:t> </a:t>
            </a:r>
            <a:r>
              <a:rPr b="0" dirty="0" err="1" u="none"/>
              <a:t>consiste</a:t>
            </a:r>
            <a:r>
              <a:rPr b="0" dirty="0" u="none"/>
              <a:t> </a:t>
            </a:r>
            <a:r>
              <a:rPr dirty="0" err="1" u="none">
                <a:solidFill>
                  <a:srgbClr val="E46C0A"/>
                </a:solidFill>
              </a:rPr>
              <a:t>nell'uso</a:t>
            </a:r>
            <a:r>
              <a:rPr dirty="0" u="none">
                <a:solidFill>
                  <a:srgbClr val="E46C0A"/>
                </a:solidFill>
              </a:rPr>
              <a:t> </a:t>
            </a:r>
            <a:r>
              <a:rPr dirty="0" err="1" u="none">
                <a:solidFill>
                  <a:srgbClr val="E46C0A"/>
                </a:solidFill>
              </a:rPr>
              <a:t>della</a:t>
            </a:r>
            <a:r>
              <a:rPr dirty="0" u="none">
                <a:solidFill>
                  <a:srgbClr val="E46C0A"/>
                </a:solidFill>
              </a:rPr>
              <a:t> </a:t>
            </a:r>
            <a:r>
              <a:rPr dirty="0" err="1" u="none">
                <a:solidFill>
                  <a:srgbClr val="E46C0A"/>
                </a:solidFill>
              </a:rPr>
              <a:t>violenza</a:t>
            </a:r>
            <a:r>
              <a:rPr dirty="0" u="none">
                <a:solidFill>
                  <a:srgbClr val="E46C0A"/>
                </a:solidFill>
              </a:rPr>
              <a:t> o </a:t>
            </a:r>
            <a:r>
              <a:rPr dirty="0" err="1" u="none">
                <a:solidFill>
                  <a:srgbClr val="E46C0A"/>
                </a:solidFill>
              </a:rPr>
              <a:t>minaccia</a:t>
            </a:r>
            <a:r>
              <a:rPr dirty="0" u="none">
                <a:solidFill>
                  <a:srgbClr val="E46C0A"/>
                </a:solidFill>
              </a:rPr>
              <a:t> per </a:t>
            </a:r>
            <a:r>
              <a:rPr dirty="0" err="1" u="none">
                <a:solidFill>
                  <a:srgbClr val="E46C0A"/>
                </a:solidFill>
              </a:rPr>
              <a:t>opporsi</a:t>
            </a:r>
            <a:r>
              <a:rPr b="0" dirty="0" u="none"/>
              <a:t>, </a:t>
            </a:r>
            <a:r>
              <a:rPr b="0" dirty="0" err="1" u="none"/>
              <a:t>quindi</a:t>
            </a:r>
            <a:r>
              <a:rPr b="0" dirty="0" u="none"/>
              <a:t> al fine di </a:t>
            </a:r>
            <a:r>
              <a:rPr dirty="0" err="1" u="none">
                <a:solidFill>
                  <a:srgbClr val="E46C0A"/>
                </a:solidFill>
              </a:rPr>
              <a:t>impedire</a:t>
            </a:r>
            <a:r>
              <a:rPr dirty="0" u="none">
                <a:solidFill>
                  <a:srgbClr val="E46C0A"/>
                </a:solidFill>
              </a:rPr>
              <a:t>, </a:t>
            </a:r>
            <a:r>
              <a:rPr dirty="0" err="1" u="none">
                <a:solidFill>
                  <a:srgbClr val="E46C0A"/>
                </a:solidFill>
              </a:rPr>
              <a:t>intralciare</a:t>
            </a:r>
            <a:r>
              <a:rPr dirty="0" u="none">
                <a:solidFill>
                  <a:srgbClr val="E46C0A"/>
                </a:solidFill>
              </a:rPr>
              <a:t> o </a:t>
            </a:r>
            <a:r>
              <a:rPr dirty="0" err="1" u="none">
                <a:solidFill>
                  <a:srgbClr val="E46C0A"/>
                </a:solidFill>
              </a:rPr>
              <a:t>compromettere</a:t>
            </a:r>
            <a:r>
              <a:rPr b="0" dirty="0" u="none"/>
              <a:t>, </a:t>
            </a:r>
            <a:r>
              <a:rPr b="0" dirty="0" err="1" u="none"/>
              <a:t>anche</a:t>
            </a:r>
            <a:r>
              <a:rPr b="0" dirty="0" u="none"/>
              <a:t> solo </a:t>
            </a:r>
            <a:r>
              <a:rPr b="0" dirty="0" err="1" u="none"/>
              <a:t>parzialmente</a:t>
            </a:r>
            <a:r>
              <a:rPr b="0" dirty="0" u="none"/>
              <a:t> e </a:t>
            </a:r>
            <a:r>
              <a:rPr b="0" dirty="0" err="1" u="none"/>
              <a:t>temporaneamente</a:t>
            </a:r>
            <a:r>
              <a:rPr b="0" dirty="0" u="none"/>
              <a:t>, </a:t>
            </a:r>
            <a:r>
              <a:rPr dirty="0" u="none"/>
              <a:t>la </a:t>
            </a:r>
            <a:r>
              <a:rPr dirty="0" err="1" u="none"/>
              <a:t>regolarità</a:t>
            </a:r>
            <a:r>
              <a:rPr dirty="0" u="none"/>
              <a:t> del </a:t>
            </a:r>
            <a:r>
              <a:rPr dirty="0" err="1" u="none"/>
              <a:t>compimento</a:t>
            </a:r>
            <a:r>
              <a:rPr dirty="0" u="none"/>
              <a:t> </a:t>
            </a:r>
            <a:r>
              <a:rPr dirty="0" err="1" u="none"/>
              <a:t>dell'atto</a:t>
            </a:r>
            <a:r>
              <a:rPr dirty="0" u="none"/>
              <a:t> </a:t>
            </a:r>
            <a:r>
              <a:rPr dirty="0" err="1" u="none"/>
              <a:t>d'ufficio</a:t>
            </a:r>
            <a:r>
              <a:rPr dirty="0" u="none"/>
              <a:t> </a:t>
            </a:r>
            <a:r>
              <a:rPr b="0" dirty="0" u="none"/>
              <a:t>da </a:t>
            </a:r>
            <a:r>
              <a:rPr b="0" dirty="0" err="1" u="none"/>
              <a:t>parte</a:t>
            </a:r>
            <a:r>
              <a:rPr b="0" dirty="0" u="none"/>
              <a:t> del </a:t>
            </a:r>
            <a:r>
              <a:rPr b="0" dirty="0" err="1" u="none"/>
              <a:t>pubblico</a:t>
            </a:r>
            <a:r>
              <a:rPr b="0" dirty="0" u="none"/>
              <a:t> </a:t>
            </a:r>
            <a:r>
              <a:rPr b="0" dirty="0" err="1" u="none"/>
              <a:t>ufficiale</a:t>
            </a:r>
            <a:r>
              <a:rPr b="0" dirty="0" u="none"/>
              <a:t> o </a:t>
            </a:r>
            <a:r>
              <a:rPr b="0" dirty="0" err="1" u="none"/>
              <a:t>dell'incaricato</a:t>
            </a:r>
            <a:r>
              <a:rPr b="0" dirty="0" u="none"/>
              <a:t> di </a:t>
            </a:r>
            <a:r>
              <a:rPr b="0" dirty="0" err="1" u="none"/>
              <a:t>pubblico</a:t>
            </a:r>
            <a:r>
              <a:rPr b="0" dirty="0" u="none"/>
              <a:t> </a:t>
            </a:r>
            <a:r>
              <a:rPr b="0" dirty="0" err="1" u="none"/>
              <a:t>servizio</a:t>
            </a:r>
            <a:r>
              <a:rPr b="0" dirty="0" u="none"/>
              <a:t>. </a:t>
            </a:r>
          </a:p>
          <a:p>
            <a:pPr algn="just">
              <a:lnSpc>
                <a:spcPct val="114000"/>
              </a:lnSpc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presuppone</a:t>
            </a:r>
            <a:r>
              <a:rPr dirty="0"/>
              <a:t>, </a:t>
            </a:r>
            <a:r>
              <a:rPr dirty="0" err="1"/>
              <a:t>quindi</a:t>
            </a:r>
            <a:r>
              <a:rPr dirty="0"/>
              <a:t>, </a:t>
            </a:r>
            <a:r>
              <a:rPr dirty="0" err="1"/>
              <a:t>che</a:t>
            </a:r>
            <a:r>
              <a:rPr dirty="0"/>
              <a:t> vi </a:t>
            </a:r>
            <a:r>
              <a:rPr dirty="0" err="1"/>
              <a:t>sia</a:t>
            </a:r>
            <a:r>
              <a:rPr dirty="0"/>
              <a:t> </a:t>
            </a:r>
            <a:r>
              <a:rPr b="1" dirty="0" err="1">
                <a:solidFill>
                  <a:srgbClr val="E46C0A"/>
                </a:solidFill>
              </a:rPr>
              <a:t>un’attività</a:t>
            </a:r>
            <a:r>
              <a:rPr b="1" dirty="0">
                <a:solidFill>
                  <a:srgbClr val="E46C0A"/>
                </a:solidFill>
              </a:rPr>
              <a:t> in </a:t>
            </a:r>
            <a:r>
              <a:rPr b="1" dirty="0" err="1">
                <a:solidFill>
                  <a:srgbClr val="E46C0A"/>
                </a:solidFill>
              </a:rPr>
              <a:t>corso</a:t>
            </a:r>
            <a:r>
              <a:rPr dirty="0"/>
              <a:t>. </a:t>
            </a:r>
          </a:p>
          <a:p>
            <a:pPr algn="just">
              <a:lnSpc>
                <a:spcPct val="114000"/>
              </a:lnSpc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È </a:t>
            </a:r>
            <a:r>
              <a:rPr dirty="0" err="1"/>
              <a:t>richiesto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la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aggressiva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realizzata</a:t>
            </a:r>
            <a:r>
              <a:rPr dirty="0"/>
              <a:t> </a:t>
            </a:r>
            <a:r>
              <a:rPr b="1" dirty="0" err="1">
                <a:solidFill>
                  <a:srgbClr val="E46C0A"/>
                </a:solidFill>
              </a:rPr>
              <a:t>contestualmente</a:t>
            </a:r>
            <a:r>
              <a:rPr dirty="0"/>
              <a:t> rispetto al </a:t>
            </a:r>
            <a:r>
              <a:rPr dirty="0" err="1"/>
              <a:t>compimento</a:t>
            </a:r>
            <a:r>
              <a:rPr dirty="0"/>
              <a:t> </a:t>
            </a:r>
            <a:r>
              <a:rPr dirty="0" err="1"/>
              <a:t>dell'atto</a:t>
            </a:r>
            <a:r>
              <a:rPr dirty="0"/>
              <a:t> </a:t>
            </a:r>
            <a:r>
              <a:rPr dirty="0" err="1"/>
              <a:t>d'ufficio</a:t>
            </a:r>
            <a:r>
              <a:rPr dirty="0"/>
              <a:t>.</a:t>
            </a:r>
          </a:p>
          <a:p>
            <a:pPr algn="just">
              <a:lnSpc>
                <a:spcPct val="114000"/>
              </a:lnSpc>
              <a:defRPr b="0"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DI DANNO</a:t>
            </a:r>
            <a:r>
              <a:rPr b="0" dirty="0"/>
              <a:t>, </a:t>
            </a:r>
            <a:r>
              <a:rPr b="0" dirty="0" err="1"/>
              <a:t>perché</a:t>
            </a:r>
            <a:r>
              <a:rPr b="0" dirty="0"/>
              <a:t> </a:t>
            </a:r>
            <a:r>
              <a:rPr b="0" dirty="0" err="1"/>
              <a:t>richiede</a:t>
            </a:r>
            <a:r>
              <a:rPr b="0" dirty="0"/>
              <a:t> </a:t>
            </a:r>
            <a:r>
              <a:rPr b="0" dirty="0" err="1"/>
              <a:t>l'offesa</a:t>
            </a:r>
            <a:r>
              <a:rPr b="0" dirty="0"/>
              <a:t> in </a:t>
            </a:r>
            <a:r>
              <a:rPr b="0" dirty="0" err="1"/>
              <a:t>senso</a:t>
            </a:r>
            <a:r>
              <a:rPr b="0" dirty="0"/>
              <a:t> </a:t>
            </a:r>
            <a:r>
              <a:rPr b="0" dirty="0" err="1"/>
              <a:t>naturalistico</a:t>
            </a:r>
            <a:r>
              <a:rPr b="0" dirty="0"/>
              <a:t> del bene </a:t>
            </a:r>
            <a:r>
              <a:rPr b="0" dirty="0" err="1"/>
              <a:t>protetto</a:t>
            </a:r>
            <a:r>
              <a:rPr b="0" dirty="0"/>
              <a:t>; </a:t>
            </a:r>
            <a:r>
              <a:rPr dirty="0"/>
              <a:t>DI MERA CONDOTTA</a:t>
            </a:r>
            <a:r>
              <a:rPr b="0" dirty="0"/>
              <a:t>, </a:t>
            </a:r>
            <a:r>
              <a:rPr b="0" dirty="0" err="1"/>
              <a:t>perché</a:t>
            </a:r>
            <a:r>
              <a:rPr b="0" dirty="0"/>
              <a:t> </a:t>
            </a:r>
            <a:r>
              <a:rPr b="0" dirty="0" err="1"/>
              <a:t>si</a:t>
            </a:r>
            <a:r>
              <a:rPr b="0" dirty="0"/>
              <a:t> </a:t>
            </a:r>
            <a:r>
              <a:rPr b="0" dirty="0" err="1"/>
              <a:t>perfeziona</a:t>
            </a:r>
            <a:r>
              <a:rPr b="0" dirty="0"/>
              <a:t> con la semplice </a:t>
            </a:r>
            <a:r>
              <a:rPr b="0" dirty="0" err="1"/>
              <a:t>esecuzione</a:t>
            </a:r>
            <a:r>
              <a:rPr b="0" dirty="0"/>
              <a:t> </a:t>
            </a:r>
            <a:r>
              <a:rPr b="0" dirty="0" err="1"/>
              <a:t>dell'azione</a:t>
            </a:r>
            <a:r>
              <a:rPr b="0" dirty="0"/>
              <a:t> </a:t>
            </a:r>
            <a:r>
              <a:rPr b="0" dirty="0" err="1"/>
              <a:t>criminosa</a:t>
            </a:r>
            <a:r>
              <a:rPr b="0" dirty="0"/>
              <a:t>; </a:t>
            </a:r>
            <a:endParaRPr altLang="it-IT" b="0" dirty="0" lang="it-IT"/>
          </a:p>
          <a:p>
            <a:pPr algn="just">
              <a:lnSpc>
                <a:spcPct val="114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/>
          </a:p>
        </p:txBody>
      </p:sp>
      <p:pic>
        <p:nvPicPr>
          <p:cNvPr descr="Immagine 3" id="434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Resistenza a pubblico ufficiale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asellaDiTesto 13"/>
          <p:cNvSpPr txBox="1"/>
          <p:nvPr/>
        </p:nvSpPr>
        <p:spPr>
          <a:xfrm>
            <a:off x="182570" y="1124743"/>
            <a:ext cx="8801040" cy="503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 indent="-342900" marL="342900">
              <a:lnSpc>
                <a:spcPct val="114000"/>
              </a:lnSpc>
              <a:spcBef>
                <a:spcPts val="600"/>
              </a:spcBef>
              <a:buSzPct val="100000"/>
              <a:buChar char="➢"/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</a:t>
            </a:r>
            <a:r>
              <a:rPr b="0" u="none"/>
              <a:t> configurano resistenza :</a:t>
            </a:r>
          </a:p>
          <a:p>
            <a:pPr algn="just" indent="-342900" lvl="1" marL="8001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fuga</a:t>
            </a:r>
            <a:r>
              <a:rPr b="0">
                <a:solidFill>
                  <a:srgbClr val="000000"/>
                </a:solidFill>
              </a:rPr>
              <a:t>, salvo che il soggetto ponga in essere una “</a:t>
            </a:r>
            <a:r>
              <a:rPr>
                <a:solidFill>
                  <a:srgbClr val="000000"/>
                </a:solidFill>
              </a:rPr>
              <a:t>fuga pericolosa</a:t>
            </a:r>
            <a:r>
              <a:rPr b="0">
                <a:solidFill>
                  <a:srgbClr val="000000"/>
                </a:solidFill>
              </a:rPr>
              <a:t>” o aggredisca i pubblici ufficiali, anche solo dimenandosi;</a:t>
            </a:r>
          </a:p>
          <a:p>
            <a:pPr algn="just" indent="-342900" lvl="1" marL="8001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mera disobbedienza </a:t>
            </a:r>
            <a:r>
              <a:rPr b="0">
                <a:solidFill>
                  <a:srgbClr val="000000"/>
                </a:solidFill>
              </a:rPr>
              <a:t>(il soggetto a cui viene intimato di mettersi al muro e che si rifiuta non integra la condotta antigiuridica che la norma presuppone); </a:t>
            </a:r>
          </a:p>
          <a:p>
            <a:pPr algn="just" indent="-342900" lvl="1" marL="800100">
              <a:lnSpc>
                <a:spcPct val="114000"/>
              </a:lnSpc>
              <a:spcBef>
                <a:spcPts val="600"/>
              </a:spcBef>
              <a:buSzPct val="100000"/>
              <a:buFont typeface="Arial"/>
              <a:buChar char="•"/>
              <a:defRPr sz="22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 resistenza passiva </a:t>
            </a:r>
            <a:r>
              <a:rPr b="0">
                <a:solidFill>
                  <a:srgbClr val="000000"/>
                </a:solidFill>
              </a:rPr>
              <a:t>(il soggetto che si butta a terra non compie resistenza in quanto manca l’elemento della minaccia/violenza).</a:t>
            </a:r>
          </a:p>
          <a:p>
            <a:pPr algn="just">
              <a:lnSpc>
                <a:spcPct val="114000"/>
              </a:lnSpc>
              <a:defRPr b="0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>
              <a:solidFill>
                <a:srgbClr val="000000"/>
              </a:solidFill>
            </a:endParaRPr>
          </a:p>
          <a:p>
            <a:pPr algn="just">
              <a:lnSpc>
                <a:spcPct val="114000"/>
              </a:lnSpc>
              <a:defRPr sz="20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ELEMENTO SOGGETTIVO</a:t>
            </a:r>
            <a:r>
              <a:rPr u="none"/>
              <a:t> </a:t>
            </a:r>
            <a:r>
              <a:rPr b="0" u="none"/>
              <a:t>è il </a:t>
            </a:r>
            <a:r>
              <a:rPr u="none">
                <a:solidFill>
                  <a:srgbClr val="E46C0A"/>
                </a:solidFill>
              </a:rPr>
              <a:t>DOLO SPECIFICO</a:t>
            </a:r>
            <a:r>
              <a:rPr b="0" u="none"/>
              <a:t>, perché oltre alla coscienza e volontà della violenza e minaccia, è richiesto </a:t>
            </a:r>
            <a:r>
              <a:rPr u="none"/>
              <a:t>l'ulteriore scopo </a:t>
            </a:r>
            <a:r>
              <a:rPr b="0" u="none"/>
              <a:t>di impedire che l'agente pubblico esegua l'atto del suo ufficio.</a:t>
            </a:r>
            <a:endParaRPr b="0" sz="2200"/>
          </a:p>
        </p:txBody>
      </p:sp>
      <p:pic>
        <p:nvPicPr>
          <p:cNvPr descr="Immagine 5" id="438" name="Immagin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dirty="0" err="1"/>
              <a:t>Resistenza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9BD773-4878-4ADB-86C7-11C29079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328"/>
            <a:ext cx="6604985" cy="1143001"/>
          </a:xfrm>
        </p:spPr>
        <p:txBody>
          <a:bodyPr numCol="1">
            <a:normAutofit fontScale="90000"/>
          </a:bodyPr>
          <a:lstStyle/>
          <a:p>
            <a:r>
              <a:rPr altLang="it-IT" dirty="0" lang="it-IT" sz="4000">
                <a:solidFill>
                  <a:schemeClr val="bg1"/>
                </a:solidFill>
                <a:latin charset="0" panose="02020603050405020304" pitchFamily="18" typeface="Times New Roman"/>
                <a:cs charset="0" panose="02020603050405020304" pitchFamily="18" typeface="Times New Roman"/>
              </a:rPr>
              <a:t>Resistenza a pubblico ufficiale</a:t>
            </a:r>
            <a:br>
              <a:rPr altLang="it-IT" dirty="0" lang="it-IT">
                <a:solidFill>
                  <a:schemeClr val="bg1"/>
                </a:solidFill>
                <a:latin charset="0" panose="02020603050405020304" pitchFamily="18" typeface="Times New Roman"/>
                <a:cs charset="0" panose="02020603050405020304" pitchFamily="18" typeface="Times New Roman"/>
              </a:rPr>
            </a:br>
            <a:endParaRPr altLang="it-IT" dirty="0"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0D5F237-C086-42DF-87B1-B7F0C704B77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54685" y="832494"/>
            <a:ext cx="8229600" cy="6132750"/>
          </a:xfrm>
        </p:spPr>
        <p:txBody>
          <a:bodyPr numCol="1">
            <a:normAutofit fontScale="47500" lnSpcReduction="20000"/>
          </a:bodyPr>
          <a:lstStyle/>
          <a:p>
            <a:pPr indent="0" marL="0">
              <a:buNone/>
            </a:pPr>
            <a:r>
              <a:rPr altLang="it-IT" b="1" dirty="0" lang="it-IT" sz="4100">
                <a:solidFill>
                  <a:srgbClr val="FF6600"/>
                </a:solidFill>
              </a:rPr>
              <a:t>Pluralità di P.U. fatti oggetto di minaccia o violenza</a:t>
            </a:r>
          </a:p>
          <a:p>
            <a:pPr algn="just" indent="0" marL="0">
              <a:buNone/>
            </a:pPr>
            <a:endParaRPr altLang="it-IT" b="1" dirty="0" lang="it-IT" sz="4100"/>
          </a:p>
          <a:p>
            <a:pPr algn="just" indent="0" marL="0">
              <a:buNone/>
            </a:pPr>
            <a:r>
              <a:rPr altLang="it-IT" b="1" dirty="0" i="1" lang="it-IT" sz="4400"/>
              <a:t>Se ci sono due Pubblici Ufficiali che compiono un atto del proprio ufficio e un soggetto prima ne spinge uno e poi resiste ad entrambi compie uno o più reati di resistenza? </a:t>
            </a:r>
            <a:endParaRPr altLang="it-IT" dirty="0" lang="it-IT" sz="4400"/>
          </a:p>
          <a:p>
            <a:pPr algn="just" indent="0" marL="0">
              <a:buNone/>
            </a:pPr>
            <a:r>
              <a:rPr altLang="it-IT" dirty="0" lang="it-IT" sz="4400"/>
              <a:t>Le Sez. Unite della Cassazione con sentenza numero 40981 del 2018 si sono espresse sulla questione con tale dispositivo: "In </a:t>
            </a:r>
            <a:r>
              <a:rPr altLang="it-IT" dirty="0" i="1" lang="it-IT" sz="4400"/>
              <a:t>tema di resistenza a un pubblico ufficiale, ex art. 337 cod. </a:t>
            </a:r>
            <a:r>
              <a:rPr altLang="it-IT" dirty="0" err="1" i="1" lang="it-IT" sz="4400"/>
              <a:t>pen</a:t>
            </a:r>
            <a:r>
              <a:rPr altLang="it-IT" dirty="0" i="1" lang="it-IT" sz="4400"/>
              <a:t>., </a:t>
            </a:r>
            <a:r>
              <a:rPr altLang="it-IT" dirty="0" i="1" lang="it-IT" sz="4400">
                <a:solidFill>
                  <a:srgbClr val="FF0000"/>
                </a:solidFill>
              </a:rPr>
              <a:t>integra </a:t>
            </a:r>
            <a:r>
              <a:rPr altLang="it-IT" b="1" dirty="0" i="1" lang="it-IT" sz="4400">
                <a:solidFill>
                  <a:srgbClr val="FF0000"/>
                </a:solidFill>
              </a:rPr>
              <a:t>il concorso formale di reati</a:t>
            </a:r>
            <a:r>
              <a:rPr altLang="it-IT" dirty="0" i="1" lang="it-IT" sz="4400">
                <a:solidFill>
                  <a:srgbClr val="FF0000"/>
                </a:solidFill>
              </a:rPr>
              <a:t>,</a:t>
            </a:r>
            <a:r>
              <a:rPr altLang="it-IT" dirty="0" i="1" lang="it-IT" sz="4400"/>
              <a:t> a norma dell'art. 81, primo comma, cod. </a:t>
            </a:r>
            <a:r>
              <a:rPr altLang="it-IT" dirty="0" err="1" i="1" lang="it-IT" sz="4400"/>
              <a:t>pen</a:t>
            </a:r>
            <a:r>
              <a:rPr altLang="it-IT" dirty="0" i="1" lang="it-IT" sz="4400"/>
              <a:t>., la condotta di chi usa violenza o minaccia per opporsi a </a:t>
            </a:r>
            <a:r>
              <a:rPr altLang="it-IT" b="1" dirty="0" i="1" lang="it-IT" sz="4400"/>
              <a:t>più pubblici ufficiali </a:t>
            </a:r>
            <a:r>
              <a:rPr altLang="it-IT" dirty="0" i="1" lang="it-IT" sz="4400"/>
              <a:t>o incaricati di un pubblico servizio mentre compiono </a:t>
            </a:r>
            <a:r>
              <a:rPr altLang="it-IT" b="1" dirty="0" i="1" lang="it-IT" sz="4400"/>
              <a:t>un atto </a:t>
            </a:r>
            <a:r>
              <a:rPr altLang="it-IT" dirty="0" i="1" lang="it-IT" sz="4400"/>
              <a:t>del loro ufficio o servizio</a:t>
            </a:r>
            <a:r>
              <a:rPr altLang="ru-RU" dirty="0" lang="ru-RU" sz="4400"/>
              <a:t>". </a:t>
            </a:r>
            <a:endParaRPr altLang="it-IT" dirty="0" lang="it-IT" sz="4400"/>
          </a:p>
          <a:p>
            <a:pPr algn="just" indent="0" marL="0">
              <a:buNone/>
            </a:pPr>
            <a:r>
              <a:rPr altLang="it-IT" dirty="0" lang="it-IT" sz="4400"/>
              <a:t>Quindi vengono perseguiti più reati di resistenza per ogni condotta violenta o di minaccia espressa contro ogni pubblico ufficiale.</a:t>
            </a:r>
          </a:p>
          <a:p>
            <a:pPr indent="0" marL="0">
              <a:buNone/>
            </a:pPr>
            <a:endParaRPr altLang="it-IT" dirty="0" lang="it-IT">
              <a:solidFill>
                <a:srgbClr val="FF0000"/>
              </a:solidFill>
            </a:endParaRPr>
          </a:p>
          <a:p>
            <a:pPr algn="just" indent="0" marL="0">
              <a:buNone/>
            </a:pPr>
            <a:endParaRPr altLang="it-IT" dirty="0" lang="it-IT">
              <a:solidFill>
                <a:srgbClr val="FF0000"/>
              </a:solidFill>
            </a:endParaRPr>
          </a:p>
          <a:p>
            <a:pPr algn="just" indent="0" marL="0">
              <a:buNone/>
            </a:pPr>
            <a:r>
              <a:rPr altLang="it-IT" dirty="0" lang="it-IT" sz="4200">
                <a:solidFill>
                  <a:srgbClr val="FF0000"/>
                </a:solidFill>
              </a:rPr>
              <a:t>concorso formale di reati: </a:t>
            </a:r>
            <a:r>
              <a:rPr altLang="it-IT" dirty="0" lang="it-IT" sz="4200">
                <a:solidFill>
                  <a:schemeClr val="tx1"/>
                </a:solidFill>
              </a:rPr>
              <a:t>si ha concorso formale quando il soggetto con la medesima condotta compie più reati – il legislatore prevede in tal caso il cumulo giuridico- cioè si applica la pena del reato più grave aumentata fino al triplo.</a:t>
            </a:r>
          </a:p>
        </p:txBody>
      </p:sp>
      <p:pic>
        <p:nvPicPr>
          <p:cNvPr descr="Immagine 3" id="5" name="Immagine 3">
            <a:extLst>
              <a:ext uri="{FF2B5EF4-FFF2-40B4-BE49-F238E27FC236}">
                <a16:creationId xmlns:a16="http://schemas.microsoft.com/office/drawing/2014/main" id="{40390A4E-2673-40F1-9939-BE3C3D2C4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24739478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asellaDiTesto 13"/>
          <p:cNvSpPr txBox="1"/>
          <p:nvPr/>
        </p:nvSpPr>
        <p:spPr>
          <a:xfrm>
            <a:off x="182570" y="836712"/>
            <a:ext cx="8808206" cy="4647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spcBef>
                <a:spcPts val="600"/>
              </a:spcBef>
              <a:defRPr sz="24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Art. 341</a:t>
            </a:r>
            <a:r>
              <a:rPr dirty="0" i="1"/>
              <a:t> bis </a:t>
            </a:r>
            <a:r>
              <a:rPr dirty="0" err="1"/>
              <a:t>c.p.</a:t>
            </a:r>
            <a:r>
              <a:rPr dirty="0"/>
              <a:t> </a:t>
            </a:r>
            <a:r>
              <a:rPr dirty="0" err="1"/>
              <a:t>Oltraggio</a:t>
            </a:r>
            <a:r>
              <a:rPr dirty="0"/>
              <a:t> a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endParaRPr dirty="0"/>
          </a:p>
          <a:p>
            <a:pPr algn="just"/>
            <a:r>
              <a:rPr dirty="0" sz="2400">
                <a:latin charset="0" panose="02020603050405020304" pitchFamily="18" typeface="Times New Roman"/>
                <a:cs charset="0" panose="02020603050405020304" pitchFamily="18" typeface="Times New Roman"/>
              </a:rPr>
              <a:t>«</a:t>
            </a:r>
            <a:r>
              <a:rPr altLang="it-IT" dirty="0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Chiunque, </a:t>
            </a:r>
            <a:r>
              <a:rPr altLang="it-IT" dirty="0" i="1" lang="it-IT" sz="2400" u="sng">
                <a:latin charset="0" panose="02020603050405020304" pitchFamily="18" typeface="Times New Roman"/>
                <a:cs charset="0" panose="02020603050405020304" pitchFamily="18" typeface="Times New Roman"/>
              </a:rPr>
              <a:t>in luogo pubblico</a:t>
            </a:r>
            <a:r>
              <a:rPr altLang="pt-PT" dirty="0" i="1" lang="pt-PT" sz="2400">
                <a:latin charset="0" panose="02020603050405020304" pitchFamily="18" typeface="Times New Roman"/>
                <a:cs charset="0" panose="02020603050405020304" pitchFamily="18" typeface="Times New Roman"/>
              </a:rPr>
              <a:t> o </a:t>
            </a:r>
            <a:r>
              <a:rPr altLang="it-IT" dirty="0" i="1" lang="it-IT" sz="2400" u="sng">
                <a:latin charset="0" panose="02020603050405020304" pitchFamily="18" typeface="Times New Roman"/>
                <a:cs charset="0" panose="02020603050405020304" pitchFamily="18" typeface="Times New Roman"/>
              </a:rPr>
              <a:t>aperto al pubblico e in presenza di più persone</a:t>
            </a:r>
            <a:r>
              <a:rPr altLang="it-IT" dirty="0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, offende l</a:t>
            </a:r>
            <a:r>
              <a:rPr altLang="ar-SA" dirty="0" i="1" lang="ar-SA" sz="24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400" u="sng">
                <a:latin charset="0" panose="02020603050405020304" pitchFamily="18" typeface="Times New Roman"/>
                <a:cs charset="0" panose="02020603050405020304" pitchFamily="18" typeface="Times New Roman"/>
              </a:rPr>
              <a:t>onore</a:t>
            </a:r>
            <a:r>
              <a:rPr altLang="it-IT" dirty="0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 ed il </a:t>
            </a:r>
            <a:r>
              <a:rPr altLang="it-IT" dirty="0" i="1" lang="it-IT" sz="2400" u="sng">
                <a:latin charset="0" panose="02020603050405020304" pitchFamily="18" typeface="Times New Roman"/>
                <a:cs charset="0" panose="02020603050405020304" pitchFamily="18" typeface="Times New Roman"/>
              </a:rPr>
              <a:t>prestigio</a:t>
            </a:r>
            <a:r>
              <a:rPr altLang="it-IT" dirty="0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 di un pubblico ufficiale mentre compie un atto d</a:t>
            </a:r>
            <a:r>
              <a:rPr altLang="ar-SA" dirty="0" i="1" lang="ar-SA" sz="24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ufficio ed a causa o </a:t>
            </a:r>
            <a:r>
              <a:rPr altLang="it-IT" dirty="0" err="1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nell</a:t>
            </a:r>
            <a:r>
              <a:rPr altLang="ar-SA" dirty="0" i="1" lang="ar-SA" sz="24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400">
                <a:latin charset="0" panose="02020603050405020304" pitchFamily="18" typeface="Times New Roman"/>
                <a:cs charset="0" panose="02020603050405020304" pitchFamily="18" typeface="Times New Roman"/>
              </a:rPr>
              <a:t>esercizio delle sue funzioni è punito con la reclusione fino a tre anni. </a:t>
            </a:r>
          </a:p>
          <a:p>
            <a:pPr algn="just"/>
            <a:endParaRPr altLang="it-IT" dirty="0" i="1" lang="it-IT" sz="2400">
              <a:latin charset="0" panose="02020603050405020304" pitchFamily="18" typeface="Times New Roman"/>
              <a:cs charset="0" panose="02020603050405020304" pitchFamily="18" typeface="Times New Roman"/>
            </a:endParaRPr>
          </a:p>
          <a:p>
            <a:pPr algn="just"/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La pena è aumentata se 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offesa consiste </a:t>
            </a:r>
            <a:r>
              <a:rPr altLang="it-IT" dirty="0" err="1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nell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attribuzione di un fatto determinato. Se la verità del fatto è provata o se per esso 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ufficiale a cui il fatto è attribuito è condannato dopo 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attribuzione del fatto medesimo, 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autore </a:t>
            </a:r>
            <a:r>
              <a:rPr altLang="it-IT" dirty="0" err="1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dell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offesa non è punibile. </a:t>
            </a:r>
            <a:endParaRPr altLang="it-IT" dirty="0" lang="it-IT" sz="2000">
              <a:latin charset="0" panose="02020603050405020304" pitchFamily="18" typeface="Times New Roman"/>
              <a:cs charset="0" panose="02020603050405020304" pitchFamily="18" typeface="Times New Roman"/>
            </a:endParaRPr>
          </a:p>
          <a:p>
            <a:pPr algn="just"/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Ove 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imputato, prima del giudizio, abbia riparato interamente il danno, mediante risarcimento di esso sia nei confronti della persona offesa sia nei confronti </a:t>
            </a:r>
            <a:r>
              <a:rPr altLang="it-IT" dirty="0" err="1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dell</a:t>
            </a:r>
            <a:r>
              <a:rPr altLang="ar-SA" dirty="0" i="1" lang="ar-SA" sz="2000">
                <a:latin charset="0" panose="02020603050405020304" pitchFamily="18" typeface="Times New Roman"/>
                <a:cs charset="0" panose="02020603050405020304" pitchFamily="18" typeface="Times New Roman"/>
              </a:rPr>
              <a:t>’</a:t>
            </a:r>
            <a:r>
              <a:rPr altLang="it-IT" dirty="0" i="1" lang="it-IT" sz="2000">
                <a:latin charset="0" panose="02020603050405020304" pitchFamily="18" typeface="Times New Roman"/>
                <a:cs charset="0" panose="02020603050405020304" pitchFamily="18" typeface="Times New Roman"/>
              </a:rPr>
              <a:t>ente di appartenenza della medesima, il reato è </a:t>
            </a:r>
            <a:r>
              <a:rPr altLang="pt-PT" dirty="0" i="1" lang="pt-PT" sz="2000">
                <a:latin charset="0" panose="02020603050405020304" pitchFamily="18" typeface="Times New Roman"/>
                <a:cs charset="0" panose="02020603050405020304" pitchFamily="18" typeface="Times New Roman"/>
              </a:rPr>
              <a:t>estinto</a:t>
            </a:r>
            <a:r>
              <a:rPr dirty="0" i="0" sz="2800"/>
              <a:t>».</a:t>
            </a:r>
            <a:endParaRPr dirty="0" i="0" sz="600"/>
          </a:p>
        </p:txBody>
      </p:sp>
      <p:pic>
        <p:nvPicPr>
          <p:cNvPr descr="Immagine 3" id="446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Rettangolo 5"/>
          <p:cNvSpPr txBox="1"/>
          <p:nvPr/>
        </p:nvSpPr>
        <p:spPr>
          <a:xfrm>
            <a:off x="2745511" y="5336047"/>
            <a:ext cx="4013017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defRPr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Note</a:t>
            </a:r>
            <a:r>
              <a:rPr dirty="0" u="none"/>
              <a:t>: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Competenza</a:t>
            </a:r>
            <a:r>
              <a:rPr dirty="0"/>
              <a:t> </a:t>
            </a:r>
            <a:r>
              <a:rPr dirty="0" err="1"/>
              <a:t>Tribunale</a:t>
            </a:r>
            <a:r>
              <a:rPr dirty="0"/>
              <a:t> </a:t>
            </a:r>
            <a:r>
              <a:rPr dirty="0" err="1"/>
              <a:t>monocratico</a:t>
            </a:r>
            <a:endParaRPr dirty="0"/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Arresto</a:t>
            </a:r>
            <a:r>
              <a:rPr altLang="it-IT" dirty="0" lang="it-IT"/>
              <a:t> non consentito</a:t>
            </a:r>
            <a:r>
              <a:rPr dirty="0"/>
              <a:t> 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Fermo</a:t>
            </a:r>
            <a:r>
              <a:rPr dirty="0"/>
              <a:t> </a:t>
            </a:r>
            <a:r>
              <a:rPr altLang="it-IT" dirty="0" lang="it-IT"/>
              <a:t>non </a:t>
            </a:r>
            <a:r>
              <a:rPr dirty="0" err="1"/>
              <a:t>consentito</a:t>
            </a:r>
            <a:r>
              <a:rPr dirty="0"/>
              <a:t> </a:t>
            </a:r>
          </a:p>
          <a:p>
            <a:pPr algn="just" indent="-171450" marL="171450">
              <a:buSzPct val="100000"/>
              <a:buFont typeface="Arial"/>
              <a:buChar char="•"/>
              <a:defRPr b="0"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Procedibilità</a:t>
            </a:r>
            <a:r>
              <a:rPr dirty="0"/>
              <a:t> </a:t>
            </a:r>
            <a:r>
              <a:rPr dirty="0" err="1"/>
              <a:t>d’ufficio</a:t>
            </a:r>
            <a:endParaRPr dirty="0"/>
          </a:p>
        </p:txBody>
      </p:sp>
      <p:sp>
        <p:nvSpPr>
          <p:cNvPr id="448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asellaDiTesto 13"/>
          <p:cNvSpPr txBox="1"/>
          <p:nvPr/>
        </p:nvSpPr>
        <p:spPr>
          <a:xfrm>
            <a:off x="182570" y="1052736"/>
            <a:ext cx="8736198" cy="36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dirty="0" err="1"/>
              <a:t>Legislatore</a:t>
            </a:r>
            <a:r>
              <a:rPr dirty="0"/>
              <a:t> del 2009 ha </a:t>
            </a:r>
            <a:r>
              <a:rPr b="1" dirty="0" err="1"/>
              <a:t>reintrodotto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nostro</a:t>
            </a:r>
            <a:r>
              <a:rPr dirty="0"/>
              <a:t> </a:t>
            </a:r>
            <a:r>
              <a:rPr dirty="0" err="1"/>
              <a:t>ordinamento</a:t>
            </a:r>
            <a:r>
              <a:rPr dirty="0"/>
              <a:t> </a:t>
            </a:r>
            <a:r>
              <a:rPr dirty="0" err="1"/>
              <a:t>giuridico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b="1" dirty="0" err="1"/>
              <a:t>reato</a:t>
            </a:r>
            <a:r>
              <a:rPr b="1" dirty="0"/>
              <a:t> di </a:t>
            </a:r>
            <a:r>
              <a:rPr b="1" dirty="0" err="1"/>
              <a:t>oltraggio</a:t>
            </a:r>
            <a:r>
              <a:rPr b="1" dirty="0"/>
              <a:t> a </a:t>
            </a:r>
            <a:r>
              <a:rPr b="1" dirty="0" err="1"/>
              <a:t>pubblico</a:t>
            </a:r>
            <a:r>
              <a:rPr b="1" dirty="0"/>
              <a:t> </a:t>
            </a:r>
            <a:r>
              <a:rPr b="1" dirty="0" err="1"/>
              <a:t>ufficiale</a:t>
            </a:r>
            <a:r>
              <a:rPr b="1" dirty="0"/>
              <a:t> </a:t>
            </a:r>
            <a:r>
              <a:rPr dirty="0" err="1"/>
              <a:t>abrogato</a:t>
            </a:r>
            <a:r>
              <a:rPr dirty="0"/>
              <a:t> </a:t>
            </a:r>
            <a:r>
              <a:rPr dirty="0" err="1"/>
              <a:t>dall'art</a:t>
            </a:r>
            <a:r>
              <a:rPr dirty="0"/>
              <a:t>. 18 </a:t>
            </a:r>
            <a:r>
              <a:rPr dirty="0" err="1"/>
              <a:t>della</a:t>
            </a:r>
            <a:r>
              <a:rPr dirty="0"/>
              <a:t> L. 205 del 1999, </a:t>
            </a:r>
            <a:r>
              <a:rPr dirty="0" err="1"/>
              <a:t>seppure</a:t>
            </a:r>
            <a:r>
              <a:rPr dirty="0"/>
              <a:t> con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modifiche</a:t>
            </a:r>
            <a:r>
              <a:rPr dirty="0"/>
              <a:t> rispetto al </a:t>
            </a:r>
            <a:r>
              <a:rPr dirty="0" err="1"/>
              <a:t>testo</a:t>
            </a:r>
            <a:r>
              <a:rPr dirty="0"/>
              <a:t> </a:t>
            </a:r>
            <a:r>
              <a:rPr dirty="0" err="1"/>
              <a:t>previgente</a:t>
            </a:r>
            <a:r>
              <a:rPr dirty="0"/>
              <a:t>.</a:t>
            </a:r>
            <a:endParaRPr altLang="it-IT" dirty="0" lang="it-IT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14000"/>
              </a:lnSpc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L'abrogazione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in </a:t>
            </a:r>
            <a:r>
              <a:rPr dirty="0" err="1"/>
              <a:t>questione</a:t>
            </a:r>
            <a:r>
              <a:rPr dirty="0"/>
              <a:t> non </a:t>
            </a:r>
            <a:r>
              <a:rPr dirty="0" err="1"/>
              <a:t>si</a:t>
            </a:r>
            <a:r>
              <a:rPr dirty="0"/>
              <a:t> è </a:t>
            </a:r>
            <a:r>
              <a:rPr dirty="0" err="1"/>
              <a:t>tradotta</a:t>
            </a:r>
            <a:r>
              <a:rPr dirty="0"/>
              <a:t>, </a:t>
            </a:r>
            <a:r>
              <a:rPr dirty="0" err="1"/>
              <a:t>tuttavia</a:t>
            </a:r>
            <a:r>
              <a:rPr dirty="0"/>
              <a:t>, in una </a:t>
            </a:r>
            <a:r>
              <a:rPr dirty="0" err="1"/>
              <a:t>vera</a:t>
            </a:r>
            <a:r>
              <a:rPr dirty="0"/>
              <a:t> e propria </a:t>
            </a:r>
            <a:r>
              <a:rPr dirty="0" err="1" i="1"/>
              <a:t>abolitio</a:t>
            </a:r>
            <a:r>
              <a:rPr dirty="0" i="1"/>
              <a:t> </a:t>
            </a:r>
            <a:r>
              <a:rPr dirty="0" err="1" i="1"/>
              <a:t>criminis</a:t>
            </a:r>
            <a:r>
              <a:rPr dirty="0"/>
              <a:t>, in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comportamenti</a:t>
            </a:r>
            <a:r>
              <a:rPr dirty="0"/>
              <a:t> </a:t>
            </a:r>
            <a:r>
              <a:rPr dirty="0" err="1"/>
              <a:t>concretizzanti</a:t>
            </a:r>
            <a:r>
              <a:rPr dirty="0"/>
              <a:t> </a:t>
            </a:r>
            <a:r>
              <a:rPr dirty="0" err="1"/>
              <a:t>offese</a:t>
            </a:r>
            <a:r>
              <a:rPr dirty="0"/>
              <a:t> </a:t>
            </a:r>
            <a:r>
              <a:rPr dirty="0" err="1"/>
              <a:t>nei</a:t>
            </a:r>
            <a:r>
              <a:rPr dirty="0"/>
              <a:t> </a:t>
            </a:r>
            <a:r>
              <a:rPr dirty="0" err="1"/>
              <a:t>riguardi</a:t>
            </a:r>
            <a:r>
              <a:rPr dirty="0"/>
              <a:t> di un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stati</a:t>
            </a:r>
            <a:r>
              <a:rPr dirty="0"/>
              <a:t> </a:t>
            </a:r>
            <a:r>
              <a:rPr dirty="0" err="1"/>
              <a:t>fatti</a:t>
            </a:r>
            <a:r>
              <a:rPr dirty="0"/>
              <a:t> </a:t>
            </a:r>
            <a:r>
              <a:rPr dirty="0" err="1"/>
              <a:t>rientrare</a:t>
            </a:r>
            <a:r>
              <a:rPr dirty="0"/>
              <a:t> </a:t>
            </a:r>
            <a:r>
              <a:rPr dirty="0" err="1"/>
              <a:t>nella</a:t>
            </a:r>
            <a:r>
              <a:rPr dirty="0"/>
              <a:t> </a:t>
            </a:r>
            <a:r>
              <a:rPr dirty="0" err="1"/>
              <a:t>previsione</a:t>
            </a:r>
            <a:r>
              <a:rPr dirty="0"/>
              <a:t> del </a:t>
            </a:r>
            <a:r>
              <a:rPr dirty="0" err="1"/>
              <a:t>reato</a:t>
            </a:r>
            <a:r>
              <a:rPr dirty="0"/>
              <a:t> </a:t>
            </a:r>
            <a:r>
              <a:rPr b="1" dirty="0"/>
              <a:t>di </a:t>
            </a:r>
            <a:r>
              <a:rPr b="1" dirty="0" err="1"/>
              <a:t>ingiuria</a:t>
            </a:r>
            <a:r>
              <a:rPr b="1" dirty="0"/>
              <a:t> </a:t>
            </a:r>
            <a:r>
              <a:rPr b="1" dirty="0" i="1"/>
              <a:t>ex</a:t>
            </a:r>
            <a:r>
              <a:rPr b="1" dirty="0"/>
              <a:t> art. 594 </a:t>
            </a:r>
            <a:r>
              <a:rPr b="1" dirty="0" err="1"/>
              <a:t>c.p</a:t>
            </a:r>
            <a:r>
              <a:rPr dirty="0" err="1"/>
              <a:t>.</a:t>
            </a:r>
            <a:r>
              <a:rPr dirty="0"/>
              <a:t> </a:t>
            </a:r>
            <a:r>
              <a:rPr dirty="0" err="1"/>
              <a:t>aggravata</a:t>
            </a:r>
            <a:r>
              <a:rPr dirty="0"/>
              <a:t> in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fatti</a:t>
            </a:r>
            <a:r>
              <a:rPr dirty="0"/>
              <a:t> </a:t>
            </a:r>
            <a:r>
              <a:rPr dirty="0" err="1"/>
              <a:t>commessi</a:t>
            </a:r>
            <a:r>
              <a:rPr dirty="0"/>
              <a:t> </a:t>
            </a:r>
            <a:r>
              <a:rPr dirty="0" err="1"/>
              <a:t>contro</a:t>
            </a:r>
            <a:r>
              <a:rPr dirty="0"/>
              <a:t> un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 </a:t>
            </a:r>
            <a:r>
              <a:rPr dirty="0" err="1"/>
              <a:t>nell'atto</a:t>
            </a:r>
            <a:r>
              <a:rPr dirty="0"/>
              <a:t> o a causa </a:t>
            </a:r>
            <a:r>
              <a:rPr dirty="0" err="1"/>
              <a:t>dell'esercizio</a:t>
            </a:r>
            <a:r>
              <a:rPr dirty="0"/>
              <a:t> </a:t>
            </a:r>
            <a:r>
              <a:rPr dirty="0" err="1"/>
              <a:t>delle</a:t>
            </a:r>
            <a:r>
              <a:rPr dirty="0"/>
              <a:t> sue </a:t>
            </a:r>
            <a:r>
              <a:rPr dirty="0" err="1"/>
              <a:t>funzioni</a:t>
            </a:r>
            <a:r>
              <a:rPr dirty="0"/>
              <a:t>.</a:t>
            </a:r>
          </a:p>
        </p:txBody>
      </p:sp>
      <p:pic>
        <p:nvPicPr>
          <p:cNvPr descr="Immagine 3" id="451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asellaDiTesto 13"/>
          <p:cNvSpPr txBox="1"/>
          <p:nvPr/>
        </p:nvSpPr>
        <p:spPr>
          <a:xfrm>
            <a:off x="182570" y="894773"/>
            <a:ext cx="8808206" cy="6078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spcBef>
                <a:spcPts val="600"/>
              </a:spcBef>
              <a:defRPr sz="21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OGGETTIVO</a:t>
            </a:r>
            <a:r>
              <a:rPr b="0" dirty="0" u="none"/>
              <a:t>: la </a:t>
            </a:r>
            <a:r>
              <a:rPr b="0" dirty="0" err="1" u="none"/>
              <a:t>condotta</a:t>
            </a:r>
            <a:r>
              <a:rPr b="0" dirty="0" u="none"/>
              <a:t> </a:t>
            </a:r>
            <a:r>
              <a:rPr b="0" dirty="0" err="1" u="none"/>
              <a:t>consiste</a:t>
            </a:r>
            <a:r>
              <a:rPr b="0" dirty="0" u="none"/>
              <a:t> </a:t>
            </a:r>
            <a:r>
              <a:rPr b="0" dirty="0" err="1" u="none"/>
              <a:t>nell’</a:t>
            </a:r>
            <a:r>
              <a:rPr dirty="0" err="1" u="none">
                <a:solidFill>
                  <a:srgbClr val="D09E00"/>
                </a:solidFill>
              </a:rPr>
              <a:t>offendere</a:t>
            </a:r>
            <a:r>
              <a:rPr dirty="0" u="none">
                <a:solidFill>
                  <a:srgbClr val="D09E00"/>
                </a:solidFill>
              </a:rPr>
              <a:t> </a:t>
            </a:r>
            <a:r>
              <a:rPr dirty="0" err="1" u="none">
                <a:solidFill>
                  <a:srgbClr val="D09E00"/>
                </a:solidFill>
              </a:rPr>
              <a:t>l'onore</a:t>
            </a:r>
            <a:r>
              <a:rPr dirty="0" u="none">
                <a:solidFill>
                  <a:srgbClr val="D09E00"/>
                </a:solidFill>
              </a:rPr>
              <a:t> ed </a:t>
            </a:r>
            <a:r>
              <a:rPr dirty="0" err="1" u="none">
                <a:solidFill>
                  <a:srgbClr val="D09E00"/>
                </a:solidFill>
              </a:rPr>
              <a:t>il</a:t>
            </a:r>
            <a:r>
              <a:rPr dirty="0" u="none">
                <a:solidFill>
                  <a:srgbClr val="D09E00"/>
                </a:solidFill>
              </a:rPr>
              <a:t> </a:t>
            </a:r>
            <a:r>
              <a:rPr dirty="0" err="1" u="none">
                <a:solidFill>
                  <a:srgbClr val="D09E00"/>
                </a:solidFill>
              </a:rPr>
              <a:t>prestigio</a:t>
            </a:r>
            <a:r>
              <a:rPr dirty="0" u="none">
                <a:solidFill>
                  <a:srgbClr val="D09E00"/>
                </a:solidFill>
              </a:rPr>
              <a:t> </a:t>
            </a:r>
            <a:r>
              <a:rPr b="0" dirty="0" u="none"/>
              <a:t>di un </a:t>
            </a:r>
            <a:r>
              <a:rPr b="0" dirty="0" err="1" u="none"/>
              <a:t>pubblico</a:t>
            </a:r>
            <a:r>
              <a:rPr b="0" dirty="0" u="none"/>
              <a:t> </a:t>
            </a:r>
            <a:r>
              <a:rPr b="0" dirty="0" err="1" u="none"/>
              <a:t>ufficiale</a:t>
            </a:r>
            <a:r>
              <a:rPr b="0" dirty="0" u="none"/>
              <a:t> </a:t>
            </a:r>
            <a:r>
              <a:rPr b="0" dirty="0" err="1" u="none"/>
              <a:t>mentre</a:t>
            </a:r>
            <a:r>
              <a:rPr b="0" dirty="0" u="none"/>
              <a:t> </a:t>
            </a:r>
            <a:r>
              <a:rPr b="0" dirty="0" err="1" u="none"/>
              <a:t>compie</a:t>
            </a:r>
            <a:r>
              <a:rPr b="0" dirty="0" u="none"/>
              <a:t> un </a:t>
            </a:r>
            <a:r>
              <a:rPr b="0" dirty="0" err="1" u="none"/>
              <a:t>atto</a:t>
            </a:r>
            <a:r>
              <a:rPr b="0" dirty="0" u="none"/>
              <a:t> </a:t>
            </a:r>
            <a:r>
              <a:rPr b="0" dirty="0" err="1" u="none"/>
              <a:t>d'ufficio</a:t>
            </a:r>
            <a:r>
              <a:rPr b="0" dirty="0" u="none"/>
              <a:t> ed a causa o </a:t>
            </a:r>
            <a:r>
              <a:rPr b="0" dirty="0" err="1" u="none"/>
              <a:t>nell'esercizio</a:t>
            </a:r>
            <a:r>
              <a:rPr b="0" dirty="0" u="none"/>
              <a:t> </a:t>
            </a:r>
            <a:r>
              <a:rPr b="0" dirty="0" err="1" u="none"/>
              <a:t>delle</a:t>
            </a:r>
            <a:r>
              <a:rPr b="0" dirty="0" u="none"/>
              <a:t> sue </a:t>
            </a:r>
            <a:r>
              <a:rPr b="0" dirty="0" err="1" u="none"/>
              <a:t>funzioni</a:t>
            </a:r>
            <a:r>
              <a:rPr b="0" dirty="0" u="none"/>
              <a:t> </a:t>
            </a:r>
            <a:r>
              <a:rPr dirty="0" u="none">
                <a:solidFill>
                  <a:srgbClr val="D09E00"/>
                </a:solidFill>
              </a:rPr>
              <a:t>in </a:t>
            </a:r>
            <a:r>
              <a:rPr dirty="0" err="1" u="none">
                <a:solidFill>
                  <a:srgbClr val="D09E00"/>
                </a:solidFill>
              </a:rPr>
              <a:t>luogo</a:t>
            </a:r>
            <a:r>
              <a:rPr dirty="0" u="none">
                <a:solidFill>
                  <a:srgbClr val="D09E00"/>
                </a:solidFill>
              </a:rPr>
              <a:t> </a:t>
            </a:r>
            <a:r>
              <a:rPr dirty="0" err="1" u="none">
                <a:solidFill>
                  <a:srgbClr val="D09E00"/>
                </a:solidFill>
              </a:rPr>
              <a:t>pubblico</a:t>
            </a:r>
            <a:r>
              <a:rPr dirty="0" u="none">
                <a:solidFill>
                  <a:srgbClr val="D09E00"/>
                </a:solidFill>
              </a:rPr>
              <a:t> o </a:t>
            </a:r>
            <a:r>
              <a:rPr dirty="0" err="1" u="none">
                <a:solidFill>
                  <a:srgbClr val="D09E00"/>
                </a:solidFill>
              </a:rPr>
              <a:t>aperto</a:t>
            </a:r>
            <a:r>
              <a:rPr dirty="0" u="none">
                <a:solidFill>
                  <a:srgbClr val="D09E00"/>
                </a:solidFill>
              </a:rPr>
              <a:t> al </a:t>
            </a:r>
            <a:r>
              <a:rPr dirty="0" err="1" u="none">
                <a:solidFill>
                  <a:srgbClr val="D09E00"/>
                </a:solidFill>
              </a:rPr>
              <a:t>pubblico</a:t>
            </a:r>
            <a:r>
              <a:rPr dirty="0" u="none">
                <a:solidFill>
                  <a:srgbClr val="D09E00"/>
                </a:solidFill>
              </a:rPr>
              <a:t> e in </a:t>
            </a:r>
            <a:r>
              <a:rPr dirty="0" err="1" u="none">
                <a:solidFill>
                  <a:srgbClr val="D09E00"/>
                </a:solidFill>
              </a:rPr>
              <a:t>presenza</a:t>
            </a:r>
            <a:r>
              <a:rPr dirty="0" u="none">
                <a:solidFill>
                  <a:srgbClr val="D09E00"/>
                </a:solidFill>
              </a:rPr>
              <a:t> di </a:t>
            </a:r>
            <a:r>
              <a:rPr dirty="0" err="1" u="none">
                <a:solidFill>
                  <a:srgbClr val="D09E00"/>
                </a:solidFill>
              </a:rPr>
              <a:t>più</a:t>
            </a:r>
            <a:r>
              <a:rPr dirty="0" u="none">
                <a:solidFill>
                  <a:srgbClr val="D09E00"/>
                </a:solidFill>
              </a:rPr>
              <a:t> </a:t>
            </a:r>
            <a:r>
              <a:rPr dirty="0" err="1" u="none">
                <a:solidFill>
                  <a:srgbClr val="D09E00"/>
                </a:solidFill>
              </a:rPr>
              <a:t>persone</a:t>
            </a:r>
            <a:r>
              <a:rPr dirty="0" u="none"/>
              <a:t>.</a:t>
            </a:r>
          </a:p>
          <a:p>
            <a:pPr algn="just">
              <a:spcBef>
                <a:spcPts val="600"/>
              </a:spcBef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Vi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presupposti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devono</a:t>
            </a:r>
            <a:r>
              <a:rPr dirty="0"/>
              <a:t> </a:t>
            </a:r>
            <a:r>
              <a:rPr dirty="0" err="1"/>
              <a:t>necessariamente</a:t>
            </a:r>
            <a:r>
              <a:rPr dirty="0"/>
              <a:t> </a:t>
            </a:r>
            <a:r>
              <a:rPr dirty="0" err="1"/>
              <a:t>coesistere</a:t>
            </a:r>
            <a:r>
              <a:rPr dirty="0"/>
              <a:t> per </a:t>
            </a:r>
            <a:r>
              <a:rPr dirty="0" err="1"/>
              <a:t>integrare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reato</a:t>
            </a:r>
            <a:r>
              <a:rPr dirty="0"/>
              <a:t>: </a:t>
            </a:r>
          </a:p>
          <a:p>
            <a:pPr algn="just" indent="-457200" marL="457200">
              <a:spcBef>
                <a:spcPts val="600"/>
              </a:spcBef>
              <a:buSzPct val="100000"/>
              <a:buFont typeface="+mj-lt"/>
              <a:buAutoNum type="arabicPeriod"/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 </a:t>
            </a:r>
            <a:r>
              <a:rPr dirty="0" err="1"/>
              <a:t>luogo</a:t>
            </a:r>
            <a:r>
              <a:rPr dirty="0"/>
              <a:t> </a:t>
            </a:r>
            <a:r>
              <a:rPr dirty="0" err="1"/>
              <a:t>pubblico</a:t>
            </a:r>
            <a:r>
              <a:rPr dirty="0"/>
              <a:t> o </a:t>
            </a:r>
            <a:r>
              <a:rPr dirty="0" err="1"/>
              <a:t>aperto</a:t>
            </a:r>
            <a:r>
              <a:rPr dirty="0"/>
              <a:t> al </a:t>
            </a:r>
            <a:r>
              <a:rPr dirty="0" err="1"/>
              <a:t>pubblico</a:t>
            </a:r>
            <a:r>
              <a:rPr dirty="0"/>
              <a:t>;</a:t>
            </a:r>
          </a:p>
          <a:p>
            <a:pPr algn="just" indent="-457200" marL="457200">
              <a:spcBef>
                <a:spcPts val="600"/>
              </a:spcBef>
              <a:buSzPct val="100000"/>
              <a:buFont typeface="+mj-lt"/>
              <a:buAutoNum type="arabicPeriod"/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presenza</a:t>
            </a:r>
            <a:r>
              <a:rPr dirty="0"/>
              <a:t> di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persone</a:t>
            </a:r>
            <a:r>
              <a:rPr dirty="0"/>
              <a:t> (</a:t>
            </a:r>
            <a:r>
              <a:rPr dirty="0" err="1"/>
              <a:t>almeno</a:t>
            </a:r>
            <a:r>
              <a:rPr dirty="0"/>
              <a:t> 2, diverse dal </a:t>
            </a:r>
            <a:r>
              <a:rPr dirty="0" err="1"/>
              <a:t>p.u</a:t>
            </a:r>
            <a:r>
              <a:rPr dirty="0"/>
              <a:t>. </a:t>
            </a:r>
            <a:r>
              <a:rPr dirty="0" err="1"/>
              <a:t>offeso</a:t>
            </a:r>
            <a:r>
              <a:rPr dirty="0"/>
              <a:t>);</a:t>
            </a:r>
          </a:p>
          <a:p>
            <a:pPr algn="just" indent="-457200" marL="457200">
              <a:spcBef>
                <a:spcPts val="600"/>
              </a:spcBef>
              <a:buSzPct val="100000"/>
              <a:buFont typeface="+mj-lt"/>
              <a:buAutoNum type="arabicPeriod"/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mentre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p.u</a:t>
            </a:r>
            <a:r>
              <a:rPr dirty="0"/>
              <a:t>. </a:t>
            </a:r>
            <a:r>
              <a:rPr dirty="0" err="1"/>
              <a:t>sta</a:t>
            </a:r>
            <a:r>
              <a:rPr dirty="0"/>
              <a:t> </a:t>
            </a:r>
            <a:r>
              <a:rPr dirty="0" err="1"/>
              <a:t>ottemperando</a:t>
            </a:r>
            <a:r>
              <a:rPr dirty="0"/>
              <a:t> ad un </a:t>
            </a:r>
            <a:r>
              <a:rPr dirty="0" err="1"/>
              <a:t>atto</a:t>
            </a:r>
            <a:r>
              <a:rPr dirty="0"/>
              <a:t> del </a:t>
            </a:r>
            <a:r>
              <a:rPr dirty="0" err="1"/>
              <a:t>suo</a:t>
            </a:r>
            <a:r>
              <a:rPr dirty="0"/>
              <a:t> </a:t>
            </a:r>
            <a:r>
              <a:rPr dirty="0" err="1"/>
              <a:t>ufficio</a:t>
            </a:r>
            <a:r>
              <a:rPr dirty="0"/>
              <a:t>;</a:t>
            </a:r>
          </a:p>
          <a:p>
            <a:pPr algn="just" indent="-457200" marL="457200">
              <a:spcBef>
                <a:spcPts val="600"/>
              </a:spcBef>
              <a:buSzPct val="100000"/>
              <a:buFont typeface="+mj-lt"/>
              <a:buAutoNum type="arabicPeriod"/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 </a:t>
            </a:r>
            <a:r>
              <a:rPr dirty="0" err="1"/>
              <a:t>presenza</a:t>
            </a:r>
            <a:r>
              <a:rPr dirty="0"/>
              <a:t> di un </a:t>
            </a:r>
            <a:r>
              <a:rPr dirty="0" err="1"/>
              <a:t>nesso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offensivo</a:t>
            </a:r>
            <a:r>
              <a:rPr dirty="0"/>
              <a:t> e </a:t>
            </a:r>
            <a:r>
              <a:rPr dirty="0" err="1"/>
              <a:t>l’esercizio</a:t>
            </a:r>
            <a:r>
              <a:rPr dirty="0"/>
              <a:t>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funzioni</a:t>
            </a:r>
            <a:r>
              <a:rPr dirty="0"/>
              <a:t>.</a:t>
            </a:r>
          </a:p>
          <a:p>
            <a:pPr algn="just"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600"/>
              </a:spcBef>
              <a:defRPr b="0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L’art</a:t>
            </a:r>
            <a:r>
              <a:rPr dirty="0"/>
              <a:t>. 341 </a:t>
            </a:r>
            <a:r>
              <a:rPr dirty="0" i="1"/>
              <a:t>bis</a:t>
            </a:r>
            <a:r>
              <a:rPr dirty="0"/>
              <a:t> </a:t>
            </a:r>
            <a:r>
              <a:rPr dirty="0" err="1"/>
              <a:t>richiede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la </a:t>
            </a:r>
            <a:r>
              <a:rPr dirty="0" err="1"/>
              <a:t>condotta</a:t>
            </a:r>
            <a:r>
              <a:rPr dirty="0"/>
              <a:t> </a:t>
            </a:r>
            <a:r>
              <a:rPr dirty="0" err="1"/>
              <a:t>determini</a:t>
            </a:r>
            <a:r>
              <a:rPr dirty="0"/>
              <a:t> </a:t>
            </a:r>
            <a:r>
              <a:rPr dirty="0" err="1"/>
              <a:t>un’offesa</a:t>
            </a:r>
            <a:r>
              <a:rPr dirty="0"/>
              <a:t>:</a:t>
            </a:r>
          </a:p>
          <a:p>
            <a:pPr algn="just" indent="-342900" marL="342900">
              <a:spcBef>
                <a:spcPts val="600"/>
              </a:spcBef>
              <a:buSzPct val="100000"/>
              <a:buChar char="▪"/>
              <a:defRPr sz="21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all’onore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ovvero</a:t>
            </a:r>
            <a:r>
              <a:rPr b="0" dirty="0">
                <a:solidFill>
                  <a:srgbClr val="000000"/>
                </a:solidFill>
              </a:rPr>
              <a:t> al </a:t>
            </a:r>
            <a:r>
              <a:rPr b="0" dirty="0" err="1">
                <a:solidFill>
                  <a:srgbClr val="000000"/>
                </a:solidFill>
              </a:rPr>
              <a:t>complesso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delle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qualità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morali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della</a:t>
            </a:r>
            <a:r>
              <a:rPr b="0" dirty="0">
                <a:solidFill>
                  <a:srgbClr val="000000"/>
                </a:solidFill>
              </a:rPr>
              <a:t> persona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ne </a:t>
            </a:r>
            <a:r>
              <a:rPr b="0" dirty="0" err="1">
                <a:solidFill>
                  <a:srgbClr val="000000"/>
                </a:solidFill>
              </a:rPr>
              <a:t>determinano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riconoscimento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sociale</a:t>
            </a:r>
            <a:r>
              <a:rPr b="0" dirty="0">
                <a:solidFill>
                  <a:srgbClr val="000000"/>
                </a:solidFill>
              </a:rPr>
              <a:t> (</a:t>
            </a:r>
            <a:r>
              <a:rPr b="0" dirty="0" err="1">
                <a:solidFill>
                  <a:srgbClr val="000000"/>
                </a:solidFill>
              </a:rPr>
              <a:t>cioè</a:t>
            </a:r>
            <a:r>
              <a:rPr b="0" dirty="0">
                <a:solidFill>
                  <a:srgbClr val="000000"/>
                </a:solidFill>
              </a:rPr>
              <a:t> la </a:t>
            </a:r>
            <a:r>
              <a:rPr b="0" dirty="0" err="1">
                <a:solidFill>
                  <a:srgbClr val="000000"/>
                </a:solidFill>
              </a:rPr>
              <a:t>reputazione</a:t>
            </a:r>
            <a:r>
              <a:rPr b="0" dirty="0">
                <a:solidFill>
                  <a:srgbClr val="000000"/>
                </a:solidFill>
              </a:rPr>
              <a:t>);</a:t>
            </a:r>
          </a:p>
          <a:p>
            <a:pPr algn="just" indent="-342900" marL="342900">
              <a:spcBef>
                <a:spcPts val="600"/>
              </a:spcBef>
              <a:buSzPct val="100000"/>
              <a:buChar char="▪"/>
              <a:defRPr sz="21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al </a:t>
            </a:r>
            <a:r>
              <a:rPr dirty="0" err="1"/>
              <a:t>prestigio</a:t>
            </a:r>
            <a:r>
              <a:rPr b="0" dirty="0">
                <a:solidFill>
                  <a:srgbClr val="000000"/>
                </a:solidFill>
              </a:rPr>
              <a:t> è </a:t>
            </a:r>
            <a:r>
              <a:rPr b="0" dirty="0" err="1">
                <a:solidFill>
                  <a:srgbClr val="000000"/>
                </a:solidFill>
              </a:rPr>
              <a:t>attinente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alla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dignità</a:t>
            </a:r>
            <a:r>
              <a:rPr b="0" dirty="0">
                <a:solidFill>
                  <a:srgbClr val="000000"/>
                </a:solidFill>
              </a:rPr>
              <a:t> e al </a:t>
            </a:r>
            <a:r>
              <a:rPr dirty="0">
                <a:solidFill>
                  <a:srgbClr val="000000"/>
                </a:solidFill>
              </a:rPr>
              <a:t>rispetto</a:t>
            </a:r>
            <a:r>
              <a:rPr b="0" dirty="0">
                <a:solidFill>
                  <a:srgbClr val="000000"/>
                </a:solidFill>
              </a:rPr>
              <a:t> da cui la </a:t>
            </a:r>
            <a:r>
              <a:rPr b="0" dirty="0" err="1">
                <a:solidFill>
                  <a:srgbClr val="000000"/>
                </a:solidFill>
              </a:rPr>
              <a:t>pubblica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funzione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deve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essere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circondata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descr="Immagine 3" id="455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56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asellaDiTesto 13"/>
          <p:cNvSpPr txBox="1"/>
          <p:nvPr/>
        </p:nvSpPr>
        <p:spPr>
          <a:xfrm>
            <a:off x="275909" y="1052735"/>
            <a:ext cx="8592182" cy="4801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numCol="1" rIns="45719">
            <a:spAutoFit/>
          </a:bodyPr>
          <a:lstStyle/>
          <a:p>
            <a:pPr algn="just">
              <a:spcBef>
                <a:spcPts val="600"/>
              </a:spcBef>
              <a:defRPr sz="2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ELEMENTO SOGGETTIVO</a:t>
            </a:r>
            <a:r>
              <a:rPr b="0" dirty="0" u="none">
                <a:solidFill>
                  <a:srgbClr val="002F8E"/>
                </a:solidFill>
              </a:rPr>
              <a:t> </a:t>
            </a:r>
            <a:r>
              <a:rPr b="0" dirty="0" u="none"/>
              <a:t>è </a:t>
            </a:r>
            <a:r>
              <a:rPr b="0" dirty="0" err="1" u="none"/>
              <a:t>il</a:t>
            </a:r>
            <a:r>
              <a:rPr b="0" dirty="0" u="none"/>
              <a:t> </a:t>
            </a:r>
            <a:r>
              <a:rPr dirty="0" u="none">
                <a:solidFill>
                  <a:srgbClr val="D09E00"/>
                </a:solidFill>
              </a:rPr>
              <a:t>DOLO GENERICO</a:t>
            </a:r>
            <a:r>
              <a:rPr dirty="0" u="none"/>
              <a:t>.</a:t>
            </a:r>
          </a:p>
          <a:p>
            <a:pPr algn="just"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c.2: la </a:t>
            </a:r>
            <a:r>
              <a:rPr dirty="0" err="1"/>
              <a:t>pena</a:t>
            </a:r>
            <a:r>
              <a:rPr dirty="0"/>
              <a:t> è </a:t>
            </a:r>
            <a:r>
              <a:rPr b="1" dirty="0" err="1" u="sng"/>
              <a:t>aumentata</a:t>
            </a:r>
            <a:r>
              <a:rPr dirty="0"/>
              <a:t> se </a:t>
            </a:r>
            <a:r>
              <a:rPr dirty="0" err="1"/>
              <a:t>l'offesa</a:t>
            </a:r>
            <a:r>
              <a:rPr dirty="0"/>
              <a:t> </a:t>
            </a:r>
            <a:r>
              <a:rPr dirty="0" err="1"/>
              <a:t>consiste</a:t>
            </a:r>
            <a:r>
              <a:rPr dirty="0"/>
              <a:t> </a:t>
            </a:r>
            <a:r>
              <a:rPr dirty="0" err="1"/>
              <a:t>nell'</a:t>
            </a:r>
            <a:r>
              <a:rPr b="1" dirty="0" err="1">
                <a:solidFill>
                  <a:srgbClr val="D09E00"/>
                </a:solidFill>
              </a:rPr>
              <a:t>attribuzione</a:t>
            </a:r>
            <a:r>
              <a:rPr b="1" dirty="0">
                <a:solidFill>
                  <a:srgbClr val="D09E00"/>
                </a:solidFill>
              </a:rPr>
              <a:t> di un </a:t>
            </a:r>
            <a:r>
              <a:rPr b="1" dirty="0" err="1">
                <a:solidFill>
                  <a:srgbClr val="D09E00"/>
                </a:solidFill>
              </a:rPr>
              <a:t>fatto</a:t>
            </a:r>
            <a:r>
              <a:rPr b="1" dirty="0">
                <a:solidFill>
                  <a:srgbClr val="D09E00"/>
                </a:solidFill>
              </a:rPr>
              <a:t> </a:t>
            </a:r>
            <a:r>
              <a:rPr b="1" dirty="0" err="1">
                <a:solidFill>
                  <a:srgbClr val="D09E00"/>
                </a:solidFill>
              </a:rPr>
              <a:t>determinato</a:t>
            </a:r>
            <a:r>
              <a:rPr dirty="0"/>
              <a:t>. Se la </a:t>
            </a:r>
            <a:r>
              <a:rPr b="1" dirty="0" err="1"/>
              <a:t>verità</a:t>
            </a:r>
            <a:r>
              <a:rPr b="1" dirty="0"/>
              <a:t> del </a:t>
            </a:r>
            <a:r>
              <a:rPr b="1" dirty="0" err="1"/>
              <a:t>fatto</a:t>
            </a:r>
            <a:r>
              <a:rPr b="1" dirty="0"/>
              <a:t> </a:t>
            </a:r>
            <a:r>
              <a:rPr dirty="0"/>
              <a:t>è </a:t>
            </a:r>
            <a:r>
              <a:rPr dirty="0" err="1"/>
              <a:t>provata</a:t>
            </a:r>
            <a:r>
              <a:rPr dirty="0"/>
              <a:t> o se per </a:t>
            </a:r>
            <a:r>
              <a:rPr dirty="0" err="1"/>
              <a:t>esso</a:t>
            </a:r>
            <a:r>
              <a:rPr dirty="0"/>
              <a:t> </a:t>
            </a:r>
            <a:r>
              <a:rPr dirty="0" err="1"/>
              <a:t>l'ufficiale</a:t>
            </a:r>
            <a:r>
              <a:rPr dirty="0"/>
              <a:t> a cui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fatto</a:t>
            </a:r>
            <a:r>
              <a:rPr dirty="0"/>
              <a:t> è </a:t>
            </a:r>
            <a:r>
              <a:rPr dirty="0" err="1"/>
              <a:t>attribuito</a:t>
            </a:r>
            <a:r>
              <a:rPr dirty="0"/>
              <a:t> </a:t>
            </a:r>
            <a:r>
              <a:rPr b="1" dirty="0"/>
              <a:t>è </a:t>
            </a:r>
            <a:r>
              <a:rPr b="1" dirty="0" err="1"/>
              <a:t>condannato</a:t>
            </a:r>
            <a:r>
              <a:rPr b="1" dirty="0"/>
              <a:t> </a:t>
            </a:r>
            <a:r>
              <a:rPr dirty="0" err="1"/>
              <a:t>dopo</a:t>
            </a:r>
            <a:r>
              <a:rPr dirty="0"/>
              <a:t> </a:t>
            </a:r>
            <a:r>
              <a:rPr dirty="0" err="1"/>
              <a:t>l'attribuzione</a:t>
            </a:r>
            <a:r>
              <a:rPr dirty="0"/>
              <a:t> del </a:t>
            </a:r>
            <a:r>
              <a:rPr dirty="0" err="1"/>
              <a:t>fatto</a:t>
            </a:r>
            <a:r>
              <a:rPr dirty="0"/>
              <a:t> </a:t>
            </a:r>
            <a:r>
              <a:rPr dirty="0" err="1"/>
              <a:t>medesimo</a:t>
            </a:r>
            <a:r>
              <a:rPr dirty="0"/>
              <a:t>, </a:t>
            </a:r>
            <a:r>
              <a:rPr dirty="0" err="1"/>
              <a:t>l'autore</a:t>
            </a:r>
            <a:r>
              <a:rPr dirty="0"/>
              <a:t> </a:t>
            </a:r>
            <a:r>
              <a:rPr dirty="0" err="1"/>
              <a:t>dell'offesa</a:t>
            </a:r>
            <a:r>
              <a:rPr dirty="0"/>
              <a:t> </a:t>
            </a:r>
            <a:r>
              <a:rPr b="1" dirty="0">
                <a:solidFill>
                  <a:srgbClr val="D09E00"/>
                </a:solidFill>
              </a:rPr>
              <a:t>non è </a:t>
            </a:r>
            <a:r>
              <a:rPr b="1" dirty="0" err="1">
                <a:solidFill>
                  <a:srgbClr val="D09E00"/>
                </a:solidFill>
              </a:rPr>
              <a:t>punibile</a:t>
            </a:r>
            <a:r>
              <a:rPr dirty="0"/>
              <a:t>. </a:t>
            </a:r>
          </a:p>
          <a:p>
            <a:pPr algn="just"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600"/>
              </a:spcBef>
              <a:defRPr sz="22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CAUSA DI ESTINZIONE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terzo</a:t>
            </a:r>
            <a:r>
              <a:rPr dirty="0">
                <a:solidFill>
                  <a:srgbClr val="000000"/>
                </a:solidFill>
              </a:rPr>
              <a:t> comma </a:t>
            </a:r>
            <a:r>
              <a:rPr b="0" dirty="0" err="1">
                <a:solidFill>
                  <a:srgbClr val="000000"/>
                </a:solidFill>
              </a:rPr>
              <a:t>dell’art</a:t>
            </a:r>
            <a:r>
              <a:rPr b="0" dirty="0">
                <a:solidFill>
                  <a:srgbClr val="000000"/>
                </a:solidFill>
              </a:rPr>
              <a:t>. 341 </a:t>
            </a:r>
            <a:r>
              <a:rPr b="0" dirty="0" i="1">
                <a:solidFill>
                  <a:srgbClr val="000000"/>
                </a:solidFill>
              </a:rPr>
              <a:t>bis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definisce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ove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l’imputato</a:t>
            </a:r>
            <a:r>
              <a:rPr b="0" dirty="0">
                <a:solidFill>
                  <a:srgbClr val="000000"/>
                </a:solidFill>
              </a:rPr>
              <a:t>, prima del </a:t>
            </a:r>
            <a:r>
              <a:rPr b="0" dirty="0" err="1">
                <a:solidFill>
                  <a:srgbClr val="000000"/>
                </a:solidFill>
              </a:rPr>
              <a:t>giudizio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dirty="0" err="1">
                <a:solidFill>
                  <a:srgbClr val="000000"/>
                </a:solidFill>
              </a:rPr>
              <a:t>abbia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riparato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il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danno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risarcendo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sia</a:t>
            </a:r>
            <a:r>
              <a:rPr b="0" dirty="0">
                <a:solidFill>
                  <a:srgbClr val="000000"/>
                </a:solidFill>
              </a:rPr>
              <a:t> la persona </a:t>
            </a:r>
            <a:r>
              <a:rPr b="0" dirty="0" err="1">
                <a:solidFill>
                  <a:srgbClr val="000000"/>
                </a:solidFill>
              </a:rPr>
              <a:t>offesa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che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l’Amministrazione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d’appartenenza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il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 err="1"/>
              <a:t>reato</a:t>
            </a:r>
            <a:r>
              <a:rPr dirty="0"/>
              <a:t> è </a:t>
            </a:r>
            <a:r>
              <a:rPr dirty="0" err="1"/>
              <a:t>estinto</a:t>
            </a:r>
            <a:r>
              <a:rPr b="0" dirty="0">
                <a:solidFill>
                  <a:srgbClr val="000000"/>
                </a:solidFill>
              </a:rPr>
              <a:t>.</a:t>
            </a:r>
          </a:p>
          <a:p>
            <a:pPr algn="just">
              <a:spcBef>
                <a:spcPts val="600"/>
              </a:spcBef>
              <a:defRPr b="0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 dirty="0">
              <a:solidFill>
                <a:srgbClr val="000000"/>
              </a:solidFill>
            </a:endParaRPr>
          </a:p>
          <a:p>
            <a:pPr algn="just">
              <a:spcBef>
                <a:spcPts val="600"/>
              </a:spcBef>
              <a:defRPr sz="2200">
                <a:solidFill>
                  <a:srgbClr val="D09E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COMUNE</a:t>
            </a:r>
            <a:r>
              <a:rPr b="0" dirty="0">
                <a:solidFill>
                  <a:srgbClr val="000000"/>
                </a:solidFill>
              </a:rPr>
              <a:t>, in </a:t>
            </a:r>
            <a:r>
              <a:rPr b="0" dirty="0" err="1">
                <a:solidFill>
                  <a:srgbClr val="000000"/>
                </a:solidFill>
              </a:rPr>
              <a:t>quanto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può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essere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commesso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 </a:t>
            </a:r>
            <a:r>
              <a:rPr dirty="0" err="1">
                <a:solidFill>
                  <a:srgbClr val="000000"/>
                </a:solidFill>
              </a:rPr>
              <a:t>chiunque</a:t>
            </a:r>
            <a:r>
              <a:rPr b="0" dirty="0">
                <a:solidFill>
                  <a:srgbClr val="000000"/>
                </a:solidFill>
              </a:rPr>
              <a:t>. </a:t>
            </a:r>
          </a:p>
          <a:p>
            <a:pPr algn="just">
              <a:spcBef>
                <a:spcPts val="600"/>
              </a:spcBef>
              <a:defRPr b="0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Il </a:t>
            </a:r>
            <a:r>
              <a:rPr cap="small" dirty="0" err="1"/>
              <a:t>soggetto</a:t>
            </a:r>
            <a:r>
              <a:rPr cap="small" dirty="0"/>
              <a:t> </a:t>
            </a:r>
            <a:r>
              <a:rPr cap="small" dirty="0" err="1"/>
              <a:t>passivo</a:t>
            </a:r>
            <a:r>
              <a:rPr cap="small"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un </a:t>
            </a:r>
            <a:r>
              <a:rPr dirty="0" err="1"/>
              <a:t>pubblico</a:t>
            </a:r>
            <a:r>
              <a:rPr dirty="0"/>
              <a:t> </a:t>
            </a:r>
            <a:r>
              <a:rPr dirty="0" err="1"/>
              <a:t>ufficiale</a:t>
            </a:r>
            <a:r>
              <a:rPr dirty="0"/>
              <a:t>.</a:t>
            </a:r>
          </a:p>
          <a:p>
            <a:pPr algn="just">
              <a:spcBef>
                <a:spcPts val="600"/>
              </a:spcBef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600"/>
              </a:spcBef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REATO DI DANNO, DI MERA CONDOTTA, A FORMA LIBERA</a:t>
            </a:r>
          </a:p>
        </p:txBody>
      </p:sp>
      <p:pic>
        <p:nvPicPr>
          <p:cNvPr descr="Immagine 3" id="459" name="Immagin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 Box 5"/>
          <p:cNvSpPr txBox="1"/>
          <p:nvPr/>
        </p:nvSpPr>
        <p:spPr>
          <a:xfrm>
            <a:off x="825746" y="98863"/>
            <a:ext cx="8273685" cy="584441"/>
          </a:xfrm>
          <a:prstGeom prst="rect">
            <a:avLst/>
          </a:prstGeom>
          <a:ln w="12700">
            <a:miter lim="400000"/>
          </a:ln>
          <a:effectLst>
            <a:outerShdw blurRad="63500" dir="2700000" dist="17961" rotWithShape="0">
              <a:srgbClr val="EEECE1">
                <a:alpha val="74998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bIns="44569" lIns="44569" numCol="1" rIns="44569" tIns="44569">
            <a:spAutoFit/>
          </a:bodyPr>
          <a:lstStyle>
            <a:lvl1pPr>
              <a:defRPr b="0" sz="3200">
                <a:solidFill>
                  <a:schemeClr val="accent3">
                    <a:lumOff val="44000"/>
                  </a:schemeClr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t>Oltraggio a pubblico ufficiale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egnaposto contenuto 2"/>
          <p:cNvSpPr txBox="1">
            <a:spLocks noGrp="1"/>
          </p:cNvSpPr>
          <p:nvPr>
            <p:ph idx="1" sz="quarter" type="body"/>
          </p:nvPr>
        </p:nvSpPr>
        <p:spPr>
          <a:xfrm>
            <a:off x="2411759" y="980728"/>
            <a:ext cx="4717505" cy="1296145"/>
          </a:xfrm>
          <a:prstGeom prst="rect">
            <a:avLst/>
          </a:prstGeom>
        </p:spPr>
        <p:txBody>
          <a:bodyPr numCol="1"/>
          <a:lstStyle/>
          <a:p>
            <a:pPr algn="ctr" defTabSz="411479" indent="0" marL="0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algn="ctr" defTabSz="411479" indent="0" marL="0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algn="ctr" defTabSz="411479" indent="0" marL="0">
              <a:spcBef>
                <a:spcPts val="300"/>
              </a:spcBef>
              <a:buSzTx/>
              <a:buNone/>
              <a:defRPr sz="1440">
                <a:latin typeface="Book Antiqua"/>
                <a:ea typeface="Book Antiqua"/>
                <a:cs typeface="Book Antiqua"/>
                <a:sym typeface="Book Antiqua"/>
              </a:defRPr>
            </a:pPr>
            <a:endParaRPr/>
          </a:p>
          <a:p>
            <a:pPr algn="ctr" defTabSz="411479" indent="0" marL="0">
              <a:spcBef>
                <a:spcPts val="500"/>
              </a:spcBef>
              <a:buSzTx/>
              <a:buNone/>
              <a:defRPr b="1" sz="2430">
                <a:solidFill>
                  <a:srgbClr val="002F8E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DOMANDE?</a:t>
            </a:r>
          </a:p>
        </p:txBody>
      </p:sp>
      <p:pic>
        <p:nvPicPr>
          <p:cNvPr descr="Immagine 4" id="463" name="Immagin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3565" y="3916715"/>
            <a:ext cx="4879270" cy="2439635"/>
          </a:xfrm>
          <a:prstGeom prst="rect">
            <a:avLst/>
          </a:prstGeom>
          <a:ln w="12700">
            <a:miter lim="400000"/>
          </a:ln>
        </p:spPr>
      </p:pic>
      <p:pic>
        <p:nvPicPr>
          <p:cNvPr descr="Immagine 3" id="464" name="Immagin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850" y="67098"/>
            <a:ext cx="435671" cy="753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Personalizza struttura">
  <a:themeElements>
    <a:clrScheme name="1_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1_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4999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r="5400000" dist="2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cap="flat" w="25400">
          <a:solidFill>
            <a:schemeClr val="accent1"/>
          </a:solidFill>
          <a:prstDash val="solid"/>
          <a:round/>
        </a:ln>
        <a:effectLst/>
        <a:sp3d/>
      </a:spPr>
      <a:bodyPr anchor="t" bIns="45719" horzOverflow="overflow" lIns="45719" numCol="1" rIns="45719" rot="0" rtlCol="0" spcCol="38100" spcFirstLastPara="1" tIns="45719" vert="horz" vertOverflow="overflow" wrap="square">
        <a:spAutoFit/>
      </a:bodyPr>
      <a:lstStyle>
        <a:defPPr algn="ctr" defTabSz="914400" hangingPunct="0" indent="0" latinLnBrk="0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kumimoji="0" normalizeH="0" spc="0" strike="noStrike" sz="700" u="none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1pPr>
        <a:lvl2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2pPr>
        <a:lvl3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3pPr>
        <a:lvl4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4pPr>
        <a:lvl5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5pPr>
        <a:lvl6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6pPr>
        <a:lvl7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7pPr>
        <a:lvl8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8pPr>
        <a:lvl9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none"/>
      </a:style>
    </a:spDef>
    <a:lnDef>
      <a:spPr>
        <a:noFill/>
        <a:ln cap="flat" w="25400">
          <a:solidFill>
            <a:schemeClr val="accent1"/>
          </a:solidFill>
          <a:prstDash val="solid"/>
          <a:round/>
        </a:ln>
        <a:effectLst>
          <a:outerShdw blurRad="38100" dir="5400000" dist="20000" rotWithShape="0">
            <a:srgbClr val="000000">
              <a:alpha val="38000"/>
            </a:srgbClr>
          </a:outerShdw>
        </a:effectLst>
        <a:sp3d/>
      </a:spPr>
      <a:bodyPr anchor="t" bIns="45719" horzOverflow="overflow" lIns="91439" numCol="1" rIns="91439" rot="0" rtlCol="0" spcCol="38100" spcFirstLastPara="1" tIns="45719" vert="horz" vertOverflow="overflow" wrap="square">
        <a:noAutofit/>
      </a:bodyPr>
      <a:lstStyle>
        <a:def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defPPr>
        <a:lvl1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1pPr>
        <a:lvl2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2pPr>
        <a:lvl3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3pPr>
        <a:lvl4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4pPr>
        <a:lvl5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5pPr>
        <a:lvl6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6pPr>
        <a:lvl7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7pPr>
        <a:lvl8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8pPr>
        <a:lvl9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none"/>
      </a:style>
    </a:lnDef>
    <a:txDef>
      <a:spPr>
        <a:noFill/>
        <a:ln cap="flat" w="12700">
          <a:noFill/>
          <a:miter lim="400000"/>
        </a:ln>
        <a:effectLst/>
        <a:sp3d/>
      </a:spPr>
      <a:bodyPr anchor="t" bIns="45719" horzOverflow="overflow" lIns="45719" numCol="1" rIns="45719" rot="0" rtlCol="0" spcCol="38100" spcFirstLastPara="1" tIns="45719" vert="horz" vertOverflow="overflow" wrap="square">
        <a:spAutoFit/>
      </a:bodyPr>
      <a:lstStyle>
        <a:defPPr algn="l" defTabSz="914400" hangingPunct="0" indent="0" latinLnBrk="0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kumimoji="0" normalizeH="0" spc="0" strike="noStrike" sz="700" u="none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1pPr>
        <a:lvl2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2pPr>
        <a:lvl3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3pPr>
        <a:lvl4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4pPr>
        <a:lvl5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5pPr>
        <a:lvl6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6pPr>
        <a:lvl7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7pPr>
        <a:lvl8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8pPr>
        <a:lvl9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Personalizza struttura">
  <a:themeElements>
    <a:clrScheme name="1_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1_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4999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r="5400000" dist="2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cap="flat" w="25400">
          <a:solidFill>
            <a:schemeClr val="accent1"/>
          </a:solidFill>
          <a:prstDash val="solid"/>
          <a:round/>
        </a:ln>
        <a:effectLst/>
        <a:sp3d/>
      </a:spPr>
      <a:bodyPr anchor="t" bIns="45719" horzOverflow="overflow" lIns="45719" numCol="1" rIns="45719" rot="0" rtlCol="0" spcCol="38100" spcFirstLastPara="1" tIns="45719" vert="horz" vertOverflow="overflow" wrap="square">
        <a:spAutoFit/>
      </a:bodyPr>
      <a:lstStyle>
        <a:defPPr algn="ctr" defTabSz="914400" hangingPunct="0" indent="0" latinLnBrk="0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kumimoji="0" normalizeH="0" spc="0" strike="noStrike" sz="700" u="none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1pPr>
        <a:lvl2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2pPr>
        <a:lvl3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3pPr>
        <a:lvl4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4pPr>
        <a:lvl5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5pPr>
        <a:lvl6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6pPr>
        <a:lvl7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7pPr>
        <a:lvl8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8pPr>
        <a:lvl9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none"/>
      </a:style>
    </a:spDef>
    <a:lnDef>
      <a:spPr>
        <a:noFill/>
        <a:ln cap="flat" w="25400">
          <a:solidFill>
            <a:schemeClr val="accent1"/>
          </a:solidFill>
          <a:prstDash val="solid"/>
          <a:round/>
        </a:ln>
        <a:effectLst>
          <a:outerShdw blurRad="38100" dir="5400000" dist="20000" rotWithShape="0">
            <a:srgbClr val="000000">
              <a:alpha val="38000"/>
            </a:srgbClr>
          </a:outerShdw>
        </a:effectLst>
        <a:sp3d/>
      </a:spPr>
      <a:bodyPr anchor="t" bIns="45719" horzOverflow="overflow" lIns="91439" numCol="1" rIns="91439" rot="0" rtlCol="0" spcCol="38100" spcFirstLastPara="1" tIns="45719" vert="horz" vertOverflow="overflow" wrap="square">
        <a:noAutofit/>
      </a:bodyPr>
      <a:lstStyle>
        <a:def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defPPr>
        <a:lvl1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1pPr>
        <a:lvl2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2pPr>
        <a:lvl3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3pPr>
        <a:lvl4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4pPr>
        <a:lvl5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5pPr>
        <a:lvl6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6pPr>
        <a:lvl7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7pPr>
        <a:lvl8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8pPr>
        <a:lvl9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none"/>
      </a:style>
    </a:lnDef>
    <a:txDef>
      <a:spPr>
        <a:noFill/>
        <a:ln cap="flat" w="12700">
          <a:noFill/>
          <a:miter lim="400000"/>
        </a:ln>
        <a:effectLst/>
        <a:sp3d/>
      </a:spPr>
      <a:bodyPr anchor="t" bIns="45719" horzOverflow="overflow" lIns="45719" numCol="1" rIns="45719" rot="0" rtlCol="0" spcCol="38100" spcFirstLastPara="1" tIns="45719" vert="horz" vertOverflow="overflow" wrap="square">
        <a:spAutoFit/>
      </a:bodyPr>
      <a:lstStyle>
        <a:defPPr algn="l" defTabSz="914400" hangingPunct="0" indent="0" latinLnBrk="0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kumimoji="0" normalizeH="0" spc="0" strike="noStrike" sz="700" u="none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1pPr>
        <a:lvl2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2pPr>
        <a:lvl3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3pPr>
        <a:lvl4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4pPr>
        <a:lvl5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5pPr>
        <a:lvl6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6pPr>
        <a:lvl7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7pPr>
        <a:lvl8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8pPr>
        <a:lvl9pPr algn="l" defTabSz="914400" hangingPunct="0" indent="0" latinLnBrk="1" marL="0" marR="0" rtl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kumimoji="0" normalizeH="0" spc="0" strike="noStrike" sz="1800" u="none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7689</Words>
  <Paragraphs>551</Paragraphs>
  <Slides>67</Slides>
  <Notes>0</Notes>
  <TotalTime>1932</TotalTime>
  <HiddenSlides>0</HiddenSlides>
  <MMClips>0</MMClips>
  <ScaleCrop>false</ScaleCrop>
  <HeadingPairs>
    <vt:vector baseType="variant" size="6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67</vt:i4>
      </vt:variant>
    </vt:vector>
  </HeadingPairs>
  <TitlesOfParts>
    <vt:vector baseType="lpstr" size="76">
      <vt:lpstr>Arial Unicode MS</vt:lpstr>
      <vt:lpstr>Arial</vt:lpstr>
      <vt:lpstr>Book Antiqua</vt:lpstr>
      <vt:lpstr>Calibri</vt:lpstr>
      <vt:lpstr>Cambria</vt:lpstr>
      <vt:lpstr>Courier New</vt:lpstr>
      <vt:lpstr>Times New Roman</vt:lpstr>
      <vt:lpstr>Verdana</vt:lpstr>
      <vt:lpstr>1_Personalizza struttura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Generalità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Peculato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Induzione indebita</vt:lpstr>
      <vt:lpstr>Presentazione standard di PowerPoint</vt:lpstr>
      <vt:lpstr>Induzione indebita</vt:lpstr>
      <vt:lpstr>Presentazione standard di PowerPoint</vt:lpstr>
      <vt:lpstr>Corruzione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Corruzione</vt:lpstr>
      <vt:lpstr>Presentazione standard di PowerPoint</vt:lpstr>
      <vt:lpstr>Presentazione standard di PowerPoint</vt:lpstr>
      <vt:lpstr>Presentazione standard di PowerPoint</vt:lpstr>
      <vt:lpstr>Abuso d’ufficio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Rivelazione ed utilizzazione di segreti d’ufficio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Resistenza a pubblico ufficiale</vt:lpstr>
      <vt:lpstr>Presentazione standard di PowerPoint</vt:lpstr>
      <vt:lpstr>Presentazione standard di PowerPoint</vt:lpstr>
      <vt:lpstr>Presentazione standard di PowerPoint</vt:lpstr>
      <vt:lpstr>Resistenza a pubblico ufficiale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lication>Microsoft Office PowerPoint</Application>
  <AppVersion>16.0000</AppVersion>
  <PresentationFormat>Presentazione su schermo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Boccardo Alessandro (Ten.)</cp:lastModifiedBy>
  <dcterms:modified xsi:type="dcterms:W3CDTF">2024-09-04T11:16:30Z</dcterms:modified>
  <cp:revision>73</cp:revision>
  <dc:title>Presentazione standard di PowerPoint</dc:title>
</cp:coreProperties>
</file>