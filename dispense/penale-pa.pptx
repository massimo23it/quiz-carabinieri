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340" r:id="rId8"/>
    <p:sldId id="262" r:id="rId9"/>
    <p:sldId id="263" r:id="rId10"/>
    <p:sldId id="264" r:id="rId11"/>
    <p:sldId id="266" r:id="rId12"/>
    <p:sldId id="316" r:id="rId13"/>
    <p:sldId id="267" r:id="rId14"/>
    <p:sldId id="268" r:id="rId15"/>
    <p:sldId id="346" r:id="rId16"/>
    <p:sldId id="34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320" r:id="rId26"/>
    <p:sldId id="277" r:id="rId27"/>
    <p:sldId id="322" r:id="rId28"/>
    <p:sldId id="278" r:id="rId29"/>
    <p:sldId id="279" r:id="rId30"/>
    <p:sldId id="280" r:id="rId31"/>
    <p:sldId id="282" r:id="rId32"/>
    <p:sldId id="323" r:id="rId33"/>
    <p:sldId id="283" r:id="rId34"/>
    <p:sldId id="284" r:id="rId35"/>
    <p:sldId id="285" r:id="rId36"/>
    <p:sldId id="290" r:id="rId37"/>
    <p:sldId id="291" r:id="rId38"/>
    <p:sldId id="341" r:id="rId39"/>
    <p:sldId id="342" r:id="rId40"/>
    <p:sldId id="292" r:id="rId41"/>
    <p:sldId id="293" r:id="rId42"/>
    <p:sldId id="343" r:id="rId43"/>
    <p:sldId id="344" r:id="rId44"/>
    <p:sldId id="295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38" r:id="rId55"/>
    <p:sldId id="307" r:id="rId56"/>
    <p:sldId id="308" r:id="rId57"/>
    <p:sldId id="309" r:id="rId58"/>
    <p:sldId id="337" r:id="rId59"/>
    <p:sldId id="311" r:id="rId60"/>
    <p:sldId id="312" r:id="rId61"/>
    <p:sldId id="345" r:id="rId62"/>
    <p:sldId id="313" r:id="rId63"/>
    <p:sldId id="314" r:id="rId64"/>
    <p:sldId id="315" r:id="rId6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7" name="Shape 2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5239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8174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Testo"/>
          <p:cNvSpPr txBox="1">
            <a:spLocks noGrp="1"/>
          </p:cNvSpPr>
          <p:nvPr>
            <p:ph type="title"/>
          </p:nvPr>
        </p:nvSpPr>
        <p:spPr>
          <a:xfrm>
            <a:off x="685800" y="3209925"/>
            <a:ext cx="7772400" cy="2019300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>
              <a:defRPr sz="3200"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t>Titolo Testo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21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000" cap="all"/>
            </a:lvl1pPr>
          </a:lstStyle>
          <a:p>
            <a:r>
              <a:t>Titolo Testo</a:t>
            </a:r>
          </a:p>
        </p:txBody>
      </p:sp>
      <p:sp>
        <p:nvSpPr>
          <p:cNvPr id="30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SzTx/>
              <a:buNone/>
              <a:defRPr sz="2000"/>
            </a:lvl1pPr>
            <a:lvl2pPr marL="0" indent="457200">
              <a:spcBef>
                <a:spcPts val="400"/>
              </a:spcBef>
              <a:buSzTx/>
              <a:buNone/>
              <a:defRPr sz="2000"/>
            </a:lvl2pPr>
            <a:lvl3pPr marL="0" indent="914400">
              <a:spcBef>
                <a:spcPts val="400"/>
              </a:spcBef>
              <a:buSzTx/>
              <a:buNone/>
              <a:defRPr sz="2000"/>
            </a:lvl3pPr>
            <a:lvl4pPr marL="0" indent="1371600">
              <a:spcBef>
                <a:spcPts val="400"/>
              </a:spcBef>
              <a:buSzTx/>
              <a:buNone/>
              <a:defRPr sz="2000"/>
            </a:lvl4pPr>
            <a:lvl5pPr marL="0" indent="1828800">
              <a:spcBef>
                <a:spcPts val="400"/>
              </a:spcBef>
              <a:buSzTx/>
              <a:buNone/>
              <a:defRPr sz="20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39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48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None/>
              <a:defRPr sz="2400" b="1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" name="Segnaposto testo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None/>
              <a:defRPr sz="2400" b="1"/>
            </a:pPr>
            <a:endParaRPr/>
          </a:p>
        </p:txBody>
      </p:sp>
      <p:sp>
        <p:nvSpPr>
          <p:cNvPr id="5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7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4" name="Segnaposto testo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None/>
              <a:defRPr sz="1400"/>
            </a:pPr>
            <a:endParaRPr/>
          </a:p>
        </p:txBody>
      </p:sp>
      <p:sp>
        <p:nvSpPr>
          <p:cNvPr id="7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83" name="Segnaposto immagine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4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None/>
              <a:defRPr sz="1400"/>
            </a:lvl1pPr>
            <a:lvl2pPr marL="0" indent="457200">
              <a:spcBef>
                <a:spcPts val="300"/>
              </a:spcBef>
              <a:buSzTx/>
              <a:buNone/>
              <a:defRPr sz="1400"/>
            </a:lvl2pPr>
            <a:lvl3pPr marL="0" indent="914400">
              <a:spcBef>
                <a:spcPts val="300"/>
              </a:spcBef>
              <a:buSzTx/>
              <a:buNone/>
              <a:defRPr sz="1400"/>
            </a:lvl3pPr>
            <a:lvl4pPr marL="0" indent="1371600">
              <a:spcBef>
                <a:spcPts val="300"/>
              </a:spcBef>
              <a:buSzTx/>
              <a:buNone/>
              <a:defRPr sz="1400"/>
            </a:lvl4pPr>
            <a:lvl5pPr marL="0" indent="1828800">
              <a:spcBef>
                <a:spcPts val="300"/>
              </a:spcBef>
              <a:buSzTx/>
              <a:buNone/>
              <a:defRPr sz="14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9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0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09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18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21859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a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olo Testo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2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olo e contenu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36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7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testazione sezion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algn="l">
              <a:defRPr sz="4000" cap="al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45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ue contenuti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54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790575" indent="-333375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marL="1234439" indent="-320039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marL="1727200" indent="-3556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marL="2184400" indent="-3556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5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fron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6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64" name="Segnaposto testo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73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uot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uto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88" name="Corpo livello uno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89" name="Segnaposto testo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magine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98" name="Segnaposto immagine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99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0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836612"/>
            <a:ext cx="9144000" cy="71438"/>
          </a:xfrm>
          <a:prstGeom prst="rect">
            <a:avLst/>
          </a:prstGeom>
          <a:gradFill>
            <a:gsLst>
              <a:gs pos="0">
                <a:schemeClr val="accent2">
                  <a:alpha val="79999"/>
                </a:schemeClr>
              </a:gs>
              <a:gs pos="100000">
                <a:srgbClr val="181847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Titolo Testo</a:t>
            </a:r>
          </a:p>
        </p:txBody>
      </p:sp>
      <p:sp>
        <p:nvSpPr>
          <p:cNvPr id="4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3848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 b="0"/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rocardi.it/dizionario/5879.html" TargetMode="External"/><Relationship Id="rId3" Type="http://schemas.openxmlformats.org/officeDocument/2006/relationships/hyperlink" Target="https://www.brocardi.it/dizionario/3153.html" TargetMode="External"/><Relationship Id="rId7" Type="http://schemas.openxmlformats.org/officeDocument/2006/relationships/hyperlink" Target="https://www.brocardi.it/dizionario/446.html" TargetMode="External"/><Relationship Id="rId2" Type="http://schemas.openxmlformats.org/officeDocument/2006/relationships/hyperlink" Target="https://www.brocardi.it/codice-penale/libro-secondo/titolo-ii/capo-i/art314.html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brocardi.it/dizionario/4311.html" TargetMode="External"/><Relationship Id="rId11" Type="http://schemas.openxmlformats.org/officeDocument/2006/relationships/hyperlink" Target="https://www.brocardi.it/dizionario/5764.html" TargetMode="External"/><Relationship Id="rId5" Type="http://schemas.openxmlformats.org/officeDocument/2006/relationships/hyperlink" Target="https://www.brocardi.it/dizionario/4741.html" TargetMode="External"/><Relationship Id="rId10" Type="http://schemas.openxmlformats.org/officeDocument/2006/relationships/hyperlink" Target="https://www.brocardi.it/codice-di-procedura-penale/libro-quarto/titolo-i/capo-iii/art289.html" TargetMode="External"/><Relationship Id="rId4" Type="http://schemas.openxmlformats.org/officeDocument/2006/relationships/hyperlink" Target="https://www.brocardi.it/dizionario/4854.html" TargetMode="External"/><Relationship Id="rId9" Type="http://schemas.openxmlformats.org/officeDocument/2006/relationships/hyperlink" Target="https://www.brocardi.it/dizionario/5849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tudiocataldi.it/articoli/33896-sindacato.asp" TargetMode="Externa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Immagine 1" descr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Box 4"/>
          <p:cNvSpPr txBox="1"/>
          <p:nvPr/>
        </p:nvSpPr>
        <p:spPr>
          <a:xfrm>
            <a:off x="45719" y="1723587"/>
            <a:ext cx="9052561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85000"/>
              </a:lnSpc>
              <a:spcBef>
                <a:spcPts val="4300"/>
              </a:spcBef>
              <a:defRPr sz="7200" i="1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Diritto Penale</a:t>
            </a:r>
          </a:p>
        </p:txBody>
      </p:sp>
      <p:sp>
        <p:nvSpPr>
          <p:cNvPr id="211" name="Text Box 4"/>
          <p:cNvSpPr txBox="1"/>
          <p:nvPr/>
        </p:nvSpPr>
        <p:spPr>
          <a:xfrm>
            <a:off x="174876" y="6303648"/>
            <a:ext cx="4783452" cy="331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1000"/>
              </a:spcBef>
              <a:defRPr sz="1800" b="0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/>
              <a:t>14</a:t>
            </a:r>
            <a:r>
              <a:rPr lang="it-IT" dirty="0"/>
              <a:t>5</a:t>
            </a:r>
            <a:r>
              <a:rPr dirty="0"/>
              <a:t>°Corso </a:t>
            </a:r>
            <a:r>
              <a:rPr dirty="0" err="1"/>
              <a:t>Formativo</a:t>
            </a:r>
            <a:r>
              <a:rPr dirty="0"/>
              <a:t> per </a:t>
            </a:r>
            <a:r>
              <a:rPr dirty="0" err="1"/>
              <a:t>Allievi</a:t>
            </a:r>
            <a:r>
              <a:rPr dirty="0"/>
              <a:t> Carabinieri</a:t>
            </a:r>
          </a:p>
        </p:txBody>
      </p:sp>
      <p:sp>
        <p:nvSpPr>
          <p:cNvPr id="212" name="Text Box 4"/>
          <p:cNvSpPr txBox="1"/>
          <p:nvPr/>
        </p:nvSpPr>
        <p:spPr>
          <a:xfrm>
            <a:off x="45719" y="53165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85000"/>
              </a:lnSpc>
              <a:spcBef>
                <a:spcPts val="1800"/>
              </a:spcBef>
              <a:defRPr sz="3000" cap="small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Scuola Allievi Carabinieri</a:t>
            </a:r>
          </a:p>
        </p:txBody>
      </p:sp>
      <p:sp>
        <p:nvSpPr>
          <p:cNvPr id="213" name="Text Box 4"/>
          <p:cNvSpPr txBox="1"/>
          <p:nvPr/>
        </p:nvSpPr>
        <p:spPr>
          <a:xfrm>
            <a:off x="45719" y="2918692"/>
            <a:ext cx="9052561" cy="246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spcBef>
                <a:spcPts val="2400"/>
              </a:spcBef>
              <a:defRPr sz="4000" cap="small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V Tesi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85000"/>
              </a:lnSpc>
              <a:spcBef>
                <a:spcPts val="2800"/>
              </a:spcBef>
              <a:defRPr sz="1000" cap="small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 </a:t>
            </a:r>
            <a:br>
              <a:rPr/>
            </a:br>
            <a:r>
              <a:rPr sz="4800" i="1" cap="none"/>
              <a:t>I delitti contro la Pubblica Amministrazione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136850" y="980727"/>
            <a:ext cx="8899646" cy="587727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7200"/>
              </a:lnSpc>
              <a:spcBef>
                <a:spcPts val="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titoli sono i seguenti: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- Delitti contro la personalità dello Stato (artt. 241-313),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 - Delitti contro la pubblica amministrazione (artt. 314-360),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III - Delitti contro l’Amministrazione della giustizia (artt. 361-401),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IV - Delitti contro il sentimento religioso e contro la pietà dei defunti (artt. 402-413),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 - Delitti contro l’ordine pubblico (artt. 414-421),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- Delitti contro l’incolumità pubblica (artt. 422-452),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bis – Delitti contro l’ambiente (artt. 452bis-452terdecies),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 - Delitti contro la fede pubblica (artt. 453-498),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VIII - Delitti contro l’economia pubblica, l’industria e il commercio (artt. 499-518),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- Delitti contro la moralità pubblica e il buon costume (artt. 519-544),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bis - Delitti contro il sentimento per gli animali (artt. 544bis-544sexies),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- Delitti contro l’integrità e la sanità della stirpe (artt. 545-555) [titolo abrogato],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 - Delitti contro la famiglia (artt. 556-574),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 - Delitti contro la persona (artt. 575-623bis),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XIII - Delitti contro il patrimonio (artt. 624-649).</a:t>
            </a:r>
          </a:p>
        </p:txBody>
      </p:sp>
      <p:pic>
        <p:nvPicPr>
          <p:cNvPr id="216" name="Immagine 5" descr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ttangolo 4"/>
          <p:cNvSpPr txBox="1"/>
          <p:nvPr/>
        </p:nvSpPr>
        <p:spPr>
          <a:xfrm>
            <a:off x="182570" y="980728"/>
            <a:ext cx="8736198" cy="476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 </a:t>
            </a:r>
            <a:r>
              <a:rPr err="1"/>
              <a:t>titolo</a:t>
            </a:r>
            <a:r>
              <a:t> II del Libro Secondo del </a:t>
            </a:r>
            <a:r>
              <a:rPr err="1"/>
              <a:t>codice</a:t>
            </a:r>
            <a:r>
              <a:t> </a:t>
            </a:r>
            <a:r>
              <a:rPr err="1"/>
              <a:t>penale</a:t>
            </a:r>
            <a:r>
              <a:t>, </a:t>
            </a:r>
            <a:r>
              <a:rPr err="1"/>
              <a:t>riformato</a:t>
            </a:r>
            <a:r>
              <a:t> dal </a:t>
            </a:r>
            <a:r>
              <a:rPr err="1"/>
              <a:t>Legislatore</a:t>
            </a:r>
            <a:r>
              <a:t> </a:t>
            </a:r>
            <a:r>
              <a:rPr err="1"/>
              <a:t>negli</a:t>
            </a:r>
            <a:r>
              <a:t> </a:t>
            </a:r>
            <a:r>
              <a:rPr err="1"/>
              <a:t>anni</a:t>
            </a:r>
            <a:r>
              <a:t> </a:t>
            </a:r>
            <a:r>
              <a:rPr err="1"/>
              <a:t>Novanta</a:t>
            </a:r>
            <a:r>
              <a:t>, è </a:t>
            </a:r>
            <a:r>
              <a:rPr err="1"/>
              <a:t>dedicato</a:t>
            </a:r>
            <a:r>
              <a:t> ai «</a:t>
            </a:r>
            <a:r>
              <a:rPr b="1" u="sng" err="1">
                <a:solidFill>
                  <a:srgbClr val="FF0000"/>
                </a:solidFill>
              </a:rPr>
              <a:t>delitti</a:t>
            </a:r>
            <a:r>
              <a:rPr b="1" u="sng">
                <a:solidFill>
                  <a:srgbClr val="FF0000"/>
                </a:solidFill>
              </a:rPr>
              <a:t> </a:t>
            </a:r>
            <a:r>
              <a:rPr b="1" u="sng" err="1">
                <a:solidFill>
                  <a:srgbClr val="FF0000"/>
                </a:solidFill>
              </a:rPr>
              <a:t>contro</a:t>
            </a:r>
            <a:r>
              <a:rPr b="1" u="sng">
                <a:solidFill>
                  <a:srgbClr val="FF0000"/>
                </a:solidFill>
              </a:rPr>
              <a:t> la </a:t>
            </a:r>
            <a:r>
              <a:rPr b="1" u="sng" err="1">
                <a:solidFill>
                  <a:srgbClr val="FF0000"/>
                </a:solidFill>
              </a:rPr>
              <a:t>Pubblica</a:t>
            </a:r>
            <a:r>
              <a:rPr b="1" u="sng">
                <a:solidFill>
                  <a:srgbClr val="FF0000"/>
                </a:solidFill>
              </a:rPr>
              <a:t> </a:t>
            </a:r>
            <a:r>
              <a:rPr b="1" u="sng" err="1">
                <a:solidFill>
                  <a:srgbClr val="FF0000"/>
                </a:solidFill>
              </a:rPr>
              <a:t>Amministrazione</a:t>
            </a:r>
            <a:r>
              <a:t>» ed è </a:t>
            </a:r>
            <a:r>
              <a:rPr err="1"/>
              <a:t>suddiviso</a:t>
            </a:r>
            <a:r>
              <a:t> in </a:t>
            </a:r>
            <a:r>
              <a:rPr err="1"/>
              <a:t>tre</a:t>
            </a:r>
            <a:r>
              <a:t> </a:t>
            </a:r>
            <a:r>
              <a:rPr err="1"/>
              <a:t>capi</a:t>
            </a:r>
            <a:r>
              <a:t>:</a:t>
            </a:r>
            <a:endParaRPr lang="it-IT"/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primo (</a:t>
            </a:r>
            <a:r>
              <a:rPr err="1"/>
              <a:t>artt</a:t>
            </a:r>
            <a:r>
              <a:t>. 314 – 335-bis) </a:t>
            </a:r>
            <a:r>
              <a:rPr err="1"/>
              <a:t>si</a:t>
            </a:r>
            <a:r>
              <a:t> </a:t>
            </a:r>
            <a:r>
              <a:rPr err="1"/>
              <a:t>occupa</a:t>
            </a:r>
            <a:r>
              <a:t> </a:t>
            </a:r>
            <a:r>
              <a:rPr err="1"/>
              <a:t>dei</a:t>
            </a:r>
            <a:r>
              <a:t> «</a:t>
            </a:r>
            <a:r>
              <a:rPr b="1" u="sng" err="1">
                <a:solidFill>
                  <a:srgbClr val="0433FF"/>
                </a:solidFill>
              </a:rPr>
              <a:t>delitti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dei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pubblici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ufficiali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contro</a:t>
            </a:r>
            <a:r>
              <a:rPr b="1" u="sng">
                <a:solidFill>
                  <a:srgbClr val="0433FF"/>
                </a:solidFill>
              </a:rPr>
              <a:t> la </a:t>
            </a:r>
            <a:r>
              <a:rPr b="1" u="sng" err="1">
                <a:solidFill>
                  <a:srgbClr val="0433FF"/>
                </a:solidFill>
              </a:rPr>
              <a:t>pubblica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amministrazione</a:t>
            </a:r>
            <a:r>
              <a:t>», -&gt; </a:t>
            </a:r>
            <a:r>
              <a:rPr err="1"/>
              <a:t>l’offesa</a:t>
            </a:r>
            <a:r>
              <a:t> </a:t>
            </a:r>
            <a:r>
              <a:rPr err="1"/>
              <a:t>implica</a:t>
            </a:r>
            <a:r>
              <a:t> </a:t>
            </a:r>
            <a:r>
              <a:rPr err="1"/>
              <a:t>sempre</a:t>
            </a:r>
            <a:r>
              <a:t> una </a:t>
            </a:r>
            <a:r>
              <a:rPr err="1"/>
              <a:t>violazione</a:t>
            </a:r>
            <a:r>
              <a:t> </a:t>
            </a:r>
            <a:r>
              <a:rPr err="1"/>
              <a:t>dei</a:t>
            </a:r>
            <a:r>
              <a:t> </a:t>
            </a:r>
            <a:r>
              <a:rPr err="1"/>
              <a:t>doveri</a:t>
            </a:r>
            <a:r>
              <a:t> </a:t>
            </a:r>
            <a:r>
              <a:rPr err="1"/>
              <a:t>funzionali</a:t>
            </a:r>
            <a:r>
              <a:t> </a:t>
            </a:r>
            <a:r>
              <a:rPr err="1"/>
              <a:t>delle</a:t>
            </a:r>
            <a:r>
              <a:t> </a:t>
            </a:r>
            <a:r>
              <a:rPr err="1"/>
              <a:t>persone</a:t>
            </a:r>
            <a:r>
              <a:t> </a:t>
            </a:r>
            <a:r>
              <a:rPr err="1"/>
              <a:t>che</a:t>
            </a:r>
            <a:r>
              <a:t> </a:t>
            </a:r>
            <a:r>
              <a:rPr err="1"/>
              <a:t>esercitano</a:t>
            </a:r>
            <a:r>
              <a:t> </a:t>
            </a:r>
            <a:r>
              <a:rPr err="1"/>
              <a:t>mansioni</a:t>
            </a:r>
            <a:r>
              <a:t> </a:t>
            </a:r>
            <a:r>
              <a:rPr err="1"/>
              <a:t>pubbliche</a:t>
            </a:r>
            <a:r>
              <a:t>.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secondo (</a:t>
            </a:r>
            <a:r>
              <a:rPr err="1"/>
              <a:t>artt</a:t>
            </a:r>
            <a:r>
              <a:t>. 336 – 356) </a:t>
            </a:r>
            <a:r>
              <a:rPr err="1"/>
              <a:t>riguarda</a:t>
            </a:r>
            <a:r>
              <a:t> </a:t>
            </a:r>
            <a:r>
              <a:rPr err="1"/>
              <a:t>i</a:t>
            </a:r>
            <a:r>
              <a:t> «</a:t>
            </a:r>
            <a:r>
              <a:rPr b="1" u="sng" err="1">
                <a:solidFill>
                  <a:srgbClr val="0433FF"/>
                </a:solidFill>
              </a:rPr>
              <a:t>delitti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dei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privati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contro</a:t>
            </a:r>
            <a:r>
              <a:rPr b="1" u="sng">
                <a:solidFill>
                  <a:srgbClr val="0433FF"/>
                </a:solidFill>
              </a:rPr>
              <a:t> la </a:t>
            </a:r>
            <a:r>
              <a:rPr b="1" u="sng" err="1">
                <a:solidFill>
                  <a:srgbClr val="0433FF"/>
                </a:solidFill>
              </a:rPr>
              <a:t>pubblica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u="sng" err="1">
                <a:solidFill>
                  <a:srgbClr val="0433FF"/>
                </a:solidFill>
              </a:rPr>
              <a:t>amministrazione</a:t>
            </a:r>
            <a:r>
              <a:t>», -&gt; </a:t>
            </a:r>
            <a:r>
              <a:rPr err="1"/>
              <a:t>il</a:t>
            </a:r>
            <a:r>
              <a:t> </a:t>
            </a:r>
            <a:r>
              <a:rPr err="1"/>
              <a:t>turbamento</a:t>
            </a:r>
            <a:r>
              <a:t> è </a:t>
            </a:r>
            <a:r>
              <a:rPr err="1"/>
              <a:t>recato</a:t>
            </a:r>
            <a:r>
              <a:t> da </a:t>
            </a:r>
            <a:r>
              <a:rPr err="1"/>
              <a:t>soggetti</a:t>
            </a:r>
            <a:r>
              <a:t> </a:t>
            </a:r>
            <a:r>
              <a:rPr err="1"/>
              <a:t>estranei</a:t>
            </a:r>
            <a:r>
              <a:t> </a:t>
            </a:r>
            <a:r>
              <a:rPr err="1"/>
              <a:t>all’attività</a:t>
            </a:r>
            <a:r>
              <a:t> </a:t>
            </a:r>
            <a:r>
              <a:rPr err="1"/>
              <a:t>funzionale</a:t>
            </a:r>
            <a:r>
              <a:t> </a:t>
            </a:r>
            <a:r>
              <a:rPr err="1"/>
              <a:t>colpita</a:t>
            </a:r>
            <a:r>
              <a:t> </a:t>
            </a:r>
            <a:r>
              <a:rPr err="1"/>
              <a:t>dall’azione</a:t>
            </a:r>
            <a:r>
              <a:t> </a:t>
            </a:r>
            <a:r>
              <a:rPr err="1"/>
              <a:t>criminosa</a:t>
            </a:r>
            <a:r>
              <a:t>.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err="1"/>
              <a:t>terzo</a:t>
            </a:r>
            <a:r>
              <a:t> (</a:t>
            </a:r>
            <a:r>
              <a:rPr err="1"/>
              <a:t>artt</a:t>
            </a:r>
            <a:r>
              <a:t>. 357 – 360) </a:t>
            </a:r>
            <a:r>
              <a:rPr err="1"/>
              <a:t>riguarda</a:t>
            </a:r>
            <a:r>
              <a:t> le «</a:t>
            </a:r>
            <a:r>
              <a:rPr b="1" i="1" err="1"/>
              <a:t>disposizioni</a:t>
            </a:r>
            <a:r>
              <a:rPr b="1" i="1"/>
              <a:t> </a:t>
            </a:r>
            <a:r>
              <a:rPr b="1" i="1" err="1"/>
              <a:t>comuni</a:t>
            </a:r>
            <a:r>
              <a:rPr b="1" i="1"/>
              <a:t> ai </a:t>
            </a:r>
            <a:r>
              <a:rPr b="1" i="1" err="1"/>
              <a:t>capi</a:t>
            </a:r>
            <a:r>
              <a:rPr b="1" i="1"/>
              <a:t> </a:t>
            </a:r>
            <a:r>
              <a:rPr b="1" i="1" err="1"/>
              <a:t>precedenti</a:t>
            </a:r>
            <a:r>
              <a:t>».</a:t>
            </a:r>
          </a:p>
        </p:txBody>
      </p:sp>
      <p:pic>
        <p:nvPicPr>
          <p:cNvPr id="22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ttangolo 4"/>
          <p:cNvSpPr txBox="1"/>
          <p:nvPr/>
        </p:nvSpPr>
        <p:spPr>
          <a:xfrm>
            <a:off x="203901" y="962955"/>
            <a:ext cx="8736198" cy="47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90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PUBBLICA AMMINISTRAZIONE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/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3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concepita come quel complesso di </a:t>
            </a:r>
            <a:r>
              <a:rPr b="1">
                <a:solidFill>
                  <a:srgbClr val="002F8E"/>
                </a:solidFill>
              </a:rPr>
              <a:t>strutture che perseguono finalità pubbliche </a:t>
            </a:r>
            <a:r>
              <a:t>(e quindi l’interesse della collettività) nel rispetto della normativa pubblicistica e con i poteri pubblici da essa accordati. Il concetto di P.A. comprende tutta l’attività dello Stato.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2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eneralità"/>
          <p:cNvSpPr txBox="1">
            <a:spLocks noGrp="1"/>
          </p:cNvSpPr>
          <p:nvPr>
            <p:ph type="title"/>
          </p:nvPr>
        </p:nvSpPr>
        <p:spPr>
          <a:xfrm>
            <a:off x="546062" y="-169677"/>
            <a:ext cx="8229601" cy="1143001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>
              <a:defRPr>
                <a:effectLst/>
              </a:defRPr>
            </a:pPr>
            <a:r>
              <a:t>Generalità</a:t>
            </a:r>
          </a:p>
        </p:txBody>
      </p:sp>
      <p:sp>
        <p:nvSpPr>
          <p:cNvPr id="228" name="Il bene giuridico tutelato da questi delitti è la FUNZIONE AMMINISTRATIVA, per come descritta dall’ art. 97 della Costituzione.…"/>
          <p:cNvSpPr txBox="1">
            <a:spLocks noGrp="1"/>
          </p:cNvSpPr>
          <p:nvPr>
            <p:ph type="body" idx="1"/>
          </p:nvPr>
        </p:nvSpPr>
        <p:spPr>
          <a:xfrm>
            <a:off x="457200" y="1098678"/>
            <a:ext cx="8229600" cy="569222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b="1" cap="all" dirty="0">
                <a:solidFill>
                  <a:srgbClr val="002F8E"/>
                </a:solidFill>
              </a:rPr>
              <a:t>bene </a:t>
            </a:r>
            <a:r>
              <a:rPr b="1" cap="all" dirty="0" err="1">
                <a:solidFill>
                  <a:srgbClr val="002F8E"/>
                </a:solidFill>
              </a:rPr>
              <a:t>giuridico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dirty="0" err="1"/>
              <a:t>tutelato</a:t>
            </a:r>
            <a:r>
              <a:rPr dirty="0"/>
              <a:t> da </a:t>
            </a:r>
            <a:r>
              <a:rPr dirty="0" err="1"/>
              <a:t>questi</a:t>
            </a:r>
            <a:r>
              <a:rPr dirty="0"/>
              <a:t> </a:t>
            </a:r>
            <a:r>
              <a:rPr dirty="0" err="1"/>
              <a:t>delitti</a:t>
            </a:r>
            <a:r>
              <a:rPr dirty="0"/>
              <a:t> è la </a:t>
            </a:r>
            <a:r>
              <a:rPr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FUNZIONE AMMINISTRATIVA</a:t>
            </a:r>
            <a:r>
              <a:rPr dirty="0"/>
              <a:t>, per come </a:t>
            </a:r>
            <a:r>
              <a:rPr dirty="0" err="1"/>
              <a:t>descritta</a:t>
            </a:r>
            <a:r>
              <a:rPr dirty="0"/>
              <a:t> </a:t>
            </a:r>
            <a:r>
              <a:rPr dirty="0" err="1"/>
              <a:t>dall</a:t>
            </a:r>
            <a:r>
              <a:rPr dirty="0"/>
              <a:t>’ </a:t>
            </a:r>
            <a:r>
              <a:rPr b="1" dirty="0">
                <a:solidFill>
                  <a:srgbClr val="FF0000"/>
                </a:solidFill>
              </a:rPr>
              <a:t>art. 97 </a:t>
            </a:r>
            <a:r>
              <a:rPr b="1" dirty="0" err="1"/>
              <a:t>della</a:t>
            </a:r>
            <a:r>
              <a:rPr b="1" dirty="0"/>
              <a:t> Cost</a:t>
            </a:r>
            <a:r>
              <a:rPr dirty="0"/>
              <a:t>. </a:t>
            </a:r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— “…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pubblici</a:t>
            </a:r>
            <a:r>
              <a:rPr dirty="0"/>
              <a:t> </a:t>
            </a:r>
            <a:r>
              <a:rPr dirty="0" err="1"/>
              <a:t>uffici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organizzati</a:t>
            </a:r>
            <a:r>
              <a:rPr dirty="0"/>
              <a:t> secondo </a:t>
            </a:r>
            <a:r>
              <a:rPr dirty="0" err="1"/>
              <a:t>disposizioni</a:t>
            </a:r>
            <a:r>
              <a:rPr dirty="0"/>
              <a:t> di </a:t>
            </a:r>
            <a:r>
              <a:rPr dirty="0" err="1"/>
              <a:t>legge</a:t>
            </a:r>
            <a:r>
              <a:rPr dirty="0"/>
              <a:t>, in modo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siano</a:t>
            </a:r>
            <a:r>
              <a:rPr dirty="0"/>
              <a:t> </a:t>
            </a:r>
            <a:r>
              <a:rPr dirty="0" err="1"/>
              <a:t>assicurati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i="1" u="sng" dirty="0" err="1">
                <a:solidFill>
                  <a:srgbClr val="FF0000"/>
                </a:solidFill>
              </a:rPr>
              <a:t>buon</a:t>
            </a:r>
            <a:r>
              <a:rPr i="1" u="sng" dirty="0">
                <a:solidFill>
                  <a:srgbClr val="FF0000"/>
                </a:solidFill>
              </a:rPr>
              <a:t> </a:t>
            </a:r>
            <a:r>
              <a:rPr i="1" u="sng" dirty="0" err="1">
                <a:solidFill>
                  <a:srgbClr val="FF0000"/>
                </a:solidFill>
              </a:rPr>
              <a:t>andamento</a:t>
            </a:r>
            <a:r>
              <a:rPr dirty="0"/>
              <a:t> e </a:t>
            </a:r>
            <a:r>
              <a:rPr dirty="0" err="1"/>
              <a:t>l’</a:t>
            </a:r>
            <a:r>
              <a:rPr i="1" u="sng" dirty="0" err="1">
                <a:solidFill>
                  <a:srgbClr val="FF0000"/>
                </a:solidFill>
              </a:rPr>
              <a:t>imparzialità</a:t>
            </a:r>
            <a:r>
              <a:rPr dirty="0"/>
              <a:t> </a:t>
            </a:r>
            <a:r>
              <a:rPr dirty="0" err="1"/>
              <a:t>dell’amministrazione</a:t>
            </a:r>
            <a:r>
              <a:rPr dirty="0"/>
              <a:t>…”</a:t>
            </a:r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Pertanto</a:t>
            </a:r>
            <a:r>
              <a:rPr dirty="0"/>
              <a:t>,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delitti</a:t>
            </a:r>
            <a:r>
              <a:rPr dirty="0"/>
              <a:t> </a:t>
            </a:r>
            <a:r>
              <a:rPr dirty="0" err="1"/>
              <a:t>contro</a:t>
            </a:r>
            <a:r>
              <a:rPr dirty="0"/>
              <a:t> la P.A.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tutti</a:t>
            </a:r>
            <a:r>
              <a:rPr dirty="0"/>
              <a:t> </a:t>
            </a:r>
            <a:r>
              <a:rPr dirty="0" err="1"/>
              <a:t>quelli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colpiscono</a:t>
            </a:r>
            <a:r>
              <a:rPr dirty="0"/>
              <a:t> </a:t>
            </a:r>
            <a:r>
              <a:rPr dirty="0" err="1"/>
              <a:t>l’attività</a:t>
            </a:r>
            <a:r>
              <a:rPr dirty="0"/>
              <a:t> </a:t>
            </a:r>
            <a:r>
              <a:rPr dirty="0" err="1"/>
              <a:t>funzionale</a:t>
            </a:r>
            <a:r>
              <a:rPr dirty="0"/>
              <a:t> </a:t>
            </a:r>
            <a:r>
              <a:rPr dirty="0" err="1"/>
              <a:t>dello</a:t>
            </a:r>
            <a:r>
              <a:rPr dirty="0"/>
              <a:t> </a:t>
            </a:r>
            <a:r>
              <a:rPr dirty="0" err="1"/>
              <a:t>Stato</a:t>
            </a:r>
            <a:r>
              <a:rPr dirty="0"/>
              <a:t>.</a:t>
            </a:r>
            <a:endParaRPr lang="it-IT" dirty="0"/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</a:t>
            </a:r>
            <a:r>
              <a:rPr dirty="0" err="1"/>
              <a:t>delitti</a:t>
            </a:r>
            <a:r>
              <a:rPr dirty="0"/>
              <a:t> </a:t>
            </a:r>
            <a:r>
              <a:rPr dirty="0" err="1"/>
              <a:t>contro</a:t>
            </a:r>
            <a:r>
              <a:rPr dirty="0"/>
              <a:t> la </a:t>
            </a:r>
            <a:r>
              <a:rPr dirty="0" err="1"/>
              <a:t>pubblica</a:t>
            </a:r>
            <a:r>
              <a:rPr dirty="0"/>
              <a:t> </a:t>
            </a:r>
            <a:r>
              <a:rPr dirty="0" err="1"/>
              <a:t>amministrazione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suddividono</a:t>
            </a:r>
            <a:r>
              <a:rPr dirty="0"/>
              <a:t> in </a:t>
            </a:r>
            <a:r>
              <a:rPr b="1" u="sng" dirty="0">
                <a:solidFill>
                  <a:srgbClr val="FF0000"/>
                </a:solidFill>
              </a:rPr>
              <a:t>due </a:t>
            </a:r>
            <a:r>
              <a:rPr b="1" u="sng" dirty="0" err="1">
                <a:solidFill>
                  <a:srgbClr val="FF0000"/>
                </a:solidFill>
              </a:rPr>
              <a:t>categorie</a:t>
            </a:r>
            <a:r>
              <a:rPr dirty="0"/>
              <a:t>:</a:t>
            </a:r>
          </a:p>
          <a:p>
            <a:pPr marL="348488" indent="-348488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Ø	</a:t>
            </a:r>
            <a:r>
              <a:rPr b="1" dirty="0" err="1"/>
              <a:t>delitti</a:t>
            </a:r>
            <a:r>
              <a:rPr b="1" dirty="0"/>
              <a:t> </a:t>
            </a:r>
            <a:r>
              <a:rPr b="1" dirty="0" err="1"/>
              <a:t>commessi</a:t>
            </a:r>
            <a:r>
              <a:rPr b="1" dirty="0"/>
              <a:t> </a:t>
            </a:r>
            <a:r>
              <a:rPr b="1" dirty="0" err="1"/>
              <a:t>dai</a:t>
            </a:r>
            <a:r>
              <a:rPr b="1" dirty="0"/>
              <a:t> </a:t>
            </a:r>
            <a:r>
              <a:rPr b="1" dirty="0" err="1"/>
              <a:t>pubblici</a:t>
            </a:r>
            <a:r>
              <a:rPr b="1" dirty="0"/>
              <a:t> </a:t>
            </a:r>
            <a:r>
              <a:rPr b="1" dirty="0" err="1"/>
              <a:t>ufficiali</a:t>
            </a:r>
            <a:r>
              <a:rPr b="1" dirty="0"/>
              <a:t> </a:t>
            </a:r>
            <a:r>
              <a:rPr b="1" dirty="0" err="1"/>
              <a:t>contro</a:t>
            </a:r>
            <a:r>
              <a:rPr b="1" dirty="0"/>
              <a:t> la PA </a:t>
            </a:r>
            <a:r>
              <a:rPr dirty="0"/>
              <a:t>(</a:t>
            </a:r>
            <a:r>
              <a:rPr dirty="0" err="1"/>
              <a:t>detti</a:t>
            </a:r>
            <a:r>
              <a:rPr dirty="0"/>
              <a:t> </a:t>
            </a:r>
            <a:r>
              <a:rPr dirty="0" err="1"/>
              <a:t>delitti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propri</a:t>
            </a:r>
            <a:r>
              <a:rPr dirty="0"/>
              <a:t>);</a:t>
            </a:r>
          </a:p>
          <a:p>
            <a:pPr marL="348488" indent="-348488" algn="just" defTabSz="896111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Ø	</a:t>
            </a:r>
            <a:r>
              <a:rPr b="1" dirty="0" err="1"/>
              <a:t>delitti</a:t>
            </a:r>
            <a:r>
              <a:rPr b="1" dirty="0"/>
              <a:t> </a:t>
            </a:r>
            <a:r>
              <a:rPr b="1" dirty="0" err="1"/>
              <a:t>commessi</a:t>
            </a:r>
            <a:r>
              <a:rPr b="1" dirty="0"/>
              <a:t> </a:t>
            </a:r>
            <a:r>
              <a:rPr b="1" dirty="0" err="1"/>
              <a:t>dai</a:t>
            </a:r>
            <a:r>
              <a:rPr b="1" dirty="0"/>
              <a:t> </a:t>
            </a:r>
            <a:r>
              <a:rPr b="1" dirty="0" err="1"/>
              <a:t>privati</a:t>
            </a:r>
            <a:r>
              <a:rPr b="1" dirty="0"/>
              <a:t> </a:t>
            </a:r>
            <a:r>
              <a:rPr b="1" dirty="0" err="1"/>
              <a:t>contro</a:t>
            </a:r>
            <a:r>
              <a:rPr b="1" dirty="0"/>
              <a:t> la PA</a:t>
            </a:r>
            <a:r>
              <a:rPr dirty="0"/>
              <a:t>.</a:t>
            </a:r>
          </a:p>
        </p:txBody>
      </p:sp>
      <p:pic>
        <p:nvPicPr>
          <p:cNvPr id="22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ttangolo 4"/>
          <p:cNvSpPr txBox="1"/>
          <p:nvPr/>
        </p:nvSpPr>
        <p:spPr>
          <a:xfrm>
            <a:off x="572521" y="1331823"/>
            <a:ext cx="8393724" cy="4685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PUBBLICO UFFICIALE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357 </a:t>
            </a:r>
            <a:r>
              <a:rPr dirty="0" err="1"/>
              <a:t>c.p.</a:t>
            </a: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«</a:t>
            </a:r>
            <a:r>
              <a:rPr lang="it-IT" sz="2400" i="1" dirty="0"/>
              <a:t>Agli effetti della legge penale, sono </a:t>
            </a:r>
            <a:r>
              <a:rPr lang="it-IT" sz="2400" i="1" dirty="0">
                <a:solidFill>
                  <a:srgbClr val="002F8E"/>
                </a:solidFill>
              </a:rPr>
              <a:t>pubblici ufficiali </a:t>
            </a:r>
            <a:r>
              <a:rPr lang="it-IT" sz="2400" i="1" dirty="0"/>
              <a:t>coloro i quali </a:t>
            </a:r>
            <a:r>
              <a:rPr lang="it-IT" sz="2400" i="1" dirty="0">
                <a:solidFill>
                  <a:srgbClr val="002F8E"/>
                </a:solidFill>
              </a:rPr>
              <a:t>esercitano una pubblica funzione </a:t>
            </a:r>
            <a:r>
              <a:rPr lang="it-IT" sz="2400" i="1" dirty="0">
                <a:solidFill>
                  <a:srgbClr val="FF0000"/>
                </a:solidFill>
              </a:rPr>
              <a:t>legislativa, giudiziaria o amministrativa</a:t>
            </a:r>
            <a:r>
              <a:rPr lang="it-IT" sz="2000" i="1"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i="1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i="1" dirty="0"/>
              <a:t> </a:t>
            </a:r>
            <a:r>
              <a:rPr lang="it-IT" sz="2000" dirty="0"/>
              <a:t>Agli stessi effetti </a:t>
            </a:r>
            <a:r>
              <a:rPr lang="it-IT" sz="2000" dirty="0">
                <a:solidFill>
                  <a:srgbClr val="002F8E"/>
                </a:solidFill>
              </a:rPr>
              <a:t>è pubblica </a:t>
            </a:r>
            <a:r>
              <a:rPr lang="it-IT" sz="2000" dirty="0"/>
              <a:t>la funzione amministrativa disciplinata da norme di  diritto pubblico e da atti autoritativi, e caratterizzata dalla formazione e dalla manifestazione della </a:t>
            </a:r>
            <a:r>
              <a:rPr lang="it-IT" sz="2000" u="sng" dirty="0"/>
              <a:t>volontà della P.A</a:t>
            </a:r>
            <a:r>
              <a:rPr lang="it-IT" sz="2000" dirty="0"/>
              <a:t>. o dal suo svolgersi per mezzo di </a:t>
            </a:r>
            <a:r>
              <a:rPr lang="it-IT" sz="2000" u="sng" dirty="0"/>
              <a:t>poteri autoritativi o certificativi».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600" dirty="0">
              <a:solidFill>
                <a:srgbClr val="FF0000"/>
              </a:solidFill>
            </a:endParaRPr>
          </a:p>
          <a:p>
            <a:pPr algn="just" defTabSz="457200">
              <a:defRPr sz="1900" b="0">
                <a:latin typeface="+mn-lt"/>
                <a:ea typeface="+mn-ea"/>
                <a:cs typeface="+mn-cs"/>
                <a:sym typeface="Helvetica"/>
              </a:defRPr>
            </a:pPr>
            <a:endParaRPr sz="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Generalità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8DDDAB-873F-4E07-A71F-DB2B9ADCD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8862"/>
            <a:ext cx="8229600" cy="5369169"/>
          </a:xfr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>
                <a:solidFill>
                  <a:srgbClr val="FF0000"/>
                </a:solidFill>
              </a:rPr>
              <a:t>Funzione Amministrativa </a:t>
            </a:r>
            <a:r>
              <a:rPr lang="it-IT" dirty="0"/>
              <a:t>= </a:t>
            </a:r>
            <a:r>
              <a:rPr lang="it-IT" b="1" u="sng" dirty="0"/>
              <a:t>mira</a:t>
            </a:r>
            <a:r>
              <a:rPr lang="it-IT" dirty="0"/>
              <a:t> alla </a:t>
            </a:r>
            <a:r>
              <a:rPr lang="it-IT" b="1" u="sng" dirty="0"/>
              <a:t>realizzazione</a:t>
            </a:r>
            <a:r>
              <a:rPr lang="it-IT" dirty="0"/>
              <a:t> concreta </a:t>
            </a:r>
            <a:r>
              <a:rPr lang="it-IT" b="1" u="sng" dirty="0"/>
              <a:t>dei fini dello Stato</a:t>
            </a:r>
            <a:r>
              <a:rPr lang="it-IT" dirty="0"/>
              <a:t> attraverso statuizioni che permettono di dare </a:t>
            </a:r>
            <a:r>
              <a:rPr lang="it-IT" u="sng" dirty="0"/>
              <a:t>effettiva</a:t>
            </a:r>
            <a:r>
              <a:rPr lang="it-IT" dirty="0"/>
              <a:t> ed </a:t>
            </a:r>
            <a:r>
              <a:rPr lang="it-IT" u="sng" dirty="0"/>
              <a:t>immediata</a:t>
            </a:r>
            <a:r>
              <a:rPr lang="it-IT" dirty="0"/>
              <a:t> </a:t>
            </a:r>
            <a:r>
              <a:rPr lang="it-IT" u="sng" dirty="0"/>
              <a:t>operatività all’astratta previsione legislativa</a:t>
            </a:r>
            <a:r>
              <a:rPr lang="it-IT"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400" dirty="0"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latin typeface="Book Antiqua" panose="02040602050305030304" pitchFamily="18" charset="0"/>
              </a:rPr>
              <a:t>Il </a:t>
            </a:r>
            <a:r>
              <a:rPr lang="it-IT" sz="2000" b="1" dirty="0">
                <a:solidFill>
                  <a:schemeClr val="accent2"/>
                </a:solidFill>
                <a:latin typeface="Book Antiqua" panose="02040602050305030304" pitchFamily="18" charset="0"/>
              </a:rPr>
              <a:t>Pubblico Ufficiale </a:t>
            </a:r>
            <a:r>
              <a:rPr lang="it-IT" sz="2000" dirty="0">
                <a:latin typeface="Book Antiqua" panose="02040602050305030304" pitchFamily="18" charset="0"/>
              </a:rPr>
              <a:t>è un soggetto a cui lo Stato ha conferito poteri particolari che sono espressione dell’autorità statale.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dirty="0">
              <a:latin typeface="Book Antiqua" panose="02040602050305030304" pitchFamily="18" charset="0"/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latin typeface="Book Antiqua" panose="02040602050305030304" pitchFamily="18" charset="0"/>
              </a:rPr>
              <a:t>Non deve lavorare necessariamente alle dipendenze dello Stato:     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latin typeface="Book Antiqua" panose="02040602050305030304" pitchFamily="18" charset="0"/>
              </a:rPr>
              <a:t> </a:t>
            </a:r>
            <a:r>
              <a:rPr lang="it-IT" sz="2000" i="1" u="sng" dirty="0">
                <a:latin typeface="Book Antiqua" panose="02040602050305030304" pitchFamily="18" charset="0"/>
              </a:rPr>
              <a:t>-es. Notaio;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i="1" u="sng" dirty="0">
              <a:latin typeface="Book Antiqua" panose="02040602050305030304" pitchFamily="18" charset="0"/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latin typeface="Book Antiqua" panose="02040602050305030304" pitchFamily="18" charset="0"/>
              </a:rPr>
              <a:t>Ci sono poi soggetti che sono solo temporaneamente Pubblici ufficiali, per il tempo necessario a svolgere una certa incombenza: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i="1" u="sng" dirty="0">
                <a:latin typeface="Book Antiqua" panose="02040602050305030304" pitchFamily="18" charset="0"/>
              </a:rPr>
              <a:t>es. Consulente tecnico d’ufficio nominato dal tribunale.</a:t>
            </a:r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E2ED510-0B9A-41D3-8061-2B17B650B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061" y="149386"/>
            <a:ext cx="7455877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rPr dirty="0" err="1"/>
              <a:t>Generalità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467C16AA-A82A-409B-A91A-D5F1591A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7891792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ttangolo 4"/>
          <p:cNvSpPr txBox="1"/>
          <p:nvPr/>
        </p:nvSpPr>
        <p:spPr>
          <a:xfrm>
            <a:off x="182570" y="908720"/>
            <a:ext cx="8736198" cy="5122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PUBBLICO UFFICIALE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differenzia</a:t>
            </a:r>
            <a:r>
              <a:rPr dirty="0"/>
              <a:t> </a:t>
            </a:r>
            <a:r>
              <a:rPr dirty="0" err="1"/>
              <a:t>d</a:t>
            </a:r>
            <a:r>
              <a:rPr u="sng" dirty="0" err="1"/>
              <a:t>all</a:t>
            </a:r>
            <a:r>
              <a:rPr u="sng" dirty="0"/>
              <a:t>’</a:t>
            </a:r>
            <a:r>
              <a:rPr lang="it-IT" u="sng" dirty="0"/>
              <a:t>I</a:t>
            </a:r>
            <a:r>
              <a:rPr u="sng" dirty="0" err="1"/>
              <a:t>ncaricato</a:t>
            </a:r>
            <a:r>
              <a:rPr u="sng" dirty="0"/>
              <a:t> di </a:t>
            </a:r>
            <a:r>
              <a:rPr lang="it-IT" u="sng" dirty="0"/>
              <a:t>P</a:t>
            </a:r>
            <a:r>
              <a:rPr u="sng" dirty="0" err="1"/>
              <a:t>ubblico</a:t>
            </a:r>
            <a:r>
              <a:rPr u="sng" dirty="0"/>
              <a:t> </a:t>
            </a:r>
            <a:r>
              <a:rPr lang="it-IT" u="sng" dirty="0"/>
              <a:t>S</a:t>
            </a:r>
            <a:r>
              <a:rPr u="sng" dirty="0" err="1"/>
              <a:t>ervizio</a:t>
            </a:r>
            <a:r>
              <a:rPr dirty="0"/>
              <a:t> (art. 358), in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primo è </a:t>
            </a:r>
            <a:r>
              <a:rPr dirty="0" err="1"/>
              <a:t>destinatario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seguenti</a:t>
            </a:r>
            <a:r>
              <a:rPr dirty="0"/>
              <a:t> </a:t>
            </a:r>
            <a:r>
              <a:rPr dirty="0" err="1"/>
              <a:t>poteri</a:t>
            </a:r>
            <a:r>
              <a:rPr dirty="0"/>
              <a:t>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POTERI DELIBERATIVI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sostanziano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nella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manifestazione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all'esterno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volontà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dell'ente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pubblico</a:t>
            </a:r>
            <a:r>
              <a:rPr b="0" dirty="0">
                <a:solidFill>
                  <a:srgbClr val="000000"/>
                </a:solidFill>
              </a:rPr>
              <a:t>;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POTERI AUTORITATIVI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caratterizzati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dall'attività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permette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alla</a:t>
            </a:r>
            <a:r>
              <a:rPr b="0" dirty="0">
                <a:solidFill>
                  <a:srgbClr val="000000"/>
                </a:solidFill>
              </a:rPr>
              <a:t> P.A. di </a:t>
            </a:r>
            <a:r>
              <a:rPr b="0" dirty="0" err="1">
                <a:solidFill>
                  <a:srgbClr val="000000"/>
                </a:solidFill>
              </a:rPr>
              <a:t>portare</a:t>
            </a:r>
            <a:r>
              <a:rPr b="0" dirty="0">
                <a:solidFill>
                  <a:srgbClr val="000000"/>
                </a:solidFill>
              </a:rPr>
              <a:t> a </a:t>
            </a:r>
            <a:r>
              <a:rPr b="0" dirty="0" err="1">
                <a:solidFill>
                  <a:srgbClr val="000000"/>
                </a:solidFill>
              </a:rPr>
              <a:t>termine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propri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fini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istituzionali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tramite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c.d. </a:t>
            </a:r>
            <a:r>
              <a:rPr b="0" dirty="0" err="1">
                <a:solidFill>
                  <a:srgbClr val="000000"/>
                </a:solidFill>
              </a:rPr>
              <a:t>potere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d'imperio</a:t>
            </a:r>
            <a:r>
              <a:rPr b="0" dirty="0">
                <a:solidFill>
                  <a:srgbClr val="000000"/>
                </a:solidFill>
              </a:rPr>
              <a:t>;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POTERI CERTIFICATIVI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quali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attestano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certificano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documentano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fatti</a:t>
            </a:r>
            <a:r>
              <a:rPr b="0" dirty="0">
                <a:solidFill>
                  <a:srgbClr val="000000"/>
                </a:solidFill>
              </a:rPr>
              <a:t> e </a:t>
            </a:r>
            <a:r>
              <a:rPr b="0" dirty="0" err="1">
                <a:solidFill>
                  <a:srgbClr val="000000"/>
                </a:solidFill>
              </a:rPr>
              <a:t>valutazioni</a:t>
            </a:r>
            <a:r>
              <a:rPr b="0" dirty="0">
                <a:solidFill>
                  <a:srgbClr val="000000"/>
                </a:solidFill>
              </a:rPr>
              <a:t> in modo da </a:t>
            </a:r>
            <a:r>
              <a:rPr b="0" dirty="0" err="1">
                <a:solidFill>
                  <a:srgbClr val="000000"/>
                </a:solidFill>
              </a:rPr>
              <a:t>garantire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b="0" dirty="0" err="1">
                <a:solidFill>
                  <a:srgbClr val="000000"/>
                </a:solidFill>
              </a:rPr>
              <a:t>sicurezza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traffici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giuridici</a:t>
            </a:r>
            <a:r>
              <a:rPr b="0" dirty="0">
                <a:solidFill>
                  <a:srgbClr val="000000"/>
                </a:solidFill>
              </a:rPr>
              <a:t> (ad es. </a:t>
            </a:r>
            <a:r>
              <a:rPr b="0" dirty="0" err="1">
                <a:solidFill>
                  <a:srgbClr val="000000"/>
                </a:solidFill>
              </a:rPr>
              <a:t>scritture</a:t>
            </a:r>
            <a:r>
              <a:rPr b="0" dirty="0">
                <a:solidFill>
                  <a:srgbClr val="000000"/>
                </a:solidFill>
              </a:rPr>
              <a:t> private </a:t>
            </a:r>
            <a:r>
              <a:rPr b="0" dirty="0" err="1">
                <a:solidFill>
                  <a:srgbClr val="000000"/>
                </a:solidFill>
              </a:rPr>
              <a:t>autenticate</a:t>
            </a:r>
            <a:r>
              <a:rPr b="0" dirty="0">
                <a:solidFill>
                  <a:srgbClr val="000000"/>
                </a:solidFill>
              </a:rPr>
              <a:t>).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Es. </a:t>
            </a:r>
            <a:r>
              <a:rPr dirty="0" err="1"/>
              <a:t>l'ufficiale</a:t>
            </a:r>
            <a:r>
              <a:rPr dirty="0"/>
              <a:t> </a:t>
            </a:r>
            <a:r>
              <a:rPr dirty="0" err="1"/>
              <a:t>giudiziario</a:t>
            </a:r>
            <a:r>
              <a:rPr dirty="0"/>
              <a:t>, </a:t>
            </a:r>
            <a:r>
              <a:rPr dirty="0" err="1"/>
              <a:t>l'assistente</a:t>
            </a:r>
            <a:r>
              <a:rPr dirty="0"/>
              <a:t> </a:t>
            </a:r>
            <a:r>
              <a:rPr dirty="0" err="1"/>
              <a:t>universitario</a:t>
            </a:r>
            <a:r>
              <a:rPr dirty="0"/>
              <a:t>, </a:t>
            </a:r>
            <a:r>
              <a:rPr dirty="0" err="1"/>
              <a:t>l'ispettore</a:t>
            </a:r>
            <a:r>
              <a:rPr dirty="0"/>
              <a:t> </a:t>
            </a:r>
            <a:r>
              <a:rPr dirty="0" err="1"/>
              <a:t>sanitario</a:t>
            </a:r>
            <a:r>
              <a:rPr dirty="0"/>
              <a:t> di un </a:t>
            </a:r>
            <a:r>
              <a:rPr dirty="0" err="1"/>
              <a:t>ospedale</a:t>
            </a:r>
            <a:r>
              <a:rPr dirty="0"/>
              <a:t>, </a:t>
            </a:r>
            <a:r>
              <a:rPr dirty="0" err="1"/>
              <a:t>i</a:t>
            </a:r>
            <a:r>
              <a:rPr dirty="0"/>
              <a:t> carabinieri e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agenti</a:t>
            </a:r>
            <a:r>
              <a:rPr dirty="0"/>
              <a:t> di </a:t>
            </a:r>
            <a:r>
              <a:rPr dirty="0" err="1"/>
              <a:t>Pubblica</a:t>
            </a:r>
            <a:r>
              <a:rPr dirty="0"/>
              <a:t> </a:t>
            </a:r>
            <a:r>
              <a:rPr dirty="0" err="1"/>
              <a:t>Sicurezza</a:t>
            </a:r>
            <a:r>
              <a:rPr dirty="0"/>
              <a:t>, etc. </a:t>
            </a:r>
          </a:p>
        </p:txBody>
      </p:sp>
      <p:pic>
        <p:nvPicPr>
          <p:cNvPr id="236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ttangolo 4"/>
          <p:cNvSpPr txBox="1"/>
          <p:nvPr/>
        </p:nvSpPr>
        <p:spPr>
          <a:xfrm>
            <a:off x="203901" y="1282189"/>
            <a:ext cx="8736198" cy="426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INCARICATO DI PUBBLICO SERVIZIO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358 </a:t>
            </a:r>
            <a:r>
              <a:rPr dirty="0" err="1"/>
              <a:t>c.p.</a:t>
            </a: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i="1" dirty="0" err="1"/>
              <a:t>Agli</a:t>
            </a:r>
            <a:r>
              <a:rPr i="1" dirty="0"/>
              <a:t> </a:t>
            </a:r>
            <a:r>
              <a:rPr i="1" dirty="0" err="1"/>
              <a:t>effetti</a:t>
            </a:r>
            <a:r>
              <a:rPr i="1" dirty="0"/>
              <a:t> </a:t>
            </a:r>
            <a:r>
              <a:rPr i="1" dirty="0" err="1"/>
              <a:t>della</a:t>
            </a:r>
            <a:r>
              <a:rPr i="1" dirty="0"/>
              <a:t> </a:t>
            </a:r>
            <a:r>
              <a:rPr i="1" dirty="0" err="1"/>
              <a:t>legge</a:t>
            </a:r>
            <a:r>
              <a:rPr i="1" dirty="0"/>
              <a:t> </a:t>
            </a:r>
            <a:r>
              <a:rPr i="1" dirty="0" err="1"/>
              <a:t>penale</a:t>
            </a:r>
            <a:r>
              <a:rPr i="1" dirty="0"/>
              <a:t>, </a:t>
            </a:r>
            <a:r>
              <a:rPr i="1" dirty="0" err="1"/>
              <a:t>sono</a:t>
            </a:r>
            <a:r>
              <a:rPr i="1" dirty="0"/>
              <a:t> </a:t>
            </a:r>
            <a:r>
              <a:rPr b="1" i="1" dirty="0" err="1">
                <a:solidFill>
                  <a:srgbClr val="002F8E"/>
                </a:solidFill>
              </a:rPr>
              <a:t>incaricati</a:t>
            </a:r>
            <a:r>
              <a:rPr b="1" i="1" dirty="0">
                <a:solidFill>
                  <a:srgbClr val="002F8E"/>
                </a:solidFill>
              </a:rPr>
              <a:t> di </a:t>
            </a:r>
            <a:r>
              <a:rPr b="1" i="1" dirty="0" err="1">
                <a:solidFill>
                  <a:srgbClr val="002F8E"/>
                </a:solidFill>
              </a:rPr>
              <a:t>pubblico</a:t>
            </a:r>
            <a:r>
              <a:rPr b="1" i="1" dirty="0">
                <a:solidFill>
                  <a:srgbClr val="002F8E"/>
                </a:solidFill>
              </a:rPr>
              <a:t> </a:t>
            </a:r>
            <a:r>
              <a:rPr b="1" i="1" dirty="0" err="1">
                <a:solidFill>
                  <a:srgbClr val="002F8E"/>
                </a:solidFill>
              </a:rPr>
              <a:t>servizio</a:t>
            </a:r>
            <a:r>
              <a:rPr b="1" i="1" dirty="0"/>
              <a:t> </a:t>
            </a:r>
            <a:r>
              <a:rPr i="1" dirty="0" err="1"/>
              <a:t>coloro</a:t>
            </a:r>
            <a:r>
              <a:rPr i="1" dirty="0"/>
              <a:t> </a:t>
            </a:r>
            <a:r>
              <a:rPr i="1" dirty="0" err="1"/>
              <a:t>i</a:t>
            </a:r>
            <a:r>
              <a:rPr i="1" dirty="0"/>
              <a:t> </a:t>
            </a:r>
            <a:r>
              <a:rPr i="1" dirty="0" err="1"/>
              <a:t>quali</a:t>
            </a:r>
            <a:r>
              <a:rPr i="1" dirty="0"/>
              <a:t>, a </a:t>
            </a:r>
            <a:r>
              <a:rPr i="1" dirty="0" err="1"/>
              <a:t>qualunque</a:t>
            </a:r>
            <a:r>
              <a:rPr i="1" dirty="0"/>
              <a:t> </a:t>
            </a:r>
            <a:r>
              <a:rPr i="1" dirty="0" err="1"/>
              <a:t>titolo</a:t>
            </a:r>
            <a:r>
              <a:rPr i="1" dirty="0"/>
              <a:t>, </a:t>
            </a:r>
            <a:r>
              <a:rPr b="1" i="1" u="sng" dirty="0" err="1">
                <a:solidFill>
                  <a:srgbClr val="002F8E"/>
                </a:solidFill>
              </a:rPr>
              <a:t>prestano</a:t>
            </a:r>
            <a:r>
              <a:rPr b="1" i="1" u="sng" dirty="0">
                <a:solidFill>
                  <a:srgbClr val="002F8E"/>
                </a:solidFill>
              </a:rPr>
              <a:t> un </a:t>
            </a:r>
            <a:r>
              <a:rPr b="1" i="1" u="sng" dirty="0" err="1">
                <a:solidFill>
                  <a:srgbClr val="002F8E"/>
                </a:solidFill>
              </a:rPr>
              <a:t>pubblico</a:t>
            </a:r>
            <a:r>
              <a:rPr b="1" i="1" u="sng" dirty="0">
                <a:solidFill>
                  <a:srgbClr val="002F8E"/>
                </a:solidFill>
              </a:rPr>
              <a:t> </a:t>
            </a:r>
            <a:r>
              <a:rPr b="1" i="1" u="sng" dirty="0" err="1">
                <a:solidFill>
                  <a:srgbClr val="002F8E"/>
                </a:solidFill>
              </a:rPr>
              <a:t>servizio</a:t>
            </a:r>
            <a:r>
              <a:rPr i="1" dirty="0"/>
              <a:t>.</a:t>
            </a:r>
            <a:endParaRPr lang="it-IT" i="1" dirty="0"/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b="1" dirty="0" err="1">
                <a:solidFill>
                  <a:srgbClr val="002F8E"/>
                </a:solidFill>
              </a:rPr>
              <a:t>pubblico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servizio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intendersi</a:t>
            </a:r>
            <a:r>
              <a:rPr dirty="0"/>
              <a:t> </a:t>
            </a:r>
            <a:r>
              <a:rPr dirty="0" err="1"/>
              <a:t>un’attività</a:t>
            </a:r>
            <a:r>
              <a:rPr dirty="0"/>
              <a:t> </a:t>
            </a:r>
            <a:r>
              <a:rPr dirty="0" err="1"/>
              <a:t>disciplinata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stesse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pubblica</a:t>
            </a:r>
            <a:r>
              <a:rPr dirty="0"/>
              <a:t> </a:t>
            </a:r>
            <a:r>
              <a:rPr dirty="0" err="1"/>
              <a:t>funzione</a:t>
            </a:r>
            <a:r>
              <a:rPr dirty="0"/>
              <a:t>, ma </a:t>
            </a:r>
            <a:r>
              <a:rPr dirty="0" err="1"/>
              <a:t>caratterizzata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u="sng" dirty="0" err="1">
                <a:solidFill>
                  <a:srgbClr val="C00000"/>
                </a:solidFill>
              </a:rPr>
              <a:t>mancanza</a:t>
            </a:r>
            <a:r>
              <a:rPr u="sng" dirty="0">
                <a:solidFill>
                  <a:srgbClr val="C00000"/>
                </a:solidFill>
              </a:rPr>
              <a:t> </a:t>
            </a:r>
            <a:r>
              <a:rPr u="sng" dirty="0" err="1">
                <a:solidFill>
                  <a:srgbClr val="C00000"/>
                </a:solidFill>
              </a:rPr>
              <a:t>dei</a:t>
            </a:r>
            <a:r>
              <a:rPr u="sng" dirty="0">
                <a:solidFill>
                  <a:srgbClr val="C00000"/>
                </a:solidFill>
              </a:rPr>
              <a:t> </a:t>
            </a:r>
            <a:r>
              <a:rPr u="sng" dirty="0" err="1">
                <a:solidFill>
                  <a:srgbClr val="C00000"/>
                </a:solidFill>
              </a:rPr>
              <a:t>poteri</a:t>
            </a:r>
            <a:r>
              <a:rPr u="sng" dirty="0">
                <a:solidFill>
                  <a:srgbClr val="C00000"/>
                </a:solidFill>
              </a:rPr>
              <a:t> </a:t>
            </a:r>
            <a:r>
              <a:rPr u="sng" dirty="0" err="1">
                <a:solidFill>
                  <a:srgbClr val="C00000"/>
                </a:solidFill>
              </a:rPr>
              <a:t>tipici</a:t>
            </a:r>
            <a:r>
              <a:rPr u="sng" dirty="0">
                <a:solidFill>
                  <a:srgbClr val="C00000"/>
                </a:solidFill>
              </a:rPr>
              <a:t> </a:t>
            </a:r>
            <a:r>
              <a:rPr dirty="0"/>
              <a:t>di </a:t>
            </a:r>
            <a:r>
              <a:rPr dirty="0" err="1"/>
              <a:t>questa</a:t>
            </a:r>
            <a:r>
              <a:rPr dirty="0"/>
              <a:t> ultima, e con </a:t>
            </a:r>
            <a:r>
              <a:rPr dirty="0" err="1"/>
              <a:t>esclusione</a:t>
            </a:r>
            <a:r>
              <a:rPr dirty="0"/>
              <a:t> </a:t>
            </a:r>
            <a:r>
              <a:rPr dirty="0" err="1"/>
              <a:t>dello</a:t>
            </a:r>
            <a:r>
              <a:rPr dirty="0"/>
              <a:t> </a:t>
            </a:r>
            <a:r>
              <a:rPr dirty="0" err="1"/>
              <a:t>svolgimento</a:t>
            </a:r>
            <a:r>
              <a:rPr dirty="0"/>
              <a:t> di </a:t>
            </a:r>
            <a:r>
              <a:rPr u="sng" dirty="0" err="1"/>
              <a:t>semplici</a:t>
            </a:r>
            <a:r>
              <a:rPr u="sng" dirty="0"/>
              <a:t> </a:t>
            </a:r>
            <a:r>
              <a:rPr u="sng" dirty="0" err="1"/>
              <a:t>mansioni</a:t>
            </a:r>
            <a:r>
              <a:rPr u="sng" dirty="0"/>
              <a:t> di </a:t>
            </a:r>
            <a:r>
              <a:rPr u="sng" dirty="0" err="1"/>
              <a:t>ordine</a:t>
            </a:r>
            <a:r>
              <a:rPr dirty="0"/>
              <a:t> e </a:t>
            </a:r>
            <a:r>
              <a:rPr dirty="0" err="1"/>
              <a:t>della</a:t>
            </a:r>
            <a:r>
              <a:rPr dirty="0"/>
              <a:t> </a:t>
            </a:r>
            <a:r>
              <a:rPr u="sng" dirty="0" err="1"/>
              <a:t>prestazione</a:t>
            </a:r>
            <a:r>
              <a:rPr u="sng" dirty="0"/>
              <a:t> di opera </a:t>
            </a:r>
            <a:r>
              <a:rPr u="sng" dirty="0" err="1"/>
              <a:t>meramente</a:t>
            </a:r>
            <a:r>
              <a:rPr u="sng" dirty="0"/>
              <a:t> </a:t>
            </a:r>
            <a:r>
              <a:rPr u="sng" dirty="0" err="1"/>
              <a:t>materiale</a:t>
            </a:r>
            <a:r>
              <a:rPr i="0" dirty="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0" dirty="0"/>
          </a:p>
        </p:txBody>
      </p:sp>
      <p:pic>
        <p:nvPicPr>
          <p:cNvPr id="24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i individua in maniera negativa rispetto alla funzione tipica del pubblico ufficiale per la mancanza dei poteri tipici di quest’ultimo, e con esclusione, dello svolgimento di semplici mansioni d’ordine e della prestazione di opera meramente materiale.…"/>
          <p:cNvSpPr txBox="1">
            <a:spLocks noGrp="1"/>
          </p:cNvSpPr>
          <p:nvPr>
            <p:ph type="body" idx="1"/>
          </p:nvPr>
        </p:nvSpPr>
        <p:spPr>
          <a:xfrm>
            <a:off x="457200" y="1208057"/>
            <a:ext cx="8229600" cy="4918106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individua in maniera negativa rispetto alla funzione tipica del pubblico ufficiale per la </a:t>
            </a:r>
            <a:r>
              <a:rPr b="1">
                <a:solidFill>
                  <a:srgbClr val="002F8E"/>
                </a:solidFill>
              </a:rPr>
              <a:t>mancanza dei poteri tipici </a:t>
            </a:r>
            <a:r>
              <a:t>di quest’ultimo, e con esclusione, dello </a:t>
            </a:r>
            <a:r>
              <a:rPr u="sng"/>
              <a:t>svolgimento di semplici mansioni d’ordine</a:t>
            </a:r>
            <a:r>
              <a:t> e della </a:t>
            </a:r>
            <a:r>
              <a:rPr u="sng"/>
              <a:t>prestazione di opera meramente materiale.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sng"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comune con la nozione di pubblico ufficiale vi è la </a:t>
            </a:r>
            <a:r>
              <a:rPr b="1">
                <a:solidFill>
                  <a:srgbClr val="002F8E"/>
                </a:solidFill>
              </a:rPr>
              <a:t>circostanza obiettiva di esercitare un pubblico servizio</a:t>
            </a:r>
            <a:r>
              <a:t>, senza che assuma importanza il dato formale dell’esistenza di un rapporto di pubblico impiego.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Es. bidello scolastico, la guardia giurata, presentatori-conduttori televisivi, etc.</a:t>
            </a:r>
          </a:p>
        </p:txBody>
      </p:sp>
      <p:sp>
        <p:nvSpPr>
          <p:cNvPr id="244" name="Generalità"/>
          <p:cNvSpPr txBox="1"/>
          <p:nvPr/>
        </p:nvSpPr>
        <p:spPr>
          <a:xfrm>
            <a:off x="642350" y="128817"/>
            <a:ext cx="4813706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  <p:pic>
        <p:nvPicPr>
          <p:cNvPr id="24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ttangolo 4"/>
          <p:cNvSpPr txBox="1"/>
          <p:nvPr/>
        </p:nvSpPr>
        <p:spPr>
          <a:xfrm>
            <a:off x="363233" y="965297"/>
            <a:ext cx="8736198" cy="3338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314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Peculato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«c.1 </a:t>
            </a:r>
            <a:r>
              <a:rPr i="1" dirty="0"/>
              <a:t>Il </a:t>
            </a:r>
            <a:r>
              <a:rPr i="1" dirty="0" err="1"/>
              <a:t>pubblico</a:t>
            </a:r>
            <a:r>
              <a:rPr i="1" dirty="0"/>
              <a:t> </a:t>
            </a:r>
            <a:r>
              <a:rPr i="1" dirty="0" err="1"/>
              <a:t>ufficiale</a:t>
            </a:r>
            <a:r>
              <a:rPr i="1" dirty="0"/>
              <a:t> o </a:t>
            </a:r>
            <a:r>
              <a:rPr i="1" dirty="0" err="1"/>
              <a:t>l'incaricato</a:t>
            </a:r>
            <a:r>
              <a:rPr i="1" dirty="0"/>
              <a:t> di un </a:t>
            </a:r>
            <a:r>
              <a:rPr i="1" dirty="0" err="1"/>
              <a:t>pubblico</a:t>
            </a:r>
            <a:r>
              <a:rPr i="1" dirty="0"/>
              <a:t> </a:t>
            </a:r>
            <a:r>
              <a:rPr i="1" dirty="0" err="1"/>
              <a:t>servizio</a:t>
            </a:r>
            <a:r>
              <a:rPr i="1" dirty="0"/>
              <a:t>, </a:t>
            </a:r>
            <a:r>
              <a:rPr i="1" dirty="0" err="1"/>
              <a:t>che</a:t>
            </a:r>
            <a:r>
              <a:rPr i="1" dirty="0"/>
              <a:t>, </a:t>
            </a:r>
            <a:r>
              <a:rPr i="1" dirty="0" err="1"/>
              <a:t>avendo</a:t>
            </a:r>
            <a:r>
              <a:rPr i="1" dirty="0"/>
              <a:t> </a:t>
            </a:r>
            <a:r>
              <a:rPr b="1" i="1" dirty="0"/>
              <a:t>per </a:t>
            </a:r>
            <a:r>
              <a:rPr b="1" i="1" dirty="0" err="1"/>
              <a:t>ragione</a:t>
            </a:r>
            <a:r>
              <a:rPr b="1" i="1" dirty="0"/>
              <a:t> del </a:t>
            </a:r>
            <a:r>
              <a:rPr b="1" i="1" dirty="0" err="1"/>
              <a:t>suo</a:t>
            </a:r>
            <a:r>
              <a:rPr b="1" i="1" dirty="0"/>
              <a:t> </a:t>
            </a:r>
            <a:r>
              <a:rPr b="1" i="1" dirty="0" err="1"/>
              <a:t>ufficio</a:t>
            </a:r>
            <a:r>
              <a:rPr b="1" i="1" dirty="0"/>
              <a:t> o </a:t>
            </a:r>
            <a:r>
              <a:rPr b="1" i="1" dirty="0" err="1"/>
              <a:t>servizio</a:t>
            </a:r>
            <a:r>
              <a:rPr i="1" dirty="0"/>
              <a:t> </a:t>
            </a:r>
            <a:r>
              <a:rPr b="1" i="1" dirty="0"/>
              <a:t>il </a:t>
            </a:r>
            <a:r>
              <a:rPr b="1" i="1" dirty="0" err="1"/>
              <a:t>possesso</a:t>
            </a:r>
            <a:r>
              <a:rPr b="1" i="1" dirty="0"/>
              <a:t> o </a:t>
            </a:r>
            <a:r>
              <a:rPr b="1" i="1" dirty="0" err="1"/>
              <a:t>comunque</a:t>
            </a:r>
            <a:r>
              <a:rPr b="1" i="1" dirty="0"/>
              <a:t> la </a:t>
            </a:r>
            <a:r>
              <a:rPr b="1" i="1" dirty="0" err="1"/>
              <a:t>disponibilità</a:t>
            </a:r>
            <a:r>
              <a:rPr b="1" i="1" dirty="0"/>
              <a:t> di </a:t>
            </a:r>
            <a:r>
              <a:rPr b="1" i="1" dirty="0" err="1"/>
              <a:t>denaro</a:t>
            </a:r>
            <a:r>
              <a:rPr b="1" i="1" dirty="0"/>
              <a:t> o di </a:t>
            </a:r>
            <a:r>
              <a:rPr b="1" i="1" dirty="0" err="1"/>
              <a:t>altra</a:t>
            </a:r>
            <a:r>
              <a:rPr b="1" i="1" dirty="0"/>
              <a:t> </a:t>
            </a:r>
            <a:r>
              <a:rPr b="1" i="1" dirty="0" err="1"/>
              <a:t>cosa</a:t>
            </a:r>
            <a:r>
              <a:rPr b="1" i="1" dirty="0"/>
              <a:t> mobile </a:t>
            </a:r>
            <a:r>
              <a:rPr b="1" i="1" dirty="0" err="1"/>
              <a:t>altrui</a:t>
            </a:r>
            <a:r>
              <a:rPr i="1" dirty="0"/>
              <a:t>, </a:t>
            </a:r>
            <a:r>
              <a:rPr b="1" i="1" dirty="0">
                <a:solidFill>
                  <a:srgbClr val="FF0000"/>
                </a:solidFill>
              </a:rPr>
              <a:t>se ne </a:t>
            </a:r>
            <a:r>
              <a:rPr b="1" i="1" dirty="0" err="1">
                <a:solidFill>
                  <a:srgbClr val="FF0000"/>
                </a:solidFill>
              </a:rPr>
              <a:t>appropria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reclusione</a:t>
            </a:r>
            <a:r>
              <a:rPr i="1" dirty="0"/>
              <a:t> da quattro anni a </a:t>
            </a:r>
            <a:r>
              <a:rPr i="1" dirty="0" err="1"/>
              <a:t>dieci</a:t>
            </a:r>
            <a:r>
              <a:rPr i="1" dirty="0"/>
              <a:t> anni e sei </a:t>
            </a:r>
            <a:r>
              <a:rPr i="1" dirty="0" err="1"/>
              <a:t>mesi</a:t>
            </a:r>
            <a:r>
              <a:rPr i="1"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c.2 Si </a:t>
            </a:r>
            <a:r>
              <a:rPr dirty="0" err="1"/>
              <a:t>applica</a:t>
            </a:r>
            <a:r>
              <a:rPr dirty="0"/>
              <a:t> la </a:t>
            </a:r>
            <a:r>
              <a:rPr dirty="0" err="1"/>
              <a:t>pena</a:t>
            </a:r>
            <a:r>
              <a:rPr dirty="0"/>
              <a:t> della </a:t>
            </a:r>
            <a:r>
              <a:rPr dirty="0" err="1"/>
              <a:t>reclusione</a:t>
            </a:r>
            <a:r>
              <a:rPr dirty="0"/>
              <a:t> da sei </a:t>
            </a:r>
            <a:r>
              <a:rPr dirty="0" err="1"/>
              <a:t>mesi</a:t>
            </a:r>
            <a:r>
              <a:rPr dirty="0"/>
              <a:t> a </a:t>
            </a:r>
            <a:r>
              <a:rPr dirty="0" err="1"/>
              <a:t>tre</a:t>
            </a:r>
            <a:r>
              <a:rPr dirty="0"/>
              <a:t> anni </a:t>
            </a:r>
            <a:r>
              <a:rPr dirty="0" err="1"/>
              <a:t>quando</a:t>
            </a:r>
            <a:r>
              <a:rPr dirty="0"/>
              <a:t> il </a:t>
            </a:r>
            <a:r>
              <a:rPr dirty="0" err="1"/>
              <a:t>colpevole</a:t>
            </a:r>
            <a:r>
              <a:rPr dirty="0"/>
              <a:t> ha agito </a:t>
            </a:r>
            <a:r>
              <a:rPr b="1" dirty="0">
                <a:solidFill>
                  <a:srgbClr val="0070C0"/>
                </a:solidFill>
              </a:rPr>
              <a:t>al solo </a:t>
            </a:r>
            <a:r>
              <a:rPr b="1" dirty="0" err="1">
                <a:solidFill>
                  <a:srgbClr val="0070C0"/>
                </a:solidFill>
              </a:rPr>
              <a:t>scopo</a:t>
            </a:r>
            <a:r>
              <a:rPr b="1" dirty="0">
                <a:solidFill>
                  <a:srgbClr val="0070C0"/>
                </a:solidFill>
              </a:rPr>
              <a:t> di fare </a:t>
            </a:r>
            <a:r>
              <a:rPr b="1" dirty="0" err="1">
                <a:solidFill>
                  <a:srgbClr val="FF0000"/>
                </a:solidFill>
              </a:rPr>
              <a:t>uso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momentaneo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0070C0"/>
                </a:solidFill>
              </a:rPr>
              <a:t>della </a:t>
            </a:r>
            <a:r>
              <a:rPr b="1" dirty="0" err="1">
                <a:solidFill>
                  <a:srgbClr val="0070C0"/>
                </a:solidFill>
              </a:rPr>
              <a:t>cosa</a:t>
            </a:r>
            <a:r>
              <a:rPr dirty="0"/>
              <a:t>, e </a:t>
            </a:r>
            <a:r>
              <a:rPr dirty="0" err="1"/>
              <a:t>questa</a:t>
            </a:r>
            <a:r>
              <a:rPr dirty="0"/>
              <a:t>, dopo </a:t>
            </a:r>
            <a:r>
              <a:rPr dirty="0" err="1"/>
              <a:t>l'uso</a:t>
            </a:r>
            <a:r>
              <a:rPr dirty="0"/>
              <a:t> </a:t>
            </a:r>
            <a:r>
              <a:rPr dirty="0" err="1"/>
              <a:t>momentaneo</a:t>
            </a:r>
            <a:r>
              <a:rPr dirty="0"/>
              <a:t>, </a:t>
            </a:r>
            <a:r>
              <a:rPr b="1" dirty="0">
                <a:solidFill>
                  <a:srgbClr val="0070C0"/>
                </a:solidFill>
              </a:rPr>
              <a:t>è </a:t>
            </a:r>
            <a:r>
              <a:rPr b="1" dirty="0" err="1">
                <a:solidFill>
                  <a:srgbClr val="0070C0"/>
                </a:solidFill>
              </a:rPr>
              <a:t>stata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immediatamente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restituita</a:t>
            </a:r>
            <a:r>
              <a:rPr i="0" dirty="0"/>
              <a:t>».</a:t>
            </a:r>
          </a:p>
        </p:txBody>
      </p:sp>
      <p:pic>
        <p:nvPicPr>
          <p:cNvPr id="25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Rettangolo 5"/>
          <p:cNvSpPr txBox="1"/>
          <p:nvPr/>
        </p:nvSpPr>
        <p:spPr>
          <a:xfrm>
            <a:off x="1521375" y="4725144"/>
            <a:ext cx="6893337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b="0" u="none" dirty="0"/>
              <a:t>:</a:t>
            </a:r>
            <a:endParaRPr b="0" dirty="0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collegiale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[comma 1] </a:t>
            </a:r>
            <a:r>
              <a:rPr dirty="0" err="1"/>
              <a:t>arresto</a:t>
            </a:r>
            <a:r>
              <a:rPr dirty="0"/>
              <a:t> non </a:t>
            </a:r>
            <a:r>
              <a:rPr dirty="0" err="1"/>
              <a:t>consentito</a:t>
            </a:r>
            <a:r>
              <a:rPr dirty="0"/>
              <a:t> [comma 2]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Fermo </a:t>
            </a:r>
            <a:r>
              <a:rPr dirty="0" err="1"/>
              <a:t>consentito</a:t>
            </a:r>
            <a:r>
              <a:rPr dirty="0"/>
              <a:t> [comma 1] fermo non </a:t>
            </a:r>
            <a:r>
              <a:rPr dirty="0" err="1"/>
              <a:t>consentito</a:t>
            </a:r>
            <a:r>
              <a:rPr dirty="0"/>
              <a:t> [comma 2]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solidFill>
                  <a:srgbClr val="FF0000"/>
                </a:solidFill>
              </a:rPr>
              <a:t>Procedibilità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d’ufficio</a:t>
            </a:r>
            <a:endParaRPr dirty="0">
              <a:solidFill>
                <a:srgbClr val="FF0000"/>
              </a:solidFill>
            </a:endParaRP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Tentativo</a:t>
            </a:r>
            <a:r>
              <a:rPr dirty="0"/>
              <a:t> </a:t>
            </a:r>
            <a:r>
              <a:rPr dirty="0" err="1"/>
              <a:t>ammissibile</a:t>
            </a:r>
            <a:endParaRPr dirty="0"/>
          </a:p>
        </p:txBody>
      </p:sp>
      <p:sp>
        <p:nvSpPr>
          <p:cNvPr id="25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Peculato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335DB6-D0B3-4438-B657-1D4F8546E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09710"/>
            <a:ext cx="8229600" cy="501645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/>
              <a:t>Si tratta di un </a:t>
            </a:r>
            <a:r>
              <a:rPr lang="it-IT" b="1">
                <a:solidFill>
                  <a:srgbClr val="FF0000"/>
                </a:solidFill>
              </a:rPr>
              <a:t>REATO PROPRIO non esclusivo</a:t>
            </a:r>
            <a:r>
              <a:rPr lang="it-IT">
                <a:solidFill>
                  <a:srgbClr val="0070C0"/>
                </a:solidFill>
              </a:rPr>
              <a:t>, </a:t>
            </a:r>
            <a:r>
              <a:rPr lang="it-IT" b="1">
                <a:solidFill>
                  <a:srgbClr val="0070C0"/>
                </a:solidFill>
              </a:rPr>
              <a:t>DI DANNO, DI MERA CONDOTTA A FORMA LIBERA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1">
              <a:solidFill>
                <a:srgbClr val="0070C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>
                <a:solidFill>
                  <a:srgbClr val="FF0000"/>
                </a:solidFill>
              </a:rPr>
              <a:t>REATO PROPRIO non esclusivo- </a:t>
            </a:r>
            <a:r>
              <a:rPr lang="it-IT">
                <a:solidFill>
                  <a:schemeClr val="tx1"/>
                </a:solidFill>
              </a:rPr>
              <a:t>in quanto la medesima condotta tipica, commessa da un </a:t>
            </a:r>
            <a:r>
              <a:rPr lang="it-IT" err="1">
                <a:solidFill>
                  <a:schemeClr val="tx1"/>
                </a:solidFill>
              </a:rPr>
              <a:t>extraneus</a:t>
            </a:r>
            <a:r>
              <a:rPr lang="it-IT">
                <a:solidFill>
                  <a:schemeClr val="tx1"/>
                </a:solidFill>
              </a:rPr>
              <a:t>, configurerebbe comunque un reato, ma diverso dal peculato.- (ossia reato di appropriazione indebita)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>
              <a:solidFill>
                <a:schemeClr val="tx1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1">
              <a:solidFill>
                <a:srgbClr val="0070C0"/>
              </a:solidFill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/>
              <a:t>E’ un </a:t>
            </a:r>
            <a:r>
              <a:rPr lang="it-IT" b="1">
                <a:solidFill>
                  <a:srgbClr val="0070C0"/>
                </a:solidFill>
              </a:rPr>
              <a:t>REATO PLURIOFFENSIVO </a:t>
            </a:r>
            <a:r>
              <a:rPr lang="it-IT"/>
              <a:t>in quanto l’oggetto della tutela penale è non solo la tutela del </a:t>
            </a:r>
            <a:r>
              <a:rPr lang="it-IT" u="sng"/>
              <a:t>regolare funzionamento e del prestigio degli enti pubblici</a:t>
            </a:r>
            <a:r>
              <a:rPr lang="it-IT"/>
              <a:t> ma anche e soprattutto quello di </a:t>
            </a:r>
            <a:r>
              <a:rPr lang="it-IT" u="sng"/>
              <a:t>impedire danni patrimoniali alla Pubblica Amministrazione</a:t>
            </a:r>
            <a:r>
              <a:rPr lang="it-IT"/>
              <a:t>.</a:t>
            </a:r>
          </a:p>
          <a:p>
            <a:endParaRPr lang="it-IT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393C3AE-93DE-4E91-AB23-C32E97446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386" y="149386"/>
            <a:ext cx="8229600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t>Peculato</a:t>
            </a:r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40F25624-4554-45F7-814E-E5472E93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4016377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ttangolo 4"/>
          <p:cNvSpPr txBox="1"/>
          <p:nvPr/>
        </p:nvSpPr>
        <p:spPr>
          <a:xfrm>
            <a:off x="203901" y="912032"/>
            <a:ext cx="8736198" cy="6098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</a:t>
            </a:r>
            <a:endParaRPr lang="it-IT"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b="0" u="none" dirty="0"/>
              <a:t> </a:t>
            </a:r>
            <a:r>
              <a:rPr sz="1800" u="none" dirty="0">
                <a:solidFill>
                  <a:srgbClr val="FF0000"/>
                </a:solidFill>
              </a:rPr>
              <a:t>La </a:t>
            </a:r>
            <a:r>
              <a:rPr sz="1800" u="none" dirty="0" err="1">
                <a:solidFill>
                  <a:srgbClr val="FF0000"/>
                </a:solidFill>
              </a:rPr>
              <a:t>condotta</a:t>
            </a:r>
            <a:r>
              <a:rPr sz="1800" u="none" dirty="0">
                <a:solidFill>
                  <a:srgbClr val="FF0000"/>
                </a:solidFill>
              </a:rPr>
              <a:t> </a:t>
            </a:r>
            <a:r>
              <a:rPr sz="1800" b="0" u="none" dirty="0"/>
              <a:t>è di </a:t>
            </a:r>
            <a:r>
              <a:rPr lang="it-IT" sz="1800" dirty="0">
                <a:solidFill>
                  <a:srgbClr val="0070C0"/>
                </a:solidFill>
              </a:rPr>
              <a:t>APPROPRIAZIONE</a:t>
            </a:r>
            <a:r>
              <a:rPr lang="it-IT" sz="1800" u="none" dirty="0">
                <a:solidFill>
                  <a:srgbClr val="0070C0"/>
                </a:solidFill>
              </a:rPr>
              <a:t>. </a:t>
            </a:r>
            <a:r>
              <a:rPr lang="it-IT" sz="1800" u="none" dirty="0">
                <a:solidFill>
                  <a:schemeClr val="tx1"/>
                </a:solidFill>
              </a:rPr>
              <a:t>(comportarsi come il proprietario del bene  e non più come un mero detentore)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800" b="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 dirty="0"/>
              <a:t>il PRESUPPOSTO della condotta è il </a:t>
            </a:r>
            <a:r>
              <a:rPr lang="it-IT" sz="1800" b="1" u="sng" dirty="0">
                <a:solidFill>
                  <a:srgbClr val="0070C0"/>
                </a:solidFill>
              </a:rPr>
              <a:t>possesso</a:t>
            </a:r>
            <a:r>
              <a:rPr lang="it-IT" sz="1800" dirty="0"/>
              <a:t> o la </a:t>
            </a:r>
            <a:r>
              <a:rPr lang="it-IT" sz="1800" b="1" u="sng" dirty="0">
                <a:solidFill>
                  <a:srgbClr val="0070C0"/>
                </a:solidFill>
              </a:rPr>
              <a:t>disponibilità</a:t>
            </a:r>
            <a:r>
              <a:rPr lang="it-IT" sz="1800" dirty="0"/>
              <a:t> di denaro o altra cosa mobile, in ragione del proprio </a:t>
            </a:r>
            <a:r>
              <a:rPr lang="it-IT" sz="1800" b="1" dirty="0">
                <a:solidFill>
                  <a:srgbClr val="0070C0"/>
                </a:solidFill>
              </a:rPr>
              <a:t>ufficio</a:t>
            </a:r>
            <a:r>
              <a:rPr lang="it-IT" sz="1800" dirty="0"/>
              <a:t> o </a:t>
            </a:r>
            <a:r>
              <a:rPr lang="it-IT" sz="1800" b="1" dirty="0">
                <a:solidFill>
                  <a:srgbClr val="0070C0"/>
                </a:solidFill>
              </a:rPr>
              <a:t>servizio</a:t>
            </a:r>
            <a:r>
              <a:rPr lang="it-IT" sz="1800" dirty="0"/>
              <a:t>, svolto dai soggetti pubblici (</a:t>
            </a:r>
            <a:r>
              <a:rPr lang="it-IT" sz="1800" b="1" dirty="0"/>
              <a:t>≠ reato di appropriazione indebita </a:t>
            </a:r>
            <a:r>
              <a:rPr lang="it-IT" sz="1800" dirty="0"/>
              <a:t>nella quale chi si appropria di qualcosa lo fa su qualcosa che non è nella disponibilità del soggetto in funzione del pubblico servizio).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60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u="sng" dirty="0">
                <a:solidFill>
                  <a:srgbClr val="0070C0"/>
                </a:solidFill>
              </a:rPr>
              <a:t>Possesso</a:t>
            </a:r>
            <a:r>
              <a:rPr lang="it-IT" sz="1600" dirty="0"/>
              <a:t> = </a:t>
            </a:r>
            <a:r>
              <a:rPr lang="it-IT" sz="1600" b="0" dirty="0">
                <a:sym typeface="Times New Roman"/>
              </a:rPr>
              <a:t>la dottrina è concorde nel non considerarlo alla stregua del possesso civile, ma nel ritenerlo un </a:t>
            </a:r>
            <a:r>
              <a:rPr lang="it-IT" sz="1600" u="sng" dirty="0">
                <a:solidFill>
                  <a:srgbClr val="C00000"/>
                </a:solidFill>
                <a:sym typeface="Times New Roman"/>
              </a:rPr>
              <a:t>mero potere di fatto sul bene</a:t>
            </a:r>
            <a:r>
              <a:rPr lang="it-IT" sz="1600" b="0" dirty="0">
                <a:sym typeface="Times New Roman"/>
              </a:rPr>
              <a:t>, direttamente collegato ai poteri e ai doveri funzionali dell'incarico ricoperto.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60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 u="sng" dirty="0">
                <a:solidFill>
                  <a:srgbClr val="0070C0"/>
                </a:solidFill>
              </a:rPr>
              <a:t>Disponibilità</a:t>
            </a:r>
            <a:r>
              <a:rPr lang="it-IT" sz="1400" dirty="0"/>
              <a:t>= anche la </a:t>
            </a:r>
            <a:r>
              <a:rPr lang="it-IT" sz="1600" b="0" dirty="0">
                <a:sym typeface="Times New Roman"/>
              </a:rPr>
              <a:t>possibilità di disporre della cosa, a prescindere dalla materiale detenzione, è idonea ad integrare il reato in esame.</a:t>
            </a:r>
            <a:endParaRPr lang="it-IT" sz="1600" u="sng" dirty="0"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 u="sng" dirty="0"/>
              <a:t>ELEMENTO SOGGETTIVO: </a:t>
            </a:r>
            <a:r>
              <a:rPr lang="it-IT" sz="1400" dirty="0"/>
              <a:t>è sufficiente il </a:t>
            </a:r>
            <a:r>
              <a:rPr lang="it-IT" sz="2000" u="sng" dirty="0">
                <a:solidFill>
                  <a:srgbClr val="0070C0"/>
                </a:solidFill>
              </a:rPr>
              <a:t>DOLO GENERICO</a:t>
            </a:r>
            <a:r>
              <a:rPr lang="it-IT" sz="1400"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400" dirty="0"/>
          </a:p>
        </p:txBody>
      </p:sp>
      <p:pic>
        <p:nvPicPr>
          <p:cNvPr id="256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Peculato (comma 1)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ttangolo 4"/>
          <p:cNvSpPr txBox="1"/>
          <p:nvPr/>
        </p:nvSpPr>
        <p:spPr>
          <a:xfrm>
            <a:off x="182570" y="912031"/>
            <a:ext cx="8736198" cy="6203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lang="it-IT" b="1" u="sng">
                <a:solidFill>
                  <a:srgbClr val="FF0000"/>
                </a:solidFill>
              </a:rPr>
              <a:t>PECULATO D’USO </a:t>
            </a:r>
            <a:r>
              <a:t>è una </a:t>
            </a:r>
            <a:r>
              <a:rPr b="1">
                <a:solidFill>
                  <a:srgbClr val="0070C0"/>
                </a:solidFill>
              </a:rPr>
              <a:t>FIGURA AUTONOMA DI REATO AUTONOMA</a:t>
            </a:r>
            <a:r>
              <a:t>, non una </a:t>
            </a:r>
            <a:r>
              <a:rPr err="1"/>
              <a:t>mera</a:t>
            </a:r>
            <a:r>
              <a:t> </a:t>
            </a:r>
            <a:r>
              <a:rPr err="1"/>
              <a:t>circostanza</a:t>
            </a:r>
            <a:r>
              <a:t> </a:t>
            </a:r>
            <a:r>
              <a:rPr err="1"/>
              <a:t>attenuante</a:t>
            </a:r>
            <a:r>
              <a:t>. </a:t>
            </a:r>
            <a:endParaRPr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/>
              <a:t>ELEMENTO OGGETTIVO</a:t>
            </a:r>
            <a:r>
              <a:rPr lang="it-IT" sz="2000" b="0"/>
              <a:t>: la condotta incriminata è </a:t>
            </a:r>
            <a:r>
              <a:rPr lang="it-IT" sz="2000">
                <a:solidFill>
                  <a:srgbClr val="0070C0"/>
                </a:solidFill>
              </a:rPr>
              <a:t>l’appropriazione</a:t>
            </a:r>
            <a:r>
              <a:rPr lang="it-IT" sz="2000" b="0"/>
              <a:t> </a:t>
            </a:r>
            <a:r>
              <a:rPr lang="it-IT" sz="2000">
                <a:solidFill>
                  <a:srgbClr val="0070C0"/>
                </a:solidFill>
              </a:rPr>
              <a:t>per l’uso momentaneo</a:t>
            </a:r>
            <a:r>
              <a:rPr lang="it-IT" sz="2000" b="0"/>
              <a:t>. Occorre, comunque, un certo grado di offensività della condotta, ossia una </a:t>
            </a:r>
            <a:r>
              <a:rPr lang="it-IT" sz="2000">
                <a:solidFill>
                  <a:srgbClr val="0070C0"/>
                </a:solidFill>
              </a:rPr>
              <a:t>concreta lesione della funzionalità dell'ufficio </a:t>
            </a:r>
            <a:r>
              <a:rPr lang="it-IT" sz="2000" b="0"/>
              <a:t>che abbia pregiudicato in modo apprezzabile i beni giuridici protetti.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b="0"/>
          </a:p>
          <a:p>
            <a:pPr algn="just">
              <a:lnSpc>
                <a:spcPct val="114000"/>
              </a:lnSpc>
              <a:spcBef>
                <a:spcPts val="600"/>
              </a:spcBef>
              <a:defRPr sz="3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" b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u="sng">
                <a:solidFill>
                  <a:schemeClr val="tx1"/>
                </a:solidFill>
              </a:rPr>
              <a:t>ELEMENTO SOGGETTIVO:</a:t>
            </a:r>
            <a:r>
              <a:rPr lang="it-IT" sz="2000">
                <a:solidFill>
                  <a:schemeClr val="tx1"/>
                </a:solidFill>
              </a:rPr>
              <a:t>  </a:t>
            </a:r>
            <a:r>
              <a:rPr lang="it-IT" sz="2000" b="0"/>
              <a:t>Al c. 2 è disciplinato il </a:t>
            </a:r>
            <a:r>
              <a:rPr lang="it-IT" sz="2000" i="1"/>
              <a:t>c.d. peculato d’uso</a:t>
            </a:r>
            <a:r>
              <a:rPr lang="it-IT" sz="2000" b="0"/>
              <a:t>, avente come elemento soggettivo il </a:t>
            </a:r>
            <a:r>
              <a:rPr lang="it-IT" sz="2000">
                <a:solidFill>
                  <a:srgbClr val="FF0000"/>
                </a:solidFill>
              </a:rPr>
              <a:t>DOLO SPECIFICO </a:t>
            </a:r>
            <a:r>
              <a:rPr lang="it-IT" sz="2000" b="0"/>
              <a:t>che consiste nella volontà di far </a:t>
            </a:r>
            <a:r>
              <a:rPr lang="it-IT" sz="2000"/>
              <a:t>uso solo momentaneamente della cosa </a:t>
            </a:r>
            <a:r>
              <a:rPr lang="it-IT" sz="2000" b="0"/>
              <a:t>che, subito dopo, viene </a:t>
            </a:r>
            <a:r>
              <a:rPr lang="it-IT" sz="2000"/>
              <a:t>immediatamente restituita</a:t>
            </a:r>
            <a:r>
              <a:rPr lang="it-IT" sz="2000" b="0"/>
              <a:t>.</a:t>
            </a:r>
            <a:endParaRPr lang="it-IT" sz="2400" b="0"/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900" b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/>
              <a:t>In entrambe le figure sopra descritte (peculato e peculato d’uso) il delitto si consuma quando il soggetto </a:t>
            </a:r>
            <a:r>
              <a:rPr lang="it-IT" sz="1800">
                <a:solidFill>
                  <a:srgbClr val="0070C0"/>
                </a:solidFill>
              </a:rPr>
              <a:t>inizia a comportarsi </a:t>
            </a:r>
            <a:r>
              <a:rPr lang="it-IT" sz="1800" i="1" err="1">
                <a:solidFill>
                  <a:srgbClr val="0070C0"/>
                </a:solidFill>
              </a:rPr>
              <a:t>uti</a:t>
            </a:r>
            <a:r>
              <a:rPr lang="it-IT" sz="1800" i="1">
                <a:solidFill>
                  <a:srgbClr val="0070C0"/>
                </a:solidFill>
              </a:rPr>
              <a:t> dominus </a:t>
            </a:r>
            <a:r>
              <a:rPr lang="it-IT" sz="1800"/>
              <a:t>(ossia come se fosse il proprietario).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6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Peculato</a:t>
            </a:r>
            <a:r>
              <a:rPr dirty="0"/>
              <a:t> </a:t>
            </a:r>
            <a:r>
              <a:rPr dirty="0" err="1"/>
              <a:t>d’uso</a:t>
            </a:r>
            <a:r>
              <a:rPr dirty="0"/>
              <a:t> (comma 2)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762BEE-290D-46A1-AE51-6F238570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9457"/>
            <a:ext cx="8229600" cy="1143001"/>
          </a:xfrm>
        </p:spPr>
        <p:txBody>
          <a:bodyPr>
            <a:normAutofit/>
          </a:bodyPr>
          <a:lstStyle/>
          <a:p>
            <a:pPr algn="l"/>
            <a:r>
              <a:rPr lang="it-IT" sz="2400" dirty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Indebita destinazione di denaro o cose mobili (art. 314 bis)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063206-B6CD-4166-858D-B6069612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99821"/>
            <a:ext cx="8415867" cy="5350935"/>
          </a:xfrm>
        </p:spPr>
        <p:txBody>
          <a:bodyPr>
            <a:normAutofit fontScale="55000" lnSpcReduction="20000"/>
          </a:bodyPr>
          <a:lstStyle/>
          <a:p>
            <a:pPr indent="254000" algn="just">
              <a:lnSpc>
                <a:spcPts val="21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Fuori dei casi previsti dall'articolo </a:t>
            </a:r>
            <a:r>
              <a:rPr lang="it-IT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Pecula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314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 </a:t>
            </a:r>
            <a:r>
              <a:rPr lang="it-IT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tooltip="Dizionario Giuridico: Pubblico uffic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pubblico ufficiale</a:t>
            </a:r>
            <a:r>
              <a:rPr lang="it-IT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 l'incaricato di un </a:t>
            </a:r>
            <a:r>
              <a:rPr lang="it-IT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tooltip="Dizionario Giuridico: Pubblico serviz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pubblico servizio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che, avendo </a:t>
            </a:r>
            <a:r>
              <a:rPr lang="it-I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ragione del suo ufficio o servizio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possesso o comunque la </a:t>
            </a:r>
            <a:r>
              <a:rPr lang="it-IT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disponibilità di denaro o di altra cosa mobile altrui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destina ad un uso diverso da quello previsto da specifiche disposizioni di legge o da atti aventi forza di legge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 quali non residuano margini di discrezionalità e </a:t>
            </a:r>
            <a:r>
              <a:rPr lang="it-IT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intenzionalmente procura a sé o ad altri un ingiusto </a:t>
            </a:r>
            <a:r>
              <a:rPr lang="it-IT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tooltip="Dizionario Giuridico: Vantaggio patrimon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vantaggio patrimoniale</a:t>
            </a:r>
            <a:r>
              <a:rPr lang="it-IT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 ad altri un danno ingiusto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è punito con la </a:t>
            </a:r>
            <a:r>
              <a:rPr lang="it-IT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tooltip="Dizionario Giuridico: Reclusio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reclusione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 sei mesi a tre anni.</a:t>
            </a:r>
          </a:p>
          <a:p>
            <a:pPr indent="254000" algn="just">
              <a:lnSpc>
                <a:spcPts val="21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pena è della reclusione da sei mesi a quattro anni quando il fatto offende gli interessi finanziari dell'</a:t>
            </a:r>
            <a:r>
              <a:rPr lang="it-IT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tooltip="Dizionario Giuridico: Unione europ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Unione europea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 l'ingiusto vantaggio patrimoniale o il danno ingiusto sono superiori ad euro 100.000.</a:t>
            </a:r>
          </a:p>
          <a:p>
            <a:pPr indent="254000" algn="just">
              <a:lnSpc>
                <a:spcPts val="2100"/>
              </a:lnSpc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4000" algn="just">
              <a:lnSpc>
                <a:spcPts val="2100"/>
              </a:lnSpc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685800" algn="just">
              <a:lnSpc>
                <a:spcPts val="2100"/>
              </a:lnSpc>
              <a:buFont typeface="Wingdings" panose="05000000000000000000" pitchFamily="2" charset="2"/>
              <a:buChar char="§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il reato in commento è 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procedibile d’ufficio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85800" algn="just">
              <a:lnSpc>
                <a:spcPts val="2100"/>
              </a:lnSpc>
              <a:buFont typeface="Wingdings" panose="05000000000000000000" pitchFamily="2" charset="2"/>
              <a:buChar char="§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competente è il 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Tribunale collegiale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85800" algn="just">
              <a:lnSpc>
                <a:spcPts val="2100"/>
              </a:lnSpc>
              <a:buFont typeface="Wingdings" panose="05000000000000000000" pitchFamily="2" charset="2"/>
              <a:buChar char="§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non sono consentiti né l’</a:t>
            </a:r>
            <a:r>
              <a:rPr lang="it-IT" sz="2200" b="1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tooltip="Dizionario Giuridico: Arresto in flagranz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arresto in flagranza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né il </a:t>
            </a:r>
            <a:r>
              <a:rPr lang="it-IT" sz="2200" b="1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 tooltip="Dizionario Giuridico: Ferm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fermo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85800" algn="just">
              <a:lnSpc>
                <a:spcPts val="2100"/>
              </a:lnSpc>
              <a:buFont typeface="Wingdings" panose="05000000000000000000" pitchFamily="2" charset="2"/>
              <a:buChar char="§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 consentita l’applicazione della </a:t>
            </a:r>
            <a:r>
              <a:rPr lang="it-I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misura interdittiva della sospensione dall’esercizio di un pubblico ufficio o servizio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(comma 2 dell’</a:t>
            </a:r>
            <a:r>
              <a:rPr lang="it-IT" sz="2200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 tooltip="Sospensione dall'esercizio di un pubblico ufficio o serviz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art. 289 del c.p.p.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 è esclusa l’applicazione della </a:t>
            </a:r>
            <a:r>
              <a:rPr lang="it-IT" sz="2200" b="1" u="sng" dirty="0">
                <a:solidFill>
                  <a:srgbClr val="18302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tooltip="Dizionario Giuridico: Custodia cautelare in carce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custodia cautelare in carcere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54000" algn="just">
              <a:lnSpc>
                <a:spcPts val="2100"/>
              </a:lnSpc>
            </a:pPr>
            <a:endParaRPr lang="it-IT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3168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99DE1F-D692-4A44-9205-50B89683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D9A94A-0825-4F94-802F-22AF7740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tratta di 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REATO PROPRIO E DI EVENTO;</a:t>
            </a:r>
          </a:p>
          <a:p>
            <a:pPr marL="0" indent="0">
              <a:buNone/>
            </a:pP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ELEMENTO OGGETTIVO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</a:t>
            </a:r>
            <a:r>
              <a:rPr lang="it-IT" sz="1800" b="1" dirty="0">
                <a:latin typeface="Tahoma" panose="020B0604030504040204" pitchFamily="34" charset="0"/>
              </a:rPr>
              <a:t>mprimere</a:t>
            </a:r>
            <a:r>
              <a:rPr lang="it-IT" sz="1800" dirty="0">
                <a:latin typeface="Tahoma" panose="020B0604030504040204" pitchFamily="34" charset="0"/>
              </a:rPr>
              <a:t> al denaro o alla cosa mobile altrui una </a:t>
            </a:r>
            <a:r>
              <a:rPr lang="it-IT" sz="1800" b="1" dirty="0">
                <a:latin typeface="Tahoma" panose="020B0604030504040204" pitchFamily="34" charset="0"/>
              </a:rPr>
              <a:t>destinazione diversa da quella predeterminata da specifiche disposizioni di legge o da atti aventi forza di legge e dai quali non residuino margini di discrezionalità;</a:t>
            </a:r>
          </a:p>
          <a:p>
            <a:pPr marL="0" indent="0">
              <a:buNone/>
            </a:pPr>
            <a:endParaRPr lang="it-IT" sz="1800" b="1" dirty="0">
              <a:latin typeface="Tahoma" panose="020B0604030504040204" pitchFamily="34" charset="0"/>
            </a:endParaRPr>
          </a:p>
          <a:p>
            <a:r>
              <a:rPr lang="it-IT" sz="1800" b="1" dirty="0">
                <a:latin typeface="Tahoma" panose="020B0604030504040204" pitchFamily="34" charset="0"/>
                <a:cs typeface="Times New Roman" panose="02020603050405020304" pitchFamily="18" charset="0"/>
              </a:rPr>
              <a:t>PRESUPPOSTI: </a:t>
            </a:r>
            <a:r>
              <a:rPr lang="it-IT" sz="1800" b="1" dirty="0">
                <a:latin typeface="Tahoma" panose="020B0604030504040204" pitchFamily="34" charset="0"/>
              </a:rPr>
              <a:t>possesso o la disponibilità</a:t>
            </a:r>
            <a:r>
              <a:rPr lang="it-IT" sz="1800" dirty="0">
                <a:latin typeface="Tahoma" panose="020B0604030504040204" pitchFamily="34" charset="0"/>
              </a:rPr>
              <a:t> di denaro o di altra cosa mobile altrui; </a:t>
            </a:r>
            <a:r>
              <a:rPr lang="it-IT" sz="1800" b="1" dirty="0">
                <a:latin typeface="Tahoma" panose="020B0604030504040204" pitchFamily="34" charset="0"/>
              </a:rPr>
              <a:t>ragione d’ufficio o servizio</a:t>
            </a:r>
            <a:r>
              <a:rPr lang="it-IT" sz="1800" dirty="0">
                <a:latin typeface="Tahoma" panose="020B0604030504040204" pitchFamily="34" charset="0"/>
              </a:rPr>
              <a:t> del possesso o disponibilità del bene oggetto del reato; l’</a:t>
            </a:r>
            <a:r>
              <a:rPr lang="it-IT" sz="1800" b="1" dirty="0" err="1">
                <a:latin typeface="Tahoma" panose="020B0604030504040204" pitchFamily="34" charset="0"/>
              </a:rPr>
              <a:t>altruità</a:t>
            </a:r>
            <a:r>
              <a:rPr lang="it-IT" sz="1800" b="1" dirty="0">
                <a:latin typeface="Tahoma" panose="020B0604030504040204" pitchFamily="34" charset="0"/>
              </a:rPr>
              <a:t> della cosa </a:t>
            </a:r>
            <a:r>
              <a:rPr lang="it-IT" sz="1800" dirty="0">
                <a:latin typeface="Tahoma" panose="020B0604030504040204" pitchFamily="34" charset="0"/>
              </a:rPr>
              <a:t>oggetto del reato. </a:t>
            </a:r>
          </a:p>
          <a:p>
            <a:pPr marL="0" indent="0">
              <a:buNone/>
            </a:pPr>
            <a:endParaRPr lang="it-IT" sz="1800" dirty="0">
              <a:latin typeface="Tahoma" panose="020B0604030504040204" pitchFamily="34" charset="0"/>
            </a:endParaRPr>
          </a:p>
          <a:p>
            <a:r>
              <a:rPr lang="it-IT" sz="1800" b="1" dirty="0">
                <a:latin typeface="Tahoma" panose="020B0604030504040204" pitchFamily="34" charset="0"/>
                <a:cs typeface="Times New Roman" panose="02020603050405020304" pitchFamily="18" charset="0"/>
              </a:rPr>
              <a:t>ELEMENTO SOGGETTIVO: dolo intenzionale.</a:t>
            </a: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06366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ttangolo 4"/>
          <p:cNvSpPr txBox="1"/>
          <p:nvPr/>
        </p:nvSpPr>
        <p:spPr>
          <a:xfrm>
            <a:off x="182570" y="912032"/>
            <a:ext cx="8736198" cy="210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317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Concussione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lang="it-IT" i="1" dirty="0"/>
              <a:t>Il pubblico ufficiale o l’incaricato di un pubblico servizio che, </a:t>
            </a:r>
            <a:r>
              <a:rPr lang="it-IT" u="sng" dirty="0">
                <a:solidFill>
                  <a:srgbClr val="FF0000"/>
                </a:solidFill>
              </a:rPr>
              <a:t>abusando della sua qualità </a:t>
            </a:r>
            <a:r>
              <a:rPr lang="it-IT" i="1" dirty="0"/>
              <a:t>o </a:t>
            </a:r>
            <a:r>
              <a:rPr lang="it-IT" i="1" u="sng" dirty="0">
                <a:solidFill>
                  <a:srgbClr val="FF0000"/>
                </a:solidFill>
              </a:rPr>
              <a:t>dei suoi poteri</a:t>
            </a:r>
            <a:r>
              <a:rPr lang="it-IT" i="1" dirty="0"/>
              <a:t>, </a:t>
            </a:r>
            <a:r>
              <a:rPr lang="it-IT" i="1" u="sng" dirty="0">
                <a:solidFill>
                  <a:srgbClr val="00B0F0"/>
                </a:solidFill>
              </a:rPr>
              <a:t>costringe</a:t>
            </a:r>
            <a:r>
              <a:rPr lang="it-IT" i="1" dirty="0"/>
              <a:t> taluno </a:t>
            </a:r>
            <a:r>
              <a:rPr lang="it-IT" i="1" dirty="0">
                <a:solidFill>
                  <a:srgbClr val="C00000"/>
                </a:solidFill>
              </a:rPr>
              <a:t>a dare o a promettere indebitamente</a:t>
            </a:r>
            <a:r>
              <a:rPr lang="it-IT" i="1" dirty="0"/>
              <a:t>, a lui o ad un terzo, </a:t>
            </a:r>
            <a:r>
              <a:rPr lang="it-IT" i="1" dirty="0">
                <a:solidFill>
                  <a:srgbClr val="C00000"/>
                </a:solidFill>
              </a:rPr>
              <a:t>denaro od altra utilità</a:t>
            </a:r>
            <a:r>
              <a:rPr lang="it-IT" i="1" dirty="0"/>
              <a:t>, è punito con la reclusione da sei a dodici anni</a:t>
            </a:r>
            <a:r>
              <a:rPr lang="it-IT" dirty="0"/>
              <a:t>».</a:t>
            </a:r>
            <a:endParaRPr dirty="0"/>
          </a:p>
        </p:txBody>
      </p:sp>
      <p:pic>
        <p:nvPicPr>
          <p:cNvPr id="26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Rettangolo 5"/>
          <p:cNvSpPr txBox="1"/>
          <p:nvPr/>
        </p:nvSpPr>
        <p:spPr>
          <a:xfrm>
            <a:off x="2388093" y="3559946"/>
            <a:ext cx="54065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lang="it-IT" b="0" u="none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/>
              <a:t>Competenza Tribunale collegiale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/>
              <a:t>Arresto facoltativo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/>
              <a:t>Fermo consentito 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/>
              <a:t>Procedibilità d’ufficio</a:t>
            </a:r>
          </a:p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/>
          </a:p>
        </p:txBody>
      </p:sp>
      <p:sp>
        <p:nvSpPr>
          <p:cNvPr id="26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ttangolo 4"/>
          <p:cNvSpPr txBox="1"/>
          <p:nvPr/>
        </p:nvSpPr>
        <p:spPr>
          <a:xfrm>
            <a:off x="421116" y="1844824"/>
            <a:ext cx="8405505" cy="448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26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DBC1321-2C53-478F-AB5C-33E5E9CA5E02}"/>
              </a:ext>
            </a:extLst>
          </p:cNvPr>
          <p:cNvSpPr/>
          <p:nvPr/>
        </p:nvSpPr>
        <p:spPr>
          <a:xfrm>
            <a:off x="628051" y="1970235"/>
            <a:ext cx="7887898" cy="2917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Fino al 2012, la norma in esame contemplava due diverse fattispecie di concussione: </a:t>
            </a:r>
            <a:r>
              <a:rPr lang="it-IT" u="sng" dirty="0">
                <a:solidFill>
                  <a:srgbClr val="00B050"/>
                </a:solidFill>
              </a:rPr>
              <a:t>per costrizione </a:t>
            </a:r>
            <a:r>
              <a:rPr lang="it-IT" dirty="0"/>
              <a:t>e </a:t>
            </a:r>
            <a:r>
              <a:rPr lang="it-IT" u="sng" dirty="0">
                <a:solidFill>
                  <a:schemeClr val="accent2"/>
                </a:solidFill>
              </a:rPr>
              <a:t>per induzione</a:t>
            </a:r>
            <a:r>
              <a:rPr lang="it-IT"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L'art. 1 della L. 6 novembre 2012, n.190 (Legge Severino) ha eliminato il riferimento all'induzione, ora disciplinata </a:t>
            </a:r>
            <a:r>
              <a:rPr lang="it-IT" i="1" dirty="0"/>
              <a:t>ex</a:t>
            </a:r>
            <a:r>
              <a:rPr lang="it-IT" dirty="0"/>
              <a:t> art. 319 </a:t>
            </a:r>
            <a:r>
              <a:rPr lang="it-IT" i="1" dirty="0"/>
              <a:t>quater (induzione indebita)</a:t>
            </a:r>
            <a:r>
              <a:rPr lang="it-IT"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Nell’ambito dell’art. 317 rimane dunque disciplinata la sola </a:t>
            </a:r>
            <a:r>
              <a:rPr lang="it-IT" dirty="0">
                <a:solidFill>
                  <a:srgbClr val="C00000"/>
                </a:solidFill>
              </a:rPr>
              <a:t>concussione “costrittiva”.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ttangolo 4"/>
          <p:cNvSpPr txBox="1"/>
          <p:nvPr/>
        </p:nvSpPr>
        <p:spPr>
          <a:xfrm>
            <a:off x="114144" y="752233"/>
            <a:ext cx="8915711" cy="6147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lang="it-IT" dirty="0"/>
              <a:t>tratta</a:t>
            </a:r>
            <a:r>
              <a:rPr dirty="0"/>
              <a:t> di un </a:t>
            </a:r>
            <a:r>
              <a:rPr b="1" dirty="0">
                <a:solidFill>
                  <a:srgbClr val="C00000"/>
                </a:solidFill>
              </a:rPr>
              <a:t>REATO PROPRIO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</a:t>
            </a:r>
            <a:endParaRPr lang="it-IT"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0" dirty="0"/>
              <a:t>LA CONDOTTA: consiste nel </a:t>
            </a:r>
            <a:r>
              <a:rPr lang="it-IT" dirty="0">
                <a:solidFill>
                  <a:srgbClr val="C00000"/>
                </a:solidFill>
              </a:rPr>
              <a:t>costringere </a:t>
            </a:r>
            <a:r>
              <a:rPr lang="it-IT" b="0" dirty="0"/>
              <a:t>taluno a </a:t>
            </a:r>
            <a:r>
              <a:rPr lang="it-IT" dirty="0">
                <a:solidFill>
                  <a:srgbClr val="C00000"/>
                </a:solidFill>
              </a:rPr>
              <a:t>dare o promettere indebitamente </a:t>
            </a:r>
            <a:r>
              <a:rPr lang="it-IT" b="0" dirty="0"/>
              <a:t>denaro o altra utilità per sé o per altri mediante l’</a:t>
            </a:r>
            <a:r>
              <a:rPr lang="it-IT" dirty="0">
                <a:solidFill>
                  <a:srgbClr val="C00000"/>
                </a:solidFill>
              </a:rPr>
              <a:t>abuso della propria qualità o dei propri poteri</a:t>
            </a:r>
            <a:r>
              <a:rPr lang="it-IT" b="0"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 dirty="0"/>
              <a:t>Occorre, dunque, un </a:t>
            </a:r>
            <a:r>
              <a:rPr lang="it-IT" sz="1800" u="sng" dirty="0"/>
              <a:t>abuso</a:t>
            </a:r>
            <a:r>
              <a:rPr lang="it-IT" sz="1800" dirty="0"/>
              <a:t> che può essere: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Della sua qualità</a:t>
            </a:r>
            <a:r>
              <a:rPr lang="it-IT" b="0" dirty="0"/>
              <a:t>: il </a:t>
            </a:r>
            <a:r>
              <a:rPr lang="it-IT" b="0" dirty="0" err="1"/>
              <a:t>p.u</a:t>
            </a:r>
            <a:r>
              <a:rPr lang="it-IT" b="0" dirty="0"/>
              <a:t>. fa valere la propria </a:t>
            </a:r>
            <a:r>
              <a:rPr lang="it-IT" b="0" u="sng" dirty="0"/>
              <a:t>posizione/ruolo </a:t>
            </a:r>
            <a:r>
              <a:rPr lang="it-IT" b="0" dirty="0"/>
              <a:t>che ha assunto nell’ambito dell’organizzazione amministrativa, strumentalizzandola al fine di ottenere denaro o altra utilità.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Del suo potere</a:t>
            </a:r>
            <a:r>
              <a:rPr lang="it-IT" b="0" dirty="0"/>
              <a:t>: il </a:t>
            </a:r>
            <a:r>
              <a:rPr lang="it-IT" b="0" dirty="0" err="1"/>
              <a:t>p.u</a:t>
            </a:r>
            <a:r>
              <a:rPr lang="it-IT" b="0" dirty="0"/>
              <a:t>. utilizza in maniera distorta le </a:t>
            </a:r>
            <a:r>
              <a:rPr lang="it-IT" b="0" u="sng" dirty="0"/>
              <a:t>attribuzioni</a:t>
            </a:r>
            <a:r>
              <a:rPr lang="it-IT" b="0" dirty="0"/>
              <a:t> dell'ufficio ossia il suo potere. </a:t>
            </a:r>
            <a:r>
              <a:rPr lang="it-IT" sz="1600" b="0" i="1" dirty="0"/>
              <a:t>Es. mancato compimento di un atto o nell’adozione di un provvedimento diverso da quello previsto.</a:t>
            </a:r>
            <a:endParaRPr lang="it-IT" b="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u="sng" dirty="0">
                <a:solidFill>
                  <a:srgbClr val="00B050"/>
                </a:solidFill>
              </a:rPr>
              <a:t>COSTRIZIONE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/>
              <a:t>-Il soggetto deve quindi obbligare taluno con </a:t>
            </a:r>
            <a:r>
              <a:rPr lang="it-IT" u="sng" dirty="0">
                <a:solidFill>
                  <a:srgbClr val="FF0000"/>
                </a:solidFill>
              </a:rPr>
              <a:t>violenza</a:t>
            </a:r>
            <a:r>
              <a:rPr lang="it-IT" u="sng" dirty="0"/>
              <a:t> o </a:t>
            </a:r>
            <a:r>
              <a:rPr lang="it-IT" u="sng" dirty="0">
                <a:solidFill>
                  <a:srgbClr val="FF0000"/>
                </a:solidFill>
              </a:rPr>
              <a:t>minaccia</a:t>
            </a:r>
            <a:r>
              <a:rPr lang="it-IT" dirty="0"/>
              <a:t> a compiere un'azione che diversamente non avrebbe compiuto, ponendolo così in una posizione di assoggettamento.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</p:txBody>
      </p:sp>
      <p:pic>
        <p:nvPicPr>
          <p:cNvPr id="27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ttangolo 4"/>
          <p:cNvSpPr txBox="1"/>
          <p:nvPr/>
        </p:nvSpPr>
        <p:spPr>
          <a:xfrm>
            <a:off x="182570" y="912032"/>
            <a:ext cx="8736198" cy="578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sz="1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u="sng" dirty="0">
                <a:solidFill>
                  <a:srgbClr val="C00000"/>
                </a:solidFill>
              </a:rPr>
              <a:t>REATO A CONSUAMZIONE FRAZIONATA</a:t>
            </a:r>
            <a:endParaRPr lang="it-IT" sz="2000" u="sng" dirty="0"/>
          </a:p>
          <a:p>
            <a:pPr algn="just">
              <a:spcBef>
                <a:spcPts val="600"/>
              </a:spcBef>
              <a:defRPr sz="1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/>
              <a:t>Il reato si consuma nel momento in cui </a:t>
            </a:r>
            <a:r>
              <a:rPr lang="it-IT" sz="2000" dirty="0">
                <a:solidFill>
                  <a:srgbClr val="C00000"/>
                </a:solidFill>
              </a:rPr>
              <a:t>ha luogo la dazione o la promessa </a:t>
            </a:r>
            <a:r>
              <a:rPr lang="it-IT" sz="2000" dirty="0"/>
              <a:t>(a duplice schema). Se la promessa e la dazione si susseguono, il momento consumativo si cristallizza nell’ultimo atto. Pertanto, il reato è perfetto e consumato già nel momento della promessa, ma le successive dazioni di denaro spostano in avanti la consumazione </a:t>
            </a:r>
            <a:r>
              <a:rPr lang="it-IT" sz="2000" b="0" dirty="0">
                <a:sym typeface="Times New Roman"/>
              </a:rPr>
              <a:t> con vari effetti, quali il decorso posticipato del </a:t>
            </a:r>
            <a:r>
              <a:rPr lang="it-IT" sz="2000" b="0" u="sng" dirty="0">
                <a:sym typeface="Times New Roman"/>
              </a:rPr>
              <a:t>termine di prescrizione</a:t>
            </a:r>
            <a:r>
              <a:rPr lang="it-IT" sz="2000" b="0" dirty="0">
                <a:sym typeface="Times New Roman"/>
              </a:rPr>
              <a:t> del reato.</a:t>
            </a:r>
            <a:endParaRPr lang="it-IT" sz="2000" dirty="0">
              <a:solidFill>
                <a:srgbClr val="C00000"/>
              </a:solidFill>
            </a:endParaRPr>
          </a:p>
          <a:p>
            <a:pPr algn="just">
              <a:spcBef>
                <a:spcPts val="600"/>
              </a:spcBef>
              <a:defRPr sz="1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1" dirty="0">
              <a:solidFill>
                <a:srgbClr val="C00000"/>
              </a:solidFill>
            </a:endParaRPr>
          </a:p>
          <a:p>
            <a:pPr algn="just">
              <a:spcBef>
                <a:spcPts val="600"/>
              </a:spcBef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La dazione o la promessa devono:</a:t>
            </a:r>
          </a:p>
          <a:p>
            <a:pPr marL="342900" indent="-342900" algn="just">
              <a:spcBef>
                <a:spcPts val="600"/>
              </a:spcBef>
              <a:buSzPct val="100000"/>
              <a:buChar char="-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essere </a:t>
            </a:r>
            <a:r>
              <a:rPr lang="it-IT" dirty="0">
                <a:solidFill>
                  <a:srgbClr val="C00000"/>
                </a:solidFill>
              </a:rPr>
              <a:t>indebita</a:t>
            </a:r>
            <a:r>
              <a:rPr lang="it-IT" dirty="0"/>
              <a:t>, ossia non dovuta in tutto o in parte, per legge o per consuetudine, né al pubblico ufficiale o incaricato di pubblico servizio né alla Pubblica Amministrazione.</a:t>
            </a:r>
          </a:p>
          <a:p>
            <a:pPr marL="342900" indent="-342900" algn="just">
              <a:spcBef>
                <a:spcPts val="600"/>
              </a:spcBef>
              <a:buSzPct val="100000"/>
              <a:buChar char="-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marL="342900" indent="-342900" algn="just">
              <a:spcBef>
                <a:spcPts val="600"/>
              </a:spcBef>
              <a:buSzPct val="100000"/>
              <a:buFontTx/>
              <a:buChar char="-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avere ad oggetto il </a:t>
            </a:r>
            <a:r>
              <a:rPr lang="it-IT" dirty="0">
                <a:solidFill>
                  <a:srgbClr val="C00000"/>
                </a:solidFill>
              </a:rPr>
              <a:t>denaro</a:t>
            </a:r>
            <a:r>
              <a:rPr lang="it-IT" dirty="0"/>
              <a:t> o </a:t>
            </a:r>
            <a:r>
              <a:rPr lang="it-IT" dirty="0">
                <a:solidFill>
                  <a:srgbClr val="C00000"/>
                </a:solidFill>
              </a:rPr>
              <a:t>altra utilità. </a:t>
            </a:r>
            <a:r>
              <a:rPr lang="it-IT" dirty="0"/>
              <a:t>In merito al concetto di </a:t>
            </a:r>
            <a:r>
              <a:rPr lang="it-IT" dirty="0">
                <a:solidFill>
                  <a:srgbClr val="C00000"/>
                </a:solidFill>
              </a:rPr>
              <a:t>altra utilità</a:t>
            </a:r>
            <a:r>
              <a:rPr lang="it-IT" dirty="0"/>
              <a:t>, </a:t>
            </a:r>
            <a:r>
              <a:rPr lang="it-IT" sz="21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indica tutto ciò che rappresenta un vantaggio per la persona, morale o materiale, patrimoniale e non patrimoniale, oggettivamente apprezzabile, consistente tanto in un dare quanto in un </a:t>
            </a:r>
            <a:r>
              <a:rPr lang="it-IT" sz="2100" i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facere</a:t>
            </a:r>
            <a:r>
              <a:rPr lang="it-IT" sz="21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. </a:t>
            </a:r>
            <a:endParaRPr sz="2100" b="1" dirty="0">
              <a:solidFill>
                <a:srgbClr val="C00000"/>
              </a:solidFill>
            </a:endParaRPr>
          </a:p>
        </p:txBody>
      </p:sp>
      <p:pic>
        <p:nvPicPr>
          <p:cNvPr id="27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ttangolo 4"/>
          <p:cNvSpPr txBox="1"/>
          <p:nvPr/>
        </p:nvSpPr>
        <p:spPr>
          <a:xfrm>
            <a:off x="182570" y="912032"/>
            <a:ext cx="8736198" cy="561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E’ </a:t>
            </a:r>
            <a:r>
              <a:rPr b="0" u="none" err="1"/>
              <a:t>sufficiente</a:t>
            </a:r>
            <a:r>
              <a:rPr b="0" u="none"/>
              <a:t> </a:t>
            </a:r>
            <a:r>
              <a:rPr b="0" u="none" err="1"/>
              <a:t>il</a:t>
            </a:r>
            <a:r>
              <a:rPr b="0" u="none"/>
              <a:t> </a:t>
            </a:r>
            <a:r>
              <a:rPr u="none">
                <a:solidFill>
                  <a:srgbClr val="C00000"/>
                </a:solidFill>
              </a:rPr>
              <a:t>DOLO GENERICO</a:t>
            </a:r>
            <a:r>
              <a:rPr b="0" u="none"/>
              <a:t>.</a:t>
            </a:r>
            <a:endParaRPr lang="it-IT"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1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/>
              <a:t>E’ un </a:t>
            </a:r>
            <a:r>
              <a:rPr lang="it-IT" sz="2400">
                <a:solidFill>
                  <a:srgbClr val="C00000"/>
                </a:solidFill>
              </a:rPr>
              <a:t>REATO PLURIOFFENSIVO </a:t>
            </a:r>
            <a:r>
              <a:rPr lang="it-IT" sz="2400"/>
              <a:t>in quanto l’obiettivo è sia tutelare l’interesse dell’Amministrazione di </a:t>
            </a:r>
            <a:r>
              <a:rPr lang="it-IT" sz="2400" u="sng"/>
              <a:t>imparzialità, correttezza e buona reputazione dei suoi pubblici funzionari</a:t>
            </a:r>
            <a:r>
              <a:rPr lang="it-IT" sz="2400"/>
              <a:t>, sia impedire </a:t>
            </a:r>
            <a:r>
              <a:rPr lang="it-IT" sz="2400" u="sng"/>
              <a:t>che gli estranei subiscano delle sopraffazioni e</a:t>
            </a:r>
            <a:r>
              <a:rPr lang="it-IT" sz="2400"/>
              <a:t>, in generale, danni per gli abusi di potere dei funzionari medesimi.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1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N.B. DIFFERENZA TRA CONCUSSIONE E TRUFFA AGGRAVATA:</a:t>
            </a:r>
            <a:endParaRPr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/>
              <a:t>-Nella concussione la vittima sa di non essere tenuta a dare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/>
              <a:t>-Nella truffa aggravata, invece, è convinta di dover dare per effetto dell’errore in cui è stata indotta dal Pubblico Ufficiale.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8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ttangolo 4"/>
          <p:cNvSpPr txBox="1"/>
          <p:nvPr/>
        </p:nvSpPr>
        <p:spPr>
          <a:xfrm>
            <a:off x="182570" y="912031"/>
            <a:ext cx="8736198" cy="4605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319 </a:t>
            </a:r>
            <a:r>
              <a:rPr i="1" dirty="0" err="1">
                <a:solidFill>
                  <a:srgbClr val="FF0000"/>
                </a:solidFill>
              </a:rPr>
              <a:t>quater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Induzione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indebita</a:t>
            </a:r>
            <a:endParaRPr lang="it-IT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«</a:t>
            </a:r>
            <a:r>
              <a:rPr lang="it-IT" i="1" dirty="0"/>
              <a:t>Salvo che il fatto costituisca più grave reato, il pubblico ufficiale o l'incaricato di pubblico servizio che, abusando della sua qualità o dei suoi poteri, </a:t>
            </a:r>
            <a:r>
              <a:rPr lang="it-IT" i="1" u="sng" dirty="0">
                <a:solidFill>
                  <a:srgbClr val="FF0000"/>
                </a:solidFill>
              </a:rPr>
              <a:t>induce</a:t>
            </a:r>
            <a:r>
              <a:rPr lang="it-IT" i="1" dirty="0"/>
              <a:t> taluno </a:t>
            </a:r>
            <a:r>
              <a:rPr lang="it-IT" i="1" dirty="0">
                <a:solidFill>
                  <a:srgbClr val="E46C0A"/>
                </a:solidFill>
              </a:rPr>
              <a:t>a dare o a promettere indebitamente</a:t>
            </a:r>
            <a:r>
              <a:rPr lang="it-IT" i="1" dirty="0"/>
              <a:t>, a lui o a un terzo, denaro o altra utilità è punito con la reclusione da sei anni a dieci anni e sei mesi.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Nei casi previsti dal primo comma, chi </a:t>
            </a:r>
            <a:r>
              <a:rPr lang="it-IT" dirty="0">
                <a:solidFill>
                  <a:srgbClr val="E46C0A"/>
                </a:solidFill>
              </a:rPr>
              <a:t>dà o promette denaro o altra utilità </a:t>
            </a:r>
            <a:r>
              <a:rPr lang="it-IT" dirty="0"/>
              <a:t>è punito con la reclusione fino a tre anni ovvero con la reclusione fino a 4 anni quando il fatto offende gli interessi finanziari dell’Ue e il danno o il profitto sono superiori a euro 100.000».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28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Rettangolo 5"/>
          <p:cNvSpPr txBox="1"/>
          <p:nvPr/>
        </p:nvSpPr>
        <p:spPr>
          <a:xfrm>
            <a:off x="1459712" y="5046836"/>
            <a:ext cx="7325384" cy="159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b="0" u="none" dirty="0"/>
              <a:t>:</a:t>
            </a:r>
            <a:endParaRPr b="0" dirty="0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collegiale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(comma 1), non </a:t>
            </a:r>
            <a:r>
              <a:rPr dirty="0" err="1"/>
              <a:t>consentito</a:t>
            </a:r>
            <a:r>
              <a:rPr dirty="0"/>
              <a:t> (comma 2)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Fermo </a:t>
            </a:r>
            <a:r>
              <a:rPr dirty="0" err="1"/>
              <a:t>consentito</a:t>
            </a:r>
            <a:r>
              <a:rPr dirty="0"/>
              <a:t> (comma 1), non </a:t>
            </a:r>
            <a:r>
              <a:rPr dirty="0" err="1"/>
              <a:t>consentito</a:t>
            </a:r>
            <a:r>
              <a:rPr dirty="0"/>
              <a:t> (comma 2)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28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Induzione indebita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err="1"/>
              <a:t>Induzione</a:t>
            </a:r>
            <a:r>
              <a:t> </a:t>
            </a:r>
            <a:r>
              <a:rPr err="1"/>
              <a:t>indebita</a:t>
            </a:r>
            <a:endParaRPr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2F919A-D9C7-7306-4178-30DE533E471C}"/>
              </a:ext>
            </a:extLst>
          </p:cNvPr>
          <p:cNvSpPr txBox="1"/>
          <p:nvPr/>
        </p:nvSpPr>
        <p:spPr>
          <a:xfrm>
            <a:off x="193403" y="1040396"/>
            <a:ext cx="8757194" cy="53878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 dirty="0"/>
              <a:t>ELEMENTO OGGETTIVO del comma 1</a:t>
            </a:r>
            <a:r>
              <a:rPr lang="it-IT" sz="2400" b="0" u="none" dirty="0"/>
              <a:t>: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600" b="0" u="none" dirty="0"/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 dirty="0"/>
              <a:t>la CONDOTTA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 b="0" dirty="0"/>
              <a:t>è </a:t>
            </a:r>
            <a:r>
              <a:rPr lang="it-IT" sz="2400" b="0" dirty="0">
                <a:solidFill>
                  <a:srgbClr val="FF0000"/>
                </a:solidFill>
              </a:rPr>
              <a:t>l’induzione </a:t>
            </a:r>
            <a:r>
              <a:rPr lang="it-IT" sz="2400" dirty="0">
                <a:solidFill>
                  <a:srgbClr val="FF0000"/>
                </a:solidFill>
              </a:rPr>
              <a:t>(soggetto pubblico)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1600" b="0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dirty="0">
                <a:solidFill>
                  <a:srgbClr val="FF0000"/>
                </a:solidFill>
              </a:rPr>
              <a:t>Induzione: </a:t>
            </a:r>
            <a:r>
              <a:rPr lang="it-IT" sz="2200" b="0" dirty="0"/>
              <a:t>attività di </a:t>
            </a:r>
            <a:r>
              <a:rPr lang="it-IT" sz="2200" dirty="0"/>
              <a:t>persuasione</a:t>
            </a:r>
            <a:r>
              <a:rPr lang="it-IT" sz="2200" b="0" dirty="0"/>
              <a:t>, </a:t>
            </a:r>
            <a:r>
              <a:rPr lang="it-IT" sz="2200" dirty="0"/>
              <a:t>convinzione</a:t>
            </a:r>
            <a:r>
              <a:rPr lang="it-IT" sz="2200" b="0" dirty="0"/>
              <a:t> o </a:t>
            </a:r>
            <a:r>
              <a:rPr lang="it-IT" sz="2200" dirty="0"/>
              <a:t>suggestione</a:t>
            </a:r>
            <a:r>
              <a:rPr lang="it-IT" sz="2200" b="0" dirty="0"/>
              <a:t>, attuata in qualsiasi forma </a:t>
            </a:r>
            <a:r>
              <a:rPr lang="it-IT" sz="2200" b="0" dirty="0" err="1"/>
              <a:t>purchè</a:t>
            </a:r>
            <a:r>
              <a:rPr lang="it-IT" sz="2200" b="0" dirty="0"/>
              <a:t> sufficiente ad influire sulla volontà del soggetto passivo.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dirty="0"/>
              <a:t>Il reato del c.1 è un </a:t>
            </a:r>
            <a:r>
              <a:rPr lang="it-IT" sz="2200" dirty="0">
                <a:solidFill>
                  <a:srgbClr val="00B050"/>
                </a:solidFill>
              </a:rPr>
              <a:t>REATO PROPRIO</a:t>
            </a:r>
            <a:endParaRPr lang="it-IT" sz="2200" b="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ttangolo 4"/>
          <p:cNvSpPr txBox="1"/>
          <p:nvPr/>
        </p:nvSpPr>
        <p:spPr>
          <a:xfrm>
            <a:off x="182570" y="912031"/>
            <a:ext cx="8736198" cy="399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800"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800"/>
              <a:t>Con la riforma del 2012 viene dunque introdotta </a:t>
            </a:r>
            <a:r>
              <a:rPr lang="it-IT" sz="2800" b="1" u="sng">
                <a:solidFill>
                  <a:srgbClr val="FF0000"/>
                </a:solidFill>
              </a:rPr>
              <a:t>la punibilità del soggetto privato </a:t>
            </a:r>
            <a:r>
              <a:rPr lang="it-IT" sz="2800"/>
              <a:t>che è indotto alla dazione o alla promessa di denaro o altra utilità. In precedenza infatti, al pari del "concusso mediante costrizione", il "concusso mediante induzione" non era punibile, mentre ora invece è considerato </a:t>
            </a:r>
            <a:r>
              <a:rPr lang="it-IT" sz="2800" b="1"/>
              <a:t>concorrente necessario del reato</a:t>
            </a:r>
            <a:r>
              <a:rPr lang="it-IT" sz="2800"/>
              <a:t>.</a:t>
            </a:r>
          </a:p>
        </p:txBody>
      </p:sp>
      <p:pic>
        <p:nvPicPr>
          <p:cNvPr id="29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err="1"/>
              <a:t>Induzione</a:t>
            </a:r>
            <a:r>
              <a:t> </a:t>
            </a:r>
            <a:r>
              <a:rPr err="1"/>
              <a:t>indebita</a:t>
            </a:r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C341FF-1792-4F54-A100-7B6D8DE0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6"/>
            <a:ext cx="4487662" cy="1143001"/>
          </a:xfrm>
        </p:spPr>
        <p:txBody>
          <a:bodyPr>
            <a:normAutofit fontScale="90000"/>
          </a:bodyPr>
          <a:lstStyle/>
          <a:p>
            <a:r>
              <a:rPr lang="it-IT">
                <a:solidFill>
                  <a:schemeClr val="bg1"/>
                </a:solidFill>
              </a:rPr>
              <a:t>Induzione indebita</a:t>
            </a:r>
            <a:br>
              <a:rPr lang="it-IT">
                <a:solidFill>
                  <a:schemeClr val="bg1"/>
                </a:solidFill>
              </a:rPr>
            </a:br>
            <a:endParaRPr lang="it-IT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53541D-8783-465C-8BF2-04649F2D0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09710"/>
            <a:ext cx="8229600" cy="5016454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/>
              <a:t>ELEMENTO OGGETTIVO del comma 2</a:t>
            </a:r>
            <a:r>
              <a:rPr lang="it-IT" dirty="0"/>
              <a:t>: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>
                <a:solidFill>
                  <a:srgbClr val="FF0000"/>
                </a:solidFill>
              </a:rPr>
              <a:t>dare</a:t>
            </a:r>
            <a:r>
              <a:rPr lang="it-IT" dirty="0"/>
              <a:t> o </a:t>
            </a:r>
            <a:r>
              <a:rPr lang="it-IT" dirty="0">
                <a:solidFill>
                  <a:srgbClr val="FF0000"/>
                </a:solidFill>
              </a:rPr>
              <a:t>promettere</a:t>
            </a:r>
            <a:r>
              <a:rPr lang="it-IT" dirty="0"/>
              <a:t> denaro o altra utilità. </a:t>
            </a:r>
            <a:r>
              <a:rPr lang="it-IT" dirty="0">
                <a:solidFill>
                  <a:srgbClr val="FF0000"/>
                </a:solidFill>
              </a:rPr>
              <a:t>(REATO COMUNE)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FF0000"/>
              </a:solidFill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/>
              <a:t>ELEMENTO SOGGETTIVO (per entrami i commi): </a:t>
            </a:r>
            <a:r>
              <a:rPr lang="it-IT" dirty="0"/>
              <a:t>il </a:t>
            </a:r>
            <a:r>
              <a:rPr lang="it-IT" dirty="0">
                <a:solidFill>
                  <a:srgbClr val="FF0000"/>
                </a:solidFill>
              </a:rPr>
              <a:t>DOLO GENERICO.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ctr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CONCUSSIONE e INDUZIONE INDEBITA ≠ CORRUZIONE </a:t>
            </a:r>
          </a:p>
          <a:p>
            <a:pPr algn="ctr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poiché </a:t>
            </a:r>
            <a:r>
              <a:rPr lang="it-IT" b="1" dirty="0">
                <a:solidFill>
                  <a:srgbClr val="E46C0A"/>
                </a:solidFill>
              </a:rPr>
              <a:t>l’iniziativa è del pubblico ufficiale e non del privato</a:t>
            </a:r>
            <a:r>
              <a:rPr lang="it-IT" dirty="0"/>
              <a:t>. </a:t>
            </a:r>
          </a:p>
          <a:p>
            <a:endParaRPr lang="it-IT" dirty="0"/>
          </a:p>
        </p:txBody>
      </p:sp>
      <p:pic>
        <p:nvPicPr>
          <p:cNvPr id="4" name="Immagine 6" descr="Immagine 6">
            <a:extLst>
              <a:ext uri="{FF2B5EF4-FFF2-40B4-BE49-F238E27FC236}">
                <a16:creationId xmlns:a16="http://schemas.microsoft.com/office/drawing/2014/main" id="{CB2A3798-62CD-42C3-980C-46BA8F88B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265453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ttangolo 4"/>
          <p:cNvSpPr txBox="1"/>
          <p:nvPr/>
        </p:nvSpPr>
        <p:spPr>
          <a:xfrm>
            <a:off x="182570" y="912032"/>
            <a:ext cx="8736198" cy="5135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corruzione è disciplinata dal codice penale all’interno degli </a:t>
            </a:r>
            <a:r>
              <a:rPr b="1">
                <a:solidFill>
                  <a:srgbClr val="008000"/>
                </a:solidFill>
              </a:rPr>
              <a:t>artt. 318-322 c.p.</a:t>
            </a:r>
            <a:r>
              <a:t>. Il reato in oggetto può essere definito come un </a:t>
            </a:r>
            <a:r>
              <a:rPr b="1">
                <a:solidFill>
                  <a:srgbClr val="008000"/>
                </a:solidFill>
              </a:rPr>
              <a:t>particolare accordo </a:t>
            </a:r>
            <a:r>
              <a:t>(c.d. </a:t>
            </a:r>
            <a:r>
              <a:rPr i="1"/>
              <a:t>pactum sceleris</a:t>
            </a:r>
            <a:r>
              <a:t>) tra un </a:t>
            </a:r>
            <a:r>
              <a:rPr b="1"/>
              <a:t>funzionario pubblico ed un soggetto privato</a:t>
            </a:r>
            <a:r>
              <a:t>, mediante il quale viene </a:t>
            </a:r>
            <a:r>
              <a:rPr b="1"/>
              <a:t>promesso o dato un compenso non dovuto </a:t>
            </a:r>
            <a:r>
              <a:t>(o altra utilità) </a:t>
            </a:r>
            <a:r>
              <a:rPr b="1"/>
              <a:t>in cambio del compimento di un atto relativo alle proprie attribuzioni</a:t>
            </a:r>
            <a:r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b="1">
                <a:solidFill>
                  <a:srgbClr val="008000"/>
                </a:solidFill>
              </a:rPr>
              <a:t>CORRUZIONE</a:t>
            </a:r>
            <a:r>
              <a:t> può essere: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PROPRIA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rPr>
                <a:solidFill>
                  <a:srgbClr val="000000"/>
                </a:solidFill>
              </a:rPr>
              <a:t>per un atto contrario ai doveri d’ufficio</a:t>
            </a:r>
            <a:r>
              <a:rPr b="0">
                <a:solidFill>
                  <a:srgbClr val="000000"/>
                </a:solidFill>
              </a:rPr>
              <a:t>, cioè un atto che non si sarebbe dovuto porre in essere (</a:t>
            </a:r>
            <a:r>
              <a:rPr b="0" i="1">
                <a:solidFill>
                  <a:srgbClr val="000000"/>
                </a:solidFill>
              </a:rPr>
              <a:t>es. il PU rilascia l’autorizzazione edilizia a persona che non ha i requisiti previsti, dietro compenso</a:t>
            </a:r>
            <a:r>
              <a:rPr b="0">
                <a:solidFill>
                  <a:srgbClr val="000000"/>
                </a:solidFill>
              </a:rPr>
              <a:t>);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IMPROPRIA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rPr>
                <a:solidFill>
                  <a:srgbClr val="000000"/>
                </a:solidFill>
              </a:rPr>
              <a:t>per un atto che il pubblico ufficiale avrebbe comunque dovuto assumere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i="1">
                <a:solidFill>
                  <a:srgbClr val="000000"/>
                </a:solidFill>
              </a:rPr>
              <a:t>es. l’appalto sarebbe stato comunque vinto da quel concorrente ma il PU accelera i tempi di aggiudicazione</a:t>
            </a:r>
            <a:r>
              <a:rPr b="0">
                <a:solidFill>
                  <a:srgbClr val="000000"/>
                </a:solidFill>
              </a:rPr>
              <a:t>). </a:t>
            </a:r>
          </a:p>
        </p:txBody>
      </p:sp>
      <p:pic>
        <p:nvPicPr>
          <p:cNvPr id="29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9F57BA-37A2-4716-8F74-3E2D15C0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69" y="160336"/>
            <a:ext cx="3142694" cy="1143001"/>
          </a:xfrm>
        </p:spPr>
        <p:txBody>
          <a:bodyPr>
            <a:normAutofit fontScale="90000"/>
          </a:bodyPr>
          <a:lstStyle/>
          <a:p>
            <a:r>
              <a:rPr lang="it-IT">
                <a:solidFill>
                  <a:schemeClr val="bg1"/>
                </a:solidFill>
                <a:latin typeface="Book Antiqua" panose="02040602050305030304" pitchFamily="18" charset="0"/>
              </a:rPr>
              <a:t>Corruzione</a:t>
            </a:r>
            <a:br>
              <a:rPr lang="it-IT"/>
            </a:b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633BEF-B27D-4B36-A591-ED13E3C3E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/>
              <a:t>Ne esistono </a:t>
            </a:r>
            <a:r>
              <a:rPr lang="it-IT" b="1" u="sng">
                <a:solidFill>
                  <a:srgbClr val="FF0000"/>
                </a:solidFill>
              </a:rPr>
              <a:t>DUE FORME </a:t>
            </a:r>
            <a:r>
              <a:rPr lang="it-IT"/>
              <a:t>diverse: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>
                <a:solidFill>
                  <a:srgbClr val="FF0000"/>
                </a:solidFill>
              </a:rPr>
              <a:t>corruzione antecedente: </a:t>
            </a:r>
            <a:r>
              <a:rPr lang="it-IT">
                <a:solidFill>
                  <a:schemeClr val="tx1"/>
                </a:solidFill>
              </a:rPr>
              <a:t>il pubblico ufficiale che, </a:t>
            </a:r>
            <a:r>
              <a:rPr lang="it-IT" u="sng">
                <a:solidFill>
                  <a:schemeClr val="tx1"/>
                </a:solidFill>
              </a:rPr>
              <a:t>per compiere un atto del suo ufficio o contrario</a:t>
            </a:r>
            <a:r>
              <a:rPr lang="it-IT">
                <a:solidFill>
                  <a:schemeClr val="tx1"/>
                </a:solidFill>
              </a:rPr>
              <a:t>, riceve, per sé o per un terzo, in denaro o altra utilità, una retribuzione che non gli è dovuta, o ne accetta la promessa;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>
              <a:solidFill>
                <a:schemeClr val="tx1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>
                <a:solidFill>
                  <a:srgbClr val="FF0000"/>
                </a:solidFill>
              </a:rPr>
              <a:t>corruzione susseguente: </a:t>
            </a:r>
            <a:r>
              <a:rPr lang="it-IT">
                <a:solidFill>
                  <a:schemeClr val="tx1"/>
                </a:solidFill>
              </a:rPr>
              <a:t>il pubblico ufficiale che riceve la retribuzione </a:t>
            </a:r>
            <a:r>
              <a:rPr lang="it-IT" u="sng">
                <a:solidFill>
                  <a:schemeClr val="tx1"/>
                </a:solidFill>
              </a:rPr>
              <a:t>per un atto del suo ufficio o contrario da lui già compiuto</a:t>
            </a:r>
            <a:r>
              <a:rPr lang="it-IT">
                <a:solidFill>
                  <a:schemeClr val="tx1"/>
                </a:solidFill>
              </a:rPr>
              <a:t>.</a:t>
            </a:r>
          </a:p>
          <a:p>
            <a:endParaRPr lang="it-IT"/>
          </a:p>
        </p:txBody>
      </p:sp>
      <p:pic>
        <p:nvPicPr>
          <p:cNvPr id="4" name="Immagine 6" descr="Immagine 6">
            <a:extLst>
              <a:ext uri="{FF2B5EF4-FFF2-40B4-BE49-F238E27FC236}">
                <a16:creationId xmlns:a16="http://schemas.microsoft.com/office/drawing/2014/main" id="{4614A03D-D273-4AD0-A2EF-58145972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0909134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ttangolo 4"/>
          <p:cNvSpPr txBox="1"/>
          <p:nvPr/>
        </p:nvSpPr>
        <p:spPr>
          <a:xfrm>
            <a:off x="81215" y="912032"/>
            <a:ext cx="8981569" cy="291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318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«cd. CORRUZIONE IMPROPRIA»</a:t>
            </a:r>
          </a:p>
          <a:p>
            <a:pPr indent="4484687"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esercizio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funzione</a:t>
            </a:r>
            <a:endParaRPr lang="it-IT" dirty="0"/>
          </a:p>
          <a:p>
            <a:pPr indent="4484687"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6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dirty="0"/>
              <a:t>«</a:t>
            </a:r>
            <a:r>
              <a:rPr lang="it-IT" sz="2200" i="1" dirty="0"/>
              <a:t>Il pubblico ufficiale che, </a:t>
            </a:r>
            <a:r>
              <a:rPr lang="it-IT" sz="2200" i="1" u="sng" dirty="0"/>
              <a:t>per l’esercizio delle sue funzioni o dei suoi poteri</a:t>
            </a:r>
            <a:r>
              <a:rPr lang="it-IT" sz="2200" i="1" dirty="0"/>
              <a:t>, </a:t>
            </a:r>
            <a:r>
              <a:rPr lang="it-IT" sz="2200" i="1" dirty="0">
                <a:solidFill>
                  <a:srgbClr val="00B800"/>
                </a:solidFill>
              </a:rPr>
              <a:t>indebitamente riceve,</a:t>
            </a:r>
            <a:r>
              <a:rPr lang="it-IT" sz="2200" i="1" dirty="0"/>
              <a:t> per sé o per un terzo, denaro o altra utilità o ne </a:t>
            </a:r>
            <a:r>
              <a:rPr lang="it-IT" sz="2200" i="1" dirty="0">
                <a:solidFill>
                  <a:srgbClr val="00B800"/>
                </a:solidFill>
              </a:rPr>
              <a:t>accetta</a:t>
            </a:r>
            <a:r>
              <a:rPr lang="it-IT" sz="2200" i="1" dirty="0"/>
              <a:t> la promessa è punito con la reclusione da 3 a 8 anni</a:t>
            </a:r>
            <a:r>
              <a:rPr lang="it-IT" sz="2200" dirty="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6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302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Rettangolo 1"/>
          <p:cNvSpPr txBox="1"/>
          <p:nvPr/>
        </p:nvSpPr>
        <p:spPr>
          <a:xfrm>
            <a:off x="5481816" y="5238715"/>
            <a:ext cx="3580969" cy="154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Note:</a:t>
            </a:r>
          </a:p>
          <a:p>
            <a:pPr algn="just"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algn="just"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</a:t>
            </a:r>
          </a:p>
          <a:p>
            <a:pPr algn="just"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 </a:t>
            </a:r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0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asellaDiTesto 6"/>
          <p:cNvSpPr txBox="1"/>
          <p:nvPr/>
        </p:nvSpPr>
        <p:spPr>
          <a:xfrm>
            <a:off x="118617" y="980728"/>
            <a:ext cx="8623964" cy="4307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SOGGETTO ATTIVO</a:t>
            </a:r>
            <a:r>
              <a:rPr lang="it-IT" b="0"/>
              <a:t>: il </a:t>
            </a:r>
            <a:r>
              <a:rPr lang="it-IT">
                <a:solidFill>
                  <a:srgbClr val="00B800"/>
                </a:solidFill>
              </a:rPr>
              <a:t>Pubblico Ufficiale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>
              <a:solidFill>
                <a:srgbClr val="00B800"/>
              </a:solidFill>
            </a:endParaRPr>
          </a:p>
          <a:p>
            <a:pPr marL="342900" indent="-342900" algn="just">
              <a:lnSpc>
                <a:spcPct val="114000"/>
              </a:lnSpc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u="sng">
                <a:solidFill>
                  <a:srgbClr val="FF0000"/>
                </a:solidFill>
              </a:rPr>
              <a:t>L’art. 320 </a:t>
            </a:r>
            <a:r>
              <a:rPr lang="it-IT"/>
              <a:t>stabilisce, al primo comma, che le disposizioni dell’art. 318 si applicano anche all’</a:t>
            </a:r>
            <a:r>
              <a:rPr lang="it-IT" u="sng">
                <a:solidFill>
                  <a:srgbClr val="00B800"/>
                </a:solidFill>
              </a:rPr>
              <a:t>incaricato di pubblico servizio</a:t>
            </a:r>
            <a:r>
              <a:rPr lang="it-IT"/>
              <a:t>.</a:t>
            </a:r>
          </a:p>
          <a:p>
            <a:pPr marL="342900" indent="-342900" algn="just">
              <a:lnSpc>
                <a:spcPct val="114000"/>
              </a:lnSpc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/>
          </a:p>
          <a:p>
            <a:pPr marL="342900" indent="-342900" algn="just">
              <a:lnSpc>
                <a:spcPct val="114000"/>
              </a:lnSpc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u="sng">
                <a:solidFill>
                  <a:srgbClr val="FF0000"/>
                </a:solidFill>
              </a:rPr>
              <a:t>L’art. 321  </a:t>
            </a:r>
            <a:r>
              <a:rPr lang="it-IT"/>
              <a:t>punisce i </a:t>
            </a:r>
            <a:r>
              <a:rPr lang="it-IT">
                <a:solidFill>
                  <a:srgbClr val="00B800"/>
                </a:solidFill>
              </a:rPr>
              <a:t>corruttori</a:t>
            </a:r>
            <a:r>
              <a:rPr lang="it-IT"/>
              <a:t>.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</a:t>
            </a:r>
            <a:r>
              <a:rPr err="1"/>
              <a:t>tratta</a:t>
            </a:r>
            <a:r>
              <a:t> di un </a:t>
            </a:r>
            <a:r>
              <a:rPr b="1" u="sng"/>
              <a:t>REATO PROPRIO</a:t>
            </a:r>
            <a:r>
              <a:t>.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REATO A CONCORSO NECESSARIO </a:t>
            </a: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REATO PLURISOGGETTIVO</a:t>
            </a:r>
          </a:p>
        </p:txBody>
      </p:sp>
      <p:pic>
        <p:nvPicPr>
          <p:cNvPr id="307" name="Immagine 7" descr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  <p:sp>
        <p:nvSpPr>
          <p:cNvPr id="309" name="Rettangolo 1"/>
          <p:cNvSpPr/>
          <p:nvPr/>
        </p:nvSpPr>
        <p:spPr>
          <a:xfrm>
            <a:off x="5193439" y="4301926"/>
            <a:ext cx="3384377" cy="759021"/>
          </a:xfrm>
          <a:prstGeom prst="rect">
            <a:avLst/>
          </a:prstGeom>
          <a:ln w="19050">
            <a:solidFill>
              <a:srgbClr val="00B8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err="1"/>
              <a:t>il</a:t>
            </a:r>
            <a:r>
              <a:t> </a:t>
            </a:r>
            <a:r>
              <a:rPr err="1"/>
              <a:t>corrotto</a:t>
            </a:r>
            <a:r>
              <a:t> e </a:t>
            </a:r>
            <a:r>
              <a:rPr err="1"/>
              <a:t>il</a:t>
            </a:r>
            <a:r>
              <a:t> </a:t>
            </a:r>
            <a:r>
              <a:rPr err="1"/>
              <a:t>corruttore</a:t>
            </a:r>
            <a:r>
              <a:t> </a:t>
            </a:r>
            <a:r>
              <a:rPr err="1"/>
              <a:t>che</a:t>
            </a:r>
            <a:r>
              <a:t> </a:t>
            </a:r>
            <a:r>
              <a:rPr err="1"/>
              <a:t>sono</a:t>
            </a:r>
            <a:r>
              <a:t> </a:t>
            </a:r>
            <a:r>
              <a:rPr err="1"/>
              <a:t>entrambi</a:t>
            </a:r>
            <a:r>
              <a:t> </a:t>
            </a:r>
            <a:r>
              <a:rPr err="1"/>
              <a:t>puniti</a:t>
            </a: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asellaDiTesto 6"/>
          <p:cNvSpPr txBox="1"/>
          <p:nvPr/>
        </p:nvSpPr>
        <p:spPr>
          <a:xfrm>
            <a:off x="260018" y="980728"/>
            <a:ext cx="8623964" cy="5915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00B050"/>
                </a:solidFill>
              </a:rPr>
              <a:t>ELEMENTO OGGETTIVO</a:t>
            </a:r>
            <a:r>
              <a:rPr b="0" u="none" dirty="0"/>
              <a:t>:</a:t>
            </a:r>
            <a:r>
              <a:rPr lang="it-IT" b="0" u="none" dirty="0"/>
              <a:t> CONDOTTA-</a:t>
            </a:r>
            <a:r>
              <a:rPr b="0" u="none" dirty="0"/>
              <a:t> </a:t>
            </a:r>
            <a:r>
              <a:rPr lang="it-IT" b="0" u="sng" dirty="0"/>
              <a:t>ACCETTARE O RICEVERE</a:t>
            </a:r>
            <a:r>
              <a:rPr lang="it-IT" b="0" u="none" dirty="0"/>
              <a:t> la promessa di una retribuzione non dovuta in cambio di una controprestazione</a:t>
            </a:r>
            <a:r>
              <a:rPr b="0" u="none"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al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dell’</a:t>
            </a:r>
            <a:r>
              <a:rPr b="1" u="sng" dirty="0" err="1">
                <a:solidFill>
                  <a:srgbClr val="00B800"/>
                </a:solidFill>
              </a:rPr>
              <a:t>ACCETTAZIONE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promessa</a:t>
            </a:r>
            <a:r>
              <a:rPr dirty="0"/>
              <a:t> o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dazione</a:t>
            </a:r>
            <a:r>
              <a:rPr dirty="0"/>
              <a:t>,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dell’</a:t>
            </a:r>
            <a:r>
              <a:rPr b="1" u="sng" dirty="0" err="1">
                <a:solidFill>
                  <a:srgbClr val="00B800"/>
                </a:solidFill>
              </a:rPr>
              <a:t>ACCORDO</a:t>
            </a:r>
            <a:r>
              <a:rPr dirty="0"/>
              <a:t>.</a:t>
            </a:r>
          </a:p>
          <a:p>
            <a:pPr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0070C0"/>
                </a:solidFill>
              </a:rPr>
              <a:t>ELEMENTO SOGGETTIVO</a:t>
            </a:r>
            <a:r>
              <a:rPr b="0" u="none" dirty="0"/>
              <a:t>: per </a:t>
            </a:r>
            <a:r>
              <a:rPr b="0" u="none" dirty="0" err="1"/>
              <a:t>quanto</a:t>
            </a:r>
            <a:r>
              <a:rPr b="0" u="none" dirty="0"/>
              <a:t> </a:t>
            </a:r>
            <a:r>
              <a:rPr b="0" u="none" dirty="0" err="1"/>
              <a:t>riguarda</a:t>
            </a:r>
            <a:r>
              <a:rPr b="0" u="none" dirty="0"/>
              <a:t> il </a:t>
            </a:r>
            <a:r>
              <a:rPr b="0" u="none" dirty="0" err="1"/>
              <a:t>dolo</a:t>
            </a:r>
            <a:r>
              <a:rPr b="0" u="none" dirty="0"/>
              <a:t> è </a:t>
            </a:r>
            <a:r>
              <a:rPr b="0" u="none" dirty="0" err="1"/>
              <a:t>richiesto</a:t>
            </a:r>
            <a:r>
              <a:rPr b="0" u="none" dirty="0"/>
              <a:t>:</a:t>
            </a:r>
            <a:endParaRPr lang="it-IT" dirty="0"/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r>
              <a:rPr lang="it-IT" sz="1800" u="sng" dirty="0">
                <a:latin typeface="Times New Roman" panose="02020603050405020304" pitchFamily="18" charset="0"/>
                <a:ea typeface="Arial Unicode MS"/>
                <a:cs typeface="Arial Unicode MS"/>
              </a:rPr>
              <a:t>C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orruzione per l</a:t>
            </a:r>
            <a:r>
              <a:rPr lang="ar-SA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esercizio della funzione antecedente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: il dolo è </a:t>
            </a:r>
            <a:r>
              <a:rPr lang="it-IT" sz="1800" b="1" u="none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specifico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, in quanto l</a:t>
            </a:r>
            <a:r>
              <a:rPr lang="ar-SA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accordo corruttivo ha come finalità l</a:t>
            </a:r>
            <a:r>
              <a:rPr lang="ar-SA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esercizio (futuro) delle funzioni del pubblico agente;</a:t>
            </a:r>
            <a:endParaRPr lang="it-IT" sz="18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r>
              <a:rPr lang="it-IT" sz="1800" u="sng" dirty="0">
                <a:latin typeface="Times New Roman" panose="02020603050405020304" pitchFamily="18" charset="0"/>
                <a:ea typeface="Arial Unicode MS"/>
                <a:cs typeface="Arial Unicode MS"/>
              </a:rPr>
              <a:t>C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orruzione per l</a:t>
            </a:r>
            <a:r>
              <a:rPr lang="ar-SA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esercizio della funzione susseguente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: 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il dolo è generico 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 consiste nella coscienza e volontà di promettere/dare e accettare/ricevere il denaro o l</a:t>
            </a:r>
            <a:r>
              <a:rPr lang="ar-SA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utilità come remunerazione di funzioni che il pubblico agente ha esercitato.</a:t>
            </a:r>
            <a:endParaRPr lang="it-IT" dirty="0"/>
          </a:p>
          <a:p>
            <a:pPr marL="342900" indent="-342900" algn="just">
              <a:lnSpc>
                <a:spcPct val="114000"/>
              </a:lnSpc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DANNO, DI MERA CONDOTTA</a:t>
            </a:r>
            <a:r>
              <a:rPr lang="it-IT" dirty="0"/>
              <a:t> E A FORMA LIBERA.</a:t>
            </a:r>
            <a:endParaRPr dirty="0"/>
          </a:p>
        </p:txBody>
      </p:sp>
      <p:pic>
        <p:nvPicPr>
          <p:cNvPr id="312" name="Immagine 7" descr="Immagin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asellaDiTesto 6"/>
          <p:cNvSpPr txBox="1"/>
          <p:nvPr/>
        </p:nvSpPr>
        <p:spPr>
          <a:xfrm>
            <a:off x="260002" y="1071546"/>
            <a:ext cx="8623964" cy="453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</a:t>
            </a:r>
            <a:r>
              <a:rPr b="1"/>
              <a:t> </a:t>
            </a:r>
            <a:r>
              <a:rPr b="1">
                <a:solidFill>
                  <a:srgbClr val="00B800"/>
                </a:solidFill>
              </a:rPr>
              <a:t>TENTATIVO</a:t>
            </a:r>
            <a:r>
              <a:rPr b="1"/>
              <a:t> </a:t>
            </a:r>
            <a:r>
              <a:t>del reato di corruzione per l’esercizio della funzione è sicuramente </a:t>
            </a:r>
            <a:r>
              <a:rPr b="1"/>
              <a:t>configurabile</a:t>
            </a:r>
            <a:r>
              <a:t>.</a:t>
            </a:r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Trattandosi di </a:t>
            </a:r>
            <a:r>
              <a:rPr b="1" cap="small"/>
              <a:t>fattispecie a concorso necessario</a:t>
            </a:r>
            <a:r>
              <a:t>, la soglia del tentativo potrà dirsi raggiunta qualora entrambi i soggetti pongano in essere </a:t>
            </a:r>
            <a:r>
              <a:rPr b="1"/>
              <a:t>atti idonei, diretti in modo non equivoco, alla conclusione dell’accordo corruttivo</a:t>
            </a:r>
            <a:r>
              <a:t> ma tale accordo non si concretizzi </a:t>
            </a:r>
            <a:r>
              <a:rPr i="1"/>
              <a:t>(si pensi, a titolo esemplificativo all’ipotesi delle trattative).</a:t>
            </a:r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/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N.B. Qualora il pubblico ufficiale o il privato pongano in essere condotte di tipo </a:t>
            </a:r>
            <a:r>
              <a:rPr b="1" u="sng">
                <a:solidFill>
                  <a:srgbClr val="00B800"/>
                </a:solidFill>
              </a:rPr>
              <a:t>unilaterale</a:t>
            </a:r>
            <a:r>
              <a:t>, senza la partecipazione dell’altro soggetto, queste saranno punite ai sensi dell’art. 322 c.p. (</a:t>
            </a:r>
            <a:r>
              <a:rPr b="1">
                <a:solidFill>
                  <a:srgbClr val="00B800"/>
                </a:solidFill>
              </a:rPr>
              <a:t>ISTIGAZIONE ALLA CORRUZIONE</a:t>
            </a:r>
            <a:r>
              <a:t>)</a:t>
            </a:r>
            <a:r>
              <a:rPr i="1"/>
              <a:t>.</a:t>
            </a:r>
          </a:p>
        </p:txBody>
      </p:sp>
      <p:pic>
        <p:nvPicPr>
          <p:cNvPr id="320" name="Immagine 7" descr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B57CF-76BA-4A6E-8200-577E0B27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2" y="118708"/>
            <a:ext cx="3067235" cy="613129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  <a:latin typeface="Book Antiqua" panose="02040602050305030304" pitchFamily="18" charset="0"/>
              </a:rPr>
              <a:t>Corruzione</a:t>
            </a:r>
            <a:r>
              <a:rPr lang="it-IT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B57825-8D79-4DDB-8972-50839796E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326" y="1047566"/>
            <a:ext cx="8429348" cy="507859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sz="3400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PROPORZIONE</a:t>
            </a:r>
            <a:r>
              <a:rPr lang="it-IT" sz="3400" dirty="0">
                <a:latin typeface="Book Antiqua" panose="02040602050305030304" pitchFamily="18" charset="0"/>
              </a:rPr>
              <a:t> tra la </a:t>
            </a:r>
            <a:r>
              <a:rPr lang="it-IT" sz="3400" b="1" u="sng" dirty="0">
                <a:latin typeface="Book Antiqua" panose="02040602050305030304" pitchFamily="18" charset="0"/>
              </a:rPr>
              <a:t>prestazione </a:t>
            </a:r>
            <a:r>
              <a:rPr lang="it-IT" sz="3400" dirty="0">
                <a:latin typeface="Book Antiqua" panose="02040602050305030304" pitchFamily="18" charset="0"/>
              </a:rPr>
              <a:t>(denaro o altra utilità) e </a:t>
            </a:r>
            <a:r>
              <a:rPr lang="it-IT" sz="3400" b="1" u="sng" dirty="0">
                <a:latin typeface="Book Antiqua" panose="02040602050305030304" pitchFamily="18" charset="0"/>
              </a:rPr>
              <a:t>controprestazione</a:t>
            </a:r>
          </a:p>
          <a:p>
            <a:pPr algn="just"/>
            <a:endParaRPr lang="it-IT" dirty="0">
              <a:latin typeface="Book Antiqua" panose="02040602050305030304" pitchFamily="18" charset="0"/>
            </a:endParaRPr>
          </a:p>
          <a:p>
            <a:pPr algn="just"/>
            <a:r>
              <a:rPr lang="it-IT" b="1" u="sng" dirty="0">
                <a:latin typeface="Book Antiqua" panose="02040602050305030304" pitchFamily="18" charset="0"/>
              </a:rPr>
              <a:t>L’opinione prevalente </a:t>
            </a:r>
            <a:r>
              <a:rPr lang="it-IT" dirty="0">
                <a:latin typeface="Book Antiqua" panose="02040602050305030304" pitchFamily="18" charset="0"/>
              </a:rPr>
              <a:t>ritiene che un’offerta di irrisorio valore non sia sufficiente a configurare il reato. </a:t>
            </a:r>
          </a:p>
          <a:p>
            <a:pPr algn="just"/>
            <a:endParaRPr lang="it-IT" dirty="0">
              <a:latin typeface="Book Antiqua" panose="02040602050305030304" pitchFamily="18" charset="0"/>
            </a:endParaRPr>
          </a:p>
          <a:p>
            <a:pPr algn="just"/>
            <a:r>
              <a:rPr lang="it-IT" dirty="0">
                <a:latin typeface="Book Antiqua" panose="02040602050305030304" pitchFamily="18" charset="0"/>
              </a:rPr>
              <a:t>Ai sensi </a:t>
            </a:r>
            <a:r>
              <a:rPr lang="it-IT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dell’art. 4 del DPR 62/2013 </a:t>
            </a:r>
            <a:r>
              <a:rPr lang="it-IT" dirty="0">
                <a:solidFill>
                  <a:schemeClr val="tx1"/>
                </a:solidFill>
                <a:latin typeface="Book Antiqua" panose="02040602050305030304" pitchFamily="18" charset="0"/>
              </a:rPr>
              <a:t>(</a:t>
            </a:r>
            <a:r>
              <a:rPr lang="it-IT" dirty="0">
                <a:latin typeface="Book Antiqua" panose="02040602050305030304" pitchFamily="18" charset="0"/>
              </a:rPr>
              <a:t>codice di comportamento dei dipendenti pubblici), i donativi (regali o altra utilità) offerti dal privato ai </a:t>
            </a:r>
            <a:r>
              <a:rPr lang="it-IT" dirty="0" err="1">
                <a:latin typeface="Book Antiqua" panose="02040602050305030304" pitchFamily="18" charset="0"/>
              </a:rPr>
              <a:t>p.u</a:t>
            </a:r>
            <a:r>
              <a:rPr lang="it-IT" dirty="0">
                <a:latin typeface="Book Antiqua" panose="02040602050305030304" pitchFamily="18" charset="0"/>
              </a:rPr>
              <a:t>. non possano essere accettati, </a:t>
            </a:r>
            <a:r>
              <a:rPr lang="it-IT" b="1" u="sng" dirty="0">
                <a:latin typeface="Book Antiqua" panose="02040602050305030304" pitchFamily="18" charset="0"/>
              </a:rPr>
              <a:t>salvo</a:t>
            </a:r>
            <a:r>
              <a:rPr lang="it-IT" dirty="0">
                <a:latin typeface="Book Antiqua" panose="02040602050305030304" pitchFamily="18" charset="0"/>
              </a:rPr>
              <a:t> i casi in cui </a:t>
            </a:r>
            <a:r>
              <a:rPr lang="it-IT" b="1" u="sng" dirty="0">
                <a:latin typeface="Book Antiqua" panose="02040602050305030304" pitchFamily="18" charset="0"/>
              </a:rPr>
              <a:t>non superino il valore di 150 euro</a:t>
            </a:r>
            <a:r>
              <a:rPr lang="it-IT" dirty="0">
                <a:latin typeface="Book Antiqua" panose="02040602050305030304" pitchFamily="18" charset="0"/>
              </a:rPr>
              <a:t> (salva diversa previsione delle singole amministrazioni) e siano </a:t>
            </a:r>
            <a:r>
              <a:rPr lang="it-IT" b="1" u="sng" dirty="0">
                <a:latin typeface="Book Antiqua" panose="02040602050305030304" pitchFamily="18" charset="0"/>
              </a:rPr>
              <a:t>occasionali</a:t>
            </a:r>
            <a:r>
              <a:rPr lang="it-IT" dirty="0">
                <a:latin typeface="Book Antiqua" panose="02040602050305030304" pitchFamily="18" charset="0"/>
              </a:rPr>
              <a:t> nell’ambito delle </a:t>
            </a:r>
            <a:r>
              <a:rPr lang="it-IT" b="1" u="sng" dirty="0">
                <a:latin typeface="Book Antiqua" panose="02040602050305030304" pitchFamily="18" charset="0"/>
              </a:rPr>
              <a:t>normali relazioni di cortesia</a:t>
            </a:r>
            <a:r>
              <a:rPr lang="it-IT" dirty="0">
                <a:latin typeface="Book Antiqua" panose="02040602050305030304" pitchFamily="18" charset="0"/>
              </a:rPr>
              <a:t>. </a:t>
            </a:r>
          </a:p>
          <a:p>
            <a:pPr algn="just"/>
            <a:endParaRPr lang="it-IT" dirty="0">
              <a:latin typeface="Book Antiqua" panose="02040602050305030304" pitchFamily="18" charset="0"/>
            </a:endParaRPr>
          </a:p>
          <a:p>
            <a:pPr algn="just"/>
            <a:r>
              <a:rPr lang="it-IT" dirty="0">
                <a:latin typeface="Book Antiqua" panose="02040602050305030304" pitchFamily="18" charset="0"/>
              </a:rPr>
              <a:t>Fatto salvo questo riferimento di massima, la </a:t>
            </a:r>
            <a:r>
              <a:rPr lang="it-IT" dirty="0" err="1">
                <a:latin typeface="Book Antiqua" panose="02040602050305030304" pitchFamily="18" charset="0"/>
              </a:rPr>
              <a:t>retributività</a:t>
            </a:r>
            <a:r>
              <a:rPr lang="it-IT" dirty="0">
                <a:latin typeface="Book Antiqua" panose="02040602050305030304" pitchFamily="18" charset="0"/>
              </a:rPr>
              <a:t> dell’offerta rispetto alla prestazione andrà </a:t>
            </a:r>
            <a:r>
              <a:rPr lang="it-IT" b="1" u="sng" dirty="0">
                <a:latin typeface="Book Antiqua" panose="02040602050305030304" pitchFamily="18" charset="0"/>
              </a:rPr>
              <a:t>valutata caso per caso</a:t>
            </a:r>
            <a:r>
              <a:rPr lang="it-IT" dirty="0">
                <a:latin typeface="Book Antiqua" panose="02040602050305030304" pitchFamily="18" charset="0"/>
              </a:rPr>
              <a:t>.</a:t>
            </a:r>
          </a:p>
          <a:p>
            <a:endParaRPr lang="it-IT" dirty="0"/>
          </a:p>
        </p:txBody>
      </p:sp>
      <p:pic>
        <p:nvPicPr>
          <p:cNvPr id="4" name="Immagine 7" descr="Immagine 7">
            <a:extLst>
              <a:ext uri="{FF2B5EF4-FFF2-40B4-BE49-F238E27FC236}">
                <a16:creationId xmlns:a16="http://schemas.microsoft.com/office/drawing/2014/main" id="{5140EB74-A74A-4F01-9660-1CA09C471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062627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asellaDiTesto 13"/>
          <p:cNvSpPr txBox="1"/>
          <p:nvPr/>
        </p:nvSpPr>
        <p:spPr>
          <a:xfrm>
            <a:off x="260001" y="980727"/>
            <a:ext cx="8656141" cy="374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4000"/>
              </a:lnSpc>
              <a:defRPr sz="24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319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b="0" dirty="0">
                <a:solidFill>
                  <a:srgbClr val="FF0000"/>
                </a:solidFill>
              </a:rPr>
              <a:t> cd. </a:t>
            </a:r>
            <a:r>
              <a:rPr dirty="0">
                <a:solidFill>
                  <a:srgbClr val="FF0000"/>
                </a:solidFill>
              </a:rPr>
              <a:t>«CORRUZIONE PROPRIA»</a:t>
            </a:r>
            <a:endParaRPr b="0" dirty="0">
              <a:solidFill>
                <a:srgbClr val="FF0000"/>
              </a:solidFill>
            </a:endParaRPr>
          </a:p>
          <a:p>
            <a:pPr indent="4484687">
              <a:lnSpc>
                <a:spcPct val="114000"/>
              </a:lnSpc>
              <a:defRPr sz="24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per </a:t>
            </a:r>
            <a:r>
              <a:rPr dirty="0" err="1">
                <a:solidFill>
                  <a:srgbClr val="FF0000"/>
                </a:solidFill>
              </a:rPr>
              <a:t>atto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contrario</a:t>
            </a:r>
            <a:endParaRPr dirty="0">
              <a:solidFill>
                <a:srgbClr val="FF0000"/>
              </a:solidFill>
            </a:endParaRPr>
          </a:p>
          <a:p>
            <a:pPr>
              <a:lnSpc>
                <a:spcPct val="114000"/>
              </a:lnSpc>
              <a:defRPr sz="80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«Il pubblico ufficiale che, per omettere o ritardare o per aver omesso o ritardato un atto del suo ufficio, ovvero per compiere o per aver compiuto un atto contrario ai doveri d’ufficio, </a:t>
            </a:r>
            <a:r>
              <a:rPr lang="it-IT" dirty="0">
                <a:solidFill>
                  <a:srgbClr val="008000"/>
                </a:solidFill>
              </a:rPr>
              <a:t>riceve</a:t>
            </a:r>
            <a:r>
              <a:rPr lang="it-IT" dirty="0"/>
              <a:t>, per sé o per un terzo, denaro o altra utilità, </a:t>
            </a:r>
            <a:r>
              <a:rPr lang="it-IT" dirty="0">
                <a:solidFill>
                  <a:srgbClr val="008000"/>
                </a:solidFill>
              </a:rPr>
              <a:t>o ne accetta la promessa</a:t>
            </a:r>
            <a:r>
              <a:rPr lang="it-IT" dirty="0"/>
              <a:t>, è punito con la reclusione da sei a dieci anni».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324" name="CasellaDiTesto 6"/>
          <p:cNvSpPr txBox="1"/>
          <p:nvPr/>
        </p:nvSpPr>
        <p:spPr>
          <a:xfrm>
            <a:off x="297239" y="3884727"/>
            <a:ext cx="8688287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>
                <a:solidFill>
                  <a:srgbClr val="FF0000"/>
                </a:solidFill>
              </a:rPr>
              <a:t>L’art</a:t>
            </a:r>
            <a:r>
              <a:rPr>
                <a:solidFill>
                  <a:srgbClr val="FF0000"/>
                </a:solidFill>
              </a:rPr>
              <a:t>. 320 </a:t>
            </a:r>
            <a:r>
              <a:t>lo </a:t>
            </a:r>
            <a:r>
              <a:rPr err="1"/>
              <a:t>applica</a:t>
            </a:r>
            <a:r>
              <a:t> </a:t>
            </a:r>
            <a:r>
              <a:rPr err="1"/>
              <a:t>anche</a:t>
            </a:r>
            <a:r>
              <a:t> </a:t>
            </a:r>
            <a:r>
              <a:rPr err="1"/>
              <a:t>all’</a:t>
            </a:r>
            <a:r>
              <a:rPr b="1" err="1"/>
              <a:t>incaricato</a:t>
            </a:r>
            <a:r>
              <a:rPr b="1"/>
              <a:t> di </a:t>
            </a:r>
            <a:r>
              <a:rPr b="1" err="1"/>
              <a:t>pubblico</a:t>
            </a:r>
            <a:r>
              <a:rPr b="1"/>
              <a:t> </a:t>
            </a:r>
            <a:r>
              <a:rPr b="1" err="1"/>
              <a:t>servizio</a:t>
            </a:r>
            <a:r>
              <a:t>.</a:t>
            </a:r>
          </a:p>
          <a:p>
            <a:pPr algn="just">
              <a:defRPr sz="1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85750" indent="-2857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>
                <a:solidFill>
                  <a:srgbClr val="FF0000"/>
                </a:solidFill>
              </a:rPr>
              <a:t>L’art</a:t>
            </a:r>
            <a:r>
              <a:rPr>
                <a:solidFill>
                  <a:srgbClr val="FF0000"/>
                </a:solidFill>
              </a:rPr>
              <a:t>. 321 </a:t>
            </a:r>
            <a:r>
              <a:t>lo </a:t>
            </a:r>
            <a:r>
              <a:rPr err="1"/>
              <a:t>applica</a:t>
            </a:r>
            <a:r>
              <a:t> </a:t>
            </a:r>
            <a:r>
              <a:rPr err="1"/>
              <a:t>anche</a:t>
            </a:r>
            <a:r>
              <a:t> a </a:t>
            </a:r>
            <a:r>
              <a:rPr b="1"/>
              <a:t>chi </a:t>
            </a:r>
            <a:r>
              <a:rPr b="1" err="1"/>
              <a:t>dà</a:t>
            </a:r>
            <a:r>
              <a:rPr b="1"/>
              <a:t> o </a:t>
            </a:r>
            <a:r>
              <a:rPr b="1" err="1"/>
              <a:t>promette</a:t>
            </a:r>
            <a:r>
              <a:rPr b="1"/>
              <a:t> </a:t>
            </a:r>
            <a:r>
              <a:t>al </a:t>
            </a:r>
            <a:r>
              <a:rPr err="1"/>
              <a:t>pubblico</a:t>
            </a:r>
            <a:r>
              <a:t> </a:t>
            </a:r>
            <a:r>
              <a:rPr err="1"/>
              <a:t>ufficiale</a:t>
            </a:r>
            <a:r>
              <a:t> o </a:t>
            </a:r>
            <a:r>
              <a:rPr err="1"/>
              <a:t>all’incaricato</a:t>
            </a:r>
            <a:r>
              <a:t> di un </a:t>
            </a:r>
            <a:r>
              <a:rPr err="1"/>
              <a:t>pubblico</a:t>
            </a:r>
            <a:r>
              <a:t> </a:t>
            </a:r>
            <a:r>
              <a:rPr err="1"/>
              <a:t>servizio</a:t>
            </a:r>
            <a:r>
              <a:t> </a:t>
            </a:r>
            <a:r>
              <a:rPr err="1"/>
              <a:t>il</a:t>
            </a:r>
            <a:r>
              <a:t> </a:t>
            </a:r>
            <a:r>
              <a:rPr err="1"/>
              <a:t>denaro</a:t>
            </a:r>
            <a:r>
              <a:t> o </a:t>
            </a:r>
            <a:r>
              <a:rPr err="1"/>
              <a:t>altre</a:t>
            </a:r>
            <a:r>
              <a:t> </a:t>
            </a:r>
            <a:r>
              <a:rPr err="1"/>
              <a:t>utilità</a:t>
            </a:r>
            <a:r>
              <a:t> (</a:t>
            </a:r>
            <a:r>
              <a:rPr err="1"/>
              <a:t>corruttore</a:t>
            </a:r>
            <a:r>
              <a:t>)</a:t>
            </a:r>
          </a:p>
        </p:txBody>
      </p:sp>
      <p:pic>
        <p:nvPicPr>
          <p:cNvPr id="325" name="Immagine 8" descr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Text Box 5"/>
          <p:cNvSpPr txBox="1"/>
          <p:nvPr/>
        </p:nvSpPr>
        <p:spPr>
          <a:xfrm>
            <a:off x="825746" y="98863"/>
            <a:ext cx="8273685" cy="5209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28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un atto contrario ai doveri di ufficio</a:t>
            </a:r>
          </a:p>
        </p:txBody>
      </p:sp>
      <p:sp>
        <p:nvSpPr>
          <p:cNvPr id="327" name="Rettangolo 1"/>
          <p:cNvSpPr txBox="1"/>
          <p:nvPr/>
        </p:nvSpPr>
        <p:spPr>
          <a:xfrm>
            <a:off x="5409808" y="5157192"/>
            <a:ext cx="3688472" cy="154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consentito </a:t>
            </a:r>
          </a:p>
          <a:p>
            <a:pPr marL="171450" indent="-171450" algn="just"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asellaDiTesto 13"/>
          <p:cNvSpPr txBox="1"/>
          <p:nvPr/>
        </p:nvSpPr>
        <p:spPr>
          <a:xfrm>
            <a:off x="153224" y="841228"/>
            <a:ext cx="8808206" cy="61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u="none" dirty="0"/>
              <a:t>: </a:t>
            </a:r>
            <a:r>
              <a:rPr b="0" u="none" dirty="0"/>
              <a:t>la CONDOTTA </a:t>
            </a:r>
            <a:r>
              <a:rPr b="0" u="none" dirty="0" err="1"/>
              <a:t>sanzionata</a:t>
            </a:r>
            <a:r>
              <a:rPr b="0" u="none" dirty="0"/>
              <a:t> è:</a:t>
            </a:r>
            <a:endParaRPr lang="it-IT" b="0" u="none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0" dirty="0">
                <a:solidFill>
                  <a:srgbClr val="FF0000"/>
                </a:solidFill>
              </a:rPr>
              <a:t>P.U. :</a:t>
            </a:r>
          </a:p>
          <a:p>
            <a:pPr marL="534987" indent="-184150" algn="just">
              <a:buSzPct val="100000"/>
              <a:buFont typeface="Arial"/>
              <a:buChar char="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omettere o ritardare un atto d’ufficio;</a:t>
            </a:r>
          </a:p>
          <a:p>
            <a:pPr marL="534987" indent="-184150" algn="just">
              <a:buSzPct val="100000"/>
              <a:buFont typeface="Arial"/>
              <a:buChar char="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compiere un atto contrario ai doveri d’ufficio</a:t>
            </a:r>
            <a:r>
              <a:rPr lang="it-IT" b="0" dirty="0"/>
              <a:t>, </a:t>
            </a:r>
            <a:r>
              <a:rPr lang="it-IT" b="0" dirty="0">
                <a:solidFill>
                  <a:schemeClr val="tx1"/>
                </a:solidFill>
              </a:rPr>
              <a:t>e cioè di un atto illegittimo, che sia in contrasto alle norme giuridiche o alle istruzioni di servizio nonché col buon uso del potere discrezionale.</a:t>
            </a:r>
          </a:p>
          <a:p>
            <a:pPr algn="just">
              <a:lnSpc>
                <a:spcPct val="114000"/>
              </a:lnSpc>
              <a:buSzPct val="100000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0" dirty="0"/>
              <a:t> </a:t>
            </a:r>
            <a:r>
              <a:rPr lang="it-IT" b="0" u="sng" dirty="0"/>
              <a:t>al fine </a:t>
            </a:r>
            <a:r>
              <a:rPr lang="it-IT" b="0" dirty="0"/>
              <a:t>di r</a:t>
            </a:r>
            <a:r>
              <a:rPr lang="it-IT" dirty="0"/>
              <a:t>icevere denaro o altra utilità o accettare la promessa;</a:t>
            </a:r>
          </a:p>
          <a:p>
            <a:pPr algn="just">
              <a:lnSpc>
                <a:spcPct val="114000"/>
              </a:lnSpc>
              <a:buSzPct val="100000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u="sng" dirty="0">
                <a:solidFill>
                  <a:srgbClr val="FF0000"/>
                </a:solidFill>
              </a:rPr>
              <a:t>(corruttore- privato):</a:t>
            </a:r>
          </a:p>
          <a:p>
            <a:pPr marL="357188" indent="-357188" algn="just">
              <a:lnSpc>
                <a:spcPct val="114000"/>
              </a:lnSpc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dare o premettere il </a:t>
            </a:r>
            <a:r>
              <a:rPr lang="it-IT" b="1" dirty="0">
                <a:solidFill>
                  <a:srgbClr val="008000"/>
                </a:solidFill>
              </a:rPr>
              <a:t>compenso</a:t>
            </a:r>
            <a:r>
              <a:rPr lang="it-IT" dirty="0"/>
              <a:t> per uno scopo.</a:t>
            </a:r>
          </a:p>
          <a:p>
            <a:pPr algn="just">
              <a:lnSpc>
                <a:spcPct val="114000"/>
              </a:lnSpc>
              <a:defRPr sz="1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ELEMENTO SOGGETTIVO</a:t>
            </a:r>
            <a:r>
              <a:rPr sz="2000" b="0" u="none" dirty="0"/>
              <a:t>: </a:t>
            </a:r>
            <a:endParaRPr lang="it-IT" sz="2000" b="0" u="none" dirty="0"/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Nella </a:t>
            </a:r>
            <a:r>
              <a:rPr lang="it-IT" sz="1800" b="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corruzione propria 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antecedente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: il 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dolo è specifico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, in quanto l</a:t>
            </a:r>
            <a:r>
              <a:rPr lang="ar-SA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accordo corruttivo ha come finalità l</a:t>
            </a:r>
            <a:r>
              <a:rPr lang="ar-SA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omissione, il ritardo o la commissione di un atto contrario futuro;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Nella </a:t>
            </a:r>
            <a:r>
              <a:rPr lang="it-IT" sz="1800" b="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corruzione propria </a:t>
            </a:r>
            <a:r>
              <a:rPr lang="it-IT" sz="1800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susseguente: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 il </a:t>
            </a:r>
            <a:r>
              <a:rPr lang="it-IT" sz="1800" u="none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dolo è generico 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 consiste nella coscienza e volontà di promettere/dare e accettare/ricevere il denaro o l</a:t>
            </a:r>
            <a:r>
              <a:rPr lang="ar-SA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1800" b="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utilità come remunerazione di funzioni (ritardo, omissione o compimento di atti contrari) che il pubblico agente ha esercitato.</a:t>
            </a:r>
            <a:endParaRPr sz="1800" dirty="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REATO DI DANNO, DI MERA CONDOTTA</a:t>
            </a:r>
            <a:r>
              <a:rPr lang="it-IT" sz="1800" dirty="0"/>
              <a:t> E A FORMA LIBERA.</a:t>
            </a:r>
            <a:endParaRPr sz="1800" dirty="0"/>
          </a:p>
        </p:txBody>
      </p:sp>
      <p:pic>
        <p:nvPicPr>
          <p:cNvPr id="33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Text Box 5"/>
          <p:cNvSpPr txBox="1"/>
          <p:nvPr/>
        </p:nvSpPr>
        <p:spPr>
          <a:xfrm>
            <a:off x="825746" y="98863"/>
            <a:ext cx="8273685" cy="5209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28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un atto contrario ai doveri di ufficio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asellaDiTesto 13"/>
          <p:cNvSpPr txBox="1"/>
          <p:nvPr/>
        </p:nvSpPr>
        <p:spPr>
          <a:xfrm>
            <a:off x="331440" y="1052736"/>
            <a:ext cx="8552558" cy="566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323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Abuso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d’ufficio</a:t>
            </a:r>
            <a:r>
              <a:rPr lang="it-IT" dirty="0">
                <a:solidFill>
                  <a:srgbClr val="FF0000"/>
                </a:solidFill>
              </a:rPr>
              <a:t>          [ABROGATO]</a:t>
            </a:r>
          </a:p>
          <a:p>
            <a:pPr algn="just">
              <a:defRPr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/>
            <a:r>
              <a:rPr lang="it-IT" sz="1900" b="0" i="1" dirty="0"/>
              <a:t>«Salvo che il fatto non costituisca un più grave reato, il </a:t>
            </a:r>
            <a:r>
              <a:rPr lang="it-IT" sz="1900" b="0" i="1" u="sng" dirty="0"/>
              <a:t>P.U.</a:t>
            </a:r>
            <a:r>
              <a:rPr lang="it-IT" sz="1900" b="0" i="1" dirty="0"/>
              <a:t> o l’</a:t>
            </a:r>
            <a:r>
              <a:rPr lang="it-IT" sz="1900" b="0" i="1" u="sng" dirty="0"/>
              <a:t>incaricato di pubblico servizio</a:t>
            </a:r>
            <a:r>
              <a:rPr lang="it-IT" sz="1900" b="0" i="1" dirty="0"/>
              <a:t> che, </a:t>
            </a:r>
            <a:r>
              <a:rPr lang="it-IT" sz="1900" i="1" dirty="0"/>
              <a:t>nello svolgimento delle funzioni o del servizio</a:t>
            </a:r>
            <a:r>
              <a:rPr lang="it-IT" sz="1900" b="0" i="1" dirty="0"/>
              <a:t>, in </a:t>
            </a:r>
            <a:r>
              <a:rPr lang="it-IT" sz="1900" b="0" i="1" u="sng" dirty="0"/>
              <a:t>violazione di specifiche regole di condotta espressamente previste dalla legge o da atti aventi forza di legge</a:t>
            </a:r>
            <a:r>
              <a:rPr lang="it-IT" sz="1900" b="0" i="1" dirty="0"/>
              <a:t> e </a:t>
            </a:r>
            <a:r>
              <a:rPr lang="it-IT" sz="1900" i="1" u="sng" dirty="0"/>
              <a:t>dalle quali non residuino margini di discrezionalità</a:t>
            </a:r>
            <a:r>
              <a:rPr lang="it-IT" sz="1900" b="0" i="1" dirty="0"/>
              <a:t>, ovvero </a:t>
            </a:r>
            <a:r>
              <a:rPr lang="it-IT" sz="1900" b="0" i="1" u="sng" dirty="0"/>
              <a:t>omettendo di astenersi in presenza di un interesse proprio o di un prossimo congiunto o negli altri casi prescrit</a:t>
            </a:r>
            <a:r>
              <a:rPr lang="it-IT" sz="1900" b="0" i="1" dirty="0"/>
              <a:t>ti, intenzionalmente procura a sé o ad altri un ingiusto </a:t>
            </a:r>
            <a:r>
              <a:rPr lang="it-IT" sz="1900" b="0" i="1" u="sng" dirty="0">
                <a:solidFill>
                  <a:srgbClr val="FF0000"/>
                </a:solidFill>
              </a:rPr>
              <a:t>vantaggio patrimoniale</a:t>
            </a:r>
            <a:r>
              <a:rPr lang="it-IT" sz="1900" b="0" i="1" dirty="0"/>
              <a:t> ovvero arreca ad altri un danno ingiusto, è punito con la </a:t>
            </a:r>
            <a:r>
              <a:rPr lang="it-IT" sz="1900" b="0" i="1" u="sng" dirty="0"/>
              <a:t>reclusione</a:t>
            </a:r>
            <a:r>
              <a:rPr lang="it-IT" sz="1900" b="0" i="1" dirty="0"/>
              <a:t> da uno a quattro anni.</a:t>
            </a:r>
          </a:p>
          <a:p>
            <a:pPr algn="just"/>
            <a:r>
              <a:rPr lang="it-IT" sz="1900" b="0" i="1" dirty="0"/>
              <a:t>La pena è aumentata nei casi in cui il vantaggio o il danno hanno carattere di rilevante gravità.»</a:t>
            </a:r>
          </a:p>
          <a:p>
            <a:br>
              <a:rPr lang="it-IT" b="0" dirty="0"/>
            </a:br>
            <a:endParaRPr dirty="0"/>
          </a:p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u="none" dirty="0"/>
              <a:t>:</a:t>
            </a:r>
          </a:p>
          <a:p>
            <a:pPr marL="171450" indent="-1714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collegiale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</a:t>
            </a:r>
          </a:p>
          <a:p>
            <a:pPr marL="171450" indent="-1714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Fermo non </a:t>
            </a:r>
            <a:r>
              <a:rPr dirty="0" err="1"/>
              <a:t>consentito</a:t>
            </a:r>
            <a:r>
              <a:rPr dirty="0"/>
              <a:t> </a:t>
            </a:r>
          </a:p>
          <a:p>
            <a:pPr marL="171450" indent="-171450" algn="just"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pic>
        <p:nvPicPr>
          <p:cNvPr id="33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Abuso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DBCC1F-91BD-4508-8439-BE579E932900}"/>
              </a:ext>
            </a:extLst>
          </p:cNvPr>
          <p:cNvSpPr txBox="1"/>
          <p:nvPr/>
        </p:nvSpPr>
        <p:spPr>
          <a:xfrm>
            <a:off x="5317723" y="4856085"/>
            <a:ext cx="3701990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it-IT" sz="1400"/>
              <a:t>Es. - </a:t>
            </a:r>
            <a:r>
              <a:rPr lang="it-IT" sz="1400" b="0"/>
              <a:t>il sindaco che concede un appalto, aggirando le regole pubbliche, per ottenere in cambio un favore.</a:t>
            </a:r>
            <a:endParaRPr lang="it-IT" sz="1400" b="0">
              <a:solidFill>
                <a:schemeClr val="tx1"/>
              </a:solidFill>
            </a:endParaRPr>
          </a:p>
          <a:p>
            <a:pPr algn="just"/>
            <a:endParaRPr kumimoji="0" lang="it-IT" sz="1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1400"/>
              <a:t>- </a:t>
            </a:r>
            <a:r>
              <a:rPr lang="it-IT" sz="1400" b="0"/>
              <a:t>Il dirigente comunale che </a:t>
            </a:r>
            <a:r>
              <a:rPr lang="it-IT" sz="1400" b="0" u="sng"/>
              <a:t>assume un familiare, favorendolo a discapito </a:t>
            </a:r>
            <a:r>
              <a:rPr lang="it-IT" sz="1400" b="0"/>
              <a:t>di altri candidati in possesso di requisiti più adeguati.</a:t>
            </a:r>
            <a:endParaRPr kumimoji="0" lang="it-IT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asellaDiTesto 7"/>
          <p:cNvSpPr txBox="1"/>
          <p:nvPr/>
        </p:nvSpPr>
        <p:spPr>
          <a:xfrm>
            <a:off x="45719" y="948490"/>
            <a:ext cx="9052561" cy="48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>
                <a:solidFill>
                  <a:srgbClr val="00319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326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Rivelazione</a:t>
            </a:r>
            <a:r>
              <a:rPr dirty="0">
                <a:solidFill>
                  <a:srgbClr val="FF0000"/>
                </a:solidFill>
              </a:rPr>
              <a:t> e </a:t>
            </a:r>
            <a:r>
              <a:rPr dirty="0" err="1">
                <a:solidFill>
                  <a:srgbClr val="FF0000"/>
                </a:solidFill>
              </a:rPr>
              <a:t>utilizzazione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segreti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d’ufficio</a:t>
            </a:r>
            <a:endParaRPr dirty="0">
              <a:solidFill>
                <a:srgbClr val="FF0000"/>
              </a:solidFill>
            </a:endParaRPr>
          </a:p>
          <a:p>
            <a:pPr algn="just">
              <a:defRPr sz="8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/>
              <a:t>«c.1 Il pubblico ufficiale o la persona incaricata di un pubblico servizio, che, violando i doveri inerenti alle funzioni o al servizio, o comunque abusando della sua qualità, </a:t>
            </a:r>
            <a:r>
              <a:rPr lang="it-IT" sz="2000" u="sng" dirty="0">
                <a:solidFill>
                  <a:srgbClr val="002F8E"/>
                </a:solidFill>
              </a:rPr>
              <a:t>rivela notizie di ufficio</a:t>
            </a:r>
            <a:r>
              <a:rPr lang="it-IT" sz="2000" dirty="0"/>
              <a:t>, le quali debbano rimanere segrete, </a:t>
            </a:r>
            <a:r>
              <a:rPr lang="it-IT" sz="2000" u="sng" dirty="0">
                <a:solidFill>
                  <a:srgbClr val="002F8E"/>
                </a:solidFill>
              </a:rPr>
              <a:t>o ne agevola in qualsiasi modo la conoscenza</a:t>
            </a:r>
            <a:r>
              <a:rPr lang="it-IT" sz="2000" u="sng" dirty="0"/>
              <a:t>, </a:t>
            </a:r>
            <a:r>
              <a:rPr lang="it-IT" sz="2000" dirty="0"/>
              <a:t>è punito con la reclusione da sei mesi a tre anni.</a:t>
            </a:r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dirty="0"/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/>
              <a:t>c.2 Se l'agevolazione è </a:t>
            </a:r>
            <a:r>
              <a:rPr lang="it-IT" sz="2000" u="sng" dirty="0"/>
              <a:t>soltanto colposa</a:t>
            </a:r>
            <a:r>
              <a:rPr lang="it-IT" sz="2000" dirty="0"/>
              <a:t>, si applica la reclusione fino a un anno.</a:t>
            </a:r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dirty="0"/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/>
              <a:t>c.3 Il pubblico ufficiale o la persona incaricata di un pubblico servizio, che, per procurare a sé o ad altri un indebito profitto patrimoniale, </a:t>
            </a:r>
            <a:r>
              <a:rPr lang="it-IT" sz="2000" dirty="0">
                <a:solidFill>
                  <a:srgbClr val="002F8E"/>
                </a:solidFill>
              </a:rPr>
              <a:t>si avvale illegittimamente di notizie di ufficio</a:t>
            </a:r>
            <a:r>
              <a:rPr lang="it-IT" sz="2000" dirty="0"/>
              <a:t>, le quali debbano rimanere segrete, è punito con la reclusione da due a cinque anni. Se il fatto è commesso al fine di procurare a sé o ad altri un ingiusto profitto non patrimoniale o di cagionare ad altri un danno ingiusto, si applica la pena della reclusione fino a due anni». (aggravanti)</a:t>
            </a:r>
          </a:p>
          <a:p>
            <a:pPr algn="just">
              <a:defRPr sz="21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dirty="0"/>
          </a:p>
        </p:txBody>
      </p:sp>
      <p:pic>
        <p:nvPicPr>
          <p:cNvPr id="35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Rettangolo 1"/>
          <p:cNvSpPr txBox="1"/>
          <p:nvPr/>
        </p:nvSpPr>
        <p:spPr>
          <a:xfrm>
            <a:off x="1305017" y="5548544"/>
            <a:ext cx="7500281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1800" b="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Note</a:t>
            </a:r>
            <a:r>
              <a:rPr sz="1600" u="none" dirty="0"/>
              <a:t>: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Competenza</a:t>
            </a:r>
            <a:r>
              <a:rPr sz="1600" dirty="0"/>
              <a:t> </a:t>
            </a:r>
            <a:r>
              <a:rPr sz="1600" dirty="0" err="1"/>
              <a:t>Tribunale</a:t>
            </a:r>
            <a:r>
              <a:rPr sz="1600" dirty="0"/>
              <a:t> </a:t>
            </a:r>
            <a:r>
              <a:rPr sz="1600" dirty="0" err="1"/>
              <a:t>collegiale</a:t>
            </a:r>
            <a:endParaRPr sz="160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Arresto</a:t>
            </a:r>
            <a:r>
              <a:rPr sz="1600" dirty="0"/>
              <a:t> non </a:t>
            </a:r>
            <a:r>
              <a:rPr sz="1600" dirty="0" err="1"/>
              <a:t>consentito</a:t>
            </a:r>
            <a:r>
              <a:rPr sz="1600" dirty="0"/>
              <a:t> [c. 1, 2 e 2^ </a:t>
            </a:r>
            <a:r>
              <a:rPr sz="1600" dirty="0" err="1"/>
              <a:t>parte</a:t>
            </a:r>
            <a:r>
              <a:rPr sz="1600" dirty="0"/>
              <a:t> c. 3] </a:t>
            </a:r>
            <a:r>
              <a:rPr sz="1600" dirty="0" err="1"/>
              <a:t>facoltativo</a:t>
            </a:r>
            <a:r>
              <a:rPr sz="1600" dirty="0"/>
              <a:t> [c. 3 1^ </a:t>
            </a:r>
            <a:r>
              <a:rPr sz="1600" dirty="0" err="1"/>
              <a:t>parte</a:t>
            </a:r>
            <a:r>
              <a:rPr sz="1600" dirty="0"/>
              <a:t>]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Fermo</a:t>
            </a:r>
            <a:r>
              <a:rPr sz="1600" dirty="0"/>
              <a:t> non </a:t>
            </a:r>
            <a:r>
              <a:rPr sz="1600" dirty="0" err="1"/>
              <a:t>consentito</a:t>
            </a:r>
            <a:r>
              <a:rPr sz="1600" dirty="0"/>
              <a:t> 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Procedibilità</a:t>
            </a:r>
            <a:r>
              <a:rPr sz="1600" dirty="0"/>
              <a:t> </a:t>
            </a:r>
            <a:r>
              <a:rPr sz="1600" dirty="0" err="1"/>
              <a:t>d’ufficio</a:t>
            </a:r>
            <a:endParaRPr sz="1600" dirty="0"/>
          </a:p>
        </p:txBody>
      </p:sp>
      <p:sp>
        <p:nvSpPr>
          <p:cNvPr id="356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1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Rivelazione ed utilizzazione di segreti d’ufficio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asellaDiTesto 13"/>
          <p:cNvSpPr txBox="1"/>
          <p:nvPr/>
        </p:nvSpPr>
        <p:spPr>
          <a:xfrm>
            <a:off x="182569" y="980728"/>
            <a:ext cx="8708068" cy="6186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Si tratta di un </a:t>
            </a:r>
            <a:r>
              <a:rPr lang="it-IT" b="1" dirty="0">
                <a:solidFill>
                  <a:srgbClr val="002F8E"/>
                </a:solidFill>
              </a:rPr>
              <a:t>REATO PROPRIO</a:t>
            </a:r>
            <a:r>
              <a:rPr lang="it-IT" dirty="0"/>
              <a:t>.</a:t>
            </a: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>
                <a:solidFill>
                  <a:schemeClr val="accent6"/>
                </a:solidFill>
              </a:rPr>
              <a:t>INTERESSE TUTELATO</a:t>
            </a:r>
            <a:r>
              <a:rPr lang="it-IT" dirty="0"/>
              <a:t>: </a:t>
            </a:r>
            <a:r>
              <a:rPr u="sng" dirty="0"/>
              <a:t>il </a:t>
            </a:r>
            <a:r>
              <a:rPr b="1" u="sng" dirty="0" err="1"/>
              <a:t>buon</a:t>
            </a:r>
            <a:r>
              <a:rPr b="1" u="sng" dirty="0"/>
              <a:t> </a:t>
            </a:r>
            <a:r>
              <a:rPr b="1" u="sng" dirty="0" err="1"/>
              <a:t>andamento</a:t>
            </a:r>
            <a:r>
              <a:rPr b="1" u="sng" dirty="0"/>
              <a:t> </a:t>
            </a:r>
            <a:r>
              <a:rPr u="sng" dirty="0" err="1"/>
              <a:t>della</a:t>
            </a:r>
            <a:r>
              <a:rPr u="sng" dirty="0"/>
              <a:t> P.A. </a:t>
            </a:r>
            <a:r>
              <a:rPr lang="it-IT" dirty="0"/>
              <a:t>che potrebbe essere compromesso dall’agire di agenti pubblici che, violando il dovere di fedeltà, realizzano condotte di rivelazione o agevolazione di notizie d’ufficio destinate alla segretezza.</a:t>
            </a: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003192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003192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>
                <a:solidFill>
                  <a:srgbClr val="003192"/>
                </a:solidFill>
              </a:rPr>
              <a:t>SEGRETO D’UFFICIO - </a:t>
            </a:r>
            <a:r>
              <a:rPr lang="it-IT" dirty="0">
                <a:sym typeface="Times New Roman"/>
              </a:rPr>
              <a:t>obbligo giuridico riconosciuto in capo al pubblico impiegato e consistente nel </a:t>
            </a:r>
            <a:r>
              <a:rPr lang="it-IT" u="sng" dirty="0">
                <a:solidFill>
                  <a:srgbClr val="FF0000"/>
                </a:solidFill>
                <a:sym typeface="Times New Roman"/>
              </a:rPr>
              <a:t>dovere di non rivelare a terzi quanto appreso nell'esercizio della propria professione</a:t>
            </a:r>
            <a:r>
              <a:rPr lang="it-IT" dirty="0">
                <a:sym typeface="Times New Roman"/>
              </a:rPr>
              <a:t>.</a:t>
            </a: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003192"/>
              </a:solidFill>
              <a:sym typeface="Times New Roman"/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la notizia che, per espressa previsione di legge, per ordine dell’autorità, per consuetudine riconosciuta ed anche per sua espressa natura, </a:t>
            </a:r>
            <a:r>
              <a:rPr lang="it-IT" dirty="0">
                <a:solidFill>
                  <a:srgbClr val="003192"/>
                </a:solidFill>
              </a:rPr>
              <a:t>non deve essere palesata ad altri.</a:t>
            </a:r>
          </a:p>
          <a:p>
            <a:pPr marL="342900" indent="-342900" algn="just">
              <a:buSzPct val="100000"/>
              <a:buChar char="▪"/>
              <a:defRPr sz="2200">
                <a:solidFill>
                  <a:srgbClr val="00319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1" dirty="0">
              <a:solidFill>
                <a:srgbClr val="003192"/>
              </a:solidFill>
            </a:endParaRPr>
          </a:p>
        </p:txBody>
      </p:sp>
      <p:pic>
        <p:nvPicPr>
          <p:cNvPr id="35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1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Rivelazione</a:t>
            </a:r>
            <a:r>
              <a:rPr dirty="0"/>
              <a:t> ed </a:t>
            </a:r>
            <a:r>
              <a:rPr dirty="0" err="1"/>
              <a:t>utilizzazione</a:t>
            </a:r>
            <a:r>
              <a:rPr dirty="0"/>
              <a:t> di </a:t>
            </a:r>
            <a:r>
              <a:rPr dirty="0" err="1"/>
              <a:t>segreti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DA64A1-6F83-42BD-5CA8-F51D6FF68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8866"/>
            <a:ext cx="8229600" cy="48872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2000" b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ELEMENTO OGGETTIVO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: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sz="200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nei 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primi due commi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: nel 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rivelare a terzi </a:t>
            </a:r>
            <a:r>
              <a:rPr lang="it-IT" sz="2000" strike="noStrike" kern="0" spc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(</a:t>
            </a:r>
            <a:r>
              <a:rPr lang="it-IT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qualsiasi forma di comunicazione della notizia d</a:t>
            </a:r>
            <a:r>
              <a:rPr lang="ar-SA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ufficio</a:t>
            </a:r>
            <a:r>
              <a:rPr lang="it-IT" sz="2000" dirty="0">
                <a:latin typeface="Book Antiqua" panose="02040602050305030304" pitchFamily="18" charset="0"/>
                <a:ea typeface="Arial Unicode MS"/>
                <a:cs typeface="Arial Unicode MS"/>
              </a:rPr>
              <a:t>)</a:t>
            </a:r>
            <a:r>
              <a:rPr lang="it-IT" sz="2000" b="1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o </a:t>
            </a:r>
            <a:r>
              <a:rPr lang="it-IT" sz="2000" u="none" strike="noStrike" kern="0" spc="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nell</a:t>
            </a:r>
            <a:r>
              <a:rPr lang="ar-SA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agevolare</a:t>
            </a:r>
            <a:r>
              <a:rPr lang="it-IT" sz="2000" b="1" strike="noStrike" kern="0" spc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 (</a:t>
            </a:r>
            <a:r>
              <a:rPr lang="it-IT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facilitarne l</a:t>
            </a:r>
            <a:r>
              <a:rPr lang="ar-SA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apprendimento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)</a:t>
            </a:r>
            <a:r>
              <a:rPr lang="it-IT" sz="2000" b="1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in qualsiasi modo la conoscenza di notizie d</a:t>
            </a:r>
            <a:r>
              <a:rPr lang="ar-SA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ufficio che devono rimanere segrete; </a:t>
            </a: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endParaRPr lang="it-IT" sz="2000" dirty="0"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r>
              <a:rPr lang="it-IT" sz="2000" i="1" dirty="0">
                <a:latin typeface="Book Antiqua" panose="02040602050305030304" pitchFamily="18" charset="0"/>
                <a:ea typeface="Arial Unicode MS"/>
                <a:cs typeface="Arial Unicode MS"/>
              </a:rPr>
              <a:t>Al c. 2 </a:t>
            </a:r>
            <a:r>
              <a:rPr lang="it-IT" sz="2000" dirty="0">
                <a:latin typeface="Book Antiqua" panose="02040602050305030304" pitchFamily="18" charset="0"/>
                <a:ea typeface="Arial Unicode MS"/>
                <a:cs typeface="Arial Unicode MS"/>
              </a:rPr>
              <a:t>fattispecie di </a:t>
            </a:r>
            <a:r>
              <a:rPr lang="it-IT" sz="2000" u="sng" dirty="0">
                <a:latin typeface="Book Antiqua" panose="02040602050305030304" pitchFamily="18" charset="0"/>
                <a:ea typeface="Arial Unicode MS"/>
                <a:cs typeface="Arial Unicode MS"/>
              </a:rPr>
              <a:t>natura </a:t>
            </a:r>
            <a:r>
              <a:rPr lang="it-IT" sz="2000" b="1" u="sng" dirty="0">
                <a:latin typeface="Book Antiqua" panose="02040602050305030304" pitchFamily="18" charset="0"/>
                <a:ea typeface="Arial Unicode MS"/>
                <a:cs typeface="Arial Unicode MS"/>
              </a:rPr>
              <a:t>colposa</a:t>
            </a:r>
            <a:r>
              <a:rPr lang="it-IT" sz="2000" u="sng" dirty="0">
                <a:latin typeface="Book Antiqua" panose="02040602050305030304" pitchFamily="18" charset="0"/>
                <a:ea typeface="Arial Unicode MS"/>
                <a:cs typeface="Arial Unicode MS"/>
              </a:rPr>
              <a:t> </a:t>
            </a: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endParaRPr lang="it-IT" sz="20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nel 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terzo comma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: </a:t>
            </a:r>
            <a:r>
              <a:rPr lang="it-IT" sz="2000" u="none" strike="noStrike" kern="0" spc="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nell</a:t>
            </a:r>
            <a:r>
              <a:rPr lang="ar-SA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7030A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avvalersi illegittimamente</a:t>
            </a:r>
            <a:r>
              <a:rPr lang="it-IT" sz="2000" u="sng" strike="noStrike" kern="0" spc="0" dirty="0">
                <a:ln>
                  <a:noFill/>
                </a:ln>
                <a:solidFill>
                  <a:srgbClr val="7030A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delle predette notizie. (</a:t>
            </a:r>
            <a:r>
              <a:rPr lang="it-IT" sz="2000" i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condotte di sfruttamento o di utilizzazione delle conoscenze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)</a:t>
            </a:r>
          </a:p>
          <a:p>
            <a:pPr algn="just" fontAlgn="base">
              <a:lnSpc>
                <a:spcPct val="120000"/>
              </a:lnSpc>
              <a:buSzPts val="600"/>
              <a:buFont typeface="Wingdings" panose="05000000000000000000" pitchFamily="2" charset="2"/>
              <a:buChar char="Ø"/>
            </a:pPr>
            <a:endParaRPr lang="it-IT" sz="20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it-IT" dirty="0"/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AA12453-E545-0534-C1D8-B30613917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40685"/>
            <a:ext cx="8686800" cy="567062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1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Rivelazione</a:t>
            </a:r>
            <a:r>
              <a:rPr dirty="0"/>
              <a:t> ed </a:t>
            </a:r>
            <a:r>
              <a:rPr dirty="0" err="1"/>
              <a:t>utilizzazione</a:t>
            </a:r>
            <a:r>
              <a:rPr dirty="0"/>
              <a:t> di </a:t>
            </a:r>
            <a:r>
              <a:rPr dirty="0" err="1"/>
              <a:t>segreti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2A3142A2-6F6C-2E16-4479-DAE1018C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1147973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2E380C-DBE8-E532-2103-BBD384627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858"/>
            <a:ext cx="8229600" cy="519143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18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è un reato:</a:t>
            </a:r>
            <a:endParaRPr lang="it-IT" sz="180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 </a:t>
            </a:r>
            <a:r>
              <a:rPr lang="it-IT" sz="2000" b="1" u="sng" dirty="0">
                <a:solidFill>
                  <a:srgbClr val="00B0F0"/>
                </a:solidFill>
                <a:latin typeface="Times New Roman" panose="02020603050405020304" pitchFamily="18" charset="0"/>
                <a:ea typeface="Arial Unicode MS"/>
                <a:cs typeface="Arial Unicode MS"/>
              </a:rPr>
              <a:t>FORMA VINCOLATA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, in quanto la rilevanza della condotta è determinata dalla violazione di norme poste a protezione del segreto d</a:t>
            </a:r>
            <a:r>
              <a:rPr lang="ar-SA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ufficio violato dalla condotta “</a:t>
            </a:r>
            <a:r>
              <a:rPr lang="it-IT" sz="2000" i="1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contra ius”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 </a:t>
            </a:r>
            <a:r>
              <a:rPr lang="it-IT" sz="2000" u="none" strike="noStrike" kern="0" spc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dell</a:t>
            </a:r>
            <a:r>
              <a:rPr lang="ar-SA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’</a:t>
            </a:r>
            <a:r>
              <a:rPr lang="pt-P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agente;</a:t>
            </a: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endParaRPr lang="it-IT" sz="20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a 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CONDOTTA ATTIVA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, limitatamente al fatto tipico della rivelazione, che presuppone necessariamente un’azione;</a:t>
            </a: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endParaRPr lang="it-IT" sz="20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pPr marL="342900" lvl="0" indent="-342900" algn="just" fontAlgn="base">
              <a:lnSpc>
                <a:spcPct val="120000"/>
              </a:lnSpc>
              <a:buSzPts val="600"/>
              <a:buBlip>
                <a:blip r:embed="rId2"/>
              </a:buBlip>
            </a:pP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di </a:t>
            </a:r>
            <a:r>
              <a:rPr lang="it-IT" sz="2000" b="1" u="sng" strike="noStrike" kern="0" spc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PERICOLO CONCRETO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poiché rivelazione del segreto è punibile non già in s</a:t>
            </a:r>
            <a:r>
              <a:rPr lang="fr-FR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é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 per s</a:t>
            </a:r>
            <a:r>
              <a:rPr lang="fr-FR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é 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ma soltanto se dalla divulgazione della notizia possa derivare un qualche nocumento alla Pubblica Amministrazione o ai terzi. (VALUTAZIONE </a:t>
            </a:r>
            <a:r>
              <a:rPr lang="it-IT" sz="2000" i="1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ex post</a:t>
            </a:r>
            <a:r>
              <a:rPr lang="it-IT" sz="2000" u="none" strike="noStrike" kern="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)</a:t>
            </a:r>
            <a:endParaRPr lang="it-IT" sz="2000" u="none" strike="noStrike" kern="0" spc="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3C49A05-6824-F738-42AE-631FF3A9E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0150"/>
            <a:ext cx="8549950" cy="567062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1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Rivelazione</a:t>
            </a:r>
            <a:r>
              <a:rPr dirty="0"/>
              <a:t> ed </a:t>
            </a:r>
            <a:r>
              <a:rPr dirty="0" err="1"/>
              <a:t>utilizzazione</a:t>
            </a:r>
            <a:r>
              <a:rPr dirty="0"/>
              <a:t> di </a:t>
            </a:r>
            <a:r>
              <a:rPr dirty="0" err="1"/>
              <a:t>segreti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ADECA881-1749-BD34-D7C9-01AFD72B4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6996934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asellaDiTesto 13"/>
          <p:cNvSpPr txBox="1"/>
          <p:nvPr/>
        </p:nvSpPr>
        <p:spPr>
          <a:xfrm>
            <a:off x="217966" y="1113892"/>
            <a:ext cx="8708068" cy="4247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ELEMENTO SOGGETTIVO</a:t>
            </a:r>
            <a:r>
              <a:rPr b="0" u="none" dirty="0"/>
              <a:t>, </a:t>
            </a:r>
            <a:r>
              <a:rPr b="0" u="none" dirty="0" err="1"/>
              <a:t>occorre</a:t>
            </a:r>
            <a:r>
              <a:rPr b="0" u="none" dirty="0"/>
              <a:t>:</a:t>
            </a:r>
            <a:endParaRPr lang="it-IT" b="0" u="none" dirty="0"/>
          </a:p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lang="it-IT" dirty="0"/>
              <a:t>c.1 </a:t>
            </a:r>
            <a:r>
              <a:rPr dirty="0"/>
              <a:t>il </a:t>
            </a:r>
            <a:r>
              <a:rPr b="1" dirty="0" err="1">
                <a:solidFill>
                  <a:srgbClr val="002F8E"/>
                </a:solidFill>
              </a:rPr>
              <a:t>dolo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generico</a:t>
            </a:r>
            <a:r>
              <a:rPr dirty="0"/>
              <a:t>;</a:t>
            </a:r>
            <a:endParaRPr lang="it-IT" dirty="0"/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lang="it-IT" dirty="0"/>
              <a:t>c.2 </a:t>
            </a:r>
            <a:r>
              <a:rPr dirty="0"/>
              <a:t>la </a:t>
            </a:r>
            <a:r>
              <a:rPr b="1" dirty="0" err="1">
                <a:solidFill>
                  <a:srgbClr val="002F8E"/>
                </a:solidFill>
              </a:rPr>
              <a:t>colpa</a:t>
            </a:r>
            <a:r>
              <a:rPr dirty="0"/>
              <a:t>;</a:t>
            </a:r>
            <a:endParaRPr lang="it-IT" dirty="0"/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lang="it-IT" dirty="0"/>
              <a:t>c.3 </a:t>
            </a:r>
            <a:r>
              <a:rPr dirty="0"/>
              <a:t>il </a:t>
            </a:r>
            <a:r>
              <a:rPr b="1" dirty="0" err="1">
                <a:solidFill>
                  <a:srgbClr val="002F8E"/>
                </a:solidFill>
              </a:rPr>
              <a:t>dolo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specifico</a:t>
            </a:r>
            <a:r>
              <a:rPr dirty="0"/>
              <a:t>, </a:t>
            </a:r>
            <a:r>
              <a:rPr sz="2400" dirty="0" err="1"/>
              <a:t>coscienza</a:t>
            </a:r>
            <a:r>
              <a:rPr sz="2400" dirty="0"/>
              <a:t> e </a:t>
            </a:r>
            <a:r>
              <a:rPr sz="2400" dirty="0" err="1"/>
              <a:t>volontà</a:t>
            </a:r>
            <a:r>
              <a:rPr sz="2400" dirty="0"/>
              <a:t> del </a:t>
            </a:r>
            <a:r>
              <a:rPr sz="2400" dirty="0" err="1"/>
              <a:t>fatto</a:t>
            </a:r>
            <a:r>
              <a:rPr sz="2400" dirty="0"/>
              <a:t>, con </a:t>
            </a:r>
            <a:r>
              <a:rPr sz="2400" dirty="0" err="1"/>
              <a:t>l'ulteriore</a:t>
            </a:r>
            <a:r>
              <a:rPr sz="2400" dirty="0"/>
              <a:t> </a:t>
            </a:r>
            <a:r>
              <a:rPr sz="2400" dirty="0" err="1"/>
              <a:t>scopo</a:t>
            </a:r>
            <a:r>
              <a:rPr sz="2400" dirty="0"/>
              <a:t> di </a:t>
            </a:r>
            <a:r>
              <a:rPr sz="2400" dirty="0" err="1"/>
              <a:t>procurare</a:t>
            </a:r>
            <a:r>
              <a:rPr sz="2400" dirty="0"/>
              <a:t> un </a:t>
            </a:r>
            <a:r>
              <a:rPr sz="2400" dirty="0" err="1"/>
              <a:t>vantaggio</a:t>
            </a:r>
            <a:r>
              <a:rPr sz="2400" dirty="0"/>
              <a:t> o un </a:t>
            </a:r>
            <a:r>
              <a:rPr sz="2400" dirty="0" err="1"/>
              <a:t>danno</a:t>
            </a:r>
            <a:r>
              <a:rPr sz="2400" dirty="0"/>
              <a:t>.</a:t>
            </a: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 dirty="0"/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tentativo</a:t>
            </a:r>
            <a:r>
              <a:rPr dirty="0"/>
              <a:t> è </a:t>
            </a:r>
            <a:r>
              <a:rPr dirty="0" err="1"/>
              <a:t>ammissibile</a:t>
            </a:r>
            <a:r>
              <a:rPr dirty="0"/>
              <a:t> (salvo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di cui al comma 2).</a:t>
            </a:r>
          </a:p>
        </p:txBody>
      </p:sp>
      <p:pic>
        <p:nvPicPr>
          <p:cNvPr id="36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1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Rivelazione ed utilizzazione di segreti d’ufficio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asellaDiTesto 7"/>
          <p:cNvSpPr txBox="1"/>
          <p:nvPr/>
        </p:nvSpPr>
        <p:spPr>
          <a:xfrm>
            <a:off x="217871" y="908720"/>
            <a:ext cx="8700897" cy="4485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328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Rifiuto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atti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d’ufficio</a:t>
            </a:r>
            <a:r>
              <a:rPr dirty="0">
                <a:solidFill>
                  <a:srgbClr val="FF0000"/>
                </a:solidFill>
              </a:rPr>
              <a:t>. </a:t>
            </a:r>
            <a:r>
              <a:rPr dirty="0" err="1">
                <a:solidFill>
                  <a:srgbClr val="FF0000"/>
                </a:solidFill>
              </a:rPr>
              <a:t>Omissione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8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«c.1 Il </a:t>
            </a:r>
            <a:r>
              <a:rPr sz="2000" dirty="0" err="1"/>
              <a:t>pubblico</a:t>
            </a:r>
            <a:r>
              <a:rPr sz="2000" dirty="0"/>
              <a:t> </a:t>
            </a:r>
            <a:r>
              <a:rPr sz="2000" dirty="0" err="1"/>
              <a:t>ufficiale</a:t>
            </a:r>
            <a:r>
              <a:rPr sz="2000" dirty="0"/>
              <a:t> o </a:t>
            </a:r>
            <a:r>
              <a:rPr sz="2000" dirty="0" err="1"/>
              <a:t>l'incaricato</a:t>
            </a:r>
            <a:r>
              <a:rPr sz="2000" dirty="0"/>
              <a:t> di un </a:t>
            </a:r>
            <a:r>
              <a:rPr sz="2000" dirty="0" err="1"/>
              <a:t>pubblico</a:t>
            </a:r>
            <a:r>
              <a:rPr sz="2000" dirty="0"/>
              <a:t> </a:t>
            </a:r>
            <a:r>
              <a:rPr sz="2000" dirty="0" err="1"/>
              <a:t>servizio</a:t>
            </a:r>
            <a:r>
              <a:rPr sz="2000" dirty="0"/>
              <a:t>, </a:t>
            </a:r>
            <a:r>
              <a:rPr sz="2000" dirty="0" err="1"/>
              <a:t>che</a:t>
            </a:r>
            <a:r>
              <a:rPr sz="2000" dirty="0"/>
              <a:t> </a:t>
            </a:r>
            <a:r>
              <a:rPr sz="2000" b="1" dirty="0" err="1">
                <a:solidFill>
                  <a:srgbClr val="0070C0"/>
                </a:solidFill>
              </a:rPr>
              <a:t>indebitamente</a:t>
            </a:r>
            <a:r>
              <a:rPr sz="2000" b="1" dirty="0">
                <a:solidFill>
                  <a:srgbClr val="0070C0"/>
                </a:solidFill>
              </a:rPr>
              <a:t> </a:t>
            </a:r>
            <a:r>
              <a:rPr sz="2000" b="1" dirty="0" err="1">
                <a:solidFill>
                  <a:srgbClr val="0070C0"/>
                </a:solidFill>
              </a:rPr>
              <a:t>rifiuta</a:t>
            </a:r>
            <a:r>
              <a:rPr sz="2000" b="1" dirty="0">
                <a:solidFill>
                  <a:srgbClr val="0070C0"/>
                </a:solidFill>
              </a:rPr>
              <a:t> un </a:t>
            </a:r>
            <a:r>
              <a:rPr sz="2000" b="1" dirty="0" err="1">
                <a:solidFill>
                  <a:srgbClr val="0070C0"/>
                </a:solidFill>
              </a:rPr>
              <a:t>atto</a:t>
            </a:r>
            <a:r>
              <a:rPr sz="2000" b="1" dirty="0">
                <a:solidFill>
                  <a:srgbClr val="0070C0"/>
                </a:solidFill>
              </a:rPr>
              <a:t> del </a:t>
            </a:r>
            <a:r>
              <a:rPr sz="2000" b="1" dirty="0" err="1">
                <a:solidFill>
                  <a:srgbClr val="0070C0"/>
                </a:solidFill>
              </a:rPr>
              <a:t>suo</a:t>
            </a:r>
            <a:r>
              <a:rPr sz="2000" b="1" dirty="0">
                <a:solidFill>
                  <a:srgbClr val="0070C0"/>
                </a:solidFill>
              </a:rPr>
              <a:t> </a:t>
            </a:r>
            <a:r>
              <a:rPr sz="2000" b="1" dirty="0" err="1">
                <a:solidFill>
                  <a:srgbClr val="0070C0"/>
                </a:solidFill>
              </a:rPr>
              <a:t>ufficio</a:t>
            </a:r>
            <a:r>
              <a:rPr sz="2000" dirty="0"/>
              <a:t> </a:t>
            </a:r>
            <a:r>
              <a:rPr sz="2000" dirty="0" err="1"/>
              <a:t>che</a:t>
            </a:r>
            <a:r>
              <a:rPr sz="2000" dirty="0"/>
              <a:t>, per </a:t>
            </a:r>
            <a:r>
              <a:rPr sz="2000" dirty="0" err="1"/>
              <a:t>ragioni</a:t>
            </a:r>
            <a:r>
              <a:rPr sz="2000" dirty="0"/>
              <a:t> di </a:t>
            </a:r>
            <a:r>
              <a:rPr sz="2000" dirty="0" err="1"/>
              <a:t>giustizia</a:t>
            </a:r>
            <a:r>
              <a:rPr sz="2000" dirty="0"/>
              <a:t> o di </a:t>
            </a:r>
            <a:r>
              <a:rPr sz="2000" dirty="0" err="1"/>
              <a:t>sicurezza</a:t>
            </a:r>
            <a:r>
              <a:rPr sz="2000" dirty="0"/>
              <a:t> </a:t>
            </a:r>
            <a:r>
              <a:rPr sz="2000" dirty="0" err="1"/>
              <a:t>pubblica</a:t>
            </a:r>
            <a:r>
              <a:rPr sz="2000" dirty="0"/>
              <a:t>, o di </a:t>
            </a:r>
            <a:r>
              <a:rPr sz="2000" dirty="0" err="1"/>
              <a:t>ordine</a:t>
            </a:r>
            <a:r>
              <a:rPr sz="2000" dirty="0"/>
              <a:t> </a:t>
            </a:r>
            <a:r>
              <a:rPr sz="2000" dirty="0" err="1"/>
              <a:t>pubblico</a:t>
            </a:r>
            <a:r>
              <a:rPr sz="2000" dirty="0"/>
              <a:t> o di </a:t>
            </a:r>
            <a:r>
              <a:rPr sz="2000" dirty="0" err="1"/>
              <a:t>igiene</a:t>
            </a:r>
            <a:r>
              <a:rPr sz="2000" dirty="0"/>
              <a:t> e </a:t>
            </a:r>
            <a:r>
              <a:rPr sz="2000" dirty="0" err="1"/>
              <a:t>sanità</a:t>
            </a:r>
            <a:r>
              <a:rPr sz="2000" dirty="0"/>
              <a:t>, </a:t>
            </a:r>
            <a:r>
              <a:rPr sz="2000" dirty="0" err="1"/>
              <a:t>deve</a:t>
            </a:r>
            <a:r>
              <a:rPr sz="2000" dirty="0"/>
              <a:t> </a:t>
            </a:r>
            <a:r>
              <a:rPr sz="2000" dirty="0" err="1"/>
              <a:t>essere</a:t>
            </a:r>
            <a:r>
              <a:rPr sz="2000" dirty="0"/>
              <a:t> </a:t>
            </a:r>
            <a:r>
              <a:rPr sz="2000" dirty="0" err="1"/>
              <a:t>compiuto</a:t>
            </a:r>
            <a:r>
              <a:rPr sz="2000" dirty="0"/>
              <a:t> senza </a:t>
            </a:r>
            <a:r>
              <a:rPr sz="2000" dirty="0" err="1"/>
              <a:t>ritardo</a:t>
            </a:r>
            <a:r>
              <a:rPr sz="2000" dirty="0"/>
              <a:t>, è </a:t>
            </a:r>
            <a:r>
              <a:rPr sz="2000" dirty="0" err="1"/>
              <a:t>punito</a:t>
            </a:r>
            <a:r>
              <a:rPr sz="2000" dirty="0"/>
              <a:t> con la </a:t>
            </a:r>
            <a:r>
              <a:rPr sz="2000" dirty="0" err="1"/>
              <a:t>reclusione</a:t>
            </a:r>
            <a:r>
              <a:rPr sz="2000" dirty="0"/>
              <a:t> da sei </a:t>
            </a:r>
            <a:r>
              <a:rPr sz="2000" dirty="0" err="1"/>
              <a:t>mesi</a:t>
            </a:r>
            <a:r>
              <a:rPr sz="2000" dirty="0"/>
              <a:t> a due </a:t>
            </a:r>
            <a:r>
              <a:rPr sz="2000" dirty="0" err="1"/>
              <a:t>anni</a:t>
            </a:r>
            <a:r>
              <a:rPr sz="2000" dirty="0"/>
              <a:t>.</a:t>
            </a:r>
            <a:endParaRPr lang="it-IT" sz="2000" dirty="0"/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dirty="0"/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c.2 </a:t>
            </a:r>
            <a:r>
              <a:rPr sz="2000" dirty="0" err="1"/>
              <a:t>Fuori</a:t>
            </a:r>
            <a:r>
              <a:rPr sz="2000" dirty="0"/>
              <a:t> </a:t>
            </a:r>
            <a:r>
              <a:rPr sz="2000" dirty="0" err="1"/>
              <a:t>dei</a:t>
            </a:r>
            <a:r>
              <a:rPr sz="2000" dirty="0"/>
              <a:t> </a:t>
            </a:r>
            <a:r>
              <a:rPr sz="2000" dirty="0" err="1"/>
              <a:t>casi</a:t>
            </a:r>
            <a:r>
              <a:rPr sz="2000" dirty="0"/>
              <a:t> </a:t>
            </a:r>
            <a:r>
              <a:rPr sz="2000" dirty="0" err="1"/>
              <a:t>previsti</a:t>
            </a:r>
            <a:r>
              <a:rPr sz="2000" dirty="0"/>
              <a:t> dal primo comma,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pubblico</a:t>
            </a:r>
            <a:r>
              <a:rPr sz="2000" dirty="0"/>
              <a:t> </a:t>
            </a:r>
            <a:r>
              <a:rPr sz="2000" dirty="0" err="1"/>
              <a:t>ufficiale</a:t>
            </a:r>
            <a:r>
              <a:rPr sz="2000" dirty="0"/>
              <a:t> o </a:t>
            </a:r>
            <a:r>
              <a:rPr sz="2000" dirty="0" err="1"/>
              <a:t>l'incaricato</a:t>
            </a:r>
            <a:r>
              <a:rPr sz="2000" dirty="0"/>
              <a:t> di un </a:t>
            </a:r>
            <a:r>
              <a:rPr sz="2000" dirty="0" err="1"/>
              <a:t>pubblico</a:t>
            </a:r>
            <a:r>
              <a:rPr sz="2000" dirty="0"/>
              <a:t> </a:t>
            </a:r>
            <a:r>
              <a:rPr sz="2000" dirty="0" err="1"/>
              <a:t>servizio</a:t>
            </a:r>
            <a:r>
              <a:rPr sz="2000" dirty="0"/>
              <a:t>, </a:t>
            </a:r>
            <a:r>
              <a:rPr sz="2000" dirty="0" err="1"/>
              <a:t>che</a:t>
            </a:r>
            <a:r>
              <a:rPr sz="2000" dirty="0"/>
              <a:t> </a:t>
            </a:r>
            <a:r>
              <a:rPr sz="2000" dirty="0" err="1"/>
              <a:t>entro</a:t>
            </a:r>
            <a:r>
              <a:rPr sz="2000" dirty="0"/>
              <a:t> </a:t>
            </a:r>
            <a:r>
              <a:rPr sz="2000" dirty="0" err="1"/>
              <a:t>trenta</a:t>
            </a:r>
            <a:r>
              <a:rPr sz="2000" dirty="0"/>
              <a:t> </a:t>
            </a:r>
            <a:r>
              <a:rPr sz="2000" dirty="0" err="1"/>
              <a:t>giorni</a:t>
            </a:r>
            <a:r>
              <a:rPr sz="2000" dirty="0"/>
              <a:t> </a:t>
            </a:r>
            <a:r>
              <a:rPr sz="2000" dirty="0" err="1"/>
              <a:t>dalla</a:t>
            </a:r>
            <a:r>
              <a:rPr sz="2000" dirty="0"/>
              <a:t> </a:t>
            </a:r>
            <a:r>
              <a:rPr sz="2000" dirty="0" err="1"/>
              <a:t>richiesta</a:t>
            </a:r>
            <a:r>
              <a:rPr sz="2000" dirty="0"/>
              <a:t> di chi vi </a:t>
            </a:r>
            <a:r>
              <a:rPr sz="2000" dirty="0" err="1"/>
              <a:t>abbia</a:t>
            </a:r>
            <a:r>
              <a:rPr sz="2000" dirty="0"/>
              <a:t> interesse </a:t>
            </a:r>
            <a:r>
              <a:rPr sz="2000" b="1" dirty="0">
                <a:solidFill>
                  <a:srgbClr val="0070C0"/>
                </a:solidFill>
              </a:rPr>
              <a:t>non </a:t>
            </a:r>
            <a:r>
              <a:rPr sz="2000" b="1" dirty="0" err="1">
                <a:solidFill>
                  <a:srgbClr val="0070C0"/>
                </a:solidFill>
              </a:rPr>
              <a:t>compie</a:t>
            </a:r>
            <a:r>
              <a:rPr sz="2000" b="1" dirty="0">
                <a:solidFill>
                  <a:srgbClr val="0070C0"/>
                </a:solidFill>
              </a:rPr>
              <a:t> </a:t>
            </a:r>
            <a:r>
              <a:rPr sz="2000" b="1" dirty="0" err="1">
                <a:solidFill>
                  <a:srgbClr val="0070C0"/>
                </a:solidFill>
              </a:rPr>
              <a:t>l'atto</a:t>
            </a:r>
            <a:r>
              <a:rPr sz="2000" b="1" dirty="0">
                <a:solidFill>
                  <a:srgbClr val="0070C0"/>
                </a:solidFill>
              </a:rPr>
              <a:t> del </a:t>
            </a:r>
            <a:r>
              <a:rPr sz="2000" b="1" dirty="0" err="1">
                <a:solidFill>
                  <a:srgbClr val="0070C0"/>
                </a:solidFill>
              </a:rPr>
              <a:t>suo</a:t>
            </a:r>
            <a:r>
              <a:rPr sz="2000" b="1" dirty="0">
                <a:solidFill>
                  <a:srgbClr val="0070C0"/>
                </a:solidFill>
              </a:rPr>
              <a:t> </a:t>
            </a:r>
            <a:r>
              <a:rPr sz="2000" b="1" dirty="0" err="1">
                <a:solidFill>
                  <a:srgbClr val="0070C0"/>
                </a:solidFill>
              </a:rPr>
              <a:t>ufficio</a:t>
            </a:r>
            <a:r>
              <a:rPr sz="2000" b="1" dirty="0">
                <a:solidFill>
                  <a:srgbClr val="0070C0"/>
                </a:solidFill>
              </a:rPr>
              <a:t> e non </a:t>
            </a:r>
            <a:r>
              <a:rPr sz="2000" b="1" dirty="0" err="1">
                <a:solidFill>
                  <a:srgbClr val="0070C0"/>
                </a:solidFill>
              </a:rPr>
              <a:t>risponde</a:t>
            </a:r>
            <a:r>
              <a:rPr sz="2000" b="1" dirty="0">
                <a:solidFill>
                  <a:srgbClr val="0070C0"/>
                </a:solidFill>
              </a:rPr>
              <a:t> per </a:t>
            </a:r>
            <a:r>
              <a:rPr sz="2000" b="1" dirty="0" err="1">
                <a:solidFill>
                  <a:srgbClr val="0070C0"/>
                </a:solidFill>
              </a:rPr>
              <a:t>esporre</a:t>
            </a:r>
            <a:r>
              <a:rPr sz="2000" b="1" dirty="0">
                <a:solidFill>
                  <a:srgbClr val="0070C0"/>
                </a:solidFill>
              </a:rPr>
              <a:t> le </a:t>
            </a:r>
            <a:r>
              <a:rPr sz="2000" b="1" dirty="0" err="1">
                <a:solidFill>
                  <a:srgbClr val="0070C0"/>
                </a:solidFill>
              </a:rPr>
              <a:t>ragioni</a:t>
            </a:r>
            <a:r>
              <a:rPr sz="2000" b="1" dirty="0">
                <a:solidFill>
                  <a:srgbClr val="0070C0"/>
                </a:solidFill>
              </a:rPr>
              <a:t> del </a:t>
            </a:r>
            <a:r>
              <a:rPr sz="2000" b="1" dirty="0" err="1">
                <a:solidFill>
                  <a:srgbClr val="0070C0"/>
                </a:solidFill>
              </a:rPr>
              <a:t>ritardo</a:t>
            </a:r>
            <a:r>
              <a:rPr sz="2000" dirty="0"/>
              <a:t>, è </a:t>
            </a:r>
            <a:r>
              <a:rPr sz="2000" dirty="0" err="1"/>
              <a:t>punito</a:t>
            </a:r>
            <a:r>
              <a:rPr sz="2000" dirty="0"/>
              <a:t> con la </a:t>
            </a:r>
            <a:r>
              <a:rPr sz="2000" dirty="0" err="1"/>
              <a:t>reclusione</a:t>
            </a:r>
            <a:r>
              <a:rPr sz="2000" dirty="0"/>
              <a:t> </a:t>
            </a:r>
            <a:r>
              <a:rPr sz="2000" dirty="0" err="1"/>
              <a:t>fino</a:t>
            </a:r>
            <a:r>
              <a:rPr sz="2000" dirty="0"/>
              <a:t> ad un anno o con la </a:t>
            </a:r>
            <a:r>
              <a:rPr sz="2000" dirty="0" err="1"/>
              <a:t>multa</a:t>
            </a:r>
            <a:r>
              <a:rPr sz="2000" dirty="0"/>
              <a:t> </a:t>
            </a:r>
            <a:r>
              <a:rPr sz="2000" dirty="0" err="1"/>
              <a:t>fino</a:t>
            </a:r>
            <a:r>
              <a:rPr sz="2000" dirty="0"/>
              <a:t> a </a:t>
            </a:r>
            <a:r>
              <a:rPr lang="it-IT" sz="2000" dirty="0"/>
              <a:t>1.032</a:t>
            </a:r>
            <a:r>
              <a:rPr sz="2000" dirty="0"/>
              <a:t> euro. Tale </a:t>
            </a:r>
            <a:r>
              <a:rPr sz="2000" dirty="0" err="1"/>
              <a:t>richiesta</a:t>
            </a:r>
            <a:r>
              <a:rPr sz="2000" dirty="0"/>
              <a:t> </a:t>
            </a:r>
            <a:r>
              <a:rPr sz="2000" dirty="0" err="1"/>
              <a:t>deve</a:t>
            </a:r>
            <a:r>
              <a:rPr sz="2000" dirty="0"/>
              <a:t> </a:t>
            </a:r>
            <a:r>
              <a:rPr sz="2000" dirty="0" err="1"/>
              <a:t>essere</a:t>
            </a:r>
            <a:r>
              <a:rPr sz="2000" dirty="0"/>
              <a:t> </a:t>
            </a:r>
            <a:r>
              <a:rPr sz="2000" dirty="0" err="1"/>
              <a:t>redatta</a:t>
            </a:r>
            <a:r>
              <a:rPr sz="2000" dirty="0"/>
              <a:t> in forma </a:t>
            </a:r>
            <a:r>
              <a:rPr sz="2000" dirty="0" err="1"/>
              <a:t>scritta</a:t>
            </a:r>
            <a:r>
              <a:rPr sz="2000" dirty="0"/>
              <a:t> ed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termine</a:t>
            </a:r>
            <a:r>
              <a:rPr sz="2000" dirty="0"/>
              <a:t> di </a:t>
            </a:r>
            <a:r>
              <a:rPr sz="2000" dirty="0" err="1"/>
              <a:t>trenta</a:t>
            </a:r>
            <a:r>
              <a:rPr sz="2000" dirty="0"/>
              <a:t> </a:t>
            </a:r>
            <a:r>
              <a:rPr sz="2000" dirty="0" err="1"/>
              <a:t>giorni</a:t>
            </a:r>
            <a:r>
              <a:rPr sz="2000" dirty="0"/>
              <a:t> </a:t>
            </a:r>
            <a:r>
              <a:rPr sz="2000" dirty="0" err="1"/>
              <a:t>decorre</a:t>
            </a:r>
            <a:r>
              <a:rPr sz="2000" dirty="0"/>
              <a:t> </a:t>
            </a:r>
            <a:r>
              <a:rPr sz="2000" dirty="0" err="1"/>
              <a:t>dalla</a:t>
            </a:r>
            <a:r>
              <a:rPr sz="2000" dirty="0"/>
              <a:t> </a:t>
            </a:r>
            <a:r>
              <a:rPr sz="2000" dirty="0" err="1"/>
              <a:t>ricezione</a:t>
            </a:r>
            <a:r>
              <a:rPr sz="2000" dirty="0"/>
              <a:t> </a:t>
            </a:r>
            <a:r>
              <a:rPr sz="2000" dirty="0" err="1"/>
              <a:t>della</a:t>
            </a:r>
            <a:r>
              <a:rPr sz="2000" dirty="0"/>
              <a:t> </a:t>
            </a:r>
            <a:r>
              <a:rPr sz="2000" dirty="0" err="1"/>
              <a:t>richiesta</a:t>
            </a:r>
            <a:r>
              <a:rPr sz="2000" dirty="0"/>
              <a:t> </a:t>
            </a:r>
            <a:r>
              <a:rPr sz="2000" dirty="0" err="1"/>
              <a:t>stessa</a:t>
            </a:r>
            <a:r>
              <a:rPr sz="2000" dirty="0"/>
              <a:t>».</a:t>
            </a:r>
          </a:p>
        </p:txBody>
      </p:sp>
      <p:pic>
        <p:nvPicPr>
          <p:cNvPr id="36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Rettangolo 1"/>
          <p:cNvSpPr txBox="1"/>
          <p:nvPr/>
        </p:nvSpPr>
        <p:spPr>
          <a:xfrm>
            <a:off x="4905752" y="5380671"/>
            <a:ext cx="3364944" cy="141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non consentito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 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6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di </a:t>
            </a:r>
            <a:r>
              <a:rPr dirty="0" err="1"/>
              <a:t>atti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. </a:t>
            </a:r>
            <a:r>
              <a:rPr dirty="0" err="1"/>
              <a:t>Omissione</a:t>
            </a:r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E1400C-8123-F6CD-A2EA-BD84731E6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20264"/>
            <a:ext cx="8229600" cy="6037736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1800" b="1" u="sng" dirty="0">
                <a:ln>
                  <a:noFill/>
                </a:ln>
                <a:solidFill>
                  <a:srgbClr val="00B0F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ELEMENTO OGGETTIVO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it-IT" sz="2100" b="1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RIFIUTO DI ATTI D’UFFICIO (c.1</a:t>
            </a:r>
            <a:r>
              <a:rPr lang="it-IT" sz="1800" b="1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L</a:t>
            </a:r>
            <a:r>
              <a:rPr lang="ar-SA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atto di ufficio da compiersi senza ritardo deve essere qualificato da ragioni:</a:t>
            </a:r>
          </a:p>
          <a:p>
            <a:pPr algn="just">
              <a:lnSpc>
                <a:spcPct val="120000"/>
              </a:lnSpc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di </a:t>
            </a:r>
            <a:r>
              <a:rPr lang="it-IT" sz="2000" b="1" u="sng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giustizia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, intendendosi qualunque provvedimento od ordine derivante da una norma giuridica e diretto a rendere possibile o più agevole l</a:t>
            </a:r>
            <a:r>
              <a:rPr lang="ar-SA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attività del giudice, del pubblico ministero o della polizia giudiziaria;</a:t>
            </a:r>
          </a:p>
          <a:p>
            <a:pPr algn="just">
              <a:lnSpc>
                <a:spcPct val="120000"/>
              </a:lnSpc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di </a:t>
            </a:r>
            <a:r>
              <a:rPr lang="it-IT" sz="2000" b="1" u="sng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sicurezza pubblica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, riferendosi a qualsiasi atto diretto a garantire la sicurezza dei cittadini e la loro incolumità;</a:t>
            </a:r>
          </a:p>
          <a:p>
            <a:pPr algn="just">
              <a:lnSpc>
                <a:spcPct val="120000"/>
              </a:lnSpc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di </a:t>
            </a:r>
            <a:r>
              <a:rPr lang="it-IT" sz="2000" b="1" u="sng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ordine pubblico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, cioè volto ad evitare turbative della quiete e della tranquillità pubblica;</a:t>
            </a:r>
          </a:p>
          <a:p>
            <a:pPr algn="just">
              <a:lnSpc>
                <a:spcPct val="120000"/>
              </a:lnSpc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di </a:t>
            </a:r>
            <a:r>
              <a:rPr lang="it-IT" sz="2000" b="1" u="sng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igiene e sanità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, ossia attinente alla salute sia fisica che psichica del cittadino.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2000" b="0" dirty="0">
                <a:solidFill>
                  <a:srgbClr val="000000"/>
                </a:solidFill>
                <a:latin typeface="Book Antiqua" panose="02040602050305030304" pitchFamily="18" charset="0"/>
              </a:rPr>
              <a:t>(es.</a:t>
            </a:r>
            <a:r>
              <a:rPr lang="it-IT" sz="2000" b="0" i="1" dirty="0">
                <a:solidFill>
                  <a:schemeClr val="tx1"/>
                </a:solidFill>
                <a:latin typeface="Book Antiqua" panose="02040602050305030304" pitchFamily="18" charset="0"/>
                <a:sym typeface="Times New Roman"/>
              </a:rPr>
              <a:t> sequestri obbligatori amministrativi, la confisca amministrativa, gli ordini di distruzione degli immobili abusivi, gli ordini di scioglimento delle manifestazioni vietate).</a:t>
            </a:r>
            <a:endParaRPr lang="it-IT" sz="2000" b="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algn="just">
              <a:lnSpc>
                <a:spcPct val="120000"/>
              </a:lnSpc>
            </a:pPr>
            <a:endParaRPr lang="it-IT" sz="180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  <a:ea typeface="Arial Unicode MS"/>
              <a:cs typeface="Arial Unicode MS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Ricorrendo questo presupposto, è comunque necessario, per l</a:t>
            </a:r>
            <a:r>
              <a:rPr lang="ar-SA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integrazione del reato, l</a:t>
            </a:r>
            <a:r>
              <a:rPr lang="ar-SA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ulteriore requisito </a:t>
            </a:r>
            <a:r>
              <a:rPr lang="it-IT" sz="240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dell</a:t>
            </a:r>
            <a:r>
              <a:rPr lang="ar-SA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400" b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indifferibilità </a:t>
            </a:r>
            <a:r>
              <a:rPr lang="it-IT" sz="2400" b="1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dell</a:t>
            </a:r>
            <a:r>
              <a:rPr lang="ar-SA" sz="2400" b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400" b="1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atto</a:t>
            </a:r>
            <a:r>
              <a:rPr lang="it-IT" sz="24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. </a:t>
            </a:r>
          </a:p>
          <a:p>
            <a:pPr marL="0" indent="0" algn="just">
              <a:buNone/>
            </a:pPr>
            <a:r>
              <a:rPr lang="it-IT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Il </a:t>
            </a:r>
            <a:r>
              <a:rPr lang="it-IT" sz="2400" b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rifiuto </a:t>
            </a:r>
            <a:r>
              <a:rPr lang="it-IT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può manifestarsi in qualsiasi forma, </a:t>
            </a:r>
            <a:r>
              <a:rPr lang="it-IT" sz="2400" u="sng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scritta o orale</a:t>
            </a:r>
            <a:r>
              <a:rPr lang="it-IT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, e deve essere </a:t>
            </a:r>
            <a:r>
              <a:rPr lang="it-IT" sz="2400" u="sng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indebito</a:t>
            </a:r>
            <a:r>
              <a:rPr lang="it-IT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</a:rPr>
              <a:t> (quindi non sorretto da cause di giustificazione). </a:t>
            </a:r>
            <a:endParaRPr lang="it-IT" sz="4200" dirty="0">
              <a:latin typeface="Book Antiqua" panose="02040602050305030304" pitchFamily="18" charset="0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C98AC3A-8B21-BD46-90A6-61ED970D6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76980" y="-127819"/>
            <a:ext cx="8229600" cy="1143000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di </a:t>
            </a:r>
            <a:r>
              <a:rPr dirty="0" err="1"/>
              <a:t>atti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. </a:t>
            </a:r>
            <a:r>
              <a:rPr dirty="0" err="1"/>
              <a:t>Omissione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8AC47DF6-687A-20AB-A2B8-67E18C77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1758269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004D61-26B8-5482-4BC2-E21D8D46B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685" y="1015181"/>
            <a:ext cx="8229600" cy="5503606"/>
          </a:xfrm>
        </p:spPr>
        <p:txBody>
          <a:bodyPr>
            <a:normAutofit/>
          </a:bodyPr>
          <a:lstStyle/>
          <a:p>
            <a:endParaRPr lang="it-IT" sz="1800" dirty="0">
              <a:latin typeface="Times New Roman" panose="02020603050405020304" pitchFamily="18" charset="0"/>
              <a:ea typeface="Arial Unicode MS"/>
              <a:cs typeface="Arial Unicode M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it-IT" sz="1800" b="1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OMISSIONE DI ATTI D’UFFICIO (c.2)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it-IT" sz="2000" b="0" dirty="0">
                <a:solidFill>
                  <a:srgbClr val="000000"/>
                </a:solidFill>
                <a:latin typeface="Book Antiqua" panose="02040602050305030304" pitchFamily="18" charset="0"/>
              </a:rPr>
              <a:t>al </a:t>
            </a:r>
            <a:r>
              <a:rPr lang="it-IT" sz="2000" dirty="0">
                <a:solidFill>
                  <a:srgbClr val="000000"/>
                </a:solidFill>
                <a:latin typeface="Book Antiqua" panose="02040602050305030304" pitchFamily="18" charset="0"/>
              </a:rPr>
              <a:t>secondo comma </a:t>
            </a:r>
            <a:r>
              <a:rPr lang="it-IT" sz="2000" b="0" dirty="0">
                <a:solidFill>
                  <a:srgbClr val="000000"/>
                </a:solidFill>
                <a:latin typeface="Book Antiqua" panose="02040602050305030304" pitchFamily="18" charset="0"/>
              </a:rPr>
              <a:t>si sanziona il pubblico funzionario «</a:t>
            </a:r>
            <a:r>
              <a:rPr lang="it-IT" sz="2000" b="0" dirty="0">
                <a:solidFill>
                  <a:schemeClr val="accent2"/>
                </a:solidFill>
                <a:latin typeface="Book Antiqua" panose="02040602050305030304" pitchFamily="18" charset="0"/>
              </a:rPr>
              <a:t>che </a:t>
            </a:r>
            <a:r>
              <a:rPr lang="it-IT" sz="20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entro trenta giorni </a:t>
            </a:r>
            <a:r>
              <a:rPr lang="it-IT" sz="2000" b="0" dirty="0">
                <a:solidFill>
                  <a:schemeClr val="accent2"/>
                </a:solidFill>
                <a:latin typeface="Book Antiqua" panose="02040602050305030304" pitchFamily="18" charset="0"/>
              </a:rPr>
              <a:t>dalla richiesta di chi vi abbia interesse </a:t>
            </a:r>
            <a:r>
              <a:rPr lang="it-IT" sz="20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non</a:t>
            </a:r>
            <a:r>
              <a:rPr lang="it-IT" sz="2000" dirty="0">
                <a:solidFill>
                  <a:schemeClr val="accent2"/>
                </a:solidFill>
                <a:latin typeface="Book Antiqua" panose="02040602050305030304" pitchFamily="18" charset="0"/>
              </a:rPr>
              <a:t> compie l'atto del suo ufficio e </a:t>
            </a:r>
            <a:r>
              <a:rPr lang="it-IT" sz="20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non</a:t>
            </a:r>
            <a:r>
              <a:rPr lang="it-IT" sz="2000" dirty="0">
                <a:solidFill>
                  <a:schemeClr val="accent2"/>
                </a:solidFill>
                <a:latin typeface="Book Antiqua" panose="02040602050305030304" pitchFamily="18" charset="0"/>
              </a:rPr>
              <a:t> risponde per esporre le ragioni del ritardo</a:t>
            </a:r>
            <a:r>
              <a:rPr lang="it-IT" sz="2000" dirty="0">
                <a:latin typeface="Book Antiqua" panose="02040602050305030304" pitchFamily="18" charset="0"/>
              </a:rPr>
              <a:t>»</a:t>
            </a:r>
            <a:endParaRPr lang="it-IT" sz="2000" b="1" u="sng" dirty="0">
              <a:ln>
                <a:noFill/>
              </a:ln>
              <a:solidFill>
                <a:srgbClr val="FF0000"/>
              </a:solidFill>
              <a:effectLst/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algn="just">
              <a:lnSpc>
                <a:spcPct val="110000"/>
              </a:lnSpc>
            </a:pPr>
            <a:endParaRPr lang="it-IT" sz="2000" dirty="0">
              <a:latin typeface="Book Antiqua" panose="02040602050305030304" pitchFamily="18" charset="0"/>
              <a:ea typeface="Arial Unicode MS"/>
              <a:cs typeface="Arial Unicode MS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 La richiesta cui si fa menzione non è quella iniziale con la quale si richiede per la prima volta il compimento </a:t>
            </a:r>
            <a:r>
              <a:rPr lang="it-IT" sz="200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dell</a:t>
            </a:r>
            <a:r>
              <a:rPr lang="ar-SA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atto, bensì </a:t>
            </a:r>
            <a:r>
              <a:rPr lang="it-IT" sz="2000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quella successiva di messa in mora che può essere inoltrata una volta che i tempi massimi per l</a:t>
            </a:r>
            <a:r>
              <a:rPr lang="ar-SA" sz="2000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esecuzione </a:t>
            </a:r>
            <a:r>
              <a:rPr lang="it-IT" sz="2000" u="sng" dirty="0" err="1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dell</a:t>
            </a:r>
            <a:r>
              <a:rPr lang="ar-SA" sz="2000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u="sng" dirty="0">
                <a:ln>
                  <a:noFill/>
                </a:ln>
                <a:solidFill>
                  <a:srgbClr val="FF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atto siano già decorsi. 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La richiesta scritta di cui </a:t>
            </a:r>
            <a:r>
              <a:rPr lang="it-IT" sz="200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all</a:t>
            </a:r>
            <a:r>
              <a:rPr lang="ar-SA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’</a:t>
            </a:r>
            <a:r>
              <a:rPr lang="it-IT" sz="200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Arial Unicode MS"/>
                <a:cs typeface="Arial Unicode MS"/>
              </a:rPr>
              <a:t>art. 328, co. 2, assume quindi la natura e la funzione tipica della diffida ad adempiere.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AB05FD3-F833-620C-6E3B-A6BF85E33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76981" y="-127819"/>
            <a:ext cx="8229600" cy="1143000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di </a:t>
            </a:r>
            <a:r>
              <a:rPr dirty="0" err="1"/>
              <a:t>atti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. </a:t>
            </a:r>
            <a:r>
              <a:rPr dirty="0" err="1"/>
              <a:t>Omissione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1F24A9CF-97C4-8192-96BB-5D19B3D0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4537065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asellaDiTesto 4"/>
          <p:cNvSpPr txBox="1"/>
          <p:nvPr/>
        </p:nvSpPr>
        <p:spPr>
          <a:xfrm>
            <a:off x="203901" y="1250367"/>
            <a:ext cx="8736198" cy="4693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Mentre</a:t>
            </a:r>
            <a:r>
              <a:rPr dirty="0"/>
              <a:t> la </a:t>
            </a:r>
            <a:r>
              <a:rPr dirty="0" err="1"/>
              <a:t>condotta</a:t>
            </a:r>
            <a:r>
              <a:rPr dirty="0"/>
              <a:t> di cui al </a:t>
            </a:r>
            <a:r>
              <a:rPr b="1" dirty="0"/>
              <a:t>primo comma </a:t>
            </a:r>
            <a:r>
              <a:rPr dirty="0"/>
              <a:t>è </a:t>
            </a:r>
            <a:r>
              <a:rPr b="1" dirty="0">
                <a:solidFill>
                  <a:srgbClr val="0070C0"/>
                </a:solidFill>
              </a:rPr>
              <a:t>MONOFFENSIVA</a:t>
            </a:r>
            <a:r>
              <a:rPr dirty="0"/>
              <a:t>, </a:t>
            </a:r>
            <a:r>
              <a:rPr dirty="0" err="1"/>
              <a:t>tutelando</a:t>
            </a:r>
            <a:r>
              <a:rPr dirty="0"/>
              <a:t> solo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buon</a:t>
            </a:r>
            <a:r>
              <a:rPr b="1" dirty="0"/>
              <a:t> </a:t>
            </a:r>
            <a:r>
              <a:rPr b="1" dirty="0" err="1"/>
              <a:t>andamento</a:t>
            </a:r>
            <a:r>
              <a:rPr b="1" dirty="0"/>
              <a:t> </a:t>
            </a:r>
            <a:r>
              <a:rPr b="1" dirty="0" err="1"/>
              <a:t>della</a:t>
            </a:r>
            <a:r>
              <a:rPr b="1" dirty="0"/>
              <a:t> P.A. </a:t>
            </a:r>
            <a:r>
              <a:rPr dirty="0"/>
              <a:t>ed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suo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</a:t>
            </a:r>
            <a:r>
              <a:rPr dirty="0" err="1"/>
              <a:t>funzionamento</a:t>
            </a:r>
            <a:r>
              <a:rPr dirty="0"/>
              <a:t>, </a:t>
            </a:r>
            <a:r>
              <a:rPr dirty="0" err="1"/>
              <a:t>quella</a:t>
            </a:r>
            <a:r>
              <a:rPr dirty="0"/>
              <a:t> di cui al </a:t>
            </a:r>
            <a:r>
              <a:rPr b="1" dirty="0"/>
              <a:t>secondo comma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una </a:t>
            </a:r>
            <a:r>
              <a:rPr dirty="0" err="1"/>
              <a:t>natura</a:t>
            </a:r>
            <a:r>
              <a:rPr dirty="0"/>
              <a:t> </a:t>
            </a:r>
            <a:r>
              <a:rPr b="1" dirty="0">
                <a:solidFill>
                  <a:srgbClr val="0070C0"/>
                </a:solidFill>
              </a:rPr>
              <a:t>PLURIOFFENSIVA</a:t>
            </a:r>
            <a:r>
              <a:rPr dirty="0"/>
              <a:t>, </a:t>
            </a:r>
            <a:r>
              <a:rPr b="1" dirty="0" err="1"/>
              <a:t>tutelando</a:t>
            </a:r>
            <a:r>
              <a:rPr b="1" dirty="0"/>
              <a:t> </a:t>
            </a:r>
            <a:r>
              <a:rPr b="1" dirty="0" err="1"/>
              <a:t>anche</a:t>
            </a:r>
            <a:r>
              <a:rPr b="1" dirty="0"/>
              <a:t> </a:t>
            </a:r>
            <a:r>
              <a:rPr b="1" dirty="0" err="1"/>
              <a:t>il</a:t>
            </a:r>
            <a:r>
              <a:rPr b="1" dirty="0"/>
              <a:t> </a:t>
            </a:r>
            <a:r>
              <a:rPr b="1" dirty="0" err="1"/>
              <a:t>concorrente</a:t>
            </a:r>
            <a:r>
              <a:rPr b="1" dirty="0"/>
              <a:t> interesse del </a:t>
            </a:r>
            <a:r>
              <a:rPr b="1" dirty="0" err="1"/>
              <a:t>privato</a:t>
            </a:r>
            <a:r>
              <a:rPr b="1" dirty="0"/>
              <a:t> </a:t>
            </a:r>
            <a:r>
              <a:rPr dirty="0" err="1"/>
              <a:t>richiedente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a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dovuto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due </a:t>
            </a:r>
            <a:r>
              <a:rPr dirty="0" err="1"/>
              <a:t>commi</a:t>
            </a:r>
            <a:r>
              <a:rPr dirty="0"/>
              <a:t> </a:t>
            </a:r>
            <a:r>
              <a:rPr dirty="0" err="1"/>
              <a:t>hanno</a:t>
            </a:r>
            <a:r>
              <a:rPr dirty="0"/>
              <a:t> in </a:t>
            </a:r>
            <a:r>
              <a:rPr dirty="0" err="1"/>
              <a:t>comune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costituiscono</a:t>
            </a:r>
            <a:r>
              <a:rPr dirty="0"/>
              <a:t> </a:t>
            </a:r>
            <a:r>
              <a:rPr dirty="0" err="1"/>
              <a:t>entrambi</a:t>
            </a:r>
            <a:r>
              <a:rPr dirty="0"/>
              <a:t> </a:t>
            </a:r>
            <a:r>
              <a:rPr dirty="0" err="1"/>
              <a:t>ipotesi</a:t>
            </a:r>
            <a:r>
              <a:rPr dirty="0"/>
              <a:t> di </a:t>
            </a:r>
            <a:r>
              <a:rPr b="1" u="sng" dirty="0">
                <a:solidFill>
                  <a:srgbClr val="FF0000"/>
                </a:solidFill>
              </a:rPr>
              <a:t>REATI DI PERICOLO E DI TIPO </a:t>
            </a:r>
            <a:r>
              <a:rPr b="1" u="sng">
                <a:solidFill>
                  <a:srgbClr val="FF0000"/>
                </a:solidFill>
              </a:rPr>
              <a:t>OMISSIVO PROPRIO</a:t>
            </a:r>
            <a:r>
              <a:rPr dirty="0"/>
              <a:t>,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puniscono</a:t>
            </a:r>
            <a:r>
              <a:rPr dirty="0"/>
              <a:t> una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consistente</a:t>
            </a:r>
            <a:r>
              <a:rPr dirty="0"/>
              <a:t> in un semplice </a:t>
            </a:r>
            <a:r>
              <a:rPr b="1" u="sng" dirty="0"/>
              <a:t>non fare</a:t>
            </a:r>
            <a:r>
              <a:rPr dirty="0"/>
              <a:t>, </a:t>
            </a:r>
            <a:r>
              <a:rPr dirty="0" err="1"/>
              <a:t>prescindendo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causazione</a:t>
            </a:r>
            <a:r>
              <a:rPr dirty="0"/>
              <a:t> di un </a:t>
            </a:r>
            <a:r>
              <a:rPr dirty="0" err="1"/>
              <a:t>evento</a:t>
            </a:r>
            <a:r>
              <a:rPr dirty="0"/>
              <a:t> di </a:t>
            </a:r>
            <a:r>
              <a:rPr dirty="0" err="1"/>
              <a:t>danno</a:t>
            </a:r>
            <a:r>
              <a:rPr dirty="0"/>
              <a:t> </a:t>
            </a:r>
            <a:r>
              <a:rPr dirty="0" err="1"/>
              <a:t>naturalisticamente</a:t>
            </a:r>
            <a:r>
              <a:rPr dirty="0"/>
              <a:t> </a:t>
            </a:r>
            <a:r>
              <a:rPr dirty="0" err="1"/>
              <a:t>inteso</a:t>
            </a:r>
            <a:r>
              <a:rPr dirty="0"/>
              <a:t>.</a:t>
            </a: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376" name="Immagine 7" descr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CasellaDiTesto 4"/>
          <p:cNvSpPr txBox="1"/>
          <p:nvPr/>
        </p:nvSpPr>
        <p:spPr>
          <a:xfrm>
            <a:off x="288548" y="1234494"/>
            <a:ext cx="8409683" cy="416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è sufficiente il </a:t>
            </a:r>
            <a:r>
              <a:rPr u="none">
                <a:solidFill>
                  <a:srgbClr val="0070C0"/>
                </a:solidFill>
              </a:rPr>
              <a:t>DOLO GENERICO</a:t>
            </a:r>
            <a:endParaRPr b="0">
              <a:solidFill>
                <a:srgbClr val="0070C0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70C0"/>
              </a:solidFill>
            </a:endParaRPr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reato si </a:t>
            </a:r>
            <a:r>
              <a:rPr b="1"/>
              <a:t>consuma</a:t>
            </a:r>
            <a:r>
              <a:t>:</a:t>
            </a:r>
          </a:p>
          <a:p>
            <a:pPr marL="342900" indent="-342900" algn="just">
              <a:buSzPct val="100000"/>
              <a:buChar char="-"/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 nel momento in cui l'atto non viene compiuto </a:t>
            </a:r>
          </a:p>
          <a:p>
            <a:pPr marL="342900" indent="-342900" algn="just">
              <a:buSzPct val="100000"/>
              <a:buChar char="-"/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 nel momento in cui sono decorsi 30 giorni dalla richiesta del privato senza che l'atto venga ad esistenza.</a:t>
            </a:r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b="1">
                <a:solidFill>
                  <a:srgbClr val="0070C0"/>
                </a:solidFill>
              </a:rPr>
              <a:t>tentativo</a:t>
            </a:r>
            <a:r>
              <a:t> </a:t>
            </a:r>
          </a:p>
          <a:p>
            <a:pPr marL="342900" indent="-342900" algn="just">
              <a:buSzPct val="100000"/>
              <a:buChar char="-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 è configurabile </a:t>
            </a:r>
            <a:r>
              <a:rPr b="0"/>
              <a:t>al primo comma, </a:t>
            </a:r>
          </a:p>
          <a:p>
            <a:pPr marL="342900" indent="-342900" algn="just">
              <a:buSzPct val="100000"/>
              <a:buChar char="-"/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mentre </a:t>
            </a:r>
            <a:r>
              <a:rPr b="1"/>
              <a:t>è ammissibile </a:t>
            </a:r>
            <a:r>
              <a:t>al secondo.</a:t>
            </a:r>
          </a:p>
          <a:p>
            <a:pPr algn="just"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388" name="Immagine 7" descr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ttangolo 5"/>
          <p:cNvSpPr txBox="1"/>
          <p:nvPr/>
        </p:nvSpPr>
        <p:spPr>
          <a:xfrm>
            <a:off x="81215" y="980728"/>
            <a:ext cx="8693537" cy="4869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878013" indent="-1878013"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31859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329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Rifiuto</a:t>
            </a:r>
            <a:r>
              <a:rPr dirty="0">
                <a:solidFill>
                  <a:srgbClr val="FF0000"/>
                </a:solidFill>
              </a:rPr>
              <a:t> o </a:t>
            </a:r>
            <a:r>
              <a:rPr dirty="0" err="1">
                <a:solidFill>
                  <a:srgbClr val="FF0000"/>
                </a:solidFill>
              </a:rPr>
              <a:t>ritardo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obbedienza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commesso</a:t>
            </a:r>
            <a:r>
              <a:rPr dirty="0">
                <a:solidFill>
                  <a:srgbClr val="FF0000"/>
                </a:solidFill>
              </a:rPr>
              <a:t> da un </a:t>
            </a:r>
            <a:r>
              <a:rPr dirty="0" err="1">
                <a:solidFill>
                  <a:srgbClr val="FF0000"/>
                </a:solidFill>
              </a:rPr>
              <a:t>militare</a:t>
            </a:r>
            <a:r>
              <a:rPr dirty="0">
                <a:solidFill>
                  <a:srgbClr val="FF0000"/>
                </a:solidFill>
              </a:rPr>
              <a:t> o da un </a:t>
            </a:r>
            <a:r>
              <a:rPr dirty="0" err="1">
                <a:solidFill>
                  <a:srgbClr val="FF0000"/>
                </a:solidFill>
              </a:rPr>
              <a:t>agente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della</a:t>
            </a:r>
            <a:r>
              <a:rPr dirty="0">
                <a:solidFill>
                  <a:srgbClr val="FF0000"/>
                </a:solidFill>
              </a:rPr>
              <a:t> forza </a:t>
            </a:r>
            <a:r>
              <a:rPr dirty="0" err="1">
                <a:solidFill>
                  <a:srgbClr val="FF0000"/>
                </a:solidFill>
              </a:rPr>
              <a:t>pubblica</a:t>
            </a:r>
            <a:endParaRPr lang="it-IT" dirty="0">
              <a:solidFill>
                <a:srgbClr val="FF0000"/>
              </a:solidFill>
            </a:endParaRPr>
          </a:p>
          <a:p>
            <a:pPr marL="1878013" indent="-1878013"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31859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05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«Il </a:t>
            </a:r>
            <a:r>
              <a:rPr dirty="0" err="1"/>
              <a:t>militare</a:t>
            </a:r>
            <a:r>
              <a:rPr dirty="0"/>
              <a:t> o </a:t>
            </a:r>
            <a:r>
              <a:rPr dirty="0" err="1"/>
              <a:t>l’agente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quale </a:t>
            </a:r>
            <a:r>
              <a:rPr b="1" dirty="0" err="1">
                <a:solidFill>
                  <a:srgbClr val="31859C"/>
                </a:solidFill>
              </a:rPr>
              <a:t>rifiuta</a:t>
            </a:r>
            <a:r>
              <a:rPr dirty="0"/>
              <a:t> o </a:t>
            </a:r>
            <a:r>
              <a:rPr b="1" dirty="0" err="1">
                <a:solidFill>
                  <a:srgbClr val="31859C"/>
                </a:solidFill>
              </a:rPr>
              <a:t>ritarda</a:t>
            </a:r>
            <a:r>
              <a:rPr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indebitamente</a:t>
            </a:r>
            <a:r>
              <a:rPr dirty="0">
                <a:solidFill>
                  <a:srgbClr val="31859C"/>
                </a:solidFill>
              </a:rPr>
              <a:t> </a:t>
            </a:r>
            <a:r>
              <a:rPr b="1" dirty="0">
                <a:solidFill>
                  <a:srgbClr val="31859C"/>
                </a:solidFill>
              </a:rPr>
              <a:t>di </a:t>
            </a:r>
            <a:r>
              <a:rPr b="1" dirty="0" err="1">
                <a:solidFill>
                  <a:srgbClr val="31859C"/>
                </a:solidFill>
              </a:rPr>
              <a:t>eseguire</a:t>
            </a:r>
            <a:r>
              <a:rPr b="1" dirty="0">
                <a:solidFill>
                  <a:srgbClr val="31859C"/>
                </a:solidFill>
              </a:rPr>
              <a:t> una </a:t>
            </a:r>
            <a:r>
              <a:rPr b="1" dirty="0" err="1">
                <a:solidFill>
                  <a:srgbClr val="31859C"/>
                </a:solidFill>
              </a:rPr>
              <a:t>richiesta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fattagli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dall’Autorità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competente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stabilite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legge</a:t>
            </a:r>
            <a:r>
              <a:rPr dirty="0"/>
              <a:t>,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due </a:t>
            </a:r>
            <a:r>
              <a:rPr dirty="0" err="1"/>
              <a:t>anni</a:t>
            </a:r>
            <a:r>
              <a:rPr dirty="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disposizione</a:t>
            </a:r>
            <a:r>
              <a:rPr dirty="0"/>
              <a:t> </a:t>
            </a:r>
            <a:r>
              <a:rPr dirty="0" err="1"/>
              <a:t>disciplina</a:t>
            </a:r>
            <a:r>
              <a:rPr dirty="0"/>
              <a:t> </a:t>
            </a:r>
            <a:r>
              <a:rPr dirty="0" err="1"/>
              <a:t>essenzialmente</a:t>
            </a:r>
            <a:r>
              <a:rPr dirty="0"/>
              <a:t> </a:t>
            </a:r>
            <a:r>
              <a:rPr dirty="0" err="1"/>
              <a:t>un’</a:t>
            </a:r>
            <a:r>
              <a:rPr b="1" dirty="0" err="1">
                <a:solidFill>
                  <a:srgbClr val="31859C"/>
                </a:solidFill>
              </a:rPr>
              <a:t>ipotesi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alternativa</a:t>
            </a:r>
            <a:r>
              <a:rPr b="1" dirty="0">
                <a:solidFill>
                  <a:srgbClr val="31859C"/>
                </a:solidFill>
              </a:rPr>
              <a:t> di </a:t>
            </a:r>
            <a:r>
              <a:rPr b="1" dirty="0" err="1">
                <a:solidFill>
                  <a:srgbClr val="31859C"/>
                </a:solidFill>
              </a:rPr>
              <a:t>rifiuto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d'atti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d'ufficio</a:t>
            </a:r>
            <a:r>
              <a:rPr dirty="0"/>
              <a:t> di cui </a:t>
            </a:r>
            <a:r>
              <a:rPr dirty="0" err="1"/>
              <a:t>all'art</a:t>
            </a:r>
            <a:r>
              <a:rPr dirty="0"/>
              <a:t>. 328 </a:t>
            </a:r>
            <a:r>
              <a:rPr dirty="0" err="1"/>
              <a:t>c.p.</a:t>
            </a:r>
            <a:r>
              <a:rPr dirty="0"/>
              <a:t>, </a:t>
            </a:r>
            <a:r>
              <a:rPr dirty="0" err="1"/>
              <a:t>differenziandosi</a:t>
            </a:r>
            <a:r>
              <a:rPr dirty="0"/>
              <a:t> </a:t>
            </a:r>
            <a:r>
              <a:rPr dirty="0" err="1"/>
              <a:t>solamente</a:t>
            </a:r>
            <a:r>
              <a:rPr dirty="0"/>
              <a:t> in </a:t>
            </a:r>
            <a:r>
              <a:rPr dirty="0" err="1"/>
              <a:t>relazione</a:t>
            </a:r>
            <a:r>
              <a:rPr dirty="0"/>
              <a:t> al </a:t>
            </a:r>
            <a:r>
              <a:rPr dirty="0" err="1"/>
              <a:t>soggetto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, </a:t>
            </a:r>
            <a:r>
              <a:rPr dirty="0" err="1"/>
              <a:t>militare</a:t>
            </a:r>
            <a:r>
              <a:rPr dirty="0"/>
              <a:t> 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r>
              <a:rPr dirty="0"/>
              <a:t>, ed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richiesta</a:t>
            </a:r>
            <a:r>
              <a:rPr dirty="0"/>
              <a:t> di </a:t>
            </a:r>
            <a:r>
              <a:rPr dirty="0" err="1"/>
              <a:t>attivarsi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</a:t>
            </a:r>
            <a:r>
              <a:rPr dirty="0" err="1"/>
              <a:t>l'Autorità</a:t>
            </a:r>
            <a:r>
              <a:rPr dirty="0"/>
              <a:t> </a:t>
            </a:r>
            <a:r>
              <a:rPr dirty="0" err="1"/>
              <a:t>competente</a:t>
            </a:r>
            <a:r>
              <a:rPr dirty="0"/>
              <a:t> di </a:t>
            </a:r>
            <a:r>
              <a:rPr dirty="0" err="1"/>
              <a:t>volta</a:t>
            </a:r>
            <a:r>
              <a:rPr dirty="0"/>
              <a:t> in </a:t>
            </a:r>
            <a:r>
              <a:rPr dirty="0" err="1"/>
              <a:t>volta</a:t>
            </a:r>
            <a:r>
              <a:rPr dirty="0"/>
              <a:t> </a:t>
            </a:r>
            <a:r>
              <a:rPr dirty="0" err="1"/>
              <a:t>individuabile</a:t>
            </a:r>
            <a:r>
              <a:rPr dirty="0"/>
              <a:t>.</a:t>
            </a:r>
          </a:p>
        </p:txBody>
      </p:sp>
      <p:pic>
        <p:nvPicPr>
          <p:cNvPr id="392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Rettangolo 1"/>
          <p:cNvSpPr txBox="1"/>
          <p:nvPr/>
        </p:nvSpPr>
        <p:spPr>
          <a:xfrm>
            <a:off x="5130983" y="5384135"/>
            <a:ext cx="4013017" cy="1473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Note</a:t>
            </a:r>
            <a:r>
              <a:rPr sz="1600" u="none" dirty="0"/>
              <a:t>: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Competenza</a:t>
            </a:r>
            <a:r>
              <a:rPr sz="1600" dirty="0"/>
              <a:t> </a:t>
            </a:r>
            <a:r>
              <a:rPr sz="1600" dirty="0" err="1"/>
              <a:t>Tribunale</a:t>
            </a:r>
            <a:r>
              <a:rPr sz="1600" dirty="0"/>
              <a:t> </a:t>
            </a:r>
            <a:r>
              <a:rPr sz="1600" dirty="0" err="1"/>
              <a:t>monocratico</a:t>
            </a:r>
            <a:endParaRPr sz="1600"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Arresto</a:t>
            </a:r>
            <a:r>
              <a:rPr sz="1600" dirty="0"/>
              <a:t> non </a:t>
            </a:r>
            <a:r>
              <a:rPr sz="1600" dirty="0" err="1"/>
              <a:t>consentito</a:t>
            </a:r>
            <a:endParaRPr sz="1600"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Fermo</a:t>
            </a:r>
            <a:r>
              <a:rPr sz="1600" dirty="0"/>
              <a:t> non </a:t>
            </a:r>
            <a:r>
              <a:rPr sz="1600" dirty="0" err="1"/>
              <a:t>consentito</a:t>
            </a:r>
            <a:r>
              <a:rPr sz="1600" dirty="0"/>
              <a:t> 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Procedibilità</a:t>
            </a:r>
            <a:r>
              <a:rPr sz="1600" dirty="0"/>
              <a:t> </a:t>
            </a:r>
            <a:r>
              <a:rPr sz="1600" dirty="0" err="1"/>
              <a:t>d’ufficio</a:t>
            </a:r>
            <a:endParaRPr sz="1800" dirty="0"/>
          </a:p>
        </p:txBody>
      </p:sp>
      <p:sp>
        <p:nvSpPr>
          <p:cNvPr id="394" name="Text Box 5"/>
          <p:cNvSpPr txBox="1"/>
          <p:nvPr/>
        </p:nvSpPr>
        <p:spPr>
          <a:xfrm>
            <a:off x="665826" y="-43066"/>
            <a:ext cx="8433606" cy="9527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28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o </a:t>
            </a:r>
            <a:r>
              <a:rPr dirty="0" err="1"/>
              <a:t>ritardo</a:t>
            </a:r>
            <a:r>
              <a:rPr dirty="0"/>
              <a:t> di </a:t>
            </a:r>
            <a:r>
              <a:rPr dirty="0" err="1"/>
              <a:t>obbedienza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da un </a:t>
            </a:r>
            <a:r>
              <a:rPr dirty="0" err="1"/>
              <a:t>militare</a:t>
            </a:r>
            <a:r>
              <a:rPr dirty="0"/>
              <a:t> o da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endParaRPr dirty="0"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ttangolo 5"/>
          <p:cNvSpPr txBox="1"/>
          <p:nvPr/>
        </p:nvSpPr>
        <p:spPr>
          <a:xfrm>
            <a:off x="405251" y="1119856"/>
            <a:ext cx="8333497" cy="6852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</a:t>
            </a:r>
            <a:r>
              <a:rPr u="none" dirty="0" err="1">
                <a:solidFill>
                  <a:srgbClr val="31859C"/>
                </a:solidFill>
              </a:rPr>
              <a:t>rifiuto</a:t>
            </a:r>
            <a:r>
              <a:rPr b="0" u="none" dirty="0"/>
              <a:t> o </a:t>
            </a:r>
            <a:r>
              <a:rPr u="none" dirty="0" err="1">
                <a:solidFill>
                  <a:srgbClr val="31859C"/>
                </a:solidFill>
              </a:rPr>
              <a:t>ritardo</a:t>
            </a:r>
            <a:r>
              <a:rPr b="0" u="none" dirty="0"/>
              <a:t> </a:t>
            </a:r>
            <a:r>
              <a:rPr b="0" u="none" dirty="0" err="1"/>
              <a:t>indebito</a:t>
            </a:r>
            <a:r>
              <a:rPr b="0" u="none" dirty="0"/>
              <a:t> ad </a:t>
            </a:r>
            <a:r>
              <a:rPr b="0" u="none" dirty="0" err="1"/>
              <a:t>obbedire</a:t>
            </a:r>
            <a:r>
              <a:rPr b="0" u="none" dirty="0"/>
              <a:t> ad una </a:t>
            </a:r>
            <a:r>
              <a:rPr b="0" u="none" dirty="0" err="1"/>
              <a:t>richiesta</a:t>
            </a:r>
            <a:r>
              <a:rPr b="0" u="none" dirty="0"/>
              <a:t> </a:t>
            </a:r>
            <a:r>
              <a:rPr b="0" u="none" dirty="0" err="1"/>
              <a:t>dell’Autorità</a:t>
            </a:r>
            <a:r>
              <a:rPr b="0" u="none" dirty="0"/>
              <a:t> </a:t>
            </a:r>
            <a:r>
              <a:rPr b="0" u="none" dirty="0" err="1"/>
              <a:t>competente</a:t>
            </a:r>
            <a:r>
              <a:rPr b="0" u="none"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u="none" dirty="0"/>
              <a:t>: </a:t>
            </a:r>
            <a:r>
              <a:rPr u="none" dirty="0">
                <a:solidFill>
                  <a:srgbClr val="31859C"/>
                </a:solidFill>
              </a:rPr>
              <a:t>DOLO </a:t>
            </a:r>
            <a:r>
              <a:rPr dirty="0">
                <a:solidFill>
                  <a:srgbClr val="31859C"/>
                </a:solidFill>
              </a:rPr>
              <a:t>GENERICO</a:t>
            </a:r>
            <a:r>
              <a:rPr lang="it-IT" dirty="0">
                <a:solidFill>
                  <a:srgbClr val="31859C"/>
                </a:solidFill>
              </a:rPr>
              <a:t> </a:t>
            </a:r>
            <a:r>
              <a:rPr lang="it-IT" sz="2200" b="0" u="sng" dirty="0">
                <a:sym typeface="Times New Roman"/>
              </a:rPr>
              <a:t>, che si sostanzia nella volontà cosciente e premeditata di voler omettere un atto dovuto.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u="sng" dirty="0">
              <a:solidFill>
                <a:srgbClr val="31859C"/>
              </a:solidFill>
              <a:latin typeface="Book Antiqua" panose="02040602050305030304" pitchFamily="18" charset="0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u="sng" dirty="0">
              <a:solidFill>
                <a:srgbClr val="31859C"/>
              </a:solidFill>
              <a:latin typeface="Book Antiqua" panose="02040602050305030304" pitchFamily="18" charset="0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0" dirty="0">
                <a:solidFill>
                  <a:srgbClr val="FF0000"/>
                </a:solidFill>
                <a:latin typeface="Book Antiqua" panose="02040602050305030304" pitchFamily="18" charset="0"/>
              </a:rPr>
              <a:t>L'art. 51 c.p.(esercizio di un diritto o adempimento di un dovere) </a:t>
            </a:r>
            <a:r>
              <a:rPr lang="it-IT" b="0" dirty="0">
                <a:latin typeface="Book Antiqua" panose="02040602050305030304" pitchFamily="18" charset="0"/>
              </a:rPr>
              <a:t>si applica anche alla norma in esame, quindi è esclusa la penale responsabilità se il militare o l'appartenente alla forza pubblica </a:t>
            </a:r>
            <a:r>
              <a:rPr lang="it-IT" b="0" dirty="0">
                <a:solidFill>
                  <a:srgbClr val="FF0000"/>
                </a:solidFill>
                <a:latin typeface="Book Antiqua" panose="02040602050305030304" pitchFamily="18" charset="0"/>
              </a:rPr>
              <a:t>rifiuta un atto illecito </a:t>
            </a:r>
            <a:r>
              <a:rPr lang="it-IT" b="0" dirty="0">
                <a:latin typeface="Book Antiqua" panose="02040602050305030304" pitchFamily="18" charset="0"/>
              </a:rPr>
              <a:t>o di evidente criminosità, ad eccezione dei casi in cui la Legge non consenta alcun </a:t>
            </a:r>
            <a:r>
              <a:rPr lang="it-IT" b="0" dirty="0">
                <a:solidFill>
                  <a:srgbClr val="2E697A"/>
                </a:solidFill>
                <a:latin typeface="Book Antiqua" panose="02040602050305030304" pitchFamily="18" charset="0"/>
                <a:hlinkClick r:id="rId2" tooltip="Guida al sindaca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sindacato</a:t>
            </a:r>
            <a:r>
              <a:rPr lang="it-IT" b="0" dirty="0">
                <a:latin typeface="Book Antiqua" panose="02040602050305030304" pitchFamily="18" charset="0"/>
              </a:rPr>
              <a:t> sulla legittimità dell'ordine.</a:t>
            </a:r>
            <a:endParaRPr lang="it-IT" sz="2200" b="0" dirty="0">
              <a:solidFill>
                <a:srgbClr val="31859C"/>
              </a:solidFill>
              <a:latin typeface="Book Antiqua" panose="02040602050305030304" pitchFamily="18" charset="0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u="sng" dirty="0">
              <a:solidFill>
                <a:srgbClr val="31859C"/>
              </a:solidFill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>
              <a:solidFill>
                <a:srgbClr val="31859C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u="none" dirty="0">
              <a:solidFill>
                <a:srgbClr val="31859C"/>
              </a:solidFill>
            </a:endParaRPr>
          </a:p>
        </p:txBody>
      </p:sp>
      <p:pic>
        <p:nvPicPr>
          <p:cNvPr id="397" name="Immagine 3" descr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ext Box 5"/>
          <p:cNvSpPr txBox="1"/>
          <p:nvPr/>
        </p:nvSpPr>
        <p:spPr>
          <a:xfrm>
            <a:off x="825746" y="-43066"/>
            <a:ext cx="8273685" cy="9527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28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o </a:t>
            </a:r>
            <a:r>
              <a:rPr dirty="0" err="1"/>
              <a:t>ritardo</a:t>
            </a:r>
            <a:r>
              <a:rPr dirty="0"/>
              <a:t> di </a:t>
            </a:r>
            <a:r>
              <a:rPr dirty="0" err="1"/>
              <a:t>obbedienza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da un </a:t>
            </a:r>
            <a:r>
              <a:rPr dirty="0" err="1"/>
              <a:t>militare</a:t>
            </a:r>
            <a:r>
              <a:rPr dirty="0"/>
              <a:t> o da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endParaRPr dirty="0"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asellaDiTesto 13"/>
          <p:cNvSpPr txBox="1"/>
          <p:nvPr/>
        </p:nvSpPr>
        <p:spPr>
          <a:xfrm>
            <a:off x="182570" y="908719"/>
            <a:ext cx="8736198" cy="4576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336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Violenza</a:t>
            </a:r>
            <a:r>
              <a:rPr dirty="0">
                <a:solidFill>
                  <a:srgbClr val="FF0000"/>
                </a:solidFill>
              </a:rPr>
              <a:t> e </a:t>
            </a:r>
            <a:r>
              <a:rPr dirty="0" err="1">
                <a:solidFill>
                  <a:srgbClr val="FF0000"/>
                </a:solidFill>
              </a:rPr>
              <a:t>minaccia</a:t>
            </a:r>
            <a:r>
              <a:rPr dirty="0">
                <a:solidFill>
                  <a:srgbClr val="FF0000"/>
                </a:solidFill>
              </a:rPr>
              <a:t> a un </a:t>
            </a:r>
            <a:r>
              <a:rPr dirty="0" err="1">
                <a:solidFill>
                  <a:srgbClr val="FF0000"/>
                </a:solidFill>
              </a:rPr>
              <a:t>pubblico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ufficiale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i="1" dirty="0" err="1"/>
              <a:t>Chiunque</a:t>
            </a:r>
            <a:r>
              <a:rPr i="1" dirty="0"/>
              <a:t> </a:t>
            </a:r>
            <a:r>
              <a:rPr b="1" i="1" dirty="0" err="1">
                <a:solidFill>
                  <a:srgbClr val="C00000"/>
                </a:solidFill>
              </a:rPr>
              <a:t>usa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b="1" i="1" dirty="0" err="1">
                <a:solidFill>
                  <a:srgbClr val="C00000"/>
                </a:solidFill>
              </a:rPr>
              <a:t>violenza</a:t>
            </a:r>
            <a:r>
              <a:rPr b="1" i="1" dirty="0">
                <a:solidFill>
                  <a:srgbClr val="C00000"/>
                </a:solidFill>
              </a:rPr>
              <a:t> o </a:t>
            </a:r>
            <a:r>
              <a:rPr b="1" i="1" dirty="0" err="1">
                <a:solidFill>
                  <a:srgbClr val="C00000"/>
                </a:solidFill>
              </a:rPr>
              <a:t>minaccia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i="1" dirty="0"/>
              <a:t>a un </a:t>
            </a:r>
            <a:r>
              <a:rPr i="1" dirty="0" err="1">
                <a:highlight>
                  <a:srgbClr val="FFFF00"/>
                </a:highlight>
              </a:rPr>
              <a:t>pubblico</a:t>
            </a:r>
            <a:r>
              <a:rPr i="1" dirty="0">
                <a:highlight>
                  <a:srgbClr val="FFFF00"/>
                </a:highlight>
              </a:rPr>
              <a:t> </a:t>
            </a:r>
            <a:r>
              <a:rPr i="1" dirty="0" err="1">
                <a:highlight>
                  <a:srgbClr val="FFFF00"/>
                </a:highlight>
              </a:rPr>
              <a:t>ufficiale</a:t>
            </a:r>
            <a:r>
              <a:rPr i="1" dirty="0">
                <a:highlight>
                  <a:srgbClr val="FFFF00"/>
                </a:highlight>
              </a:rPr>
              <a:t> </a:t>
            </a:r>
            <a:r>
              <a:rPr i="1" dirty="0"/>
              <a:t>o ad un </a:t>
            </a:r>
            <a:r>
              <a:rPr i="1" dirty="0" err="1">
                <a:highlight>
                  <a:srgbClr val="FFFF00"/>
                </a:highlight>
              </a:rPr>
              <a:t>incaricato</a:t>
            </a:r>
            <a:r>
              <a:rPr i="1" dirty="0">
                <a:highlight>
                  <a:srgbClr val="FFFF00"/>
                </a:highlight>
              </a:rPr>
              <a:t> di un </a:t>
            </a:r>
            <a:r>
              <a:rPr i="1" dirty="0" err="1">
                <a:highlight>
                  <a:srgbClr val="FFFF00"/>
                </a:highlight>
              </a:rPr>
              <a:t>pubblico</a:t>
            </a:r>
            <a:r>
              <a:rPr i="1" dirty="0">
                <a:highlight>
                  <a:srgbClr val="FFFF00"/>
                </a:highlight>
              </a:rPr>
              <a:t> </a:t>
            </a:r>
            <a:r>
              <a:rPr i="1" dirty="0" err="1">
                <a:highlight>
                  <a:srgbClr val="FFFF00"/>
                </a:highlight>
              </a:rPr>
              <a:t>servizio</a:t>
            </a:r>
            <a:r>
              <a:rPr b="1" i="1" dirty="0">
                <a:solidFill>
                  <a:srgbClr val="C00000"/>
                </a:solidFill>
              </a:rPr>
              <a:t>, per </a:t>
            </a:r>
            <a:r>
              <a:rPr b="1" i="1" dirty="0" err="1">
                <a:solidFill>
                  <a:srgbClr val="C00000"/>
                </a:solidFill>
              </a:rPr>
              <a:t>costringerlo</a:t>
            </a:r>
            <a:r>
              <a:rPr b="1" i="1" dirty="0">
                <a:solidFill>
                  <a:srgbClr val="C00000"/>
                </a:solidFill>
              </a:rPr>
              <a:t> a fare un </a:t>
            </a:r>
            <a:r>
              <a:rPr b="1" i="1" dirty="0" err="1">
                <a:solidFill>
                  <a:srgbClr val="C00000"/>
                </a:solidFill>
              </a:rPr>
              <a:t>atto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b="1" i="1" dirty="0" err="1">
                <a:solidFill>
                  <a:srgbClr val="C00000"/>
                </a:solidFill>
              </a:rPr>
              <a:t>contrario</a:t>
            </a:r>
            <a:r>
              <a:rPr b="1" i="1" dirty="0">
                <a:solidFill>
                  <a:srgbClr val="C00000"/>
                </a:solidFill>
              </a:rPr>
              <a:t> ai </a:t>
            </a:r>
            <a:r>
              <a:rPr b="1" i="1" dirty="0" err="1">
                <a:solidFill>
                  <a:srgbClr val="C00000"/>
                </a:solidFill>
              </a:rPr>
              <a:t>propri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b="1" i="1" dirty="0" err="1">
                <a:solidFill>
                  <a:srgbClr val="C00000"/>
                </a:solidFill>
              </a:rPr>
              <a:t>doveri</a:t>
            </a:r>
            <a:r>
              <a:rPr b="1" i="1" dirty="0">
                <a:solidFill>
                  <a:srgbClr val="C00000"/>
                </a:solidFill>
              </a:rPr>
              <a:t>, o ad </a:t>
            </a:r>
            <a:r>
              <a:rPr b="1" i="1" dirty="0" err="1">
                <a:solidFill>
                  <a:srgbClr val="C00000"/>
                </a:solidFill>
              </a:rPr>
              <a:t>omettere</a:t>
            </a:r>
            <a:r>
              <a:rPr b="1" i="1" dirty="0">
                <a:solidFill>
                  <a:srgbClr val="C00000"/>
                </a:solidFill>
              </a:rPr>
              <a:t> un </a:t>
            </a:r>
            <a:r>
              <a:rPr b="1" i="1" dirty="0" err="1">
                <a:solidFill>
                  <a:srgbClr val="C00000"/>
                </a:solidFill>
              </a:rPr>
              <a:t>atto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b="1" i="1" dirty="0" err="1">
                <a:solidFill>
                  <a:srgbClr val="C00000"/>
                </a:solidFill>
              </a:rPr>
              <a:t>dell'ufficio</a:t>
            </a:r>
            <a:r>
              <a:rPr b="1" i="1" dirty="0">
                <a:solidFill>
                  <a:srgbClr val="C00000"/>
                </a:solidFill>
              </a:rPr>
              <a:t> o del </a:t>
            </a:r>
            <a:r>
              <a:rPr b="1" i="1" dirty="0" err="1">
                <a:solidFill>
                  <a:srgbClr val="C00000"/>
                </a:solidFill>
              </a:rPr>
              <a:t>servizio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reclusione</a:t>
            </a:r>
            <a:r>
              <a:rPr i="1" dirty="0"/>
              <a:t> da </a:t>
            </a:r>
            <a:r>
              <a:rPr lang="it-IT" i="1" dirty="0"/>
              <a:t>6 mesi a 5 anni.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b="0" i="1" dirty="0">
                <a:sym typeface="Times New Roman"/>
              </a:rPr>
              <a:t> La pena è aumentata fino alla metà se il fatto è commesso dal genitore esercente la responsabilità genitoriale o dal tutore dell'alunno nei confronti di </a:t>
            </a:r>
            <a:r>
              <a:rPr lang="it-IT" sz="2000" b="0" i="1" u="sng" dirty="0">
                <a:sym typeface="Times New Roman"/>
              </a:rPr>
              <a:t>un dirigente scolastico o di un membro del personale docente, educativo, amministrativo, tecnico o ausiliario della scuola.</a:t>
            </a:r>
            <a:endParaRPr i="1" u="sng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</a:t>
            </a:r>
            <a:r>
              <a:rPr lang="it-IT" dirty="0"/>
              <a:t>3</a:t>
            </a:r>
            <a:r>
              <a:rPr dirty="0"/>
              <a:t> </a:t>
            </a:r>
            <a:r>
              <a:rPr dirty="0" err="1"/>
              <a:t>anni</a:t>
            </a:r>
            <a:r>
              <a:rPr lang="it-IT" dirty="0"/>
              <a:t>, </a:t>
            </a:r>
            <a:r>
              <a:rPr dirty="0"/>
              <a:t>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è </a:t>
            </a:r>
            <a:r>
              <a:rPr dirty="0" err="1"/>
              <a:t>commesso</a:t>
            </a:r>
            <a:r>
              <a:rPr dirty="0"/>
              <a:t> </a:t>
            </a:r>
            <a:r>
              <a:rPr b="1" dirty="0">
                <a:solidFill>
                  <a:srgbClr val="C00000"/>
                </a:solidFill>
              </a:rPr>
              <a:t>per </a:t>
            </a:r>
            <a:r>
              <a:rPr b="1" dirty="0" err="1">
                <a:solidFill>
                  <a:srgbClr val="C00000"/>
                </a:solidFill>
              </a:rPr>
              <a:t>costringere</a:t>
            </a:r>
            <a:r>
              <a:rPr b="1" dirty="0">
                <a:solidFill>
                  <a:srgbClr val="C00000"/>
                </a:solidFill>
              </a:rPr>
              <a:t> alcuna </a:t>
            </a:r>
            <a:r>
              <a:rPr b="1" dirty="0" err="1">
                <a:solidFill>
                  <a:srgbClr val="C00000"/>
                </a:solidFill>
              </a:rPr>
              <a:t>delle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persone</a:t>
            </a:r>
            <a:r>
              <a:rPr lang="it-IT" b="1" dirty="0">
                <a:solidFill>
                  <a:srgbClr val="C00000"/>
                </a:solidFill>
              </a:rPr>
              <a:t> di cui al primo e secondo comma</a:t>
            </a:r>
            <a:r>
              <a:rPr b="1" dirty="0">
                <a:solidFill>
                  <a:srgbClr val="C00000"/>
                </a:solidFill>
              </a:rPr>
              <a:t> a </a:t>
            </a:r>
            <a:r>
              <a:rPr b="1" dirty="0" err="1">
                <a:solidFill>
                  <a:srgbClr val="C00000"/>
                </a:solidFill>
              </a:rPr>
              <a:t>compiere</a:t>
            </a:r>
            <a:r>
              <a:rPr b="1" dirty="0">
                <a:solidFill>
                  <a:srgbClr val="C00000"/>
                </a:solidFill>
              </a:rPr>
              <a:t> un </a:t>
            </a:r>
            <a:r>
              <a:rPr b="1" dirty="0" err="1">
                <a:solidFill>
                  <a:srgbClr val="C00000"/>
                </a:solidFill>
              </a:rPr>
              <a:t>atto</a:t>
            </a:r>
            <a:r>
              <a:rPr b="1" dirty="0">
                <a:solidFill>
                  <a:srgbClr val="C00000"/>
                </a:solidFill>
              </a:rPr>
              <a:t> del proprio </a:t>
            </a:r>
            <a:r>
              <a:rPr b="1" dirty="0" err="1">
                <a:solidFill>
                  <a:srgbClr val="C00000"/>
                </a:solidFill>
              </a:rPr>
              <a:t>ufficio</a:t>
            </a:r>
            <a:r>
              <a:rPr b="1" dirty="0">
                <a:solidFill>
                  <a:srgbClr val="C00000"/>
                </a:solidFill>
              </a:rPr>
              <a:t> o </a:t>
            </a:r>
            <a:r>
              <a:rPr b="1" dirty="0" err="1">
                <a:solidFill>
                  <a:srgbClr val="C00000"/>
                </a:solidFill>
              </a:rPr>
              <a:t>servizio</a:t>
            </a:r>
            <a:r>
              <a:rPr b="1" dirty="0">
                <a:solidFill>
                  <a:srgbClr val="C00000"/>
                </a:solidFill>
              </a:rPr>
              <a:t>, o per </a:t>
            </a:r>
            <a:r>
              <a:rPr b="1" dirty="0" err="1">
                <a:solidFill>
                  <a:srgbClr val="C00000"/>
                </a:solidFill>
              </a:rPr>
              <a:t>influire</a:t>
            </a:r>
            <a:r>
              <a:rPr b="1" dirty="0">
                <a:solidFill>
                  <a:srgbClr val="C00000"/>
                </a:solidFill>
              </a:rPr>
              <a:t>, </a:t>
            </a:r>
            <a:r>
              <a:rPr dirty="0" err="1"/>
              <a:t>comunque</a:t>
            </a:r>
            <a:r>
              <a:rPr dirty="0"/>
              <a:t>, </a:t>
            </a:r>
            <a:r>
              <a:rPr dirty="0" err="1"/>
              <a:t>su</a:t>
            </a:r>
            <a:r>
              <a:rPr dirty="0"/>
              <a:t> di </a:t>
            </a:r>
            <a:r>
              <a:rPr dirty="0" err="1"/>
              <a:t>essa</a:t>
            </a:r>
            <a:r>
              <a:rPr dirty="0"/>
              <a:t>.</a:t>
            </a:r>
          </a:p>
        </p:txBody>
      </p:sp>
      <p:pic>
        <p:nvPicPr>
          <p:cNvPr id="402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Rettangolo 5"/>
          <p:cNvSpPr txBox="1"/>
          <p:nvPr/>
        </p:nvSpPr>
        <p:spPr>
          <a:xfrm>
            <a:off x="5621867" y="5311423"/>
            <a:ext cx="3522133" cy="154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/>
              <a:t>Note</a:t>
            </a:r>
            <a:r>
              <a:rPr sz="1400" u="none" dirty="0"/>
              <a:t>: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 err="1"/>
              <a:t>Competenza</a:t>
            </a:r>
            <a:r>
              <a:rPr sz="1400" dirty="0"/>
              <a:t> </a:t>
            </a:r>
            <a:r>
              <a:rPr sz="1400" dirty="0" err="1"/>
              <a:t>Tribunale</a:t>
            </a:r>
            <a:r>
              <a:rPr sz="1400" dirty="0"/>
              <a:t> </a:t>
            </a:r>
            <a:r>
              <a:rPr sz="1400" dirty="0" err="1"/>
              <a:t>monocratico</a:t>
            </a:r>
            <a:endParaRPr sz="1400"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 err="1"/>
              <a:t>Arresto</a:t>
            </a:r>
            <a:r>
              <a:rPr sz="1400" dirty="0"/>
              <a:t> </a:t>
            </a:r>
            <a:r>
              <a:rPr sz="1400" dirty="0" err="1"/>
              <a:t>facoltativo</a:t>
            </a:r>
            <a:r>
              <a:rPr sz="1400" dirty="0"/>
              <a:t> [c.1 e 2]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 err="1"/>
              <a:t>Fermo</a:t>
            </a:r>
            <a:r>
              <a:rPr sz="1400" dirty="0"/>
              <a:t> non </a:t>
            </a:r>
            <a:r>
              <a:rPr sz="1400" dirty="0" err="1"/>
              <a:t>consentito</a:t>
            </a:r>
            <a:r>
              <a:rPr sz="1400" dirty="0"/>
              <a:t> 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 err="1"/>
              <a:t>Procedibilità</a:t>
            </a:r>
            <a:r>
              <a:rPr sz="1400" dirty="0"/>
              <a:t> </a:t>
            </a:r>
            <a:r>
              <a:rPr sz="1400" dirty="0" err="1"/>
              <a:t>d’ufficio</a:t>
            </a:r>
            <a:endParaRPr sz="1400"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400" dirty="0" err="1"/>
              <a:t>Tentativo</a:t>
            </a:r>
            <a:r>
              <a:rPr sz="1400" dirty="0"/>
              <a:t> </a:t>
            </a:r>
            <a:r>
              <a:rPr sz="1400" dirty="0" err="1"/>
              <a:t>configurabile</a:t>
            </a:r>
            <a:endParaRPr sz="1400" dirty="0"/>
          </a:p>
        </p:txBody>
      </p:sp>
      <p:sp>
        <p:nvSpPr>
          <p:cNvPr id="40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asellaDiTesto 13"/>
          <p:cNvSpPr txBox="1"/>
          <p:nvPr/>
        </p:nvSpPr>
        <p:spPr>
          <a:xfrm>
            <a:off x="369570" y="1391285"/>
            <a:ext cx="8080959" cy="4154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PLURIOFFENSIVO</a:t>
            </a:r>
            <a:r>
              <a:rPr b="0" dirty="0">
                <a:solidFill>
                  <a:srgbClr val="000000"/>
                </a:solidFill>
              </a:rPr>
              <a:t>, in </a:t>
            </a:r>
            <a:r>
              <a:rPr b="0" dirty="0" err="1">
                <a:solidFill>
                  <a:srgbClr val="000000"/>
                </a:solidFill>
              </a:rPr>
              <a:t>quanto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idoneo</a:t>
            </a:r>
            <a:r>
              <a:rPr b="0" dirty="0">
                <a:solidFill>
                  <a:srgbClr val="000000"/>
                </a:solidFill>
              </a:rPr>
              <a:t> a </a:t>
            </a:r>
            <a:r>
              <a:rPr b="0" dirty="0" err="1">
                <a:solidFill>
                  <a:srgbClr val="000000"/>
                </a:solidFill>
              </a:rPr>
              <a:t>ledere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sia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buon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andamento</a:t>
            </a:r>
            <a:r>
              <a:rPr dirty="0">
                <a:solidFill>
                  <a:srgbClr val="000000"/>
                </a:solidFill>
              </a:rPr>
              <a:t>/</a:t>
            </a:r>
            <a:r>
              <a:rPr dirty="0" err="1">
                <a:solidFill>
                  <a:srgbClr val="000000"/>
                </a:solidFill>
              </a:rPr>
              <a:t>prestigio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Pubblica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Amministrazione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dirty="0" err="1">
                <a:solidFill>
                  <a:srgbClr val="000000"/>
                </a:solidFill>
              </a:rPr>
              <a:t>libertà</a:t>
            </a:r>
            <a:r>
              <a:rPr dirty="0">
                <a:solidFill>
                  <a:srgbClr val="000000"/>
                </a:solidFill>
              </a:rPr>
              <a:t> morale/</a:t>
            </a:r>
            <a:r>
              <a:rPr dirty="0" err="1">
                <a:solidFill>
                  <a:srgbClr val="000000"/>
                </a:solidFill>
              </a:rPr>
              <a:t>incolumità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fisica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pubblici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funzionari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ctr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: lo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commettere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chiunque</a:t>
            </a:r>
            <a:endParaRPr b="0" dirty="0">
              <a:solidFill>
                <a:srgbClr val="000000"/>
              </a:solidFill>
            </a:endParaRPr>
          </a:p>
          <a:p>
            <a:pPr marL="342900" indent="-342900" algn="just">
              <a:buSzPct val="100000"/>
              <a:buChar char="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</a:t>
            </a:r>
            <a:r>
              <a:rPr lang="it-IT" b="1" u="sng" dirty="0">
                <a:solidFill>
                  <a:schemeClr val="accent2"/>
                </a:solidFill>
              </a:rPr>
              <a:t>SOGGETTI PASSIVI DEL REATO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C00000"/>
                </a:solidFill>
              </a:rPr>
              <a:t>pubblico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ufficiale</a:t>
            </a:r>
            <a:r>
              <a:rPr b="1" dirty="0">
                <a:solidFill>
                  <a:srgbClr val="C00000"/>
                </a:solidFill>
              </a:rPr>
              <a:t> e </a:t>
            </a:r>
            <a:r>
              <a:rPr b="1" dirty="0" err="1">
                <a:solidFill>
                  <a:srgbClr val="C00000"/>
                </a:solidFill>
              </a:rPr>
              <a:t>l’incaricato</a:t>
            </a:r>
            <a:r>
              <a:rPr b="1" dirty="0">
                <a:solidFill>
                  <a:srgbClr val="C00000"/>
                </a:solidFill>
              </a:rPr>
              <a:t> di </a:t>
            </a:r>
            <a:r>
              <a:rPr b="1" dirty="0" err="1">
                <a:solidFill>
                  <a:srgbClr val="C00000"/>
                </a:solidFill>
              </a:rPr>
              <a:t>pubblico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servizio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subiscono</a:t>
            </a:r>
            <a:r>
              <a:rPr dirty="0"/>
              <a:t> </a:t>
            </a:r>
            <a:r>
              <a:rPr dirty="0" err="1"/>
              <a:t>violenza</a:t>
            </a:r>
            <a:r>
              <a:rPr dirty="0"/>
              <a:t> o </a:t>
            </a:r>
            <a:r>
              <a:rPr dirty="0" err="1"/>
              <a:t>minaccia</a:t>
            </a:r>
            <a:r>
              <a:rPr dirty="0"/>
              <a:t>. </a:t>
            </a:r>
            <a:endParaRPr lang="it-IT" dirty="0"/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Detta</a:t>
            </a:r>
            <a:r>
              <a:rPr dirty="0"/>
              <a:t>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violenta</a:t>
            </a:r>
            <a:r>
              <a:rPr dirty="0"/>
              <a:t> o </a:t>
            </a:r>
            <a:r>
              <a:rPr dirty="0" err="1"/>
              <a:t>minacciosa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mirare</a:t>
            </a:r>
            <a:r>
              <a:rPr dirty="0"/>
              <a:t> a </a:t>
            </a:r>
            <a:r>
              <a:rPr b="1" dirty="0" err="1"/>
              <a:t>condizionarne</a:t>
            </a:r>
            <a:r>
              <a:rPr b="1" dirty="0"/>
              <a:t> </a:t>
            </a:r>
            <a:r>
              <a:rPr b="1" dirty="0" err="1"/>
              <a:t>il</a:t>
            </a:r>
            <a:r>
              <a:rPr b="1" dirty="0"/>
              <a:t> </a:t>
            </a:r>
            <a:r>
              <a:rPr b="1" dirty="0" err="1"/>
              <a:t>comportamento</a:t>
            </a:r>
            <a:r>
              <a:rPr b="1" dirty="0"/>
              <a:t> </a:t>
            </a:r>
            <a:r>
              <a:rPr b="1" dirty="0" err="1"/>
              <a:t>futuro</a:t>
            </a:r>
            <a:r>
              <a:rPr b="1" dirty="0"/>
              <a:t>, </a:t>
            </a:r>
            <a:r>
              <a:rPr b="1" dirty="0" err="1"/>
              <a:t>influendo</a:t>
            </a:r>
            <a:r>
              <a:rPr b="1" dirty="0"/>
              <a:t> </a:t>
            </a:r>
            <a:r>
              <a:rPr b="1" dirty="0" err="1"/>
              <a:t>sull’esercizio</a:t>
            </a:r>
            <a:r>
              <a:rPr b="1" dirty="0"/>
              <a:t> </a:t>
            </a:r>
            <a:r>
              <a:rPr b="1" dirty="0" err="1"/>
              <a:t>delle</a:t>
            </a:r>
            <a:r>
              <a:rPr b="1" dirty="0"/>
              <a:t> </a:t>
            </a:r>
            <a:r>
              <a:rPr b="1" dirty="0" err="1"/>
              <a:t>loro</a:t>
            </a:r>
            <a:r>
              <a:rPr b="1" dirty="0"/>
              <a:t> </a:t>
            </a:r>
            <a:r>
              <a:rPr b="1" dirty="0" err="1"/>
              <a:t>pubbliche</a:t>
            </a:r>
            <a:r>
              <a:rPr b="1" dirty="0"/>
              <a:t> </a:t>
            </a:r>
            <a:r>
              <a:rPr b="1" dirty="0" err="1"/>
              <a:t>funzioni</a:t>
            </a:r>
            <a:r>
              <a:rPr b="1" dirty="0"/>
              <a:t>.</a:t>
            </a:r>
          </a:p>
        </p:txBody>
      </p:sp>
      <p:pic>
        <p:nvPicPr>
          <p:cNvPr id="408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asellaDiTesto 13"/>
          <p:cNvSpPr txBox="1"/>
          <p:nvPr/>
        </p:nvSpPr>
        <p:spPr>
          <a:xfrm>
            <a:off x="225231" y="908720"/>
            <a:ext cx="8765545" cy="5600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OGGETTIVO:</a:t>
            </a:r>
            <a:r>
              <a:rPr u="none"/>
              <a:t> </a:t>
            </a:r>
            <a:r>
              <a:rPr b="0" u="none"/>
              <a:t>il reato può realizzarsi in due modalità alternative, con due tipologie di condotte:</a:t>
            </a:r>
          </a:p>
          <a:p>
            <a:pPr marL="265112" indent="-265112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b="1" u="sng">
                <a:solidFill>
                  <a:srgbClr val="C00000"/>
                </a:solidFill>
              </a:rPr>
              <a:t>violenza o minaccia</a:t>
            </a:r>
            <a:r>
              <a:rPr b="1">
                <a:solidFill>
                  <a:srgbClr val="C00000"/>
                </a:solidFill>
              </a:rPr>
              <a:t> </a:t>
            </a:r>
            <a:r>
              <a:t>esercitata su un pubblico ufficiale o incaricato di pubblico servizio </a:t>
            </a:r>
            <a:r>
              <a:rPr b="1">
                <a:solidFill>
                  <a:srgbClr val="C00000"/>
                </a:solidFill>
              </a:rPr>
              <a:t>al fine di costringerlo a compiere un atto contrario ai propri doveri o ad ometterne uno del proprio ufficio o servizio</a:t>
            </a:r>
            <a:r>
              <a:t>;</a:t>
            </a:r>
          </a:p>
          <a:p>
            <a:pPr marL="265112" indent="-265112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attua invece con la </a:t>
            </a:r>
            <a:r>
              <a:rPr b="1" u="sng">
                <a:solidFill>
                  <a:srgbClr val="C00000"/>
                </a:solidFill>
              </a:rPr>
              <a:t>violenza o minaccia </a:t>
            </a:r>
            <a:r>
              <a:t>che sono dirette </a:t>
            </a:r>
            <a:r>
              <a:rPr b="1">
                <a:solidFill>
                  <a:srgbClr val="C00000"/>
                </a:solidFill>
              </a:rPr>
              <a:t>a far commettere al pubblico funzionario un atto del suo ufficio o del servizio</a:t>
            </a:r>
            <a: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L’autore del fatto deve porre in essere</a:t>
            </a:r>
            <a:r>
              <a:rPr b="1">
                <a:solidFill>
                  <a:srgbClr val="C00000"/>
                </a:solidFill>
              </a:rPr>
              <a:t> delle minacce e/o delle violenze </a:t>
            </a:r>
            <a:r>
              <a:t>per condizionare il processo decisionale del pubblico ufficiale in relazione alla commissione od omissione di atti da compiere in futuro:</a:t>
            </a:r>
          </a:p>
          <a:p>
            <a:pPr marL="354013" lvl="1" indent="-268288" algn="just">
              <a:lnSpc>
                <a:spcPct val="114000"/>
              </a:lnSpc>
              <a:spcBef>
                <a:spcPts val="600"/>
              </a:spcBef>
              <a:buSzPct val="100000"/>
              <a:buFont typeface="Courier New"/>
              <a:buChar char="o"/>
              <a:defRPr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MINACCIA </a:t>
            </a:r>
            <a:r>
              <a:rPr b="0">
                <a:solidFill>
                  <a:srgbClr val="000000"/>
                </a:solidFill>
              </a:rPr>
              <a:t>= </a:t>
            </a:r>
            <a:r>
              <a:rPr>
                <a:solidFill>
                  <a:srgbClr val="000000"/>
                </a:solidFill>
              </a:rPr>
              <a:t>prospettazione di un male futuro ed ingiusto</a:t>
            </a:r>
            <a:r>
              <a:rPr b="0">
                <a:solidFill>
                  <a:srgbClr val="000000"/>
                </a:solidFill>
              </a:rPr>
              <a:t>, dipendente dalla volontà di chi minaccia; verosimile ed idonea a determinare una costrizione del soggetto passivo;</a:t>
            </a:r>
          </a:p>
          <a:p>
            <a:pPr marL="354013" lvl="1" indent="-268288" algn="just">
              <a:lnSpc>
                <a:spcPct val="114000"/>
              </a:lnSpc>
              <a:spcBef>
                <a:spcPts val="600"/>
              </a:spcBef>
              <a:buSzPct val="100000"/>
              <a:buFont typeface="Courier New"/>
              <a:buChar char="o"/>
              <a:defRPr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VIOLENZA </a:t>
            </a:r>
            <a:r>
              <a:rPr b="0">
                <a:solidFill>
                  <a:srgbClr val="000000"/>
                </a:solidFill>
              </a:rPr>
              <a:t>= </a:t>
            </a:r>
            <a:r>
              <a:rPr>
                <a:solidFill>
                  <a:srgbClr val="000000"/>
                </a:solidFill>
              </a:rPr>
              <a:t>aggressione fisica o morale </a:t>
            </a:r>
            <a:r>
              <a:rPr b="0">
                <a:solidFill>
                  <a:srgbClr val="000000"/>
                </a:solidFill>
              </a:rPr>
              <a:t>diretta alla persona del p.u.; non è necessario che ne derivino lesioni.</a:t>
            </a:r>
          </a:p>
        </p:txBody>
      </p:sp>
      <p:pic>
        <p:nvPicPr>
          <p:cNvPr id="412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asellaDiTesto 13"/>
          <p:cNvSpPr txBox="1"/>
          <p:nvPr/>
        </p:nvSpPr>
        <p:spPr>
          <a:xfrm>
            <a:off x="189227" y="1783591"/>
            <a:ext cx="8765545" cy="315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92075"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u="none" dirty="0"/>
              <a:t>: </a:t>
            </a:r>
            <a:r>
              <a:rPr u="none" dirty="0">
                <a:solidFill>
                  <a:srgbClr val="C00000"/>
                </a:solidFill>
              </a:rPr>
              <a:t>DOLO SPECIFICO</a:t>
            </a:r>
            <a:r>
              <a:rPr b="0" i="1" u="none" dirty="0">
                <a:solidFill>
                  <a:srgbClr val="002F8E"/>
                </a:solidFill>
              </a:rPr>
              <a:t>,</a:t>
            </a:r>
            <a:r>
              <a:rPr b="0" i="1" u="none" dirty="0"/>
              <a:t> </a:t>
            </a:r>
            <a:r>
              <a:rPr b="0" u="none" dirty="0" err="1"/>
              <a:t>inteso</a:t>
            </a:r>
            <a:r>
              <a:rPr b="0" u="none" dirty="0"/>
              <a:t> come </a:t>
            </a:r>
            <a:r>
              <a:rPr b="0" u="none" dirty="0" err="1"/>
              <a:t>coscienza</a:t>
            </a:r>
            <a:r>
              <a:rPr b="0" u="none" dirty="0"/>
              <a:t> e </a:t>
            </a:r>
            <a:r>
              <a:rPr b="0" u="none" dirty="0" err="1"/>
              <a:t>volontà</a:t>
            </a:r>
            <a:r>
              <a:rPr b="0" u="none" dirty="0"/>
              <a:t>  di </a:t>
            </a:r>
            <a:r>
              <a:rPr b="0" u="none" dirty="0" err="1"/>
              <a:t>usare</a:t>
            </a:r>
            <a:r>
              <a:rPr b="0" u="none" dirty="0"/>
              <a:t> </a:t>
            </a:r>
            <a:r>
              <a:rPr b="0" u="none" dirty="0" err="1"/>
              <a:t>violenza</a:t>
            </a:r>
            <a:r>
              <a:rPr b="0" u="none" dirty="0"/>
              <a:t> o </a:t>
            </a:r>
            <a:r>
              <a:rPr b="0" u="none" dirty="0" err="1"/>
              <a:t>minaccia</a:t>
            </a:r>
            <a:r>
              <a:rPr b="0" u="none" dirty="0"/>
              <a:t> per </a:t>
            </a:r>
            <a:r>
              <a:rPr b="0" u="none" dirty="0" err="1"/>
              <a:t>raggiungere</a:t>
            </a:r>
            <a:r>
              <a:rPr b="0" u="none" dirty="0"/>
              <a:t> </a:t>
            </a:r>
            <a:r>
              <a:rPr b="0" u="none" dirty="0" err="1"/>
              <a:t>gli</a:t>
            </a:r>
            <a:r>
              <a:rPr b="0" u="none" dirty="0"/>
              <a:t> </a:t>
            </a:r>
            <a:r>
              <a:rPr b="0" u="none" dirty="0" err="1"/>
              <a:t>scopi</a:t>
            </a:r>
            <a:r>
              <a:rPr b="0" u="none" dirty="0"/>
              <a:t> </a:t>
            </a:r>
            <a:r>
              <a:rPr b="0" u="none" dirty="0" err="1"/>
              <a:t>descritti</a:t>
            </a:r>
            <a:r>
              <a:rPr b="0" u="none" dirty="0"/>
              <a:t> </a:t>
            </a:r>
            <a:r>
              <a:rPr b="0" u="none" dirty="0" err="1"/>
              <a:t>dalla</a:t>
            </a:r>
            <a:r>
              <a:rPr b="0" u="none" dirty="0"/>
              <a:t> </a:t>
            </a:r>
            <a:r>
              <a:rPr b="0" u="none" dirty="0" err="1"/>
              <a:t>norma</a:t>
            </a:r>
            <a:r>
              <a:rPr b="0" u="none" dirty="0"/>
              <a:t>:</a:t>
            </a:r>
          </a:p>
          <a:p>
            <a:pPr marL="434975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costringerlo</a:t>
            </a:r>
            <a:r>
              <a:rPr dirty="0"/>
              <a:t> a fare un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contrario</a:t>
            </a:r>
            <a:r>
              <a:rPr dirty="0"/>
              <a:t> ai </a:t>
            </a:r>
            <a:r>
              <a:rPr dirty="0" err="1"/>
              <a:t>propri</a:t>
            </a:r>
            <a:r>
              <a:rPr dirty="0"/>
              <a:t> </a:t>
            </a:r>
            <a:r>
              <a:rPr dirty="0" err="1"/>
              <a:t>doveri</a:t>
            </a:r>
            <a:r>
              <a:rPr dirty="0"/>
              <a:t>, o ad </a:t>
            </a:r>
            <a:r>
              <a:rPr dirty="0" err="1"/>
              <a:t>omettere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dell'ufficio</a:t>
            </a:r>
            <a:r>
              <a:rPr dirty="0"/>
              <a:t> o del </a:t>
            </a:r>
            <a:r>
              <a:rPr dirty="0" err="1"/>
              <a:t>servizio</a:t>
            </a:r>
            <a:r>
              <a:rPr dirty="0"/>
              <a:t> [c.1];</a:t>
            </a:r>
          </a:p>
          <a:p>
            <a:pPr marL="434975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costringere</a:t>
            </a:r>
            <a:r>
              <a:rPr dirty="0"/>
              <a:t> alcuna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persone</a:t>
            </a:r>
            <a:r>
              <a:rPr dirty="0"/>
              <a:t> </a:t>
            </a:r>
            <a:r>
              <a:rPr dirty="0" err="1"/>
              <a:t>anzidette</a:t>
            </a:r>
            <a:r>
              <a:rPr dirty="0"/>
              <a:t> a </a:t>
            </a:r>
            <a:r>
              <a:rPr dirty="0" err="1"/>
              <a:t>compiere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del proprio </a:t>
            </a:r>
            <a:r>
              <a:rPr dirty="0" err="1"/>
              <a:t>ufficio</a:t>
            </a:r>
            <a:r>
              <a:rPr dirty="0"/>
              <a:t> o </a:t>
            </a:r>
            <a:r>
              <a:rPr dirty="0" err="1"/>
              <a:t>servizio</a:t>
            </a:r>
            <a:r>
              <a:rPr dirty="0"/>
              <a:t>, o per </a:t>
            </a:r>
            <a:r>
              <a:rPr dirty="0" err="1"/>
              <a:t>influire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di </a:t>
            </a:r>
            <a:r>
              <a:rPr dirty="0" err="1"/>
              <a:t>esso</a:t>
            </a:r>
            <a:r>
              <a:rPr dirty="0"/>
              <a:t> [c. </a:t>
            </a:r>
            <a:r>
              <a:rPr lang="it-IT" dirty="0"/>
              <a:t>3</a:t>
            </a:r>
            <a:r>
              <a:rPr dirty="0"/>
              <a:t>].</a:t>
            </a:r>
          </a:p>
          <a:p>
            <a:pPr indent="92075"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416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asellaDiTesto 13"/>
          <p:cNvSpPr txBox="1"/>
          <p:nvPr/>
        </p:nvSpPr>
        <p:spPr>
          <a:xfrm>
            <a:off x="189227" y="1565011"/>
            <a:ext cx="8765545" cy="4692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0" indent="92075"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Allorché il comportamento violento o minaccioso non sia diretto a costringere, ma </a:t>
            </a:r>
            <a:r>
              <a:rPr lang="it-IT" sz="2200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sia solo espressione di volgarità ingiuriosa o di atteggiamento genericamente minaccioso</a:t>
            </a: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, senza alcuna finalità costrittiva, tale condotta potrà tutt'al più integrare i reati di </a:t>
            </a:r>
            <a:r>
              <a:rPr lang="it-IT" sz="2200" u="sng" dirty="0">
                <a:latin typeface="Times New Roman"/>
                <a:cs typeface="Times New Roman"/>
                <a:sym typeface="Times New Roman"/>
              </a:rPr>
              <a:t>ingiuria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(oggi depenalizzato) o 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di </a:t>
            </a:r>
            <a:r>
              <a:rPr lang="it-IT" sz="2200" u="sng" dirty="0">
                <a:latin typeface="Times New Roman"/>
                <a:cs typeface="Times New Roman"/>
                <a:sym typeface="Times New Roman"/>
              </a:rPr>
              <a:t>minaccia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, aggravati dalla qualità delle persone offese</a:t>
            </a: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.</a:t>
            </a:r>
          </a:p>
          <a:p>
            <a:pPr lvl="0" indent="92075"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dirty="0">
              <a:latin typeface="Times New Roman"/>
              <a:cs typeface="Times New Roman"/>
              <a:sym typeface="Times New Roman"/>
            </a:endParaRPr>
          </a:p>
          <a:p>
            <a:pPr lvl="0" indent="92075"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Ad ogni modo, </a:t>
            </a:r>
            <a:r>
              <a:rPr lang="it-IT" sz="2200" u="sng" dirty="0">
                <a:latin typeface="Times New Roman"/>
                <a:cs typeface="Times New Roman"/>
                <a:sym typeface="Times New Roman"/>
              </a:rPr>
              <a:t>presupposto</a:t>
            </a:r>
            <a:r>
              <a:rPr lang="it-IT" sz="2200" b="0" dirty="0">
                <a:latin typeface="Times New Roman"/>
                <a:cs typeface="Times New Roman"/>
                <a:sym typeface="Times New Roman"/>
              </a:rPr>
              <a:t> implicito è che </a:t>
            </a:r>
            <a:r>
              <a:rPr lang="it-IT" sz="2200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il privato sia consapevole della qualifica soggettiva.</a:t>
            </a:r>
          </a:p>
          <a:p>
            <a:pPr indent="92075"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indent="92075"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indent="92075"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420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CasellaDiTesto 13"/>
          <p:cNvSpPr txBox="1"/>
          <p:nvPr/>
        </p:nvSpPr>
        <p:spPr>
          <a:xfrm>
            <a:off x="153223" y="980727"/>
            <a:ext cx="8765545" cy="2601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337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Resistenza</a:t>
            </a:r>
            <a:r>
              <a:rPr dirty="0">
                <a:solidFill>
                  <a:srgbClr val="FF0000"/>
                </a:solidFill>
              </a:rPr>
              <a:t> a </a:t>
            </a:r>
            <a:r>
              <a:rPr dirty="0" err="1">
                <a:solidFill>
                  <a:srgbClr val="FF0000"/>
                </a:solidFill>
              </a:rPr>
              <a:t>pubblico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ufficiale</a:t>
            </a:r>
            <a:endParaRPr lang="it-IT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i="1" dirty="0" err="1"/>
              <a:t>Chiunque</a:t>
            </a:r>
            <a:r>
              <a:rPr i="1" dirty="0"/>
              <a:t> </a:t>
            </a:r>
            <a:r>
              <a:rPr b="1" i="1" dirty="0" err="1">
                <a:solidFill>
                  <a:srgbClr val="E46C0A"/>
                </a:solidFill>
              </a:rPr>
              <a:t>usa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violenza</a:t>
            </a:r>
            <a:r>
              <a:rPr b="1" i="1" dirty="0">
                <a:solidFill>
                  <a:srgbClr val="E46C0A"/>
                </a:solidFill>
              </a:rPr>
              <a:t> o </a:t>
            </a:r>
            <a:r>
              <a:rPr b="1" i="1" dirty="0" err="1">
                <a:solidFill>
                  <a:srgbClr val="E46C0A"/>
                </a:solidFill>
              </a:rPr>
              <a:t>minaccia</a:t>
            </a:r>
            <a:r>
              <a:rPr b="1" i="1" dirty="0">
                <a:solidFill>
                  <a:srgbClr val="E46C0A"/>
                </a:solidFill>
              </a:rPr>
              <a:t> per </a:t>
            </a:r>
            <a:r>
              <a:rPr b="1" i="1" dirty="0" err="1">
                <a:solidFill>
                  <a:srgbClr val="E46C0A"/>
                </a:solidFill>
              </a:rPr>
              <a:t>opporsi</a:t>
            </a:r>
            <a:r>
              <a:rPr b="1" i="1" dirty="0">
                <a:solidFill>
                  <a:srgbClr val="E46C0A"/>
                </a:solidFill>
              </a:rPr>
              <a:t> a un </a:t>
            </a:r>
            <a:r>
              <a:rPr b="1" i="1" dirty="0" err="1">
                <a:solidFill>
                  <a:srgbClr val="E46C0A"/>
                </a:solidFill>
              </a:rPr>
              <a:t>pubblico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ufficiale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i="1" dirty="0"/>
              <a:t>o ad un </a:t>
            </a:r>
            <a:r>
              <a:rPr i="1" dirty="0" err="1"/>
              <a:t>incaricato</a:t>
            </a:r>
            <a:r>
              <a:rPr i="1" dirty="0"/>
              <a:t> di un </a:t>
            </a:r>
            <a:r>
              <a:rPr i="1" dirty="0" err="1"/>
              <a:t>pubblico</a:t>
            </a:r>
            <a:r>
              <a:rPr i="1" dirty="0"/>
              <a:t> </a:t>
            </a:r>
            <a:r>
              <a:rPr i="1" dirty="0" err="1"/>
              <a:t>servizio</a:t>
            </a:r>
            <a:r>
              <a:rPr i="1" dirty="0"/>
              <a:t>, </a:t>
            </a:r>
            <a:r>
              <a:rPr b="1" i="1" dirty="0" err="1">
                <a:solidFill>
                  <a:srgbClr val="E46C0A"/>
                </a:solidFill>
              </a:rPr>
              <a:t>mentre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compie</a:t>
            </a:r>
            <a:r>
              <a:rPr b="1" i="1" dirty="0">
                <a:solidFill>
                  <a:srgbClr val="E46C0A"/>
                </a:solidFill>
              </a:rPr>
              <a:t> un </a:t>
            </a:r>
            <a:r>
              <a:rPr b="1" i="1" dirty="0" err="1">
                <a:solidFill>
                  <a:srgbClr val="E46C0A"/>
                </a:solidFill>
              </a:rPr>
              <a:t>atto</a:t>
            </a:r>
            <a:r>
              <a:rPr b="1" i="1" dirty="0">
                <a:solidFill>
                  <a:srgbClr val="E46C0A"/>
                </a:solidFill>
              </a:rPr>
              <a:t> di </a:t>
            </a:r>
            <a:r>
              <a:rPr b="1" i="1" dirty="0" err="1">
                <a:solidFill>
                  <a:srgbClr val="E46C0A"/>
                </a:solidFill>
              </a:rPr>
              <a:t>ufficio</a:t>
            </a:r>
            <a:r>
              <a:rPr b="1" i="1" dirty="0">
                <a:solidFill>
                  <a:srgbClr val="E46C0A"/>
                </a:solidFill>
              </a:rPr>
              <a:t> o di </a:t>
            </a:r>
            <a:r>
              <a:rPr b="1" i="1" dirty="0" err="1">
                <a:solidFill>
                  <a:srgbClr val="E46C0A"/>
                </a:solidFill>
              </a:rPr>
              <a:t>servizio</a:t>
            </a:r>
            <a:r>
              <a:rPr i="1" dirty="0"/>
              <a:t>, o </a:t>
            </a:r>
            <a:r>
              <a:rPr b="1" i="1" dirty="0">
                <a:solidFill>
                  <a:srgbClr val="E46C0A"/>
                </a:solidFill>
              </a:rPr>
              <a:t>a </a:t>
            </a:r>
            <a:r>
              <a:rPr b="1" i="1" dirty="0" err="1">
                <a:solidFill>
                  <a:srgbClr val="E46C0A"/>
                </a:solidFill>
              </a:rPr>
              <a:t>coloro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che</a:t>
            </a:r>
            <a:r>
              <a:rPr b="1" i="1" dirty="0">
                <a:solidFill>
                  <a:srgbClr val="E46C0A"/>
                </a:solidFill>
              </a:rPr>
              <a:t>, </a:t>
            </a:r>
            <a:r>
              <a:rPr b="1" i="1" dirty="0" err="1">
                <a:solidFill>
                  <a:srgbClr val="E46C0A"/>
                </a:solidFill>
              </a:rPr>
              <a:t>richiesti</a:t>
            </a:r>
            <a:r>
              <a:rPr b="1" i="1" dirty="0">
                <a:solidFill>
                  <a:srgbClr val="E46C0A"/>
                </a:solidFill>
              </a:rPr>
              <a:t>, </a:t>
            </a:r>
            <a:r>
              <a:rPr b="1" i="1" dirty="0" err="1">
                <a:solidFill>
                  <a:srgbClr val="E46C0A"/>
                </a:solidFill>
              </a:rPr>
              <a:t>gli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prestano</a:t>
            </a:r>
            <a:r>
              <a:rPr b="1" i="1" dirty="0">
                <a:solidFill>
                  <a:srgbClr val="E46C0A"/>
                </a:solidFill>
              </a:rPr>
              <a:t> </a:t>
            </a:r>
            <a:r>
              <a:rPr b="1" i="1" dirty="0" err="1">
                <a:solidFill>
                  <a:srgbClr val="E46C0A"/>
                </a:solidFill>
              </a:rPr>
              <a:t>assistenza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reclusione</a:t>
            </a:r>
            <a:r>
              <a:rPr i="1" dirty="0"/>
              <a:t> da </a:t>
            </a:r>
            <a:r>
              <a:rPr i="1" dirty="0">
                <a:solidFill>
                  <a:schemeClr val="tx1"/>
                </a:solidFill>
              </a:rPr>
              <a:t>6 </a:t>
            </a:r>
            <a:r>
              <a:rPr i="1" dirty="0" err="1">
                <a:solidFill>
                  <a:schemeClr val="tx1"/>
                </a:solidFill>
              </a:rPr>
              <a:t>mesi</a:t>
            </a:r>
            <a:r>
              <a:rPr i="1" dirty="0">
                <a:solidFill>
                  <a:schemeClr val="tx1"/>
                </a:solidFill>
              </a:rPr>
              <a:t> </a:t>
            </a:r>
            <a:r>
              <a:rPr lang="it-IT" i="1" dirty="0">
                <a:solidFill>
                  <a:schemeClr val="tx1"/>
                </a:solidFill>
              </a:rPr>
              <a:t>a</a:t>
            </a:r>
            <a:r>
              <a:rPr i="1" dirty="0">
                <a:solidFill>
                  <a:schemeClr val="tx1"/>
                </a:solidFill>
              </a:rPr>
              <a:t> 5 </a:t>
            </a:r>
            <a:r>
              <a:rPr i="1" dirty="0" err="1">
                <a:solidFill>
                  <a:schemeClr val="tx1"/>
                </a:solidFill>
              </a:rPr>
              <a:t>anni</a:t>
            </a:r>
            <a:r>
              <a:rPr lang="it-IT" i="1" dirty="0">
                <a:solidFill>
                  <a:schemeClr val="tx1"/>
                </a:solidFill>
              </a:rPr>
              <a:t>.»</a:t>
            </a:r>
            <a:endParaRPr i="1" dirty="0">
              <a:solidFill>
                <a:schemeClr val="tx1"/>
              </a:solidFill>
            </a:endParaRPr>
          </a:p>
        </p:txBody>
      </p:sp>
      <p:pic>
        <p:nvPicPr>
          <p:cNvPr id="424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Rettangolo 5"/>
          <p:cNvSpPr txBox="1"/>
          <p:nvPr/>
        </p:nvSpPr>
        <p:spPr>
          <a:xfrm>
            <a:off x="5193784" y="4261032"/>
            <a:ext cx="4013017" cy="2030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u="none" dirty="0"/>
              <a:t>: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monocratico</a:t>
            </a:r>
            <a:endParaRPr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Fermo</a:t>
            </a:r>
            <a:r>
              <a:rPr dirty="0"/>
              <a:t> non </a:t>
            </a:r>
            <a:r>
              <a:rPr dirty="0" err="1"/>
              <a:t>consentito</a:t>
            </a:r>
            <a:r>
              <a:rPr dirty="0"/>
              <a:t> </a:t>
            </a:r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  <a:p>
            <a:pPr marL="171450" indent="-171450" algn="just">
              <a:lnSpc>
                <a:spcPct val="114000"/>
              </a:lnSpc>
              <a:buSzPct val="100000"/>
              <a:buFont typeface="Arial"/>
              <a:buChar char="•"/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Tentativo</a:t>
            </a:r>
            <a:r>
              <a:rPr dirty="0"/>
              <a:t> </a:t>
            </a:r>
            <a:r>
              <a:rPr dirty="0" err="1"/>
              <a:t>configurabile</a:t>
            </a:r>
            <a:endParaRPr dirty="0"/>
          </a:p>
        </p:txBody>
      </p:sp>
      <p:sp>
        <p:nvSpPr>
          <p:cNvPr id="42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Resistenza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3F83E6-7D0D-4A24-9552-52F8A3FB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160336"/>
            <a:ext cx="7031115" cy="1143001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</a:rPr>
              <a:t>Resistenza a pubblico ufficiale</a:t>
            </a:r>
            <a:br>
              <a:rPr lang="it-IT" dirty="0">
                <a:solidFill>
                  <a:schemeClr val="bg1"/>
                </a:solidFill>
              </a:rPr>
            </a:b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B8FC87-4992-49E1-A46D-55441B4A9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85295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>
                <a:solidFill>
                  <a:srgbClr val="FF0000"/>
                </a:solidFill>
              </a:rPr>
              <a:t>Elemento peculiare </a:t>
            </a:r>
            <a:r>
              <a:rPr lang="it-IT" dirty="0"/>
              <a:t>del delitto di resistenza a pubblico ufficiale è rappresentato dal fatto che esso </a:t>
            </a:r>
            <a:r>
              <a:rPr lang="it-IT" b="1" u="sng" dirty="0"/>
              <a:t>si consuma </a:t>
            </a:r>
            <a:r>
              <a:rPr lang="it-IT" u="sng" dirty="0"/>
              <a:t>anche qualora </a:t>
            </a:r>
            <a:r>
              <a:rPr lang="it-IT" b="1" u="sng" dirty="0"/>
              <a:t>la violenza si manifesti </a:t>
            </a:r>
            <a:r>
              <a:rPr lang="it-IT" u="sng" dirty="0"/>
              <a:t>non avverso la persona del pubblico ufficiale</a:t>
            </a:r>
            <a:r>
              <a:rPr lang="it-IT" dirty="0"/>
              <a:t>, </a:t>
            </a:r>
            <a:r>
              <a:rPr lang="it-IT" b="1" u="sng" dirty="0"/>
              <a:t>ma contro un oggetto comunque necessario o correlato al compimento dell’atto d’ufficio.</a:t>
            </a:r>
          </a:p>
          <a:p>
            <a:pPr marL="0" indent="0" algn="just">
              <a:buNone/>
            </a:pPr>
            <a:endParaRPr lang="it-IT" b="1" u="sng" dirty="0"/>
          </a:p>
          <a:p>
            <a:pPr algn="just"/>
            <a:r>
              <a:rPr lang="it-IT" dirty="0"/>
              <a:t>Ad esempio, un soggetto che strappa il verbale di contestazione al codice della strada durante la compilazione incorrerà nella fattispecie appena descritta.</a:t>
            </a:r>
          </a:p>
          <a:p>
            <a:endParaRPr lang="it-IT" dirty="0"/>
          </a:p>
        </p:txBody>
      </p:sp>
      <p:pic>
        <p:nvPicPr>
          <p:cNvPr id="4" name="Immagine 3" descr="Immagine 3">
            <a:extLst>
              <a:ext uri="{FF2B5EF4-FFF2-40B4-BE49-F238E27FC236}">
                <a16:creationId xmlns:a16="http://schemas.microsoft.com/office/drawing/2014/main" id="{DF8F91DF-78DC-437B-8C46-9584D3A3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3390726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asellaDiTesto 13"/>
          <p:cNvSpPr txBox="1"/>
          <p:nvPr/>
        </p:nvSpPr>
        <p:spPr>
          <a:xfrm>
            <a:off x="77752" y="1124744"/>
            <a:ext cx="8801040" cy="5751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PLURIOFFENSIVO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l'interesse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tutelato</a:t>
            </a:r>
            <a:r>
              <a:rPr b="0" dirty="0">
                <a:solidFill>
                  <a:srgbClr val="000000"/>
                </a:solidFill>
              </a:rPr>
              <a:t> è, da un </a:t>
            </a:r>
            <a:r>
              <a:rPr b="0" dirty="0" err="1">
                <a:solidFill>
                  <a:srgbClr val="000000"/>
                </a:solidFill>
              </a:rPr>
              <a:t>lato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quello</a:t>
            </a:r>
            <a:r>
              <a:rPr b="0" dirty="0">
                <a:solidFill>
                  <a:srgbClr val="000000"/>
                </a:solidFill>
              </a:rPr>
              <a:t> del </a:t>
            </a:r>
            <a:r>
              <a:rPr b="0" dirty="0" err="1">
                <a:solidFill>
                  <a:srgbClr val="000000"/>
                </a:solidFill>
              </a:rPr>
              <a:t>regolare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funzionamento</a:t>
            </a:r>
            <a:r>
              <a:rPr dirty="0">
                <a:solidFill>
                  <a:srgbClr val="000000"/>
                </a:solidFill>
              </a:rPr>
              <a:t> e del </a:t>
            </a:r>
            <a:r>
              <a:rPr dirty="0" err="1">
                <a:solidFill>
                  <a:srgbClr val="000000"/>
                </a:solidFill>
              </a:rPr>
              <a:t>prestigio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della</a:t>
            </a:r>
            <a:r>
              <a:rPr dirty="0">
                <a:solidFill>
                  <a:srgbClr val="000000"/>
                </a:solidFill>
              </a:rPr>
              <a:t> P.A</a:t>
            </a:r>
            <a:r>
              <a:rPr b="0" dirty="0">
                <a:solidFill>
                  <a:srgbClr val="000000"/>
                </a:solidFill>
              </a:rPr>
              <a:t>. e, </a:t>
            </a:r>
            <a:r>
              <a:rPr b="0" dirty="0" err="1">
                <a:solidFill>
                  <a:srgbClr val="000000"/>
                </a:solidFill>
              </a:rPr>
              <a:t>dall'altro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lato</a:t>
            </a:r>
            <a:r>
              <a:rPr b="0" dirty="0">
                <a:solidFill>
                  <a:srgbClr val="000000"/>
                </a:solidFill>
              </a:rPr>
              <a:t>, la </a:t>
            </a:r>
            <a:r>
              <a:rPr dirty="0" err="1">
                <a:solidFill>
                  <a:srgbClr val="000000"/>
                </a:solidFill>
              </a:rPr>
              <a:t>libertà</a:t>
            </a:r>
            <a:r>
              <a:rPr dirty="0">
                <a:solidFill>
                  <a:srgbClr val="000000"/>
                </a:solidFill>
              </a:rPr>
              <a:t> e </a:t>
            </a:r>
            <a:r>
              <a:rPr dirty="0" err="1">
                <a:solidFill>
                  <a:srgbClr val="000000"/>
                </a:solidFill>
              </a:rPr>
              <a:t>l'incolumità</a:t>
            </a:r>
            <a:r>
              <a:rPr dirty="0">
                <a:solidFill>
                  <a:srgbClr val="000000"/>
                </a:solidFill>
              </a:rPr>
              <a:t> del </a:t>
            </a:r>
            <a:r>
              <a:rPr dirty="0" err="1">
                <a:solidFill>
                  <a:srgbClr val="000000"/>
                </a:solidFill>
              </a:rPr>
              <a:t>pubblico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ufficiale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perché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essere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commesso</a:t>
            </a:r>
            <a:r>
              <a:rPr b="0" dirty="0">
                <a:solidFill>
                  <a:srgbClr val="000000"/>
                </a:solidFill>
              </a:rPr>
              <a:t> da </a:t>
            </a:r>
            <a:r>
              <a:rPr dirty="0" err="1">
                <a:solidFill>
                  <a:srgbClr val="000000"/>
                </a:solidFill>
              </a:rPr>
              <a:t>chiunque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1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</a:t>
            </a:r>
            <a:r>
              <a:rPr b="1" dirty="0" err="1"/>
              <a:t>soggetti</a:t>
            </a:r>
            <a:r>
              <a:rPr b="1" dirty="0"/>
              <a:t> </a:t>
            </a:r>
            <a:r>
              <a:rPr b="1" dirty="0" err="1"/>
              <a:t>passivi</a:t>
            </a:r>
            <a:r>
              <a:rPr b="1" dirty="0"/>
              <a:t> del </a:t>
            </a:r>
            <a:r>
              <a:rPr b="1" dirty="0" err="1"/>
              <a:t>reato</a:t>
            </a:r>
            <a:r>
              <a:rPr b="1"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pubblico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ufficiale</a:t>
            </a:r>
            <a:r>
              <a:rPr b="1" dirty="0">
                <a:solidFill>
                  <a:srgbClr val="E46C0A"/>
                </a:solidFill>
              </a:rPr>
              <a:t>/</a:t>
            </a:r>
            <a:r>
              <a:rPr b="1" dirty="0" err="1">
                <a:solidFill>
                  <a:srgbClr val="E46C0A"/>
                </a:solidFill>
              </a:rPr>
              <a:t>incaricato</a:t>
            </a:r>
            <a:r>
              <a:rPr b="1" dirty="0">
                <a:solidFill>
                  <a:srgbClr val="E46C0A"/>
                </a:solidFill>
              </a:rPr>
              <a:t> di </a:t>
            </a:r>
            <a:r>
              <a:rPr b="1" dirty="0" err="1">
                <a:solidFill>
                  <a:srgbClr val="E46C0A"/>
                </a:solidFill>
              </a:rPr>
              <a:t>pubblico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servizio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subiscono</a:t>
            </a:r>
            <a:r>
              <a:rPr dirty="0"/>
              <a:t> </a:t>
            </a:r>
            <a:r>
              <a:rPr dirty="0" err="1"/>
              <a:t>violenza</a:t>
            </a:r>
            <a:r>
              <a:rPr dirty="0"/>
              <a:t> o </a:t>
            </a:r>
            <a:r>
              <a:rPr dirty="0" err="1"/>
              <a:t>minaccia</a:t>
            </a:r>
            <a:r>
              <a:rPr dirty="0"/>
              <a:t>. </a:t>
            </a: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Detta</a:t>
            </a:r>
            <a:r>
              <a:rPr dirty="0"/>
              <a:t>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violenta</a:t>
            </a:r>
            <a:r>
              <a:rPr dirty="0"/>
              <a:t> o </a:t>
            </a:r>
            <a:r>
              <a:rPr dirty="0" err="1"/>
              <a:t>minacciosa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avere</a:t>
            </a:r>
            <a:r>
              <a:rPr dirty="0"/>
              <a:t> </a:t>
            </a:r>
            <a:r>
              <a:rPr b="1" dirty="0">
                <a:solidFill>
                  <a:srgbClr val="E46C0A"/>
                </a:solidFill>
              </a:rPr>
              <a:t>lo </a:t>
            </a:r>
            <a:r>
              <a:rPr b="1" dirty="0" err="1">
                <a:solidFill>
                  <a:srgbClr val="E46C0A"/>
                </a:solidFill>
              </a:rPr>
              <a:t>scopo</a:t>
            </a:r>
            <a:r>
              <a:rPr b="1" dirty="0">
                <a:solidFill>
                  <a:srgbClr val="E46C0A"/>
                </a:solidFill>
              </a:rPr>
              <a:t> di </a:t>
            </a:r>
            <a:r>
              <a:rPr b="1" u="sng" dirty="0" err="1">
                <a:solidFill>
                  <a:srgbClr val="E46C0A"/>
                </a:solidFill>
              </a:rPr>
              <a:t>impedire</a:t>
            </a:r>
            <a:r>
              <a:rPr b="1" u="sng" dirty="0">
                <a:solidFill>
                  <a:srgbClr val="E46C0A"/>
                </a:solidFill>
              </a:rPr>
              <a:t> </a:t>
            </a:r>
            <a:r>
              <a:rPr b="1" u="sng" dirty="0" err="1">
                <a:solidFill>
                  <a:srgbClr val="E46C0A"/>
                </a:solidFill>
              </a:rPr>
              <a:t>il</a:t>
            </a:r>
            <a:r>
              <a:rPr b="1" u="sng" dirty="0">
                <a:solidFill>
                  <a:srgbClr val="E46C0A"/>
                </a:solidFill>
              </a:rPr>
              <a:t> </a:t>
            </a:r>
            <a:r>
              <a:rPr b="1" u="sng" dirty="0" err="1">
                <a:solidFill>
                  <a:srgbClr val="E46C0A"/>
                </a:solidFill>
              </a:rPr>
              <a:t>compimento</a:t>
            </a:r>
            <a:r>
              <a:rPr b="1" u="sng" dirty="0">
                <a:solidFill>
                  <a:srgbClr val="E46C0A"/>
                </a:solidFill>
              </a:rPr>
              <a:t> di </a:t>
            </a:r>
            <a:r>
              <a:rPr b="1" u="sng" dirty="0" err="1">
                <a:solidFill>
                  <a:srgbClr val="E46C0A"/>
                </a:solidFill>
              </a:rPr>
              <a:t>un’attività</a:t>
            </a:r>
            <a:r>
              <a:rPr b="1" u="sng" dirty="0">
                <a:solidFill>
                  <a:srgbClr val="E46C0A"/>
                </a:solidFill>
              </a:rPr>
              <a:t> in </a:t>
            </a:r>
            <a:r>
              <a:rPr b="1" u="sng" dirty="0" err="1">
                <a:solidFill>
                  <a:srgbClr val="E46C0A"/>
                </a:solidFill>
              </a:rPr>
              <a:t>corso</a:t>
            </a:r>
            <a:r>
              <a:rPr b="1" dirty="0">
                <a:solidFill>
                  <a:srgbClr val="E46C0A"/>
                </a:solidFill>
              </a:rPr>
              <a:t>. </a:t>
            </a:r>
            <a:r>
              <a:rPr dirty="0" err="1"/>
              <a:t>L’autore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non </a:t>
            </a:r>
            <a:r>
              <a:rPr dirty="0" err="1"/>
              <a:t>vuole</a:t>
            </a:r>
            <a:r>
              <a:rPr dirty="0"/>
              <a:t>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condizionare</a:t>
            </a:r>
            <a:r>
              <a:rPr dirty="0"/>
              <a:t> un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decisionale</a:t>
            </a:r>
            <a:r>
              <a:rPr dirty="0"/>
              <a:t>, </a:t>
            </a:r>
            <a:r>
              <a:rPr dirty="0" err="1"/>
              <a:t>bensì</a:t>
            </a:r>
            <a:r>
              <a:rPr dirty="0"/>
              <a:t> </a:t>
            </a:r>
            <a:r>
              <a:rPr dirty="0" err="1"/>
              <a:t>opporsi</a:t>
            </a:r>
            <a:r>
              <a:rPr dirty="0"/>
              <a:t> ad </a:t>
            </a:r>
            <a:r>
              <a:rPr dirty="0" err="1"/>
              <a:t>uno</a:t>
            </a:r>
            <a:r>
              <a:rPr dirty="0"/>
              <a:t> </a:t>
            </a:r>
            <a:r>
              <a:rPr dirty="0" err="1"/>
              <a:t>specifico</a:t>
            </a:r>
            <a:r>
              <a:rPr dirty="0"/>
              <a:t>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 </a:t>
            </a:r>
            <a:r>
              <a:rPr dirty="0" err="1"/>
              <a:t>sta</a:t>
            </a:r>
            <a:r>
              <a:rPr dirty="0"/>
              <a:t> </a:t>
            </a:r>
            <a:r>
              <a:rPr dirty="0" err="1"/>
              <a:t>ponendo</a:t>
            </a:r>
            <a:r>
              <a:rPr dirty="0"/>
              <a:t> in </a:t>
            </a:r>
            <a:r>
              <a:rPr dirty="0" err="1"/>
              <a:t>essere</a:t>
            </a:r>
            <a:r>
              <a:rPr dirty="0"/>
              <a:t> in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preciso</a:t>
            </a:r>
            <a:r>
              <a:rPr dirty="0"/>
              <a:t> </a:t>
            </a:r>
            <a:r>
              <a:rPr dirty="0" err="1"/>
              <a:t>momento</a:t>
            </a:r>
            <a:r>
              <a:rPr lang="it-IT" dirty="0"/>
              <a:t>.</a:t>
            </a:r>
            <a:endParaRPr dirty="0"/>
          </a:p>
        </p:txBody>
      </p:sp>
      <p:pic>
        <p:nvPicPr>
          <p:cNvPr id="430" name="Immagine 5" descr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Resistenza a pubblico ufficiale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asellaDiTesto 8"/>
          <p:cNvSpPr txBox="1"/>
          <p:nvPr/>
        </p:nvSpPr>
        <p:spPr>
          <a:xfrm>
            <a:off x="354685" y="1590327"/>
            <a:ext cx="8552527" cy="4836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 </a:t>
            </a:r>
            <a:r>
              <a:rPr b="0" u="none" dirty="0" err="1"/>
              <a:t>consiste</a:t>
            </a:r>
            <a:r>
              <a:rPr b="0" u="none" dirty="0"/>
              <a:t> </a:t>
            </a:r>
            <a:r>
              <a:rPr u="none" dirty="0" err="1">
                <a:solidFill>
                  <a:srgbClr val="E46C0A"/>
                </a:solidFill>
              </a:rPr>
              <a:t>nell'uso</a:t>
            </a:r>
            <a:r>
              <a:rPr u="none" dirty="0">
                <a:solidFill>
                  <a:srgbClr val="E46C0A"/>
                </a:solidFill>
              </a:rPr>
              <a:t> </a:t>
            </a:r>
            <a:r>
              <a:rPr u="none" dirty="0" err="1">
                <a:solidFill>
                  <a:srgbClr val="E46C0A"/>
                </a:solidFill>
              </a:rPr>
              <a:t>della</a:t>
            </a:r>
            <a:r>
              <a:rPr u="none" dirty="0">
                <a:solidFill>
                  <a:srgbClr val="E46C0A"/>
                </a:solidFill>
              </a:rPr>
              <a:t> </a:t>
            </a:r>
            <a:r>
              <a:rPr u="none" dirty="0" err="1">
                <a:solidFill>
                  <a:srgbClr val="E46C0A"/>
                </a:solidFill>
              </a:rPr>
              <a:t>violenza</a:t>
            </a:r>
            <a:r>
              <a:rPr u="none" dirty="0">
                <a:solidFill>
                  <a:srgbClr val="E46C0A"/>
                </a:solidFill>
              </a:rPr>
              <a:t> o </a:t>
            </a:r>
            <a:r>
              <a:rPr u="none" dirty="0" err="1">
                <a:solidFill>
                  <a:srgbClr val="E46C0A"/>
                </a:solidFill>
              </a:rPr>
              <a:t>minaccia</a:t>
            </a:r>
            <a:r>
              <a:rPr u="none" dirty="0">
                <a:solidFill>
                  <a:srgbClr val="E46C0A"/>
                </a:solidFill>
              </a:rPr>
              <a:t> per </a:t>
            </a:r>
            <a:r>
              <a:rPr u="none" dirty="0" err="1">
                <a:solidFill>
                  <a:srgbClr val="E46C0A"/>
                </a:solidFill>
              </a:rPr>
              <a:t>opporsi</a:t>
            </a:r>
            <a:r>
              <a:rPr b="0" u="none" dirty="0"/>
              <a:t>, </a:t>
            </a:r>
            <a:r>
              <a:rPr b="0" u="none" dirty="0" err="1"/>
              <a:t>quindi</a:t>
            </a:r>
            <a:r>
              <a:rPr b="0" u="none" dirty="0"/>
              <a:t> al fine di </a:t>
            </a:r>
            <a:r>
              <a:rPr u="none" dirty="0" err="1">
                <a:solidFill>
                  <a:srgbClr val="E46C0A"/>
                </a:solidFill>
              </a:rPr>
              <a:t>impedire</a:t>
            </a:r>
            <a:r>
              <a:rPr u="none" dirty="0">
                <a:solidFill>
                  <a:srgbClr val="E46C0A"/>
                </a:solidFill>
              </a:rPr>
              <a:t>, </a:t>
            </a:r>
            <a:r>
              <a:rPr u="none" dirty="0" err="1">
                <a:solidFill>
                  <a:srgbClr val="E46C0A"/>
                </a:solidFill>
              </a:rPr>
              <a:t>intralciare</a:t>
            </a:r>
            <a:r>
              <a:rPr u="none" dirty="0">
                <a:solidFill>
                  <a:srgbClr val="E46C0A"/>
                </a:solidFill>
              </a:rPr>
              <a:t> o </a:t>
            </a:r>
            <a:r>
              <a:rPr u="none" dirty="0" err="1">
                <a:solidFill>
                  <a:srgbClr val="E46C0A"/>
                </a:solidFill>
              </a:rPr>
              <a:t>compromettere</a:t>
            </a:r>
            <a:r>
              <a:rPr b="0" u="none" dirty="0"/>
              <a:t>, </a:t>
            </a:r>
            <a:r>
              <a:rPr b="0" u="none" dirty="0" err="1"/>
              <a:t>anche</a:t>
            </a:r>
            <a:r>
              <a:rPr b="0" u="none" dirty="0"/>
              <a:t> solo </a:t>
            </a:r>
            <a:r>
              <a:rPr b="0" u="none" dirty="0" err="1"/>
              <a:t>parzialmente</a:t>
            </a:r>
            <a:r>
              <a:rPr b="0" u="none" dirty="0"/>
              <a:t> e </a:t>
            </a:r>
            <a:r>
              <a:rPr b="0" u="none" dirty="0" err="1"/>
              <a:t>temporaneamente</a:t>
            </a:r>
            <a:r>
              <a:rPr b="0" u="none" dirty="0"/>
              <a:t>, </a:t>
            </a:r>
            <a:r>
              <a:rPr u="none" dirty="0"/>
              <a:t>la </a:t>
            </a:r>
            <a:r>
              <a:rPr u="none" dirty="0" err="1"/>
              <a:t>regolarità</a:t>
            </a:r>
            <a:r>
              <a:rPr u="none" dirty="0"/>
              <a:t> del </a:t>
            </a:r>
            <a:r>
              <a:rPr u="none" dirty="0" err="1"/>
              <a:t>compimento</a:t>
            </a:r>
            <a:r>
              <a:rPr u="none" dirty="0"/>
              <a:t> </a:t>
            </a:r>
            <a:r>
              <a:rPr u="none" dirty="0" err="1"/>
              <a:t>dell'atto</a:t>
            </a:r>
            <a:r>
              <a:rPr u="none" dirty="0"/>
              <a:t> </a:t>
            </a:r>
            <a:r>
              <a:rPr u="none" dirty="0" err="1"/>
              <a:t>d'ufficio</a:t>
            </a:r>
            <a:r>
              <a:rPr u="none" dirty="0"/>
              <a:t> </a:t>
            </a:r>
            <a:r>
              <a:rPr b="0" u="none" dirty="0"/>
              <a:t>da </a:t>
            </a:r>
            <a:r>
              <a:rPr b="0" u="none" dirty="0" err="1"/>
              <a:t>parte</a:t>
            </a:r>
            <a:r>
              <a:rPr b="0" u="none" dirty="0"/>
              <a:t> del </a:t>
            </a:r>
            <a:r>
              <a:rPr b="0" u="none" dirty="0" err="1"/>
              <a:t>pubblico</a:t>
            </a:r>
            <a:r>
              <a:rPr b="0" u="none" dirty="0"/>
              <a:t> </a:t>
            </a:r>
            <a:r>
              <a:rPr b="0" u="none" dirty="0" err="1"/>
              <a:t>ufficiale</a:t>
            </a:r>
            <a:r>
              <a:rPr b="0" u="none" dirty="0"/>
              <a:t> o </a:t>
            </a:r>
            <a:r>
              <a:rPr b="0" u="none" dirty="0" err="1"/>
              <a:t>dell'incaricato</a:t>
            </a:r>
            <a:r>
              <a:rPr b="0" u="none" dirty="0"/>
              <a:t> di </a:t>
            </a:r>
            <a:r>
              <a:rPr b="0" u="none" dirty="0" err="1"/>
              <a:t>pubblico</a:t>
            </a:r>
            <a:r>
              <a:rPr b="0" u="none" dirty="0"/>
              <a:t> </a:t>
            </a:r>
            <a:r>
              <a:rPr b="0" u="none" dirty="0" err="1"/>
              <a:t>servizio</a:t>
            </a:r>
            <a:r>
              <a:rPr b="0" u="none" dirty="0"/>
              <a:t>. </a:t>
            </a:r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presuppone</a:t>
            </a:r>
            <a:r>
              <a:rPr dirty="0"/>
              <a:t>, </a:t>
            </a:r>
            <a:r>
              <a:rPr dirty="0" err="1"/>
              <a:t>quindi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vi </a:t>
            </a:r>
            <a:r>
              <a:rPr dirty="0" err="1"/>
              <a:t>sia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un’attività</a:t>
            </a:r>
            <a:r>
              <a:rPr b="1" dirty="0">
                <a:solidFill>
                  <a:srgbClr val="E46C0A"/>
                </a:solidFill>
              </a:rPr>
              <a:t> in </a:t>
            </a:r>
            <a:r>
              <a:rPr b="1" dirty="0" err="1">
                <a:solidFill>
                  <a:srgbClr val="E46C0A"/>
                </a:solidFill>
              </a:rPr>
              <a:t>corso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È </a:t>
            </a:r>
            <a:r>
              <a:rPr dirty="0" err="1"/>
              <a:t>richiesto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aggressiva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realizzata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contestualmente</a:t>
            </a:r>
            <a:r>
              <a:rPr dirty="0"/>
              <a:t> rispetto al </a:t>
            </a:r>
            <a:r>
              <a:rPr dirty="0" err="1"/>
              <a:t>compimento</a:t>
            </a:r>
            <a:r>
              <a:rPr dirty="0"/>
              <a:t> </a:t>
            </a:r>
            <a:r>
              <a:rPr dirty="0" err="1"/>
              <a:t>dell'atto</a:t>
            </a:r>
            <a:r>
              <a:rPr dirty="0"/>
              <a:t> </a:t>
            </a:r>
            <a:r>
              <a:rPr dirty="0" err="1"/>
              <a:t>d'ufficio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sz="1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DANNO</a:t>
            </a:r>
            <a:r>
              <a:rPr b="0" dirty="0"/>
              <a:t>, </a:t>
            </a:r>
            <a:r>
              <a:rPr b="0" dirty="0" err="1"/>
              <a:t>perché</a:t>
            </a:r>
            <a:r>
              <a:rPr b="0" dirty="0"/>
              <a:t> </a:t>
            </a:r>
            <a:r>
              <a:rPr b="0" dirty="0" err="1"/>
              <a:t>richiede</a:t>
            </a:r>
            <a:r>
              <a:rPr b="0" dirty="0"/>
              <a:t> </a:t>
            </a:r>
            <a:r>
              <a:rPr b="0" dirty="0" err="1"/>
              <a:t>l'offesa</a:t>
            </a:r>
            <a:r>
              <a:rPr b="0" dirty="0"/>
              <a:t> in </a:t>
            </a:r>
            <a:r>
              <a:rPr b="0" dirty="0" err="1"/>
              <a:t>senso</a:t>
            </a:r>
            <a:r>
              <a:rPr b="0" dirty="0"/>
              <a:t> </a:t>
            </a:r>
            <a:r>
              <a:rPr b="0" dirty="0" err="1"/>
              <a:t>naturalistico</a:t>
            </a:r>
            <a:r>
              <a:rPr b="0" dirty="0"/>
              <a:t> del bene </a:t>
            </a:r>
            <a:r>
              <a:rPr b="0" dirty="0" err="1"/>
              <a:t>protetto</a:t>
            </a:r>
            <a:r>
              <a:rPr b="0" dirty="0"/>
              <a:t>; </a:t>
            </a:r>
            <a:r>
              <a:rPr dirty="0"/>
              <a:t>DI MERA CONDOTTA</a:t>
            </a:r>
            <a:r>
              <a:rPr b="0" dirty="0"/>
              <a:t>, </a:t>
            </a:r>
            <a:r>
              <a:rPr b="0" dirty="0" err="1"/>
              <a:t>perché</a:t>
            </a:r>
            <a:r>
              <a:rPr b="0" dirty="0"/>
              <a:t> </a:t>
            </a:r>
            <a:r>
              <a:rPr b="0" dirty="0" err="1"/>
              <a:t>si</a:t>
            </a:r>
            <a:r>
              <a:rPr b="0" dirty="0"/>
              <a:t> </a:t>
            </a:r>
            <a:r>
              <a:rPr b="0" dirty="0" err="1"/>
              <a:t>perfeziona</a:t>
            </a:r>
            <a:r>
              <a:rPr b="0" dirty="0"/>
              <a:t> con la semplice </a:t>
            </a:r>
            <a:r>
              <a:rPr b="0" dirty="0" err="1"/>
              <a:t>esecuzione</a:t>
            </a:r>
            <a:r>
              <a:rPr b="0" dirty="0"/>
              <a:t> </a:t>
            </a:r>
            <a:r>
              <a:rPr b="0" dirty="0" err="1"/>
              <a:t>dell'azione</a:t>
            </a:r>
            <a:r>
              <a:rPr b="0" dirty="0"/>
              <a:t> </a:t>
            </a:r>
            <a:r>
              <a:rPr b="0" dirty="0" err="1"/>
              <a:t>criminosa</a:t>
            </a:r>
            <a:r>
              <a:rPr b="0" dirty="0"/>
              <a:t>; </a:t>
            </a:r>
            <a:r>
              <a:rPr lang="it-IT" dirty="0"/>
              <a:t>FORMA VINCOLATA.</a:t>
            </a:r>
          </a:p>
          <a:p>
            <a:pPr algn="just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</p:txBody>
      </p:sp>
      <p:pic>
        <p:nvPicPr>
          <p:cNvPr id="434" name="Immagine 3" descr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Resistenza a pubblico ufficiale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asellaDiTesto 13"/>
          <p:cNvSpPr txBox="1"/>
          <p:nvPr/>
        </p:nvSpPr>
        <p:spPr>
          <a:xfrm>
            <a:off x="182570" y="1124743"/>
            <a:ext cx="8801040" cy="503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</a:t>
            </a:r>
            <a:r>
              <a:rPr b="0" u="none"/>
              <a:t> configurano resistenza :</a:t>
            </a:r>
          </a:p>
          <a:p>
            <a:pPr marL="800100" lvl="1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fuga</a:t>
            </a:r>
            <a:r>
              <a:rPr b="0">
                <a:solidFill>
                  <a:srgbClr val="000000"/>
                </a:solidFill>
              </a:rPr>
              <a:t>, salvo che il soggetto ponga in essere una “</a:t>
            </a:r>
            <a:r>
              <a:rPr>
                <a:solidFill>
                  <a:srgbClr val="000000"/>
                </a:solidFill>
              </a:rPr>
              <a:t>fuga pericolosa</a:t>
            </a:r>
            <a:r>
              <a:rPr b="0">
                <a:solidFill>
                  <a:srgbClr val="000000"/>
                </a:solidFill>
              </a:rPr>
              <a:t>” o aggredisca i pubblici ufficiali, anche solo dimenandosi;</a:t>
            </a:r>
          </a:p>
          <a:p>
            <a:pPr marL="800100" lvl="1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mera disobbedienza </a:t>
            </a:r>
            <a:r>
              <a:rPr b="0">
                <a:solidFill>
                  <a:srgbClr val="000000"/>
                </a:solidFill>
              </a:rPr>
              <a:t>(il soggetto a cui viene intimato di mettersi al muro e che si rifiuta non integra la condotta antigiuridica che la norma presuppone); </a:t>
            </a:r>
          </a:p>
          <a:p>
            <a:pPr marL="800100" lvl="1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resistenza passiva </a:t>
            </a:r>
            <a:r>
              <a:rPr b="0">
                <a:solidFill>
                  <a:srgbClr val="000000"/>
                </a:solidFill>
              </a:rPr>
              <a:t>(il soggetto che si butta a terra non compie resistenza in quanto manca l’elemento della minaccia/violenza).</a:t>
            </a:r>
          </a:p>
          <a:p>
            <a:pPr algn="just">
              <a:lnSpc>
                <a:spcPct val="114000"/>
              </a:lnSpc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u="none"/>
              <a:t> </a:t>
            </a:r>
            <a:r>
              <a:rPr b="0" u="none"/>
              <a:t>è il </a:t>
            </a:r>
            <a:r>
              <a:rPr u="none">
                <a:solidFill>
                  <a:srgbClr val="E46C0A"/>
                </a:solidFill>
              </a:rPr>
              <a:t>DOLO SPECIFICO</a:t>
            </a:r>
            <a:r>
              <a:rPr b="0" u="none"/>
              <a:t>, perché oltre alla coscienza e volontà della violenza e minaccia, è richiesto </a:t>
            </a:r>
            <a:r>
              <a:rPr u="none"/>
              <a:t>l'ulteriore scopo </a:t>
            </a:r>
            <a:r>
              <a:rPr b="0" u="none"/>
              <a:t>di impedire che l'agente pubblico esegua l'atto del suo ufficio.</a:t>
            </a:r>
            <a:endParaRPr sz="2200" b="0"/>
          </a:p>
        </p:txBody>
      </p:sp>
      <p:pic>
        <p:nvPicPr>
          <p:cNvPr id="438" name="Immagine 5" descr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Resistenza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9BD773-4878-4ADB-86C7-11C29079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328"/>
            <a:ext cx="6604985" cy="1143001"/>
          </a:xfrm>
        </p:spPr>
        <p:txBody>
          <a:bodyPr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Resistenza a pubblico ufficiale</a:t>
            </a:r>
            <a:b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D5F237-C086-42DF-87B1-B7F0C704B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685" y="832494"/>
            <a:ext cx="8229600" cy="61327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sz="4100" b="1" dirty="0">
                <a:solidFill>
                  <a:srgbClr val="FF6600"/>
                </a:solidFill>
                <a:latin typeface="Book Antiqua" panose="02040602050305030304" pitchFamily="18" charset="0"/>
              </a:rPr>
              <a:t>Pluralità di P.U. fatti oggetto di minaccia o violenza</a:t>
            </a:r>
          </a:p>
          <a:p>
            <a:pPr marL="0" indent="0" algn="just">
              <a:buNone/>
            </a:pPr>
            <a:endParaRPr lang="it-IT" sz="41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4400" b="1" dirty="0">
                <a:latin typeface="Book Antiqua" panose="02040602050305030304" pitchFamily="18" charset="0"/>
              </a:rPr>
              <a:t>Se ci sono due Pubblici Ufficiali che compiono un atto del proprio ufficio e un soggetto prima ne spinge uno e poi resiste ad entrambi compie uno o più reati di resistenza? </a:t>
            </a:r>
            <a:endParaRPr lang="it-IT" sz="44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4400" dirty="0">
                <a:latin typeface="Book Antiqua" panose="02040602050305030304" pitchFamily="18" charset="0"/>
              </a:rPr>
              <a:t>Le Sez. Unite della Cassazione con sentenza numero 40981 del 2018 si sono espresse sulla questione con tale dispositivo: "In </a:t>
            </a:r>
            <a:r>
              <a:rPr lang="it-IT" sz="4400" i="1" dirty="0">
                <a:latin typeface="Book Antiqua" panose="02040602050305030304" pitchFamily="18" charset="0"/>
              </a:rPr>
              <a:t>tema di resistenza a un pubblico ufficiale, ex art. 337 cod. </a:t>
            </a:r>
            <a:r>
              <a:rPr lang="it-IT" sz="4400" i="1" dirty="0" err="1">
                <a:latin typeface="Book Antiqua" panose="02040602050305030304" pitchFamily="18" charset="0"/>
              </a:rPr>
              <a:t>pen</a:t>
            </a:r>
            <a:r>
              <a:rPr lang="it-IT" sz="4400" i="1" dirty="0">
                <a:latin typeface="Book Antiqua" panose="02040602050305030304" pitchFamily="18" charset="0"/>
              </a:rPr>
              <a:t>., </a:t>
            </a:r>
            <a:r>
              <a:rPr lang="it-IT" sz="4400" i="1" dirty="0">
                <a:solidFill>
                  <a:srgbClr val="FF0000"/>
                </a:solidFill>
                <a:latin typeface="Book Antiqua" panose="02040602050305030304" pitchFamily="18" charset="0"/>
              </a:rPr>
              <a:t>integra </a:t>
            </a:r>
            <a:r>
              <a:rPr lang="it-IT" sz="4400" b="1" i="1" dirty="0">
                <a:solidFill>
                  <a:srgbClr val="FF0000"/>
                </a:solidFill>
                <a:latin typeface="Book Antiqua" panose="02040602050305030304" pitchFamily="18" charset="0"/>
              </a:rPr>
              <a:t>il concorso formale di reati</a:t>
            </a:r>
            <a:r>
              <a:rPr lang="it-IT" sz="4400" i="1" dirty="0">
                <a:solidFill>
                  <a:srgbClr val="FF0000"/>
                </a:solidFill>
                <a:latin typeface="Book Antiqua" panose="02040602050305030304" pitchFamily="18" charset="0"/>
              </a:rPr>
              <a:t>,</a:t>
            </a:r>
            <a:r>
              <a:rPr lang="it-IT" sz="4400" i="1" dirty="0">
                <a:latin typeface="Book Antiqua" panose="02040602050305030304" pitchFamily="18" charset="0"/>
              </a:rPr>
              <a:t> a norma dell'art. 81, primo comma, cod. </a:t>
            </a:r>
            <a:r>
              <a:rPr lang="it-IT" sz="4400" i="1" dirty="0" err="1">
                <a:latin typeface="Book Antiqua" panose="02040602050305030304" pitchFamily="18" charset="0"/>
              </a:rPr>
              <a:t>pen</a:t>
            </a:r>
            <a:r>
              <a:rPr lang="it-IT" sz="4400" i="1" dirty="0">
                <a:latin typeface="Book Antiqua" panose="02040602050305030304" pitchFamily="18" charset="0"/>
              </a:rPr>
              <a:t>., la condotta di chi usa violenza o minaccia per opporsi a </a:t>
            </a:r>
            <a:r>
              <a:rPr lang="it-IT" sz="4400" b="1" i="1" dirty="0">
                <a:latin typeface="Book Antiqua" panose="02040602050305030304" pitchFamily="18" charset="0"/>
              </a:rPr>
              <a:t>più pubblici ufficiali </a:t>
            </a:r>
            <a:r>
              <a:rPr lang="it-IT" sz="4400" i="1" dirty="0">
                <a:latin typeface="Book Antiqua" panose="02040602050305030304" pitchFamily="18" charset="0"/>
              </a:rPr>
              <a:t>o incaricati di un pubblico servizio mentre compiono </a:t>
            </a:r>
            <a:r>
              <a:rPr lang="it-IT" sz="4400" b="1" i="1" dirty="0">
                <a:latin typeface="Book Antiqua" panose="02040602050305030304" pitchFamily="18" charset="0"/>
              </a:rPr>
              <a:t>un atto </a:t>
            </a:r>
            <a:r>
              <a:rPr lang="it-IT" sz="4400" i="1" dirty="0">
                <a:latin typeface="Book Antiqua" panose="02040602050305030304" pitchFamily="18" charset="0"/>
              </a:rPr>
              <a:t>del loro ufficio o servizio</a:t>
            </a:r>
            <a:r>
              <a:rPr lang="ru-RU" sz="4400" dirty="0">
                <a:latin typeface="Book Antiqua" panose="02040602050305030304" pitchFamily="18" charset="0"/>
              </a:rPr>
              <a:t>". </a:t>
            </a:r>
            <a:endParaRPr lang="it-IT" sz="44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4400" dirty="0">
                <a:latin typeface="Book Antiqua" panose="02040602050305030304" pitchFamily="18" charset="0"/>
              </a:rPr>
              <a:t>Quindi vengono perseguiti più reati di resistenza per ogni condotta violenta o di minaccia espressa contro ogni pubblico ufficiale.</a:t>
            </a:r>
          </a:p>
          <a:p>
            <a:pPr marL="0" indent="0">
              <a:buNone/>
            </a:pPr>
            <a:endParaRPr lang="it-IT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4200" b="1" dirty="0">
                <a:solidFill>
                  <a:srgbClr val="FF0000"/>
                </a:solidFill>
                <a:latin typeface="Book Antiqua" panose="02040602050305030304" pitchFamily="18" charset="0"/>
              </a:rPr>
              <a:t>CONCORSO FORMALE DI REATI</a:t>
            </a:r>
            <a:r>
              <a:rPr lang="it-IT" sz="4200" dirty="0">
                <a:solidFill>
                  <a:srgbClr val="FF0000"/>
                </a:solidFill>
                <a:latin typeface="Book Antiqua" panose="02040602050305030304" pitchFamily="18" charset="0"/>
              </a:rPr>
              <a:t>: </a:t>
            </a:r>
            <a:r>
              <a:rPr lang="it-IT" sz="4200" dirty="0">
                <a:solidFill>
                  <a:schemeClr val="tx1"/>
                </a:solidFill>
                <a:latin typeface="Book Antiqua" panose="02040602050305030304" pitchFamily="18" charset="0"/>
              </a:rPr>
              <a:t>si ha concorso formale quando il soggetto con </a:t>
            </a:r>
            <a:r>
              <a:rPr lang="it-IT" sz="4200" u="sng" dirty="0">
                <a:solidFill>
                  <a:srgbClr val="00B0F0"/>
                </a:solidFill>
                <a:latin typeface="Book Antiqua" panose="02040602050305030304" pitchFamily="18" charset="0"/>
              </a:rPr>
              <a:t>la medesima condotta compie più reati </a:t>
            </a:r>
            <a:r>
              <a:rPr lang="it-IT" sz="4200" dirty="0">
                <a:solidFill>
                  <a:schemeClr val="tx1"/>
                </a:solidFill>
                <a:latin typeface="Book Antiqua" panose="02040602050305030304" pitchFamily="18" charset="0"/>
              </a:rPr>
              <a:t>– il legislatore prevede in tal caso il cumulo giuridico- cioè si </a:t>
            </a:r>
            <a:r>
              <a:rPr lang="it-IT" sz="4200" b="1" u="sng" dirty="0">
                <a:solidFill>
                  <a:schemeClr val="tx1"/>
                </a:solidFill>
                <a:latin typeface="Book Antiqua" panose="02040602050305030304" pitchFamily="18" charset="0"/>
              </a:rPr>
              <a:t>applica la pena del reato più grave aumentata fino al triplo.</a:t>
            </a:r>
          </a:p>
        </p:txBody>
      </p:sp>
      <p:pic>
        <p:nvPicPr>
          <p:cNvPr id="5" name="Immagine 3" descr="Immagine 3">
            <a:extLst>
              <a:ext uri="{FF2B5EF4-FFF2-40B4-BE49-F238E27FC236}">
                <a16:creationId xmlns:a16="http://schemas.microsoft.com/office/drawing/2014/main" id="{40390A4E-2673-40F1-9939-BE3C3D2C4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24739478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asellaDiTesto 13"/>
          <p:cNvSpPr txBox="1"/>
          <p:nvPr/>
        </p:nvSpPr>
        <p:spPr>
          <a:xfrm>
            <a:off x="182570" y="836712"/>
            <a:ext cx="8808206" cy="504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sz="24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341</a:t>
            </a:r>
            <a:r>
              <a:rPr i="1" dirty="0">
                <a:solidFill>
                  <a:srgbClr val="FF0000"/>
                </a:solidFill>
              </a:rPr>
              <a:t> bis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Oltraggio</a:t>
            </a:r>
            <a:r>
              <a:rPr dirty="0">
                <a:solidFill>
                  <a:srgbClr val="FF0000"/>
                </a:solidFill>
              </a:rPr>
              <a:t> a </a:t>
            </a:r>
            <a:r>
              <a:rPr dirty="0" err="1">
                <a:solidFill>
                  <a:srgbClr val="FF0000"/>
                </a:solidFill>
              </a:rPr>
              <a:t>pubblico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ufficiale</a:t>
            </a:r>
            <a:endParaRPr dirty="0">
              <a:solidFill>
                <a:srgbClr val="FF0000"/>
              </a:solidFill>
            </a:endParaRP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Chiunque, </a:t>
            </a:r>
            <a:r>
              <a:rPr lang="it-IT" sz="20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luogo pubblico</a:t>
            </a:r>
            <a:r>
              <a:rPr lang="pt-PT" sz="20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it-IT" sz="20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aperto al pubblico </a:t>
            </a:r>
            <a:r>
              <a:rPr lang="it-IT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it-IT" sz="20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presenza di più persone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offende l</a:t>
            </a:r>
            <a:r>
              <a:rPr lang="ar-S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onore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 il </a:t>
            </a:r>
            <a:r>
              <a:rPr lang="it-IT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prestigio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un pubblico ufficiale </a:t>
            </a:r>
            <a:r>
              <a:rPr lang="it-IT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mentre compie un atto d</a:t>
            </a:r>
            <a:r>
              <a:rPr lang="ar-SA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ufficio ed a causa o </a:t>
            </a:r>
            <a:r>
              <a:rPr lang="it-IT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nell</a:t>
            </a:r>
            <a:r>
              <a:rPr lang="ar-SA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esercizio delle sue funzioni </a:t>
            </a:r>
            <a:r>
              <a:rPr lang="it-I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 punito con la reclusione da sei mesi a tre anni. </a:t>
            </a:r>
            <a:endParaRPr lang="it-IT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it-IT" sz="19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pena è aumentata fino alla metà se il fatto è commesso dal genitore esercente la responsabilità genitoriale o dal tutore dell'alunno nei confronti di un dirigente scolastico o di un membro del personale docente, educativo o amministrativo della scuola</a:t>
            </a:r>
            <a:r>
              <a:rPr lang="it-IT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it-IT" sz="19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pena è aumentata se l’offesa consiste nell’attribuzione di un fatto determinato</a:t>
            </a:r>
            <a:r>
              <a:rPr lang="it-IT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19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la verità del fatto è provata</a:t>
            </a:r>
            <a:r>
              <a:rPr lang="it-IT" sz="1900" b="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9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se per esso l’ufficiale a cui il fatto è attribuito è </a:t>
            </a:r>
            <a:r>
              <a:rPr lang="it-IT" sz="19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condannato</a:t>
            </a:r>
            <a:r>
              <a:rPr lang="it-IT" sz="19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dopo l’attribuzione del fatto medesimo,</a:t>
            </a:r>
            <a:r>
              <a:rPr lang="it-IT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9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l’autore dell’offesa non è punibile.</a:t>
            </a:r>
            <a:endParaRPr lang="it-IT" sz="19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it-IT" sz="19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 l’imputato, prima del giudizio, abbia riparato interamente il danno, mediante risarcimento di esso sia nei confronti della persona offesa sia nei confronti dell’ente di appartenenza della medesima, il reato è estinto</a:t>
            </a:r>
            <a:r>
              <a:rPr sz="1800" b="0" i="0" dirty="0"/>
              <a:t>».</a:t>
            </a:r>
            <a:endParaRPr sz="600" b="0" i="0" dirty="0"/>
          </a:p>
        </p:txBody>
      </p:sp>
      <p:pic>
        <p:nvPicPr>
          <p:cNvPr id="446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Rettangolo 5"/>
          <p:cNvSpPr txBox="1"/>
          <p:nvPr/>
        </p:nvSpPr>
        <p:spPr>
          <a:xfrm>
            <a:off x="5930182" y="5529824"/>
            <a:ext cx="3744395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/>
              <a:t>Note</a:t>
            </a:r>
            <a:r>
              <a:rPr sz="1200" u="none" dirty="0"/>
              <a:t>: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 err="1"/>
              <a:t>Competenza</a:t>
            </a:r>
            <a:r>
              <a:rPr sz="1200" dirty="0"/>
              <a:t> </a:t>
            </a:r>
            <a:r>
              <a:rPr sz="1200" dirty="0" err="1"/>
              <a:t>Tribunale</a:t>
            </a:r>
            <a:r>
              <a:rPr sz="1200" dirty="0"/>
              <a:t> </a:t>
            </a:r>
            <a:r>
              <a:rPr sz="1200" dirty="0" err="1"/>
              <a:t>monocratico</a:t>
            </a:r>
            <a:endParaRPr sz="120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 err="1"/>
              <a:t>Arresto</a:t>
            </a:r>
            <a:r>
              <a:rPr lang="it-IT" sz="1200" dirty="0"/>
              <a:t> non consentito</a:t>
            </a:r>
            <a:r>
              <a:rPr sz="1200" dirty="0"/>
              <a:t> 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 err="1"/>
              <a:t>Fermo</a:t>
            </a:r>
            <a:r>
              <a:rPr sz="1200" dirty="0"/>
              <a:t> </a:t>
            </a:r>
            <a:r>
              <a:rPr lang="it-IT" sz="1200" dirty="0"/>
              <a:t>non </a:t>
            </a:r>
            <a:r>
              <a:rPr sz="1200" dirty="0" err="1"/>
              <a:t>consentito</a:t>
            </a:r>
            <a:r>
              <a:rPr sz="1200" dirty="0"/>
              <a:t> 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 err="1"/>
              <a:t>Procedibilità</a:t>
            </a:r>
            <a:r>
              <a:rPr sz="1200" dirty="0"/>
              <a:t> </a:t>
            </a:r>
            <a:r>
              <a:rPr sz="1200" dirty="0" err="1"/>
              <a:t>d’ufficio</a:t>
            </a:r>
            <a:endParaRPr sz="1200" dirty="0"/>
          </a:p>
        </p:txBody>
      </p:sp>
      <p:sp>
        <p:nvSpPr>
          <p:cNvPr id="44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asellaDiTesto 13"/>
          <p:cNvSpPr txBox="1"/>
          <p:nvPr/>
        </p:nvSpPr>
        <p:spPr>
          <a:xfrm>
            <a:off x="182570" y="1052736"/>
            <a:ext cx="8736198" cy="531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Legislatore</a:t>
            </a:r>
            <a:r>
              <a:rPr dirty="0"/>
              <a:t> del 2009 ha </a:t>
            </a:r>
            <a:r>
              <a:rPr b="1" dirty="0" err="1"/>
              <a:t>reintrodotto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nostro</a:t>
            </a:r>
            <a:r>
              <a:rPr dirty="0"/>
              <a:t> </a:t>
            </a:r>
            <a:r>
              <a:rPr dirty="0" err="1"/>
              <a:t>ordinamento</a:t>
            </a:r>
            <a:r>
              <a:rPr dirty="0"/>
              <a:t> </a:t>
            </a:r>
            <a:r>
              <a:rPr dirty="0" err="1"/>
              <a:t>giuridico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reato</a:t>
            </a:r>
            <a:r>
              <a:rPr b="1" dirty="0"/>
              <a:t> di </a:t>
            </a:r>
            <a:r>
              <a:rPr b="1" dirty="0" err="1"/>
              <a:t>oltraggio</a:t>
            </a:r>
            <a:r>
              <a:rPr b="1" dirty="0"/>
              <a:t> a </a:t>
            </a:r>
            <a:r>
              <a:rPr b="1" dirty="0" err="1"/>
              <a:t>pubblico</a:t>
            </a:r>
            <a:r>
              <a:rPr b="1" dirty="0"/>
              <a:t> </a:t>
            </a:r>
            <a:r>
              <a:rPr b="1" dirty="0" err="1"/>
              <a:t>ufficiale</a:t>
            </a:r>
            <a:r>
              <a:rPr b="1" dirty="0"/>
              <a:t> </a:t>
            </a:r>
            <a:r>
              <a:rPr dirty="0" err="1"/>
              <a:t>abrogato</a:t>
            </a:r>
            <a:r>
              <a:rPr dirty="0"/>
              <a:t> </a:t>
            </a:r>
            <a:r>
              <a:rPr dirty="0" err="1"/>
              <a:t>dall'art</a:t>
            </a:r>
            <a:r>
              <a:rPr dirty="0"/>
              <a:t>. 18 </a:t>
            </a:r>
            <a:r>
              <a:rPr dirty="0" err="1"/>
              <a:t>della</a:t>
            </a:r>
            <a:r>
              <a:rPr dirty="0"/>
              <a:t> L. 205 del 1999, </a:t>
            </a:r>
            <a:r>
              <a:rPr dirty="0" err="1"/>
              <a:t>seppure</a:t>
            </a:r>
            <a:r>
              <a:rPr dirty="0"/>
              <a:t> con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modifiche</a:t>
            </a:r>
            <a:r>
              <a:rPr dirty="0"/>
              <a:t> rispetto al </a:t>
            </a:r>
            <a:r>
              <a:rPr dirty="0" err="1"/>
              <a:t>testo</a:t>
            </a:r>
            <a:r>
              <a:rPr dirty="0"/>
              <a:t> </a:t>
            </a:r>
            <a:r>
              <a:rPr dirty="0" err="1"/>
              <a:t>previgente</a:t>
            </a:r>
            <a:r>
              <a:rPr dirty="0"/>
              <a:t>.</a:t>
            </a: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0" dirty="0">
                <a:sym typeface="Times New Roman"/>
              </a:rPr>
              <a:t>il nuovo oltraggio prevede differenze significative che chiariscono </a:t>
            </a:r>
            <a:r>
              <a:rPr lang="it-IT" sz="2200" dirty="0">
                <a:solidFill>
                  <a:srgbClr val="FF0000"/>
                </a:solidFill>
                <a:sym typeface="Times New Roman"/>
              </a:rPr>
              <a:t>l</a:t>
            </a:r>
            <a:r>
              <a:rPr lang="it-IT" sz="2200" u="sng" dirty="0">
                <a:solidFill>
                  <a:srgbClr val="FF0000"/>
                </a:solidFill>
                <a:sym typeface="Times New Roman"/>
              </a:rPr>
              <a:t>a sua funzione di tutela sostanziale del corretto esercizio dell'attività amministrativa</a:t>
            </a:r>
            <a:r>
              <a:rPr lang="it-IT" sz="2200" b="0" u="sng" dirty="0">
                <a:sym typeface="Times New Roman"/>
              </a:rPr>
              <a:t> e </a:t>
            </a:r>
            <a:r>
              <a:rPr lang="it-IT" sz="2200" u="sng" dirty="0">
                <a:solidFill>
                  <a:schemeClr val="accent2"/>
                </a:solidFill>
                <a:sym typeface="Times New Roman"/>
              </a:rPr>
              <a:t>non di tutela formale dell'autorità in quanto tale:</a:t>
            </a:r>
            <a:r>
              <a:rPr lang="it-IT" sz="2200" b="0" u="sng" dirty="0">
                <a:sym typeface="Times New Roman"/>
              </a:rPr>
              <a:t> lo dimostra la previsione di punibilità della sola offesa che riguardi sia l'</a:t>
            </a:r>
            <a:r>
              <a:rPr lang="ar-SA" sz="2200" b="0" u="sng" dirty="0">
                <a:sym typeface="Times New Roman"/>
              </a:rPr>
              <a:t>“</a:t>
            </a:r>
            <a:r>
              <a:rPr lang="it-IT" sz="2200" b="0" u="sng" dirty="0">
                <a:sym typeface="Times New Roman"/>
              </a:rPr>
              <a:t>onore” che il </a:t>
            </a:r>
            <a:r>
              <a:rPr lang="ar-SA" sz="2200" b="0" u="sng" dirty="0">
                <a:sym typeface="Times New Roman"/>
              </a:rPr>
              <a:t>“</a:t>
            </a:r>
            <a:r>
              <a:rPr lang="it-IT" sz="2200" b="0" u="sng" dirty="0">
                <a:sym typeface="Times New Roman"/>
              </a:rPr>
              <a:t>prestigio” dell'ufficiale</a:t>
            </a:r>
            <a:r>
              <a:rPr lang="it-IT" sz="2200" b="0" dirty="0">
                <a:sym typeface="Times New Roman"/>
              </a:rPr>
              <a:t>, che abbia diretta causa nelle funzioni esercitate e che avvenga in condizioni tali da comportare un danno di immagine, essendo necessaria la percezione dell'offesa da parte di più persone ed in un contesto </a:t>
            </a:r>
            <a:r>
              <a:rPr lang="ar-SA" sz="2200" b="0" dirty="0">
                <a:sym typeface="Times New Roman"/>
              </a:rPr>
              <a:t>“</a:t>
            </a:r>
            <a:r>
              <a:rPr lang="it-IT" sz="2200" b="0" dirty="0">
                <a:sym typeface="Times New Roman"/>
              </a:rPr>
              <a:t>pubblico”.</a:t>
            </a:r>
            <a:endParaRPr dirty="0"/>
          </a:p>
        </p:txBody>
      </p:sp>
      <p:pic>
        <p:nvPicPr>
          <p:cNvPr id="451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Oltraggio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25B01F-B8D1-40DE-A66D-181202377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700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INTERESSE PROTETTO:</a:t>
            </a:r>
            <a:r>
              <a:rPr lang="it-I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quello della </a:t>
            </a:r>
            <a:r>
              <a:rPr lang="it-IT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amministrazione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prestigio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soggetto che agisce per suo conto rispetto a condotte che, pur se non impeditive della sua attività, ne sminuiscono il rilievo. È poi 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tutelato l</a:t>
            </a:r>
            <a:r>
              <a:rPr lang="ar-SA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interesse </a:t>
            </a:r>
            <a:r>
              <a:rPr lang="it-IT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ar-SA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onore della persona del rappresentante della amministrazione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it-IT" sz="2400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 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vi è incidenza sul prestigio (</a:t>
            </a:r>
            <a:r>
              <a:rPr lang="ar-SA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immagine”) della pubblica amministrazione stessa.</a:t>
            </a:r>
          </a:p>
          <a:p>
            <a:endParaRPr lang="it-IT" u="sng" dirty="0"/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F2B10B5-12D7-4FA9-B56D-486142FA7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24178" y="149386"/>
            <a:ext cx="7061200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Oltraggio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  <p:pic>
        <p:nvPicPr>
          <p:cNvPr id="5" name="Immagine 3" descr="Immagine 3">
            <a:extLst>
              <a:ext uri="{FF2B5EF4-FFF2-40B4-BE49-F238E27FC236}">
                <a16:creationId xmlns:a16="http://schemas.microsoft.com/office/drawing/2014/main" id="{A6D7C86A-1012-4CD6-B865-1D1C6EB1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39879599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asellaDiTesto 13"/>
          <p:cNvSpPr txBox="1"/>
          <p:nvPr/>
        </p:nvSpPr>
        <p:spPr>
          <a:xfrm>
            <a:off x="182570" y="894773"/>
            <a:ext cx="8808206" cy="5755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sz="21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ELEMENTO OGGETTIVO</a:t>
            </a:r>
            <a:r>
              <a:rPr sz="2000" b="0" u="none" dirty="0"/>
              <a:t>: la </a:t>
            </a:r>
            <a:r>
              <a:rPr sz="2000" b="0" u="none" dirty="0" err="1"/>
              <a:t>condotta</a:t>
            </a:r>
            <a:r>
              <a:rPr sz="2000" b="0" u="none" dirty="0"/>
              <a:t> </a:t>
            </a:r>
            <a:r>
              <a:rPr sz="2000" b="0" u="none" dirty="0" err="1"/>
              <a:t>consiste</a:t>
            </a:r>
            <a:r>
              <a:rPr sz="2000" b="0" u="none" dirty="0"/>
              <a:t> </a:t>
            </a:r>
            <a:r>
              <a:rPr sz="2000" b="0" u="none" dirty="0" err="1"/>
              <a:t>nell’</a:t>
            </a:r>
            <a:r>
              <a:rPr sz="2000" u="none" dirty="0" err="1">
                <a:solidFill>
                  <a:srgbClr val="D09E00"/>
                </a:solidFill>
              </a:rPr>
              <a:t>offendere</a:t>
            </a:r>
            <a:r>
              <a:rPr sz="2000" u="none" dirty="0">
                <a:solidFill>
                  <a:srgbClr val="D09E00"/>
                </a:solidFill>
              </a:rPr>
              <a:t> </a:t>
            </a:r>
            <a:r>
              <a:rPr sz="2000" u="none" dirty="0" err="1">
                <a:solidFill>
                  <a:srgbClr val="D09E00"/>
                </a:solidFill>
              </a:rPr>
              <a:t>l'onore</a:t>
            </a:r>
            <a:r>
              <a:rPr sz="2000" u="none" dirty="0">
                <a:solidFill>
                  <a:srgbClr val="D09E00"/>
                </a:solidFill>
              </a:rPr>
              <a:t> ed </a:t>
            </a:r>
            <a:r>
              <a:rPr sz="2000" u="none" dirty="0" err="1">
                <a:solidFill>
                  <a:srgbClr val="D09E00"/>
                </a:solidFill>
              </a:rPr>
              <a:t>il</a:t>
            </a:r>
            <a:r>
              <a:rPr sz="2000" u="none" dirty="0">
                <a:solidFill>
                  <a:srgbClr val="D09E00"/>
                </a:solidFill>
              </a:rPr>
              <a:t> </a:t>
            </a:r>
            <a:r>
              <a:rPr sz="2000" u="none" dirty="0" err="1">
                <a:solidFill>
                  <a:srgbClr val="D09E00"/>
                </a:solidFill>
              </a:rPr>
              <a:t>prestigio</a:t>
            </a:r>
            <a:r>
              <a:rPr sz="2000" u="none" dirty="0">
                <a:solidFill>
                  <a:srgbClr val="D09E00"/>
                </a:solidFill>
              </a:rPr>
              <a:t> </a:t>
            </a:r>
            <a:r>
              <a:rPr sz="2000" b="0" u="none" dirty="0"/>
              <a:t>di un </a:t>
            </a:r>
            <a:r>
              <a:rPr sz="2000" b="0" u="none" dirty="0" err="1"/>
              <a:t>pubblico</a:t>
            </a:r>
            <a:r>
              <a:rPr sz="2000" b="0" u="none" dirty="0"/>
              <a:t> </a:t>
            </a:r>
            <a:r>
              <a:rPr sz="2000" b="0" u="none" dirty="0" err="1"/>
              <a:t>ufficiale</a:t>
            </a:r>
            <a:r>
              <a:rPr sz="2000" b="0" u="none" dirty="0"/>
              <a:t> </a:t>
            </a:r>
            <a:r>
              <a:rPr sz="2000" b="0" u="none" dirty="0" err="1"/>
              <a:t>mentre</a:t>
            </a:r>
            <a:r>
              <a:rPr sz="2000" b="0" u="none" dirty="0"/>
              <a:t> </a:t>
            </a:r>
            <a:r>
              <a:rPr sz="2000" b="0" u="none" dirty="0" err="1"/>
              <a:t>compie</a:t>
            </a:r>
            <a:r>
              <a:rPr sz="2000" b="0" u="none" dirty="0"/>
              <a:t> un </a:t>
            </a:r>
            <a:r>
              <a:rPr sz="2000" b="0" u="none" dirty="0" err="1"/>
              <a:t>atto</a:t>
            </a:r>
            <a:r>
              <a:rPr sz="2000" b="0" u="none" dirty="0"/>
              <a:t> </a:t>
            </a:r>
            <a:r>
              <a:rPr sz="2000" b="0" u="none" dirty="0" err="1"/>
              <a:t>d'ufficio</a:t>
            </a:r>
            <a:r>
              <a:rPr sz="2000" b="0" u="none" dirty="0"/>
              <a:t> ed a causa o </a:t>
            </a:r>
            <a:r>
              <a:rPr sz="2000" b="0" u="none" dirty="0" err="1"/>
              <a:t>nell'esercizio</a:t>
            </a:r>
            <a:r>
              <a:rPr sz="2000" b="0" u="none" dirty="0"/>
              <a:t> </a:t>
            </a:r>
            <a:r>
              <a:rPr sz="2000" b="0" u="none" dirty="0" err="1"/>
              <a:t>delle</a:t>
            </a:r>
            <a:r>
              <a:rPr sz="2000" b="0" u="none" dirty="0"/>
              <a:t> sue </a:t>
            </a:r>
            <a:r>
              <a:rPr sz="2000" b="0" u="none" dirty="0" err="1"/>
              <a:t>funzioni</a:t>
            </a:r>
            <a:r>
              <a:rPr sz="2000" b="0" u="none" dirty="0"/>
              <a:t> </a:t>
            </a:r>
            <a:r>
              <a:rPr sz="2000" u="none" dirty="0">
                <a:solidFill>
                  <a:srgbClr val="D09E00"/>
                </a:solidFill>
              </a:rPr>
              <a:t>in </a:t>
            </a:r>
            <a:r>
              <a:rPr sz="2000" u="none" dirty="0" err="1">
                <a:solidFill>
                  <a:srgbClr val="D09E00"/>
                </a:solidFill>
              </a:rPr>
              <a:t>luogo</a:t>
            </a:r>
            <a:r>
              <a:rPr sz="2000" u="none" dirty="0">
                <a:solidFill>
                  <a:srgbClr val="D09E00"/>
                </a:solidFill>
              </a:rPr>
              <a:t> </a:t>
            </a:r>
            <a:r>
              <a:rPr sz="2000" u="none" dirty="0" err="1">
                <a:solidFill>
                  <a:srgbClr val="D09E00"/>
                </a:solidFill>
              </a:rPr>
              <a:t>pubblico</a:t>
            </a:r>
            <a:r>
              <a:rPr sz="2000" u="none" dirty="0">
                <a:solidFill>
                  <a:srgbClr val="D09E00"/>
                </a:solidFill>
              </a:rPr>
              <a:t> o </a:t>
            </a:r>
            <a:r>
              <a:rPr sz="2000" u="none" dirty="0" err="1">
                <a:solidFill>
                  <a:srgbClr val="D09E00"/>
                </a:solidFill>
              </a:rPr>
              <a:t>aperto</a:t>
            </a:r>
            <a:r>
              <a:rPr sz="2000" u="none" dirty="0">
                <a:solidFill>
                  <a:srgbClr val="D09E00"/>
                </a:solidFill>
              </a:rPr>
              <a:t> al </a:t>
            </a:r>
            <a:r>
              <a:rPr sz="2000" u="none" dirty="0" err="1">
                <a:solidFill>
                  <a:srgbClr val="D09E00"/>
                </a:solidFill>
              </a:rPr>
              <a:t>pubblico</a:t>
            </a:r>
            <a:r>
              <a:rPr sz="2000" u="none" dirty="0">
                <a:solidFill>
                  <a:srgbClr val="D09E00"/>
                </a:solidFill>
              </a:rPr>
              <a:t> e in </a:t>
            </a:r>
            <a:r>
              <a:rPr sz="2000" u="none" dirty="0" err="1">
                <a:solidFill>
                  <a:srgbClr val="D09E00"/>
                </a:solidFill>
              </a:rPr>
              <a:t>presenza</a:t>
            </a:r>
            <a:r>
              <a:rPr sz="2000" u="none" dirty="0">
                <a:solidFill>
                  <a:srgbClr val="D09E00"/>
                </a:solidFill>
              </a:rPr>
              <a:t> di </a:t>
            </a:r>
            <a:r>
              <a:rPr sz="2000" u="none" dirty="0" err="1">
                <a:solidFill>
                  <a:srgbClr val="D09E00"/>
                </a:solidFill>
              </a:rPr>
              <a:t>più</a:t>
            </a:r>
            <a:r>
              <a:rPr sz="2000" u="none" dirty="0">
                <a:solidFill>
                  <a:srgbClr val="D09E00"/>
                </a:solidFill>
              </a:rPr>
              <a:t> </a:t>
            </a:r>
            <a:r>
              <a:rPr sz="2000" u="none" dirty="0" err="1">
                <a:solidFill>
                  <a:srgbClr val="D09E00"/>
                </a:solidFill>
              </a:rPr>
              <a:t>persone</a:t>
            </a:r>
            <a:r>
              <a:rPr sz="2000" u="none" dirty="0"/>
              <a:t>.</a:t>
            </a:r>
          </a:p>
          <a:p>
            <a:pPr algn="just">
              <a:spcBef>
                <a:spcPts val="600"/>
              </a:spcBef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Vi </a:t>
            </a:r>
            <a:r>
              <a:rPr sz="2000" dirty="0" err="1"/>
              <a:t>sono</a:t>
            </a:r>
            <a:r>
              <a:rPr sz="2000" dirty="0"/>
              <a:t> </a:t>
            </a:r>
            <a:r>
              <a:rPr sz="2000" dirty="0" err="1"/>
              <a:t>dei</a:t>
            </a:r>
            <a:r>
              <a:rPr sz="2000" dirty="0"/>
              <a:t> </a:t>
            </a:r>
            <a:r>
              <a:rPr sz="2000" dirty="0" err="1"/>
              <a:t>presupposti</a:t>
            </a:r>
            <a:r>
              <a:rPr sz="2000" dirty="0"/>
              <a:t> </a:t>
            </a:r>
            <a:r>
              <a:rPr sz="2000" dirty="0" err="1"/>
              <a:t>che</a:t>
            </a:r>
            <a:r>
              <a:rPr sz="2000" dirty="0"/>
              <a:t> </a:t>
            </a:r>
            <a:r>
              <a:rPr sz="2000" dirty="0" err="1"/>
              <a:t>devono</a:t>
            </a:r>
            <a:r>
              <a:rPr sz="2000" dirty="0"/>
              <a:t> </a:t>
            </a:r>
            <a:r>
              <a:rPr sz="2000" dirty="0" err="1"/>
              <a:t>necessariamente</a:t>
            </a:r>
            <a:r>
              <a:rPr sz="2000" dirty="0"/>
              <a:t> </a:t>
            </a:r>
            <a:r>
              <a:rPr sz="2000" dirty="0" err="1"/>
              <a:t>coesistere</a:t>
            </a:r>
            <a:r>
              <a:rPr sz="2000" dirty="0"/>
              <a:t> per </a:t>
            </a:r>
            <a:r>
              <a:rPr sz="2000" dirty="0" err="1"/>
              <a:t>integrare</a:t>
            </a:r>
            <a:r>
              <a:rPr sz="2000" dirty="0"/>
              <a:t>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reato</a:t>
            </a:r>
            <a:r>
              <a:rPr sz="2000" dirty="0"/>
              <a:t>: </a:t>
            </a:r>
          </a:p>
          <a:p>
            <a:pPr marL="457200" indent="-457200" algn="just">
              <a:spcBef>
                <a:spcPts val="600"/>
              </a:spcBef>
              <a:buSzPct val="100000"/>
              <a:buFont typeface="+mj-lt"/>
              <a:buAutoNum type="arabicPeriod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in </a:t>
            </a:r>
            <a:r>
              <a:rPr sz="2000" dirty="0" err="1"/>
              <a:t>luogo</a:t>
            </a:r>
            <a:r>
              <a:rPr sz="2000" dirty="0"/>
              <a:t> </a:t>
            </a:r>
            <a:r>
              <a:rPr sz="2000" dirty="0" err="1"/>
              <a:t>pubblico</a:t>
            </a:r>
            <a:r>
              <a:rPr sz="2000" dirty="0"/>
              <a:t> o </a:t>
            </a:r>
            <a:r>
              <a:rPr sz="2000" dirty="0" err="1"/>
              <a:t>aperto</a:t>
            </a:r>
            <a:r>
              <a:rPr sz="2000" dirty="0"/>
              <a:t> al </a:t>
            </a:r>
            <a:r>
              <a:rPr sz="2000" dirty="0" err="1"/>
              <a:t>pubblico</a:t>
            </a:r>
            <a:r>
              <a:rPr sz="2000" dirty="0"/>
              <a:t>;</a:t>
            </a:r>
          </a:p>
          <a:p>
            <a:pPr marL="457200" indent="-457200" algn="just">
              <a:spcBef>
                <a:spcPts val="600"/>
              </a:spcBef>
              <a:buSzPct val="100000"/>
              <a:buFont typeface="+mj-lt"/>
              <a:buAutoNum type="arabicPeriod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 err="1"/>
              <a:t>alla</a:t>
            </a:r>
            <a:r>
              <a:rPr sz="2000" dirty="0"/>
              <a:t> </a:t>
            </a:r>
            <a:r>
              <a:rPr sz="2000" dirty="0" err="1"/>
              <a:t>presenza</a:t>
            </a:r>
            <a:r>
              <a:rPr sz="2000" dirty="0"/>
              <a:t> di </a:t>
            </a:r>
            <a:r>
              <a:rPr sz="2000" dirty="0" err="1"/>
              <a:t>più</a:t>
            </a:r>
            <a:r>
              <a:rPr sz="2000" dirty="0"/>
              <a:t> </a:t>
            </a:r>
            <a:r>
              <a:rPr sz="2000" dirty="0" err="1"/>
              <a:t>persone</a:t>
            </a:r>
            <a:r>
              <a:rPr sz="2000" dirty="0"/>
              <a:t> (</a:t>
            </a:r>
            <a:r>
              <a:rPr sz="2000" dirty="0" err="1"/>
              <a:t>almeno</a:t>
            </a:r>
            <a:r>
              <a:rPr sz="2000" dirty="0"/>
              <a:t> 2, diverse dal </a:t>
            </a:r>
            <a:r>
              <a:rPr sz="2000" dirty="0" err="1"/>
              <a:t>p.u</a:t>
            </a:r>
            <a:r>
              <a:rPr sz="2000" dirty="0"/>
              <a:t>. </a:t>
            </a:r>
            <a:r>
              <a:rPr sz="2000" dirty="0" err="1"/>
              <a:t>offeso</a:t>
            </a:r>
            <a:r>
              <a:rPr sz="2000" dirty="0"/>
              <a:t>);</a:t>
            </a:r>
            <a:endParaRPr lang="it-IT" sz="2000" dirty="0"/>
          </a:p>
          <a:p>
            <a:pPr marL="457200" indent="-457200" algn="just">
              <a:spcBef>
                <a:spcPts val="600"/>
              </a:spcBef>
              <a:buSzPct val="100000"/>
              <a:buFont typeface="+mj-lt"/>
              <a:buAutoNum type="arabicPeriod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b="0" dirty="0">
                <a:sym typeface="Times New Roman"/>
              </a:rPr>
              <a:t>che le offese siano percepibili dai soggetti presenti;</a:t>
            </a:r>
            <a:endParaRPr sz="2000" dirty="0"/>
          </a:p>
          <a:p>
            <a:pPr marL="457200" indent="-457200" algn="just">
              <a:spcBef>
                <a:spcPts val="600"/>
              </a:spcBef>
              <a:buSzPct val="100000"/>
              <a:buFont typeface="+mj-lt"/>
              <a:buAutoNum type="arabicPeriod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 err="1"/>
              <a:t>nel</a:t>
            </a:r>
            <a:r>
              <a:rPr sz="2000" dirty="0"/>
              <a:t> </a:t>
            </a:r>
            <a:r>
              <a:rPr sz="2000" dirty="0" err="1"/>
              <a:t>mentre</a:t>
            </a:r>
            <a:r>
              <a:rPr sz="2000" dirty="0"/>
              <a:t>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p.u</a:t>
            </a:r>
            <a:r>
              <a:rPr sz="2000" dirty="0"/>
              <a:t>. </a:t>
            </a:r>
            <a:r>
              <a:rPr sz="2000" dirty="0" err="1"/>
              <a:t>sta</a:t>
            </a:r>
            <a:r>
              <a:rPr sz="2000" dirty="0"/>
              <a:t> </a:t>
            </a:r>
            <a:r>
              <a:rPr sz="2000" dirty="0" err="1"/>
              <a:t>ottemperando</a:t>
            </a:r>
            <a:r>
              <a:rPr sz="2000" dirty="0"/>
              <a:t> ad un </a:t>
            </a:r>
            <a:r>
              <a:rPr sz="2000" dirty="0" err="1"/>
              <a:t>atto</a:t>
            </a:r>
            <a:r>
              <a:rPr sz="2000" dirty="0"/>
              <a:t> del </a:t>
            </a:r>
            <a:r>
              <a:rPr sz="2000" dirty="0" err="1"/>
              <a:t>suo</a:t>
            </a:r>
            <a:r>
              <a:rPr sz="2000" dirty="0"/>
              <a:t> </a:t>
            </a:r>
            <a:r>
              <a:rPr sz="2000" dirty="0" err="1"/>
              <a:t>ufficio</a:t>
            </a:r>
            <a:r>
              <a:rPr sz="2000" dirty="0"/>
              <a:t>;</a:t>
            </a:r>
          </a:p>
          <a:p>
            <a:pPr marL="457200" indent="-457200" algn="just">
              <a:spcBef>
                <a:spcPts val="600"/>
              </a:spcBef>
              <a:buSzPct val="100000"/>
              <a:buFont typeface="+mj-lt"/>
              <a:buAutoNum type="arabicPeriod"/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in </a:t>
            </a:r>
            <a:r>
              <a:rPr sz="2000" dirty="0" err="1"/>
              <a:t>presenza</a:t>
            </a:r>
            <a:r>
              <a:rPr sz="2000" dirty="0"/>
              <a:t> di un </a:t>
            </a:r>
            <a:r>
              <a:rPr sz="2000" dirty="0" err="1"/>
              <a:t>nesso</a:t>
            </a:r>
            <a:r>
              <a:rPr sz="2000" dirty="0"/>
              <a:t> </a:t>
            </a:r>
            <a:r>
              <a:rPr sz="2000" dirty="0" err="1"/>
              <a:t>tra</a:t>
            </a:r>
            <a:r>
              <a:rPr sz="2000" dirty="0"/>
              <a:t>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comportamento</a:t>
            </a:r>
            <a:r>
              <a:rPr sz="2000" dirty="0"/>
              <a:t> </a:t>
            </a:r>
            <a:r>
              <a:rPr sz="2000" dirty="0" err="1"/>
              <a:t>offensivo</a:t>
            </a:r>
            <a:r>
              <a:rPr sz="2000" dirty="0"/>
              <a:t> e </a:t>
            </a:r>
            <a:r>
              <a:rPr sz="2000" dirty="0" err="1"/>
              <a:t>l’esercizio</a:t>
            </a:r>
            <a:r>
              <a:rPr sz="2000" dirty="0"/>
              <a:t> </a:t>
            </a:r>
            <a:r>
              <a:rPr sz="2000" dirty="0" err="1"/>
              <a:t>delle</a:t>
            </a:r>
            <a:r>
              <a:rPr sz="2000" dirty="0"/>
              <a:t> </a:t>
            </a:r>
            <a:r>
              <a:rPr sz="2000" dirty="0" err="1"/>
              <a:t>funzioni</a:t>
            </a:r>
            <a:r>
              <a:rPr sz="2000" dirty="0"/>
              <a:t>.</a:t>
            </a:r>
          </a:p>
          <a:p>
            <a:pPr algn="just"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600"/>
              </a:spcBef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 err="1"/>
              <a:t>L’art</a:t>
            </a:r>
            <a:r>
              <a:rPr sz="1800" dirty="0"/>
              <a:t>. 341 </a:t>
            </a:r>
            <a:r>
              <a:rPr sz="1800" i="1" dirty="0"/>
              <a:t>bis</a:t>
            </a:r>
            <a:r>
              <a:rPr sz="1800" dirty="0"/>
              <a:t> </a:t>
            </a:r>
            <a:r>
              <a:rPr sz="1800" dirty="0" err="1"/>
              <a:t>richiede</a:t>
            </a:r>
            <a:r>
              <a:rPr sz="1800" dirty="0"/>
              <a:t> </a:t>
            </a:r>
            <a:r>
              <a:rPr sz="1800" dirty="0" err="1"/>
              <a:t>che</a:t>
            </a:r>
            <a:r>
              <a:rPr sz="1800" dirty="0"/>
              <a:t> la </a:t>
            </a:r>
            <a:r>
              <a:rPr sz="1800" dirty="0" err="1"/>
              <a:t>condotta</a:t>
            </a:r>
            <a:r>
              <a:rPr sz="1800" dirty="0"/>
              <a:t> </a:t>
            </a:r>
            <a:r>
              <a:rPr sz="1800" dirty="0" err="1"/>
              <a:t>determini</a:t>
            </a:r>
            <a:r>
              <a:rPr sz="1800" dirty="0"/>
              <a:t> </a:t>
            </a:r>
            <a:r>
              <a:rPr sz="1800" dirty="0" err="1"/>
              <a:t>un’offesa</a:t>
            </a:r>
            <a:r>
              <a:rPr sz="1800" dirty="0"/>
              <a:t>:</a:t>
            </a:r>
          </a:p>
          <a:p>
            <a:pPr marL="342900" indent="-342900" algn="just">
              <a:spcBef>
                <a:spcPts val="600"/>
              </a:spcBef>
              <a:buSzPct val="100000"/>
              <a:buChar char="▪"/>
              <a:defRPr sz="21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 err="1"/>
              <a:t>all’onore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ovvero</a:t>
            </a:r>
            <a:r>
              <a:rPr sz="1800" b="0" dirty="0">
                <a:solidFill>
                  <a:srgbClr val="000000"/>
                </a:solidFill>
              </a:rPr>
              <a:t> al </a:t>
            </a:r>
            <a:r>
              <a:rPr sz="1800" b="0" dirty="0" err="1">
                <a:solidFill>
                  <a:srgbClr val="000000"/>
                </a:solidFill>
              </a:rPr>
              <a:t>complesso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delle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dirty="0" err="1">
                <a:solidFill>
                  <a:srgbClr val="000000"/>
                </a:solidFill>
              </a:rPr>
              <a:t>qualità</a:t>
            </a:r>
            <a:r>
              <a:rPr sz="1800" dirty="0">
                <a:solidFill>
                  <a:srgbClr val="000000"/>
                </a:solidFill>
              </a:rPr>
              <a:t> </a:t>
            </a:r>
            <a:r>
              <a:rPr sz="1800" dirty="0" err="1">
                <a:solidFill>
                  <a:srgbClr val="000000"/>
                </a:solidFill>
              </a:rPr>
              <a:t>morali</a:t>
            </a:r>
            <a:r>
              <a:rPr sz="180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della</a:t>
            </a:r>
            <a:r>
              <a:rPr sz="1800" b="0" dirty="0">
                <a:solidFill>
                  <a:srgbClr val="000000"/>
                </a:solidFill>
              </a:rPr>
              <a:t> persona </a:t>
            </a:r>
            <a:r>
              <a:rPr sz="1800" b="0" dirty="0" err="1">
                <a:solidFill>
                  <a:srgbClr val="000000"/>
                </a:solidFill>
              </a:rPr>
              <a:t>che</a:t>
            </a:r>
            <a:r>
              <a:rPr sz="1800" b="0" dirty="0">
                <a:solidFill>
                  <a:srgbClr val="000000"/>
                </a:solidFill>
              </a:rPr>
              <a:t> ne </a:t>
            </a:r>
            <a:r>
              <a:rPr sz="1800" b="0" dirty="0" err="1">
                <a:solidFill>
                  <a:srgbClr val="000000"/>
                </a:solidFill>
              </a:rPr>
              <a:t>determinano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il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riconoscimento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sociale</a:t>
            </a:r>
            <a:r>
              <a:rPr sz="1800" b="0" dirty="0">
                <a:solidFill>
                  <a:srgbClr val="000000"/>
                </a:solidFill>
              </a:rPr>
              <a:t> (</a:t>
            </a:r>
            <a:r>
              <a:rPr sz="1800" b="0" dirty="0" err="1">
                <a:solidFill>
                  <a:srgbClr val="000000"/>
                </a:solidFill>
              </a:rPr>
              <a:t>cioè</a:t>
            </a:r>
            <a:r>
              <a:rPr sz="1800" b="0" dirty="0">
                <a:solidFill>
                  <a:srgbClr val="000000"/>
                </a:solidFill>
              </a:rPr>
              <a:t> la </a:t>
            </a:r>
            <a:r>
              <a:rPr sz="1800" b="0" dirty="0" err="1">
                <a:solidFill>
                  <a:srgbClr val="000000"/>
                </a:solidFill>
              </a:rPr>
              <a:t>reputazione</a:t>
            </a:r>
            <a:r>
              <a:rPr sz="1800" b="0" dirty="0">
                <a:solidFill>
                  <a:srgbClr val="000000"/>
                </a:solidFill>
              </a:rPr>
              <a:t>);</a:t>
            </a:r>
          </a:p>
          <a:p>
            <a:pPr marL="342900" indent="-342900" algn="just">
              <a:spcBef>
                <a:spcPts val="600"/>
              </a:spcBef>
              <a:buSzPct val="100000"/>
              <a:buChar char="▪"/>
              <a:defRPr sz="21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al </a:t>
            </a:r>
            <a:r>
              <a:rPr sz="1800" dirty="0" err="1"/>
              <a:t>prestigio</a:t>
            </a:r>
            <a:r>
              <a:rPr sz="1800" b="0" dirty="0">
                <a:solidFill>
                  <a:srgbClr val="000000"/>
                </a:solidFill>
              </a:rPr>
              <a:t> è </a:t>
            </a:r>
            <a:r>
              <a:rPr sz="1800" b="0" dirty="0" err="1">
                <a:solidFill>
                  <a:srgbClr val="000000"/>
                </a:solidFill>
              </a:rPr>
              <a:t>attinente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alla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dirty="0" err="1">
                <a:solidFill>
                  <a:srgbClr val="000000"/>
                </a:solidFill>
              </a:rPr>
              <a:t>dignità</a:t>
            </a:r>
            <a:r>
              <a:rPr sz="1800" b="0" dirty="0">
                <a:solidFill>
                  <a:srgbClr val="000000"/>
                </a:solidFill>
              </a:rPr>
              <a:t> e al </a:t>
            </a:r>
            <a:r>
              <a:rPr sz="1800" dirty="0">
                <a:solidFill>
                  <a:srgbClr val="000000"/>
                </a:solidFill>
              </a:rPr>
              <a:t>rispetto</a:t>
            </a:r>
            <a:r>
              <a:rPr sz="1800" b="0" dirty="0">
                <a:solidFill>
                  <a:srgbClr val="000000"/>
                </a:solidFill>
              </a:rPr>
              <a:t> da cui la </a:t>
            </a:r>
            <a:r>
              <a:rPr sz="1800" b="0" dirty="0" err="1">
                <a:solidFill>
                  <a:srgbClr val="000000"/>
                </a:solidFill>
              </a:rPr>
              <a:t>pubblica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funzione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deve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essere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sz="1800" b="0" dirty="0" err="1">
                <a:solidFill>
                  <a:srgbClr val="000000"/>
                </a:solidFill>
              </a:rPr>
              <a:t>circondata</a:t>
            </a:r>
            <a:r>
              <a:rPr sz="1800" b="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55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asellaDiTesto 13"/>
          <p:cNvSpPr txBox="1"/>
          <p:nvPr/>
        </p:nvSpPr>
        <p:spPr>
          <a:xfrm>
            <a:off x="275909" y="1052735"/>
            <a:ext cx="8592182" cy="2492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u="none" dirty="0">
                <a:solidFill>
                  <a:srgbClr val="002F8E"/>
                </a:solidFill>
              </a:rPr>
              <a:t> </a:t>
            </a:r>
            <a:r>
              <a:rPr b="0" u="none" dirty="0"/>
              <a:t>è </a:t>
            </a:r>
            <a:r>
              <a:rPr b="0" u="none" dirty="0" err="1"/>
              <a:t>il</a:t>
            </a:r>
            <a:r>
              <a:rPr b="0" u="none" dirty="0"/>
              <a:t> </a:t>
            </a:r>
            <a:r>
              <a:rPr u="none" dirty="0">
                <a:solidFill>
                  <a:srgbClr val="D09E00"/>
                </a:solidFill>
              </a:rPr>
              <a:t>DOLO GENERICO</a:t>
            </a:r>
            <a:r>
              <a:rPr u="none" dirty="0"/>
              <a:t>.</a:t>
            </a:r>
            <a:endParaRPr lang="it-IT" u="none" dirty="0"/>
          </a:p>
          <a:p>
            <a:pPr algn="just"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none" dirty="0"/>
          </a:p>
          <a:p>
            <a:pPr algn="just"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spcBef>
                <a:spcPts val="600"/>
              </a:spcBef>
              <a:defRPr sz="22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, in </a:t>
            </a:r>
            <a:r>
              <a:rPr b="0" dirty="0" err="1">
                <a:solidFill>
                  <a:srgbClr val="000000"/>
                </a:solidFill>
              </a:rPr>
              <a:t>quanto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essere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commesso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 </a:t>
            </a:r>
            <a:r>
              <a:rPr dirty="0" err="1">
                <a:solidFill>
                  <a:srgbClr val="000000"/>
                </a:solidFill>
              </a:rPr>
              <a:t>chiunque</a:t>
            </a:r>
            <a:r>
              <a:rPr b="0" dirty="0">
                <a:solidFill>
                  <a:srgbClr val="000000"/>
                </a:solidFill>
              </a:rPr>
              <a:t>. </a:t>
            </a:r>
          </a:p>
          <a:p>
            <a:pPr algn="just"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cap="small" dirty="0" err="1"/>
              <a:t>soggetto</a:t>
            </a:r>
            <a:r>
              <a:rPr cap="small" dirty="0"/>
              <a:t> </a:t>
            </a:r>
            <a:r>
              <a:rPr cap="small" dirty="0" err="1"/>
              <a:t>passivo</a:t>
            </a:r>
            <a:r>
              <a:rPr cap="small"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un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.</a:t>
            </a:r>
          </a:p>
          <a:p>
            <a:pPr algn="just">
              <a:spcBef>
                <a:spcPts val="600"/>
              </a:spcBef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459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egnaposto contenuto 2"/>
          <p:cNvSpPr txBox="1">
            <a:spLocks noGrp="1"/>
          </p:cNvSpPr>
          <p:nvPr>
            <p:ph type="body" sz="quarter" idx="1"/>
          </p:nvPr>
        </p:nvSpPr>
        <p:spPr>
          <a:xfrm>
            <a:off x="2411759" y="980728"/>
            <a:ext cx="4717505" cy="1296145"/>
          </a:xfrm>
          <a:prstGeom prst="rect">
            <a:avLst/>
          </a:prstGeom>
        </p:spPr>
        <p:txBody>
          <a:bodyPr/>
          <a:lstStyle/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500"/>
              </a:spcBef>
              <a:buSzTx/>
              <a:buNone/>
              <a:defRPr sz="2430" b="1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DOMANDE?</a:t>
            </a:r>
          </a:p>
        </p:txBody>
      </p:sp>
      <p:pic>
        <p:nvPicPr>
          <p:cNvPr id="463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65" y="3916715"/>
            <a:ext cx="4879270" cy="2439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" name="Immagine 3" descr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7445</Words>
  <Application>Microsoft Office PowerPoint</Application>
  <PresentationFormat>Presentazione su schermo (4:3)</PresentationFormat>
  <Paragraphs>534</Paragraphs>
  <Slides>64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64</vt:i4>
      </vt:variant>
    </vt:vector>
  </HeadingPairs>
  <TitlesOfParts>
    <vt:vector size="73" baseType="lpstr">
      <vt:lpstr>Arial</vt:lpstr>
      <vt:lpstr>Book Antiqua</vt:lpstr>
      <vt:lpstr>Calibri</vt:lpstr>
      <vt:lpstr>Cambria</vt:lpstr>
      <vt:lpstr>Courier New</vt:lpstr>
      <vt:lpstr>Tahoma</vt:lpstr>
      <vt:lpstr>Times New Roman</vt:lpstr>
      <vt:lpstr>Wingdings</vt:lpstr>
      <vt:lpstr>1_Personalizza struttura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Generalità</vt:lpstr>
      <vt:lpstr>Presentazione standard di PowerPoint</vt:lpstr>
      <vt:lpstr>Generalità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Peculato</vt:lpstr>
      <vt:lpstr>Presentazione standard di PowerPoint</vt:lpstr>
      <vt:lpstr>Presentazione standard di PowerPoint</vt:lpstr>
      <vt:lpstr>Indebita destinazione di denaro o cose mobili (art. 314 bis)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Induzione indebita </vt:lpstr>
      <vt:lpstr>Presentazione standard di PowerPoint</vt:lpstr>
      <vt:lpstr>Corruzione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Corruzione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Rivelazione ed utilizzazione di segreti d’ufficio</vt:lpstr>
      <vt:lpstr>Rivelazione ed utilizzazione di segreti d’ufficio</vt:lpstr>
      <vt:lpstr>Presentazione standard di PowerPoint</vt:lpstr>
      <vt:lpstr>Presentazione standard di PowerPoint</vt:lpstr>
      <vt:lpstr>Rifiuto di atti d’ufficio. Omissione</vt:lpstr>
      <vt:lpstr>Rifiuto di atti d’ufficio. Omissione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Resistenza a pubblico ufficiale </vt:lpstr>
      <vt:lpstr>Presentazione standard di PowerPoint</vt:lpstr>
      <vt:lpstr>Presentazione standard di PowerPoint</vt:lpstr>
      <vt:lpstr>Presentazione standard di PowerPoint</vt:lpstr>
      <vt:lpstr>Resistenza a pubblico ufficiale </vt:lpstr>
      <vt:lpstr>Presentazione standard di PowerPoint</vt:lpstr>
      <vt:lpstr>Presentazione standard di PowerPoint</vt:lpstr>
      <vt:lpstr>Oltraggio a pubblico ufficiale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Aula</cp:lastModifiedBy>
  <cp:revision>114</cp:revision>
  <dcterms:modified xsi:type="dcterms:W3CDTF">2026-01-12T08:02:01Z</dcterms:modified>
</cp:coreProperties>
</file>