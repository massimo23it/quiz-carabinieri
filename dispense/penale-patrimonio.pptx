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324" r:id="rId20"/>
    <p:sldId id="325" r:id="rId21"/>
    <p:sldId id="274" r:id="rId22"/>
    <p:sldId id="275" r:id="rId23"/>
    <p:sldId id="276" r:id="rId24"/>
    <p:sldId id="277" r:id="rId25"/>
    <p:sldId id="278" r:id="rId26"/>
    <p:sldId id="326" r:id="rId27"/>
    <p:sldId id="279" r:id="rId28"/>
    <p:sldId id="280" r:id="rId29"/>
    <p:sldId id="281" r:id="rId30"/>
    <p:sldId id="282" r:id="rId31"/>
    <p:sldId id="283" r:id="rId32"/>
    <p:sldId id="284" r:id="rId33"/>
    <p:sldId id="285" r:id="rId34"/>
    <p:sldId id="286" r:id="rId35"/>
    <p:sldId id="327" r:id="rId36"/>
    <p:sldId id="323" r:id="rId37"/>
    <p:sldId id="287" r:id="rId38"/>
    <p:sldId id="328"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29" r:id="rId52"/>
    <p:sldId id="302" r:id="rId53"/>
    <p:sldId id="303" r:id="rId54"/>
    <p:sldId id="304" r:id="rId55"/>
    <p:sldId id="305" r:id="rId56"/>
    <p:sldId id="306" r:id="rId57"/>
    <p:sldId id="307" r:id="rId58"/>
    <p:sldId id="308" r:id="rId59"/>
    <p:sldId id="309" r:id="rId60"/>
    <p:sldId id="310" r:id="rId61"/>
    <p:sldId id="312" r:id="rId62"/>
    <p:sldId id="313" r:id="rId63"/>
    <p:sldId id="314" r:id="rId64"/>
    <p:sldId id="315" r:id="rId65"/>
    <p:sldId id="316" r:id="rId66"/>
    <p:sldId id="317" r:id="rId67"/>
    <p:sldId id="318" r:id="rId68"/>
    <p:sldId id="319" r:id="rId69"/>
    <p:sldId id="320" r:id="rId70"/>
    <p:sldId id="330" r:id="rId71"/>
    <p:sldId id="321" r:id="rId72"/>
    <p:sldId id="322" r:id="rId73"/>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E39"/>
    <a:srgbClr val="009644"/>
    <a:srgbClr val="0058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7F3F4"/>
          </a:solidFill>
        </a:fill>
      </a:tcStyle>
    </a:wholeTbl>
    <a:band2H>
      <a:tcTxStyle/>
      <a:tcStyle>
        <a:tcBdr/>
        <a:fill>
          <a:solidFill>
            <a:srgbClr val="F3F9FA"/>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79" autoAdjust="0"/>
    <p:restoredTop sz="92081" autoAdjust="0"/>
  </p:normalViewPr>
  <p:slideViewPr>
    <p:cSldViewPr snapToGrid="0">
      <p:cViewPr varScale="1">
        <p:scale>
          <a:sx n="104" d="100"/>
          <a:sy n="104" d="100"/>
        </p:scale>
        <p:origin x="2160"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18" name="Shape 218"/>
          <p:cNvSpPr>
            <a:spLocks noGrp="1" noRot="1" noChangeAspect="1"/>
          </p:cNvSpPr>
          <p:nvPr>
            <p:ph type="sldImg"/>
          </p:nvPr>
        </p:nvSpPr>
        <p:spPr>
          <a:xfrm>
            <a:off x="1143000" y="685800"/>
            <a:ext cx="4572000" cy="3429000"/>
          </a:xfrm>
          <a:prstGeom prst="rect">
            <a:avLst/>
          </a:prstGeom>
        </p:spPr>
        <p:txBody>
          <a:bodyPr/>
          <a:lstStyle/>
          <a:p>
            <a:endParaRPr/>
          </a:p>
        </p:txBody>
      </p:sp>
      <p:sp>
        <p:nvSpPr>
          <p:cNvPr id="219" name="Shape 21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Arial"/>
      </a:defRPr>
    </a:lvl1pPr>
    <a:lvl2pPr indent="228600" latinLnBrk="0">
      <a:spcBef>
        <a:spcPts val="400"/>
      </a:spcBef>
      <a:defRPr sz="1200">
        <a:latin typeface="+mn-lt"/>
        <a:ea typeface="+mn-ea"/>
        <a:cs typeface="+mn-cs"/>
        <a:sym typeface="Arial"/>
      </a:defRPr>
    </a:lvl2pPr>
    <a:lvl3pPr indent="457200" latinLnBrk="0">
      <a:spcBef>
        <a:spcPts val="400"/>
      </a:spcBef>
      <a:defRPr sz="1200">
        <a:latin typeface="+mn-lt"/>
        <a:ea typeface="+mn-ea"/>
        <a:cs typeface="+mn-cs"/>
        <a:sym typeface="Arial"/>
      </a:defRPr>
    </a:lvl3pPr>
    <a:lvl4pPr indent="685800" latinLnBrk="0">
      <a:spcBef>
        <a:spcPts val="400"/>
      </a:spcBef>
      <a:defRPr sz="1200">
        <a:latin typeface="+mn-lt"/>
        <a:ea typeface="+mn-ea"/>
        <a:cs typeface="+mn-cs"/>
        <a:sym typeface="Arial"/>
      </a:defRPr>
    </a:lvl4pPr>
    <a:lvl5pPr indent="914400" latinLnBrk="0">
      <a:spcBef>
        <a:spcPts val="400"/>
      </a:spcBef>
      <a:defRPr sz="1200">
        <a:latin typeface="+mn-lt"/>
        <a:ea typeface="+mn-ea"/>
        <a:cs typeface="+mn-cs"/>
        <a:sym typeface="Arial"/>
      </a:defRPr>
    </a:lvl5pPr>
    <a:lvl6pPr indent="1143000" latinLnBrk="0">
      <a:spcBef>
        <a:spcPts val="400"/>
      </a:spcBef>
      <a:defRPr sz="1200">
        <a:latin typeface="+mn-lt"/>
        <a:ea typeface="+mn-ea"/>
        <a:cs typeface="+mn-cs"/>
        <a:sym typeface="Arial"/>
      </a:defRPr>
    </a:lvl6pPr>
    <a:lvl7pPr indent="1371600" latinLnBrk="0">
      <a:spcBef>
        <a:spcPts val="400"/>
      </a:spcBef>
      <a:defRPr sz="1200">
        <a:latin typeface="+mn-lt"/>
        <a:ea typeface="+mn-ea"/>
        <a:cs typeface="+mn-cs"/>
        <a:sym typeface="Arial"/>
      </a:defRPr>
    </a:lvl7pPr>
    <a:lvl8pPr indent="1600200" latinLnBrk="0">
      <a:spcBef>
        <a:spcPts val="400"/>
      </a:spcBef>
      <a:defRPr sz="1200">
        <a:latin typeface="+mn-lt"/>
        <a:ea typeface="+mn-ea"/>
        <a:cs typeface="+mn-cs"/>
        <a:sym typeface="Arial"/>
      </a:defRPr>
    </a:lvl8pPr>
    <a:lvl9pPr indent="1828800" latinLnBrk="0">
      <a:spcBef>
        <a:spcPts val="400"/>
      </a:spcBef>
      <a:defRPr sz="1200">
        <a:latin typeface="+mn-lt"/>
        <a:ea typeface="+mn-ea"/>
        <a:cs typeface="+mn-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32717863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4091538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22850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egnaposto immagine diapositiva 1"/>
          <p:cNvSpPr>
            <a:spLocks noGrp="1" noRot="1" noChangeAspect="1"/>
          </p:cNvSpPr>
          <p:nvPr>
            <p:ph type="sldImg"/>
          </p:nvPr>
        </p:nvSpPr>
        <p:spPr/>
      </p:sp>
      <p:sp>
        <p:nvSpPr>
          <p:cNvPr id="3" name="Segnaposto note 2"/>
          <p:cNvSpPr>
            <a:spLocks noGrp="1"/>
          </p:cNvSpPr>
          <p:nvPr>
            <p:ph type="body" idx="1"/>
          </p:nvPr>
        </p:nvSpPr>
        <p:spPr/>
        <p:txBody>
          <a:bodyPr/>
          <a:lstStyle/>
          <a:p>
            <a:endParaRPr lang="it-IT" dirty="0"/>
          </a:p>
        </p:txBody>
      </p:sp>
    </p:spTree>
    <p:extLst>
      <p:ext uri="{BB962C8B-B14F-4D97-AF65-F5344CB8AC3E}">
        <p14:creationId xmlns:p14="http://schemas.microsoft.com/office/powerpoint/2010/main" val="161491865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Diapositiva titol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12" name="Titolo Testo"/>
          <p:cNvSpPr txBox="1">
            <a:spLocks noGrp="1"/>
          </p:cNvSpPr>
          <p:nvPr>
            <p:ph type="title"/>
          </p:nvPr>
        </p:nvSpPr>
        <p:spPr>
          <a:xfrm>
            <a:off x="685800" y="3209925"/>
            <a:ext cx="7772400" cy="2019300"/>
          </a:xfrm>
          <a:prstGeom prst="rect">
            <a:avLst/>
          </a:prstGeom>
        </p:spPr>
        <p:txBody>
          <a:bodyPr anchor="t"/>
          <a:lstStyle>
            <a:lvl1pPr>
              <a:defRPr sz="3200" b="1">
                <a:solidFill>
                  <a:srgbClr val="FFFFFF"/>
                </a:solidFill>
                <a:effectLst>
                  <a:outerShdw blurRad="38100" dist="38100" dir="2700000" rotWithShape="0">
                    <a:srgbClr val="C0C0C0"/>
                  </a:outerShdw>
                </a:effectLst>
                <a:latin typeface="+mn-lt"/>
                <a:ea typeface="+mn-ea"/>
                <a:cs typeface="+mn-cs"/>
                <a:sym typeface="Arial"/>
              </a:defRPr>
            </a:lvl1pPr>
          </a:lstStyle>
          <a:p>
            <a:r>
              <a:t>Titolo Testo</a:t>
            </a:r>
          </a:p>
        </p:txBody>
      </p:sp>
      <p:sp>
        <p:nvSpPr>
          <p:cNvPr id="13"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Titolo e contenut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0"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21" name="Titolo Testo"/>
          <p:cNvSpPr txBox="1">
            <a:spLocks noGrp="1"/>
          </p:cNvSpPr>
          <p:nvPr>
            <p:ph type="title"/>
          </p:nvPr>
        </p:nvSpPr>
        <p:spPr>
          <a:xfrm>
            <a:off x="0" y="0"/>
            <a:ext cx="9144000" cy="836613"/>
          </a:xfrm>
          <a:prstGeom prst="rect">
            <a:avLst/>
          </a:prstGeom>
          <a:solidFill>
            <a:schemeClr val="accent2">
              <a:alpha val="60000"/>
            </a:schemeClr>
          </a:solidFill>
        </p:spPr>
        <p:txBody>
          <a:bodyPr/>
          <a:lstStyle>
            <a:lvl1pPr>
              <a:defRPr sz="2400" b="1">
                <a:solidFill>
                  <a:srgbClr val="FFFFFF"/>
                </a:solidFill>
                <a:effectLst>
                  <a:outerShdw blurRad="38100" dist="38100" dir="2700000" rotWithShape="0">
                    <a:srgbClr val="000000"/>
                  </a:outerShdw>
                </a:effectLst>
                <a:latin typeface="+mn-lt"/>
                <a:ea typeface="+mn-ea"/>
                <a:cs typeface="+mn-cs"/>
                <a:sym typeface="Arial"/>
              </a:defRPr>
            </a:lvl1pPr>
          </a:lstStyle>
          <a:p>
            <a:r>
              <a:t>Titolo Testo</a:t>
            </a:r>
          </a:p>
        </p:txBody>
      </p:sp>
      <p:sp>
        <p:nvSpPr>
          <p:cNvPr id="22" name="Corpo livello uno…"/>
          <p:cNvSpPr txBox="1">
            <a:spLocks noGrp="1"/>
          </p:cNvSpPr>
          <p:nvPr>
            <p:ph type="body" idx="1"/>
          </p:nvPr>
        </p:nvSpPr>
        <p:spPr>
          <a:prstGeom prst="rect">
            <a:avLst/>
          </a:prstGeom>
        </p:spPr>
        <p:txBody>
          <a:bodyPr/>
          <a:lstStyle>
            <a:lvl1pPr>
              <a:buFontTx/>
              <a:defRPr>
                <a:latin typeface="+mn-lt"/>
                <a:ea typeface="+mn-ea"/>
                <a:cs typeface="+mn-cs"/>
                <a:sym typeface="Arial"/>
              </a:defRPr>
            </a:lvl1pPr>
            <a:lvl2pPr>
              <a:buFontTx/>
              <a:defRPr>
                <a:latin typeface="+mn-lt"/>
                <a:ea typeface="+mn-ea"/>
                <a:cs typeface="+mn-cs"/>
                <a:sym typeface="Arial"/>
              </a:defRPr>
            </a:lvl2pPr>
            <a:lvl3pPr>
              <a:buFontTx/>
              <a:defRPr>
                <a:latin typeface="+mn-lt"/>
                <a:ea typeface="+mn-ea"/>
                <a:cs typeface="+mn-cs"/>
                <a:sym typeface="Arial"/>
              </a:defRPr>
            </a:lvl3pPr>
            <a:lvl4pPr>
              <a:buFontTx/>
              <a:defRPr>
                <a:latin typeface="+mn-lt"/>
                <a:ea typeface="+mn-ea"/>
                <a:cs typeface="+mn-cs"/>
                <a:sym typeface="Arial"/>
              </a:defRPr>
            </a:lvl4pPr>
            <a:lvl5pPr>
              <a:buFontTx/>
              <a:defRPr>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23"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Intestazione sezion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0"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31" name="Titolo Testo"/>
          <p:cNvSpPr txBox="1">
            <a:spLocks noGrp="1"/>
          </p:cNvSpPr>
          <p:nvPr>
            <p:ph type="title"/>
          </p:nvPr>
        </p:nvSpPr>
        <p:spPr>
          <a:xfrm>
            <a:off x="722312" y="4406900"/>
            <a:ext cx="7772401" cy="1362075"/>
          </a:xfrm>
          <a:prstGeom prst="rect">
            <a:avLst/>
          </a:prstGeom>
          <a:solidFill>
            <a:schemeClr val="accent2">
              <a:alpha val="60000"/>
            </a:schemeClr>
          </a:solidFill>
        </p:spPr>
        <p:txBody>
          <a:bodyPr anchor="t"/>
          <a:lstStyle>
            <a:lvl1pPr algn="l">
              <a:defRPr sz="4000" b="1" cap="all">
                <a:solidFill>
                  <a:srgbClr val="FFFFFF"/>
                </a:solidFill>
                <a:effectLst>
                  <a:outerShdw blurRad="38100" dist="38100" dir="2700000" rotWithShape="0">
                    <a:srgbClr val="000000"/>
                  </a:outerShdw>
                </a:effectLst>
                <a:latin typeface="+mn-lt"/>
                <a:ea typeface="+mn-ea"/>
                <a:cs typeface="+mn-cs"/>
                <a:sym typeface="Arial"/>
              </a:defRPr>
            </a:lvl1pPr>
          </a:lstStyle>
          <a:p>
            <a:r>
              <a:t>Titolo Testo</a:t>
            </a:r>
          </a:p>
        </p:txBody>
      </p:sp>
      <p:sp>
        <p:nvSpPr>
          <p:cNvPr id="32" name="Corpo livello uno…"/>
          <p:cNvSpPr txBox="1">
            <a:spLocks noGrp="1"/>
          </p:cNvSpPr>
          <p:nvPr>
            <p:ph type="body" sz="quarter" idx="1"/>
          </p:nvPr>
        </p:nvSpPr>
        <p:spPr>
          <a:xfrm>
            <a:off x="722312" y="2906713"/>
            <a:ext cx="7772401" cy="1500189"/>
          </a:xfrm>
          <a:prstGeom prst="rect">
            <a:avLst/>
          </a:prstGeom>
        </p:spPr>
        <p:txBody>
          <a:bodyPr anchor="b"/>
          <a:lstStyle>
            <a:lvl1pPr marL="0" indent="0">
              <a:spcBef>
                <a:spcPts val="400"/>
              </a:spcBef>
              <a:buSzTx/>
              <a:buFontTx/>
              <a:buNone/>
              <a:defRPr sz="2000">
                <a:latin typeface="+mn-lt"/>
                <a:ea typeface="+mn-ea"/>
                <a:cs typeface="+mn-cs"/>
                <a:sym typeface="Arial"/>
              </a:defRPr>
            </a:lvl1pPr>
            <a:lvl2pPr marL="0" indent="0">
              <a:spcBef>
                <a:spcPts val="400"/>
              </a:spcBef>
              <a:buSzTx/>
              <a:buFontTx/>
              <a:buNone/>
              <a:defRPr sz="2000">
                <a:latin typeface="+mn-lt"/>
                <a:ea typeface="+mn-ea"/>
                <a:cs typeface="+mn-cs"/>
                <a:sym typeface="Arial"/>
              </a:defRPr>
            </a:lvl2pPr>
            <a:lvl3pPr marL="0" indent="0">
              <a:spcBef>
                <a:spcPts val="400"/>
              </a:spcBef>
              <a:buSzTx/>
              <a:buFontTx/>
              <a:buNone/>
              <a:defRPr sz="2000">
                <a:latin typeface="+mn-lt"/>
                <a:ea typeface="+mn-ea"/>
                <a:cs typeface="+mn-cs"/>
                <a:sym typeface="Arial"/>
              </a:defRPr>
            </a:lvl3pPr>
            <a:lvl4pPr marL="0" indent="0">
              <a:spcBef>
                <a:spcPts val="400"/>
              </a:spcBef>
              <a:buSzTx/>
              <a:buFontTx/>
              <a:buNone/>
              <a:defRPr sz="2000">
                <a:latin typeface="+mn-lt"/>
                <a:ea typeface="+mn-ea"/>
                <a:cs typeface="+mn-cs"/>
                <a:sym typeface="Arial"/>
              </a:defRPr>
            </a:lvl4pPr>
            <a:lvl5pPr marL="0" indent="0">
              <a:spcBef>
                <a:spcPts val="400"/>
              </a:spcBef>
              <a:buSzTx/>
              <a:buFontTx/>
              <a:buNone/>
              <a:defRPr sz="2000">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33"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ue contenuti">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40"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41" name="Titolo Testo"/>
          <p:cNvSpPr txBox="1">
            <a:spLocks noGrp="1"/>
          </p:cNvSpPr>
          <p:nvPr>
            <p:ph type="title"/>
          </p:nvPr>
        </p:nvSpPr>
        <p:spPr>
          <a:xfrm>
            <a:off x="0" y="0"/>
            <a:ext cx="9144000" cy="836613"/>
          </a:xfrm>
          <a:prstGeom prst="rect">
            <a:avLst/>
          </a:prstGeom>
          <a:solidFill>
            <a:schemeClr val="accent2">
              <a:alpha val="60000"/>
            </a:schemeClr>
          </a:solidFill>
        </p:spPr>
        <p:txBody>
          <a:bodyPr/>
          <a:lstStyle>
            <a:lvl1pPr>
              <a:defRPr sz="2400" b="1">
                <a:solidFill>
                  <a:srgbClr val="FFFFFF"/>
                </a:solidFill>
                <a:effectLst>
                  <a:outerShdw blurRad="38100" dist="38100" dir="2700000" rotWithShape="0">
                    <a:srgbClr val="000000"/>
                  </a:outerShdw>
                </a:effectLst>
                <a:latin typeface="+mn-lt"/>
                <a:ea typeface="+mn-ea"/>
                <a:cs typeface="+mn-cs"/>
                <a:sym typeface="Arial"/>
              </a:defRPr>
            </a:lvl1pPr>
          </a:lstStyle>
          <a:p>
            <a:r>
              <a:t>Titolo Testo</a:t>
            </a:r>
          </a:p>
        </p:txBody>
      </p:sp>
      <p:sp>
        <p:nvSpPr>
          <p:cNvPr id="42" name="Corpo livello uno…"/>
          <p:cNvSpPr txBox="1">
            <a:spLocks noGrp="1"/>
          </p:cNvSpPr>
          <p:nvPr>
            <p:ph type="body" sz="half" idx="1"/>
          </p:nvPr>
        </p:nvSpPr>
        <p:spPr>
          <a:xfrm>
            <a:off x="457200" y="1600200"/>
            <a:ext cx="4038600" cy="4525963"/>
          </a:xfrm>
          <a:prstGeom prst="rect">
            <a:avLst/>
          </a:prstGeom>
        </p:spPr>
        <p:txBody>
          <a:bodyPr/>
          <a:lstStyle>
            <a:lvl1pPr>
              <a:spcBef>
                <a:spcPts val="600"/>
              </a:spcBef>
              <a:buFontTx/>
              <a:defRPr sz="2800">
                <a:latin typeface="+mn-lt"/>
                <a:ea typeface="+mn-ea"/>
                <a:cs typeface="+mn-cs"/>
                <a:sym typeface="Arial"/>
              </a:defRPr>
            </a:lvl1pPr>
            <a:lvl2pPr marL="790575" indent="-333375">
              <a:spcBef>
                <a:spcPts val="600"/>
              </a:spcBef>
              <a:buFontTx/>
              <a:defRPr sz="2800">
                <a:latin typeface="+mn-lt"/>
                <a:ea typeface="+mn-ea"/>
                <a:cs typeface="+mn-cs"/>
                <a:sym typeface="Arial"/>
              </a:defRPr>
            </a:lvl2pPr>
            <a:lvl3pPr marL="1234438" indent="-320038">
              <a:spcBef>
                <a:spcPts val="600"/>
              </a:spcBef>
              <a:buFontTx/>
              <a:defRPr sz="2800">
                <a:latin typeface="+mn-lt"/>
                <a:ea typeface="+mn-ea"/>
                <a:cs typeface="+mn-cs"/>
                <a:sym typeface="Arial"/>
              </a:defRPr>
            </a:lvl3pPr>
            <a:lvl4pPr marL="1727200" indent="-355600">
              <a:spcBef>
                <a:spcPts val="600"/>
              </a:spcBef>
              <a:buFontTx/>
              <a:defRPr sz="2800">
                <a:latin typeface="+mn-lt"/>
                <a:ea typeface="+mn-ea"/>
                <a:cs typeface="+mn-cs"/>
                <a:sym typeface="Arial"/>
              </a:defRPr>
            </a:lvl4pPr>
            <a:lvl5pPr marL="2184400" indent="-355600">
              <a:spcBef>
                <a:spcPts val="600"/>
              </a:spcBef>
              <a:buFontTx/>
              <a:defRPr sz="2800">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43"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nfront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50"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51" name="Titolo Testo"/>
          <p:cNvSpPr txBox="1">
            <a:spLocks noGrp="1"/>
          </p:cNvSpPr>
          <p:nvPr>
            <p:ph type="title"/>
          </p:nvPr>
        </p:nvSpPr>
        <p:spPr>
          <a:prstGeom prst="rect">
            <a:avLst/>
          </a:prstGeom>
          <a:solidFill>
            <a:schemeClr val="accent2">
              <a:alpha val="60000"/>
            </a:schemeClr>
          </a:solidFill>
        </p:spPr>
        <p:txBody>
          <a:bodyPr/>
          <a:lstStyle>
            <a:lvl1pPr>
              <a:defRPr sz="2400" b="1">
                <a:solidFill>
                  <a:srgbClr val="FFFFFF"/>
                </a:solidFill>
                <a:effectLst>
                  <a:outerShdw blurRad="38100" dist="38100" dir="2700000" rotWithShape="0">
                    <a:srgbClr val="000000"/>
                  </a:outerShdw>
                </a:effectLst>
                <a:latin typeface="+mn-lt"/>
                <a:ea typeface="+mn-ea"/>
                <a:cs typeface="+mn-cs"/>
                <a:sym typeface="Arial"/>
              </a:defRPr>
            </a:lvl1pPr>
          </a:lstStyle>
          <a:p>
            <a:r>
              <a:t>Titolo Testo</a:t>
            </a:r>
          </a:p>
        </p:txBody>
      </p:sp>
      <p:sp>
        <p:nvSpPr>
          <p:cNvPr id="52" name="Corpo livello uno…"/>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atin typeface="+mn-lt"/>
                <a:ea typeface="+mn-ea"/>
                <a:cs typeface="+mn-cs"/>
                <a:sym typeface="Arial"/>
              </a:defRPr>
            </a:lvl1pPr>
            <a:lvl2pPr marL="0" indent="0">
              <a:spcBef>
                <a:spcPts val="500"/>
              </a:spcBef>
              <a:buSzTx/>
              <a:buFontTx/>
              <a:buNone/>
              <a:defRPr sz="2400" b="1">
                <a:latin typeface="+mn-lt"/>
                <a:ea typeface="+mn-ea"/>
                <a:cs typeface="+mn-cs"/>
                <a:sym typeface="Arial"/>
              </a:defRPr>
            </a:lvl2pPr>
            <a:lvl3pPr marL="0" indent="0">
              <a:spcBef>
                <a:spcPts val="500"/>
              </a:spcBef>
              <a:buSzTx/>
              <a:buFontTx/>
              <a:buNone/>
              <a:defRPr sz="2400" b="1">
                <a:latin typeface="+mn-lt"/>
                <a:ea typeface="+mn-ea"/>
                <a:cs typeface="+mn-cs"/>
                <a:sym typeface="Arial"/>
              </a:defRPr>
            </a:lvl3pPr>
            <a:lvl4pPr marL="0" indent="0">
              <a:spcBef>
                <a:spcPts val="500"/>
              </a:spcBef>
              <a:buSzTx/>
              <a:buFontTx/>
              <a:buNone/>
              <a:defRPr sz="2400" b="1">
                <a:latin typeface="+mn-lt"/>
                <a:ea typeface="+mn-ea"/>
                <a:cs typeface="+mn-cs"/>
                <a:sym typeface="Arial"/>
              </a:defRPr>
            </a:lvl4pPr>
            <a:lvl5pPr marL="0" indent="0">
              <a:spcBef>
                <a:spcPts val="500"/>
              </a:spcBef>
              <a:buSzTx/>
              <a:buFontTx/>
              <a:buNone/>
              <a:defRPr sz="2400" b="1">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53" name="Segnaposto testo 4"/>
          <p:cNvSpPr>
            <a:spLocks noGrp="1"/>
          </p:cNvSpPr>
          <p:nvPr>
            <p:ph type="body" sz="quarter" idx="21"/>
          </p:nvPr>
        </p:nvSpPr>
        <p:spPr>
          <a:xfrm>
            <a:off x="4645025" y="1535111"/>
            <a:ext cx="4041775" cy="639765"/>
          </a:xfrm>
          <a:prstGeom prst="rect">
            <a:avLst/>
          </a:prstGeom>
        </p:spPr>
        <p:txBody>
          <a:bodyPr anchor="b"/>
          <a:lstStyle/>
          <a:p>
            <a:pPr>
              <a:buFontTx/>
              <a:defRPr>
                <a:latin typeface="+mn-lt"/>
                <a:ea typeface="+mn-ea"/>
                <a:cs typeface="+mn-cs"/>
                <a:sym typeface="Arial"/>
              </a:defRPr>
            </a:pPr>
            <a:endParaRPr/>
          </a:p>
        </p:txBody>
      </p:sp>
      <p:sp>
        <p:nvSpPr>
          <p:cNvPr id="54"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Solo titolo">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61"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62" name="Titolo Testo"/>
          <p:cNvSpPr txBox="1">
            <a:spLocks noGrp="1"/>
          </p:cNvSpPr>
          <p:nvPr>
            <p:ph type="title"/>
          </p:nvPr>
        </p:nvSpPr>
        <p:spPr>
          <a:xfrm>
            <a:off x="0" y="0"/>
            <a:ext cx="9144000" cy="836613"/>
          </a:xfrm>
          <a:prstGeom prst="rect">
            <a:avLst/>
          </a:prstGeom>
          <a:solidFill>
            <a:schemeClr val="accent2">
              <a:alpha val="60000"/>
            </a:schemeClr>
          </a:solidFill>
        </p:spPr>
        <p:txBody>
          <a:bodyPr/>
          <a:lstStyle>
            <a:lvl1pPr>
              <a:defRPr sz="2400" b="1">
                <a:solidFill>
                  <a:srgbClr val="FFFFFF"/>
                </a:solidFill>
                <a:effectLst>
                  <a:outerShdw blurRad="38100" dist="38100" dir="2700000" rotWithShape="0">
                    <a:srgbClr val="000000"/>
                  </a:outerShdw>
                </a:effectLst>
                <a:latin typeface="+mn-lt"/>
                <a:ea typeface="+mn-ea"/>
                <a:cs typeface="+mn-cs"/>
                <a:sym typeface="Arial"/>
              </a:defRPr>
            </a:lvl1pPr>
          </a:lstStyle>
          <a:p>
            <a:r>
              <a:t>Titolo Testo</a:t>
            </a:r>
          </a:p>
        </p:txBody>
      </p:sp>
      <p:sp>
        <p:nvSpPr>
          <p:cNvPr id="63"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Vuot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70"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71"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uto con didascali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78"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79" name="Titolo Testo"/>
          <p:cNvSpPr txBox="1">
            <a:spLocks noGrp="1"/>
          </p:cNvSpPr>
          <p:nvPr>
            <p:ph type="title"/>
          </p:nvPr>
        </p:nvSpPr>
        <p:spPr>
          <a:xfrm>
            <a:off x="457200" y="273050"/>
            <a:ext cx="3008315" cy="1162050"/>
          </a:xfrm>
          <a:prstGeom prst="rect">
            <a:avLst/>
          </a:prstGeom>
          <a:solidFill>
            <a:schemeClr val="accent2">
              <a:alpha val="60000"/>
            </a:schemeClr>
          </a:solidFill>
        </p:spPr>
        <p:txBody>
          <a:bodyPr anchor="b"/>
          <a:lstStyle>
            <a:lvl1pPr algn="l">
              <a:defRPr sz="2000" b="1">
                <a:solidFill>
                  <a:srgbClr val="FFFFFF"/>
                </a:solidFill>
                <a:effectLst>
                  <a:outerShdw blurRad="38100" dist="38100" dir="2700000" rotWithShape="0">
                    <a:srgbClr val="000000"/>
                  </a:outerShdw>
                </a:effectLst>
                <a:latin typeface="+mn-lt"/>
                <a:ea typeface="+mn-ea"/>
                <a:cs typeface="+mn-cs"/>
                <a:sym typeface="Arial"/>
              </a:defRPr>
            </a:lvl1pPr>
          </a:lstStyle>
          <a:p>
            <a:r>
              <a:t>Titolo Testo</a:t>
            </a:r>
          </a:p>
        </p:txBody>
      </p:sp>
      <p:sp>
        <p:nvSpPr>
          <p:cNvPr id="80" name="Corpo livello uno…"/>
          <p:cNvSpPr txBox="1">
            <a:spLocks noGrp="1"/>
          </p:cNvSpPr>
          <p:nvPr>
            <p:ph type="body" idx="1"/>
          </p:nvPr>
        </p:nvSpPr>
        <p:spPr>
          <a:xfrm>
            <a:off x="3575050" y="273050"/>
            <a:ext cx="5111750" cy="5853113"/>
          </a:xfrm>
          <a:prstGeom prst="rect">
            <a:avLst/>
          </a:prstGeom>
        </p:spPr>
        <p:txBody>
          <a:bodyPr/>
          <a:lstStyle>
            <a:lvl1pPr>
              <a:buFontTx/>
              <a:defRPr>
                <a:latin typeface="+mn-lt"/>
                <a:ea typeface="+mn-ea"/>
                <a:cs typeface="+mn-cs"/>
                <a:sym typeface="Arial"/>
              </a:defRPr>
            </a:lvl1pPr>
            <a:lvl2pPr>
              <a:buFontTx/>
              <a:defRPr>
                <a:latin typeface="+mn-lt"/>
                <a:ea typeface="+mn-ea"/>
                <a:cs typeface="+mn-cs"/>
                <a:sym typeface="Arial"/>
              </a:defRPr>
            </a:lvl2pPr>
            <a:lvl3pPr>
              <a:buFontTx/>
              <a:defRPr>
                <a:latin typeface="+mn-lt"/>
                <a:ea typeface="+mn-ea"/>
                <a:cs typeface="+mn-cs"/>
                <a:sym typeface="Arial"/>
              </a:defRPr>
            </a:lvl3pPr>
            <a:lvl4pPr>
              <a:buFontTx/>
              <a:defRPr>
                <a:latin typeface="+mn-lt"/>
                <a:ea typeface="+mn-ea"/>
                <a:cs typeface="+mn-cs"/>
                <a:sym typeface="Arial"/>
              </a:defRPr>
            </a:lvl4pPr>
            <a:lvl5pPr>
              <a:buFontTx/>
              <a:defRPr>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81" name="Segnaposto testo 3"/>
          <p:cNvSpPr>
            <a:spLocks noGrp="1"/>
          </p:cNvSpPr>
          <p:nvPr>
            <p:ph type="body" sz="half" idx="21"/>
          </p:nvPr>
        </p:nvSpPr>
        <p:spPr>
          <a:xfrm>
            <a:off x="457198" y="1435100"/>
            <a:ext cx="3008316" cy="4691063"/>
          </a:xfrm>
          <a:prstGeom prst="rect">
            <a:avLst/>
          </a:prstGeom>
        </p:spPr>
        <p:txBody>
          <a:bodyPr/>
          <a:lstStyle/>
          <a:p>
            <a:pPr>
              <a:buFontTx/>
              <a:defRPr>
                <a:latin typeface="+mn-lt"/>
                <a:ea typeface="+mn-ea"/>
                <a:cs typeface="+mn-cs"/>
                <a:sym typeface="Arial"/>
              </a:defRPr>
            </a:pPr>
            <a:endParaRPr/>
          </a:p>
        </p:txBody>
      </p:sp>
      <p:sp>
        <p:nvSpPr>
          <p:cNvPr id="82"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Immagine con didascali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89"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90" name="Titolo Testo"/>
          <p:cNvSpPr txBox="1">
            <a:spLocks noGrp="1"/>
          </p:cNvSpPr>
          <p:nvPr>
            <p:ph type="title"/>
          </p:nvPr>
        </p:nvSpPr>
        <p:spPr>
          <a:xfrm>
            <a:off x="1792288" y="4800600"/>
            <a:ext cx="5486402" cy="566738"/>
          </a:xfrm>
          <a:prstGeom prst="rect">
            <a:avLst/>
          </a:prstGeom>
          <a:solidFill>
            <a:schemeClr val="accent2">
              <a:alpha val="60000"/>
            </a:schemeClr>
          </a:solidFill>
        </p:spPr>
        <p:txBody>
          <a:bodyPr anchor="b"/>
          <a:lstStyle>
            <a:lvl1pPr algn="l">
              <a:defRPr sz="2000" b="1">
                <a:solidFill>
                  <a:srgbClr val="FFFFFF"/>
                </a:solidFill>
                <a:effectLst>
                  <a:outerShdw blurRad="38100" dist="38100" dir="2700000" rotWithShape="0">
                    <a:srgbClr val="000000"/>
                  </a:outerShdw>
                </a:effectLst>
                <a:latin typeface="+mn-lt"/>
                <a:ea typeface="+mn-ea"/>
                <a:cs typeface="+mn-cs"/>
                <a:sym typeface="Arial"/>
              </a:defRPr>
            </a:lvl1pPr>
          </a:lstStyle>
          <a:p>
            <a:r>
              <a:t>Titolo Testo</a:t>
            </a:r>
          </a:p>
        </p:txBody>
      </p:sp>
      <p:sp>
        <p:nvSpPr>
          <p:cNvPr id="91" name="Segnaposto immagine 2"/>
          <p:cNvSpPr>
            <a:spLocks noGrp="1"/>
          </p:cNvSpPr>
          <p:nvPr>
            <p:ph type="pic" sz="half" idx="21"/>
          </p:nvPr>
        </p:nvSpPr>
        <p:spPr>
          <a:xfrm>
            <a:off x="1792288" y="612775"/>
            <a:ext cx="5486402" cy="4114800"/>
          </a:xfrm>
          <a:prstGeom prst="rect">
            <a:avLst/>
          </a:prstGeom>
        </p:spPr>
        <p:txBody>
          <a:bodyPr lIns="91439" tIns="45719" rIns="91439" bIns="45719">
            <a:noAutofit/>
          </a:bodyPr>
          <a:lstStyle/>
          <a:p>
            <a:endParaRPr/>
          </a:p>
        </p:txBody>
      </p:sp>
      <p:sp>
        <p:nvSpPr>
          <p:cNvPr id="92" name="Corpo livello uno…"/>
          <p:cNvSpPr txBox="1">
            <a:spLocks noGrp="1"/>
          </p:cNvSpPr>
          <p:nvPr>
            <p:ph type="body" sz="quarter" idx="1"/>
          </p:nvPr>
        </p:nvSpPr>
        <p:spPr>
          <a:xfrm>
            <a:off x="1792288" y="5367337"/>
            <a:ext cx="5486402" cy="804864"/>
          </a:xfrm>
          <a:prstGeom prst="rect">
            <a:avLst/>
          </a:prstGeom>
        </p:spPr>
        <p:txBody>
          <a:bodyPr/>
          <a:lstStyle>
            <a:lvl1pPr marL="0" indent="0">
              <a:spcBef>
                <a:spcPts val="300"/>
              </a:spcBef>
              <a:buSzTx/>
              <a:buFontTx/>
              <a:buNone/>
              <a:defRPr sz="1400">
                <a:latin typeface="+mn-lt"/>
                <a:ea typeface="+mn-ea"/>
                <a:cs typeface="+mn-cs"/>
                <a:sym typeface="Arial"/>
              </a:defRPr>
            </a:lvl1pPr>
            <a:lvl2pPr marL="0" indent="0">
              <a:spcBef>
                <a:spcPts val="300"/>
              </a:spcBef>
              <a:buSzTx/>
              <a:buFontTx/>
              <a:buNone/>
              <a:defRPr sz="1400">
                <a:latin typeface="+mn-lt"/>
                <a:ea typeface="+mn-ea"/>
                <a:cs typeface="+mn-cs"/>
                <a:sym typeface="Arial"/>
              </a:defRPr>
            </a:lvl2pPr>
            <a:lvl3pPr marL="0" indent="0">
              <a:spcBef>
                <a:spcPts val="300"/>
              </a:spcBef>
              <a:buSzTx/>
              <a:buFontTx/>
              <a:buNone/>
              <a:defRPr sz="1400">
                <a:latin typeface="+mn-lt"/>
                <a:ea typeface="+mn-ea"/>
                <a:cs typeface="+mn-cs"/>
                <a:sym typeface="Arial"/>
              </a:defRPr>
            </a:lvl3pPr>
            <a:lvl4pPr marL="0" indent="0">
              <a:spcBef>
                <a:spcPts val="300"/>
              </a:spcBef>
              <a:buSzTx/>
              <a:buFontTx/>
              <a:buNone/>
              <a:defRPr sz="1400">
                <a:latin typeface="+mn-lt"/>
                <a:ea typeface="+mn-ea"/>
                <a:cs typeface="+mn-cs"/>
                <a:sym typeface="Arial"/>
              </a:defRPr>
            </a:lvl4pPr>
            <a:lvl5pPr marL="0" indent="0">
              <a:spcBef>
                <a:spcPts val="300"/>
              </a:spcBef>
              <a:buSzTx/>
              <a:buFontTx/>
              <a:buNone/>
              <a:defRPr sz="1400">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93"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Titolo, diagramma o organigramm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0"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101" name="Titolo Testo"/>
          <p:cNvSpPr txBox="1">
            <a:spLocks noGrp="1"/>
          </p:cNvSpPr>
          <p:nvPr>
            <p:ph type="title"/>
          </p:nvPr>
        </p:nvSpPr>
        <p:spPr>
          <a:xfrm>
            <a:off x="0" y="0"/>
            <a:ext cx="9144000" cy="836613"/>
          </a:xfrm>
          <a:prstGeom prst="rect">
            <a:avLst/>
          </a:prstGeom>
          <a:solidFill>
            <a:schemeClr val="accent2">
              <a:alpha val="60000"/>
            </a:schemeClr>
          </a:solidFill>
        </p:spPr>
        <p:txBody>
          <a:bodyPr/>
          <a:lstStyle>
            <a:lvl1pPr>
              <a:defRPr sz="2400" b="1">
                <a:solidFill>
                  <a:srgbClr val="FFFFFF"/>
                </a:solidFill>
                <a:effectLst>
                  <a:outerShdw blurRad="38100" dist="38100" dir="2700000" rotWithShape="0">
                    <a:srgbClr val="000000"/>
                  </a:outerShdw>
                </a:effectLst>
                <a:latin typeface="+mn-lt"/>
                <a:ea typeface="+mn-ea"/>
                <a:cs typeface="+mn-cs"/>
                <a:sym typeface="Arial"/>
              </a:defRPr>
            </a:lvl1pPr>
          </a:lstStyle>
          <a:p>
            <a:r>
              <a:t>Titolo Testo</a:t>
            </a:r>
          </a:p>
        </p:txBody>
      </p:sp>
      <p:sp>
        <p:nvSpPr>
          <p:cNvPr id="102"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Titolo e tabella">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09"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110" name="Titolo Testo"/>
          <p:cNvSpPr txBox="1">
            <a:spLocks noGrp="1"/>
          </p:cNvSpPr>
          <p:nvPr>
            <p:ph type="title"/>
          </p:nvPr>
        </p:nvSpPr>
        <p:spPr>
          <a:xfrm>
            <a:off x="0" y="0"/>
            <a:ext cx="9144000" cy="836613"/>
          </a:xfrm>
          <a:prstGeom prst="rect">
            <a:avLst/>
          </a:prstGeom>
          <a:solidFill>
            <a:schemeClr val="accent2">
              <a:alpha val="60000"/>
            </a:schemeClr>
          </a:solidFill>
        </p:spPr>
        <p:txBody>
          <a:bodyPr/>
          <a:lstStyle>
            <a:lvl1pPr>
              <a:defRPr sz="2400" b="1">
                <a:solidFill>
                  <a:srgbClr val="FFFFFF"/>
                </a:solidFill>
                <a:effectLst>
                  <a:outerShdw blurRad="38100" dist="38100" dir="2700000" rotWithShape="0">
                    <a:srgbClr val="000000"/>
                  </a:outerShdw>
                </a:effectLst>
                <a:latin typeface="+mn-lt"/>
                <a:ea typeface="+mn-ea"/>
                <a:cs typeface="+mn-cs"/>
                <a:sym typeface="Arial"/>
              </a:defRPr>
            </a:lvl1pPr>
          </a:lstStyle>
          <a:p>
            <a:r>
              <a:t>Titolo Testo</a:t>
            </a:r>
          </a:p>
        </p:txBody>
      </p:sp>
      <p:sp>
        <p:nvSpPr>
          <p:cNvPr id="111"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olo, contenuto e contenuto 2">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18"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119" name="Titolo Testo"/>
          <p:cNvSpPr txBox="1">
            <a:spLocks noGrp="1"/>
          </p:cNvSpPr>
          <p:nvPr>
            <p:ph type="title"/>
          </p:nvPr>
        </p:nvSpPr>
        <p:spPr>
          <a:xfrm>
            <a:off x="0" y="0"/>
            <a:ext cx="9144000" cy="836613"/>
          </a:xfrm>
          <a:prstGeom prst="rect">
            <a:avLst/>
          </a:prstGeom>
          <a:solidFill>
            <a:schemeClr val="accent2">
              <a:alpha val="60000"/>
            </a:schemeClr>
          </a:solidFill>
        </p:spPr>
        <p:txBody>
          <a:bodyPr/>
          <a:lstStyle>
            <a:lvl1pPr>
              <a:defRPr sz="2400" b="1">
                <a:solidFill>
                  <a:srgbClr val="FFFFFF"/>
                </a:solidFill>
                <a:effectLst>
                  <a:outerShdw blurRad="38100" dist="38100" dir="2700000" rotWithShape="0">
                    <a:srgbClr val="000000"/>
                  </a:outerShdw>
                </a:effectLst>
                <a:latin typeface="+mn-lt"/>
                <a:ea typeface="+mn-ea"/>
                <a:cs typeface="+mn-cs"/>
                <a:sym typeface="Arial"/>
              </a:defRPr>
            </a:lvl1pPr>
          </a:lstStyle>
          <a:p>
            <a:r>
              <a:t>Titolo Testo</a:t>
            </a:r>
          </a:p>
        </p:txBody>
      </p:sp>
      <p:sp>
        <p:nvSpPr>
          <p:cNvPr id="120" name="Corpo livello uno…"/>
          <p:cNvSpPr txBox="1">
            <a:spLocks noGrp="1"/>
          </p:cNvSpPr>
          <p:nvPr>
            <p:ph type="body" sz="half" idx="1"/>
          </p:nvPr>
        </p:nvSpPr>
        <p:spPr>
          <a:xfrm>
            <a:off x="457200" y="1600200"/>
            <a:ext cx="4038600" cy="4525963"/>
          </a:xfrm>
          <a:prstGeom prst="rect">
            <a:avLst/>
          </a:prstGeom>
        </p:spPr>
        <p:txBody>
          <a:bodyPr/>
          <a:lstStyle>
            <a:lvl1pPr>
              <a:buFontTx/>
              <a:defRPr>
                <a:latin typeface="+mn-lt"/>
                <a:ea typeface="+mn-ea"/>
                <a:cs typeface="+mn-cs"/>
                <a:sym typeface="Arial"/>
              </a:defRPr>
            </a:lvl1pPr>
            <a:lvl2pPr>
              <a:buFontTx/>
              <a:defRPr>
                <a:latin typeface="+mn-lt"/>
                <a:ea typeface="+mn-ea"/>
                <a:cs typeface="+mn-cs"/>
                <a:sym typeface="Arial"/>
              </a:defRPr>
            </a:lvl2pPr>
            <a:lvl3pPr>
              <a:buFontTx/>
              <a:defRPr>
                <a:latin typeface="+mn-lt"/>
                <a:ea typeface="+mn-ea"/>
                <a:cs typeface="+mn-cs"/>
                <a:sym typeface="Arial"/>
              </a:defRPr>
            </a:lvl3pPr>
            <a:lvl4pPr>
              <a:buFontTx/>
              <a:defRPr>
                <a:latin typeface="+mn-lt"/>
                <a:ea typeface="+mn-ea"/>
                <a:cs typeface="+mn-cs"/>
                <a:sym typeface="Arial"/>
              </a:defRPr>
            </a:lvl4pPr>
            <a:lvl5pPr>
              <a:buFontTx/>
              <a:defRPr>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21"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olo e  contenuto 4">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28" name="Rectangle 9"/>
          <p:cNvSpPr/>
          <p:nvPr/>
        </p:nvSpPr>
        <p:spPr>
          <a:xfrm>
            <a:off x="0" y="836612"/>
            <a:ext cx="9144000" cy="71439"/>
          </a:xfrm>
          <a:prstGeom prst="rect">
            <a:avLst/>
          </a:prstGeom>
          <a:gradFill>
            <a:gsLst>
              <a:gs pos="0">
                <a:schemeClr val="accent2">
                  <a:alpha val="79999"/>
                </a:schemeClr>
              </a:gs>
              <a:gs pos="100000">
                <a:srgbClr val="181847"/>
              </a:gs>
            </a:gsLst>
            <a:lin ang="5400000"/>
          </a:gradFill>
          <a:ln w="12700">
            <a:miter lim="400000"/>
          </a:ln>
        </p:spPr>
        <p:txBody>
          <a:bodyPr lIns="45718" tIns="45718" rIns="45718" bIns="45718" anchor="ctr"/>
          <a:lstStyle/>
          <a:p>
            <a:pPr>
              <a:defRPr>
                <a:latin typeface="Times New Roman"/>
                <a:ea typeface="Times New Roman"/>
                <a:cs typeface="Times New Roman"/>
                <a:sym typeface="Times New Roman"/>
              </a:defRPr>
            </a:pPr>
            <a:endParaRPr/>
          </a:p>
        </p:txBody>
      </p:sp>
      <p:sp>
        <p:nvSpPr>
          <p:cNvPr id="129" name="Titolo Testo"/>
          <p:cNvSpPr txBox="1">
            <a:spLocks noGrp="1"/>
          </p:cNvSpPr>
          <p:nvPr>
            <p:ph type="title"/>
          </p:nvPr>
        </p:nvSpPr>
        <p:spPr>
          <a:xfrm>
            <a:off x="0" y="0"/>
            <a:ext cx="9144000" cy="836613"/>
          </a:xfrm>
          <a:prstGeom prst="rect">
            <a:avLst/>
          </a:prstGeom>
          <a:solidFill>
            <a:schemeClr val="accent2">
              <a:alpha val="60000"/>
            </a:schemeClr>
          </a:solidFill>
        </p:spPr>
        <p:txBody>
          <a:bodyPr/>
          <a:lstStyle>
            <a:lvl1pPr>
              <a:defRPr sz="2400" b="1">
                <a:solidFill>
                  <a:srgbClr val="FFFFFF"/>
                </a:solidFill>
                <a:effectLst>
                  <a:outerShdw blurRad="38100" dist="38100" dir="2700000" rotWithShape="0">
                    <a:srgbClr val="000000"/>
                  </a:outerShdw>
                </a:effectLst>
                <a:latin typeface="+mn-lt"/>
                <a:ea typeface="+mn-ea"/>
                <a:cs typeface="+mn-cs"/>
                <a:sym typeface="Arial"/>
              </a:defRPr>
            </a:lvl1pPr>
          </a:lstStyle>
          <a:p>
            <a:r>
              <a:t>Titolo Testo</a:t>
            </a:r>
          </a:p>
        </p:txBody>
      </p:sp>
      <p:sp>
        <p:nvSpPr>
          <p:cNvPr id="130" name="Corpo livello uno…"/>
          <p:cNvSpPr txBox="1">
            <a:spLocks noGrp="1"/>
          </p:cNvSpPr>
          <p:nvPr>
            <p:ph type="body" sz="quarter" idx="1"/>
          </p:nvPr>
        </p:nvSpPr>
        <p:spPr>
          <a:xfrm>
            <a:off x="457200" y="1600200"/>
            <a:ext cx="4038600" cy="2185990"/>
          </a:xfrm>
          <a:prstGeom prst="rect">
            <a:avLst/>
          </a:prstGeom>
        </p:spPr>
        <p:txBody>
          <a:bodyPr/>
          <a:lstStyle>
            <a:lvl1pPr>
              <a:buFontTx/>
              <a:defRPr>
                <a:latin typeface="+mn-lt"/>
                <a:ea typeface="+mn-ea"/>
                <a:cs typeface="+mn-cs"/>
                <a:sym typeface="Arial"/>
              </a:defRPr>
            </a:lvl1pPr>
            <a:lvl2pPr>
              <a:buFontTx/>
              <a:defRPr>
                <a:latin typeface="+mn-lt"/>
                <a:ea typeface="+mn-ea"/>
                <a:cs typeface="+mn-cs"/>
                <a:sym typeface="Arial"/>
              </a:defRPr>
            </a:lvl2pPr>
            <a:lvl3pPr>
              <a:buFontTx/>
              <a:defRPr>
                <a:latin typeface="+mn-lt"/>
                <a:ea typeface="+mn-ea"/>
                <a:cs typeface="+mn-cs"/>
                <a:sym typeface="Arial"/>
              </a:defRPr>
            </a:lvl3pPr>
            <a:lvl4pPr>
              <a:buFontTx/>
              <a:defRPr>
                <a:latin typeface="+mn-lt"/>
                <a:ea typeface="+mn-ea"/>
                <a:cs typeface="+mn-cs"/>
                <a:sym typeface="Arial"/>
              </a:defRPr>
            </a:lvl4pPr>
            <a:lvl5pPr>
              <a:buFontTx/>
              <a:defRPr>
                <a:latin typeface="+mn-lt"/>
                <a:ea typeface="+mn-ea"/>
                <a:cs typeface="+mn-cs"/>
                <a:sym typeface="Aria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31" name="Numero diapositiva"/>
          <p:cNvSpPr txBox="1">
            <a:spLocks noGrp="1"/>
          </p:cNvSpPr>
          <p:nvPr>
            <p:ph type="sldNum" sz="quarter" idx="2"/>
          </p:nvPr>
        </p:nvSpPr>
        <p:spPr>
          <a:xfrm>
            <a:off x="8384895" y="6245225"/>
            <a:ext cx="301907" cy="288822"/>
          </a:xfrm>
          <a:prstGeom prst="rect">
            <a:avLst/>
          </a:prstGeom>
        </p:spPr>
        <p:txBody>
          <a:bodyPr anchor="t"/>
          <a:lstStyle>
            <a:lvl1pPr>
              <a:defRPr sz="1400" b="0">
                <a:solidFill>
                  <a:srgbClr val="000000"/>
                </a:solidFill>
                <a:latin typeface="+mn-lt"/>
                <a:ea typeface="+mn-ea"/>
                <a:cs typeface="+mn-cs"/>
                <a:sym typeface="Arial"/>
              </a:defRPr>
            </a:lvl1pPr>
          </a:lstStyle>
          <a:p>
            <a:fld id="{86CB4B4D-7CA3-9044-876B-883B54F8677D}" type="slidenum">
              <a:t>‹N›</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Diapositiva titolo">
    <p:spTree>
      <p:nvGrpSpPr>
        <p:cNvPr id="1" name=""/>
        <p:cNvGrpSpPr/>
        <p:nvPr/>
      </p:nvGrpSpPr>
      <p:grpSpPr>
        <a:xfrm>
          <a:off x="0" y="0"/>
          <a:ext cx="0" cy="0"/>
          <a:chOff x="0" y="0"/>
          <a:chExt cx="0" cy="0"/>
        </a:xfrm>
      </p:grpSpPr>
      <p:sp>
        <p:nvSpPr>
          <p:cNvPr id="138" name="Titolo Testo"/>
          <p:cNvSpPr txBox="1">
            <a:spLocks noGrp="1"/>
          </p:cNvSpPr>
          <p:nvPr>
            <p:ph type="title"/>
          </p:nvPr>
        </p:nvSpPr>
        <p:spPr>
          <a:xfrm>
            <a:off x="685800" y="2130425"/>
            <a:ext cx="7772400" cy="1470025"/>
          </a:xfrm>
          <a:prstGeom prst="rect">
            <a:avLst/>
          </a:prstGeom>
        </p:spPr>
        <p:txBody>
          <a:bodyPr/>
          <a:lstStyle/>
          <a:p>
            <a:r>
              <a:t>Titolo Testo</a:t>
            </a:r>
          </a:p>
        </p:txBody>
      </p:sp>
      <p:sp>
        <p:nvSpPr>
          <p:cNvPr id="139" name="Corpo livello uno…"/>
          <p:cNvSpPr txBox="1">
            <a:spLocks noGrp="1"/>
          </p:cNvSpPr>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0" algn="ctr">
              <a:buSzTx/>
              <a:buFontTx/>
              <a:buNone/>
              <a:defRPr>
                <a:solidFill>
                  <a:srgbClr val="888888"/>
                </a:solidFill>
              </a:defRPr>
            </a:lvl2pPr>
            <a:lvl3pPr marL="0" indent="0" algn="ctr">
              <a:buSzTx/>
              <a:buFontTx/>
              <a:buNone/>
              <a:defRPr>
                <a:solidFill>
                  <a:srgbClr val="888888"/>
                </a:solidFill>
              </a:defRPr>
            </a:lvl3pPr>
            <a:lvl4pPr marL="0" indent="0" algn="ctr">
              <a:buSzTx/>
              <a:buFontTx/>
              <a:buNone/>
              <a:defRPr>
                <a:solidFill>
                  <a:srgbClr val="888888"/>
                </a:solidFill>
              </a:defRPr>
            </a:lvl4pPr>
            <a:lvl5pPr marL="0" indent="0" algn="ctr">
              <a:buSzTx/>
              <a:buFontTx/>
              <a:buNone/>
              <a:defRPr>
                <a:solidFill>
                  <a:srgbClr val="888888"/>
                </a:solidFil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40"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Titolo e contenuto">
    <p:spTree>
      <p:nvGrpSpPr>
        <p:cNvPr id="1" name=""/>
        <p:cNvGrpSpPr/>
        <p:nvPr/>
      </p:nvGrpSpPr>
      <p:grpSpPr>
        <a:xfrm>
          <a:off x="0" y="0"/>
          <a:ext cx="0" cy="0"/>
          <a:chOff x="0" y="0"/>
          <a:chExt cx="0" cy="0"/>
        </a:xfrm>
      </p:grpSpPr>
      <p:sp>
        <p:nvSpPr>
          <p:cNvPr id="147" name="Titolo Testo"/>
          <p:cNvSpPr txBox="1">
            <a:spLocks noGrp="1"/>
          </p:cNvSpPr>
          <p:nvPr>
            <p:ph type="title"/>
          </p:nvPr>
        </p:nvSpPr>
        <p:spPr>
          <a:prstGeom prst="rect">
            <a:avLst/>
          </a:prstGeom>
        </p:spPr>
        <p:txBody>
          <a:bodyPr/>
          <a:lstStyle/>
          <a:p>
            <a:r>
              <a:t>Titolo Testo</a:t>
            </a:r>
          </a:p>
        </p:txBody>
      </p:sp>
      <p:sp>
        <p:nvSpPr>
          <p:cNvPr id="148" name="Corpo livello uno…"/>
          <p:cNvSpPr txBox="1">
            <a:spLocks noGrp="1"/>
          </p:cNvSpPr>
          <p:nvPr>
            <p:ph type="body" idx="1"/>
          </p:nvPr>
        </p:nvSpPr>
        <p:spPr>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149"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Intestazione sezione">
    <p:spTree>
      <p:nvGrpSpPr>
        <p:cNvPr id="1" name=""/>
        <p:cNvGrpSpPr/>
        <p:nvPr/>
      </p:nvGrpSpPr>
      <p:grpSpPr>
        <a:xfrm>
          <a:off x="0" y="0"/>
          <a:ext cx="0" cy="0"/>
          <a:chOff x="0" y="0"/>
          <a:chExt cx="0" cy="0"/>
        </a:xfrm>
      </p:grpSpPr>
      <p:sp>
        <p:nvSpPr>
          <p:cNvPr id="156" name="Titolo Testo"/>
          <p:cNvSpPr txBox="1">
            <a:spLocks noGrp="1"/>
          </p:cNvSpPr>
          <p:nvPr>
            <p:ph type="title"/>
          </p:nvPr>
        </p:nvSpPr>
        <p:spPr>
          <a:xfrm>
            <a:off x="722312" y="4406900"/>
            <a:ext cx="7772401" cy="1362075"/>
          </a:xfrm>
          <a:prstGeom prst="rect">
            <a:avLst/>
          </a:prstGeom>
        </p:spPr>
        <p:txBody>
          <a:bodyPr anchor="t"/>
          <a:lstStyle>
            <a:lvl1pPr algn="l">
              <a:defRPr sz="4000" b="1" cap="all"/>
            </a:lvl1pPr>
          </a:lstStyle>
          <a:p>
            <a:r>
              <a:t>Titolo Testo</a:t>
            </a:r>
          </a:p>
        </p:txBody>
      </p:sp>
      <p:sp>
        <p:nvSpPr>
          <p:cNvPr id="157" name="Corpo livello uno…"/>
          <p:cNvSpPr txBox="1">
            <a:spLocks noGrp="1"/>
          </p:cNvSpPr>
          <p:nvPr>
            <p:ph type="body" sz="quarter" idx="1"/>
          </p:nvPr>
        </p:nvSpPr>
        <p:spPr>
          <a:xfrm>
            <a:off x="722312" y="2906713"/>
            <a:ext cx="7772401" cy="1500189"/>
          </a:xfrm>
          <a:prstGeom prst="rect">
            <a:avLst/>
          </a:prstGeom>
        </p:spPr>
        <p:txBody>
          <a:bodyPr anchor="b"/>
          <a:lstStyle>
            <a:lvl1pPr marL="0" indent="0">
              <a:spcBef>
                <a:spcPts val="400"/>
              </a:spcBef>
              <a:buSzTx/>
              <a:buFontTx/>
              <a:buNone/>
              <a:defRPr sz="2000">
                <a:solidFill>
                  <a:srgbClr val="888888"/>
                </a:solidFill>
              </a:defRPr>
            </a:lvl1pPr>
            <a:lvl2pPr marL="0" indent="0">
              <a:spcBef>
                <a:spcPts val="400"/>
              </a:spcBef>
              <a:buSzTx/>
              <a:buFontTx/>
              <a:buNone/>
              <a:defRPr sz="2000">
                <a:solidFill>
                  <a:srgbClr val="888888"/>
                </a:solidFill>
              </a:defRPr>
            </a:lvl2pPr>
            <a:lvl3pPr marL="0" indent="0">
              <a:spcBef>
                <a:spcPts val="400"/>
              </a:spcBef>
              <a:buSzTx/>
              <a:buFontTx/>
              <a:buNone/>
              <a:defRPr sz="2000">
                <a:solidFill>
                  <a:srgbClr val="888888"/>
                </a:solidFill>
              </a:defRPr>
            </a:lvl3pPr>
            <a:lvl4pPr marL="0" indent="0">
              <a:spcBef>
                <a:spcPts val="400"/>
              </a:spcBef>
              <a:buSzTx/>
              <a:buFontTx/>
              <a:buNone/>
              <a:defRPr sz="2000">
                <a:solidFill>
                  <a:srgbClr val="888888"/>
                </a:solidFill>
              </a:defRPr>
            </a:lvl4pPr>
            <a:lvl5pPr marL="0" indent="0">
              <a:spcBef>
                <a:spcPts val="400"/>
              </a:spcBef>
              <a:buSzTx/>
              <a:buFontTx/>
              <a:buNone/>
              <a:defRPr sz="2000">
                <a:solidFill>
                  <a:srgbClr val="888888"/>
                </a:solidFill>
              </a:defRPr>
            </a:lvl5pPr>
          </a:lstStyle>
          <a:p>
            <a:r>
              <a:t>Corpo livello uno</a:t>
            </a:r>
          </a:p>
          <a:p>
            <a:pPr lvl="1"/>
            <a:r>
              <a:t>Corpo livello due</a:t>
            </a:r>
          </a:p>
          <a:p>
            <a:pPr lvl="2"/>
            <a:r>
              <a:t>Corpo livello tre</a:t>
            </a:r>
          </a:p>
          <a:p>
            <a:pPr lvl="3"/>
            <a:r>
              <a:t>Corpo livello quattro</a:t>
            </a:r>
          </a:p>
          <a:p>
            <a:pPr lvl="4"/>
            <a:r>
              <a:t>Corpo livello cinque</a:t>
            </a:r>
          </a:p>
        </p:txBody>
      </p:sp>
      <p:sp>
        <p:nvSpPr>
          <p:cNvPr id="158"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Due contenuti">
    <p:spTree>
      <p:nvGrpSpPr>
        <p:cNvPr id="1" name=""/>
        <p:cNvGrpSpPr/>
        <p:nvPr/>
      </p:nvGrpSpPr>
      <p:grpSpPr>
        <a:xfrm>
          <a:off x="0" y="0"/>
          <a:ext cx="0" cy="0"/>
          <a:chOff x="0" y="0"/>
          <a:chExt cx="0" cy="0"/>
        </a:xfrm>
      </p:grpSpPr>
      <p:sp>
        <p:nvSpPr>
          <p:cNvPr id="165" name="Titolo Testo"/>
          <p:cNvSpPr txBox="1">
            <a:spLocks noGrp="1"/>
          </p:cNvSpPr>
          <p:nvPr>
            <p:ph type="title"/>
          </p:nvPr>
        </p:nvSpPr>
        <p:spPr>
          <a:prstGeom prst="rect">
            <a:avLst/>
          </a:prstGeom>
        </p:spPr>
        <p:txBody>
          <a:bodyPr/>
          <a:lstStyle/>
          <a:p>
            <a:r>
              <a:t>Titolo Testo</a:t>
            </a:r>
          </a:p>
        </p:txBody>
      </p:sp>
      <p:sp>
        <p:nvSpPr>
          <p:cNvPr id="166" name="Corpo livello uno…"/>
          <p:cNvSpPr txBox="1">
            <a:spLocks noGrp="1"/>
          </p:cNvSpPr>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8" indent="-320038">
              <a:spcBef>
                <a:spcPts val="600"/>
              </a:spcBef>
              <a:defRPr sz="2800"/>
            </a:lvl3pPr>
            <a:lvl4pPr marL="1727200" indent="-355600">
              <a:spcBef>
                <a:spcPts val="600"/>
              </a:spcBef>
              <a:defRPr sz="2800"/>
            </a:lvl4pPr>
            <a:lvl5pPr marL="2184400" indent="-355600">
              <a:spcBef>
                <a:spcPts val="600"/>
              </a:spcBef>
              <a:defRPr sz="2800"/>
            </a:lvl5pPr>
          </a:lstStyle>
          <a:p>
            <a:r>
              <a:t>Corpo livello uno</a:t>
            </a:r>
          </a:p>
          <a:p>
            <a:pPr lvl="1"/>
            <a:r>
              <a:t>Corpo livello due</a:t>
            </a:r>
          </a:p>
          <a:p>
            <a:pPr lvl="2"/>
            <a:r>
              <a:t>Corpo livello tre</a:t>
            </a:r>
          </a:p>
          <a:p>
            <a:pPr lvl="3"/>
            <a:r>
              <a:t>Corpo livello quattro</a:t>
            </a:r>
          </a:p>
          <a:p>
            <a:pPr lvl="4"/>
            <a:r>
              <a:t>Corpo livello cinque</a:t>
            </a:r>
          </a:p>
        </p:txBody>
      </p:sp>
      <p:sp>
        <p:nvSpPr>
          <p:cNvPr id="167"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Confronto">
    <p:spTree>
      <p:nvGrpSpPr>
        <p:cNvPr id="1" name=""/>
        <p:cNvGrpSpPr/>
        <p:nvPr/>
      </p:nvGrpSpPr>
      <p:grpSpPr>
        <a:xfrm>
          <a:off x="0" y="0"/>
          <a:ext cx="0" cy="0"/>
          <a:chOff x="0" y="0"/>
          <a:chExt cx="0" cy="0"/>
        </a:xfrm>
      </p:grpSpPr>
      <p:sp>
        <p:nvSpPr>
          <p:cNvPr id="174" name="Titolo Testo"/>
          <p:cNvSpPr txBox="1">
            <a:spLocks noGrp="1"/>
          </p:cNvSpPr>
          <p:nvPr>
            <p:ph type="title"/>
          </p:nvPr>
        </p:nvSpPr>
        <p:spPr>
          <a:prstGeom prst="rect">
            <a:avLst/>
          </a:prstGeom>
        </p:spPr>
        <p:txBody>
          <a:bodyPr/>
          <a:lstStyle/>
          <a:p>
            <a:r>
              <a:t>Titolo Testo</a:t>
            </a:r>
          </a:p>
        </p:txBody>
      </p:sp>
      <p:sp>
        <p:nvSpPr>
          <p:cNvPr id="175" name="Corpo livello uno…"/>
          <p:cNvSpPr txBox="1">
            <a:spLocks noGrp="1"/>
          </p:cNvSpPr>
          <p:nvPr>
            <p:ph type="body" sz="quarter" idx="1"/>
          </p:nvPr>
        </p:nvSpPr>
        <p:spPr>
          <a:xfrm>
            <a:off x="457200" y="1535112"/>
            <a:ext cx="4040188" cy="639763"/>
          </a:xfrm>
          <a:prstGeom prst="rect">
            <a:avLst/>
          </a:prstGeom>
        </p:spPr>
        <p:txBody>
          <a:bodyPr anchor="b"/>
          <a:lstStyle>
            <a:lvl1pPr marL="0" indent="0">
              <a:spcBef>
                <a:spcPts val="500"/>
              </a:spcBef>
              <a:buSzTx/>
              <a:buFontTx/>
              <a:buNone/>
              <a:defRPr sz="2400" b="1"/>
            </a:lvl1pPr>
            <a:lvl2pPr marL="0" indent="0">
              <a:spcBef>
                <a:spcPts val="500"/>
              </a:spcBef>
              <a:buSzTx/>
              <a:buFontTx/>
              <a:buNone/>
              <a:defRPr sz="2400" b="1"/>
            </a:lvl2pPr>
            <a:lvl3pPr marL="0" indent="0">
              <a:spcBef>
                <a:spcPts val="500"/>
              </a:spcBef>
              <a:buSzTx/>
              <a:buFontTx/>
              <a:buNone/>
              <a:defRPr sz="2400" b="1"/>
            </a:lvl3pPr>
            <a:lvl4pPr marL="0" indent="0">
              <a:spcBef>
                <a:spcPts val="500"/>
              </a:spcBef>
              <a:buSzTx/>
              <a:buFontTx/>
              <a:buNone/>
              <a:defRPr sz="2400" b="1"/>
            </a:lvl4pPr>
            <a:lvl5pPr marL="0" indent="0">
              <a:spcBef>
                <a:spcPts val="500"/>
              </a:spcBef>
              <a:buSzTx/>
              <a:buFontTx/>
              <a:buNone/>
              <a:defRPr sz="2400" b="1"/>
            </a:lvl5pPr>
          </a:lstStyle>
          <a:p>
            <a:r>
              <a:t>Corpo livello uno</a:t>
            </a:r>
          </a:p>
          <a:p>
            <a:pPr lvl="1"/>
            <a:r>
              <a:t>Corpo livello due</a:t>
            </a:r>
          </a:p>
          <a:p>
            <a:pPr lvl="2"/>
            <a:r>
              <a:t>Corpo livello tre</a:t>
            </a:r>
          </a:p>
          <a:p>
            <a:pPr lvl="3"/>
            <a:r>
              <a:t>Corpo livello quattro</a:t>
            </a:r>
          </a:p>
          <a:p>
            <a:pPr lvl="4"/>
            <a:r>
              <a:t>Corpo livello cinque</a:t>
            </a:r>
          </a:p>
        </p:txBody>
      </p:sp>
      <p:sp>
        <p:nvSpPr>
          <p:cNvPr id="176" name="Segnaposto testo 4"/>
          <p:cNvSpPr>
            <a:spLocks noGrp="1"/>
          </p:cNvSpPr>
          <p:nvPr>
            <p:ph type="body" sz="quarter" idx="21"/>
          </p:nvPr>
        </p:nvSpPr>
        <p:spPr>
          <a:xfrm>
            <a:off x="4645025" y="1535111"/>
            <a:ext cx="4041775" cy="639765"/>
          </a:xfrm>
          <a:prstGeom prst="rect">
            <a:avLst/>
          </a:prstGeom>
        </p:spPr>
        <p:txBody>
          <a:bodyPr anchor="b"/>
          <a:lstStyle/>
          <a:p>
            <a:pPr>
              <a:buFontTx/>
              <a:defRPr>
                <a:latin typeface="+mn-lt"/>
                <a:ea typeface="+mn-ea"/>
                <a:cs typeface="+mn-cs"/>
                <a:sym typeface="Arial"/>
              </a:defRPr>
            </a:pPr>
            <a:endParaRPr/>
          </a:p>
        </p:txBody>
      </p:sp>
      <p:sp>
        <p:nvSpPr>
          <p:cNvPr id="177"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Solo titolo">
    <p:spTree>
      <p:nvGrpSpPr>
        <p:cNvPr id="1" name=""/>
        <p:cNvGrpSpPr/>
        <p:nvPr/>
      </p:nvGrpSpPr>
      <p:grpSpPr>
        <a:xfrm>
          <a:off x="0" y="0"/>
          <a:ext cx="0" cy="0"/>
          <a:chOff x="0" y="0"/>
          <a:chExt cx="0" cy="0"/>
        </a:xfrm>
      </p:grpSpPr>
      <p:sp>
        <p:nvSpPr>
          <p:cNvPr id="184" name="Titolo Testo"/>
          <p:cNvSpPr txBox="1">
            <a:spLocks noGrp="1"/>
          </p:cNvSpPr>
          <p:nvPr>
            <p:ph type="title"/>
          </p:nvPr>
        </p:nvSpPr>
        <p:spPr>
          <a:prstGeom prst="rect">
            <a:avLst/>
          </a:prstGeom>
        </p:spPr>
        <p:txBody>
          <a:bodyPr/>
          <a:lstStyle/>
          <a:p>
            <a:r>
              <a:t>Titolo Testo</a:t>
            </a:r>
          </a:p>
        </p:txBody>
      </p:sp>
      <p:sp>
        <p:nvSpPr>
          <p:cNvPr id="185"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Vuota">
    <p:spTree>
      <p:nvGrpSpPr>
        <p:cNvPr id="1" name=""/>
        <p:cNvGrpSpPr/>
        <p:nvPr/>
      </p:nvGrpSpPr>
      <p:grpSpPr>
        <a:xfrm>
          <a:off x="0" y="0"/>
          <a:ext cx="0" cy="0"/>
          <a:chOff x="0" y="0"/>
          <a:chExt cx="0" cy="0"/>
        </a:xfrm>
      </p:grpSpPr>
      <p:sp>
        <p:nvSpPr>
          <p:cNvPr id="192"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Contenuto con didascalia">
    <p:spTree>
      <p:nvGrpSpPr>
        <p:cNvPr id="1" name=""/>
        <p:cNvGrpSpPr/>
        <p:nvPr/>
      </p:nvGrpSpPr>
      <p:grpSpPr>
        <a:xfrm>
          <a:off x="0" y="0"/>
          <a:ext cx="0" cy="0"/>
          <a:chOff x="0" y="0"/>
          <a:chExt cx="0" cy="0"/>
        </a:xfrm>
      </p:grpSpPr>
      <p:sp>
        <p:nvSpPr>
          <p:cNvPr id="199" name="Titolo Testo"/>
          <p:cNvSpPr txBox="1">
            <a:spLocks noGrp="1"/>
          </p:cNvSpPr>
          <p:nvPr>
            <p:ph type="title"/>
          </p:nvPr>
        </p:nvSpPr>
        <p:spPr>
          <a:xfrm>
            <a:off x="457200" y="273050"/>
            <a:ext cx="3008315" cy="1162050"/>
          </a:xfrm>
          <a:prstGeom prst="rect">
            <a:avLst/>
          </a:prstGeom>
        </p:spPr>
        <p:txBody>
          <a:bodyPr anchor="b"/>
          <a:lstStyle>
            <a:lvl1pPr algn="l">
              <a:defRPr sz="2000" b="1"/>
            </a:lvl1pPr>
          </a:lstStyle>
          <a:p>
            <a:r>
              <a:t>Titolo Testo</a:t>
            </a:r>
          </a:p>
        </p:txBody>
      </p:sp>
      <p:sp>
        <p:nvSpPr>
          <p:cNvPr id="200" name="Corpo livello uno…"/>
          <p:cNvSpPr txBox="1">
            <a:spLocks noGrp="1"/>
          </p:cNvSpPr>
          <p:nvPr>
            <p:ph type="body" idx="1"/>
          </p:nvPr>
        </p:nvSpPr>
        <p:spPr>
          <a:xfrm>
            <a:off x="3575050" y="273050"/>
            <a:ext cx="5111750" cy="5853113"/>
          </a:xfrm>
          <a:prstGeom prst="rect">
            <a:avLst/>
          </a:prstGeom>
        </p:spPr>
        <p:txBody>
          <a:bodyPr/>
          <a:lstStyle/>
          <a:p>
            <a:r>
              <a:t>Corpo livello uno</a:t>
            </a:r>
          </a:p>
          <a:p>
            <a:pPr lvl="1"/>
            <a:r>
              <a:t>Corpo livello due</a:t>
            </a:r>
          </a:p>
          <a:p>
            <a:pPr lvl="2"/>
            <a:r>
              <a:t>Corpo livello tre</a:t>
            </a:r>
          </a:p>
          <a:p>
            <a:pPr lvl="3"/>
            <a:r>
              <a:t>Corpo livello quattro</a:t>
            </a:r>
          </a:p>
          <a:p>
            <a:pPr lvl="4"/>
            <a:r>
              <a:t>Corpo livello cinque</a:t>
            </a:r>
          </a:p>
        </p:txBody>
      </p:sp>
      <p:sp>
        <p:nvSpPr>
          <p:cNvPr id="201" name="Segnaposto testo 3"/>
          <p:cNvSpPr>
            <a:spLocks noGrp="1"/>
          </p:cNvSpPr>
          <p:nvPr>
            <p:ph type="body" sz="half" idx="21"/>
          </p:nvPr>
        </p:nvSpPr>
        <p:spPr>
          <a:xfrm>
            <a:off x="457198" y="1435100"/>
            <a:ext cx="3008316" cy="4691063"/>
          </a:xfrm>
          <a:prstGeom prst="rect">
            <a:avLst/>
          </a:prstGeom>
        </p:spPr>
        <p:txBody>
          <a:bodyPr/>
          <a:lstStyle/>
          <a:p>
            <a:pPr>
              <a:buFontTx/>
              <a:defRPr>
                <a:latin typeface="+mn-lt"/>
                <a:ea typeface="+mn-ea"/>
                <a:cs typeface="+mn-cs"/>
                <a:sym typeface="Arial"/>
              </a:defRPr>
            </a:pPr>
            <a:endParaRPr/>
          </a:p>
        </p:txBody>
      </p:sp>
      <p:sp>
        <p:nvSpPr>
          <p:cNvPr id="202"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Immagine con didascalia">
    <p:spTree>
      <p:nvGrpSpPr>
        <p:cNvPr id="1" name=""/>
        <p:cNvGrpSpPr/>
        <p:nvPr/>
      </p:nvGrpSpPr>
      <p:grpSpPr>
        <a:xfrm>
          <a:off x="0" y="0"/>
          <a:ext cx="0" cy="0"/>
          <a:chOff x="0" y="0"/>
          <a:chExt cx="0" cy="0"/>
        </a:xfrm>
      </p:grpSpPr>
      <p:sp>
        <p:nvSpPr>
          <p:cNvPr id="209" name="Titolo Testo"/>
          <p:cNvSpPr txBox="1">
            <a:spLocks noGrp="1"/>
          </p:cNvSpPr>
          <p:nvPr>
            <p:ph type="title"/>
          </p:nvPr>
        </p:nvSpPr>
        <p:spPr>
          <a:xfrm>
            <a:off x="1792288" y="4800600"/>
            <a:ext cx="5486402" cy="566738"/>
          </a:xfrm>
          <a:prstGeom prst="rect">
            <a:avLst/>
          </a:prstGeom>
        </p:spPr>
        <p:txBody>
          <a:bodyPr anchor="b"/>
          <a:lstStyle>
            <a:lvl1pPr algn="l">
              <a:defRPr sz="2000" b="1"/>
            </a:lvl1pPr>
          </a:lstStyle>
          <a:p>
            <a:r>
              <a:t>Titolo Testo</a:t>
            </a:r>
          </a:p>
        </p:txBody>
      </p:sp>
      <p:sp>
        <p:nvSpPr>
          <p:cNvPr id="210" name="Segnaposto immagine 2"/>
          <p:cNvSpPr>
            <a:spLocks noGrp="1"/>
          </p:cNvSpPr>
          <p:nvPr>
            <p:ph type="pic" sz="half" idx="21"/>
          </p:nvPr>
        </p:nvSpPr>
        <p:spPr>
          <a:xfrm>
            <a:off x="1792288" y="612775"/>
            <a:ext cx="5486402" cy="4114800"/>
          </a:xfrm>
          <a:prstGeom prst="rect">
            <a:avLst/>
          </a:prstGeom>
        </p:spPr>
        <p:txBody>
          <a:bodyPr lIns="91439" tIns="45719" rIns="91439" bIns="45719">
            <a:noAutofit/>
          </a:bodyPr>
          <a:lstStyle/>
          <a:p>
            <a:endParaRPr/>
          </a:p>
        </p:txBody>
      </p:sp>
      <p:sp>
        <p:nvSpPr>
          <p:cNvPr id="211" name="Corpo livello uno…"/>
          <p:cNvSpPr txBox="1">
            <a:spLocks noGrp="1"/>
          </p:cNvSpPr>
          <p:nvPr>
            <p:ph type="body" sz="quarter" idx="1"/>
          </p:nvPr>
        </p:nvSpPr>
        <p:spPr>
          <a:xfrm>
            <a:off x="1792288" y="5367337"/>
            <a:ext cx="5486402" cy="804864"/>
          </a:xfrm>
          <a:prstGeom prst="rect">
            <a:avLst/>
          </a:prstGeom>
        </p:spPr>
        <p:txBody>
          <a:bodyPr/>
          <a:lstStyle>
            <a:lvl1pPr marL="0" indent="0">
              <a:spcBef>
                <a:spcPts val="300"/>
              </a:spcBef>
              <a:buSzTx/>
              <a:buFontTx/>
              <a:buNone/>
              <a:defRPr sz="1400"/>
            </a:lvl1pPr>
            <a:lvl2pPr marL="0" indent="0">
              <a:spcBef>
                <a:spcPts val="300"/>
              </a:spcBef>
              <a:buSzTx/>
              <a:buFontTx/>
              <a:buNone/>
              <a:defRPr sz="1400"/>
            </a:lvl2pPr>
            <a:lvl3pPr marL="0" indent="0">
              <a:spcBef>
                <a:spcPts val="300"/>
              </a:spcBef>
              <a:buSzTx/>
              <a:buFontTx/>
              <a:buNone/>
              <a:defRPr sz="1400"/>
            </a:lvl3pPr>
            <a:lvl4pPr marL="0" indent="0">
              <a:spcBef>
                <a:spcPts val="300"/>
              </a:spcBef>
              <a:buSzTx/>
              <a:buFontTx/>
              <a:buNone/>
              <a:defRPr sz="1400"/>
            </a:lvl4pPr>
            <a:lvl5pPr marL="0" indent="0">
              <a:spcBef>
                <a:spcPts val="300"/>
              </a:spcBef>
              <a:buSzTx/>
              <a:buFontTx/>
              <a:buNone/>
              <a:defRPr sz="1400"/>
            </a:lvl5pPr>
          </a:lstStyle>
          <a:p>
            <a:r>
              <a:t>Corpo livello uno</a:t>
            </a:r>
          </a:p>
          <a:p>
            <a:pPr lvl="1"/>
            <a:r>
              <a:t>Corpo livello due</a:t>
            </a:r>
          </a:p>
          <a:p>
            <a:pPr lvl="2"/>
            <a:r>
              <a:t>Corpo livello tre</a:t>
            </a:r>
          </a:p>
          <a:p>
            <a:pPr lvl="3"/>
            <a:r>
              <a:t>Corpo livello quattro</a:t>
            </a:r>
          </a:p>
          <a:p>
            <a:pPr lvl="4"/>
            <a:r>
              <a:t>Corpo livello cinque</a:t>
            </a:r>
          </a:p>
        </p:txBody>
      </p:sp>
      <p:sp>
        <p:nvSpPr>
          <p:cNvPr id="212" name="Numero diapositiva"/>
          <p:cNvSpPr txBox="1">
            <a:spLocks noGrp="1"/>
          </p:cNvSpPr>
          <p:nvPr>
            <p:ph type="sldNum" sz="quarter" idx="2"/>
          </p:nvPr>
        </p:nvSpPr>
        <p:spPr>
          <a:prstGeom prst="rect">
            <a:avLst/>
          </a:prstGeom>
        </p:spPr>
        <p:txBody>
          <a:bodyPr/>
          <a:lstStyle/>
          <a:p>
            <a:fld id="{86CB4B4D-7CA3-9044-876B-883B54F8677D}" type="slidenum">
              <a:t>‹N›</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jpe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24"/>
          <a:srcRect/>
          <a:stretch>
            <a:fillRect/>
          </a:stretch>
        </a:blipFill>
        <a:effectLst/>
      </p:bgPr>
    </p:bg>
    <p:spTree>
      <p:nvGrpSpPr>
        <p:cNvPr id="1" name=""/>
        <p:cNvGrpSpPr/>
        <p:nvPr/>
      </p:nvGrpSpPr>
      <p:grpSpPr>
        <a:xfrm>
          <a:off x="0" y="0"/>
          <a:ext cx="0" cy="0"/>
          <a:chOff x="0" y="0"/>
          <a:chExt cx="0" cy="0"/>
        </a:xfrm>
      </p:grpSpPr>
      <p:sp>
        <p:nvSpPr>
          <p:cNvPr id="2" name="Titolo Testo"/>
          <p:cNvSpPr txBox="1">
            <a:spLocks noGrp="1"/>
          </p:cNvSpPr>
          <p:nvPr>
            <p:ph type="title"/>
          </p:nvPr>
        </p:nvSpPr>
        <p:spPr>
          <a:xfrm>
            <a:off x="457200" y="274638"/>
            <a:ext cx="8229600" cy="11430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chor="ctr">
            <a:normAutofit/>
          </a:bodyPr>
          <a:lstStyle/>
          <a:p>
            <a:r>
              <a:t>Titolo Testo</a:t>
            </a:r>
          </a:p>
        </p:txBody>
      </p:sp>
      <p:sp>
        <p:nvSpPr>
          <p:cNvPr id="3" name="Corpo livello uno…"/>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normAutofit/>
          </a:bodyPr>
          <a:lstStyle/>
          <a:p>
            <a:r>
              <a:t>Corpo livello uno</a:t>
            </a:r>
          </a:p>
          <a:p>
            <a:pPr lvl="1"/>
            <a:r>
              <a:t>Corpo livello due</a:t>
            </a:r>
          </a:p>
          <a:p>
            <a:pPr lvl="2"/>
            <a:r>
              <a:t>Corpo livello tre</a:t>
            </a:r>
          </a:p>
          <a:p>
            <a:pPr lvl="3"/>
            <a:r>
              <a:t>Corpo livello quattro</a:t>
            </a:r>
          </a:p>
          <a:p>
            <a:pPr lvl="4"/>
            <a:r>
              <a:t>Corpo livello cinque</a:t>
            </a:r>
          </a:p>
        </p:txBody>
      </p:sp>
      <p:sp>
        <p:nvSpPr>
          <p:cNvPr id="4" name="Numero diapositiva"/>
          <p:cNvSpPr txBox="1">
            <a:spLocks noGrp="1"/>
          </p:cNvSpPr>
          <p:nvPr>
            <p:ph type="sldNum" sz="quarter" idx="2"/>
          </p:nvPr>
        </p:nvSpPr>
        <p:spPr>
          <a:xfrm>
            <a:off x="8430262" y="6401180"/>
            <a:ext cx="256539" cy="275465"/>
          </a:xfrm>
          <a:prstGeom prst="rect">
            <a:avLst/>
          </a:prstGeom>
          <a:ln w="12700">
            <a:miter lim="400000"/>
          </a:ln>
        </p:spPr>
        <p:txBody>
          <a:bodyPr wrap="none" lIns="45718" tIns="45718" rIns="45718" bIns="45718" anchor="ctr">
            <a:spAutoFit/>
          </a:bodyPr>
          <a:lstStyle>
            <a:lvl1pPr algn="r">
              <a:defRPr sz="1200">
                <a:solidFill>
                  <a:srgbClr val="888888"/>
                </a:solidFill>
                <a:latin typeface="Times New Roman"/>
                <a:ea typeface="Times New Roman"/>
                <a:cs typeface="Times New Roman"/>
                <a:sym typeface="Times New Roman"/>
              </a:defRPr>
            </a:lvl1pPr>
          </a:lstStyle>
          <a:p>
            <a:fld id="{86CB4B4D-7CA3-9044-876B-883B54F8677D}" type="slidenum">
              <a:t>‹N›</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transition spd="med"/>
  <p:txStyles>
    <p:titleStyle>
      <a:lvl1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1pPr>
      <a:lvl2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2pPr>
      <a:lvl3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3pPr>
      <a:lvl4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4pPr>
      <a:lvl5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5pPr>
      <a:lvl6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6pPr>
      <a:lvl7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7pPr>
      <a:lvl8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8pPr>
      <a:lvl9pPr marL="0" marR="0" indent="0" algn="ctr" defTabSz="914400" rtl="0" latinLnBrk="0">
        <a:lnSpc>
          <a:spcPct val="100000"/>
        </a:lnSpc>
        <a:spcBef>
          <a:spcPts val="0"/>
        </a:spcBef>
        <a:spcAft>
          <a:spcPts val="0"/>
        </a:spcAft>
        <a:buClrTx/>
        <a:buSzTx/>
        <a:buFontTx/>
        <a:buNone/>
        <a:tabLst/>
        <a:defRPr sz="4400" b="0" i="0" u="none" strike="noStrike" cap="none" spc="0" baseline="0">
          <a:solidFill>
            <a:srgbClr val="000000"/>
          </a:solidFill>
          <a:uFillTx/>
          <a:latin typeface="Calibri"/>
          <a:ea typeface="Calibri"/>
          <a:cs typeface="Calibri"/>
          <a:sym typeface="Calibri"/>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Calibri"/>
          <a:ea typeface="Calibri"/>
          <a:cs typeface="Calibri"/>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Calibri"/>
          <a:ea typeface="Calibri"/>
          <a:cs typeface="Calibri"/>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Calibri"/>
          <a:ea typeface="Calibri"/>
          <a:cs typeface="Calibri"/>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Calibri"/>
          <a:ea typeface="Calibri"/>
          <a:cs typeface="Calibri"/>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Calibri"/>
          <a:ea typeface="Calibri"/>
          <a:cs typeface="Calibri"/>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Calibri"/>
          <a:ea typeface="Calibri"/>
          <a:cs typeface="Calibri"/>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Calibri"/>
          <a:ea typeface="Calibri"/>
          <a:cs typeface="Calibri"/>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Calibri"/>
          <a:ea typeface="Calibri"/>
          <a:cs typeface="Calibri"/>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Times New Roman"/>
        </a:defRPr>
      </a:lvl1pPr>
      <a:lvl2pPr marL="0" marR="0" indent="0" algn="r"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Times New Roman"/>
        </a:defRPr>
      </a:lvl2pPr>
      <a:lvl3pPr marL="0" marR="0" indent="0" algn="r"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Times New Roman"/>
        </a:defRPr>
      </a:lvl3pPr>
      <a:lvl4pPr marL="0" marR="0" indent="0" algn="r"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Times New Roman"/>
        </a:defRPr>
      </a:lvl4pPr>
      <a:lvl5pPr marL="0" marR="0" indent="0" algn="r"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Times New Roman"/>
        </a:defRPr>
      </a:lvl5pPr>
      <a:lvl6pPr marL="0" marR="0" indent="0" algn="r"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Times New Roman"/>
        </a:defRPr>
      </a:lvl6pPr>
      <a:lvl7pPr marL="0" marR="0" indent="0" algn="r"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Times New Roman"/>
        </a:defRPr>
      </a:lvl7pPr>
      <a:lvl8pPr marL="0" marR="0" indent="0" algn="r"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Times New Roman"/>
        </a:defRPr>
      </a:lvl8pPr>
      <a:lvl9pPr marL="0" marR="0" indent="0" algn="r" defTabSz="914400" rtl="0" latinLnBrk="0">
        <a:lnSpc>
          <a:spcPct val="100000"/>
        </a:lnSpc>
        <a:spcBef>
          <a:spcPts val="0"/>
        </a:spcBef>
        <a:spcAft>
          <a:spcPts val="0"/>
        </a:spcAft>
        <a:buClrTx/>
        <a:buSzTx/>
        <a:buFontTx/>
        <a:buNone/>
        <a:tabLst/>
        <a:defRPr sz="1200" b="1" i="0" u="none" strike="noStrike" cap="none" spc="0" baseline="0">
          <a:solidFill>
            <a:schemeClr val="tx1"/>
          </a:solidFill>
          <a:uFillTx/>
          <a:latin typeface="+mn-lt"/>
          <a:ea typeface="+mn-ea"/>
          <a:cs typeface="+mn-cs"/>
          <a:sym typeface="Times New Roman"/>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0.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www.brocardi.it/dizionario/3356.html" TargetMode="External"/><Relationship Id="rId1" Type="http://schemas.openxmlformats.org/officeDocument/2006/relationships/slideLayout" Target="../slideLayouts/slideLayout15.xml"/></Relationships>
</file>

<file path=ppt/slides/_rels/slide6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6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7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7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1" name="Immagine 1" descr="Immagine 1"/>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22" name="Text Box 4"/>
          <p:cNvSpPr txBox="1"/>
          <p:nvPr/>
        </p:nvSpPr>
        <p:spPr>
          <a:xfrm>
            <a:off x="45719" y="1723588"/>
            <a:ext cx="9052561" cy="11836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ctr">
              <a:lnSpc>
                <a:spcPct val="85000"/>
              </a:lnSpc>
              <a:spcBef>
                <a:spcPts val="4300"/>
              </a:spcBef>
              <a:defRPr sz="7200" i="1">
                <a:solidFill>
                  <a:srgbClr val="C00000"/>
                </a:solidFill>
                <a:latin typeface="Book Antiqua"/>
                <a:ea typeface="Book Antiqua"/>
                <a:cs typeface="Book Antiqua"/>
                <a:sym typeface="Book Antiqua"/>
              </a:defRPr>
            </a:lvl1pPr>
          </a:lstStyle>
          <a:p>
            <a:r>
              <a:t>Diritto Penale</a:t>
            </a:r>
          </a:p>
        </p:txBody>
      </p:sp>
      <p:sp>
        <p:nvSpPr>
          <p:cNvPr id="223" name="Text Box 4"/>
          <p:cNvSpPr txBox="1"/>
          <p:nvPr/>
        </p:nvSpPr>
        <p:spPr>
          <a:xfrm>
            <a:off x="174876" y="6303649"/>
            <a:ext cx="4783452" cy="33181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nSpc>
                <a:spcPct val="85000"/>
              </a:lnSpc>
              <a:spcBef>
                <a:spcPts val="1000"/>
              </a:spcBef>
              <a:defRPr sz="1800" b="0">
                <a:latin typeface="Book Antiqua"/>
                <a:ea typeface="Book Antiqua"/>
                <a:cs typeface="Book Antiqua"/>
                <a:sym typeface="Book Antiqua"/>
              </a:defRPr>
            </a:lvl1pPr>
          </a:lstStyle>
          <a:p>
            <a:r>
              <a:rPr dirty="0"/>
              <a:t>14</a:t>
            </a:r>
            <a:r>
              <a:rPr lang="it-IT" dirty="0"/>
              <a:t>5</a:t>
            </a:r>
            <a:r>
              <a:rPr dirty="0"/>
              <a:t>°Corso </a:t>
            </a:r>
            <a:r>
              <a:rPr dirty="0" err="1"/>
              <a:t>Formativo</a:t>
            </a:r>
            <a:r>
              <a:rPr dirty="0"/>
              <a:t> per </a:t>
            </a:r>
            <a:r>
              <a:rPr dirty="0" err="1"/>
              <a:t>Allievi</a:t>
            </a:r>
            <a:r>
              <a:rPr dirty="0"/>
              <a:t> Carabinieri</a:t>
            </a:r>
          </a:p>
        </p:txBody>
      </p:sp>
      <p:sp>
        <p:nvSpPr>
          <p:cNvPr id="224" name="Text Box 4"/>
          <p:cNvSpPr txBox="1"/>
          <p:nvPr/>
        </p:nvSpPr>
        <p:spPr>
          <a:xfrm>
            <a:off x="45719" y="53165"/>
            <a:ext cx="9052561" cy="93725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r">
              <a:lnSpc>
                <a:spcPct val="85000"/>
              </a:lnSpc>
              <a:spcBef>
                <a:spcPts val="1900"/>
              </a:spcBef>
              <a:defRPr sz="3000" cap="small">
                <a:solidFill>
                  <a:srgbClr val="FFFFFF"/>
                </a:solidFill>
                <a:latin typeface="Book Antiqua"/>
                <a:ea typeface="Book Antiqua"/>
                <a:cs typeface="Book Antiqua"/>
                <a:sym typeface="Book Antiqua"/>
              </a:defRPr>
            </a:pPr>
            <a:r>
              <a:t>Scuola Allievi Carabinieri</a:t>
            </a:r>
            <a:br/>
            <a:endParaRPr/>
          </a:p>
        </p:txBody>
      </p:sp>
      <p:sp>
        <p:nvSpPr>
          <p:cNvPr id="225" name="Text Box 4"/>
          <p:cNvSpPr txBox="1"/>
          <p:nvPr/>
        </p:nvSpPr>
        <p:spPr>
          <a:xfrm>
            <a:off x="45719" y="2918693"/>
            <a:ext cx="9052561" cy="18010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ctr">
              <a:lnSpc>
                <a:spcPct val="85000"/>
              </a:lnSpc>
              <a:spcBef>
                <a:spcPts val="2600"/>
              </a:spcBef>
              <a:defRPr sz="4400" cap="small">
                <a:solidFill>
                  <a:srgbClr val="002F8E"/>
                </a:solidFill>
                <a:latin typeface="Book Antiqua"/>
                <a:ea typeface="Book Antiqua"/>
                <a:cs typeface="Book Antiqua"/>
                <a:sym typeface="Book Antiqua"/>
              </a:defRPr>
            </a:pPr>
            <a:r>
              <a:rPr dirty="0"/>
              <a:t>V </a:t>
            </a:r>
            <a:r>
              <a:rPr dirty="0" err="1"/>
              <a:t>Tesi</a:t>
            </a:r>
            <a:endParaRPr dirty="0">
              <a:latin typeface="Times New Roman"/>
              <a:ea typeface="Times New Roman"/>
              <a:cs typeface="Times New Roman"/>
              <a:sym typeface="Times New Roman"/>
            </a:endParaRPr>
          </a:p>
          <a:p>
            <a:pPr algn="ctr">
              <a:lnSpc>
                <a:spcPct val="85000"/>
              </a:lnSpc>
              <a:spcBef>
                <a:spcPts val="2800"/>
              </a:spcBef>
              <a:defRPr sz="1000" cap="small">
                <a:solidFill>
                  <a:srgbClr val="002F8E"/>
                </a:solidFill>
                <a:latin typeface="Book Antiqua"/>
                <a:ea typeface="Book Antiqua"/>
                <a:cs typeface="Book Antiqua"/>
                <a:sym typeface="Book Antiqua"/>
              </a:defRPr>
            </a:pPr>
            <a:r>
              <a:rPr dirty="0"/>
              <a:t> </a:t>
            </a:r>
            <a:br>
              <a:rPr dirty="0"/>
            </a:br>
            <a:r>
              <a:rPr sz="4800" i="1" cap="none" dirty="0"/>
              <a:t>I </a:t>
            </a:r>
            <a:r>
              <a:rPr sz="4800" i="1" cap="none" dirty="0" err="1"/>
              <a:t>delitti</a:t>
            </a:r>
            <a:r>
              <a:rPr sz="4800" i="1" cap="none" dirty="0"/>
              <a:t> </a:t>
            </a:r>
            <a:r>
              <a:rPr sz="4800" i="1" cap="none" dirty="0" err="1"/>
              <a:t>contro</a:t>
            </a:r>
            <a:r>
              <a:rPr sz="4800" i="1" cap="none" dirty="0"/>
              <a:t> il </a:t>
            </a:r>
            <a:r>
              <a:rPr sz="4800" i="1" cap="none" dirty="0" err="1"/>
              <a:t>patrimonio</a:t>
            </a:r>
            <a:endParaRPr sz="4800" i="1" cap="none"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 name="Segnaposto contenuto 2"/>
          <p:cNvSpPr txBox="1">
            <a:spLocks noGrp="1"/>
          </p:cNvSpPr>
          <p:nvPr>
            <p:ph type="body" idx="1"/>
          </p:nvPr>
        </p:nvSpPr>
        <p:spPr>
          <a:xfrm>
            <a:off x="136850" y="980726"/>
            <a:ext cx="8899646" cy="5877276"/>
          </a:xfrm>
          <a:prstGeom prst="rect">
            <a:avLst/>
          </a:prstGeom>
        </p:spPr>
        <p:txBody>
          <a:bodyPr/>
          <a:lstStyle/>
          <a:p>
            <a:pPr marL="0" indent="0">
              <a:lnSpc>
                <a:spcPct val="107200"/>
              </a:lnSpc>
              <a:spcBef>
                <a:spcPts val="0"/>
              </a:spcBef>
              <a:buSzTx/>
              <a:buNone/>
              <a:defRPr sz="1800">
                <a:latin typeface="Times New Roman"/>
                <a:ea typeface="Times New Roman"/>
                <a:cs typeface="Times New Roman"/>
                <a:sym typeface="Times New Roman"/>
              </a:defRPr>
            </a:pPr>
            <a:r>
              <a:t>I titoli sono i seguenti:</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 - Delitti contro la personalità dello Stato (artt. 241-313),</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II - Delitti contro la pubblica amministrazione (artt. 314-360),</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III - Delitti contro l’Amministrazione della giustizia (artt. 361-401),</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IV - Delitti contro il sentimento religioso e contro la pietà dei defunti (artt. 402-413),</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V - Delitti contro l’ordine pubblico (artt. 414-421),</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VI - Delitti contro l’incolumità pubblica (artt. 422-452),</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VI bis – Delitti contro l’ambiente (artt. 452bis-452terdecies),</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VII - Delitti contro la fede pubblica (artt. 453-498),</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VIII - Delitti contro l’economia pubblica, l’industria e il commercio (artt. 499-518),</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IX - Delitti contro la moralità pubblica e il buon costume (artt. 519-544), </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IX bis - Delitti contro il sentimento per gli animali (artt. 544bis-544sexies),</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X - Delitti contro l’integrità e la sanità della stirpe (artt. 545-555) [titolo abrogato], </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XI - Delitti contro la famiglia (artt. 556-574),</a:t>
            </a:r>
            <a:endParaRPr sz="800"/>
          </a:p>
          <a:p>
            <a:pPr>
              <a:lnSpc>
                <a:spcPct val="107200"/>
              </a:lnSpc>
              <a:spcBef>
                <a:spcPts val="0"/>
              </a:spcBef>
              <a:buFont typeface="Times New Roman"/>
              <a:buChar char="➢"/>
              <a:defRPr sz="1800">
                <a:latin typeface="Times New Roman"/>
                <a:ea typeface="Times New Roman"/>
                <a:cs typeface="Times New Roman"/>
                <a:sym typeface="Times New Roman"/>
              </a:defRPr>
            </a:pPr>
            <a:r>
              <a:t>XII - Delitti contro la persona (artt. 575-623bis),</a:t>
            </a:r>
            <a:endParaRPr sz="800"/>
          </a:p>
          <a:p>
            <a:pPr>
              <a:lnSpc>
                <a:spcPct val="107200"/>
              </a:lnSpc>
              <a:spcBef>
                <a:spcPts val="0"/>
              </a:spcBef>
              <a:buFont typeface="Times New Roman"/>
              <a:buChar char="➢"/>
              <a:defRPr sz="2400" b="1">
                <a:latin typeface="Times New Roman"/>
                <a:ea typeface="Times New Roman"/>
                <a:cs typeface="Times New Roman"/>
                <a:sym typeface="Times New Roman"/>
              </a:defRPr>
            </a:pPr>
            <a:r>
              <a:t>XIII - Delitti contro il patrimonio (artt. 624-649).</a:t>
            </a:r>
          </a:p>
        </p:txBody>
      </p:sp>
      <p:pic>
        <p:nvPicPr>
          <p:cNvPr id="228" name="Immagine 5" descr="Immagine 5"/>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29"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Generalità</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Rectangle 2"/>
          <p:cNvSpPr txBox="1">
            <a:spLocks noGrp="1"/>
          </p:cNvSpPr>
          <p:nvPr>
            <p:ph type="body" idx="1"/>
          </p:nvPr>
        </p:nvSpPr>
        <p:spPr>
          <a:xfrm>
            <a:off x="1897037" y="1512168"/>
            <a:ext cx="5349926" cy="5301208"/>
          </a:xfrm>
          <a:prstGeom prst="rect">
            <a:avLst/>
          </a:prstGeom>
        </p:spPr>
        <p:txBody>
          <a:bodyPr lIns="44180" tIns="44180" rIns="44180" bIns="44180"/>
          <a:lstStyle/>
          <a:p>
            <a:pPr marL="0" indent="0" algn="ctr" defTabSz="730250">
              <a:lnSpc>
                <a:spcPct val="114000"/>
              </a:lnSpc>
              <a:spcBef>
                <a:spcPts val="600"/>
              </a:spcBef>
              <a:buSzTx/>
              <a:buNone/>
              <a:defRPr sz="1600">
                <a:latin typeface="Book Antiqua"/>
                <a:ea typeface="Book Antiqua"/>
                <a:cs typeface="Book Antiqua"/>
                <a:sym typeface="Book Antiqua"/>
              </a:defRPr>
            </a:pPr>
            <a:r>
              <a:t>Generalità</a:t>
            </a:r>
          </a:p>
          <a:p>
            <a:pPr marL="0" indent="0" algn="ctr" defTabSz="730250">
              <a:lnSpc>
                <a:spcPct val="114000"/>
              </a:lnSpc>
              <a:spcBef>
                <a:spcPts val="600"/>
              </a:spcBef>
              <a:buSzTx/>
              <a:buNone/>
              <a:defRPr sz="1600">
                <a:latin typeface="Book Antiqua"/>
                <a:ea typeface="Book Antiqua"/>
                <a:cs typeface="Book Antiqua"/>
                <a:sym typeface="Book Antiqua"/>
              </a:defRPr>
            </a:pPr>
            <a:r>
              <a:t>Furto (art. 624)</a:t>
            </a:r>
          </a:p>
          <a:p>
            <a:pPr marL="0" indent="0" algn="ctr" defTabSz="730250">
              <a:lnSpc>
                <a:spcPct val="114000"/>
              </a:lnSpc>
              <a:spcBef>
                <a:spcPts val="600"/>
              </a:spcBef>
              <a:buSzTx/>
              <a:buNone/>
              <a:defRPr sz="1600">
                <a:latin typeface="Book Antiqua"/>
                <a:ea typeface="Book Antiqua"/>
                <a:cs typeface="Book Antiqua"/>
                <a:sym typeface="Book Antiqua"/>
              </a:defRPr>
            </a:pPr>
            <a:r>
              <a:t>Rapina (art. 628)</a:t>
            </a:r>
          </a:p>
          <a:p>
            <a:pPr marL="0" indent="0" algn="ctr" defTabSz="730250">
              <a:lnSpc>
                <a:spcPct val="114000"/>
              </a:lnSpc>
              <a:spcBef>
                <a:spcPts val="600"/>
              </a:spcBef>
              <a:buSzTx/>
              <a:buNone/>
              <a:defRPr sz="1600">
                <a:latin typeface="Book Antiqua"/>
                <a:ea typeface="Book Antiqua"/>
                <a:cs typeface="Book Antiqua"/>
                <a:sym typeface="Book Antiqua"/>
              </a:defRPr>
            </a:pPr>
            <a:r>
              <a:t>Estorsione (art. 629)</a:t>
            </a:r>
          </a:p>
          <a:p>
            <a:pPr marL="0" indent="0" algn="ctr" defTabSz="730250">
              <a:lnSpc>
                <a:spcPct val="114000"/>
              </a:lnSpc>
              <a:spcBef>
                <a:spcPts val="600"/>
              </a:spcBef>
              <a:buSzTx/>
              <a:buNone/>
              <a:defRPr sz="1600">
                <a:latin typeface="Book Antiqua"/>
                <a:ea typeface="Book Antiqua"/>
                <a:cs typeface="Book Antiqua"/>
                <a:sym typeface="Book Antiqua"/>
              </a:defRPr>
            </a:pPr>
            <a:r>
              <a:t>Truffa (art. 640)</a:t>
            </a:r>
          </a:p>
          <a:p>
            <a:pPr marL="0" indent="0" algn="ctr" defTabSz="730250">
              <a:lnSpc>
                <a:spcPct val="114000"/>
              </a:lnSpc>
              <a:spcBef>
                <a:spcPts val="600"/>
              </a:spcBef>
              <a:buSzTx/>
              <a:buNone/>
              <a:defRPr sz="1600">
                <a:latin typeface="Book Antiqua"/>
                <a:ea typeface="Book Antiqua"/>
                <a:cs typeface="Book Antiqua"/>
                <a:sym typeface="Book Antiqua"/>
              </a:defRPr>
            </a:pPr>
            <a:r>
              <a:t>Insolvenza fraudolenta (art. 641)</a:t>
            </a:r>
          </a:p>
          <a:p>
            <a:pPr marL="0" indent="0" algn="ctr" defTabSz="730250">
              <a:lnSpc>
                <a:spcPct val="114000"/>
              </a:lnSpc>
              <a:spcBef>
                <a:spcPts val="600"/>
              </a:spcBef>
              <a:buSzTx/>
              <a:buNone/>
              <a:defRPr sz="1600">
                <a:latin typeface="Book Antiqua"/>
                <a:ea typeface="Book Antiqua"/>
                <a:cs typeface="Book Antiqua"/>
                <a:sym typeface="Book Antiqua"/>
              </a:defRPr>
            </a:pPr>
            <a:r>
              <a:t>Circonvenzione d’incapace (art. 643)</a:t>
            </a:r>
          </a:p>
          <a:p>
            <a:pPr marL="0" indent="0" algn="ctr" defTabSz="730250">
              <a:lnSpc>
                <a:spcPct val="114000"/>
              </a:lnSpc>
              <a:spcBef>
                <a:spcPts val="600"/>
              </a:spcBef>
              <a:buSzTx/>
              <a:buNone/>
              <a:defRPr sz="1600">
                <a:latin typeface="Book Antiqua"/>
                <a:ea typeface="Book Antiqua"/>
                <a:cs typeface="Book Antiqua"/>
                <a:sym typeface="Book Antiqua"/>
              </a:defRPr>
            </a:pPr>
            <a:r>
              <a:t>Appropriazione indebita (art. 646)</a:t>
            </a:r>
          </a:p>
          <a:p>
            <a:pPr marL="0" indent="0" algn="ctr" defTabSz="730250">
              <a:lnSpc>
                <a:spcPct val="114000"/>
              </a:lnSpc>
              <a:spcBef>
                <a:spcPts val="600"/>
              </a:spcBef>
              <a:buSzTx/>
              <a:buNone/>
              <a:defRPr sz="1600">
                <a:latin typeface="Book Antiqua"/>
                <a:ea typeface="Book Antiqua"/>
                <a:cs typeface="Book Antiqua"/>
                <a:sym typeface="Book Antiqua"/>
              </a:defRPr>
            </a:pPr>
            <a:r>
              <a:t>Sequestro di persona a scopo di estorsione (art. 630)</a:t>
            </a:r>
          </a:p>
          <a:p>
            <a:pPr marL="0" indent="0" algn="ctr" defTabSz="730250">
              <a:lnSpc>
                <a:spcPct val="114000"/>
              </a:lnSpc>
              <a:spcBef>
                <a:spcPts val="600"/>
              </a:spcBef>
              <a:buSzTx/>
              <a:buNone/>
              <a:defRPr sz="1600">
                <a:latin typeface="Book Antiqua"/>
                <a:ea typeface="Book Antiqua"/>
                <a:cs typeface="Book Antiqua"/>
                <a:sym typeface="Book Antiqua"/>
              </a:defRPr>
            </a:pPr>
            <a:r>
              <a:t>Danneggiamento (art. 635)</a:t>
            </a:r>
          </a:p>
          <a:p>
            <a:pPr marL="0" indent="0" algn="ctr" defTabSz="730250">
              <a:lnSpc>
                <a:spcPct val="114000"/>
              </a:lnSpc>
              <a:spcBef>
                <a:spcPts val="600"/>
              </a:spcBef>
              <a:buSzTx/>
              <a:buNone/>
              <a:defRPr sz="1600">
                <a:latin typeface="Book Antiqua"/>
                <a:ea typeface="Book Antiqua"/>
                <a:cs typeface="Book Antiqua"/>
                <a:sym typeface="Book Antiqua"/>
              </a:defRPr>
            </a:pPr>
            <a:r>
              <a:t>Usura (art. 644)</a:t>
            </a:r>
          </a:p>
          <a:p>
            <a:pPr marL="0" indent="0" algn="ctr" defTabSz="730250">
              <a:lnSpc>
                <a:spcPct val="114000"/>
              </a:lnSpc>
              <a:spcBef>
                <a:spcPts val="600"/>
              </a:spcBef>
              <a:buSzTx/>
              <a:buNone/>
              <a:defRPr sz="1600">
                <a:latin typeface="Book Antiqua"/>
                <a:ea typeface="Book Antiqua"/>
                <a:cs typeface="Book Antiqua"/>
                <a:sym typeface="Book Antiqua"/>
              </a:defRPr>
            </a:pPr>
            <a:r>
              <a:t>Ricettazione (art. 648)</a:t>
            </a:r>
          </a:p>
          <a:p>
            <a:pPr marL="0" indent="0" algn="ctr" defTabSz="730250">
              <a:lnSpc>
                <a:spcPct val="114000"/>
              </a:lnSpc>
              <a:spcBef>
                <a:spcPts val="600"/>
              </a:spcBef>
              <a:buSzTx/>
              <a:buNone/>
              <a:defRPr sz="1600">
                <a:latin typeface="Book Antiqua"/>
                <a:ea typeface="Book Antiqua"/>
                <a:cs typeface="Book Antiqua"/>
                <a:sym typeface="Book Antiqua"/>
              </a:defRPr>
            </a:pPr>
            <a:r>
              <a:t>Riciclaggio (art. 648 bis)</a:t>
            </a:r>
          </a:p>
        </p:txBody>
      </p:sp>
      <p:sp>
        <p:nvSpPr>
          <p:cNvPr id="232" name="CasellaDiTesto 9"/>
          <p:cNvSpPr txBox="1"/>
          <p:nvPr/>
        </p:nvSpPr>
        <p:spPr>
          <a:xfrm>
            <a:off x="3609607" y="908721"/>
            <a:ext cx="1924787" cy="6375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lvl1pPr algn="ctr">
              <a:defRPr sz="3600" i="1">
                <a:solidFill>
                  <a:srgbClr val="002F8E"/>
                </a:solidFill>
                <a:latin typeface="Book Antiqua"/>
                <a:ea typeface="Book Antiqua"/>
                <a:cs typeface="Book Antiqua"/>
                <a:sym typeface="Book Antiqua"/>
              </a:defRPr>
            </a:lvl1pPr>
          </a:lstStyle>
          <a:p>
            <a:r>
              <a:t>Indice</a:t>
            </a:r>
          </a:p>
        </p:txBody>
      </p:sp>
      <p:pic>
        <p:nvPicPr>
          <p:cNvPr id="233" name="Immagine 4" descr="Immagine 4"/>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34" name="Text Box 5"/>
          <p:cNvSpPr txBox="1"/>
          <p:nvPr/>
        </p:nvSpPr>
        <p:spPr>
          <a:xfrm>
            <a:off x="681728" y="44623"/>
            <a:ext cx="9174295" cy="6352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p>
            <a:pPr>
              <a:defRPr sz="3200" b="0">
                <a:solidFill>
                  <a:srgbClr val="FFFFFF"/>
                </a:solidFill>
                <a:latin typeface="Book Antiqua"/>
                <a:ea typeface="Book Antiqua"/>
                <a:cs typeface="Book Antiqua"/>
                <a:sym typeface="Book Antiqua"/>
              </a:defRPr>
            </a:pPr>
            <a:r>
              <a:t>TESI VII </a:t>
            </a:r>
            <a:r>
              <a:rPr sz="3600"/>
              <a:t>– </a:t>
            </a:r>
            <a:r>
              <a:t>I delitti contro il patrimonio</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CasellaDiTesto 1"/>
          <p:cNvSpPr txBox="1"/>
          <p:nvPr/>
        </p:nvSpPr>
        <p:spPr>
          <a:xfrm>
            <a:off x="153224" y="983854"/>
            <a:ext cx="8819041" cy="573873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600"/>
              </a:spcBef>
              <a:defRPr sz="2200">
                <a:solidFill>
                  <a:srgbClr val="002F8E"/>
                </a:solidFill>
                <a:latin typeface="Book Antiqua"/>
                <a:ea typeface="Book Antiqua"/>
                <a:cs typeface="Book Antiqua"/>
                <a:sym typeface="Book Antiqua"/>
              </a:defRPr>
            </a:pPr>
            <a:r>
              <a:t>I DELITTI CONTRO IL PATRIMONIO </a:t>
            </a:r>
            <a:r>
              <a:rPr b="0">
                <a:solidFill>
                  <a:srgbClr val="000000"/>
                </a:solidFill>
              </a:rPr>
              <a:t>sono regolamentati dal Titolo XIII del Libro Secondo ed è suddiviso in tre capi:</a:t>
            </a:r>
          </a:p>
          <a:p>
            <a:pPr algn="just">
              <a:lnSpc>
                <a:spcPct val="114000"/>
              </a:lnSpc>
              <a:spcBef>
                <a:spcPts val="600"/>
              </a:spcBef>
              <a:defRPr sz="2200">
                <a:solidFill>
                  <a:srgbClr val="002F8E"/>
                </a:solidFill>
                <a:latin typeface="Times New Roman"/>
                <a:ea typeface="Times New Roman"/>
                <a:cs typeface="Times New Roman"/>
                <a:sym typeface="Times New Roman"/>
              </a:defRPr>
            </a:pPr>
            <a:endParaRPr b="0">
              <a:solidFill>
                <a:srgbClr val="000000"/>
              </a:solidFill>
            </a:endParaRPr>
          </a:p>
          <a:p>
            <a:pPr marL="342900" indent="-342900" algn="just">
              <a:lnSpc>
                <a:spcPct val="114000"/>
              </a:lnSpc>
              <a:spcBef>
                <a:spcPts val="1200"/>
              </a:spcBef>
              <a:buSzPct val="100000"/>
              <a:buFont typeface="Book Antiqua"/>
              <a:buChar char="❑"/>
              <a:defRPr sz="2000" b="0">
                <a:solidFill>
                  <a:srgbClr val="FF0000"/>
                </a:solidFill>
                <a:latin typeface="Book Antiqua"/>
                <a:ea typeface="Book Antiqua"/>
                <a:cs typeface="Book Antiqua"/>
                <a:sym typeface="Book Antiqua"/>
              </a:defRPr>
            </a:pPr>
            <a:r>
              <a:t>I Capo</a:t>
            </a:r>
            <a:r>
              <a:rPr>
                <a:solidFill>
                  <a:srgbClr val="000000"/>
                </a:solidFill>
              </a:rPr>
              <a:t>, rubricato </a:t>
            </a:r>
            <a:r>
              <a:rPr u="sng"/>
              <a:t>“</a:t>
            </a:r>
            <a:r>
              <a:rPr b="1" u="sng"/>
              <a:t>dei delitti contro il patrimonio mediante violenza alle cose o alle persone</a:t>
            </a:r>
            <a:r>
              <a:rPr u="sng"/>
              <a:t>”</a:t>
            </a:r>
            <a:r>
              <a:rPr>
                <a:solidFill>
                  <a:srgbClr val="000000"/>
                </a:solidFill>
              </a:rPr>
              <a:t>: vi rientrano i reati a c.d. “</a:t>
            </a:r>
            <a:r>
              <a:rPr b="1">
                <a:solidFill>
                  <a:srgbClr val="000000"/>
                </a:solidFill>
              </a:rPr>
              <a:t>usurpazione unilaterale</a:t>
            </a:r>
            <a:r>
              <a:rPr>
                <a:solidFill>
                  <a:srgbClr val="000000"/>
                </a:solidFill>
              </a:rPr>
              <a:t>” perché consumabili in assenza di alcuna forma di collaborazione da parte della vittima (si pensi al furto);</a:t>
            </a:r>
            <a:endParaRPr>
              <a:latin typeface="Times New Roman"/>
              <a:ea typeface="Times New Roman"/>
              <a:cs typeface="Times New Roman"/>
              <a:sym typeface="Times New Roman"/>
            </a:endParaRPr>
          </a:p>
          <a:p>
            <a:pPr marL="342900" indent="-342900" algn="just">
              <a:lnSpc>
                <a:spcPct val="114000"/>
              </a:lnSpc>
              <a:spcBef>
                <a:spcPts val="1200"/>
              </a:spcBef>
              <a:buSzPct val="100000"/>
              <a:buFont typeface="Book Antiqua"/>
              <a:buChar char="❑"/>
              <a:defRPr sz="2000" b="0">
                <a:solidFill>
                  <a:srgbClr val="FF40FF"/>
                </a:solidFill>
                <a:latin typeface="Book Antiqua"/>
                <a:ea typeface="Book Antiqua"/>
                <a:cs typeface="Book Antiqua"/>
                <a:sym typeface="Book Antiqua"/>
              </a:defRPr>
            </a:pPr>
            <a:r>
              <a:t>II Capo</a:t>
            </a:r>
            <a:r>
              <a:rPr>
                <a:solidFill>
                  <a:srgbClr val="000000"/>
                </a:solidFill>
              </a:rPr>
              <a:t>, rubricato “</a:t>
            </a:r>
            <a:r>
              <a:rPr b="1" u="sng"/>
              <a:t>dei delitti contro il patrimonio mediante frode</a:t>
            </a:r>
            <a:r>
              <a:rPr>
                <a:solidFill>
                  <a:srgbClr val="000000"/>
                </a:solidFill>
              </a:rPr>
              <a:t>”: vi rientrano i </a:t>
            </a:r>
            <a:r>
              <a:rPr b="1">
                <a:solidFill>
                  <a:srgbClr val="000000"/>
                </a:solidFill>
              </a:rPr>
              <a:t>reati c.d. “con collaborazione della vittima</a:t>
            </a:r>
            <a:r>
              <a:rPr>
                <a:solidFill>
                  <a:srgbClr val="000000"/>
                </a:solidFill>
              </a:rPr>
              <a:t>”, perché sovente è quest’ultima, tratta in inganno, a porre in essere l’atto di disposizione patrimoniale (si pensi alla truffa);</a:t>
            </a:r>
            <a:endParaRPr>
              <a:latin typeface="Times New Roman"/>
              <a:ea typeface="Times New Roman"/>
              <a:cs typeface="Times New Roman"/>
              <a:sym typeface="Times New Roman"/>
            </a:endParaRPr>
          </a:p>
          <a:p>
            <a:pPr marL="342900" indent="-342900" algn="just">
              <a:lnSpc>
                <a:spcPct val="114000"/>
              </a:lnSpc>
              <a:spcBef>
                <a:spcPts val="1200"/>
              </a:spcBef>
              <a:buSzPct val="100000"/>
              <a:buFont typeface="Book Antiqua"/>
              <a:buChar char="❑"/>
              <a:defRPr sz="2000" b="0">
                <a:solidFill>
                  <a:srgbClr val="0433FF">
                    <a:alpha val="63103"/>
                  </a:srgbClr>
                </a:solidFill>
                <a:latin typeface="Book Antiqua"/>
                <a:ea typeface="Book Antiqua"/>
                <a:cs typeface="Book Antiqua"/>
                <a:sym typeface="Book Antiqua"/>
              </a:defRPr>
            </a:pPr>
            <a:r>
              <a:t>III Capo</a:t>
            </a:r>
            <a:r>
              <a:rPr>
                <a:solidFill>
                  <a:srgbClr val="000000"/>
                </a:solidFill>
              </a:rPr>
              <a:t>, rubricato “</a:t>
            </a:r>
            <a:r>
              <a:rPr b="1" u="sng">
                <a:solidFill>
                  <a:srgbClr val="0070C0"/>
                </a:solidFill>
              </a:rPr>
              <a:t>disposizioni comuni a capi precedenti</a:t>
            </a:r>
            <a:r>
              <a:rPr>
                <a:solidFill>
                  <a:srgbClr val="000000"/>
                </a:solidFill>
              </a:rPr>
              <a:t>”.</a:t>
            </a:r>
          </a:p>
          <a:p>
            <a:pPr algn="just">
              <a:lnSpc>
                <a:spcPct val="114000"/>
              </a:lnSpc>
              <a:spcBef>
                <a:spcPts val="1200"/>
              </a:spcBef>
              <a:defRPr sz="2200" b="0">
                <a:latin typeface="Book Antiqua"/>
                <a:ea typeface="Book Antiqua"/>
                <a:cs typeface="Book Antiqua"/>
                <a:sym typeface="Book Antiqua"/>
              </a:defRPr>
            </a:pPr>
            <a:r>
              <a:t>Per far configurare questo tipo di reati il fatto concreto deve comportare una </a:t>
            </a:r>
            <a:r>
              <a:rPr b="1">
                <a:solidFill>
                  <a:srgbClr val="00B0F0"/>
                </a:solidFill>
              </a:rPr>
              <a:t>REALE OFFESA DEL PATRIMONIO</a:t>
            </a:r>
            <a:r>
              <a:t>.</a:t>
            </a:r>
          </a:p>
        </p:txBody>
      </p:sp>
      <p:pic>
        <p:nvPicPr>
          <p:cNvPr id="237"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38"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Generalità</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CasellaDiTesto 1"/>
          <p:cNvSpPr txBox="1"/>
          <p:nvPr/>
        </p:nvSpPr>
        <p:spPr>
          <a:xfrm>
            <a:off x="234487" y="1053820"/>
            <a:ext cx="8684281" cy="543475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002F8E"/>
                </a:solidFill>
                <a:latin typeface="Book Antiqua"/>
                <a:ea typeface="Book Antiqua"/>
                <a:cs typeface="Book Antiqua"/>
                <a:sym typeface="Book Antiqua"/>
              </a:defRPr>
            </a:pPr>
            <a:r>
              <a:rPr dirty="0">
                <a:solidFill>
                  <a:srgbClr val="FF0000"/>
                </a:solidFill>
              </a:rPr>
              <a:t>Art. 624 </a:t>
            </a:r>
            <a:r>
              <a:rPr dirty="0" err="1">
                <a:solidFill>
                  <a:srgbClr val="FF0000"/>
                </a:solidFill>
              </a:rPr>
              <a:t>c.p.</a:t>
            </a:r>
            <a:r>
              <a:rPr dirty="0">
                <a:solidFill>
                  <a:srgbClr val="FF0000"/>
                </a:solidFill>
              </a:rPr>
              <a:t> </a:t>
            </a:r>
            <a:r>
              <a:rPr dirty="0" err="1">
                <a:solidFill>
                  <a:srgbClr val="FF0000"/>
                </a:solidFill>
              </a:rPr>
              <a:t>Furto</a:t>
            </a:r>
            <a:endParaRPr dirty="0">
              <a:solidFill>
                <a:srgbClr val="FF0000"/>
              </a:solidFill>
              <a:latin typeface="Times New Roman"/>
              <a:ea typeface="Times New Roman"/>
              <a:cs typeface="Times New Roman"/>
              <a:sym typeface="Times New Roman"/>
            </a:endParaRPr>
          </a:p>
          <a:p>
            <a:pPr algn="just">
              <a:lnSpc>
                <a:spcPct val="114000"/>
              </a:lnSpc>
              <a:spcBef>
                <a:spcPts val="600"/>
              </a:spcBef>
              <a:defRPr sz="2200" b="0">
                <a:latin typeface="Book Antiqua"/>
                <a:ea typeface="Book Antiqua"/>
                <a:cs typeface="Book Antiqua"/>
                <a:sym typeface="Book Antiqua"/>
              </a:defRPr>
            </a:pPr>
            <a:r>
              <a:rPr dirty="0"/>
              <a:t>«</a:t>
            </a:r>
            <a:r>
              <a:rPr i="1" dirty="0" err="1"/>
              <a:t>Chiunque</a:t>
            </a:r>
            <a:r>
              <a:rPr i="1" dirty="0"/>
              <a:t> </a:t>
            </a:r>
            <a:r>
              <a:rPr b="1" i="1" dirty="0" err="1">
                <a:solidFill>
                  <a:srgbClr val="002F8E"/>
                </a:solidFill>
              </a:rPr>
              <a:t>s’impossessa</a:t>
            </a:r>
            <a:r>
              <a:rPr b="1" i="1" dirty="0">
                <a:solidFill>
                  <a:srgbClr val="002F8E"/>
                </a:solidFill>
              </a:rPr>
              <a:t> </a:t>
            </a:r>
            <a:r>
              <a:rPr b="1" i="1" dirty="0" err="1">
                <a:solidFill>
                  <a:srgbClr val="002F8E"/>
                </a:solidFill>
              </a:rPr>
              <a:t>della</a:t>
            </a:r>
            <a:r>
              <a:rPr b="1" i="1" dirty="0">
                <a:solidFill>
                  <a:srgbClr val="002F8E"/>
                </a:solidFill>
              </a:rPr>
              <a:t> </a:t>
            </a:r>
            <a:r>
              <a:rPr b="1" i="1" dirty="0" err="1">
                <a:solidFill>
                  <a:srgbClr val="002F8E"/>
                </a:solidFill>
              </a:rPr>
              <a:t>cosa</a:t>
            </a:r>
            <a:r>
              <a:rPr b="1" i="1" dirty="0">
                <a:solidFill>
                  <a:srgbClr val="002F8E"/>
                </a:solidFill>
              </a:rPr>
              <a:t> mobile </a:t>
            </a:r>
            <a:r>
              <a:rPr b="1" i="1" dirty="0" err="1">
                <a:solidFill>
                  <a:srgbClr val="002F8E"/>
                </a:solidFill>
              </a:rPr>
              <a:t>altrui</a:t>
            </a:r>
            <a:r>
              <a:rPr i="1" dirty="0">
                <a:solidFill>
                  <a:srgbClr val="002F8E"/>
                </a:solidFill>
              </a:rPr>
              <a:t>, </a:t>
            </a:r>
            <a:r>
              <a:rPr b="1" i="1" dirty="0" err="1">
                <a:solidFill>
                  <a:srgbClr val="002F8E"/>
                </a:solidFill>
              </a:rPr>
              <a:t>sottraendola</a:t>
            </a:r>
            <a:r>
              <a:rPr i="1" dirty="0">
                <a:solidFill>
                  <a:srgbClr val="002F8E"/>
                </a:solidFill>
              </a:rPr>
              <a:t> </a:t>
            </a:r>
            <a:r>
              <a:rPr i="1" dirty="0"/>
              <a:t>a chi la </a:t>
            </a:r>
            <a:r>
              <a:rPr i="1" dirty="0" err="1"/>
              <a:t>detiene</a:t>
            </a:r>
            <a:r>
              <a:rPr i="1" dirty="0"/>
              <a:t>, </a:t>
            </a:r>
            <a:r>
              <a:rPr b="1" i="1" dirty="0">
                <a:solidFill>
                  <a:srgbClr val="002F8E"/>
                </a:solidFill>
              </a:rPr>
              <a:t>al fine di </a:t>
            </a:r>
            <a:r>
              <a:rPr b="1" i="1" dirty="0" err="1">
                <a:solidFill>
                  <a:srgbClr val="002F8E"/>
                </a:solidFill>
              </a:rPr>
              <a:t>trarne</a:t>
            </a:r>
            <a:r>
              <a:rPr b="1" i="1" dirty="0">
                <a:solidFill>
                  <a:srgbClr val="002F8E"/>
                </a:solidFill>
              </a:rPr>
              <a:t> </a:t>
            </a:r>
            <a:r>
              <a:rPr b="1" i="1" dirty="0" err="1">
                <a:solidFill>
                  <a:srgbClr val="002F8E"/>
                </a:solidFill>
              </a:rPr>
              <a:t>profitto</a:t>
            </a:r>
            <a:r>
              <a:rPr b="1" i="1" dirty="0">
                <a:solidFill>
                  <a:srgbClr val="002F8E"/>
                </a:solidFill>
              </a:rPr>
              <a:t> per </a:t>
            </a:r>
            <a:r>
              <a:rPr b="1" i="1" dirty="0" err="1">
                <a:solidFill>
                  <a:srgbClr val="002F8E"/>
                </a:solidFill>
              </a:rPr>
              <a:t>sé</a:t>
            </a:r>
            <a:r>
              <a:rPr b="1" i="1" dirty="0">
                <a:solidFill>
                  <a:srgbClr val="002F8E"/>
                </a:solidFill>
              </a:rPr>
              <a:t> o per </a:t>
            </a:r>
            <a:r>
              <a:rPr b="1" i="1" dirty="0" err="1">
                <a:solidFill>
                  <a:srgbClr val="002F8E"/>
                </a:solidFill>
              </a:rPr>
              <a:t>altri</a:t>
            </a:r>
            <a:r>
              <a:rPr i="1" dirty="0"/>
              <a:t>, è </a:t>
            </a:r>
            <a:r>
              <a:rPr i="1" dirty="0" err="1"/>
              <a:t>punito</a:t>
            </a:r>
            <a:r>
              <a:rPr i="1" dirty="0"/>
              <a:t> con la </a:t>
            </a:r>
            <a:r>
              <a:rPr i="1" dirty="0" err="1"/>
              <a:t>reclusione</a:t>
            </a:r>
            <a:r>
              <a:rPr i="1" dirty="0"/>
              <a:t> da sei </a:t>
            </a:r>
            <a:r>
              <a:rPr i="1" dirty="0" err="1"/>
              <a:t>mesi</a:t>
            </a:r>
            <a:r>
              <a:rPr i="1" dirty="0"/>
              <a:t> a </a:t>
            </a:r>
            <a:r>
              <a:rPr i="1" dirty="0" err="1"/>
              <a:t>tre</a:t>
            </a:r>
            <a:r>
              <a:rPr i="1" dirty="0"/>
              <a:t> </a:t>
            </a:r>
            <a:r>
              <a:rPr i="1" dirty="0" err="1"/>
              <a:t>anni</a:t>
            </a:r>
            <a:r>
              <a:rPr i="1" dirty="0"/>
              <a:t> e con la </a:t>
            </a:r>
            <a:r>
              <a:rPr i="1" dirty="0" err="1"/>
              <a:t>multa</a:t>
            </a:r>
            <a:r>
              <a:rPr i="1" dirty="0"/>
              <a:t> da € 154 a €516.</a:t>
            </a:r>
            <a:endParaRPr dirty="0">
              <a:latin typeface="Times New Roman"/>
              <a:ea typeface="Times New Roman"/>
              <a:cs typeface="Times New Roman"/>
              <a:sym typeface="Times New Roman"/>
            </a:endParaRPr>
          </a:p>
          <a:p>
            <a:pPr algn="just">
              <a:lnSpc>
                <a:spcPct val="114000"/>
              </a:lnSpc>
              <a:spcBef>
                <a:spcPts val="600"/>
              </a:spcBef>
              <a:defRPr sz="2200" b="0" i="1">
                <a:latin typeface="Book Antiqua"/>
                <a:ea typeface="Book Antiqua"/>
                <a:cs typeface="Book Antiqua"/>
                <a:sym typeface="Book Antiqua"/>
              </a:defRPr>
            </a:pPr>
            <a:r>
              <a:rPr dirty="0" err="1"/>
              <a:t>Agli</a:t>
            </a:r>
            <a:r>
              <a:rPr dirty="0"/>
              <a:t> </a:t>
            </a:r>
            <a:r>
              <a:rPr dirty="0" err="1"/>
              <a:t>effetti</a:t>
            </a:r>
            <a:r>
              <a:rPr dirty="0"/>
              <a:t> </a:t>
            </a:r>
            <a:r>
              <a:rPr dirty="0" err="1"/>
              <a:t>della</a:t>
            </a:r>
            <a:r>
              <a:rPr dirty="0"/>
              <a:t> </a:t>
            </a:r>
            <a:r>
              <a:rPr dirty="0" err="1"/>
              <a:t>legge</a:t>
            </a:r>
            <a:r>
              <a:rPr dirty="0"/>
              <a:t> </a:t>
            </a:r>
            <a:r>
              <a:rPr dirty="0" err="1"/>
              <a:t>penale</a:t>
            </a:r>
            <a:r>
              <a:rPr dirty="0"/>
              <a:t>, </a:t>
            </a:r>
            <a:r>
              <a:rPr dirty="0" err="1"/>
              <a:t>si</a:t>
            </a:r>
            <a:r>
              <a:rPr dirty="0"/>
              <a:t> </a:t>
            </a:r>
            <a:r>
              <a:rPr dirty="0" err="1"/>
              <a:t>considera</a:t>
            </a:r>
            <a:r>
              <a:rPr dirty="0"/>
              <a:t> </a:t>
            </a:r>
            <a:r>
              <a:rPr b="1" u="sng" dirty="0" err="1"/>
              <a:t>cosa</a:t>
            </a:r>
            <a:r>
              <a:rPr b="1" u="sng" dirty="0"/>
              <a:t> mobile</a:t>
            </a:r>
            <a:r>
              <a:rPr b="1" dirty="0"/>
              <a:t> </a:t>
            </a:r>
            <a:r>
              <a:rPr dirty="0" err="1"/>
              <a:t>anche</a:t>
            </a:r>
            <a:r>
              <a:rPr dirty="0"/>
              <a:t> </a:t>
            </a:r>
            <a:r>
              <a:rPr dirty="0" err="1"/>
              <a:t>l’energia</a:t>
            </a:r>
            <a:r>
              <a:rPr dirty="0"/>
              <a:t> </a:t>
            </a:r>
            <a:r>
              <a:rPr dirty="0" err="1"/>
              <a:t>elettrica</a:t>
            </a:r>
            <a:r>
              <a:rPr dirty="0"/>
              <a:t> ed </a:t>
            </a:r>
            <a:r>
              <a:rPr dirty="0" err="1"/>
              <a:t>ogni</a:t>
            </a:r>
            <a:r>
              <a:rPr dirty="0"/>
              <a:t> </a:t>
            </a:r>
            <a:r>
              <a:rPr dirty="0" err="1"/>
              <a:t>altra</a:t>
            </a:r>
            <a:r>
              <a:rPr dirty="0"/>
              <a:t> </a:t>
            </a:r>
            <a:r>
              <a:rPr dirty="0" err="1"/>
              <a:t>energia</a:t>
            </a:r>
            <a:r>
              <a:rPr dirty="0"/>
              <a:t> </a:t>
            </a:r>
            <a:r>
              <a:rPr dirty="0" err="1"/>
              <a:t>che</a:t>
            </a:r>
            <a:r>
              <a:rPr dirty="0"/>
              <a:t> </a:t>
            </a:r>
            <a:r>
              <a:rPr dirty="0" err="1"/>
              <a:t>abbia</a:t>
            </a:r>
            <a:r>
              <a:rPr dirty="0"/>
              <a:t> un </a:t>
            </a:r>
            <a:r>
              <a:rPr dirty="0" err="1"/>
              <a:t>valore</a:t>
            </a:r>
            <a:r>
              <a:rPr dirty="0"/>
              <a:t> </a:t>
            </a:r>
            <a:r>
              <a:rPr dirty="0" err="1"/>
              <a:t>economico</a:t>
            </a:r>
            <a:r>
              <a:rPr dirty="0"/>
              <a:t>.</a:t>
            </a:r>
            <a:endParaRPr dirty="0">
              <a:latin typeface="Times New Roman"/>
              <a:ea typeface="Times New Roman"/>
              <a:cs typeface="Times New Roman"/>
              <a:sym typeface="Times New Roman"/>
            </a:endParaRPr>
          </a:p>
          <a:p>
            <a:pPr algn="just">
              <a:lnSpc>
                <a:spcPct val="114000"/>
              </a:lnSpc>
              <a:spcBef>
                <a:spcPts val="600"/>
              </a:spcBef>
              <a:defRPr sz="2200" b="0" i="1">
                <a:latin typeface="Book Antiqua"/>
                <a:ea typeface="Book Antiqua"/>
                <a:cs typeface="Book Antiqua"/>
                <a:sym typeface="Book Antiqua"/>
              </a:defRPr>
            </a:pPr>
            <a:r>
              <a:rPr dirty="0"/>
              <a:t>Il </a:t>
            </a:r>
            <a:r>
              <a:rPr dirty="0" err="1"/>
              <a:t>delitto</a:t>
            </a:r>
            <a:r>
              <a:rPr dirty="0"/>
              <a:t> è </a:t>
            </a:r>
            <a:r>
              <a:rPr dirty="0" err="1"/>
              <a:t>punibile</a:t>
            </a:r>
            <a:r>
              <a:rPr dirty="0"/>
              <a:t> </a:t>
            </a:r>
            <a:r>
              <a:rPr b="1" u="sng" dirty="0">
                <a:solidFill>
                  <a:srgbClr val="00B050"/>
                </a:solidFill>
              </a:rPr>
              <a:t>a querela </a:t>
            </a:r>
            <a:r>
              <a:rPr b="1" u="sng" dirty="0" err="1">
                <a:solidFill>
                  <a:srgbClr val="00B050"/>
                </a:solidFill>
              </a:rPr>
              <a:t>della</a:t>
            </a:r>
            <a:r>
              <a:rPr b="1" u="sng" dirty="0">
                <a:solidFill>
                  <a:srgbClr val="00B050"/>
                </a:solidFill>
              </a:rPr>
              <a:t> persona </a:t>
            </a:r>
            <a:r>
              <a:rPr b="1" u="sng" dirty="0" err="1">
                <a:solidFill>
                  <a:srgbClr val="00B050"/>
                </a:solidFill>
              </a:rPr>
              <a:t>offesa</a:t>
            </a:r>
            <a:r>
              <a:rPr b="1" u="sng" dirty="0">
                <a:solidFill>
                  <a:srgbClr val="00B050"/>
                </a:solidFill>
              </a:rPr>
              <a:t>.</a:t>
            </a:r>
          </a:p>
          <a:p>
            <a:pPr algn="just">
              <a:lnSpc>
                <a:spcPct val="114000"/>
              </a:lnSpc>
              <a:spcBef>
                <a:spcPts val="600"/>
              </a:spcBef>
              <a:defRPr sz="2200" b="0" i="1">
                <a:latin typeface="Book Antiqua"/>
                <a:ea typeface="Book Antiqua"/>
                <a:cs typeface="Book Antiqua"/>
                <a:sym typeface="Book Antiqua"/>
              </a:defRPr>
            </a:pPr>
            <a:r>
              <a:rPr u="sng" dirty="0">
                <a:solidFill>
                  <a:srgbClr val="FF0000"/>
                </a:solidFill>
              </a:rPr>
              <a:t>Si </a:t>
            </a:r>
            <a:r>
              <a:rPr u="sng" dirty="0" err="1">
                <a:solidFill>
                  <a:srgbClr val="FF0000"/>
                </a:solidFill>
              </a:rPr>
              <a:t>procede</a:t>
            </a:r>
            <a:r>
              <a:rPr u="sng" dirty="0">
                <a:solidFill>
                  <a:srgbClr val="FF0000"/>
                </a:solidFill>
              </a:rPr>
              <a:t>, </a:t>
            </a:r>
            <a:r>
              <a:rPr u="sng" dirty="0" err="1">
                <a:solidFill>
                  <a:srgbClr val="FF0000"/>
                </a:solidFill>
              </a:rPr>
              <a:t>tuttavia</a:t>
            </a:r>
            <a:r>
              <a:rPr u="sng" dirty="0">
                <a:solidFill>
                  <a:srgbClr val="FF0000"/>
                </a:solidFill>
              </a:rPr>
              <a:t>, </a:t>
            </a:r>
            <a:r>
              <a:rPr u="sng" dirty="0" err="1">
                <a:solidFill>
                  <a:srgbClr val="FF0000"/>
                </a:solidFill>
              </a:rPr>
              <a:t>d’ufficio</a:t>
            </a:r>
            <a:r>
              <a:rPr u="sng" dirty="0">
                <a:solidFill>
                  <a:srgbClr val="FF0000"/>
                </a:solidFill>
              </a:rPr>
              <a:t> </a:t>
            </a:r>
            <a:r>
              <a:rPr dirty="0"/>
              <a:t>se la persona </a:t>
            </a:r>
            <a:r>
              <a:rPr dirty="0" err="1"/>
              <a:t>offesa</a:t>
            </a:r>
            <a:r>
              <a:rPr dirty="0"/>
              <a:t> è </a:t>
            </a:r>
            <a:r>
              <a:rPr dirty="0" err="1"/>
              <a:t>incapace</a:t>
            </a:r>
            <a:r>
              <a:rPr dirty="0"/>
              <a:t>, per </a:t>
            </a:r>
            <a:r>
              <a:rPr dirty="0" err="1"/>
              <a:t>età</a:t>
            </a:r>
            <a:r>
              <a:rPr dirty="0"/>
              <a:t> o per </a:t>
            </a:r>
            <a:r>
              <a:rPr dirty="0" err="1"/>
              <a:t>infermità</a:t>
            </a:r>
            <a:r>
              <a:rPr dirty="0"/>
              <a:t>, </a:t>
            </a:r>
            <a:r>
              <a:rPr dirty="0" err="1"/>
              <a:t>ovvero</a:t>
            </a:r>
            <a:r>
              <a:rPr dirty="0"/>
              <a:t> se </a:t>
            </a:r>
            <a:r>
              <a:rPr dirty="0" err="1"/>
              <a:t>ricorre</a:t>
            </a:r>
            <a:r>
              <a:rPr dirty="0"/>
              <a:t> </a:t>
            </a:r>
            <a:r>
              <a:rPr dirty="0" err="1"/>
              <a:t>taluna</a:t>
            </a:r>
            <a:r>
              <a:rPr dirty="0"/>
              <a:t> </a:t>
            </a:r>
            <a:r>
              <a:rPr dirty="0" err="1"/>
              <a:t>delle</a:t>
            </a:r>
            <a:r>
              <a:rPr dirty="0"/>
              <a:t> </a:t>
            </a:r>
            <a:r>
              <a:rPr dirty="0" err="1"/>
              <a:t>circostanze</a:t>
            </a:r>
            <a:r>
              <a:rPr dirty="0"/>
              <a:t> di cui </a:t>
            </a:r>
            <a:r>
              <a:rPr dirty="0" err="1"/>
              <a:t>all’art</a:t>
            </a:r>
            <a:r>
              <a:rPr dirty="0"/>
              <a:t>. 625, </a:t>
            </a:r>
            <a:r>
              <a:rPr dirty="0" err="1"/>
              <a:t>numero</a:t>
            </a:r>
            <a:r>
              <a:rPr dirty="0"/>
              <a:t> 7 </a:t>
            </a:r>
            <a:r>
              <a:rPr sz="1700" u="sng" dirty="0"/>
              <a:t>(</a:t>
            </a:r>
            <a:r>
              <a:rPr sz="1700" u="sng" dirty="0" err="1"/>
              <a:t>fatto</a:t>
            </a:r>
            <a:r>
              <a:rPr sz="1700" u="sng" dirty="0"/>
              <a:t> </a:t>
            </a:r>
            <a:r>
              <a:rPr sz="1700" u="sng" dirty="0" err="1"/>
              <a:t>commesso</a:t>
            </a:r>
            <a:r>
              <a:rPr sz="1700" u="sng" dirty="0"/>
              <a:t> </a:t>
            </a:r>
            <a:r>
              <a:rPr sz="1700" u="sng" dirty="0" err="1"/>
              <a:t>su</a:t>
            </a:r>
            <a:r>
              <a:rPr sz="1700" u="sng" dirty="0"/>
              <a:t> </a:t>
            </a:r>
            <a:r>
              <a:rPr sz="1700" u="sng" dirty="0" err="1"/>
              <a:t>cose</a:t>
            </a:r>
            <a:r>
              <a:rPr sz="1700" u="sng" dirty="0"/>
              <a:t> </a:t>
            </a:r>
            <a:r>
              <a:rPr sz="1700" u="sng" dirty="0" err="1"/>
              <a:t>esistenti</a:t>
            </a:r>
            <a:r>
              <a:rPr sz="1700" u="sng" dirty="0"/>
              <a:t> in </a:t>
            </a:r>
            <a:r>
              <a:rPr sz="1700" u="sng" dirty="0" err="1"/>
              <a:t>uffici</a:t>
            </a:r>
            <a:r>
              <a:rPr sz="1700" u="sng" dirty="0"/>
              <a:t> o </a:t>
            </a:r>
            <a:r>
              <a:rPr sz="1700" u="sng" dirty="0" err="1"/>
              <a:t>stabilimenti</a:t>
            </a:r>
            <a:r>
              <a:rPr sz="1700" u="sng" dirty="0"/>
              <a:t> </a:t>
            </a:r>
            <a:r>
              <a:rPr sz="1700" u="sng" dirty="0" err="1"/>
              <a:t>pubblici</a:t>
            </a:r>
            <a:r>
              <a:rPr sz="1700" u="sng" dirty="0"/>
              <a:t>, o </a:t>
            </a:r>
            <a:r>
              <a:rPr sz="1700" u="sng" dirty="0" err="1"/>
              <a:t>sottoposte</a:t>
            </a:r>
            <a:r>
              <a:rPr sz="1700" u="sng" dirty="0"/>
              <a:t> a </a:t>
            </a:r>
            <a:r>
              <a:rPr sz="1700" u="sng" dirty="0" err="1"/>
              <a:t>sequestro</a:t>
            </a:r>
            <a:r>
              <a:rPr sz="1700" u="sng" dirty="0"/>
              <a:t> o </a:t>
            </a:r>
            <a:r>
              <a:rPr sz="1700" u="sng" dirty="0" err="1"/>
              <a:t>pignoramento</a:t>
            </a:r>
            <a:r>
              <a:rPr sz="1700" u="sng" dirty="0"/>
              <a:t>…)</a:t>
            </a:r>
            <a:r>
              <a:rPr dirty="0"/>
              <a:t>, salvo </a:t>
            </a:r>
            <a:r>
              <a:rPr dirty="0" err="1"/>
              <a:t>che</a:t>
            </a:r>
            <a:r>
              <a:rPr dirty="0"/>
              <a:t> </a:t>
            </a:r>
            <a:r>
              <a:rPr dirty="0" err="1"/>
              <a:t>il</a:t>
            </a:r>
            <a:r>
              <a:rPr dirty="0"/>
              <a:t> </a:t>
            </a:r>
            <a:r>
              <a:rPr dirty="0" err="1"/>
              <a:t>fatto</a:t>
            </a:r>
            <a:r>
              <a:rPr dirty="0"/>
              <a:t> </a:t>
            </a:r>
            <a:r>
              <a:rPr dirty="0" err="1"/>
              <a:t>sia</a:t>
            </a:r>
            <a:r>
              <a:rPr dirty="0"/>
              <a:t> </a:t>
            </a:r>
            <a:r>
              <a:rPr dirty="0" err="1"/>
              <a:t>commesso</a:t>
            </a:r>
            <a:r>
              <a:rPr dirty="0"/>
              <a:t> </a:t>
            </a:r>
            <a:r>
              <a:rPr dirty="0" err="1"/>
              <a:t>su</a:t>
            </a:r>
            <a:r>
              <a:rPr dirty="0"/>
              <a:t> </a:t>
            </a:r>
            <a:r>
              <a:rPr dirty="0" err="1"/>
              <a:t>cose</a:t>
            </a:r>
            <a:r>
              <a:rPr dirty="0"/>
              <a:t> </a:t>
            </a:r>
            <a:r>
              <a:rPr dirty="0" err="1"/>
              <a:t>esposte</a:t>
            </a:r>
            <a:r>
              <a:rPr dirty="0"/>
              <a:t> </a:t>
            </a:r>
            <a:r>
              <a:rPr dirty="0" err="1"/>
              <a:t>alla</a:t>
            </a:r>
            <a:r>
              <a:rPr dirty="0"/>
              <a:t> </a:t>
            </a:r>
            <a:r>
              <a:rPr dirty="0" err="1"/>
              <a:t>pubblica</a:t>
            </a:r>
            <a:r>
              <a:rPr dirty="0"/>
              <a:t> </a:t>
            </a:r>
            <a:r>
              <a:rPr dirty="0" err="1"/>
              <a:t>fede</a:t>
            </a:r>
            <a:r>
              <a:rPr dirty="0"/>
              <a:t>, e 7-bis) </a:t>
            </a:r>
            <a:r>
              <a:rPr sz="1600" dirty="0"/>
              <a:t>(</a:t>
            </a:r>
            <a:r>
              <a:rPr sz="1600" u="sng" dirty="0" err="1"/>
              <a:t>Fatto</a:t>
            </a:r>
            <a:r>
              <a:rPr sz="1600" u="sng" dirty="0"/>
              <a:t> </a:t>
            </a:r>
            <a:r>
              <a:rPr sz="1600" u="sng" dirty="0" err="1"/>
              <a:t>commesso</a:t>
            </a:r>
            <a:r>
              <a:rPr sz="1600" u="sng" dirty="0"/>
              <a:t> </a:t>
            </a:r>
            <a:r>
              <a:rPr sz="1600" u="sng" dirty="0" err="1"/>
              <a:t>su</a:t>
            </a:r>
            <a:r>
              <a:rPr sz="1600" u="sng" dirty="0"/>
              <a:t> </a:t>
            </a:r>
            <a:r>
              <a:rPr sz="1600" u="sng" dirty="0" err="1"/>
              <a:t>componenti</a:t>
            </a:r>
            <a:r>
              <a:rPr sz="1600" u="sng" dirty="0"/>
              <a:t> </a:t>
            </a:r>
            <a:r>
              <a:rPr sz="1600" u="sng" dirty="0" err="1"/>
              <a:t>metalliche</a:t>
            </a:r>
            <a:r>
              <a:rPr sz="1600" u="sng" dirty="0"/>
              <a:t> o </a:t>
            </a:r>
            <a:r>
              <a:rPr sz="1600" u="sng" dirty="0" err="1"/>
              <a:t>altro</a:t>
            </a:r>
            <a:r>
              <a:rPr sz="1600" u="sng" dirty="0"/>
              <a:t> </a:t>
            </a:r>
            <a:r>
              <a:rPr sz="1600" u="sng" dirty="0" err="1"/>
              <a:t>materiale</a:t>
            </a:r>
            <a:r>
              <a:rPr sz="1600" u="sng" dirty="0"/>
              <a:t> </a:t>
            </a:r>
            <a:r>
              <a:rPr sz="1600" u="sng" dirty="0" err="1"/>
              <a:t>sottratto</a:t>
            </a:r>
            <a:r>
              <a:rPr sz="1600" u="sng" dirty="0"/>
              <a:t> ad </a:t>
            </a:r>
            <a:r>
              <a:rPr sz="1600" u="sng" dirty="0" err="1"/>
              <a:t>infrastrutture</a:t>
            </a:r>
            <a:r>
              <a:rPr sz="1600" u="sng" dirty="0"/>
              <a:t> </a:t>
            </a:r>
            <a:r>
              <a:rPr sz="1600" u="sng" dirty="0" err="1"/>
              <a:t>destinate</a:t>
            </a:r>
            <a:r>
              <a:rPr sz="1600" u="sng" dirty="0"/>
              <a:t> </a:t>
            </a:r>
            <a:r>
              <a:rPr sz="1600" u="sng" dirty="0" err="1"/>
              <a:t>all’erogazione</a:t>
            </a:r>
            <a:r>
              <a:rPr sz="1600" u="sng" dirty="0"/>
              <a:t> di </a:t>
            </a:r>
            <a:r>
              <a:rPr sz="1600" u="sng" dirty="0" err="1"/>
              <a:t>energia</a:t>
            </a:r>
            <a:r>
              <a:rPr sz="1600" u="sng" dirty="0"/>
              <a:t>, di </a:t>
            </a:r>
            <a:r>
              <a:rPr sz="1600" u="sng" dirty="0" err="1"/>
              <a:t>servizi</a:t>
            </a:r>
            <a:r>
              <a:rPr sz="1600" u="sng" dirty="0"/>
              <a:t> di </a:t>
            </a:r>
            <a:r>
              <a:rPr sz="1600" u="sng" dirty="0" err="1"/>
              <a:t>trasporto</a:t>
            </a:r>
            <a:r>
              <a:rPr sz="1600" u="sng" dirty="0"/>
              <a:t>, di </a:t>
            </a:r>
            <a:r>
              <a:rPr sz="1600" u="sng" dirty="0" err="1"/>
              <a:t>telecomunicazioni</a:t>
            </a:r>
            <a:r>
              <a:rPr sz="1600" u="sng" dirty="0"/>
              <a:t>….)</a:t>
            </a:r>
            <a:r>
              <a:rPr dirty="0"/>
              <a:t>… </a:t>
            </a:r>
          </a:p>
        </p:txBody>
      </p:sp>
      <p:pic>
        <p:nvPicPr>
          <p:cNvPr id="241"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42"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Furto</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Furto"/>
          <p:cNvSpPr txBox="1">
            <a:spLocks noGrp="1"/>
          </p:cNvSpPr>
          <p:nvPr>
            <p:ph type="title"/>
          </p:nvPr>
        </p:nvSpPr>
        <p:spPr>
          <a:xfrm>
            <a:off x="-86808" y="-44139"/>
            <a:ext cx="2730443" cy="864403"/>
          </a:xfrm>
          <a:prstGeom prst="rect">
            <a:avLst/>
          </a:prstGeom>
        </p:spPr>
        <p:txBody>
          <a:bodyPr>
            <a:normAutofit/>
          </a:bodyPr>
          <a:lstStyle>
            <a:lvl1pPr>
              <a:defRPr>
                <a:solidFill>
                  <a:srgbClr val="FFFFFF"/>
                </a:solidFill>
              </a:defRPr>
            </a:lvl1pPr>
          </a:lstStyle>
          <a:p>
            <a:r>
              <a:rPr sz="3600" dirty="0" err="1">
                <a:latin typeface="Book Antiqua" panose="02040602050305030304" pitchFamily="18" charset="0"/>
              </a:rPr>
              <a:t>Furto</a:t>
            </a:r>
            <a:endParaRPr sz="3600" dirty="0">
              <a:latin typeface="Book Antiqua" panose="02040602050305030304" pitchFamily="18" charset="0"/>
            </a:endParaRPr>
          </a:p>
        </p:txBody>
      </p:sp>
      <p:sp>
        <p:nvSpPr>
          <p:cNvPr id="245" name="Reato comune.…"/>
          <p:cNvSpPr txBox="1">
            <a:spLocks noGrp="1"/>
          </p:cNvSpPr>
          <p:nvPr>
            <p:ph type="body" idx="1"/>
          </p:nvPr>
        </p:nvSpPr>
        <p:spPr>
          <a:xfrm>
            <a:off x="341678" y="1166017"/>
            <a:ext cx="8229601" cy="5404875"/>
          </a:xfrm>
          <a:prstGeom prst="rect">
            <a:avLst/>
          </a:prstGeom>
        </p:spPr>
        <p:txBody>
          <a:bodyPr>
            <a:normAutofit lnSpcReduction="10000"/>
          </a:bodyPr>
          <a:lstStyle/>
          <a:p>
            <a:pPr marL="298322" indent="-298322" defTabSz="795527">
              <a:spcBef>
                <a:spcPts val="600"/>
              </a:spcBef>
              <a:defRPr sz="2700">
                <a:solidFill>
                  <a:srgbClr val="FF0000"/>
                </a:solidFill>
              </a:defRPr>
            </a:pPr>
            <a:r>
              <a:rPr dirty="0" err="1">
                <a:latin typeface="Book Antiqua" panose="02040602050305030304" pitchFamily="18" charset="0"/>
              </a:rPr>
              <a:t>Reato</a:t>
            </a:r>
            <a:r>
              <a:rPr dirty="0">
                <a:latin typeface="Book Antiqua" panose="02040602050305030304" pitchFamily="18" charset="0"/>
              </a:rPr>
              <a:t> </a:t>
            </a:r>
            <a:r>
              <a:rPr dirty="0" err="1">
                <a:latin typeface="Book Antiqua" panose="02040602050305030304" pitchFamily="18" charset="0"/>
              </a:rPr>
              <a:t>comune</a:t>
            </a:r>
            <a:r>
              <a:rPr dirty="0">
                <a:latin typeface="Book Antiqua" panose="02040602050305030304" pitchFamily="18" charset="0"/>
              </a:rPr>
              <a:t>. </a:t>
            </a:r>
          </a:p>
          <a:p>
            <a:pPr marL="298322" indent="-298322" defTabSz="795527">
              <a:spcBef>
                <a:spcPts val="600"/>
              </a:spcBef>
              <a:defRPr sz="2700"/>
            </a:pPr>
            <a:endParaRPr dirty="0">
              <a:latin typeface="Book Antiqua" panose="02040602050305030304" pitchFamily="18" charset="0"/>
            </a:endParaRPr>
          </a:p>
          <a:p>
            <a:pPr marL="298322" indent="-298322" algn="just" defTabSz="795527">
              <a:spcBef>
                <a:spcPts val="600"/>
              </a:spcBef>
              <a:defRPr sz="2700">
                <a:solidFill>
                  <a:srgbClr val="FF0000"/>
                </a:solidFill>
              </a:defRPr>
            </a:pPr>
            <a:r>
              <a:rPr b="1" dirty="0" err="1">
                <a:solidFill>
                  <a:srgbClr val="00B050"/>
                </a:solidFill>
                <a:latin typeface="Book Antiqua" panose="02040602050305030304" pitchFamily="18" charset="0"/>
              </a:rPr>
              <a:t>Soggetto</a:t>
            </a:r>
            <a:r>
              <a:rPr b="1" dirty="0">
                <a:solidFill>
                  <a:srgbClr val="00B050"/>
                </a:solidFill>
                <a:latin typeface="Book Antiqua" panose="02040602050305030304" pitchFamily="18" charset="0"/>
              </a:rPr>
              <a:t> </a:t>
            </a:r>
            <a:r>
              <a:rPr b="1" dirty="0" err="1">
                <a:solidFill>
                  <a:srgbClr val="00B050"/>
                </a:solidFill>
                <a:latin typeface="Book Antiqua" panose="02040602050305030304" pitchFamily="18" charset="0"/>
              </a:rPr>
              <a:t>passivo</a:t>
            </a:r>
            <a:r>
              <a:rPr b="1" dirty="0">
                <a:solidFill>
                  <a:srgbClr val="00B050"/>
                </a:solidFill>
                <a:latin typeface="Book Antiqua" panose="02040602050305030304" pitchFamily="18" charset="0"/>
              </a:rPr>
              <a:t> </a:t>
            </a:r>
            <a:r>
              <a:rPr dirty="0">
                <a:solidFill>
                  <a:srgbClr val="000000"/>
                </a:solidFill>
                <a:latin typeface="Book Antiqua" panose="02040602050305030304" pitchFamily="18" charset="0"/>
              </a:rPr>
              <a:t>- è </a:t>
            </a:r>
            <a:r>
              <a:rPr dirty="0" err="1">
                <a:solidFill>
                  <a:srgbClr val="000000"/>
                </a:solidFill>
                <a:latin typeface="Book Antiqua" panose="02040602050305030304" pitchFamily="18" charset="0"/>
              </a:rPr>
              <a:t>il</a:t>
            </a:r>
            <a:r>
              <a:rPr dirty="0">
                <a:solidFill>
                  <a:srgbClr val="000000"/>
                </a:solidFill>
                <a:latin typeface="Book Antiqua" panose="02040602050305030304" pitchFamily="18" charset="0"/>
              </a:rPr>
              <a:t> </a:t>
            </a:r>
            <a:r>
              <a:rPr dirty="0" err="1">
                <a:solidFill>
                  <a:srgbClr val="000000"/>
                </a:solidFill>
                <a:latin typeface="Book Antiqua" panose="02040602050305030304" pitchFamily="18" charset="0"/>
              </a:rPr>
              <a:t>detentore</a:t>
            </a:r>
            <a:r>
              <a:rPr dirty="0">
                <a:solidFill>
                  <a:srgbClr val="000000"/>
                </a:solidFill>
                <a:latin typeface="Book Antiqua" panose="02040602050305030304" pitchFamily="18" charset="0"/>
              </a:rPr>
              <a:t> </a:t>
            </a:r>
            <a:r>
              <a:rPr dirty="0" err="1">
                <a:solidFill>
                  <a:srgbClr val="000000"/>
                </a:solidFill>
                <a:latin typeface="Book Antiqua" panose="02040602050305030304" pitchFamily="18" charset="0"/>
              </a:rPr>
              <a:t>della</a:t>
            </a:r>
            <a:r>
              <a:rPr dirty="0">
                <a:solidFill>
                  <a:srgbClr val="000000"/>
                </a:solidFill>
                <a:latin typeface="Book Antiqua" panose="02040602050305030304" pitchFamily="18" charset="0"/>
              </a:rPr>
              <a:t> </a:t>
            </a:r>
            <a:r>
              <a:rPr dirty="0" err="1">
                <a:solidFill>
                  <a:srgbClr val="000000"/>
                </a:solidFill>
                <a:latin typeface="Book Antiqua" panose="02040602050305030304" pitchFamily="18" charset="0"/>
              </a:rPr>
              <a:t>cosa</a:t>
            </a:r>
            <a:r>
              <a:rPr dirty="0">
                <a:solidFill>
                  <a:srgbClr val="000000"/>
                </a:solidFill>
                <a:latin typeface="Book Antiqua" panose="02040602050305030304" pitchFamily="18" charset="0"/>
              </a:rPr>
              <a:t> </a:t>
            </a:r>
            <a:r>
              <a:rPr dirty="0" err="1">
                <a:solidFill>
                  <a:srgbClr val="000000"/>
                </a:solidFill>
                <a:latin typeface="Book Antiqua" panose="02040602050305030304" pitchFamily="18" charset="0"/>
              </a:rPr>
              <a:t>sottratta</a:t>
            </a:r>
            <a:r>
              <a:rPr dirty="0">
                <a:solidFill>
                  <a:srgbClr val="000000"/>
                </a:solidFill>
                <a:latin typeface="Book Antiqua" panose="02040602050305030304" pitchFamily="18" charset="0"/>
              </a:rPr>
              <a:t>. </a:t>
            </a:r>
            <a:endParaRPr lang="it-IT" dirty="0">
              <a:solidFill>
                <a:srgbClr val="000000"/>
              </a:solidFill>
              <a:latin typeface="Book Antiqua" panose="02040602050305030304" pitchFamily="18" charset="0"/>
            </a:endParaRPr>
          </a:p>
          <a:p>
            <a:pPr marL="0" indent="0" algn="just" defTabSz="795527">
              <a:spcBef>
                <a:spcPts val="600"/>
              </a:spcBef>
              <a:buNone/>
              <a:defRPr sz="2700">
                <a:solidFill>
                  <a:srgbClr val="FF0000"/>
                </a:solidFill>
              </a:defRPr>
            </a:pPr>
            <a:r>
              <a:rPr sz="1900" dirty="0">
                <a:solidFill>
                  <a:srgbClr val="000000"/>
                </a:solidFill>
                <a:latin typeface="Book Antiqua" panose="02040602050305030304" pitchFamily="18" charset="0"/>
              </a:rPr>
              <a:t>Si </a:t>
            </a:r>
            <a:r>
              <a:rPr sz="1900" dirty="0" err="1">
                <a:solidFill>
                  <a:srgbClr val="000000"/>
                </a:solidFill>
                <a:latin typeface="Book Antiqua" panose="02040602050305030304" pitchFamily="18" charset="0"/>
              </a:rPr>
              <a:t>parla</a:t>
            </a:r>
            <a:r>
              <a:rPr sz="1900" dirty="0">
                <a:solidFill>
                  <a:srgbClr val="000000"/>
                </a:solidFill>
                <a:latin typeface="Book Antiqua" panose="02040602050305030304" pitchFamily="18" charset="0"/>
              </a:rPr>
              <a:t> di </a:t>
            </a:r>
            <a:r>
              <a:rPr sz="1900" dirty="0" err="1">
                <a:solidFill>
                  <a:srgbClr val="000000"/>
                </a:solidFill>
                <a:latin typeface="Book Antiqua" panose="02040602050305030304" pitchFamily="18" charset="0"/>
              </a:rPr>
              <a:t>detenzione</a:t>
            </a:r>
            <a:r>
              <a:rPr sz="1900" dirty="0">
                <a:solidFill>
                  <a:srgbClr val="000000"/>
                </a:solidFill>
                <a:latin typeface="Book Antiqua" panose="02040602050305030304" pitchFamily="18" charset="0"/>
              </a:rPr>
              <a:t> in </a:t>
            </a:r>
            <a:r>
              <a:rPr sz="1900" dirty="0" err="1">
                <a:solidFill>
                  <a:srgbClr val="000000"/>
                </a:solidFill>
                <a:latin typeface="Book Antiqua" panose="02040602050305030304" pitchFamily="18" charset="0"/>
              </a:rPr>
              <a:t>quanto</a:t>
            </a:r>
            <a:r>
              <a:rPr sz="1900" dirty="0">
                <a:solidFill>
                  <a:srgbClr val="000000"/>
                </a:solidFill>
                <a:latin typeface="Book Antiqua" panose="02040602050305030304" pitchFamily="18" charset="0"/>
              </a:rPr>
              <a:t> la </a:t>
            </a:r>
            <a:r>
              <a:rPr sz="1900" dirty="0" err="1">
                <a:solidFill>
                  <a:srgbClr val="000000"/>
                </a:solidFill>
                <a:latin typeface="Book Antiqua" panose="02040602050305030304" pitchFamily="18" charset="0"/>
              </a:rPr>
              <a:t>vittima</a:t>
            </a:r>
            <a:r>
              <a:rPr sz="1900" dirty="0">
                <a:solidFill>
                  <a:srgbClr val="000000"/>
                </a:solidFill>
                <a:latin typeface="Book Antiqua" panose="02040602050305030304" pitchFamily="18" charset="0"/>
              </a:rPr>
              <a:t> non </a:t>
            </a:r>
            <a:r>
              <a:rPr sz="1900" dirty="0" err="1">
                <a:solidFill>
                  <a:srgbClr val="000000"/>
                </a:solidFill>
                <a:latin typeface="Book Antiqua" panose="02040602050305030304" pitchFamily="18" charset="0"/>
              </a:rPr>
              <a:t>necessariamente</a:t>
            </a:r>
            <a:r>
              <a:rPr sz="1900" dirty="0">
                <a:solidFill>
                  <a:srgbClr val="000000"/>
                </a:solidFill>
                <a:latin typeface="Book Antiqua" panose="02040602050305030304" pitchFamily="18" charset="0"/>
              </a:rPr>
              <a:t> </a:t>
            </a:r>
            <a:r>
              <a:rPr sz="1900" dirty="0" err="1">
                <a:solidFill>
                  <a:srgbClr val="000000"/>
                </a:solidFill>
                <a:latin typeface="Book Antiqua" panose="02040602050305030304" pitchFamily="18" charset="0"/>
              </a:rPr>
              <a:t>deve</a:t>
            </a:r>
            <a:r>
              <a:rPr sz="1900" dirty="0">
                <a:solidFill>
                  <a:srgbClr val="000000"/>
                </a:solidFill>
                <a:latin typeface="Book Antiqua" panose="02040602050305030304" pitchFamily="18" charset="0"/>
              </a:rPr>
              <a:t> </a:t>
            </a:r>
            <a:r>
              <a:rPr sz="1900" dirty="0" err="1">
                <a:solidFill>
                  <a:srgbClr val="000000"/>
                </a:solidFill>
                <a:latin typeface="Book Antiqua" panose="02040602050305030304" pitchFamily="18" charset="0"/>
              </a:rPr>
              <a:t>coincidere</a:t>
            </a:r>
            <a:r>
              <a:rPr sz="1900" dirty="0">
                <a:solidFill>
                  <a:srgbClr val="000000"/>
                </a:solidFill>
                <a:latin typeface="Book Antiqua" panose="02040602050305030304" pitchFamily="18" charset="0"/>
              </a:rPr>
              <a:t> con</a:t>
            </a:r>
            <a:r>
              <a:rPr lang="it-IT" sz="1900" dirty="0">
                <a:solidFill>
                  <a:srgbClr val="000000"/>
                </a:solidFill>
                <a:latin typeface="Book Antiqua" panose="02040602050305030304" pitchFamily="18" charset="0"/>
              </a:rPr>
              <a:t> il</a:t>
            </a:r>
            <a:r>
              <a:rPr sz="1900" dirty="0">
                <a:solidFill>
                  <a:srgbClr val="000000"/>
                </a:solidFill>
                <a:latin typeface="Book Antiqua" panose="02040602050305030304" pitchFamily="18" charset="0"/>
              </a:rPr>
              <a:t> </a:t>
            </a:r>
            <a:r>
              <a:rPr sz="1900" dirty="0" err="1">
                <a:solidFill>
                  <a:srgbClr val="000000"/>
                </a:solidFill>
                <a:latin typeface="Book Antiqua" panose="02040602050305030304" pitchFamily="18" charset="0"/>
              </a:rPr>
              <a:t>proprietario</a:t>
            </a:r>
            <a:r>
              <a:rPr sz="1900" dirty="0">
                <a:solidFill>
                  <a:srgbClr val="000000"/>
                </a:solidFill>
                <a:latin typeface="Book Antiqua" panose="02040602050305030304" pitchFamily="18" charset="0"/>
              </a:rPr>
              <a:t> </a:t>
            </a:r>
            <a:r>
              <a:rPr sz="1900" dirty="0" err="1">
                <a:solidFill>
                  <a:srgbClr val="000000"/>
                </a:solidFill>
                <a:latin typeface="Book Antiqua" panose="02040602050305030304" pitchFamily="18" charset="0"/>
              </a:rPr>
              <a:t>della</a:t>
            </a:r>
            <a:r>
              <a:rPr sz="1900" dirty="0">
                <a:solidFill>
                  <a:srgbClr val="000000"/>
                </a:solidFill>
                <a:latin typeface="Book Antiqua" panose="02040602050305030304" pitchFamily="18" charset="0"/>
              </a:rPr>
              <a:t> </a:t>
            </a:r>
            <a:r>
              <a:rPr sz="1900" dirty="0" err="1">
                <a:solidFill>
                  <a:srgbClr val="000000"/>
                </a:solidFill>
                <a:latin typeface="Book Antiqua" panose="02040602050305030304" pitchFamily="18" charset="0"/>
              </a:rPr>
              <a:t>cosa</a:t>
            </a:r>
            <a:r>
              <a:rPr sz="1900" dirty="0">
                <a:solidFill>
                  <a:srgbClr val="000000"/>
                </a:solidFill>
                <a:latin typeface="Book Antiqua" panose="02040602050305030304" pitchFamily="18" charset="0"/>
              </a:rPr>
              <a:t> </a:t>
            </a:r>
            <a:r>
              <a:rPr sz="1900" dirty="0" err="1">
                <a:solidFill>
                  <a:srgbClr val="000000"/>
                </a:solidFill>
                <a:latin typeface="Book Antiqua" panose="02040602050305030304" pitchFamily="18" charset="0"/>
              </a:rPr>
              <a:t>rubata</a:t>
            </a:r>
            <a:r>
              <a:rPr sz="1900" dirty="0">
                <a:solidFill>
                  <a:srgbClr val="000000"/>
                </a:solidFill>
                <a:latin typeface="Book Antiqua" panose="02040602050305030304" pitchFamily="18" charset="0"/>
              </a:rPr>
              <a:t>; </a:t>
            </a:r>
            <a:r>
              <a:rPr sz="1900" dirty="0" err="1">
                <a:solidFill>
                  <a:srgbClr val="000000"/>
                </a:solidFill>
                <a:latin typeface="Book Antiqua" panose="02040602050305030304" pitchFamily="18" charset="0"/>
              </a:rPr>
              <a:t>potrebbe</a:t>
            </a:r>
            <a:r>
              <a:rPr sz="1900" dirty="0">
                <a:solidFill>
                  <a:srgbClr val="000000"/>
                </a:solidFill>
                <a:latin typeface="Book Antiqua" panose="02040602050305030304" pitchFamily="18" charset="0"/>
              </a:rPr>
              <a:t>, </a:t>
            </a:r>
            <a:r>
              <a:rPr sz="1900" dirty="0" err="1">
                <a:solidFill>
                  <a:srgbClr val="000000"/>
                </a:solidFill>
                <a:latin typeface="Book Antiqua" panose="02040602050305030304" pitchFamily="18" charset="0"/>
              </a:rPr>
              <a:t>infatti</a:t>
            </a:r>
            <a:r>
              <a:rPr sz="1900" dirty="0">
                <a:solidFill>
                  <a:srgbClr val="000000"/>
                </a:solidFill>
                <a:latin typeface="Book Antiqua" panose="02040602050305030304" pitchFamily="18" charset="0"/>
              </a:rPr>
              <a:t>, </a:t>
            </a:r>
            <a:r>
              <a:rPr sz="1900" dirty="0" err="1">
                <a:solidFill>
                  <a:srgbClr val="000000"/>
                </a:solidFill>
                <a:latin typeface="Book Antiqua" panose="02040602050305030304" pitchFamily="18" charset="0"/>
              </a:rPr>
              <a:t>esterne</a:t>
            </a:r>
            <a:r>
              <a:rPr sz="1900" dirty="0">
                <a:solidFill>
                  <a:srgbClr val="000000"/>
                </a:solidFill>
                <a:latin typeface="Book Antiqua" panose="02040602050305030304" pitchFamily="18" charset="0"/>
              </a:rPr>
              <a:t> un </a:t>
            </a:r>
            <a:r>
              <a:rPr sz="1900" dirty="0" err="1">
                <a:solidFill>
                  <a:srgbClr val="000000"/>
                </a:solidFill>
                <a:latin typeface="Book Antiqua" panose="02040602050305030304" pitchFamily="18" charset="0"/>
              </a:rPr>
              <a:t>possessore</a:t>
            </a:r>
            <a:r>
              <a:rPr sz="1900" dirty="0">
                <a:solidFill>
                  <a:srgbClr val="000000"/>
                </a:solidFill>
                <a:latin typeface="Book Antiqua" panose="02040602050305030304" pitchFamily="18" charset="0"/>
              </a:rPr>
              <a:t> </a:t>
            </a:r>
            <a:r>
              <a:rPr sz="1900" dirty="0" err="1">
                <a:solidFill>
                  <a:srgbClr val="000000"/>
                </a:solidFill>
                <a:latin typeface="Book Antiqua" panose="02040602050305030304" pitchFamily="18" charset="0"/>
              </a:rPr>
              <a:t>qualificato</a:t>
            </a:r>
            <a:r>
              <a:rPr sz="1900" dirty="0">
                <a:solidFill>
                  <a:srgbClr val="000000"/>
                </a:solidFill>
                <a:latin typeface="Book Antiqua" panose="02040602050305030304" pitchFamily="18" charset="0"/>
              </a:rPr>
              <a:t> o </a:t>
            </a:r>
            <a:r>
              <a:rPr sz="1900" dirty="0" err="1">
                <a:solidFill>
                  <a:srgbClr val="000000"/>
                </a:solidFill>
                <a:latin typeface="Book Antiqua" panose="02040602050305030304" pitchFamily="18" charset="0"/>
              </a:rPr>
              <a:t>vantarvi</a:t>
            </a:r>
            <a:r>
              <a:rPr sz="1900" dirty="0">
                <a:solidFill>
                  <a:srgbClr val="000000"/>
                </a:solidFill>
                <a:latin typeface="Book Antiqua" panose="02040602050305030304" pitchFamily="18" charset="0"/>
              </a:rPr>
              <a:t> un mero </a:t>
            </a:r>
            <a:r>
              <a:rPr sz="1900" dirty="0" err="1">
                <a:solidFill>
                  <a:srgbClr val="000000"/>
                </a:solidFill>
                <a:latin typeface="Book Antiqua" panose="02040602050305030304" pitchFamily="18" charset="0"/>
              </a:rPr>
              <a:t>diritto</a:t>
            </a:r>
            <a:r>
              <a:rPr sz="1900" dirty="0">
                <a:solidFill>
                  <a:srgbClr val="000000"/>
                </a:solidFill>
                <a:latin typeface="Book Antiqua" panose="02040602050305030304" pitchFamily="18" charset="0"/>
              </a:rPr>
              <a:t> </a:t>
            </a:r>
            <a:r>
              <a:rPr sz="1900" dirty="0" err="1">
                <a:solidFill>
                  <a:srgbClr val="000000"/>
                </a:solidFill>
                <a:latin typeface="Book Antiqua" panose="02040602050305030304" pitchFamily="18" charset="0"/>
              </a:rPr>
              <a:t>reale</a:t>
            </a:r>
            <a:r>
              <a:rPr sz="1900" dirty="0">
                <a:solidFill>
                  <a:srgbClr val="000000"/>
                </a:solidFill>
                <a:latin typeface="Book Antiqua" panose="02040602050305030304" pitchFamily="18" charset="0"/>
              </a:rPr>
              <a:t> o </a:t>
            </a:r>
            <a:r>
              <a:rPr sz="1900" dirty="0" err="1">
                <a:solidFill>
                  <a:srgbClr val="000000"/>
                </a:solidFill>
                <a:latin typeface="Book Antiqua" panose="02040602050305030304" pitchFamily="18" charset="0"/>
              </a:rPr>
              <a:t>personale</a:t>
            </a:r>
            <a:r>
              <a:rPr sz="1900" dirty="0">
                <a:solidFill>
                  <a:srgbClr val="000000"/>
                </a:solidFill>
                <a:latin typeface="Book Antiqua" panose="02040602050305030304" pitchFamily="18" charset="0"/>
              </a:rPr>
              <a:t> di </a:t>
            </a:r>
            <a:r>
              <a:rPr sz="1900" dirty="0" err="1">
                <a:solidFill>
                  <a:srgbClr val="000000"/>
                </a:solidFill>
                <a:latin typeface="Book Antiqua" panose="02040602050305030304" pitchFamily="18" charset="0"/>
              </a:rPr>
              <a:t>godimento</a:t>
            </a:r>
            <a:r>
              <a:rPr sz="1900" dirty="0">
                <a:solidFill>
                  <a:srgbClr val="000000"/>
                </a:solidFill>
                <a:latin typeface="Book Antiqua" panose="02040602050305030304" pitchFamily="18" charset="0"/>
              </a:rPr>
              <a:t>.</a:t>
            </a:r>
          </a:p>
          <a:p>
            <a:pPr marL="298322" indent="-298322" algn="just" defTabSz="795527">
              <a:spcBef>
                <a:spcPts val="600"/>
              </a:spcBef>
              <a:defRPr sz="1900"/>
            </a:pPr>
            <a:endParaRPr sz="1900" dirty="0">
              <a:solidFill>
                <a:srgbClr val="000000"/>
              </a:solidFill>
              <a:latin typeface="Book Antiqua" panose="02040602050305030304" pitchFamily="18" charset="0"/>
            </a:endParaRPr>
          </a:p>
          <a:p>
            <a:pPr marL="205097" indent="-205097" algn="just" defTabSz="795527">
              <a:spcBef>
                <a:spcPts val="600"/>
              </a:spcBef>
              <a:defRPr sz="1900">
                <a:solidFill>
                  <a:srgbClr val="FF0000"/>
                </a:solidFill>
              </a:defRPr>
            </a:pPr>
            <a:r>
              <a:rPr sz="2400" b="1" dirty="0">
                <a:solidFill>
                  <a:schemeClr val="accent6"/>
                </a:solidFill>
                <a:latin typeface="Book Antiqua" panose="02040602050305030304" pitchFamily="18" charset="0"/>
              </a:rPr>
              <a:t>Cosa mobile: </a:t>
            </a:r>
            <a:r>
              <a:rPr sz="2400" dirty="0" err="1">
                <a:solidFill>
                  <a:srgbClr val="000000"/>
                </a:solidFill>
                <a:latin typeface="Book Antiqua" panose="02040602050305030304" pitchFamily="18" charset="0"/>
              </a:rPr>
              <a:t>qualsiasi</a:t>
            </a:r>
            <a:r>
              <a:rPr sz="2400" dirty="0">
                <a:solidFill>
                  <a:srgbClr val="000000"/>
                </a:solidFill>
                <a:latin typeface="Book Antiqua" panose="02040602050305030304" pitchFamily="18" charset="0"/>
              </a:rPr>
              <a:t> </a:t>
            </a:r>
            <a:r>
              <a:rPr lang="it-IT" sz="2400" dirty="0">
                <a:solidFill>
                  <a:schemeClr val="tx1"/>
                </a:solidFill>
                <a:latin typeface="Book Antiqua" panose="02040602050305030304" pitchFamily="18" charset="0"/>
              </a:rPr>
              <a:t>entità materiale idonea a soddisfare un bisogno umano. Deve, in ogni caso, trattarsi di una parte del mondo esterno avente una </a:t>
            </a:r>
            <a:r>
              <a:rPr lang="it-IT" sz="2400" i="1" dirty="0">
                <a:solidFill>
                  <a:schemeClr val="tx1"/>
                </a:solidFill>
                <a:latin typeface="Book Antiqua" panose="02040602050305030304" pitchFamily="18" charset="0"/>
              </a:rPr>
              <a:t>dimensione fisica </a:t>
            </a:r>
            <a:r>
              <a:rPr sz="2400" u="sng" dirty="0">
                <a:solidFill>
                  <a:srgbClr val="000000"/>
                </a:solidFill>
                <a:latin typeface="Book Antiqua" panose="02040602050305030304" pitchFamily="18" charset="0"/>
              </a:rPr>
              <a:t>di cui </a:t>
            </a:r>
            <a:r>
              <a:rPr sz="2400" u="sng" dirty="0" err="1">
                <a:solidFill>
                  <a:srgbClr val="000000"/>
                </a:solidFill>
                <a:latin typeface="Book Antiqua" panose="02040602050305030304" pitchFamily="18" charset="0"/>
              </a:rPr>
              <a:t>sia</a:t>
            </a:r>
            <a:r>
              <a:rPr sz="2400" u="sng" dirty="0">
                <a:solidFill>
                  <a:srgbClr val="000000"/>
                </a:solidFill>
                <a:latin typeface="Book Antiqua" panose="02040602050305030304" pitchFamily="18" charset="0"/>
              </a:rPr>
              <a:t> </a:t>
            </a:r>
            <a:r>
              <a:rPr sz="2400" u="sng" dirty="0" err="1">
                <a:solidFill>
                  <a:srgbClr val="000000"/>
                </a:solidFill>
                <a:latin typeface="Book Antiqua" panose="02040602050305030304" pitchFamily="18" charset="0"/>
              </a:rPr>
              <a:t>possibile</a:t>
            </a:r>
            <a:r>
              <a:rPr sz="2400" u="sng" dirty="0">
                <a:solidFill>
                  <a:srgbClr val="000000"/>
                </a:solidFill>
                <a:latin typeface="Book Antiqua" panose="02040602050305030304" pitchFamily="18" charset="0"/>
              </a:rPr>
              <a:t> la </a:t>
            </a:r>
            <a:r>
              <a:rPr sz="2400" u="sng" dirty="0" err="1">
                <a:solidFill>
                  <a:srgbClr val="000000"/>
                </a:solidFill>
                <a:latin typeface="Book Antiqua" panose="02040602050305030304" pitchFamily="18" charset="0"/>
              </a:rPr>
              <a:t>fisica</a:t>
            </a:r>
            <a:r>
              <a:rPr sz="2400" u="sng" dirty="0">
                <a:solidFill>
                  <a:srgbClr val="000000"/>
                </a:solidFill>
                <a:latin typeface="Book Antiqua" panose="02040602050305030304" pitchFamily="18" charset="0"/>
              </a:rPr>
              <a:t> </a:t>
            </a:r>
            <a:r>
              <a:rPr sz="2400" u="sng" dirty="0" err="1">
                <a:solidFill>
                  <a:srgbClr val="000000"/>
                </a:solidFill>
                <a:latin typeface="Book Antiqua" panose="02040602050305030304" pitchFamily="18" charset="0"/>
              </a:rPr>
              <a:t>detenzione</a:t>
            </a:r>
            <a:r>
              <a:rPr sz="2400" u="sng" dirty="0">
                <a:solidFill>
                  <a:srgbClr val="000000"/>
                </a:solidFill>
                <a:latin typeface="Book Antiqua" panose="02040602050305030304" pitchFamily="18" charset="0"/>
              </a:rPr>
              <a:t>, </a:t>
            </a:r>
            <a:r>
              <a:rPr sz="2400" u="sng" dirty="0" err="1">
                <a:solidFill>
                  <a:srgbClr val="000000"/>
                </a:solidFill>
                <a:latin typeface="Book Antiqua" panose="02040602050305030304" pitchFamily="18" charset="0"/>
              </a:rPr>
              <a:t>sottrazione</a:t>
            </a:r>
            <a:r>
              <a:rPr sz="2400" u="sng" dirty="0">
                <a:solidFill>
                  <a:srgbClr val="000000"/>
                </a:solidFill>
                <a:latin typeface="Book Antiqua" panose="02040602050305030304" pitchFamily="18" charset="0"/>
              </a:rPr>
              <a:t>, </a:t>
            </a:r>
            <a:r>
              <a:rPr sz="2400" u="sng" dirty="0" err="1">
                <a:solidFill>
                  <a:srgbClr val="000000"/>
                </a:solidFill>
                <a:latin typeface="Book Antiqua" panose="02040602050305030304" pitchFamily="18" charset="0"/>
              </a:rPr>
              <a:t>impossessamento</a:t>
            </a:r>
            <a:r>
              <a:rPr sz="2400" u="sng" dirty="0">
                <a:solidFill>
                  <a:srgbClr val="000000"/>
                </a:solidFill>
                <a:latin typeface="Book Antiqua" panose="02040602050305030304" pitchFamily="18" charset="0"/>
              </a:rPr>
              <a:t> o d</a:t>
            </a:r>
            <a:r>
              <a:rPr lang="it-IT" sz="2400" u="sng" dirty="0">
                <a:solidFill>
                  <a:srgbClr val="000000"/>
                </a:solidFill>
                <a:latin typeface="Book Antiqua" panose="02040602050305030304" pitchFamily="18" charset="0"/>
              </a:rPr>
              <a:t>i</a:t>
            </a:r>
            <a:r>
              <a:rPr sz="2400" u="sng" dirty="0">
                <a:solidFill>
                  <a:srgbClr val="000000"/>
                </a:solidFill>
                <a:latin typeface="Book Antiqua" panose="02040602050305030304" pitchFamily="18" charset="0"/>
              </a:rPr>
              <a:t> </a:t>
            </a:r>
            <a:r>
              <a:rPr sz="2400" u="sng" dirty="0" err="1">
                <a:solidFill>
                  <a:srgbClr val="000000"/>
                </a:solidFill>
                <a:latin typeface="Book Antiqua" panose="02040602050305030304" pitchFamily="18" charset="0"/>
              </a:rPr>
              <a:t>appropriazione</a:t>
            </a:r>
            <a:r>
              <a:rPr sz="2400" u="sng" dirty="0">
                <a:solidFill>
                  <a:srgbClr val="000000"/>
                </a:solidFill>
                <a:latin typeface="Book Antiqua" panose="02040602050305030304" pitchFamily="18" charset="0"/>
              </a:rPr>
              <a:t> e </a:t>
            </a:r>
            <a:r>
              <a:rPr sz="2400" u="sng" dirty="0" err="1">
                <a:solidFill>
                  <a:srgbClr val="000000"/>
                </a:solidFill>
                <a:latin typeface="Book Antiqua" panose="02040602050305030304" pitchFamily="18" charset="0"/>
              </a:rPr>
              <a:t>che</a:t>
            </a:r>
            <a:r>
              <a:rPr sz="2400" u="sng" dirty="0">
                <a:solidFill>
                  <a:srgbClr val="000000"/>
                </a:solidFill>
                <a:latin typeface="Book Antiqua" panose="02040602050305030304" pitchFamily="18" charset="0"/>
              </a:rPr>
              <a:t> </a:t>
            </a:r>
            <a:r>
              <a:rPr sz="2400" u="sng" dirty="0" err="1">
                <a:solidFill>
                  <a:srgbClr val="000000"/>
                </a:solidFill>
                <a:latin typeface="Book Antiqua" panose="02040602050305030304" pitchFamily="18" charset="0"/>
              </a:rPr>
              <a:t>possa</a:t>
            </a:r>
            <a:r>
              <a:rPr sz="2400" u="sng" dirty="0">
                <a:solidFill>
                  <a:srgbClr val="000000"/>
                </a:solidFill>
                <a:latin typeface="Book Antiqua" panose="02040602050305030304" pitchFamily="18" charset="0"/>
              </a:rPr>
              <a:t> </a:t>
            </a:r>
            <a:r>
              <a:rPr sz="2400" u="sng" dirty="0" err="1">
                <a:solidFill>
                  <a:srgbClr val="000000"/>
                </a:solidFill>
                <a:latin typeface="Book Antiqua" panose="02040602050305030304" pitchFamily="18" charset="0"/>
              </a:rPr>
              <a:t>essere</a:t>
            </a:r>
            <a:r>
              <a:rPr sz="2400" u="sng" dirty="0">
                <a:solidFill>
                  <a:srgbClr val="000000"/>
                </a:solidFill>
                <a:latin typeface="Book Antiqua" panose="02040602050305030304" pitchFamily="18" charset="0"/>
              </a:rPr>
              <a:t> </a:t>
            </a:r>
            <a:r>
              <a:rPr sz="2400" u="sng" dirty="0" err="1">
                <a:solidFill>
                  <a:srgbClr val="000000"/>
                </a:solidFill>
                <a:latin typeface="Book Antiqua" panose="02040602050305030304" pitchFamily="18" charset="0"/>
              </a:rPr>
              <a:t>trasportata</a:t>
            </a:r>
            <a:r>
              <a:rPr sz="2400" u="sng" dirty="0">
                <a:solidFill>
                  <a:srgbClr val="000000"/>
                </a:solidFill>
                <a:latin typeface="Book Antiqua" panose="02040602050305030304" pitchFamily="18" charset="0"/>
              </a:rPr>
              <a:t> o </a:t>
            </a:r>
            <a:r>
              <a:rPr sz="2400" u="sng" dirty="0" err="1">
                <a:solidFill>
                  <a:srgbClr val="000000"/>
                </a:solidFill>
                <a:latin typeface="Book Antiqua" panose="02040602050305030304" pitchFamily="18" charset="0"/>
              </a:rPr>
              <a:t>spostata</a:t>
            </a:r>
            <a:r>
              <a:rPr sz="2400" dirty="0">
                <a:solidFill>
                  <a:srgbClr val="000000"/>
                </a:solidFill>
                <a:latin typeface="Book Antiqua" panose="02040602050305030304" pitchFamily="18" charset="0"/>
              </a:rPr>
              <a:t>. </a:t>
            </a:r>
            <a:endParaRPr dirty="0">
              <a:latin typeface="Book Antiqua" panose="02040602050305030304" pitchFamily="18" charset="0"/>
            </a:endParaRPr>
          </a:p>
        </p:txBody>
      </p:sp>
      <p:sp>
        <p:nvSpPr>
          <p:cNvPr id="246" name="Numero diapositiva"/>
          <p:cNvSpPr txBox="1">
            <a:spLocks noGrp="1"/>
          </p:cNvSpPr>
          <p:nvPr>
            <p:ph type="sldNum" sz="quarter" idx="4294967295"/>
          </p:nvPr>
        </p:nvSpPr>
        <p:spPr>
          <a:xfrm>
            <a:off x="8506459" y="6401179"/>
            <a:ext cx="180339" cy="2754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a:t>
            </a:fld>
            <a:endParaRPr/>
          </a:p>
        </p:txBody>
      </p:sp>
      <p:pic>
        <p:nvPicPr>
          <p:cNvPr id="247"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 name="Rettangolo 4"/>
          <p:cNvSpPr txBox="1"/>
          <p:nvPr/>
        </p:nvSpPr>
        <p:spPr>
          <a:xfrm>
            <a:off x="45719" y="980729"/>
            <a:ext cx="9052561" cy="536204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600"/>
              </a:spcBef>
              <a:defRPr sz="2200" u="sng">
                <a:latin typeface="Times New Roman"/>
                <a:ea typeface="Times New Roman"/>
                <a:cs typeface="Times New Roman"/>
                <a:sym typeface="Times New Roman"/>
              </a:defRPr>
            </a:pPr>
            <a:r>
              <a:t>ELEMENTO OGGETTIVO</a:t>
            </a:r>
            <a:r>
              <a:rPr b="0" u="none"/>
              <a:t>: affinché si configuri il delitto di furto occorrono i seguenti elementi:</a:t>
            </a:r>
          </a:p>
          <a:p>
            <a:pPr marL="342900" indent="-342900" algn="just">
              <a:lnSpc>
                <a:spcPct val="114000"/>
              </a:lnSpc>
              <a:spcBef>
                <a:spcPts val="600"/>
              </a:spcBef>
              <a:buSzPct val="100000"/>
              <a:buFont typeface="Times New Roman"/>
              <a:buChar char="➢"/>
              <a:defRPr sz="2200" b="0">
                <a:latin typeface="Times New Roman"/>
                <a:ea typeface="Times New Roman"/>
                <a:cs typeface="Times New Roman"/>
                <a:sym typeface="Times New Roman"/>
              </a:defRPr>
            </a:pPr>
            <a:r>
              <a:t>la </a:t>
            </a:r>
            <a:r>
              <a:rPr b="1" u="sng">
                <a:solidFill>
                  <a:srgbClr val="FF0000"/>
                </a:solidFill>
              </a:rPr>
              <a:t>SOTTRAZIONE DELLA COSA</a:t>
            </a:r>
            <a:r>
              <a:t>: si ha quando la cosa viene tolta dall’immediata disponibilità dell’avente diritto, pur rimanendo nella sua sfera di controllo </a:t>
            </a:r>
            <a:r>
              <a:rPr sz="1800"/>
              <a:t>(es. del ladro che ha già sfilato dalla tasca di un soggetto il portafoglio, ma si trova ancora abbastanza vicino da rientrare nella sua sfera visiva).                                    </a:t>
            </a:r>
            <a:r>
              <a:t>È importante che la cosa mobile, al momento della sottrazione, </a:t>
            </a:r>
            <a:r>
              <a:rPr b="1"/>
              <a:t>sia posseduta o detenuta da un soggetto diverso dall’autore del reato</a:t>
            </a:r>
            <a:r>
              <a:t>: ciò </a:t>
            </a:r>
            <a:r>
              <a:rPr b="1">
                <a:solidFill>
                  <a:srgbClr val="002F8E"/>
                </a:solidFill>
              </a:rPr>
              <a:t>distingue il furto dall’appropriazione indebita </a:t>
            </a:r>
            <a:r>
              <a:t>(art. 646 c.p.) che presuppone un preliminare possesso legittimo della cosa sottratta da parte dell’agente;</a:t>
            </a:r>
          </a:p>
          <a:p>
            <a:pPr marL="342900" indent="-342900" algn="just">
              <a:lnSpc>
                <a:spcPct val="114000"/>
              </a:lnSpc>
              <a:spcBef>
                <a:spcPts val="600"/>
              </a:spcBef>
              <a:buSzPct val="100000"/>
              <a:buFont typeface="Times New Roman"/>
              <a:buChar char="➢"/>
              <a:defRPr sz="2200" b="0">
                <a:latin typeface="Times New Roman"/>
                <a:ea typeface="Times New Roman"/>
                <a:cs typeface="Times New Roman"/>
                <a:sym typeface="Times New Roman"/>
              </a:defRPr>
            </a:pPr>
            <a:r>
              <a:t>l</a:t>
            </a:r>
            <a:r>
              <a:rPr u="sng">
                <a:solidFill>
                  <a:srgbClr val="FF0000"/>
                </a:solidFill>
              </a:rPr>
              <a:t>’</a:t>
            </a:r>
            <a:r>
              <a:rPr b="1" u="sng">
                <a:solidFill>
                  <a:srgbClr val="FF0000"/>
                </a:solidFill>
              </a:rPr>
              <a:t>IMPOSSESSAMENTO</a:t>
            </a:r>
            <a:r>
              <a:rPr>
                <a:solidFill>
                  <a:srgbClr val="002F8E"/>
                </a:solidFill>
              </a:rPr>
              <a:t>:</a:t>
            </a:r>
            <a:r>
              <a:t> quando il reo </a:t>
            </a:r>
            <a:r>
              <a:rPr b="1"/>
              <a:t>guadagna il possesso autonomo della cosa</a:t>
            </a:r>
            <a:r>
              <a:t>, seppur per poco tempo. Il concetto di possesso ricomprende tutti i casi in cui un soggetto ha un </a:t>
            </a:r>
            <a:r>
              <a:rPr b="1">
                <a:solidFill>
                  <a:srgbClr val="002F8E"/>
                </a:solidFill>
              </a:rPr>
              <a:t>potere autonomo sulla </a:t>
            </a:r>
            <a:r>
              <a:rPr b="1" i="1">
                <a:solidFill>
                  <a:srgbClr val="002F8E"/>
                </a:solidFill>
              </a:rPr>
              <a:t>res</a:t>
            </a:r>
            <a:r>
              <a:rPr i="1"/>
              <a:t>.</a:t>
            </a:r>
          </a:p>
        </p:txBody>
      </p:sp>
      <p:pic>
        <p:nvPicPr>
          <p:cNvPr id="250"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51"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Furto</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Rettangolo 4"/>
          <p:cNvSpPr txBox="1"/>
          <p:nvPr/>
        </p:nvSpPr>
        <p:spPr>
          <a:xfrm>
            <a:off x="182570" y="836712"/>
            <a:ext cx="8736198" cy="544646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600"/>
              </a:spcBef>
              <a:defRPr sz="2200" b="0">
                <a:latin typeface="Times New Roman"/>
                <a:ea typeface="Times New Roman"/>
                <a:cs typeface="Times New Roman"/>
                <a:sym typeface="Times New Roman"/>
              </a:defRPr>
            </a:pPr>
            <a:r>
              <a:t>Affinché il reato di furto giunga a </a:t>
            </a:r>
            <a:r>
              <a:rPr b="1"/>
              <a:t>consumazione</a:t>
            </a:r>
            <a:r>
              <a:t> devono realizzarsi ambedue le condotte, sia quella di </a:t>
            </a:r>
            <a:r>
              <a:rPr b="1"/>
              <a:t>sottrazione</a:t>
            </a:r>
            <a:r>
              <a:t> che di successivo </a:t>
            </a:r>
            <a:r>
              <a:rPr b="1"/>
              <a:t>impossessamento</a:t>
            </a:r>
            <a:r>
              <a:t>. Se la seconda viene meno per causa indipendente dalla volontà del reo, non si avrà un furto, ma un </a:t>
            </a:r>
            <a:r>
              <a:rPr b="1">
                <a:solidFill>
                  <a:srgbClr val="FF0000"/>
                </a:solidFill>
              </a:rPr>
              <a:t>tentato furto</a:t>
            </a:r>
            <a:r>
              <a:t>. Se quindi avviene solo la mera sottrazione della cosa il soggetto risponderà di furto tentato, in quanto manca il breve lasso di tempo di dominio esclusivo della cosa sottratta da parte dell’agente. </a:t>
            </a:r>
          </a:p>
          <a:p>
            <a:pPr algn="just">
              <a:lnSpc>
                <a:spcPct val="114000"/>
              </a:lnSpc>
              <a:spcBef>
                <a:spcPts val="600"/>
              </a:spcBef>
              <a:defRPr sz="2200" u="sng">
                <a:solidFill>
                  <a:srgbClr val="FF0000"/>
                </a:solidFill>
                <a:latin typeface="Times New Roman"/>
                <a:ea typeface="Times New Roman"/>
                <a:cs typeface="Times New Roman"/>
                <a:sym typeface="Times New Roman"/>
              </a:defRPr>
            </a:pPr>
            <a:r>
              <a:t>IL FURTO SI CONSUMA QUINDI CON L’IMPOSSESSAMENTO</a:t>
            </a:r>
            <a:r>
              <a:rPr b="0"/>
              <a:t>.</a:t>
            </a:r>
          </a:p>
          <a:p>
            <a:pPr algn="just">
              <a:lnSpc>
                <a:spcPct val="114000"/>
              </a:lnSpc>
              <a:spcBef>
                <a:spcPts val="600"/>
              </a:spcBef>
              <a:defRPr sz="1000" b="0">
                <a:latin typeface="Times New Roman"/>
                <a:ea typeface="Times New Roman"/>
                <a:cs typeface="Times New Roman"/>
                <a:sym typeface="Times New Roman"/>
              </a:defRPr>
            </a:pPr>
            <a:endParaRPr b="0"/>
          </a:p>
          <a:p>
            <a:pPr algn="just">
              <a:lnSpc>
                <a:spcPct val="114000"/>
              </a:lnSpc>
              <a:spcBef>
                <a:spcPts val="600"/>
              </a:spcBef>
              <a:defRPr sz="2200" u="sng">
                <a:latin typeface="Times New Roman"/>
                <a:ea typeface="Times New Roman"/>
                <a:cs typeface="Times New Roman"/>
                <a:sym typeface="Times New Roman"/>
              </a:defRPr>
            </a:pPr>
            <a:r>
              <a:t>ELEMENTO SOGGETTIVO</a:t>
            </a:r>
            <a:r>
              <a:rPr b="0" u="none"/>
              <a:t>: è il </a:t>
            </a:r>
            <a:r>
              <a:rPr u="none">
                <a:solidFill>
                  <a:srgbClr val="002F8E"/>
                </a:solidFill>
              </a:rPr>
              <a:t>DOLO SPECIFICO</a:t>
            </a:r>
            <a:r>
              <a:rPr b="0" u="none">
                <a:solidFill>
                  <a:srgbClr val="0070C0"/>
                </a:solidFill>
              </a:rPr>
              <a:t> </a:t>
            </a:r>
            <a:r>
              <a:rPr b="0" u="none"/>
              <a:t>in quanto si ha la coscienza e volontà della condotta </a:t>
            </a:r>
            <a:r>
              <a:rPr u="none">
                <a:solidFill>
                  <a:srgbClr val="002F8E"/>
                </a:solidFill>
              </a:rPr>
              <a:t>al fine di trarne un profitto </a:t>
            </a:r>
            <a:r>
              <a:rPr b="0" u="none"/>
              <a:t>per sé o per altri.</a:t>
            </a:r>
          </a:p>
          <a:p>
            <a:pPr algn="just">
              <a:lnSpc>
                <a:spcPct val="114000"/>
              </a:lnSpc>
              <a:spcBef>
                <a:spcPts val="600"/>
              </a:spcBef>
              <a:defRPr sz="2200" b="0">
                <a:latin typeface="Times New Roman"/>
                <a:ea typeface="Times New Roman"/>
                <a:cs typeface="Times New Roman"/>
                <a:sym typeface="Times New Roman"/>
              </a:defRPr>
            </a:pPr>
            <a:endParaRPr b="0" u="none"/>
          </a:p>
          <a:p>
            <a:pPr algn="just">
              <a:lnSpc>
                <a:spcPct val="114000"/>
              </a:lnSpc>
              <a:spcBef>
                <a:spcPts val="600"/>
              </a:spcBef>
              <a:defRPr sz="2200" b="0">
                <a:solidFill>
                  <a:srgbClr val="FF0000"/>
                </a:solidFill>
                <a:latin typeface="Times New Roman"/>
                <a:ea typeface="Times New Roman"/>
                <a:cs typeface="Times New Roman"/>
                <a:sym typeface="Times New Roman"/>
              </a:defRPr>
            </a:pPr>
            <a:r>
              <a:t>L’intento scherzoso esclude il delitto.</a:t>
            </a:r>
          </a:p>
        </p:txBody>
      </p:sp>
      <p:pic>
        <p:nvPicPr>
          <p:cNvPr id="254"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55"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Furto</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 name="Furto in abitazione e furto con strappo"/>
          <p:cNvSpPr txBox="1">
            <a:spLocks noGrp="1"/>
          </p:cNvSpPr>
          <p:nvPr>
            <p:ph type="title"/>
          </p:nvPr>
        </p:nvSpPr>
        <p:spPr>
          <a:xfrm>
            <a:off x="750711" y="155889"/>
            <a:ext cx="6767666" cy="575582"/>
          </a:xfrm>
          <a:prstGeom prst="rect">
            <a:avLst/>
          </a:prstGeom>
        </p:spPr>
        <p:txBody>
          <a:bodyPr>
            <a:normAutofit fontScale="90000"/>
          </a:bodyPr>
          <a:lstStyle>
            <a:lvl1pPr>
              <a:defRPr sz="3000">
                <a:solidFill>
                  <a:srgbClr val="FFFFFF"/>
                </a:solidFill>
              </a:defRPr>
            </a:lvl1pPr>
          </a:lstStyle>
          <a:p>
            <a:r>
              <a:rPr dirty="0" err="1">
                <a:latin typeface="Book Antiqua" panose="02040602050305030304" pitchFamily="18" charset="0"/>
              </a:rPr>
              <a:t>Furto</a:t>
            </a:r>
            <a:r>
              <a:rPr dirty="0">
                <a:latin typeface="Book Antiqua" panose="02040602050305030304" pitchFamily="18" charset="0"/>
              </a:rPr>
              <a:t> in </a:t>
            </a:r>
            <a:r>
              <a:rPr dirty="0" err="1">
                <a:latin typeface="Book Antiqua" panose="02040602050305030304" pitchFamily="18" charset="0"/>
              </a:rPr>
              <a:t>abitazione</a:t>
            </a:r>
            <a:r>
              <a:rPr dirty="0">
                <a:latin typeface="Book Antiqua" panose="02040602050305030304" pitchFamily="18" charset="0"/>
              </a:rPr>
              <a:t> e </a:t>
            </a:r>
            <a:r>
              <a:rPr dirty="0" err="1">
                <a:latin typeface="Book Antiqua" panose="02040602050305030304" pitchFamily="18" charset="0"/>
              </a:rPr>
              <a:t>furto</a:t>
            </a:r>
            <a:r>
              <a:rPr dirty="0">
                <a:latin typeface="Book Antiqua" panose="02040602050305030304" pitchFamily="18" charset="0"/>
              </a:rPr>
              <a:t> con </a:t>
            </a:r>
            <a:r>
              <a:rPr dirty="0" err="1">
                <a:latin typeface="Book Antiqua" panose="02040602050305030304" pitchFamily="18" charset="0"/>
              </a:rPr>
              <a:t>strappo</a:t>
            </a:r>
            <a:r>
              <a:rPr lang="it-IT" dirty="0">
                <a:latin typeface="Book Antiqua" panose="02040602050305030304" pitchFamily="18" charset="0"/>
              </a:rPr>
              <a:t>   Art. 624 bis</a:t>
            </a:r>
            <a:r>
              <a:rPr dirty="0">
                <a:latin typeface="Book Antiqua" panose="02040602050305030304" pitchFamily="18" charset="0"/>
              </a:rPr>
              <a:t> </a:t>
            </a:r>
          </a:p>
        </p:txBody>
      </p:sp>
      <p:sp>
        <p:nvSpPr>
          <p:cNvPr id="258" name="“Chiunque si impossessa della cosa mobile altrui, sottraendola a chi la detiene, al fine di trarne profitto per sé o per altri, mediante introduzione in un edificio o in altro luogo destinato in tutto o in parte a privata dimora o nelle pertinenze di ess"/>
          <p:cNvSpPr txBox="1">
            <a:spLocks noGrp="1"/>
          </p:cNvSpPr>
          <p:nvPr>
            <p:ph type="body" idx="1"/>
          </p:nvPr>
        </p:nvSpPr>
        <p:spPr>
          <a:xfrm>
            <a:off x="457200" y="1125233"/>
            <a:ext cx="8229600" cy="5433611"/>
          </a:xfrm>
          <a:prstGeom prst="rect">
            <a:avLst/>
          </a:prstGeom>
        </p:spPr>
        <p:txBody>
          <a:bodyPr>
            <a:normAutofit fontScale="92500" lnSpcReduction="10000"/>
          </a:bodyPr>
          <a:lstStyle/>
          <a:p>
            <a:pPr marL="0" indent="0" algn="just" defTabSz="406908">
              <a:spcBef>
                <a:spcPts val="0"/>
              </a:spcBef>
              <a:buSzTx/>
              <a:buNone/>
              <a:defRPr sz="1900" i="1">
                <a:latin typeface="+mj-lt"/>
                <a:ea typeface="+mj-ea"/>
                <a:cs typeface="+mj-cs"/>
                <a:sym typeface="Helvetica"/>
              </a:defRPr>
            </a:pPr>
            <a:r>
              <a:rPr sz="2400" dirty="0">
                <a:latin typeface="Book Antiqua" panose="02040602050305030304" pitchFamily="18" charset="0"/>
              </a:rPr>
              <a:t>“</a:t>
            </a:r>
            <a:r>
              <a:rPr sz="2400" dirty="0" err="1">
                <a:latin typeface="Book Antiqua" panose="02040602050305030304" pitchFamily="18" charset="0"/>
              </a:rPr>
              <a:t>Chiunque</a:t>
            </a:r>
            <a:r>
              <a:rPr sz="2400" dirty="0">
                <a:latin typeface="Book Antiqua" panose="02040602050305030304" pitchFamily="18" charset="0"/>
              </a:rPr>
              <a:t> </a:t>
            </a:r>
            <a:r>
              <a:rPr sz="2400" dirty="0" err="1">
                <a:latin typeface="Book Antiqua" panose="02040602050305030304" pitchFamily="18" charset="0"/>
              </a:rPr>
              <a:t>si</a:t>
            </a:r>
            <a:r>
              <a:rPr sz="2400" dirty="0">
                <a:latin typeface="Book Antiqua" panose="02040602050305030304" pitchFamily="18" charset="0"/>
              </a:rPr>
              <a:t> </a:t>
            </a:r>
            <a:r>
              <a:rPr sz="2400" dirty="0" err="1">
                <a:latin typeface="Book Antiqua" panose="02040602050305030304" pitchFamily="18" charset="0"/>
              </a:rPr>
              <a:t>impossessa</a:t>
            </a:r>
            <a:r>
              <a:rPr sz="2400" dirty="0">
                <a:latin typeface="Book Antiqua" panose="02040602050305030304" pitchFamily="18" charset="0"/>
              </a:rPr>
              <a:t> </a:t>
            </a:r>
            <a:r>
              <a:rPr sz="2400" dirty="0" err="1">
                <a:latin typeface="Book Antiqua" panose="02040602050305030304" pitchFamily="18" charset="0"/>
              </a:rPr>
              <a:t>della</a:t>
            </a:r>
            <a:r>
              <a:rPr sz="2400" dirty="0">
                <a:latin typeface="Book Antiqua" panose="02040602050305030304" pitchFamily="18" charset="0"/>
              </a:rPr>
              <a:t> </a:t>
            </a:r>
            <a:r>
              <a:rPr sz="2400" dirty="0" err="1">
                <a:latin typeface="Book Antiqua" panose="02040602050305030304" pitchFamily="18" charset="0"/>
              </a:rPr>
              <a:t>cosa</a:t>
            </a:r>
            <a:r>
              <a:rPr sz="2400" dirty="0">
                <a:latin typeface="Book Antiqua" panose="02040602050305030304" pitchFamily="18" charset="0"/>
              </a:rPr>
              <a:t> mobile </a:t>
            </a:r>
            <a:r>
              <a:rPr sz="2400" dirty="0" err="1">
                <a:latin typeface="Book Antiqua" panose="02040602050305030304" pitchFamily="18" charset="0"/>
              </a:rPr>
              <a:t>altrui</a:t>
            </a:r>
            <a:r>
              <a:rPr sz="2400" dirty="0">
                <a:latin typeface="Book Antiqua" panose="02040602050305030304" pitchFamily="18" charset="0"/>
              </a:rPr>
              <a:t>, </a:t>
            </a:r>
            <a:r>
              <a:rPr sz="2400" dirty="0" err="1">
                <a:latin typeface="Book Antiqua" panose="02040602050305030304" pitchFamily="18" charset="0"/>
              </a:rPr>
              <a:t>sottraendola</a:t>
            </a:r>
            <a:r>
              <a:rPr sz="2400" dirty="0">
                <a:latin typeface="Book Antiqua" panose="02040602050305030304" pitchFamily="18" charset="0"/>
              </a:rPr>
              <a:t> a chi la </a:t>
            </a:r>
            <a:r>
              <a:rPr sz="2400" dirty="0" err="1">
                <a:latin typeface="Book Antiqua" panose="02040602050305030304" pitchFamily="18" charset="0"/>
              </a:rPr>
              <a:t>detiene</a:t>
            </a:r>
            <a:r>
              <a:rPr sz="2400" dirty="0">
                <a:latin typeface="Book Antiqua" panose="02040602050305030304" pitchFamily="18" charset="0"/>
              </a:rPr>
              <a:t>, al fine di </a:t>
            </a:r>
            <a:r>
              <a:rPr sz="2400" dirty="0" err="1">
                <a:latin typeface="Book Antiqua" panose="02040602050305030304" pitchFamily="18" charset="0"/>
              </a:rPr>
              <a:t>trarne</a:t>
            </a:r>
            <a:r>
              <a:rPr sz="2400" dirty="0">
                <a:latin typeface="Book Antiqua" panose="02040602050305030304" pitchFamily="18" charset="0"/>
              </a:rPr>
              <a:t> </a:t>
            </a:r>
            <a:r>
              <a:rPr sz="2400" dirty="0" err="1">
                <a:latin typeface="Book Antiqua" panose="02040602050305030304" pitchFamily="18" charset="0"/>
              </a:rPr>
              <a:t>profitto</a:t>
            </a:r>
            <a:r>
              <a:rPr sz="2400" dirty="0">
                <a:latin typeface="Book Antiqua" panose="02040602050305030304" pitchFamily="18" charset="0"/>
              </a:rPr>
              <a:t> per </a:t>
            </a:r>
            <a:r>
              <a:rPr sz="2400" dirty="0" err="1">
                <a:latin typeface="Book Antiqua" panose="02040602050305030304" pitchFamily="18" charset="0"/>
              </a:rPr>
              <a:t>sé</a:t>
            </a:r>
            <a:r>
              <a:rPr sz="2400" dirty="0">
                <a:latin typeface="Book Antiqua" panose="02040602050305030304" pitchFamily="18" charset="0"/>
              </a:rPr>
              <a:t> o per </a:t>
            </a:r>
            <a:r>
              <a:rPr sz="2400" dirty="0" err="1">
                <a:latin typeface="Book Antiqua" panose="02040602050305030304" pitchFamily="18" charset="0"/>
              </a:rPr>
              <a:t>altri</a:t>
            </a:r>
            <a:r>
              <a:rPr sz="2400" dirty="0">
                <a:latin typeface="Book Antiqua" panose="02040602050305030304" pitchFamily="18" charset="0"/>
              </a:rPr>
              <a:t>, </a:t>
            </a:r>
            <a:r>
              <a:rPr sz="2400" b="1" u="sng" dirty="0" err="1">
                <a:solidFill>
                  <a:srgbClr val="FF0000"/>
                </a:solidFill>
                <a:latin typeface="Book Antiqua" panose="02040602050305030304" pitchFamily="18" charset="0"/>
              </a:rPr>
              <a:t>mediante</a:t>
            </a:r>
            <a:r>
              <a:rPr sz="2400" b="1" u="sng" dirty="0">
                <a:solidFill>
                  <a:srgbClr val="FF0000"/>
                </a:solidFill>
                <a:latin typeface="Book Antiqua" panose="02040602050305030304" pitchFamily="18" charset="0"/>
              </a:rPr>
              <a:t> </a:t>
            </a:r>
            <a:r>
              <a:rPr sz="2400" b="1" u="sng" dirty="0" err="1">
                <a:solidFill>
                  <a:srgbClr val="FF0000"/>
                </a:solidFill>
                <a:latin typeface="Book Antiqua" panose="02040602050305030304" pitchFamily="18" charset="0"/>
              </a:rPr>
              <a:t>introduzione</a:t>
            </a:r>
            <a:r>
              <a:rPr sz="2400" b="1" u="sng" dirty="0">
                <a:solidFill>
                  <a:srgbClr val="FF0000"/>
                </a:solidFill>
                <a:latin typeface="Book Antiqua" panose="02040602050305030304" pitchFamily="18" charset="0"/>
              </a:rPr>
              <a:t> in un </a:t>
            </a:r>
            <a:r>
              <a:rPr sz="2400" b="1" u="sng" dirty="0" err="1">
                <a:solidFill>
                  <a:srgbClr val="FF0000"/>
                </a:solidFill>
                <a:latin typeface="Book Antiqua" panose="02040602050305030304" pitchFamily="18" charset="0"/>
              </a:rPr>
              <a:t>edificio</a:t>
            </a:r>
            <a:r>
              <a:rPr sz="2400" b="1" u="sng" dirty="0">
                <a:solidFill>
                  <a:srgbClr val="FF0000"/>
                </a:solidFill>
                <a:latin typeface="Book Antiqua" panose="02040602050305030304" pitchFamily="18" charset="0"/>
              </a:rPr>
              <a:t> o in </a:t>
            </a:r>
            <a:r>
              <a:rPr sz="2400" b="1" u="sng" dirty="0" err="1">
                <a:solidFill>
                  <a:srgbClr val="FF0000"/>
                </a:solidFill>
                <a:latin typeface="Book Antiqua" panose="02040602050305030304" pitchFamily="18" charset="0"/>
              </a:rPr>
              <a:t>altro</a:t>
            </a:r>
            <a:r>
              <a:rPr sz="2400" b="1" u="sng" dirty="0">
                <a:solidFill>
                  <a:srgbClr val="FF0000"/>
                </a:solidFill>
                <a:latin typeface="Book Antiqua" panose="02040602050305030304" pitchFamily="18" charset="0"/>
              </a:rPr>
              <a:t> </a:t>
            </a:r>
            <a:r>
              <a:rPr sz="2400" b="1" u="sng" dirty="0" err="1">
                <a:solidFill>
                  <a:srgbClr val="FF0000"/>
                </a:solidFill>
                <a:latin typeface="Book Antiqua" panose="02040602050305030304" pitchFamily="18" charset="0"/>
              </a:rPr>
              <a:t>luogo</a:t>
            </a:r>
            <a:r>
              <a:rPr sz="2400" b="1" u="sng" dirty="0">
                <a:solidFill>
                  <a:srgbClr val="FF0000"/>
                </a:solidFill>
                <a:latin typeface="Book Antiqua" panose="02040602050305030304" pitchFamily="18" charset="0"/>
              </a:rPr>
              <a:t> </a:t>
            </a:r>
            <a:r>
              <a:rPr sz="2400" b="1" u="sng" dirty="0" err="1">
                <a:solidFill>
                  <a:srgbClr val="FF0000"/>
                </a:solidFill>
                <a:latin typeface="Book Antiqua" panose="02040602050305030304" pitchFamily="18" charset="0"/>
              </a:rPr>
              <a:t>destinato</a:t>
            </a:r>
            <a:r>
              <a:rPr sz="2400" b="1" u="sng" dirty="0">
                <a:solidFill>
                  <a:srgbClr val="FF0000"/>
                </a:solidFill>
                <a:latin typeface="Book Antiqua" panose="02040602050305030304" pitchFamily="18" charset="0"/>
              </a:rPr>
              <a:t> in </a:t>
            </a:r>
            <a:r>
              <a:rPr sz="2400" b="1" u="sng" dirty="0" err="1">
                <a:solidFill>
                  <a:srgbClr val="FF0000"/>
                </a:solidFill>
                <a:latin typeface="Book Antiqua" panose="02040602050305030304" pitchFamily="18" charset="0"/>
              </a:rPr>
              <a:t>tutto</a:t>
            </a:r>
            <a:r>
              <a:rPr sz="2400" b="1" u="sng" dirty="0">
                <a:solidFill>
                  <a:srgbClr val="FF0000"/>
                </a:solidFill>
                <a:latin typeface="Book Antiqua" panose="02040602050305030304" pitchFamily="18" charset="0"/>
              </a:rPr>
              <a:t> o in </a:t>
            </a:r>
            <a:r>
              <a:rPr sz="2400" b="1" u="sng" dirty="0" err="1">
                <a:solidFill>
                  <a:srgbClr val="FF0000"/>
                </a:solidFill>
                <a:latin typeface="Book Antiqua" panose="02040602050305030304" pitchFamily="18" charset="0"/>
              </a:rPr>
              <a:t>parte</a:t>
            </a:r>
            <a:r>
              <a:rPr sz="2400" b="1" u="sng" dirty="0">
                <a:solidFill>
                  <a:srgbClr val="FF0000"/>
                </a:solidFill>
                <a:latin typeface="Book Antiqua" panose="02040602050305030304" pitchFamily="18" charset="0"/>
              </a:rPr>
              <a:t> a </a:t>
            </a:r>
            <a:r>
              <a:rPr sz="2400" b="1" u="sng" dirty="0" err="1">
                <a:solidFill>
                  <a:srgbClr val="FF0000"/>
                </a:solidFill>
                <a:latin typeface="Book Antiqua" panose="02040602050305030304" pitchFamily="18" charset="0"/>
              </a:rPr>
              <a:t>privata</a:t>
            </a:r>
            <a:r>
              <a:rPr sz="2400" b="1" u="sng" dirty="0">
                <a:solidFill>
                  <a:srgbClr val="FF0000"/>
                </a:solidFill>
                <a:latin typeface="Book Antiqua" panose="02040602050305030304" pitchFamily="18" charset="0"/>
              </a:rPr>
              <a:t> </a:t>
            </a:r>
            <a:r>
              <a:rPr sz="2400" b="1" u="sng" dirty="0" err="1">
                <a:solidFill>
                  <a:srgbClr val="FF0000"/>
                </a:solidFill>
                <a:latin typeface="Book Antiqua" panose="02040602050305030304" pitchFamily="18" charset="0"/>
              </a:rPr>
              <a:t>dimora</a:t>
            </a:r>
            <a:r>
              <a:rPr sz="2400" b="1" u="sng" dirty="0">
                <a:solidFill>
                  <a:srgbClr val="FF0000"/>
                </a:solidFill>
                <a:latin typeface="Book Antiqua" panose="02040602050305030304" pitchFamily="18" charset="0"/>
              </a:rPr>
              <a:t> o </a:t>
            </a:r>
            <a:r>
              <a:rPr sz="2400" b="1" u="sng" dirty="0" err="1">
                <a:solidFill>
                  <a:srgbClr val="FF0000"/>
                </a:solidFill>
                <a:latin typeface="Book Antiqua" panose="02040602050305030304" pitchFamily="18" charset="0"/>
              </a:rPr>
              <a:t>nelle</a:t>
            </a:r>
            <a:r>
              <a:rPr sz="2400" b="1" u="sng" dirty="0">
                <a:solidFill>
                  <a:srgbClr val="FF0000"/>
                </a:solidFill>
                <a:latin typeface="Book Antiqua" panose="02040602050305030304" pitchFamily="18" charset="0"/>
              </a:rPr>
              <a:t> </a:t>
            </a:r>
            <a:r>
              <a:rPr sz="2400" b="1" u="sng" dirty="0" err="1">
                <a:solidFill>
                  <a:srgbClr val="FF0000"/>
                </a:solidFill>
                <a:latin typeface="Book Antiqua" panose="02040602050305030304" pitchFamily="18" charset="0"/>
              </a:rPr>
              <a:t>pertinenze</a:t>
            </a:r>
            <a:r>
              <a:rPr sz="2400" b="1" u="sng" dirty="0">
                <a:solidFill>
                  <a:srgbClr val="FF0000"/>
                </a:solidFill>
                <a:latin typeface="Book Antiqua" panose="02040602050305030304" pitchFamily="18" charset="0"/>
              </a:rPr>
              <a:t> di </a:t>
            </a:r>
            <a:r>
              <a:rPr sz="2400" b="1" u="sng" dirty="0" err="1">
                <a:solidFill>
                  <a:srgbClr val="FF0000"/>
                </a:solidFill>
                <a:latin typeface="Book Antiqua" panose="02040602050305030304" pitchFamily="18" charset="0"/>
              </a:rPr>
              <a:t>essa</a:t>
            </a:r>
            <a:r>
              <a:rPr sz="2400" b="1" u="sng" dirty="0">
                <a:solidFill>
                  <a:srgbClr val="FF0000"/>
                </a:solidFill>
                <a:latin typeface="Book Antiqua" panose="02040602050305030304" pitchFamily="18" charset="0"/>
              </a:rPr>
              <a:t>,</a:t>
            </a:r>
            <a:r>
              <a:rPr sz="2400" dirty="0">
                <a:latin typeface="Book Antiqua" panose="02040602050305030304" pitchFamily="18" charset="0"/>
              </a:rPr>
              <a:t> è </a:t>
            </a:r>
            <a:r>
              <a:rPr sz="2400" dirty="0" err="1">
                <a:latin typeface="Book Antiqua" panose="02040602050305030304" pitchFamily="18" charset="0"/>
              </a:rPr>
              <a:t>punito</a:t>
            </a:r>
            <a:r>
              <a:rPr sz="2400" dirty="0">
                <a:latin typeface="Book Antiqua" panose="02040602050305030304" pitchFamily="18" charset="0"/>
              </a:rPr>
              <a:t> con la </a:t>
            </a:r>
            <a:r>
              <a:rPr sz="2400" dirty="0" err="1">
                <a:latin typeface="Book Antiqua" panose="02040602050305030304" pitchFamily="18" charset="0"/>
              </a:rPr>
              <a:t>reclusione</a:t>
            </a:r>
            <a:r>
              <a:rPr sz="2400" dirty="0">
                <a:latin typeface="Book Antiqua" panose="02040602050305030304" pitchFamily="18" charset="0"/>
              </a:rPr>
              <a:t> da quattro a </a:t>
            </a:r>
            <a:r>
              <a:rPr sz="2400" dirty="0" err="1">
                <a:latin typeface="Book Antiqua" panose="02040602050305030304" pitchFamily="18" charset="0"/>
              </a:rPr>
              <a:t>sette</a:t>
            </a:r>
            <a:r>
              <a:rPr sz="2400" dirty="0">
                <a:latin typeface="Book Antiqua" panose="02040602050305030304" pitchFamily="18" charset="0"/>
              </a:rPr>
              <a:t> </a:t>
            </a:r>
            <a:r>
              <a:rPr sz="2400" dirty="0" err="1">
                <a:latin typeface="Book Antiqua" panose="02040602050305030304" pitchFamily="18" charset="0"/>
              </a:rPr>
              <a:t>anni</a:t>
            </a:r>
            <a:r>
              <a:rPr sz="2400" dirty="0">
                <a:latin typeface="Book Antiqua" panose="02040602050305030304" pitchFamily="18" charset="0"/>
              </a:rPr>
              <a:t> e con la </a:t>
            </a:r>
            <a:r>
              <a:rPr sz="2400" dirty="0" err="1">
                <a:latin typeface="Book Antiqua" panose="02040602050305030304" pitchFamily="18" charset="0"/>
              </a:rPr>
              <a:t>multa</a:t>
            </a:r>
            <a:r>
              <a:rPr sz="2400" dirty="0">
                <a:latin typeface="Book Antiqua" panose="02040602050305030304" pitchFamily="18" charset="0"/>
              </a:rPr>
              <a:t> da euro 927 a euro 1.500.</a:t>
            </a:r>
          </a:p>
          <a:p>
            <a:pPr marL="0" indent="0" algn="just" defTabSz="406908">
              <a:spcBef>
                <a:spcPts val="0"/>
              </a:spcBef>
              <a:buSzTx/>
              <a:buNone/>
              <a:defRPr sz="1900" i="1">
                <a:latin typeface="+mj-lt"/>
                <a:ea typeface="+mj-ea"/>
                <a:cs typeface="+mj-cs"/>
                <a:sym typeface="Helvetica"/>
              </a:defRPr>
            </a:pPr>
            <a:endParaRPr sz="2400" dirty="0">
              <a:latin typeface="Book Antiqua" panose="02040602050305030304" pitchFamily="18" charset="0"/>
            </a:endParaRPr>
          </a:p>
          <a:p>
            <a:pPr marL="0" indent="0" algn="just" defTabSz="406908">
              <a:spcBef>
                <a:spcPts val="0"/>
              </a:spcBef>
              <a:buSzTx/>
              <a:buNone/>
              <a:defRPr sz="1900" i="1">
                <a:latin typeface="+mj-lt"/>
                <a:ea typeface="+mj-ea"/>
                <a:cs typeface="+mj-cs"/>
                <a:sym typeface="Helvetica"/>
              </a:defRPr>
            </a:pPr>
            <a:r>
              <a:rPr sz="2400" dirty="0" err="1">
                <a:latin typeface="Book Antiqua" panose="02040602050305030304" pitchFamily="18" charset="0"/>
              </a:rPr>
              <a:t>Alla</a:t>
            </a:r>
            <a:r>
              <a:rPr sz="2400" dirty="0">
                <a:latin typeface="Book Antiqua" panose="02040602050305030304" pitchFamily="18" charset="0"/>
              </a:rPr>
              <a:t> </a:t>
            </a:r>
            <a:r>
              <a:rPr sz="2400" dirty="0" err="1">
                <a:latin typeface="Book Antiqua" panose="02040602050305030304" pitchFamily="18" charset="0"/>
              </a:rPr>
              <a:t>stessa</a:t>
            </a:r>
            <a:r>
              <a:rPr sz="2400" dirty="0">
                <a:latin typeface="Book Antiqua" panose="02040602050305030304" pitchFamily="18" charset="0"/>
              </a:rPr>
              <a:t> </a:t>
            </a:r>
            <a:r>
              <a:rPr sz="2400" dirty="0" err="1">
                <a:latin typeface="Book Antiqua" panose="02040602050305030304" pitchFamily="18" charset="0"/>
              </a:rPr>
              <a:t>pena</a:t>
            </a:r>
            <a:r>
              <a:rPr sz="2400" dirty="0">
                <a:latin typeface="Book Antiqua" panose="02040602050305030304" pitchFamily="18" charset="0"/>
              </a:rPr>
              <a:t> di cui al primo comma </a:t>
            </a:r>
            <a:r>
              <a:rPr sz="2400" dirty="0" err="1">
                <a:latin typeface="Book Antiqua" panose="02040602050305030304" pitchFamily="18" charset="0"/>
              </a:rPr>
              <a:t>soggiace</a:t>
            </a:r>
            <a:r>
              <a:rPr sz="2400" dirty="0">
                <a:latin typeface="Book Antiqua" panose="02040602050305030304" pitchFamily="18" charset="0"/>
              </a:rPr>
              <a:t> chi </a:t>
            </a:r>
            <a:r>
              <a:rPr sz="2400" dirty="0" err="1">
                <a:latin typeface="Book Antiqua" panose="02040602050305030304" pitchFamily="18" charset="0"/>
              </a:rPr>
              <a:t>si</a:t>
            </a:r>
            <a:r>
              <a:rPr sz="2400" dirty="0">
                <a:latin typeface="Book Antiqua" panose="02040602050305030304" pitchFamily="18" charset="0"/>
              </a:rPr>
              <a:t> </a:t>
            </a:r>
            <a:r>
              <a:rPr sz="2400" dirty="0" err="1">
                <a:latin typeface="Book Antiqua" panose="02040602050305030304" pitchFamily="18" charset="0"/>
              </a:rPr>
              <a:t>impossessa</a:t>
            </a:r>
            <a:r>
              <a:rPr sz="2400" dirty="0">
                <a:latin typeface="Book Antiqua" panose="02040602050305030304" pitchFamily="18" charset="0"/>
              </a:rPr>
              <a:t> </a:t>
            </a:r>
            <a:r>
              <a:rPr sz="2400" dirty="0" err="1">
                <a:latin typeface="Book Antiqua" panose="02040602050305030304" pitchFamily="18" charset="0"/>
              </a:rPr>
              <a:t>della</a:t>
            </a:r>
            <a:r>
              <a:rPr sz="2400" dirty="0">
                <a:latin typeface="Book Antiqua" panose="02040602050305030304" pitchFamily="18" charset="0"/>
              </a:rPr>
              <a:t> </a:t>
            </a:r>
            <a:r>
              <a:rPr sz="2400" dirty="0" err="1">
                <a:latin typeface="Book Antiqua" panose="02040602050305030304" pitchFamily="18" charset="0"/>
              </a:rPr>
              <a:t>cosa</a:t>
            </a:r>
            <a:r>
              <a:rPr sz="2400" dirty="0">
                <a:latin typeface="Book Antiqua" panose="02040602050305030304" pitchFamily="18" charset="0"/>
              </a:rPr>
              <a:t> mobile </a:t>
            </a:r>
            <a:r>
              <a:rPr sz="2400" dirty="0" err="1">
                <a:latin typeface="Book Antiqua" panose="02040602050305030304" pitchFamily="18" charset="0"/>
              </a:rPr>
              <a:t>altrui</a:t>
            </a:r>
            <a:r>
              <a:rPr sz="2400" dirty="0">
                <a:latin typeface="Book Antiqua" panose="02040602050305030304" pitchFamily="18" charset="0"/>
              </a:rPr>
              <a:t>, </a:t>
            </a:r>
            <a:r>
              <a:rPr sz="2400" dirty="0" err="1">
                <a:latin typeface="Book Antiqua" panose="02040602050305030304" pitchFamily="18" charset="0"/>
              </a:rPr>
              <a:t>sottraendola</a:t>
            </a:r>
            <a:r>
              <a:rPr sz="2400" dirty="0">
                <a:latin typeface="Book Antiqua" panose="02040602050305030304" pitchFamily="18" charset="0"/>
              </a:rPr>
              <a:t> a chi la </a:t>
            </a:r>
            <a:r>
              <a:rPr sz="2400" dirty="0" err="1">
                <a:latin typeface="Book Antiqua" panose="02040602050305030304" pitchFamily="18" charset="0"/>
              </a:rPr>
              <a:t>detiene</a:t>
            </a:r>
            <a:r>
              <a:rPr sz="2400" dirty="0">
                <a:latin typeface="Book Antiqua" panose="02040602050305030304" pitchFamily="18" charset="0"/>
              </a:rPr>
              <a:t>, al fine di </a:t>
            </a:r>
            <a:r>
              <a:rPr sz="2400" dirty="0" err="1">
                <a:latin typeface="Book Antiqua" panose="02040602050305030304" pitchFamily="18" charset="0"/>
              </a:rPr>
              <a:t>trarne</a:t>
            </a:r>
            <a:r>
              <a:rPr sz="2400" dirty="0">
                <a:latin typeface="Book Antiqua" panose="02040602050305030304" pitchFamily="18" charset="0"/>
              </a:rPr>
              <a:t> </a:t>
            </a:r>
            <a:r>
              <a:rPr sz="2400" dirty="0" err="1">
                <a:latin typeface="Book Antiqua" panose="02040602050305030304" pitchFamily="18" charset="0"/>
              </a:rPr>
              <a:t>profitto</a:t>
            </a:r>
            <a:r>
              <a:rPr sz="2400" dirty="0">
                <a:latin typeface="Book Antiqua" panose="02040602050305030304" pitchFamily="18" charset="0"/>
              </a:rPr>
              <a:t> per </a:t>
            </a:r>
            <a:r>
              <a:rPr sz="2400" dirty="0" err="1">
                <a:latin typeface="Book Antiqua" panose="02040602050305030304" pitchFamily="18" charset="0"/>
              </a:rPr>
              <a:t>sé</a:t>
            </a:r>
            <a:r>
              <a:rPr sz="2400" dirty="0">
                <a:latin typeface="Book Antiqua" panose="02040602050305030304" pitchFamily="18" charset="0"/>
              </a:rPr>
              <a:t> o per </a:t>
            </a:r>
            <a:r>
              <a:rPr sz="2400" dirty="0" err="1">
                <a:latin typeface="Book Antiqua" panose="02040602050305030304" pitchFamily="18" charset="0"/>
              </a:rPr>
              <a:t>altri</a:t>
            </a:r>
            <a:r>
              <a:rPr sz="2400" dirty="0">
                <a:latin typeface="Book Antiqua" panose="02040602050305030304" pitchFamily="18" charset="0"/>
              </a:rPr>
              <a:t>, </a:t>
            </a:r>
            <a:r>
              <a:rPr sz="2400" b="1" u="sng" dirty="0" err="1">
                <a:solidFill>
                  <a:srgbClr val="FF0000"/>
                </a:solidFill>
                <a:latin typeface="Book Antiqua" panose="02040602050305030304" pitchFamily="18" charset="0"/>
              </a:rPr>
              <a:t>strappandola</a:t>
            </a:r>
            <a:r>
              <a:rPr sz="2400" b="1" u="sng" dirty="0">
                <a:solidFill>
                  <a:srgbClr val="FF0000"/>
                </a:solidFill>
                <a:latin typeface="Book Antiqua" panose="02040602050305030304" pitchFamily="18" charset="0"/>
              </a:rPr>
              <a:t> di mano o di </a:t>
            </a:r>
            <a:r>
              <a:rPr sz="2400" b="1" u="sng" dirty="0" err="1">
                <a:solidFill>
                  <a:srgbClr val="FF0000"/>
                </a:solidFill>
                <a:latin typeface="Book Antiqua" panose="02040602050305030304" pitchFamily="18" charset="0"/>
              </a:rPr>
              <a:t>dosso</a:t>
            </a:r>
            <a:r>
              <a:rPr sz="2400" b="1" u="sng" dirty="0">
                <a:solidFill>
                  <a:srgbClr val="FF0000"/>
                </a:solidFill>
                <a:latin typeface="Book Antiqua" panose="02040602050305030304" pitchFamily="18" charset="0"/>
              </a:rPr>
              <a:t> </a:t>
            </a:r>
            <a:r>
              <a:rPr sz="2400" b="1" u="sng" dirty="0" err="1">
                <a:solidFill>
                  <a:srgbClr val="FF0000"/>
                </a:solidFill>
                <a:latin typeface="Book Antiqua" panose="02040602050305030304" pitchFamily="18" charset="0"/>
              </a:rPr>
              <a:t>alla</a:t>
            </a:r>
            <a:r>
              <a:rPr sz="2400" b="1" u="sng" dirty="0">
                <a:solidFill>
                  <a:srgbClr val="FF0000"/>
                </a:solidFill>
                <a:latin typeface="Book Antiqua" panose="02040602050305030304" pitchFamily="18" charset="0"/>
              </a:rPr>
              <a:t> persona</a:t>
            </a:r>
            <a:r>
              <a:rPr sz="2400" dirty="0">
                <a:latin typeface="Book Antiqua" panose="02040602050305030304" pitchFamily="18" charset="0"/>
              </a:rPr>
              <a:t>.</a:t>
            </a:r>
          </a:p>
          <a:p>
            <a:pPr marL="0" indent="0" algn="just" defTabSz="406908">
              <a:spcBef>
                <a:spcPts val="0"/>
              </a:spcBef>
              <a:buSzTx/>
              <a:buNone/>
              <a:defRPr sz="1900" i="1">
                <a:latin typeface="+mj-lt"/>
                <a:ea typeface="+mj-ea"/>
                <a:cs typeface="+mj-cs"/>
                <a:sym typeface="Helvetica"/>
              </a:defRPr>
            </a:pPr>
            <a:endParaRPr sz="2400" dirty="0">
              <a:latin typeface="Book Antiqua" panose="02040602050305030304" pitchFamily="18" charset="0"/>
            </a:endParaRPr>
          </a:p>
          <a:p>
            <a:pPr marL="0" indent="0" algn="just" defTabSz="406908">
              <a:spcBef>
                <a:spcPts val="0"/>
              </a:spcBef>
              <a:buSzTx/>
              <a:buNone/>
              <a:defRPr sz="1900" i="1">
                <a:latin typeface="+mj-lt"/>
                <a:ea typeface="+mj-ea"/>
                <a:cs typeface="+mj-cs"/>
                <a:sym typeface="Helvetica"/>
              </a:defRPr>
            </a:pPr>
            <a:r>
              <a:rPr sz="2400" dirty="0">
                <a:latin typeface="Book Antiqua" panose="02040602050305030304" pitchFamily="18" charset="0"/>
              </a:rPr>
              <a:t>La </a:t>
            </a:r>
            <a:r>
              <a:rPr sz="2400" dirty="0" err="1">
                <a:latin typeface="Book Antiqua" panose="02040602050305030304" pitchFamily="18" charset="0"/>
              </a:rPr>
              <a:t>pena</a:t>
            </a:r>
            <a:r>
              <a:rPr sz="2400" dirty="0">
                <a:latin typeface="Book Antiqua" panose="02040602050305030304" pitchFamily="18" charset="0"/>
              </a:rPr>
              <a:t> è </a:t>
            </a:r>
            <a:r>
              <a:rPr sz="2400" dirty="0" err="1">
                <a:latin typeface="Book Antiqua" panose="02040602050305030304" pitchFamily="18" charset="0"/>
              </a:rPr>
              <a:t>della</a:t>
            </a:r>
            <a:r>
              <a:rPr sz="2400" dirty="0">
                <a:latin typeface="Book Antiqua" panose="02040602050305030304" pitchFamily="18" charset="0"/>
              </a:rPr>
              <a:t> </a:t>
            </a:r>
            <a:r>
              <a:rPr sz="2400" dirty="0" err="1">
                <a:latin typeface="Book Antiqua" panose="02040602050305030304" pitchFamily="18" charset="0"/>
              </a:rPr>
              <a:t>reclusione</a:t>
            </a:r>
            <a:r>
              <a:rPr sz="2400" dirty="0">
                <a:latin typeface="Book Antiqua" panose="02040602050305030304" pitchFamily="18" charset="0"/>
              </a:rPr>
              <a:t> da cinque a </a:t>
            </a:r>
            <a:r>
              <a:rPr sz="2400" dirty="0" err="1">
                <a:latin typeface="Book Antiqua" panose="02040602050305030304" pitchFamily="18" charset="0"/>
              </a:rPr>
              <a:t>dieci</a:t>
            </a:r>
            <a:r>
              <a:rPr sz="2400" dirty="0">
                <a:latin typeface="Book Antiqua" panose="02040602050305030304" pitchFamily="18" charset="0"/>
              </a:rPr>
              <a:t> </a:t>
            </a:r>
            <a:r>
              <a:rPr sz="2400" dirty="0" err="1">
                <a:latin typeface="Book Antiqua" panose="02040602050305030304" pitchFamily="18" charset="0"/>
              </a:rPr>
              <a:t>anni</a:t>
            </a:r>
            <a:r>
              <a:rPr sz="2400" dirty="0">
                <a:latin typeface="Book Antiqua" panose="02040602050305030304" pitchFamily="18" charset="0"/>
              </a:rPr>
              <a:t> e </a:t>
            </a:r>
            <a:r>
              <a:rPr sz="2400" dirty="0" err="1">
                <a:latin typeface="Book Antiqua" panose="02040602050305030304" pitchFamily="18" charset="0"/>
              </a:rPr>
              <a:t>della</a:t>
            </a:r>
            <a:r>
              <a:rPr sz="2400" dirty="0">
                <a:latin typeface="Book Antiqua" panose="02040602050305030304" pitchFamily="18" charset="0"/>
              </a:rPr>
              <a:t> </a:t>
            </a:r>
            <a:r>
              <a:rPr sz="2400" dirty="0" err="1">
                <a:latin typeface="Book Antiqua" panose="02040602050305030304" pitchFamily="18" charset="0"/>
              </a:rPr>
              <a:t>multa</a:t>
            </a:r>
            <a:r>
              <a:rPr sz="2400" dirty="0">
                <a:latin typeface="Book Antiqua" panose="02040602050305030304" pitchFamily="18" charset="0"/>
              </a:rPr>
              <a:t> da euro 1.000 a euro 2.500 se </a:t>
            </a:r>
            <a:r>
              <a:rPr sz="2400" dirty="0" err="1">
                <a:latin typeface="Book Antiqua" panose="02040602050305030304" pitchFamily="18" charset="0"/>
              </a:rPr>
              <a:t>il</a:t>
            </a:r>
            <a:r>
              <a:rPr sz="2400" dirty="0">
                <a:latin typeface="Book Antiqua" panose="02040602050305030304" pitchFamily="18" charset="0"/>
              </a:rPr>
              <a:t> </a:t>
            </a:r>
            <a:r>
              <a:rPr sz="2400" dirty="0" err="1">
                <a:latin typeface="Book Antiqua" panose="02040602050305030304" pitchFamily="18" charset="0"/>
              </a:rPr>
              <a:t>reato</a:t>
            </a:r>
            <a:r>
              <a:rPr sz="2400" dirty="0">
                <a:latin typeface="Book Antiqua" panose="02040602050305030304" pitchFamily="18" charset="0"/>
              </a:rPr>
              <a:t> è </a:t>
            </a:r>
            <a:r>
              <a:rPr sz="2400" dirty="0" err="1">
                <a:latin typeface="Book Antiqua" panose="02040602050305030304" pitchFamily="18" charset="0"/>
              </a:rPr>
              <a:t>aggravato</a:t>
            </a:r>
            <a:r>
              <a:rPr sz="2400" dirty="0">
                <a:latin typeface="Book Antiqua" panose="02040602050305030304" pitchFamily="18" charset="0"/>
              </a:rPr>
              <a:t> da una o </a:t>
            </a:r>
            <a:r>
              <a:rPr sz="2400" dirty="0" err="1">
                <a:latin typeface="Book Antiqua" panose="02040602050305030304" pitchFamily="18" charset="0"/>
              </a:rPr>
              <a:t>più</a:t>
            </a:r>
            <a:r>
              <a:rPr sz="2400" dirty="0">
                <a:latin typeface="Book Antiqua" panose="02040602050305030304" pitchFamily="18" charset="0"/>
              </a:rPr>
              <a:t> </a:t>
            </a:r>
            <a:r>
              <a:rPr sz="2400" dirty="0" err="1">
                <a:latin typeface="Book Antiqua" panose="02040602050305030304" pitchFamily="18" charset="0"/>
              </a:rPr>
              <a:t>delle</a:t>
            </a:r>
            <a:r>
              <a:rPr sz="2400" dirty="0">
                <a:latin typeface="Book Antiqua" panose="02040602050305030304" pitchFamily="18" charset="0"/>
              </a:rPr>
              <a:t> </a:t>
            </a:r>
            <a:r>
              <a:rPr sz="2400" dirty="0" err="1">
                <a:latin typeface="Book Antiqua" panose="02040602050305030304" pitchFamily="18" charset="0"/>
              </a:rPr>
              <a:t>circostanze</a:t>
            </a:r>
            <a:r>
              <a:rPr sz="2400" dirty="0">
                <a:latin typeface="Book Antiqua" panose="02040602050305030304" pitchFamily="18" charset="0"/>
              </a:rPr>
              <a:t> </a:t>
            </a:r>
            <a:r>
              <a:rPr sz="2400" dirty="0" err="1">
                <a:latin typeface="Book Antiqua" panose="02040602050305030304" pitchFamily="18" charset="0"/>
              </a:rPr>
              <a:t>previste</a:t>
            </a:r>
            <a:r>
              <a:rPr sz="2400" dirty="0">
                <a:latin typeface="Book Antiqua" panose="02040602050305030304" pitchFamily="18" charset="0"/>
              </a:rPr>
              <a:t> </a:t>
            </a:r>
            <a:r>
              <a:rPr sz="2400" dirty="0" err="1">
                <a:latin typeface="Book Antiqua" panose="02040602050305030304" pitchFamily="18" charset="0"/>
              </a:rPr>
              <a:t>nel</a:t>
            </a:r>
            <a:r>
              <a:rPr sz="2400" dirty="0">
                <a:latin typeface="Book Antiqua" panose="02040602050305030304" pitchFamily="18" charset="0"/>
              </a:rPr>
              <a:t> primo comma </a:t>
            </a:r>
            <a:r>
              <a:rPr sz="2400" dirty="0" err="1">
                <a:latin typeface="Book Antiqua" panose="02040602050305030304" pitchFamily="18" charset="0"/>
              </a:rPr>
              <a:t>dell'articolo</a:t>
            </a:r>
            <a:r>
              <a:rPr lang="it-IT" sz="2400" dirty="0">
                <a:latin typeface="Book Antiqua" panose="02040602050305030304" pitchFamily="18" charset="0"/>
              </a:rPr>
              <a:t> 625</a:t>
            </a:r>
            <a:r>
              <a:rPr sz="2400" dirty="0">
                <a:latin typeface="Book Antiqua" panose="02040602050305030304" pitchFamily="18" charset="0"/>
              </a:rPr>
              <a:t> </a:t>
            </a:r>
            <a:r>
              <a:rPr sz="2400" dirty="0" err="1">
                <a:latin typeface="Book Antiqua" panose="02040602050305030304" pitchFamily="18" charset="0"/>
              </a:rPr>
              <a:t>ovvero</a:t>
            </a:r>
            <a:r>
              <a:rPr sz="2400" dirty="0">
                <a:latin typeface="Book Antiqua" panose="02040602050305030304" pitchFamily="18" charset="0"/>
              </a:rPr>
              <a:t> se </a:t>
            </a:r>
            <a:r>
              <a:rPr sz="2400" dirty="0" err="1">
                <a:latin typeface="Book Antiqua" panose="02040602050305030304" pitchFamily="18" charset="0"/>
              </a:rPr>
              <a:t>ricorre</a:t>
            </a:r>
            <a:r>
              <a:rPr sz="2400" dirty="0">
                <a:latin typeface="Book Antiqua" panose="02040602050305030304" pitchFamily="18" charset="0"/>
              </a:rPr>
              <a:t> una o </a:t>
            </a:r>
            <a:r>
              <a:rPr sz="2400" dirty="0" err="1">
                <a:latin typeface="Book Antiqua" panose="02040602050305030304" pitchFamily="18" charset="0"/>
              </a:rPr>
              <a:t>più</a:t>
            </a:r>
            <a:r>
              <a:rPr sz="2400" dirty="0">
                <a:latin typeface="Book Antiqua" panose="02040602050305030304" pitchFamily="18" charset="0"/>
              </a:rPr>
              <a:t> </a:t>
            </a:r>
            <a:r>
              <a:rPr sz="2400" dirty="0" err="1">
                <a:latin typeface="Book Antiqua" panose="02040602050305030304" pitchFamily="18" charset="0"/>
              </a:rPr>
              <a:t>delle</a:t>
            </a:r>
            <a:r>
              <a:rPr sz="2400" dirty="0">
                <a:latin typeface="Book Antiqua" panose="02040602050305030304" pitchFamily="18" charset="0"/>
              </a:rPr>
              <a:t> </a:t>
            </a:r>
            <a:r>
              <a:rPr sz="2400" dirty="0" err="1">
                <a:latin typeface="Book Antiqua" panose="02040602050305030304" pitchFamily="18" charset="0"/>
              </a:rPr>
              <a:t>circostanze</a:t>
            </a:r>
            <a:r>
              <a:rPr sz="2400" dirty="0">
                <a:latin typeface="Book Antiqua" panose="02040602050305030304" pitchFamily="18" charset="0"/>
              </a:rPr>
              <a:t> indicate </a:t>
            </a:r>
            <a:r>
              <a:rPr sz="2400" dirty="0" err="1">
                <a:latin typeface="Book Antiqua" panose="02040602050305030304" pitchFamily="18" charset="0"/>
              </a:rPr>
              <a:t>all'articolo</a:t>
            </a:r>
            <a:r>
              <a:rPr lang="it-IT" sz="2400" dirty="0">
                <a:latin typeface="Book Antiqua" panose="02040602050305030304" pitchFamily="18" charset="0"/>
              </a:rPr>
              <a:t> 61</a:t>
            </a:r>
            <a:r>
              <a:rPr sz="2400" dirty="0">
                <a:latin typeface="Book Antiqua" panose="02040602050305030304" pitchFamily="18" charset="0"/>
              </a:rPr>
              <a:t>..."</a:t>
            </a:r>
          </a:p>
          <a:p>
            <a:pPr marL="0" indent="0" algn="just" defTabSz="406908">
              <a:spcBef>
                <a:spcPts val="0"/>
              </a:spcBef>
              <a:buSzTx/>
              <a:buNone/>
              <a:defRPr sz="1600" i="1">
                <a:latin typeface="+mj-lt"/>
                <a:ea typeface="+mj-ea"/>
                <a:cs typeface="+mj-cs"/>
                <a:sym typeface="Helvetica"/>
              </a:defRPr>
            </a:pPr>
            <a:endParaRPr dirty="0">
              <a:latin typeface="Book Antiqua" panose="02040602050305030304" pitchFamily="18" charset="0"/>
            </a:endParaRPr>
          </a:p>
          <a:p>
            <a:pPr marL="0" indent="0" defTabSz="406908">
              <a:spcBef>
                <a:spcPts val="0"/>
              </a:spcBef>
              <a:buSzTx/>
              <a:buNone/>
              <a:defRPr sz="1000">
                <a:latin typeface="+mj-lt"/>
                <a:ea typeface="+mj-ea"/>
                <a:cs typeface="+mj-cs"/>
                <a:sym typeface="Helvetica"/>
              </a:defRPr>
            </a:pPr>
            <a:endParaRPr dirty="0">
              <a:latin typeface="Book Antiqua" panose="02040602050305030304" pitchFamily="18" charset="0"/>
            </a:endParaRPr>
          </a:p>
          <a:p>
            <a:pPr marL="0" indent="0" algn="r" defTabSz="406908">
              <a:spcBef>
                <a:spcPts val="0"/>
              </a:spcBef>
              <a:buSzTx/>
              <a:buNone/>
              <a:defRPr sz="1600">
                <a:latin typeface="+mj-lt"/>
                <a:ea typeface="+mj-ea"/>
                <a:cs typeface="+mj-cs"/>
                <a:sym typeface="Helvetica"/>
              </a:defRPr>
            </a:pPr>
            <a:r>
              <a:rPr b="1" dirty="0" err="1">
                <a:latin typeface="Book Antiqua" panose="02040602050305030304" pitchFamily="18" charset="0"/>
              </a:rPr>
              <a:t>Procedibilità</a:t>
            </a:r>
            <a:r>
              <a:rPr b="1" dirty="0">
                <a:latin typeface="Book Antiqua" panose="02040602050305030304" pitchFamily="18" charset="0"/>
              </a:rPr>
              <a:t>: </a:t>
            </a:r>
            <a:r>
              <a:rPr b="1" dirty="0" err="1">
                <a:latin typeface="Book Antiqua" panose="02040602050305030304" pitchFamily="18" charset="0"/>
              </a:rPr>
              <a:t>d’ufficio</a:t>
            </a:r>
            <a:r>
              <a:rPr dirty="0">
                <a:latin typeface="Book Antiqua" panose="02040602050305030304" pitchFamily="18" charset="0"/>
              </a:rPr>
              <a:t>.</a:t>
            </a:r>
          </a:p>
        </p:txBody>
      </p:sp>
      <p:sp>
        <p:nvSpPr>
          <p:cNvPr id="259" name="Numero diapositiva"/>
          <p:cNvSpPr txBox="1">
            <a:spLocks noGrp="1"/>
          </p:cNvSpPr>
          <p:nvPr>
            <p:ph type="sldNum" sz="quarter" idx="4294967295"/>
          </p:nvPr>
        </p:nvSpPr>
        <p:spPr>
          <a:xfrm>
            <a:off x="8506459" y="6401179"/>
            <a:ext cx="180339" cy="2754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9</a:t>
            </a:fld>
            <a:endParaRPr/>
          </a:p>
        </p:txBody>
      </p:sp>
      <p:pic>
        <p:nvPicPr>
          <p:cNvPr id="260"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Furto in abitazione e furto con strappo"/>
          <p:cNvSpPr txBox="1">
            <a:spLocks noGrp="1"/>
          </p:cNvSpPr>
          <p:nvPr>
            <p:ph type="title"/>
          </p:nvPr>
        </p:nvSpPr>
        <p:spPr>
          <a:xfrm>
            <a:off x="867354" y="215915"/>
            <a:ext cx="6666170" cy="455529"/>
          </a:xfrm>
          <a:prstGeom prst="rect">
            <a:avLst/>
          </a:prstGeom>
        </p:spPr>
        <p:txBody>
          <a:bodyPr>
            <a:noAutofit/>
          </a:bodyPr>
          <a:lstStyle>
            <a:lvl1pPr defTabSz="896111">
              <a:defRPr sz="2600">
                <a:solidFill>
                  <a:srgbClr val="FFFFFF"/>
                </a:solidFill>
              </a:defRPr>
            </a:lvl1pPr>
          </a:lstStyle>
          <a:p>
            <a:r>
              <a:rPr sz="2800" dirty="0" err="1">
                <a:latin typeface="Book Antiqua" panose="02040602050305030304" pitchFamily="18" charset="0"/>
              </a:rPr>
              <a:t>Furto</a:t>
            </a:r>
            <a:r>
              <a:rPr sz="2800" dirty="0">
                <a:latin typeface="Book Antiqua" panose="02040602050305030304" pitchFamily="18" charset="0"/>
              </a:rPr>
              <a:t> in </a:t>
            </a:r>
            <a:r>
              <a:rPr sz="2800" dirty="0" err="1">
                <a:latin typeface="Book Antiqua" panose="02040602050305030304" pitchFamily="18" charset="0"/>
              </a:rPr>
              <a:t>abitazione</a:t>
            </a:r>
            <a:r>
              <a:rPr sz="2800" dirty="0">
                <a:latin typeface="Book Antiqua" panose="02040602050305030304" pitchFamily="18" charset="0"/>
              </a:rPr>
              <a:t> e </a:t>
            </a:r>
            <a:r>
              <a:rPr sz="2800" dirty="0" err="1">
                <a:latin typeface="Book Antiqua" panose="02040602050305030304" pitchFamily="18" charset="0"/>
              </a:rPr>
              <a:t>furto</a:t>
            </a:r>
            <a:r>
              <a:rPr sz="2800" dirty="0">
                <a:latin typeface="Book Antiqua" panose="02040602050305030304" pitchFamily="18" charset="0"/>
              </a:rPr>
              <a:t> con </a:t>
            </a:r>
            <a:r>
              <a:rPr sz="2800" dirty="0" err="1">
                <a:latin typeface="Book Antiqua" panose="02040602050305030304" pitchFamily="18" charset="0"/>
              </a:rPr>
              <a:t>strappo</a:t>
            </a:r>
            <a:r>
              <a:rPr sz="2800" dirty="0">
                <a:latin typeface="Book Antiqua" panose="02040602050305030304" pitchFamily="18" charset="0"/>
              </a:rPr>
              <a:t> </a:t>
            </a:r>
          </a:p>
        </p:txBody>
      </p:sp>
      <p:sp>
        <p:nvSpPr>
          <p:cNvPr id="263" name="Furto in abitazione: -quello di  privata dimora è un concetto molto ampio nel quale vi rientra l’abitazione, camera d’albergo, camper ecc..…"/>
          <p:cNvSpPr txBox="1">
            <a:spLocks noGrp="1"/>
          </p:cNvSpPr>
          <p:nvPr>
            <p:ph type="body" idx="1"/>
          </p:nvPr>
        </p:nvSpPr>
        <p:spPr>
          <a:xfrm>
            <a:off x="457200" y="1065459"/>
            <a:ext cx="8229600" cy="5060705"/>
          </a:xfrm>
          <a:prstGeom prst="rect">
            <a:avLst/>
          </a:prstGeom>
        </p:spPr>
        <p:txBody>
          <a:bodyPr/>
          <a:lstStyle/>
          <a:p>
            <a:pPr algn="just">
              <a:defRPr b="1"/>
            </a:pPr>
            <a:r>
              <a:rPr dirty="0" err="1">
                <a:latin typeface="Book Antiqua" panose="02040602050305030304" pitchFamily="18" charset="0"/>
              </a:rPr>
              <a:t>Furto</a:t>
            </a:r>
            <a:r>
              <a:rPr dirty="0">
                <a:latin typeface="Book Antiqua" panose="02040602050305030304" pitchFamily="18" charset="0"/>
              </a:rPr>
              <a:t> in </a:t>
            </a:r>
            <a:r>
              <a:rPr dirty="0" err="1">
                <a:latin typeface="Book Antiqua" panose="02040602050305030304" pitchFamily="18" charset="0"/>
              </a:rPr>
              <a:t>abitazione</a:t>
            </a:r>
            <a:r>
              <a:rPr dirty="0">
                <a:latin typeface="Book Antiqua" panose="02040602050305030304" pitchFamily="18" charset="0"/>
              </a:rPr>
              <a:t>:</a:t>
            </a:r>
            <a:r>
              <a:rPr b="0" dirty="0">
                <a:latin typeface="Book Antiqua" panose="02040602050305030304" pitchFamily="18" charset="0"/>
              </a:rPr>
              <a:t> </a:t>
            </a:r>
            <a:r>
              <a:rPr sz="2200" b="0" dirty="0">
                <a:latin typeface="Book Antiqua" panose="02040602050305030304" pitchFamily="18" charset="0"/>
              </a:rPr>
              <a:t>-</a:t>
            </a:r>
            <a:r>
              <a:rPr sz="2200" b="0" dirty="0" err="1">
                <a:latin typeface="Book Antiqua" panose="02040602050305030304" pitchFamily="18" charset="0"/>
              </a:rPr>
              <a:t>quello</a:t>
            </a:r>
            <a:r>
              <a:rPr sz="2200" b="0" dirty="0">
                <a:latin typeface="Book Antiqua" panose="02040602050305030304" pitchFamily="18" charset="0"/>
              </a:rPr>
              <a:t> di  </a:t>
            </a:r>
            <a:r>
              <a:rPr sz="2200" b="0" dirty="0" err="1">
                <a:solidFill>
                  <a:srgbClr val="FF0000"/>
                </a:solidFill>
                <a:latin typeface="Book Antiqua" panose="02040602050305030304" pitchFamily="18" charset="0"/>
              </a:rPr>
              <a:t>privata</a:t>
            </a:r>
            <a:r>
              <a:rPr sz="2200" b="0" dirty="0">
                <a:solidFill>
                  <a:srgbClr val="FF0000"/>
                </a:solidFill>
                <a:latin typeface="Book Antiqua" panose="02040602050305030304" pitchFamily="18" charset="0"/>
              </a:rPr>
              <a:t> </a:t>
            </a:r>
            <a:r>
              <a:rPr sz="2200" b="0" dirty="0" err="1">
                <a:solidFill>
                  <a:srgbClr val="FF0000"/>
                </a:solidFill>
                <a:latin typeface="Book Antiqua" panose="02040602050305030304" pitchFamily="18" charset="0"/>
              </a:rPr>
              <a:t>dimora</a:t>
            </a:r>
            <a:r>
              <a:rPr sz="2200" b="0" dirty="0">
                <a:latin typeface="Book Antiqua" panose="02040602050305030304" pitchFamily="18" charset="0"/>
              </a:rPr>
              <a:t> è un </a:t>
            </a:r>
            <a:r>
              <a:rPr sz="2200" b="0" dirty="0" err="1">
                <a:latin typeface="Book Antiqua" panose="02040602050305030304" pitchFamily="18" charset="0"/>
              </a:rPr>
              <a:t>concetto</a:t>
            </a:r>
            <a:r>
              <a:rPr sz="2200" b="0" dirty="0">
                <a:latin typeface="Book Antiqua" panose="02040602050305030304" pitchFamily="18" charset="0"/>
              </a:rPr>
              <a:t> molto </a:t>
            </a:r>
            <a:r>
              <a:rPr sz="2200" b="0" dirty="0" err="1">
                <a:latin typeface="Book Antiqua" panose="02040602050305030304" pitchFamily="18" charset="0"/>
              </a:rPr>
              <a:t>ampio</a:t>
            </a:r>
            <a:r>
              <a:rPr sz="2200" b="0" dirty="0">
                <a:latin typeface="Book Antiqua" panose="02040602050305030304" pitchFamily="18" charset="0"/>
              </a:rPr>
              <a:t> </a:t>
            </a:r>
            <a:r>
              <a:rPr sz="2200" b="0" dirty="0" err="1">
                <a:latin typeface="Book Antiqua" panose="02040602050305030304" pitchFamily="18" charset="0"/>
              </a:rPr>
              <a:t>nel</a:t>
            </a:r>
            <a:r>
              <a:rPr sz="2200" b="0" dirty="0">
                <a:latin typeface="Book Antiqua" panose="02040602050305030304" pitchFamily="18" charset="0"/>
              </a:rPr>
              <a:t> quale vi </a:t>
            </a:r>
            <a:r>
              <a:rPr sz="2200" b="0" dirty="0" err="1">
                <a:latin typeface="Book Antiqua" panose="02040602050305030304" pitchFamily="18" charset="0"/>
              </a:rPr>
              <a:t>rientra</a:t>
            </a:r>
            <a:r>
              <a:rPr sz="2200" b="0" dirty="0">
                <a:latin typeface="Book Antiqua" panose="02040602050305030304" pitchFamily="18" charset="0"/>
              </a:rPr>
              <a:t> </a:t>
            </a:r>
            <a:r>
              <a:rPr sz="2200" b="0" u="sng" dirty="0" err="1">
                <a:latin typeface="Book Antiqua" panose="02040602050305030304" pitchFamily="18" charset="0"/>
              </a:rPr>
              <a:t>l’abitazione</a:t>
            </a:r>
            <a:r>
              <a:rPr sz="2200" b="0" dirty="0">
                <a:latin typeface="Book Antiqua" panose="02040602050305030304" pitchFamily="18" charset="0"/>
              </a:rPr>
              <a:t>, </a:t>
            </a:r>
            <a:r>
              <a:rPr sz="2200" b="0" u="sng" dirty="0">
                <a:latin typeface="Book Antiqua" panose="02040602050305030304" pitchFamily="18" charset="0"/>
              </a:rPr>
              <a:t>camera </a:t>
            </a:r>
            <a:r>
              <a:rPr sz="2200" b="0" u="sng" dirty="0" err="1">
                <a:latin typeface="Book Antiqua" panose="02040602050305030304" pitchFamily="18" charset="0"/>
              </a:rPr>
              <a:t>d’albergo</a:t>
            </a:r>
            <a:r>
              <a:rPr sz="2200" b="0" dirty="0">
                <a:latin typeface="Book Antiqua" panose="02040602050305030304" pitchFamily="18" charset="0"/>
              </a:rPr>
              <a:t>, </a:t>
            </a:r>
            <a:r>
              <a:rPr sz="2200" b="0" u="sng" dirty="0">
                <a:latin typeface="Book Antiqua" panose="02040602050305030304" pitchFamily="18" charset="0"/>
              </a:rPr>
              <a:t>camper</a:t>
            </a:r>
            <a:r>
              <a:rPr sz="2200" b="0" dirty="0">
                <a:latin typeface="Book Antiqua" panose="02040602050305030304" pitchFamily="18" charset="0"/>
              </a:rPr>
              <a:t> </a:t>
            </a:r>
            <a:r>
              <a:rPr sz="2200" b="0" dirty="0" err="1">
                <a:latin typeface="Book Antiqua" panose="02040602050305030304" pitchFamily="18" charset="0"/>
              </a:rPr>
              <a:t>ecc</a:t>
            </a:r>
            <a:r>
              <a:rPr sz="2200" b="0" dirty="0">
                <a:latin typeface="Book Antiqua" panose="02040602050305030304" pitchFamily="18" charset="0"/>
              </a:rPr>
              <a:t>.. </a:t>
            </a:r>
          </a:p>
          <a:p>
            <a:pPr algn="just">
              <a:defRPr sz="2200"/>
            </a:pPr>
            <a:endParaRPr sz="2200" b="0" dirty="0">
              <a:latin typeface="Book Antiqua" panose="02040602050305030304" pitchFamily="18" charset="0"/>
            </a:endParaRPr>
          </a:p>
          <a:p>
            <a:pPr algn="just">
              <a:defRPr b="1"/>
            </a:pPr>
            <a:r>
              <a:rPr dirty="0" err="1">
                <a:latin typeface="Book Antiqua" panose="02040602050305030304" pitchFamily="18" charset="0"/>
              </a:rPr>
              <a:t>Furto</a:t>
            </a:r>
            <a:r>
              <a:rPr dirty="0">
                <a:latin typeface="Book Antiqua" panose="02040602050305030304" pitchFamily="18" charset="0"/>
              </a:rPr>
              <a:t> con </a:t>
            </a:r>
            <a:r>
              <a:rPr dirty="0" err="1">
                <a:latin typeface="Book Antiqua" panose="02040602050305030304" pitchFamily="18" charset="0"/>
              </a:rPr>
              <a:t>strappo</a:t>
            </a:r>
            <a:r>
              <a:rPr dirty="0">
                <a:latin typeface="Book Antiqua" panose="02040602050305030304" pitchFamily="18" charset="0"/>
              </a:rPr>
              <a:t>:</a:t>
            </a:r>
            <a:r>
              <a:rPr sz="2200" b="0" dirty="0">
                <a:latin typeface="Book Antiqua" panose="02040602050305030304" pitchFamily="18" charset="0"/>
              </a:rPr>
              <a:t> - a </a:t>
            </a:r>
            <a:r>
              <a:rPr sz="2200" b="0" dirty="0" err="1">
                <a:latin typeface="Book Antiqua" panose="02040602050305030304" pitchFamily="18" charset="0"/>
              </a:rPr>
              <a:t>differenza</a:t>
            </a:r>
            <a:r>
              <a:rPr sz="2200" b="0" dirty="0">
                <a:latin typeface="Book Antiqua" panose="02040602050305030304" pitchFamily="18" charset="0"/>
              </a:rPr>
              <a:t> </a:t>
            </a:r>
            <a:r>
              <a:rPr sz="2200" b="0" dirty="0" err="1">
                <a:latin typeface="Book Antiqua" panose="02040602050305030304" pitchFamily="18" charset="0"/>
              </a:rPr>
              <a:t>della</a:t>
            </a:r>
            <a:r>
              <a:rPr sz="2200" b="0" dirty="0">
                <a:latin typeface="Book Antiqua" panose="02040602050305030304" pitchFamily="18" charset="0"/>
              </a:rPr>
              <a:t> </a:t>
            </a:r>
            <a:r>
              <a:rPr sz="2200" b="0" dirty="0" err="1">
                <a:latin typeface="Book Antiqua" panose="02040602050305030304" pitchFamily="18" charset="0"/>
              </a:rPr>
              <a:t>rapina</a:t>
            </a:r>
            <a:r>
              <a:rPr sz="2200" b="0" dirty="0">
                <a:latin typeface="Book Antiqua" panose="02040602050305030304" pitchFamily="18" charset="0"/>
              </a:rPr>
              <a:t> in cui la </a:t>
            </a:r>
            <a:r>
              <a:rPr sz="2200" b="0" dirty="0" err="1">
                <a:latin typeface="Book Antiqua" panose="02040602050305030304" pitchFamily="18" charset="0"/>
              </a:rPr>
              <a:t>violenza</a:t>
            </a:r>
            <a:r>
              <a:rPr sz="2200" b="0" dirty="0">
                <a:latin typeface="Book Antiqua" panose="02040602050305030304" pitchFamily="18" charset="0"/>
              </a:rPr>
              <a:t> </a:t>
            </a:r>
            <a:r>
              <a:rPr sz="2200" b="0" dirty="0" err="1">
                <a:latin typeface="Book Antiqua" panose="02040602050305030304" pitchFamily="18" charset="0"/>
              </a:rPr>
              <a:t>viene</a:t>
            </a:r>
            <a:r>
              <a:rPr sz="2200" b="0" dirty="0">
                <a:latin typeface="Book Antiqua" panose="02040602050305030304" pitchFamily="18" charset="0"/>
              </a:rPr>
              <a:t> </a:t>
            </a:r>
            <a:r>
              <a:rPr sz="2200" b="0" dirty="0" err="1">
                <a:latin typeface="Book Antiqua" panose="02040602050305030304" pitchFamily="18" charset="0"/>
              </a:rPr>
              <a:t>esercitata</a:t>
            </a:r>
            <a:r>
              <a:rPr sz="2200" b="0" dirty="0">
                <a:latin typeface="Book Antiqua" panose="02040602050305030304" pitchFamily="18" charset="0"/>
              </a:rPr>
              <a:t> </a:t>
            </a:r>
            <a:r>
              <a:rPr sz="2200" b="0" dirty="0" err="1">
                <a:latin typeface="Book Antiqua" panose="02040602050305030304" pitchFamily="18" charset="0"/>
              </a:rPr>
              <a:t>sulla</a:t>
            </a:r>
            <a:r>
              <a:rPr sz="2200" b="0" dirty="0">
                <a:latin typeface="Book Antiqua" panose="02040602050305030304" pitchFamily="18" charset="0"/>
              </a:rPr>
              <a:t> persona, in </a:t>
            </a:r>
            <a:r>
              <a:rPr sz="2200" b="0" dirty="0" err="1">
                <a:latin typeface="Book Antiqua" panose="02040602050305030304" pitchFamily="18" charset="0"/>
              </a:rPr>
              <a:t>questo</a:t>
            </a:r>
            <a:r>
              <a:rPr sz="2200" b="0" dirty="0">
                <a:latin typeface="Book Antiqua" panose="02040602050305030304" pitchFamily="18" charset="0"/>
              </a:rPr>
              <a:t> </a:t>
            </a:r>
            <a:r>
              <a:rPr sz="2200" b="0" dirty="0" err="1">
                <a:latin typeface="Book Antiqua" panose="02040602050305030304" pitchFamily="18" charset="0"/>
              </a:rPr>
              <a:t>caso</a:t>
            </a:r>
            <a:r>
              <a:rPr sz="2200" b="0" dirty="0">
                <a:latin typeface="Book Antiqua" panose="02040602050305030304" pitchFamily="18" charset="0"/>
              </a:rPr>
              <a:t> la</a:t>
            </a:r>
            <a:r>
              <a:rPr sz="2200" b="0" dirty="0">
                <a:solidFill>
                  <a:srgbClr val="FF0000"/>
                </a:solidFill>
                <a:latin typeface="Book Antiqua" panose="02040602050305030304" pitchFamily="18" charset="0"/>
              </a:rPr>
              <a:t> </a:t>
            </a:r>
            <a:r>
              <a:rPr sz="2200" b="0" u="sng" dirty="0" err="1">
                <a:solidFill>
                  <a:srgbClr val="FF0000"/>
                </a:solidFill>
                <a:latin typeface="Book Antiqua" panose="02040602050305030304" pitchFamily="18" charset="0"/>
              </a:rPr>
              <a:t>violenza</a:t>
            </a:r>
            <a:r>
              <a:rPr sz="2200" b="0" u="sng" dirty="0">
                <a:solidFill>
                  <a:srgbClr val="FF0000"/>
                </a:solidFill>
                <a:latin typeface="Book Antiqua" panose="02040602050305030304" pitchFamily="18" charset="0"/>
              </a:rPr>
              <a:t> è </a:t>
            </a:r>
            <a:r>
              <a:rPr sz="2200" b="0" u="sng" dirty="0" err="1">
                <a:solidFill>
                  <a:srgbClr val="FF0000"/>
                </a:solidFill>
                <a:latin typeface="Book Antiqua" panose="02040602050305030304" pitchFamily="18" charset="0"/>
              </a:rPr>
              <a:t>rivolta</a:t>
            </a:r>
            <a:r>
              <a:rPr sz="2200" b="0" u="sng" dirty="0">
                <a:solidFill>
                  <a:srgbClr val="FF0000"/>
                </a:solidFill>
                <a:latin typeface="Book Antiqua" panose="02040602050305030304" pitchFamily="18" charset="0"/>
              </a:rPr>
              <a:t> </a:t>
            </a:r>
            <a:r>
              <a:rPr sz="2200" b="0" u="sng" dirty="0" err="1">
                <a:solidFill>
                  <a:srgbClr val="FF0000"/>
                </a:solidFill>
                <a:latin typeface="Book Antiqua" panose="02040602050305030304" pitchFamily="18" charset="0"/>
              </a:rPr>
              <a:t>alla</a:t>
            </a:r>
            <a:r>
              <a:rPr sz="2200" b="0" u="sng" dirty="0">
                <a:solidFill>
                  <a:srgbClr val="FF0000"/>
                </a:solidFill>
                <a:latin typeface="Book Antiqua" panose="02040602050305030304" pitchFamily="18" charset="0"/>
              </a:rPr>
              <a:t> sola </a:t>
            </a:r>
            <a:r>
              <a:rPr sz="2200" b="0" u="sng" dirty="0" err="1">
                <a:solidFill>
                  <a:srgbClr val="FF0000"/>
                </a:solidFill>
                <a:latin typeface="Book Antiqua" panose="02040602050305030304" pitchFamily="18" charset="0"/>
              </a:rPr>
              <a:t>cosa</a:t>
            </a:r>
            <a:r>
              <a:rPr sz="2200" b="0" u="sng" dirty="0">
                <a:solidFill>
                  <a:srgbClr val="FF0000"/>
                </a:solidFill>
                <a:latin typeface="Book Antiqua" panose="02040602050305030304" pitchFamily="18" charset="0"/>
              </a:rPr>
              <a:t> </a:t>
            </a:r>
            <a:r>
              <a:rPr sz="2200" b="0" dirty="0" err="1">
                <a:solidFill>
                  <a:srgbClr val="FF0000"/>
                </a:solidFill>
                <a:latin typeface="Book Antiqua" panose="02040602050305030304" pitchFamily="18" charset="0"/>
              </a:rPr>
              <a:t>oggetto</a:t>
            </a:r>
            <a:r>
              <a:rPr sz="2200" b="0" dirty="0">
                <a:solidFill>
                  <a:srgbClr val="FF0000"/>
                </a:solidFill>
                <a:latin typeface="Book Antiqua" panose="02040602050305030304" pitchFamily="18" charset="0"/>
              </a:rPr>
              <a:t> di </a:t>
            </a:r>
            <a:r>
              <a:rPr sz="2200" b="0" dirty="0" err="1">
                <a:solidFill>
                  <a:srgbClr val="FF0000"/>
                </a:solidFill>
                <a:latin typeface="Book Antiqua" panose="02040602050305030304" pitchFamily="18" charset="0"/>
              </a:rPr>
              <a:t>scippo</a:t>
            </a:r>
            <a:r>
              <a:rPr sz="2200" b="0" dirty="0">
                <a:solidFill>
                  <a:srgbClr val="FF0000"/>
                </a:solidFill>
                <a:latin typeface="Book Antiqua" panose="02040602050305030304" pitchFamily="18" charset="0"/>
              </a:rPr>
              <a:t>.</a:t>
            </a:r>
          </a:p>
        </p:txBody>
      </p:sp>
      <p:sp>
        <p:nvSpPr>
          <p:cNvPr id="264" name="Numero diapositiva"/>
          <p:cNvSpPr txBox="1">
            <a:spLocks noGrp="1"/>
          </p:cNvSpPr>
          <p:nvPr>
            <p:ph type="sldNum" sz="quarter" idx="4294967295"/>
          </p:nvPr>
        </p:nvSpPr>
        <p:spPr>
          <a:xfrm>
            <a:off x="8430259" y="6401179"/>
            <a:ext cx="256539" cy="2754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10</a:t>
            </a:fld>
            <a:endParaRPr/>
          </a:p>
        </p:txBody>
      </p:sp>
      <p:pic>
        <p:nvPicPr>
          <p:cNvPr id="265"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CasellaDiTesto 1"/>
          <p:cNvSpPr txBox="1"/>
          <p:nvPr/>
        </p:nvSpPr>
        <p:spPr>
          <a:xfrm>
            <a:off x="229859" y="980729"/>
            <a:ext cx="8684281" cy="373723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0070C0"/>
                </a:solidFill>
                <a:latin typeface="Book Antiqua"/>
                <a:ea typeface="Book Antiqua"/>
                <a:cs typeface="Book Antiqua"/>
                <a:sym typeface="Book Antiqua"/>
              </a:defRPr>
            </a:pPr>
            <a:r>
              <a:rPr dirty="0">
                <a:solidFill>
                  <a:srgbClr val="FF0000"/>
                </a:solidFill>
              </a:rPr>
              <a:t>Art. 628 </a:t>
            </a:r>
            <a:r>
              <a:rPr dirty="0" err="1">
                <a:solidFill>
                  <a:srgbClr val="FF0000"/>
                </a:solidFill>
              </a:rPr>
              <a:t>c.p.</a:t>
            </a:r>
            <a:r>
              <a:rPr dirty="0">
                <a:solidFill>
                  <a:srgbClr val="FF0000"/>
                </a:solidFill>
              </a:rPr>
              <a:t> </a:t>
            </a:r>
            <a:r>
              <a:rPr dirty="0" err="1">
                <a:solidFill>
                  <a:srgbClr val="FF0000"/>
                </a:solidFill>
              </a:rPr>
              <a:t>Rapina</a:t>
            </a:r>
            <a:endParaRPr dirty="0">
              <a:solidFill>
                <a:srgbClr val="FF0000"/>
              </a:solidFill>
              <a:latin typeface="Times New Roman"/>
              <a:ea typeface="Times New Roman"/>
              <a:cs typeface="Times New Roman"/>
              <a:sym typeface="Times New Roman"/>
            </a:endParaRPr>
          </a:p>
          <a:p>
            <a:pPr algn="just">
              <a:lnSpc>
                <a:spcPct val="114000"/>
              </a:lnSpc>
              <a:spcBef>
                <a:spcPts val="600"/>
              </a:spcBef>
              <a:defRPr sz="2200" b="0">
                <a:latin typeface="Book Antiqua"/>
                <a:ea typeface="Book Antiqua"/>
                <a:cs typeface="Book Antiqua"/>
                <a:sym typeface="Book Antiqua"/>
              </a:defRPr>
            </a:pPr>
            <a:r>
              <a:rPr dirty="0"/>
              <a:t>«</a:t>
            </a:r>
            <a:r>
              <a:rPr i="1" dirty="0" err="1"/>
              <a:t>Chiunque</a:t>
            </a:r>
            <a:r>
              <a:rPr i="1" dirty="0"/>
              <a:t>, </a:t>
            </a:r>
            <a:r>
              <a:rPr b="1" i="1" dirty="0">
                <a:solidFill>
                  <a:srgbClr val="0070C0"/>
                </a:solidFill>
              </a:rPr>
              <a:t>per </a:t>
            </a:r>
            <a:r>
              <a:rPr b="1" i="1" dirty="0" err="1">
                <a:solidFill>
                  <a:srgbClr val="0070C0"/>
                </a:solidFill>
              </a:rPr>
              <a:t>procurare</a:t>
            </a:r>
            <a:r>
              <a:rPr b="1" i="1" dirty="0">
                <a:solidFill>
                  <a:srgbClr val="0070C0"/>
                </a:solidFill>
              </a:rPr>
              <a:t> a </a:t>
            </a:r>
            <a:r>
              <a:rPr b="1" i="1" dirty="0" err="1">
                <a:solidFill>
                  <a:srgbClr val="0070C0"/>
                </a:solidFill>
              </a:rPr>
              <a:t>sé</a:t>
            </a:r>
            <a:r>
              <a:rPr b="1" i="1" dirty="0">
                <a:solidFill>
                  <a:srgbClr val="0070C0"/>
                </a:solidFill>
              </a:rPr>
              <a:t> o ad </a:t>
            </a:r>
            <a:r>
              <a:rPr b="1" i="1" dirty="0" err="1">
                <a:solidFill>
                  <a:srgbClr val="0070C0"/>
                </a:solidFill>
              </a:rPr>
              <a:t>altri</a:t>
            </a:r>
            <a:r>
              <a:rPr b="1" i="1" dirty="0">
                <a:solidFill>
                  <a:srgbClr val="0070C0"/>
                </a:solidFill>
              </a:rPr>
              <a:t> un </a:t>
            </a:r>
            <a:r>
              <a:rPr b="1" i="1" dirty="0" err="1">
                <a:solidFill>
                  <a:srgbClr val="0070C0"/>
                </a:solidFill>
              </a:rPr>
              <a:t>ingiusto</a:t>
            </a:r>
            <a:r>
              <a:rPr b="1" i="1" dirty="0">
                <a:solidFill>
                  <a:srgbClr val="0070C0"/>
                </a:solidFill>
              </a:rPr>
              <a:t> </a:t>
            </a:r>
            <a:r>
              <a:rPr b="1" i="1" dirty="0" err="1">
                <a:solidFill>
                  <a:srgbClr val="0070C0"/>
                </a:solidFill>
              </a:rPr>
              <a:t>profitto</a:t>
            </a:r>
            <a:r>
              <a:rPr i="1" dirty="0">
                <a:solidFill>
                  <a:srgbClr val="0070C0"/>
                </a:solidFill>
              </a:rPr>
              <a:t>, </a:t>
            </a:r>
            <a:r>
              <a:rPr b="1" i="1" dirty="0" err="1">
                <a:solidFill>
                  <a:srgbClr val="0070C0"/>
                </a:solidFill>
              </a:rPr>
              <a:t>mediante</a:t>
            </a:r>
            <a:r>
              <a:rPr b="1" i="1" dirty="0">
                <a:solidFill>
                  <a:srgbClr val="0070C0"/>
                </a:solidFill>
              </a:rPr>
              <a:t> </a:t>
            </a:r>
            <a:r>
              <a:rPr b="1" i="1" dirty="0" err="1">
                <a:solidFill>
                  <a:srgbClr val="0070C0"/>
                </a:solidFill>
              </a:rPr>
              <a:t>violenza</a:t>
            </a:r>
            <a:r>
              <a:rPr b="1" i="1" dirty="0">
                <a:solidFill>
                  <a:srgbClr val="0070C0"/>
                </a:solidFill>
              </a:rPr>
              <a:t> </a:t>
            </a:r>
            <a:r>
              <a:rPr b="1" i="1" dirty="0" err="1">
                <a:solidFill>
                  <a:srgbClr val="0070C0"/>
                </a:solidFill>
              </a:rPr>
              <a:t>alla</a:t>
            </a:r>
            <a:r>
              <a:rPr b="1" i="1" dirty="0">
                <a:solidFill>
                  <a:srgbClr val="0070C0"/>
                </a:solidFill>
              </a:rPr>
              <a:t> persona o </a:t>
            </a:r>
            <a:r>
              <a:rPr b="1" i="1" dirty="0" err="1">
                <a:solidFill>
                  <a:srgbClr val="0070C0"/>
                </a:solidFill>
              </a:rPr>
              <a:t>minaccia</a:t>
            </a:r>
            <a:r>
              <a:rPr b="1" i="1" dirty="0">
                <a:solidFill>
                  <a:srgbClr val="0070C0"/>
                </a:solidFill>
              </a:rPr>
              <a:t>,</a:t>
            </a:r>
            <a:r>
              <a:rPr i="1" dirty="0">
                <a:solidFill>
                  <a:srgbClr val="0070C0"/>
                </a:solidFill>
              </a:rPr>
              <a:t> </a:t>
            </a:r>
            <a:r>
              <a:rPr b="1" i="1" dirty="0" err="1">
                <a:solidFill>
                  <a:srgbClr val="0070C0"/>
                </a:solidFill>
              </a:rPr>
              <a:t>s'impossessa</a:t>
            </a:r>
            <a:r>
              <a:rPr b="1" i="1" dirty="0">
                <a:solidFill>
                  <a:srgbClr val="0070C0"/>
                </a:solidFill>
              </a:rPr>
              <a:t> </a:t>
            </a:r>
            <a:r>
              <a:rPr b="1" i="1" dirty="0" err="1">
                <a:solidFill>
                  <a:srgbClr val="0070C0"/>
                </a:solidFill>
              </a:rPr>
              <a:t>della</a:t>
            </a:r>
            <a:r>
              <a:rPr b="1" i="1" dirty="0">
                <a:solidFill>
                  <a:srgbClr val="0070C0"/>
                </a:solidFill>
              </a:rPr>
              <a:t> </a:t>
            </a:r>
            <a:r>
              <a:rPr b="1" i="1" dirty="0" err="1">
                <a:solidFill>
                  <a:srgbClr val="0070C0"/>
                </a:solidFill>
              </a:rPr>
              <a:t>cosa</a:t>
            </a:r>
            <a:r>
              <a:rPr b="1" i="1" dirty="0">
                <a:solidFill>
                  <a:srgbClr val="0070C0"/>
                </a:solidFill>
              </a:rPr>
              <a:t> mobile </a:t>
            </a:r>
            <a:r>
              <a:rPr b="1" i="1" dirty="0" err="1">
                <a:solidFill>
                  <a:srgbClr val="0070C0"/>
                </a:solidFill>
              </a:rPr>
              <a:t>altrui</a:t>
            </a:r>
            <a:r>
              <a:rPr i="1" dirty="0">
                <a:solidFill>
                  <a:srgbClr val="0070C0"/>
                </a:solidFill>
              </a:rPr>
              <a:t>, </a:t>
            </a:r>
            <a:r>
              <a:rPr b="1" i="1" dirty="0" err="1">
                <a:solidFill>
                  <a:srgbClr val="0070C0"/>
                </a:solidFill>
              </a:rPr>
              <a:t>sottraendola</a:t>
            </a:r>
            <a:r>
              <a:rPr b="1" i="1" dirty="0">
                <a:solidFill>
                  <a:srgbClr val="0070C0"/>
                </a:solidFill>
              </a:rPr>
              <a:t> a chi la </a:t>
            </a:r>
            <a:r>
              <a:rPr b="1" i="1" dirty="0" err="1">
                <a:solidFill>
                  <a:srgbClr val="0070C0"/>
                </a:solidFill>
              </a:rPr>
              <a:t>detiene</a:t>
            </a:r>
            <a:r>
              <a:rPr i="1" dirty="0"/>
              <a:t>, è </a:t>
            </a:r>
            <a:r>
              <a:rPr i="1" dirty="0" err="1"/>
              <a:t>punito</a:t>
            </a:r>
            <a:r>
              <a:rPr i="1" dirty="0"/>
              <a:t> con la </a:t>
            </a:r>
            <a:r>
              <a:rPr i="1" dirty="0" err="1"/>
              <a:t>reclusione</a:t>
            </a:r>
            <a:r>
              <a:rPr i="1" dirty="0"/>
              <a:t> da </a:t>
            </a:r>
            <a:r>
              <a:rPr lang="it-IT" i="1" dirty="0"/>
              <a:t>cinque</a:t>
            </a:r>
            <a:r>
              <a:rPr i="1" dirty="0"/>
              <a:t> a </a:t>
            </a:r>
            <a:r>
              <a:rPr i="1" dirty="0" err="1"/>
              <a:t>dieci</a:t>
            </a:r>
            <a:r>
              <a:rPr i="1" dirty="0"/>
              <a:t> </a:t>
            </a:r>
            <a:r>
              <a:rPr i="1" dirty="0" err="1"/>
              <a:t>anni</a:t>
            </a:r>
            <a:r>
              <a:rPr i="1" dirty="0"/>
              <a:t> e con la </a:t>
            </a:r>
            <a:r>
              <a:rPr i="1" dirty="0" err="1"/>
              <a:t>multa</a:t>
            </a:r>
            <a:r>
              <a:rPr i="1" dirty="0"/>
              <a:t> da 927 euro a 2.500 euro.</a:t>
            </a:r>
            <a:endParaRPr dirty="0">
              <a:latin typeface="Times New Roman"/>
              <a:ea typeface="Times New Roman"/>
              <a:cs typeface="Times New Roman"/>
              <a:sym typeface="Times New Roman"/>
            </a:endParaRPr>
          </a:p>
          <a:p>
            <a:pPr algn="just">
              <a:lnSpc>
                <a:spcPct val="114000"/>
              </a:lnSpc>
              <a:spcBef>
                <a:spcPts val="600"/>
              </a:spcBef>
              <a:defRPr sz="2200" b="0" i="1">
                <a:latin typeface="Book Antiqua"/>
                <a:ea typeface="Book Antiqua"/>
                <a:cs typeface="Book Antiqua"/>
                <a:sym typeface="Book Antiqua"/>
              </a:defRPr>
            </a:pPr>
            <a:r>
              <a:rPr dirty="0" err="1"/>
              <a:t>Alla</a:t>
            </a:r>
            <a:r>
              <a:rPr dirty="0"/>
              <a:t> </a:t>
            </a:r>
            <a:r>
              <a:rPr dirty="0" err="1"/>
              <a:t>stessa</a:t>
            </a:r>
            <a:r>
              <a:rPr dirty="0"/>
              <a:t> </a:t>
            </a:r>
            <a:r>
              <a:rPr dirty="0" err="1"/>
              <a:t>pena</a:t>
            </a:r>
            <a:r>
              <a:rPr dirty="0"/>
              <a:t> </a:t>
            </a:r>
            <a:r>
              <a:rPr dirty="0" err="1"/>
              <a:t>soggiace</a:t>
            </a:r>
            <a:r>
              <a:rPr dirty="0"/>
              <a:t> chi </a:t>
            </a:r>
            <a:r>
              <a:rPr b="1" dirty="0" err="1">
                <a:solidFill>
                  <a:srgbClr val="0070C0"/>
                </a:solidFill>
              </a:rPr>
              <a:t>adopera</a:t>
            </a:r>
            <a:r>
              <a:rPr b="1" dirty="0">
                <a:solidFill>
                  <a:srgbClr val="0070C0"/>
                </a:solidFill>
              </a:rPr>
              <a:t> </a:t>
            </a:r>
            <a:r>
              <a:rPr b="1" dirty="0" err="1">
                <a:solidFill>
                  <a:srgbClr val="0070C0"/>
                </a:solidFill>
              </a:rPr>
              <a:t>violenza</a:t>
            </a:r>
            <a:r>
              <a:rPr b="1" dirty="0">
                <a:solidFill>
                  <a:srgbClr val="0070C0"/>
                </a:solidFill>
              </a:rPr>
              <a:t> o </a:t>
            </a:r>
            <a:r>
              <a:rPr b="1" dirty="0" err="1">
                <a:solidFill>
                  <a:srgbClr val="0070C0"/>
                </a:solidFill>
              </a:rPr>
              <a:t>minaccia</a:t>
            </a:r>
            <a:r>
              <a:rPr b="1" dirty="0">
                <a:solidFill>
                  <a:srgbClr val="0070C0"/>
                </a:solidFill>
              </a:rPr>
              <a:t> </a:t>
            </a:r>
            <a:r>
              <a:rPr b="1" dirty="0" err="1">
                <a:solidFill>
                  <a:srgbClr val="0070C0"/>
                </a:solidFill>
              </a:rPr>
              <a:t>immediatamente</a:t>
            </a:r>
            <a:r>
              <a:rPr b="1" dirty="0">
                <a:solidFill>
                  <a:srgbClr val="0070C0"/>
                </a:solidFill>
              </a:rPr>
              <a:t> </a:t>
            </a:r>
            <a:r>
              <a:rPr b="1" dirty="0" err="1">
                <a:solidFill>
                  <a:srgbClr val="0070C0"/>
                </a:solidFill>
              </a:rPr>
              <a:t>dopo</a:t>
            </a:r>
            <a:r>
              <a:rPr b="1" dirty="0">
                <a:solidFill>
                  <a:srgbClr val="0070C0"/>
                </a:solidFill>
              </a:rPr>
              <a:t> la </a:t>
            </a:r>
            <a:r>
              <a:rPr b="1" dirty="0" err="1">
                <a:solidFill>
                  <a:srgbClr val="0070C0"/>
                </a:solidFill>
              </a:rPr>
              <a:t>sottrazione</a:t>
            </a:r>
            <a:r>
              <a:rPr b="1" dirty="0">
                <a:solidFill>
                  <a:srgbClr val="0070C0"/>
                </a:solidFill>
              </a:rPr>
              <a:t>, per </a:t>
            </a:r>
            <a:r>
              <a:rPr b="1" dirty="0" err="1">
                <a:solidFill>
                  <a:srgbClr val="0070C0"/>
                </a:solidFill>
              </a:rPr>
              <a:t>assicurare</a:t>
            </a:r>
            <a:r>
              <a:rPr b="1" dirty="0">
                <a:solidFill>
                  <a:srgbClr val="0070C0"/>
                </a:solidFill>
              </a:rPr>
              <a:t> a </a:t>
            </a:r>
            <a:r>
              <a:rPr b="1" dirty="0" err="1">
                <a:solidFill>
                  <a:srgbClr val="0070C0"/>
                </a:solidFill>
              </a:rPr>
              <a:t>sé</a:t>
            </a:r>
            <a:r>
              <a:rPr b="1" dirty="0">
                <a:solidFill>
                  <a:srgbClr val="0070C0"/>
                </a:solidFill>
              </a:rPr>
              <a:t> o ad </a:t>
            </a:r>
            <a:r>
              <a:rPr b="1" dirty="0" err="1">
                <a:solidFill>
                  <a:srgbClr val="0070C0"/>
                </a:solidFill>
              </a:rPr>
              <a:t>altri</a:t>
            </a:r>
            <a:r>
              <a:rPr b="1" dirty="0">
                <a:solidFill>
                  <a:srgbClr val="0070C0"/>
                </a:solidFill>
              </a:rPr>
              <a:t> </a:t>
            </a:r>
            <a:r>
              <a:rPr b="1" dirty="0" err="1">
                <a:solidFill>
                  <a:srgbClr val="0070C0"/>
                </a:solidFill>
              </a:rPr>
              <a:t>il</a:t>
            </a:r>
            <a:r>
              <a:rPr b="1" dirty="0">
                <a:solidFill>
                  <a:srgbClr val="0070C0"/>
                </a:solidFill>
              </a:rPr>
              <a:t> </a:t>
            </a:r>
            <a:r>
              <a:rPr b="1" dirty="0" err="1">
                <a:solidFill>
                  <a:srgbClr val="0070C0"/>
                </a:solidFill>
              </a:rPr>
              <a:t>possesso</a:t>
            </a:r>
            <a:r>
              <a:rPr b="1" dirty="0">
                <a:solidFill>
                  <a:srgbClr val="0070C0"/>
                </a:solidFill>
              </a:rPr>
              <a:t> </a:t>
            </a:r>
            <a:r>
              <a:rPr b="1" dirty="0" err="1">
                <a:solidFill>
                  <a:srgbClr val="0070C0"/>
                </a:solidFill>
              </a:rPr>
              <a:t>della</a:t>
            </a:r>
            <a:r>
              <a:rPr b="1" dirty="0">
                <a:solidFill>
                  <a:srgbClr val="0070C0"/>
                </a:solidFill>
              </a:rPr>
              <a:t> </a:t>
            </a:r>
            <a:r>
              <a:rPr b="1" dirty="0" err="1">
                <a:solidFill>
                  <a:srgbClr val="0070C0"/>
                </a:solidFill>
              </a:rPr>
              <a:t>cosa</a:t>
            </a:r>
            <a:r>
              <a:rPr b="1" dirty="0">
                <a:solidFill>
                  <a:srgbClr val="0070C0"/>
                </a:solidFill>
              </a:rPr>
              <a:t> </a:t>
            </a:r>
            <a:r>
              <a:rPr b="1" dirty="0" err="1">
                <a:solidFill>
                  <a:srgbClr val="0070C0"/>
                </a:solidFill>
              </a:rPr>
              <a:t>sottratta</a:t>
            </a:r>
            <a:r>
              <a:rPr b="1" dirty="0">
                <a:solidFill>
                  <a:srgbClr val="0070C0"/>
                </a:solidFill>
              </a:rPr>
              <a:t>, o per </a:t>
            </a:r>
            <a:r>
              <a:rPr b="1" dirty="0" err="1">
                <a:solidFill>
                  <a:srgbClr val="0070C0"/>
                </a:solidFill>
              </a:rPr>
              <a:t>procurare</a:t>
            </a:r>
            <a:r>
              <a:rPr b="1" dirty="0">
                <a:solidFill>
                  <a:srgbClr val="0070C0"/>
                </a:solidFill>
              </a:rPr>
              <a:t> a </a:t>
            </a:r>
            <a:r>
              <a:rPr b="1" dirty="0" err="1">
                <a:solidFill>
                  <a:srgbClr val="0070C0"/>
                </a:solidFill>
              </a:rPr>
              <a:t>sé</a:t>
            </a:r>
            <a:r>
              <a:rPr b="1" dirty="0">
                <a:solidFill>
                  <a:srgbClr val="0070C0"/>
                </a:solidFill>
              </a:rPr>
              <a:t> o ad </a:t>
            </a:r>
            <a:r>
              <a:rPr b="1" dirty="0" err="1">
                <a:solidFill>
                  <a:srgbClr val="0070C0"/>
                </a:solidFill>
              </a:rPr>
              <a:t>altri</a:t>
            </a:r>
            <a:r>
              <a:rPr b="1" dirty="0">
                <a:solidFill>
                  <a:srgbClr val="0070C0"/>
                </a:solidFill>
              </a:rPr>
              <a:t> </a:t>
            </a:r>
            <a:r>
              <a:rPr b="1" dirty="0" err="1">
                <a:solidFill>
                  <a:srgbClr val="0070C0"/>
                </a:solidFill>
              </a:rPr>
              <a:t>l'impunità</a:t>
            </a:r>
            <a:r>
              <a:rPr dirty="0"/>
              <a:t>. …</a:t>
            </a:r>
          </a:p>
        </p:txBody>
      </p:sp>
      <p:pic>
        <p:nvPicPr>
          <p:cNvPr id="268"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69"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Rapina</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CasellaDiTesto 1"/>
          <p:cNvSpPr txBox="1"/>
          <p:nvPr/>
        </p:nvSpPr>
        <p:spPr>
          <a:xfrm>
            <a:off x="45719" y="836712"/>
            <a:ext cx="9052561" cy="579704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0070C0"/>
                </a:solidFill>
                <a:latin typeface="Book Antiqua"/>
                <a:ea typeface="Book Antiqua"/>
                <a:cs typeface="Book Antiqua"/>
                <a:sym typeface="Book Antiqua"/>
              </a:defRPr>
            </a:pPr>
            <a:r>
              <a:rPr dirty="0"/>
              <a:t>Art. 628 </a:t>
            </a:r>
            <a:r>
              <a:rPr dirty="0" err="1"/>
              <a:t>c.p.</a:t>
            </a:r>
            <a:r>
              <a:rPr dirty="0"/>
              <a:t> </a:t>
            </a:r>
            <a:r>
              <a:rPr dirty="0" err="1"/>
              <a:t>Rapina</a:t>
            </a:r>
            <a:endParaRPr dirty="0">
              <a:latin typeface="Times New Roman"/>
              <a:ea typeface="Times New Roman"/>
              <a:cs typeface="Times New Roman"/>
              <a:sym typeface="Times New Roman"/>
            </a:endParaRPr>
          </a:p>
          <a:p>
            <a:pPr algn="just">
              <a:lnSpc>
                <a:spcPct val="114000"/>
              </a:lnSpc>
              <a:spcBef>
                <a:spcPts val="600"/>
              </a:spcBef>
              <a:defRPr sz="1800" b="0">
                <a:latin typeface="Book Antiqua"/>
                <a:ea typeface="Book Antiqua"/>
                <a:cs typeface="Book Antiqua"/>
                <a:sym typeface="Book Antiqua"/>
              </a:defRPr>
            </a:pPr>
            <a:r>
              <a:rPr dirty="0"/>
              <a:t>… </a:t>
            </a:r>
            <a:r>
              <a:rPr i="1" dirty="0"/>
              <a:t>La </a:t>
            </a:r>
            <a:r>
              <a:rPr i="1" dirty="0" err="1"/>
              <a:t>pena</a:t>
            </a:r>
            <a:r>
              <a:rPr i="1" dirty="0"/>
              <a:t> è </a:t>
            </a:r>
            <a:r>
              <a:rPr i="1" dirty="0" err="1"/>
              <a:t>della</a:t>
            </a:r>
            <a:r>
              <a:rPr i="1" dirty="0"/>
              <a:t> </a:t>
            </a:r>
            <a:r>
              <a:rPr i="1" dirty="0" err="1"/>
              <a:t>reclusione</a:t>
            </a:r>
            <a:r>
              <a:rPr i="1" dirty="0"/>
              <a:t> da sei a venti </a:t>
            </a:r>
            <a:r>
              <a:rPr i="1" dirty="0" err="1"/>
              <a:t>anni</a:t>
            </a:r>
            <a:r>
              <a:rPr i="1" dirty="0"/>
              <a:t> e </a:t>
            </a:r>
            <a:r>
              <a:rPr i="1" dirty="0" err="1"/>
              <a:t>della</a:t>
            </a:r>
            <a:r>
              <a:rPr i="1" dirty="0"/>
              <a:t> </a:t>
            </a:r>
            <a:r>
              <a:rPr i="1" dirty="0" err="1"/>
              <a:t>multa</a:t>
            </a:r>
            <a:r>
              <a:rPr i="1" dirty="0"/>
              <a:t> da euro 2.000 a euro 4.000:</a:t>
            </a:r>
            <a:endParaRPr dirty="0">
              <a:latin typeface="Times New Roman"/>
              <a:ea typeface="Times New Roman"/>
              <a:cs typeface="Times New Roman"/>
              <a:sym typeface="Times New Roman"/>
            </a:endParaRPr>
          </a:p>
          <a:p>
            <a:pPr algn="just">
              <a:lnSpc>
                <a:spcPct val="114000"/>
              </a:lnSpc>
              <a:defRPr sz="1800" b="0" i="1">
                <a:latin typeface="Book Antiqua"/>
                <a:ea typeface="Book Antiqua"/>
                <a:cs typeface="Book Antiqua"/>
                <a:sym typeface="Book Antiqua"/>
              </a:defRPr>
            </a:pPr>
            <a:r>
              <a:rPr dirty="0"/>
              <a:t>1) se la </a:t>
            </a:r>
            <a:r>
              <a:rPr dirty="0" err="1"/>
              <a:t>violenza</a:t>
            </a:r>
            <a:r>
              <a:rPr dirty="0"/>
              <a:t> o </a:t>
            </a:r>
            <a:r>
              <a:rPr dirty="0" err="1"/>
              <a:t>minaccia</a:t>
            </a:r>
            <a:r>
              <a:rPr dirty="0"/>
              <a:t> è </a:t>
            </a:r>
            <a:r>
              <a:rPr dirty="0" err="1"/>
              <a:t>commessa</a:t>
            </a:r>
            <a:r>
              <a:rPr dirty="0"/>
              <a:t> con </a:t>
            </a:r>
            <a:r>
              <a:rPr b="1" dirty="0" err="1"/>
              <a:t>armi</a:t>
            </a:r>
            <a:r>
              <a:rPr dirty="0"/>
              <a:t>, o da </a:t>
            </a:r>
            <a:r>
              <a:rPr b="1" dirty="0"/>
              <a:t>persona </a:t>
            </a:r>
            <a:r>
              <a:rPr b="1" dirty="0" err="1"/>
              <a:t>travisata</a:t>
            </a:r>
            <a:r>
              <a:rPr dirty="0"/>
              <a:t>, o da </a:t>
            </a:r>
            <a:r>
              <a:rPr dirty="0" err="1"/>
              <a:t>più</a:t>
            </a:r>
            <a:r>
              <a:rPr dirty="0"/>
              <a:t> </a:t>
            </a:r>
            <a:r>
              <a:rPr b="1" dirty="0" err="1"/>
              <a:t>persone</a:t>
            </a:r>
            <a:r>
              <a:rPr b="1" dirty="0"/>
              <a:t> </a:t>
            </a:r>
            <a:r>
              <a:rPr b="1" dirty="0" err="1"/>
              <a:t>riunite</a:t>
            </a:r>
            <a:r>
              <a:rPr dirty="0"/>
              <a:t>;</a:t>
            </a:r>
            <a:endParaRPr dirty="0">
              <a:latin typeface="Times New Roman"/>
              <a:ea typeface="Times New Roman"/>
              <a:cs typeface="Times New Roman"/>
              <a:sym typeface="Times New Roman"/>
            </a:endParaRPr>
          </a:p>
          <a:p>
            <a:pPr algn="just">
              <a:lnSpc>
                <a:spcPct val="114000"/>
              </a:lnSpc>
              <a:defRPr sz="1800" b="0" i="1">
                <a:latin typeface="Book Antiqua"/>
                <a:ea typeface="Book Antiqua"/>
                <a:cs typeface="Book Antiqua"/>
                <a:sym typeface="Book Antiqua"/>
              </a:defRPr>
            </a:pPr>
            <a:r>
              <a:rPr dirty="0"/>
              <a:t>2) se la </a:t>
            </a:r>
            <a:r>
              <a:rPr dirty="0" err="1"/>
              <a:t>violenza</a:t>
            </a:r>
            <a:r>
              <a:rPr dirty="0"/>
              <a:t> </a:t>
            </a:r>
            <a:r>
              <a:rPr dirty="0" err="1"/>
              <a:t>consiste</a:t>
            </a:r>
            <a:r>
              <a:rPr dirty="0"/>
              <a:t> </a:t>
            </a:r>
            <a:r>
              <a:rPr dirty="0" err="1"/>
              <a:t>nel</a:t>
            </a:r>
            <a:r>
              <a:rPr dirty="0"/>
              <a:t> </a:t>
            </a:r>
            <a:r>
              <a:rPr dirty="0" err="1"/>
              <a:t>porre</a:t>
            </a:r>
            <a:r>
              <a:rPr dirty="0"/>
              <a:t> </a:t>
            </a:r>
            <a:r>
              <a:rPr dirty="0" err="1"/>
              <a:t>taluno</a:t>
            </a:r>
            <a:r>
              <a:rPr dirty="0"/>
              <a:t> </a:t>
            </a:r>
            <a:r>
              <a:rPr b="1" dirty="0"/>
              <a:t>in </a:t>
            </a:r>
            <a:r>
              <a:rPr b="1" dirty="0" err="1"/>
              <a:t>stato</a:t>
            </a:r>
            <a:r>
              <a:rPr b="1" dirty="0"/>
              <a:t> </a:t>
            </a:r>
            <a:r>
              <a:rPr b="1" dirty="0" err="1"/>
              <a:t>d'incapacità</a:t>
            </a:r>
            <a:r>
              <a:rPr b="1" dirty="0"/>
              <a:t> di </a:t>
            </a:r>
            <a:r>
              <a:rPr b="1" dirty="0" err="1"/>
              <a:t>volere</a:t>
            </a:r>
            <a:r>
              <a:rPr b="1" dirty="0"/>
              <a:t> o di </a:t>
            </a:r>
            <a:r>
              <a:rPr b="1" dirty="0" err="1"/>
              <a:t>agire</a:t>
            </a:r>
            <a:r>
              <a:rPr dirty="0"/>
              <a:t>;</a:t>
            </a:r>
            <a:endParaRPr dirty="0">
              <a:latin typeface="Times New Roman"/>
              <a:ea typeface="Times New Roman"/>
              <a:cs typeface="Times New Roman"/>
              <a:sym typeface="Times New Roman"/>
            </a:endParaRPr>
          </a:p>
          <a:p>
            <a:pPr algn="just">
              <a:lnSpc>
                <a:spcPct val="114000"/>
              </a:lnSpc>
              <a:defRPr sz="1800" b="0" i="1">
                <a:latin typeface="Book Antiqua"/>
                <a:ea typeface="Book Antiqua"/>
                <a:cs typeface="Book Antiqua"/>
                <a:sym typeface="Book Antiqua"/>
              </a:defRPr>
            </a:pPr>
            <a:r>
              <a:rPr dirty="0"/>
              <a:t>3) se la </a:t>
            </a:r>
            <a:r>
              <a:rPr dirty="0" err="1"/>
              <a:t>violenza</a:t>
            </a:r>
            <a:r>
              <a:rPr dirty="0"/>
              <a:t> o </a:t>
            </a:r>
            <a:r>
              <a:rPr dirty="0" err="1"/>
              <a:t>minaccia</a:t>
            </a:r>
            <a:r>
              <a:rPr dirty="0"/>
              <a:t> è </a:t>
            </a:r>
            <a:r>
              <a:rPr dirty="0" err="1"/>
              <a:t>posta</a:t>
            </a:r>
            <a:r>
              <a:rPr dirty="0"/>
              <a:t> in </a:t>
            </a:r>
            <a:r>
              <a:rPr dirty="0" err="1"/>
              <a:t>essere</a:t>
            </a:r>
            <a:r>
              <a:rPr dirty="0"/>
              <a:t> </a:t>
            </a:r>
            <a:r>
              <a:rPr b="1" dirty="0"/>
              <a:t>da persona </a:t>
            </a:r>
            <a:r>
              <a:rPr b="1" dirty="0" err="1"/>
              <a:t>che</a:t>
            </a:r>
            <a:r>
              <a:rPr b="1" dirty="0"/>
              <a:t> fa </a:t>
            </a:r>
            <a:r>
              <a:rPr b="1" dirty="0" err="1"/>
              <a:t>parte</a:t>
            </a:r>
            <a:r>
              <a:rPr b="1" dirty="0"/>
              <a:t> </a:t>
            </a:r>
            <a:r>
              <a:rPr b="1" dirty="0" err="1"/>
              <a:t>dell'associazione</a:t>
            </a:r>
            <a:r>
              <a:rPr b="1" dirty="0"/>
              <a:t> di cui </a:t>
            </a:r>
            <a:r>
              <a:rPr b="1" dirty="0" err="1"/>
              <a:t>all'articolo</a:t>
            </a:r>
            <a:r>
              <a:rPr b="1" dirty="0"/>
              <a:t> 416 bis</a:t>
            </a:r>
            <a:r>
              <a:rPr dirty="0"/>
              <a:t>;</a:t>
            </a:r>
            <a:endParaRPr dirty="0">
              <a:latin typeface="Times New Roman"/>
              <a:ea typeface="Times New Roman"/>
              <a:cs typeface="Times New Roman"/>
              <a:sym typeface="Times New Roman"/>
            </a:endParaRPr>
          </a:p>
          <a:p>
            <a:pPr algn="just">
              <a:lnSpc>
                <a:spcPct val="114000"/>
              </a:lnSpc>
              <a:defRPr sz="1800" b="0" i="1">
                <a:latin typeface="Book Antiqua"/>
                <a:ea typeface="Book Antiqua"/>
                <a:cs typeface="Book Antiqua"/>
                <a:sym typeface="Book Antiqua"/>
              </a:defRPr>
            </a:pPr>
            <a:r>
              <a:rPr dirty="0"/>
              <a:t>3-bis) se </a:t>
            </a:r>
            <a:r>
              <a:rPr dirty="0" err="1"/>
              <a:t>il</a:t>
            </a:r>
            <a:r>
              <a:rPr dirty="0"/>
              <a:t> </a:t>
            </a:r>
            <a:r>
              <a:rPr dirty="0" err="1"/>
              <a:t>fatto</a:t>
            </a:r>
            <a:r>
              <a:rPr dirty="0"/>
              <a:t> è </a:t>
            </a:r>
            <a:r>
              <a:rPr dirty="0" err="1"/>
              <a:t>commesso</a:t>
            </a:r>
            <a:r>
              <a:rPr dirty="0"/>
              <a:t> </a:t>
            </a:r>
            <a:r>
              <a:rPr dirty="0" err="1"/>
              <a:t>nei</a:t>
            </a:r>
            <a:r>
              <a:rPr dirty="0"/>
              <a:t> </a:t>
            </a:r>
            <a:r>
              <a:rPr dirty="0" err="1"/>
              <a:t>luoghi</a:t>
            </a:r>
            <a:r>
              <a:rPr dirty="0"/>
              <a:t> di cui </a:t>
            </a:r>
            <a:r>
              <a:rPr dirty="0" err="1"/>
              <a:t>all’articolo</a:t>
            </a:r>
            <a:r>
              <a:rPr dirty="0"/>
              <a:t> 624 bis o in </a:t>
            </a:r>
            <a:r>
              <a:rPr dirty="0" err="1"/>
              <a:t>luoghi</a:t>
            </a:r>
            <a:r>
              <a:rPr dirty="0"/>
              <a:t> </a:t>
            </a:r>
            <a:r>
              <a:rPr dirty="0" err="1"/>
              <a:t>tali</a:t>
            </a:r>
            <a:r>
              <a:rPr dirty="0"/>
              <a:t> da </a:t>
            </a:r>
            <a:r>
              <a:rPr dirty="0" err="1"/>
              <a:t>ostacolare</a:t>
            </a:r>
            <a:r>
              <a:rPr dirty="0"/>
              <a:t> la </a:t>
            </a:r>
            <a:r>
              <a:rPr dirty="0" err="1"/>
              <a:t>pubblica</a:t>
            </a:r>
            <a:r>
              <a:rPr dirty="0"/>
              <a:t> o </a:t>
            </a:r>
            <a:r>
              <a:rPr dirty="0" err="1"/>
              <a:t>privata</a:t>
            </a:r>
            <a:r>
              <a:rPr dirty="0"/>
              <a:t> </a:t>
            </a:r>
            <a:r>
              <a:rPr dirty="0" err="1"/>
              <a:t>difesa</a:t>
            </a:r>
            <a:r>
              <a:rPr dirty="0"/>
              <a:t>;</a:t>
            </a:r>
            <a:endParaRPr dirty="0">
              <a:latin typeface="Times New Roman"/>
              <a:ea typeface="Times New Roman"/>
              <a:cs typeface="Times New Roman"/>
              <a:sym typeface="Times New Roman"/>
            </a:endParaRPr>
          </a:p>
          <a:p>
            <a:pPr algn="just">
              <a:lnSpc>
                <a:spcPct val="114000"/>
              </a:lnSpc>
              <a:defRPr sz="1800" b="0" i="1">
                <a:latin typeface="Book Antiqua"/>
                <a:ea typeface="Book Antiqua"/>
                <a:cs typeface="Book Antiqua"/>
                <a:sym typeface="Book Antiqua"/>
              </a:defRPr>
            </a:pPr>
            <a:r>
              <a:rPr dirty="0"/>
              <a:t>3-ter) se </a:t>
            </a:r>
            <a:r>
              <a:rPr dirty="0" err="1"/>
              <a:t>il</a:t>
            </a:r>
            <a:r>
              <a:rPr dirty="0"/>
              <a:t> </a:t>
            </a:r>
            <a:r>
              <a:rPr dirty="0" err="1"/>
              <a:t>fatto</a:t>
            </a:r>
            <a:r>
              <a:rPr dirty="0"/>
              <a:t> è </a:t>
            </a:r>
            <a:r>
              <a:rPr dirty="0" err="1"/>
              <a:t>commesso</a:t>
            </a:r>
            <a:r>
              <a:rPr dirty="0"/>
              <a:t> </a:t>
            </a:r>
            <a:r>
              <a:rPr b="1" dirty="0" err="1"/>
              <a:t>all’interno</a:t>
            </a:r>
            <a:r>
              <a:rPr b="1" dirty="0"/>
              <a:t> di </a:t>
            </a:r>
            <a:r>
              <a:rPr b="1" dirty="0" err="1"/>
              <a:t>mezzi</a:t>
            </a:r>
            <a:r>
              <a:rPr b="1" dirty="0"/>
              <a:t> di </a:t>
            </a:r>
            <a:r>
              <a:rPr b="1" dirty="0" err="1"/>
              <a:t>pubblico</a:t>
            </a:r>
            <a:r>
              <a:rPr b="1" dirty="0"/>
              <a:t> </a:t>
            </a:r>
            <a:r>
              <a:rPr b="1" dirty="0" err="1"/>
              <a:t>trasporto</a:t>
            </a:r>
            <a:r>
              <a:rPr dirty="0"/>
              <a:t>;</a:t>
            </a:r>
            <a:endParaRPr dirty="0">
              <a:latin typeface="Times New Roman"/>
              <a:ea typeface="Times New Roman"/>
              <a:cs typeface="Times New Roman"/>
              <a:sym typeface="Times New Roman"/>
            </a:endParaRPr>
          </a:p>
          <a:p>
            <a:pPr algn="just">
              <a:lnSpc>
                <a:spcPct val="114000"/>
              </a:lnSpc>
              <a:defRPr sz="1800" b="0" i="1">
                <a:latin typeface="Book Antiqua"/>
                <a:ea typeface="Book Antiqua"/>
                <a:cs typeface="Book Antiqua"/>
                <a:sym typeface="Book Antiqua"/>
              </a:defRPr>
            </a:pPr>
            <a:r>
              <a:rPr dirty="0"/>
              <a:t>3-quater) se </a:t>
            </a:r>
            <a:r>
              <a:rPr dirty="0" err="1"/>
              <a:t>il</a:t>
            </a:r>
            <a:r>
              <a:rPr dirty="0"/>
              <a:t> </a:t>
            </a:r>
            <a:r>
              <a:rPr dirty="0" err="1"/>
              <a:t>fatto</a:t>
            </a:r>
            <a:r>
              <a:rPr dirty="0"/>
              <a:t> è </a:t>
            </a:r>
            <a:r>
              <a:rPr dirty="0" err="1"/>
              <a:t>commesso</a:t>
            </a:r>
            <a:r>
              <a:rPr dirty="0"/>
              <a:t> </a:t>
            </a:r>
            <a:r>
              <a:rPr dirty="0" err="1"/>
              <a:t>nei</a:t>
            </a:r>
            <a:r>
              <a:rPr dirty="0"/>
              <a:t> </a:t>
            </a:r>
            <a:r>
              <a:rPr dirty="0" err="1"/>
              <a:t>confronti</a:t>
            </a:r>
            <a:r>
              <a:rPr dirty="0"/>
              <a:t> di persona </a:t>
            </a:r>
            <a:r>
              <a:rPr dirty="0" err="1"/>
              <a:t>che</a:t>
            </a:r>
            <a:r>
              <a:rPr dirty="0"/>
              <a:t> </a:t>
            </a:r>
            <a:r>
              <a:rPr dirty="0" err="1"/>
              <a:t>si</a:t>
            </a:r>
            <a:r>
              <a:rPr dirty="0"/>
              <a:t> </a:t>
            </a:r>
            <a:r>
              <a:rPr dirty="0" err="1"/>
              <a:t>trovi</a:t>
            </a:r>
            <a:r>
              <a:rPr dirty="0"/>
              <a:t> </a:t>
            </a:r>
            <a:r>
              <a:rPr dirty="0" err="1"/>
              <a:t>nell’atto</a:t>
            </a:r>
            <a:r>
              <a:rPr dirty="0"/>
              <a:t> di </a:t>
            </a:r>
            <a:r>
              <a:rPr dirty="0" err="1"/>
              <a:t>fruire</a:t>
            </a:r>
            <a:r>
              <a:rPr dirty="0"/>
              <a:t> </a:t>
            </a:r>
            <a:r>
              <a:rPr dirty="0" err="1"/>
              <a:t>ovvero</a:t>
            </a:r>
            <a:r>
              <a:rPr dirty="0"/>
              <a:t> </a:t>
            </a:r>
            <a:r>
              <a:rPr dirty="0" err="1"/>
              <a:t>che</a:t>
            </a:r>
            <a:r>
              <a:rPr dirty="0"/>
              <a:t> </a:t>
            </a:r>
            <a:r>
              <a:rPr dirty="0" err="1"/>
              <a:t>abbia</a:t>
            </a:r>
            <a:r>
              <a:rPr dirty="0"/>
              <a:t> </a:t>
            </a:r>
            <a:r>
              <a:rPr dirty="0" err="1"/>
              <a:t>appena</a:t>
            </a:r>
            <a:r>
              <a:rPr dirty="0"/>
              <a:t> </a:t>
            </a:r>
            <a:r>
              <a:rPr dirty="0" err="1"/>
              <a:t>fruito</a:t>
            </a:r>
            <a:r>
              <a:rPr dirty="0"/>
              <a:t> </a:t>
            </a:r>
            <a:r>
              <a:rPr dirty="0" err="1"/>
              <a:t>dei</a:t>
            </a:r>
            <a:r>
              <a:rPr dirty="0"/>
              <a:t> </a:t>
            </a:r>
            <a:r>
              <a:rPr b="1" dirty="0" err="1"/>
              <a:t>servizi</a:t>
            </a:r>
            <a:r>
              <a:rPr b="1" dirty="0"/>
              <a:t> di </a:t>
            </a:r>
            <a:r>
              <a:rPr b="1" dirty="0" err="1"/>
              <a:t>istituti</a:t>
            </a:r>
            <a:r>
              <a:rPr b="1" dirty="0"/>
              <a:t> di </a:t>
            </a:r>
            <a:r>
              <a:rPr b="1" dirty="0" err="1"/>
              <a:t>credito</a:t>
            </a:r>
            <a:r>
              <a:rPr b="1" dirty="0"/>
              <a:t>, </a:t>
            </a:r>
            <a:r>
              <a:rPr b="1" dirty="0" err="1"/>
              <a:t>uffici</a:t>
            </a:r>
            <a:r>
              <a:rPr b="1" dirty="0"/>
              <a:t> </a:t>
            </a:r>
            <a:r>
              <a:rPr b="1" dirty="0" err="1"/>
              <a:t>postali</a:t>
            </a:r>
            <a:r>
              <a:rPr b="1" dirty="0"/>
              <a:t> o </a:t>
            </a:r>
            <a:r>
              <a:rPr b="1" dirty="0" err="1"/>
              <a:t>sportelli</a:t>
            </a:r>
            <a:r>
              <a:rPr b="1" dirty="0"/>
              <a:t> </a:t>
            </a:r>
            <a:r>
              <a:rPr b="1" dirty="0" err="1"/>
              <a:t>automatici</a:t>
            </a:r>
            <a:r>
              <a:rPr b="1" dirty="0"/>
              <a:t> </a:t>
            </a:r>
            <a:r>
              <a:rPr dirty="0" err="1"/>
              <a:t>adibiti</a:t>
            </a:r>
            <a:r>
              <a:rPr dirty="0"/>
              <a:t> al </a:t>
            </a:r>
            <a:r>
              <a:rPr dirty="0" err="1"/>
              <a:t>prelievo</a:t>
            </a:r>
            <a:r>
              <a:rPr dirty="0"/>
              <a:t> di </a:t>
            </a:r>
            <a:r>
              <a:rPr dirty="0" err="1"/>
              <a:t>denaro</a:t>
            </a:r>
            <a:r>
              <a:rPr dirty="0"/>
              <a:t>;</a:t>
            </a:r>
            <a:endParaRPr dirty="0">
              <a:latin typeface="Times New Roman"/>
              <a:ea typeface="Times New Roman"/>
              <a:cs typeface="Times New Roman"/>
              <a:sym typeface="Times New Roman"/>
            </a:endParaRPr>
          </a:p>
          <a:p>
            <a:pPr algn="just">
              <a:lnSpc>
                <a:spcPct val="114000"/>
              </a:lnSpc>
              <a:spcBef>
                <a:spcPts val="600"/>
              </a:spcBef>
              <a:defRPr sz="1800" b="0" i="1">
                <a:latin typeface="Book Antiqua"/>
                <a:ea typeface="Book Antiqua"/>
                <a:cs typeface="Book Antiqua"/>
                <a:sym typeface="Book Antiqua"/>
              </a:defRPr>
            </a:pPr>
            <a:r>
              <a:rPr dirty="0"/>
              <a:t>3-quinquies) se </a:t>
            </a:r>
            <a:r>
              <a:rPr dirty="0" err="1"/>
              <a:t>il</a:t>
            </a:r>
            <a:r>
              <a:rPr dirty="0"/>
              <a:t> </a:t>
            </a:r>
            <a:r>
              <a:rPr dirty="0" err="1"/>
              <a:t>fatto</a:t>
            </a:r>
            <a:r>
              <a:rPr dirty="0"/>
              <a:t> è </a:t>
            </a:r>
            <a:r>
              <a:rPr dirty="0" err="1"/>
              <a:t>commesso</a:t>
            </a:r>
            <a:r>
              <a:rPr dirty="0"/>
              <a:t> </a:t>
            </a:r>
            <a:r>
              <a:rPr dirty="0" err="1"/>
              <a:t>nei</a:t>
            </a:r>
            <a:r>
              <a:rPr dirty="0"/>
              <a:t> </a:t>
            </a:r>
            <a:r>
              <a:rPr dirty="0" err="1"/>
              <a:t>confronti</a:t>
            </a:r>
            <a:r>
              <a:rPr dirty="0"/>
              <a:t> di </a:t>
            </a:r>
            <a:r>
              <a:rPr b="1" dirty="0"/>
              <a:t>persona </a:t>
            </a:r>
            <a:r>
              <a:rPr b="1" dirty="0" err="1"/>
              <a:t>ultrasessantacinquenne</a:t>
            </a:r>
            <a:r>
              <a:rPr dirty="0"/>
              <a:t>.</a:t>
            </a:r>
            <a:endParaRPr dirty="0">
              <a:latin typeface="Times New Roman"/>
              <a:ea typeface="Times New Roman"/>
              <a:cs typeface="Times New Roman"/>
              <a:sym typeface="Times New Roman"/>
            </a:endParaRPr>
          </a:p>
          <a:p>
            <a:pPr algn="just">
              <a:lnSpc>
                <a:spcPct val="114000"/>
              </a:lnSpc>
              <a:spcBef>
                <a:spcPts val="600"/>
              </a:spcBef>
              <a:defRPr sz="1800" b="0" i="1">
                <a:latin typeface="Book Antiqua"/>
                <a:ea typeface="Book Antiqua"/>
                <a:cs typeface="Book Antiqua"/>
                <a:sym typeface="Book Antiqua"/>
              </a:defRPr>
            </a:pPr>
            <a:r>
              <a:rPr dirty="0"/>
              <a:t>Se </a:t>
            </a:r>
            <a:r>
              <a:rPr dirty="0" err="1"/>
              <a:t>concorrono</a:t>
            </a:r>
            <a:r>
              <a:rPr dirty="0"/>
              <a:t> due o </a:t>
            </a:r>
            <a:r>
              <a:rPr dirty="0" err="1"/>
              <a:t>più</a:t>
            </a:r>
            <a:r>
              <a:rPr dirty="0"/>
              <a:t> </a:t>
            </a:r>
            <a:r>
              <a:rPr dirty="0" err="1"/>
              <a:t>delle</a:t>
            </a:r>
            <a:r>
              <a:rPr dirty="0"/>
              <a:t> </a:t>
            </a:r>
            <a:r>
              <a:rPr dirty="0" err="1"/>
              <a:t>circostanze</a:t>
            </a:r>
            <a:r>
              <a:rPr dirty="0"/>
              <a:t> di cui al </a:t>
            </a:r>
            <a:r>
              <a:rPr dirty="0" err="1"/>
              <a:t>terzo</a:t>
            </a:r>
            <a:r>
              <a:rPr dirty="0"/>
              <a:t> comma del </a:t>
            </a:r>
            <a:r>
              <a:rPr dirty="0" err="1"/>
              <a:t>presente</a:t>
            </a:r>
            <a:r>
              <a:rPr dirty="0"/>
              <a:t> </a:t>
            </a:r>
            <a:r>
              <a:rPr dirty="0" err="1"/>
              <a:t>articolo</a:t>
            </a:r>
            <a:r>
              <a:rPr dirty="0"/>
              <a:t>, </a:t>
            </a:r>
            <a:r>
              <a:rPr dirty="0" err="1"/>
              <a:t>ovvero</a:t>
            </a:r>
            <a:r>
              <a:rPr dirty="0"/>
              <a:t> se una di </a:t>
            </a:r>
            <a:r>
              <a:rPr dirty="0" err="1"/>
              <a:t>tali</a:t>
            </a:r>
            <a:r>
              <a:rPr dirty="0"/>
              <a:t> </a:t>
            </a:r>
            <a:r>
              <a:rPr dirty="0" err="1"/>
              <a:t>circostanze</a:t>
            </a:r>
            <a:r>
              <a:rPr dirty="0"/>
              <a:t> </a:t>
            </a:r>
            <a:r>
              <a:rPr dirty="0" err="1"/>
              <a:t>concorre</a:t>
            </a:r>
            <a:r>
              <a:rPr dirty="0"/>
              <a:t> con </a:t>
            </a:r>
            <a:r>
              <a:rPr dirty="0" err="1"/>
              <a:t>altra</a:t>
            </a:r>
            <a:r>
              <a:rPr dirty="0"/>
              <a:t> </a:t>
            </a:r>
            <a:r>
              <a:rPr dirty="0" err="1"/>
              <a:t>fra</a:t>
            </a:r>
            <a:r>
              <a:rPr dirty="0"/>
              <a:t> quelle indicate </a:t>
            </a:r>
            <a:r>
              <a:rPr dirty="0" err="1"/>
              <a:t>nell'art</a:t>
            </a:r>
            <a:r>
              <a:rPr dirty="0"/>
              <a:t>. 61, la </a:t>
            </a:r>
            <a:r>
              <a:rPr dirty="0" err="1"/>
              <a:t>pena</a:t>
            </a:r>
            <a:r>
              <a:rPr dirty="0"/>
              <a:t> è </a:t>
            </a:r>
            <a:r>
              <a:rPr dirty="0" err="1"/>
              <a:t>della</a:t>
            </a:r>
            <a:r>
              <a:rPr dirty="0"/>
              <a:t> </a:t>
            </a:r>
            <a:r>
              <a:rPr dirty="0" err="1"/>
              <a:t>reclusione</a:t>
            </a:r>
            <a:r>
              <a:rPr dirty="0"/>
              <a:t> da </a:t>
            </a:r>
            <a:r>
              <a:rPr dirty="0" err="1"/>
              <a:t>sette</a:t>
            </a:r>
            <a:r>
              <a:rPr dirty="0"/>
              <a:t> a venti </a:t>
            </a:r>
            <a:r>
              <a:rPr dirty="0" err="1"/>
              <a:t>anni</a:t>
            </a:r>
            <a:r>
              <a:rPr dirty="0"/>
              <a:t>, e </a:t>
            </a:r>
            <a:r>
              <a:rPr dirty="0" err="1"/>
              <a:t>della</a:t>
            </a:r>
            <a:r>
              <a:rPr dirty="0"/>
              <a:t> </a:t>
            </a:r>
            <a:r>
              <a:rPr dirty="0" err="1"/>
              <a:t>multa</a:t>
            </a:r>
            <a:r>
              <a:rPr dirty="0"/>
              <a:t> da euro 2.500 euro a euro 4.000</a:t>
            </a:r>
            <a:r>
              <a:rPr lang="it-IT" dirty="0"/>
              <a:t>…</a:t>
            </a:r>
            <a:r>
              <a:rPr i="0" dirty="0"/>
              <a:t>».</a:t>
            </a:r>
          </a:p>
        </p:txBody>
      </p:sp>
      <p:pic>
        <p:nvPicPr>
          <p:cNvPr id="272"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73"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Rapina</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Rettangolo 4"/>
          <p:cNvSpPr txBox="1"/>
          <p:nvPr/>
        </p:nvSpPr>
        <p:spPr>
          <a:xfrm>
            <a:off x="45719" y="980727"/>
            <a:ext cx="9052561" cy="56212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600"/>
              </a:spcBef>
              <a:defRPr sz="2200" b="0">
                <a:latin typeface="Times New Roman"/>
                <a:ea typeface="Times New Roman"/>
                <a:cs typeface="Times New Roman"/>
                <a:sym typeface="Times New Roman"/>
              </a:defRPr>
            </a:pPr>
            <a:r>
              <a:t>La rapina è un </a:t>
            </a:r>
            <a:r>
              <a:rPr b="1">
                <a:solidFill>
                  <a:srgbClr val="0070C0"/>
                </a:solidFill>
              </a:rPr>
              <a:t>REATO COMUNE </a:t>
            </a:r>
            <a:r>
              <a:t>e </a:t>
            </a:r>
            <a:r>
              <a:rPr b="1">
                <a:solidFill>
                  <a:srgbClr val="0070C0"/>
                </a:solidFill>
              </a:rPr>
              <a:t>PLURIOFFENSIVO</a:t>
            </a:r>
            <a:r>
              <a:t>. Se i due interessi lesi, ovvero il </a:t>
            </a:r>
            <a:r>
              <a:rPr b="1">
                <a:solidFill>
                  <a:srgbClr val="FF0000"/>
                </a:solidFill>
              </a:rPr>
              <a:t>patrimonio</a:t>
            </a:r>
            <a:r>
              <a:t> e la </a:t>
            </a:r>
            <a:r>
              <a:rPr b="1">
                <a:solidFill>
                  <a:srgbClr val="FF0000"/>
                </a:solidFill>
              </a:rPr>
              <a:t>persona</a:t>
            </a:r>
            <a:r>
              <a:t>, fanno capo a due soggetti passivi diversi si avrà una duplicazione di soggetti passivi.</a:t>
            </a:r>
          </a:p>
          <a:p>
            <a:pPr algn="just">
              <a:lnSpc>
                <a:spcPct val="114000"/>
              </a:lnSpc>
              <a:spcBef>
                <a:spcPts val="600"/>
              </a:spcBef>
              <a:defRPr sz="2200" b="0">
                <a:latin typeface="Times New Roman"/>
                <a:ea typeface="Times New Roman"/>
                <a:cs typeface="Times New Roman"/>
                <a:sym typeface="Times New Roman"/>
              </a:defRPr>
            </a:pPr>
            <a:endParaRPr/>
          </a:p>
          <a:p>
            <a:pPr algn="just">
              <a:lnSpc>
                <a:spcPct val="114000"/>
              </a:lnSpc>
              <a:spcBef>
                <a:spcPts val="600"/>
              </a:spcBef>
              <a:defRPr sz="2200" u="sng">
                <a:latin typeface="Times New Roman"/>
                <a:ea typeface="Times New Roman"/>
                <a:cs typeface="Times New Roman"/>
                <a:sym typeface="Times New Roman"/>
              </a:defRPr>
            </a:pPr>
            <a:r>
              <a:t>ELEMENTO OGGETTIVO</a:t>
            </a:r>
            <a:r>
              <a:rPr b="0" u="none"/>
              <a:t>: è lo stesso del furto </a:t>
            </a:r>
            <a:r>
              <a:rPr b="0">
                <a:solidFill>
                  <a:srgbClr val="FF0000"/>
                </a:solidFill>
              </a:rPr>
              <a:t>(sottrazione e impossessamento)</a:t>
            </a:r>
            <a:r>
              <a:rPr b="0" u="none"/>
              <a:t> con l’aggiunta dell’elemento della </a:t>
            </a:r>
            <a:r>
              <a:rPr b="0">
                <a:solidFill>
                  <a:srgbClr val="FF0000"/>
                </a:solidFill>
              </a:rPr>
              <a:t>violenza</a:t>
            </a:r>
            <a:r>
              <a:rPr b="0" u="none"/>
              <a:t> o </a:t>
            </a:r>
            <a:r>
              <a:rPr b="0">
                <a:solidFill>
                  <a:srgbClr val="FF0000"/>
                </a:solidFill>
              </a:rPr>
              <a:t>minaccia</a:t>
            </a:r>
            <a:r>
              <a:rPr b="0" u="none"/>
              <a:t> alla persona. </a:t>
            </a:r>
          </a:p>
          <a:p>
            <a:pPr marL="342900" indent="-342900" algn="just">
              <a:lnSpc>
                <a:spcPct val="114000"/>
              </a:lnSpc>
              <a:spcBef>
                <a:spcPts val="600"/>
              </a:spcBef>
              <a:buSzPct val="100000"/>
              <a:buFont typeface="Arial"/>
              <a:buChar char="•"/>
              <a:defRPr sz="2000" b="0">
                <a:latin typeface="Times New Roman"/>
                <a:ea typeface="Times New Roman"/>
                <a:cs typeface="Times New Roman"/>
                <a:sym typeface="Times New Roman"/>
              </a:defRPr>
            </a:pPr>
            <a:r>
              <a:t>La </a:t>
            </a:r>
            <a:r>
              <a:rPr b="1">
                <a:solidFill>
                  <a:srgbClr val="0070C0"/>
                </a:solidFill>
              </a:rPr>
              <a:t>violenza</a:t>
            </a:r>
            <a:r>
              <a:t> necessaria ad integrare il reato di cui all’art. 628 c.p. è costituita da ogni </a:t>
            </a:r>
            <a:r>
              <a:rPr b="1" u="sng"/>
              <a:t>energia fisica adoperata dall’agente verso la persona offesa al fine di annullarne o limitarne la capacità di autodeterminazione</a:t>
            </a:r>
            <a:r>
              <a:rPr u="sng"/>
              <a:t>.</a:t>
            </a:r>
            <a:r>
              <a:t> La violenza può essere commessa anche verso una persona diversa dal detentore della cosa, purché tra detta violenza e l’impossessamento della cosa vi sia un nesso di causalità (Cass. 10-04-2015, n. 14901). </a:t>
            </a:r>
          </a:p>
          <a:p>
            <a:pPr marL="342900" indent="-342900" algn="just">
              <a:lnSpc>
                <a:spcPct val="114000"/>
              </a:lnSpc>
              <a:spcBef>
                <a:spcPts val="600"/>
              </a:spcBef>
              <a:buSzPct val="100000"/>
              <a:buFont typeface="Arial"/>
              <a:buChar char="•"/>
              <a:defRPr sz="2000" b="0">
                <a:latin typeface="Times New Roman"/>
                <a:ea typeface="Times New Roman"/>
                <a:cs typeface="Times New Roman"/>
                <a:sym typeface="Times New Roman"/>
              </a:defRPr>
            </a:pPr>
            <a:r>
              <a:t>Con </a:t>
            </a:r>
            <a:r>
              <a:rPr b="1">
                <a:solidFill>
                  <a:srgbClr val="0070C0"/>
                </a:solidFill>
              </a:rPr>
              <a:t>minaccia</a:t>
            </a:r>
            <a:r>
              <a:t> si intende, invece, una </a:t>
            </a:r>
            <a:r>
              <a:rPr b="1" u="sng"/>
              <a:t>prospettazione di un male futuro e ingiusto, dipendente dalla volontà di chi minaccia</a:t>
            </a:r>
            <a:r>
              <a:rPr u="sng"/>
              <a:t>.</a:t>
            </a:r>
          </a:p>
        </p:txBody>
      </p:sp>
      <p:pic>
        <p:nvPicPr>
          <p:cNvPr id="276"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77"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Rapina</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 name="Rettangolo 4"/>
          <p:cNvSpPr txBox="1"/>
          <p:nvPr/>
        </p:nvSpPr>
        <p:spPr>
          <a:xfrm>
            <a:off x="203901" y="980727"/>
            <a:ext cx="8736198" cy="56205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600"/>
              </a:spcBef>
              <a:defRPr sz="2200" b="0">
                <a:latin typeface="Times New Roman"/>
                <a:ea typeface="Times New Roman"/>
                <a:cs typeface="Times New Roman"/>
                <a:sym typeface="Times New Roman"/>
              </a:defRPr>
            </a:pPr>
            <a:r>
              <a:rPr dirty="0"/>
              <a:t>Nel </a:t>
            </a:r>
            <a:r>
              <a:rPr dirty="0" err="1"/>
              <a:t>delitto</a:t>
            </a:r>
            <a:r>
              <a:rPr dirty="0"/>
              <a:t> di </a:t>
            </a:r>
            <a:r>
              <a:rPr dirty="0" err="1"/>
              <a:t>rapina</a:t>
            </a:r>
            <a:r>
              <a:rPr dirty="0"/>
              <a:t> </a:t>
            </a:r>
            <a:r>
              <a:rPr dirty="0" err="1"/>
              <a:t>il</a:t>
            </a:r>
            <a:r>
              <a:rPr dirty="0"/>
              <a:t> </a:t>
            </a:r>
            <a:r>
              <a:rPr b="1" u="sng" dirty="0">
                <a:solidFill>
                  <a:srgbClr val="FF0000"/>
                </a:solidFill>
              </a:rPr>
              <a:t>PROFITTO</a:t>
            </a:r>
            <a:r>
              <a:rPr dirty="0"/>
              <a:t> </a:t>
            </a:r>
            <a:r>
              <a:rPr dirty="0" err="1"/>
              <a:t>può</a:t>
            </a:r>
            <a:r>
              <a:rPr dirty="0"/>
              <a:t> </a:t>
            </a:r>
            <a:r>
              <a:rPr dirty="0" err="1"/>
              <a:t>concretarsi</a:t>
            </a:r>
            <a:r>
              <a:rPr dirty="0"/>
              <a:t> in </a:t>
            </a:r>
            <a:r>
              <a:rPr u="sng" dirty="0" err="1"/>
              <a:t>ogni</a:t>
            </a:r>
            <a:r>
              <a:rPr u="sng" dirty="0"/>
              <a:t> </a:t>
            </a:r>
            <a:r>
              <a:rPr u="sng" dirty="0" err="1"/>
              <a:t>utilità</a:t>
            </a:r>
            <a:r>
              <a:rPr u="sng" dirty="0"/>
              <a:t>,</a:t>
            </a:r>
            <a:r>
              <a:rPr lang="it-IT" u="sng" dirty="0"/>
              <a:t> </a:t>
            </a:r>
            <a:r>
              <a:rPr u="sng" dirty="0" err="1"/>
              <a:t>nonché</a:t>
            </a:r>
            <a:r>
              <a:rPr u="sng" dirty="0"/>
              <a:t> in </a:t>
            </a:r>
            <a:r>
              <a:rPr u="sng" dirty="0" err="1"/>
              <a:t>qualsiasi</a:t>
            </a:r>
            <a:r>
              <a:rPr u="sng" dirty="0"/>
              <a:t> </a:t>
            </a:r>
            <a:r>
              <a:rPr u="sng" dirty="0" err="1"/>
              <a:t>soddisfazione</a:t>
            </a:r>
            <a:r>
              <a:rPr u="sng" dirty="0"/>
              <a:t> o </a:t>
            </a:r>
            <a:r>
              <a:rPr u="sng" dirty="0" err="1"/>
              <a:t>godimento</a:t>
            </a:r>
            <a:r>
              <a:rPr u="sng" dirty="0"/>
              <a:t> </a:t>
            </a:r>
            <a:r>
              <a:rPr u="sng" dirty="0" err="1"/>
              <a:t>che</a:t>
            </a:r>
            <a:r>
              <a:rPr u="sng" dirty="0"/>
              <a:t> </a:t>
            </a:r>
            <a:r>
              <a:rPr u="sng" dirty="0" err="1"/>
              <a:t>l’agente</a:t>
            </a:r>
            <a:r>
              <a:rPr u="sng" dirty="0"/>
              <a:t> </a:t>
            </a:r>
            <a:r>
              <a:rPr u="sng" dirty="0" err="1"/>
              <a:t>si</a:t>
            </a:r>
            <a:r>
              <a:rPr u="sng" dirty="0"/>
              <a:t> </a:t>
            </a:r>
            <a:r>
              <a:rPr u="sng" dirty="0" err="1"/>
              <a:t>prometta</a:t>
            </a:r>
            <a:r>
              <a:rPr u="sng" dirty="0"/>
              <a:t> di </a:t>
            </a:r>
            <a:r>
              <a:rPr u="sng" dirty="0" err="1"/>
              <a:t>ritrarre</a:t>
            </a:r>
            <a:r>
              <a:rPr u="sng" dirty="0"/>
              <a:t>, </a:t>
            </a:r>
            <a:r>
              <a:rPr u="sng" dirty="0" err="1"/>
              <a:t>anche</a:t>
            </a:r>
            <a:r>
              <a:rPr u="sng" dirty="0"/>
              <a:t> non </a:t>
            </a:r>
            <a:r>
              <a:rPr u="sng" dirty="0" err="1"/>
              <a:t>immediatamente</a:t>
            </a:r>
            <a:r>
              <a:rPr u="sng" dirty="0"/>
              <a:t>.</a:t>
            </a:r>
          </a:p>
          <a:p>
            <a:pPr algn="just">
              <a:lnSpc>
                <a:spcPct val="114000"/>
              </a:lnSpc>
              <a:spcBef>
                <a:spcPts val="600"/>
              </a:spcBef>
              <a:defRPr sz="2200" b="0" u="sng">
                <a:latin typeface="Times New Roman"/>
                <a:ea typeface="Times New Roman"/>
                <a:cs typeface="Times New Roman"/>
                <a:sym typeface="Times New Roman"/>
              </a:defRPr>
            </a:pPr>
            <a:endParaRPr u="sng" dirty="0"/>
          </a:p>
          <a:p>
            <a:pPr algn="just">
              <a:lnSpc>
                <a:spcPct val="114000"/>
              </a:lnSpc>
              <a:spcBef>
                <a:spcPts val="600"/>
              </a:spcBef>
              <a:defRPr sz="1000" b="0" u="sng">
                <a:latin typeface="Times New Roman"/>
                <a:ea typeface="Times New Roman"/>
                <a:cs typeface="Times New Roman"/>
                <a:sym typeface="Times New Roman"/>
              </a:defRPr>
            </a:pPr>
            <a:endParaRPr u="sng" dirty="0"/>
          </a:p>
          <a:p>
            <a:pPr algn="just">
              <a:lnSpc>
                <a:spcPct val="114000"/>
              </a:lnSpc>
              <a:spcBef>
                <a:spcPts val="600"/>
              </a:spcBef>
              <a:defRPr sz="2200" u="sng">
                <a:latin typeface="Times New Roman"/>
                <a:ea typeface="Times New Roman"/>
                <a:cs typeface="Times New Roman"/>
                <a:sym typeface="Times New Roman"/>
              </a:defRPr>
            </a:pPr>
            <a:r>
              <a:rPr dirty="0"/>
              <a:t>ELEMENTO SOGGETTIVO</a:t>
            </a:r>
            <a:r>
              <a:rPr b="0" u="none" dirty="0"/>
              <a:t>: è </a:t>
            </a:r>
            <a:r>
              <a:rPr b="0" u="none" dirty="0" err="1"/>
              <a:t>il</a:t>
            </a:r>
            <a:r>
              <a:rPr b="0" u="none" dirty="0"/>
              <a:t> </a:t>
            </a:r>
            <a:r>
              <a:rPr u="none" dirty="0">
                <a:solidFill>
                  <a:srgbClr val="0070C0"/>
                </a:solidFill>
              </a:rPr>
              <a:t>DOLO SPECIFICO</a:t>
            </a:r>
            <a:r>
              <a:rPr b="0" u="none" dirty="0">
                <a:solidFill>
                  <a:srgbClr val="0070C0"/>
                </a:solidFill>
              </a:rPr>
              <a:t> </a:t>
            </a:r>
            <a:r>
              <a:rPr b="0" u="none" dirty="0" err="1"/>
              <a:t>costituito</a:t>
            </a:r>
            <a:r>
              <a:rPr b="0" u="none" dirty="0"/>
              <a:t> </a:t>
            </a:r>
            <a:r>
              <a:rPr b="0" u="none" dirty="0" err="1"/>
              <a:t>dalla</a:t>
            </a:r>
            <a:r>
              <a:rPr b="0" u="none" dirty="0"/>
              <a:t> </a:t>
            </a:r>
            <a:r>
              <a:rPr b="0" u="none" dirty="0" err="1"/>
              <a:t>volontà</a:t>
            </a:r>
            <a:r>
              <a:rPr b="0" u="none" dirty="0"/>
              <a:t> di </a:t>
            </a:r>
            <a:r>
              <a:rPr b="0" u="none" dirty="0" err="1"/>
              <a:t>procurare</a:t>
            </a:r>
            <a:r>
              <a:rPr b="0" u="none" dirty="0"/>
              <a:t> un </a:t>
            </a:r>
            <a:r>
              <a:rPr u="none" dirty="0" err="1">
                <a:solidFill>
                  <a:srgbClr val="0070C0"/>
                </a:solidFill>
              </a:rPr>
              <a:t>ingiusto</a:t>
            </a:r>
            <a:r>
              <a:rPr u="none" dirty="0">
                <a:solidFill>
                  <a:srgbClr val="0070C0"/>
                </a:solidFill>
              </a:rPr>
              <a:t> </a:t>
            </a:r>
            <a:r>
              <a:rPr u="none" dirty="0" err="1">
                <a:solidFill>
                  <a:srgbClr val="0070C0"/>
                </a:solidFill>
              </a:rPr>
              <a:t>profitto</a:t>
            </a:r>
            <a:r>
              <a:rPr b="0" u="none" dirty="0"/>
              <a:t>. </a:t>
            </a:r>
          </a:p>
          <a:p>
            <a:pPr algn="just">
              <a:lnSpc>
                <a:spcPct val="114000"/>
              </a:lnSpc>
              <a:spcBef>
                <a:spcPts val="600"/>
              </a:spcBef>
              <a:defRPr sz="800" b="0">
                <a:latin typeface="Times New Roman"/>
                <a:ea typeface="Times New Roman"/>
                <a:cs typeface="Times New Roman"/>
                <a:sym typeface="Times New Roman"/>
              </a:defRPr>
            </a:pPr>
            <a:endParaRPr b="0" u="none" dirty="0"/>
          </a:p>
          <a:p>
            <a:pPr algn="just">
              <a:lnSpc>
                <a:spcPct val="114000"/>
              </a:lnSpc>
              <a:spcBef>
                <a:spcPts val="600"/>
              </a:spcBef>
              <a:defRPr sz="2200" b="0">
                <a:latin typeface="Times New Roman"/>
                <a:ea typeface="Times New Roman"/>
                <a:cs typeface="Times New Roman"/>
                <a:sym typeface="Times New Roman"/>
              </a:defRPr>
            </a:pPr>
            <a:r>
              <a:rPr dirty="0"/>
              <a:t>Il </a:t>
            </a:r>
            <a:r>
              <a:rPr b="1" dirty="0" err="1"/>
              <a:t>tentativo</a:t>
            </a:r>
            <a:r>
              <a:rPr b="1" dirty="0"/>
              <a:t> è </a:t>
            </a:r>
            <a:r>
              <a:rPr b="1" dirty="0" err="1"/>
              <a:t>configurabile</a:t>
            </a:r>
            <a:r>
              <a:rPr b="1" dirty="0"/>
              <a:t> </a:t>
            </a:r>
            <a:r>
              <a:rPr dirty="0" err="1"/>
              <a:t>fino</a:t>
            </a:r>
            <a:r>
              <a:rPr dirty="0"/>
              <a:t> al </a:t>
            </a:r>
            <a:r>
              <a:rPr dirty="0" err="1"/>
              <a:t>momento</a:t>
            </a:r>
            <a:r>
              <a:rPr dirty="0"/>
              <a:t> </a:t>
            </a:r>
            <a:r>
              <a:rPr dirty="0" err="1"/>
              <a:t>dell’avvenuto</a:t>
            </a:r>
            <a:r>
              <a:rPr dirty="0"/>
              <a:t> </a:t>
            </a:r>
            <a:r>
              <a:rPr dirty="0" err="1"/>
              <a:t>impossessamento</a:t>
            </a:r>
            <a:r>
              <a:rPr dirty="0"/>
              <a:t> </a:t>
            </a:r>
            <a:r>
              <a:rPr dirty="0" err="1"/>
              <a:t>della</a:t>
            </a:r>
            <a:r>
              <a:rPr dirty="0"/>
              <a:t> </a:t>
            </a:r>
            <a:r>
              <a:rPr dirty="0" err="1"/>
              <a:t>cosa</a:t>
            </a:r>
            <a:r>
              <a:rPr dirty="0"/>
              <a:t> mobile </a:t>
            </a:r>
            <a:r>
              <a:rPr dirty="0" err="1"/>
              <a:t>altrui</a:t>
            </a:r>
            <a:r>
              <a:rPr dirty="0"/>
              <a:t>. Dal </a:t>
            </a:r>
            <a:r>
              <a:rPr dirty="0" err="1"/>
              <a:t>momento</a:t>
            </a:r>
            <a:r>
              <a:rPr dirty="0"/>
              <a:t> in cui la </a:t>
            </a:r>
            <a:r>
              <a:rPr dirty="0" err="1"/>
              <a:t>cosa</a:t>
            </a:r>
            <a:r>
              <a:rPr dirty="0"/>
              <a:t> mobile cade sotto </a:t>
            </a:r>
            <a:r>
              <a:rPr dirty="0" err="1"/>
              <a:t>il</a:t>
            </a:r>
            <a:r>
              <a:rPr dirty="0"/>
              <a:t> </a:t>
            </a:r>
            <a:r>
              <a:rPr dirty="0" err="1"/>
              <a:t>dominio</a:t>
            </a:r>
            <a:r>
              <a:rPr dirty="0"/>
              <a:t> </a:t>
            </a:r>
            <a:r>
              <a:rPr dirty="0" err="1"/>
              <a:t>esclusivo</a:t>
            </a:r>
            <a:r>
              <a:rPr dirty="0"/>
              <a:t> </a:t>
            </a:r>
            <a:r>
              <a:rPr dirty="0" err="1"/>
              <a:t>dell’agente</a:t>
            </a:r>
            <a:r>
              <a:rPr dirty="0"/>
              <a:t>, </a:t>
            </a:r>
            <a:r>
              <a:rPr dirty="0" err="1"/>
              <a:t>il</a:t>
            </a:r>
            <a:r>
              <a:rPr dirty="0"/>
              <a:t> </a:t>
            </a:r>
            <a:r>
              <a:rPr dirty="0" err="1"/>
              <a:t>delitto</a:t>
            </a:r>
            <a:r>
              <a:rPr dirty="0"/>
              <a:t> </a:t>
            </a:r>
            <a:r>
              <a:rPr dirty="0" err="1"/>
              <a:t>può</a:t>
            </a:r>
            <a:r>
              <a:rPr dirty="0"/>
              <a:t> </a:t>
            </a:r>
            <a:r>
              <a:rPr dirty="0" err="1"/>
              <a:t>considerarsi</a:t>
            </a:r>
            <a:r>
              <a:rPr dirty="0"/>
              <a:t> </a:t>
            </a:r>
            <a:r>
              <a:rPr dirty="0" err="1"/>
              <a:t>consumato</a:t>
            </a:r>
            <a:r>
              <a:rPr dirty="0"/>
              <a:t>.</a:t>
            </a:r>
          </a:p>
          <a:p>
            <a:pPr algn="just">
              <a:lnSpc>
                <a:spcPct val="114000"/>
              </a:lnSpc>
              <a:spcBef>
                <a:spcPts val="600"/>
              </a:spcBef>
              <a:defRPr sz="800" b="0">
                <a:latin typeface="Times New Roman"/>
                <a:ea typeface="Times New Roman"/>
                <a:cs typeface="Times New Roman"/>
                <a:sym typeface="Times New Roman"/>
              </a:defRPr>
            </a:pPr>
            <a:endParaRPr dirty="0"/>
          </a:p>
          <a:p>
            <a:pPr algn="just">
              <a:lnSpc>
                <a:spcPct val="114000"/>
              </a:lnSpc>
              <a:spcBef>
                <a:spcPts val="600"/>
              </a:spcBef>
              <a:defRPr sz="2200" b="0">
                <a:latin typeface="Times New Roman"/>
                <a:ea typeface="Times New Roman"/>
                <a:cs typeface="Times New Roman"/>
                <a:sym typeface="Times New Roman"/>
              </a:defRPr>
            </a:pPr>
            <a:r>
              <a:rPr sz="2000" dirty="0"/>
              <a:t>Il </a:t>
            </a:r>
            <a:r>
              <a:rPr sz="2000" dirty="0" err="1"/>
              <a:t>delitto</a:t>
            </a:r>
            <a:r>
              <a:rPr sz="2000" dirty="0"/>
              <a:t> di </a:t>
            </a:r>
            <a:r>
              <a:rPr sz="2000" dirty="0" err="1"/>
              <a:t>rapina</a:t>
            </a:r>
            <a:r>
              <a:rPr sz="2000" dirty="0"/>
              <a:t> è </a:t>
            </a:r>
            <a:r>
              <a:rPr sz="2000" b="1" u="sng" dirty="0" err="1"/>
              <a:t>sempre</a:t>
            </a:r>
            <a:r>
              <a:rPr sz="2000" b="1" u="sng" dirty="0"/>
              <a:t> </a:t>
            </a:r>
            <a:r>
              <a:rPr sz="2000" b="1" u="sng" dirty="0" err="1"/>
              <a:t>procedibile</a:t>
            </a:r>
            <a:r>
              <a:rPr sz="2000" b="1" u="sng" dirty="0"/>
              <a:t> </a:t>
            </a:r>
            <a:r>
              <a:rPr sz="2000" b="1" u="sng" dirty="0" err="1"/>
              <a:t>d’ufficio</a:t>
            </a:r>
            <a:r>
              <a:rPr sz="2000" dirty="0"/>
              <a:t> e, ai </a:t>
            </a:r>
            <a:r>
              <a:rPr sz="2000" dirty="0" err="1"/>
              <a:t>sensi</a:t>
            </a:r>
            <a:r>
              <a:rPr sz="2000" dirty="0"/>
              <a:t> </a:t>
            </a:r>
            <a:r>
              <a:rPr sz="2000" dirty="0" err="1"/>
              <a:t>dell’articolo</a:t>
            </a:r>
            <a:r>
              <a:rPr sz="2000" dirty="0"/>
              <a:t> 380, comma 2, </a:t>
            </a:r>
            <a:r>
              <a:rPr sz="2000" dirty="0" err="1"/>
              <a:t>lettera</a:t>
            </a:r>
            <a:r>
              <a:rPr sz="2000" dirty="0"/>
              <a:t> f), è </a:t>
            </a:r>
            <a:r>
              <a:rPr sz="2000" dirty="0" err="1"/>
              <a:t>previsto</a:t>
            </a:r>
            <a:r>
              <a:rPr sz="2000" dirty="0"/>
              <a:t> </a:t>
            </a:r>
            <a:r>
              <a:rPr sz="2000" b="1" u="sng" dirty="0" err="1"/>
              <a:t>l’arresto</a:t>
            </a:r>
            <a:r>
              <a:rPr sz="2000" b="1" u="sng" dirty="0"/>
              <a:t> </a:t>
            </a:r>
            <a:r>
              <a:rPr sz="2000" b="1" u="sng" dirty="0" err="1"/>
              <a:t>obbligatorio</a:t>
            </a:r>
            <a:r>
              <a:rPr sz="2000" b="1" u="sng" dirty="0"/>
              <a:t> in </a:t>
            </a:r>
            <a:r>
              <a:rPr sz="2000" b="1" u="sng" dirty="0" err="1"/>
              <a:t>flagranza</a:t>
            </a:r>
            <a:r>
              <a:rPr sz="2000" b="1" u="sng" dirty="0"/>
              <a:t> di </a:t>
            </a:r>
            <a:r>
              <a:rPr sz="2000" b="1" u="sng" dirty="0" err="1"/>
              <a:t>reato</a:t>
            </a:r>
            <a:r>
              <a:rPr sz="2000" b="1" u="sng" dirty="0"/>
              <a:t>.</a:t>
            </a:r>
          </a:p>
        </p:txBody>
      </p:sp>
      <p:pic>
        <p:nvPicPr>
          <p:cNvPr id="280"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81"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Rapina</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Rettangolo 4"/>
          <p:cNvSpPr txBox="1"/>
          <p:nvPr/>
        </p:nvSpPr>
        <p:spPr>
          <a:xfrm>
            <a:off x="311912" y="1679860"/>
            <a:ext cx="4106357" cy="49831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600"/>
              </a:spcBef>
              <a:defRPr sz="2200">
                <a:solidFill>
                  <a:srgbClr val="0070C0"/>
                </a:solidFill>
                <a:latin typeface="Times New Roman"/>
                <a:ea typeface="Times New Roman"/>
                <a:cs typeface="Times New Roman"/>
                <a:sym typeface="Times New Roman"/>
              </a:defRPr>
            </a:pPr>
            <a:r>
              <a:t>RAPINA PROPRIA </a:t>
            </a:r>
            <a:r>
              <a:rPr b="0">
                <a:solidFill>
                  <a:srgbClr val="000000"/>
                </a:solidFill>
              </a:rPr>
              <a:t>si caratterizza per il fatto che la </a:t>
            </a:r>
            <a:r>
              <a:rPr>
                <a:solidFill>
                  <a:srgbClr val="000000"/>
                </a:solidFill>
              </a:rPr>
              <a:t>violenza o minaccia sono </a:t>
            </a:r>
            <a:r>
              <a:t>funzionali alla sottrazione</a:t>
            </a:r>
            <a:r>
              <a:rPr b="0">
                <a:solidFill>
                  <a:srgbClr val="000000"/>
                </a:solidFill>
              </a:rPr>
              <a:t> e dunque ad essa </a:t>
            </a:r>
            <a:r>
              <a:t>precedenti o comunque concomitanti</a:t>
            </a:r>
            <a:r>
              <a:rPr b="0">
                <a:solidFill>
                  <a:srgbClr val="000000"/>
                </a:solidFill>
              </a:rPr>
              <a:t>: la violenza/minaccia costituiscono il mezzo tramite il quale il soggetto attivo ha sottratto la cosa mobile. </a:t>
            </a:r>
          </a:p>
          <a:p>
            <a:pPr algn="just">
              <a:lnSpc>
                <a:spcPct val="114000"/>
              </a:lnSpc>
              <a:spcBef>
                <a:spcPts val="600"/>
              </a:spcBef>
              <a:defRPr sz="2200" b="0" i="1">
                <a:latin typeface="Times New Roman"/>
                <a:ea typeface="Times New Roman"/>
                <a:cs typeface="Times New Roman"/>
                <a:sym typeface="Times New Roman"/>
              </a:defRPr>
            </a:pPr>
            <a:r>
              <a:t>Es. Tizio che spinge Caio e mentre questo è a terra gli prende lo zaino (sottrazione) e si dà alla fuga (impossessamento).</a:t>
            </a:r>
          </a:p>
        </p:txBody>
      </p:sp>
      <p:pic>
        <p:nvPicPr>
          <p:cNvPr id="284"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85"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Rapina</a:t>
            </a:r>
          </a:p>
        </p:txBody>
      </p:sp>
      <p:sp>
        <p:nvSpPr>
          <p:cNvPr id="286" name="Rettangolo 7"/>
          <p:cNvSpPr txBox="1"/>
          <p:nvPr/>
        </p:nvSpPr>
        <p:spPr>
          <a:xfrm>
            <a:off x="4743101" y="1679861"/>
            <a:ext cx="4106357" cy="46083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600"/>
              </a:spcBef>
              <a:defRPr sz="2200">
                <a:solidFill>
                  <a:srgbClr val="0070C0"/>
                </a:solidFill>
                <a:latin typeface="Times New Roman"/>
                <a:ea typeface="Times New Roman"/>
                <a:cs typeface="Times New Roman"/>
                <a:sym typeface="Times New Roman"/>
              </a:defRPr>
            </a:pPr>
            <a:r>
              <a:t>RAPINA IMPROPRIA </a:t>
            </a:r>
            <a:r>
              <a:rPr b="0">
                <a:solidFill>
                  <a:srgbClr val="000000"/>
                </a:solidFill>
              </a:rPr>
              <a:t>invece si caratterizza perché </a:t>
            </a:r>
            <a:r>
              <a:rPr>
                <a:solidFill>
                  <a:srgbClr val="000000"/>
                </a:solidFill>
              </a:rPr>
              <a:t>la violenza o la minaccia è immediatamente </a:t>
            </a:r>
            <a:r>
              <a:t>successiva</a:t>
            </a:r>
            <a:r>
              <a:rPr>
                <a:solidFill>
                  <a:srgbClr val="000000"/>
                </a:solidFill>
              </a:rPr>
              <a:t> </a:t>
            </a:r>
            <a:r>
              <a:t>alla sottrazione della cosa</a:t>
            </a:r>
            <a:r>
              <a:rPr b="0">
                <a:solidFill>
                  <a:srgbClr val="000000"/>
                </a:solidFill>
              </a:rPr>
              <a:t> e persegue l’obiettivo di </a:t>
            </a:r>
            <a:r>
              <a:t>assicurare al reo il possesso della cosa sottratta o l’impunità</a:t>
            </a:r>
            <a:r>
              <a:rPr b="0">
                <a:solidFill>
                  <a:srgbClr val="000000"/>
                </a:solidFill>
              </a:rPr>
              <a:t>. </a:t>
            </a:r>
          </a:p>
          <a:p>
            <a:pPr algn="just">
              <a:lnSpc>
                <a:spcPct val="114000"/>
              </a:lnSpc>
              <a:spcBef>
                <a:spcPts val="600"/>
              </a:spcBef>
              <a:defRPr sz="2200" b="0" i="1">
                <a:latin typeface="Times New Roman"/>
                <a:ea typeface="Times New Roman"/>
                <a:cs typeface="Times New Roman"/>
                <a:sym typeface="Times New Roman"/>
              </a:defRPr>
            </a:pPr>
            <a:r>
              <a:t>Es. Tizio che prende lo zaino di Caio mentre questo è distratto, ma poi, una volta sorpreso, tira a Caio un pugno per impedirgli di riprendersi la cosa sottratta.</a:t>
            </a:r>
          </a:p>
        </p:txBody>
      </p:sp>
      <p:sp>
        <p:nvSpPr>
          <p:cNvPr id="287" name="Rettangolo 1"/>
          <p:cNvSpPr txBox="1"/>
          <p:nvPr/>
        </p:nvSpPr>
        <p:spPr>
          <a:xfrm>
            <a:off x="1487534" y="1060653"/>
            <a:ext cx="6115456" cy="4213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gn="just">
              <a:lnSpc>
                <a:spcPct val="114000"/>
              </a:lnSpc>
              <a:spcBef>
                <a:spcPts val="600"/>
              </a:spcBef>
              <a:defRPr sz="2400">
                <a:solidFill>
                  <a:srgbClr val="0070C0"/>
                </a:solidFill>
                <a:latin typeface="Times New Roman"/>
                <a:ea typeface="Times New Roman"/>
                <a:cs typeface="Times New Roman"/>
                <a:sym typeface="Times New Roman"/>
              </a:defRPr>
            </a:lvl1pPr>
          </a:lstStyle>
          <a:p>
            <a:r>
              <a:t>RAPINA PROPRIA E RAPINA IMPROPRIA</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CasellaDiTesto 1"/>
          <p:cNvSpPr txBox="1"/>
          <p:nvPr/>
        </p:nvSpPr>
        <p:spPr>
          <a:xfrm>
            <a:off x="229859" y="980727"/>
            <a:ext cx="8684281" cy="334834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31859C"/>
                </a:solidFill>
                <a:latin typeface="Book Antiqua"/>
                <a:ea typeface="Book Antiqua"/>
                <a:cs typeface="Book Antiqua"/>
                <a:sym typeface="Book Antiqua"/>
              </a:defRPr>
            </a:pPr>
            <a:r>
              <a:rPr dirty="0">
                <a:solidFill>
                  <a:srgbClr val="FF0000"/>
                </a:solidFill>
              </a:rPr>
              <a:t>Art. 629 </a:t>
            </a:r>
            <a:r>
              <a:rPr dirty="0" err="1">
                <a:solidFill>
                  <a:srgbClr val="FF0000"/>
                </a:solidFill>
              </a:rPr>
              <a:t>c.p.</a:t>
            </a:r>
            <a:r>
              <a:rPr dirty="0">
                <a:solidFill>
                  <a:srgbClr val="FF0000"/>
                </a:solidFill>
              </a:rPr>
              <a:t> </a:t>
            </a:r>
            <a:r>
              <a:rPr dirty="0" err="1">
                <a:solidFill>
                  <a:srgbClr val="FF0000"/>
                </a:solidFill>
              </a:rPr>
              <a:t>Estorsione</a:t>
            </a:r>
            <a:endParaRPr dirty="0">
              <a:solidFill>
                <a:srgbClr val="FF0000"/>
              </a:solidFill>
              <a:latin typeface="Times New Roman"/>
              <a:ea typeface="Times New Roman"/>
              <a:cs typeface="Times New Roman"/>
              <a:sym typeface="Times New Roman"/>
            </a:endParaRPr>
          </a:p>
          <a:p>
            <a:pPr algn="just">
              <a:lnSpc>
                <a:spcPct val="114000"/>
              </a:lnSpc>
              <a:spcBef>
                <a:spcPts val="600"/>
              </a:spcBef>
              <a:defRPr sz="2200" b="0">
                <a:latin typeface="Book Antiqua"/>
                <a:ea typeface="Book Antiqua"/>
                <a:cs typeface="Book Antiqua"/>
                <a:sym typeface="Book Antiqua"/>
              </a:defRPr>
            </a:pPr>
            <a:r>
              <a:rPr dirty="0"/>
              <a:t>«</a:t>
            </a:r>
            <a:r>
              <a:rPr i="1" dirty="0" err="1"/>
              <a:t>Chiunque</a:t>
            </a:r>
            <a:r>
              <a:rPr i="1" dirty="0"/>
              <a:t>, </a:t>
            </a:r>
            <a:r>
              <a:rPr b="1" i="1" dirty="0" err="1">
                <a:solidFill>
                  <a:srgbClr val="31859C"/>
                </a:solidFill>
              </a:rPr>
              <a:t>mediante</a:t>
            </a:r>
            <a:r>
              <a:rPr b="1" i="1" dirty="0">
                <a:solidFill>
                  <a:srgbClr val="31859C"/>
                </a:solidFill>
              </a:rPr>
              <a:t> </a:t>
            </a:r>
            <a:r>
              <a:rPr b="1" i="1" dirty="0" err="1">
                <a:solidFill>
                  <a:srgbClr val="31859C"/>
                </a:solidFill>
              </a:rPr>
              <a:t>violenza</a:t>
            </a:r>
            <a:r>
              <a:rPr b="1" i="1" dirty="0">
                <a:solidFill>
                  <a:srgbClr val="31859C"/>
                </a:solidFill>
              </a:rPr>
              <a:t> o </a:t>
            </a:r>
            <a:r>
              <a:rPr b="1" i="1" dirty="0" err="1">
                <a:solidFill>
                  <a:srgbClr val="31859C"/>
                </a:solidFill>
              </a:rPr>
              <a:t>minaccia</a:t>
            </a:r>
            <a:r>
              <a:rPr i="1" dirty="0"/>
              <a:t>, </a:t>
            </a:r>
            <a:r>
              <a:rPr b="1" i="1" dirty="0" err="1">
                <a:solidFill>
                  <a:srgbClr val="31859C"/>
                </a:solidFill>
              </a:rPr>
              <a:t>costringendo</a:t>
            </a:r>
            <a:r>
              <a:rPr b="1" i="1" dirty="0">
                <a:solidFill>
                  <a:srgbClr val="31859C"/>
                </a:solidFill>
              </a:rPr>
              <a:t> </a:t>
            </a:r>
            <a:r>
              <a:rPr b="1" i="1" dirty="0" err="1">
                <a:solidFill>
                  <a:srgbClr val="31859C"/>
                </a:solidFill>
              </a:rPr>
              <a:t>taluno</a:t>
            </a:r>
            <a:r>
              <a:rPr b="1" i="1" dirty="0">
                <a:solidFill>
                  <a:srgbClr val="31859C"/>
                </a:solidFill>
              </a:rPr>
              <a:t> a fare o ad </a:t>
            </a:r>
            <a:r>
              <a:rPr b="1" i="1" dirty="0" err="1">
                <a:solidFill>
                  <a:srgbClr val="31859C"/>
                </a:solidFill>
              </a:rPr>
              <a:t>omettere</a:t>
            </a:r>
            <a:r>
              <a:rPr b="1" i="1" dirty="0">
                <a:solidFill>
                  <a:srgbClr val="31859C"/>
                </a:solidFill>
              </a:rPr>
              <a:t> </a:t>
            </a:r>
            <a:r>
              <a:rPr b="1" i="1" dirty="0" err="1">
                <a:solidFill>
                  <a:srgbClr val="31859C"/>
                </a:solidFill>
              </a:rPr>
              <a:t>qualche</a:t>
            </a:r>
            <a:r>
              <a:rPr b="1" i="1" dirty="0">
                <a:solidFill>
                  <a:srgbClr val="31859C"/>
                </a:solidFill>
              </a:rPr>
              <a:t> </a:t>
            </a:r>
            <a:r>
              <a:rPr b="1" i="1" dirty="0" err="1">
                <a:solidFill>
                  <a:srgbClr val="31859C"/>
                </a:solidFill>
              </a:rPr>
              <a:t>cosa</a:t>
            </a:r>
            <a:r>
              <a:rPr i="1" dirty="0"/>
              <a:t>, </a:t>
            </a:r>
            <a:r>
              <a:rPr b="1" i="1" dirty="0" err="1">
                <a:solidFill>
                  <a:srgbClr val="31859C"/>
                </a:solidFill>
              </a:rPr>
              <a:t>procura</a:t>
            </a:r>
            <a:r>
              <a:rPr b="1" i="1" dirty="0">
                <a:solidFill>
                  <a:srgbClr val="31859C"/>
                </a:solidFill>
              </a:rPr>
              <a:t> a </a:t>
            </a:r>
            <a:r>
              <a:rPr b="1" i="1" dirty="0" err="1">
                <a:solidFill>
                  <a:srgbClr val="31859C"/>
                </a:solidFill>
              </a:rPr>
              <a:t>sé</a:t>
            </a:r>
            <a:r>
              <a:rPr b="1" i="1" dirty="0">
                <a:solidFill>
                  <a:srgbClr val="31859C"/>
                </a:solidFill>
              </a:rPr>
              <a:t> o ad </a:t>
            </a:r>
            <a:r>
              <a:rPr b="1" i="1" dirty="0" err="1">
                <a:solidFill>
                  <a:srgbClr val="31859C"/>
                </a:solidFill>
              </a:rPr>
              <a:t>altri</a:t>
            </a:r>
            <a:r>
              <a:rPr b="1" i="1" dirty="0">
                <a:solidFill>
                  <a:srgbClr val="31859C"/>
                </a:solidFill>
              </a:rPr>
              <a:t> un </a:t>
            </a:r>
            <a:r>
              <a:rPr b="1" i="1" dirty="0" err="1">
                <a:solidFill>
                  <a:srgbClr val="31859C"/>
                </a:solidFill>
              </a:rPr>
              <a:t>ingiusto</a:t>
            </a:r>
            <a:r>
              <a:rPr b="1" i="1" dirty="0">
                <a:solidFill>
                  <a:srgbClr val="31859C"/>
                </a:solidFill>
              </a:rPr>
              <a:t> </a:t>
            </a:r>
            <a:r>
              <a:rPr b="1" i="1" dirty="0" err="1">
                <a:solidFill>
                  <a:srgbClr val="31859C"/>
                </a:solidFill>
              </a:rPr>
              <a:t>profitto</a:t>
            </a:r>
            <a:r>
              <a:rPr b="1" i="1" dirty="0">
                <a:solidFill>
                  <a:srgbClr val="31859C"/>
                </a:solidFill>
              </a:rPr>
              <a:t> con </a:t>
            </a:r>
            <a:r>
              <a:rPr b="1" i="1" dirty="0" err="1">
                <a:solidFill>
                  <a:srgbClr val="31859C"/>
                </a:solidFill>
              </a:rPr>
              <a:t>altrui</a:t>
            </a:r>
            <a:r>
              <a:rPr b="1" i="1" dirty="0">
                <a:solidFill>
                  <a:srgbClr val="31859C"/>
                </a:solidFill>
              </a:rPr>
              <a:t> </a:t>
            </a:r>
            <a:r>
              <a:rPr b="1" i="1" dirty="0" err="1">
                <a:solidFill>
                  <a:srgbClr val="31859C"/>
                </a:solidFill>
              </a:rPr>
              <a:t>danno</a:t>
            </a:r>
            <a:r>
              <a:rPr i="1" dirty="0"/>
              <a:t>, è </a:t>
            </a:r>
            <a:r>
              <a:rPr i="1" dirty="0" err="1"/>
              <a:t>punito</a:t>
            </a:r>
            <a:r>
              <a:rPr i="1" dirty="0"/>
              <a:t> con la </a:t>
            </a:r>
            <a:r>
              <a:rPr i="1" dirty="0" err="1"/>
              <a:t>reclusione</a:t>
            </a:r>
            <a:r>
              <a:rPr i="1" dirty="0"/>
              <a:t> da cinque a </a:t>
            </a:r>
            <a:r>
              <a:rPr i="1" dirty="0" err="1"/>
              <a:t>dieci</a:t>
            </a:r>
            <a:r>
              <a:rPr i="1" dirty="0"/>
              <a:t> anni e con la </a:t>
            </a:r>
            <a:r>
              <a:rPr i="1" dirty="0" err="1"/>
              <a:t>multa</a:t>
            </a:r>
            <a:r>
              <a:rPr i="1" dirty="0"/>
              <a:t> da euro 1.000 a euro 4.000.</a:t>
            </a:r>
            <a:endParaRPr dirty="0">
              <a:latin typeface="Times New Roman"/>
              <a:ea typeface="Times New Roman"/>
              <a:cs typeface="Times New Roman"/>
              <a:sym typeface="Times New Roman"/>
            </a:endParaRPr>
          </a:p>
          <a:p>
            <a:pPr algn="just">
              <a:lnSpc>
                <a:spcPct val="114000"/>
              </a:lnSpc>
              <a:spcBef>
                <a:spcPts val="600"/>
              </a:spcBef>
              <a:defRPr sz="2200" b="0" i="1">
                <a:latin typeface="Book Antiqua"/>
                <a:ea typeface="Book Antiqua"/>
                <a:cs typeface="Book Antiqua"/>
                <a:sym typeface="Book Antiqua"/>
              </a:defRPr>
            </a:pPr>
            <a:r>
              <a:rPr dirty="0"/>
              <a:t>La </a:t>
            </a:r>
            <a:r>
              <a:rPr dirty="0" err="1"/>
              <a:t>pena</a:t>
            </a:r>
            <a:r>
              <a:rPr dirty="0"/>
              <a:t> è della </a:t>
            </a:r>
            <a:r>
              <a:rPr dirty="0" err="1"/>
              <a:t>reclusione</a:t>
            </a:r>
            <a:r>
              <a:rPr dirty="0"/>
              <a:t> da </a:t>
            </a:r>
            <a:r>
              <a:rPr dirty="0" err="1"/>
              <a:t>sette</a:t>
            </a:r>
            <a:r>
              <a:rPr dirty="0"/>
              <a:t> a venti anni e della </a:t>
            </a:r>
            <a:r>
              <a:rPr dirty="0" err="1"/>
              <a:t>multa</a:t>
            </a:r>
            <a:r>
              <a:rPr dirty="0"/>
              <a:t> da euro 5.000 a euro 15.000, se </a:t>
            </a:r>
            <a:r>
              <a:rPr dirty="0" err="1"/>
              <a:t>concorre</a:t>
            </a:r>
            <a:r>
              <a:rPr dirty="0"/>
              <a:t> </a:t>
            </a:r>
            <a:r>
              <a:rPr dirty="0" err="1"/>
              <a:t>taluna</a:t>
            </a:r>
            <a:r>
              <a:rPr dirty="0"/>
              <a:t> delle </a:t>
            </a:r>
            <a:r>
              <a:rPr dirty="0" err="1"/>
              <a:t>circostanze</a:t>
            </a:r>
            <a:r>
              <a:rPr dirty="0"/>
              <a:t> indicate </a:t>
            </a:r>
            <a:r>
              <a:rPr dirty="0" err="1"/>
              <a:t>nell'ultimo</a:t>
            </a:r>
            <a:r>
              <a:rPr dirty="0"/>
              <a:t> </a:t>
            </a:r>
            <a:r>
              <a:rPr dirty="0" err="1"/>
              <a:t>capoverso</a:t>
            </a:r>
            <a:r>
              <a:rPr dirty="0"/>
              <a:t> </a:t>
            </a:r>
            <a:r>
              <a:rPr dirty="0" err="1"/>
              <a:t>dell'articolo</a:t>
            </a:r>
            <a:r>
              <a:rPr dirty="0"/>
              <a:t> </a:t>
            </a:r>
            <a:r>
              <a:rPr dirty="0" err="1"/>
              <a:t>precedente</a:t>
            </a:r>
            <a:r>
              <a:rPr dirty="0"/>
              <a:t> (</a:t>
            </a:r>
            <a:r>
              <a:rPr dirty="0" err="1"/>
              <a:t>Rapina</a:t>
            </a:r>
            <a:r>
              <a:rPr dirty="0"/>
              <a:t>)».</a:t>
            </a:r>
            <a:endParaRPr dirty="0">
              <a:latin typeface="Times New Roman"/>
              <a:ea typeface="Times New Roman"/>
              <a:cs typeface="Times New Roman"/>
              <a:sym typeface="Times New Roman"/>
            </a:endParaRPr>
          </a:p>
        </p:txBody>
      </p:sp>
      <p:pic>
        <p:nvPicPr>
          <p:cNvPr id="290"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291"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Estorsione</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3" name="Estorsione"/>
          <p:cNvSpPr txBox="1">
            <a:spLocks noGrp="1"/>
          </p:cNvSpPr>
          <p:nvPr>
            <p:ph type="title"/>
          </p:nvPr>
        </p:nvSpPr>
        <p:spPr>
          <a:xfrm>
            <a:off x="781757" y="-125246"/>
            <a:ext cx="7905044" cy="1137854"/>
          </a:xfrm>
          <a:prstGeom prst="rect">
            <a:avLst/>
          </a:prstGeom>
        </p:spPr>
        <p:txBody>
          <a:bodyPr/>
          <a:lstStyle>
            <a:lvl1pPr algn="l">
              <a:defRPr sz="3200">
                <a:solidFill>
                  <a:srgbClr val="FFFFFF"/>
                </a:solidFill>
                <a:latin typeface="Book Antiqua"/>
                <a:ea typeface="Book Antiqua"/>
                <a:cs typeface="Book Antiqua"/>
                <a:sym typeface="Book Antiqua"/>
              </a:defRPr>
            </a:lvl1pPr>
          </a:lstStyle>
          <a:p>
            <a:r>
              <a:t>Estorsione</a:t>
            </a:r>
          </a:p>
        </p:txBody>
      </p:sp>
      <p:sp>
        <p:nvSpPr>
          <p:cNvPr id="294" name="L’estorsione è un REATO COMUNE, in quanto può essere commesso da chiunque.…"/>
          <p:cNvSpPr txBox="1">
            <a:spLocks noGrp="1"/>
          </p:cNvSpPr>
          <p:nvPr>
            <p:ph type="body" idx="1"/>
          </p:nvPr>
        </p:nvSpPr>
        <p:spPr>
          <a:xfrm>
            <a:off x="457200" y="1600200"/>
            <a:ext cx="8229600" cy="4525963"/>
          </a:xfrm>
          <a:prstGeom prst="rect">
            <a:avLst/>
          </a:prstGeom>
        </p:spPr>
        <p:txBody>
          <a:bodyPr>
            <a:normAutofit fontScale="92500"/>
          </a:bodyPr>
          <a:lstStyle/>
          <a:p>
            <a:pPr marL="0" indent="0" algn="just">
              <a:lnSpc>
                <a:spcPct val="114000"/>
              </a:lnSpc>
              <a:spcBef>
                <a:spcPts val="600"/>
              </a:spcBef>
              <a:buSzTx/>
              <a:buNone/>
              <a:defRPr sz="2200">
                <a:latin typeface="Book Antiqua"/>
                <a:ea typeface="Book Antiqua"/>
                <a:cs typeface="Book Antiqua"/>
                <a:sym typeface="Book Antiqua"/>
              </a:defRPr>
            </a:pPr>
            <a:r>
              <a:rPr dirty="0" err="1"/>
              <a:t>L’estorsione</a:t>
            </a:r>
            <a:r>
              <a:rPr dirty="0"/>
              <a:t> è un </a:t>
            </a:r>
            <a:r>
              <a:rPr b="1" dirty="0">
                <a:solidFill>
                  <a:srgbClr val="31859C"/>
                </a:solidFill>
              </a:rPr>
              <a:t>REATO COMUNE</a:t>
            </a:r>
            <a:r>
              <a:rPr dirty="0"/>
              <a:t>, in </a:t>
            </a:r>
            <a:r>
              <a:rPr dirty="0" err="1"/>
              <a:t>quanto</a:t>
            </a:r>
            <a:r>
              <a:rPr dirty="0"/>
              <a:t> </a:t>
            </a:r>
            <a:r>
              <a:rPr dirty="0" err="1"/>
              <a:t>può</a:t>
            </a:r>
            <a:r>
              <a:rPr dirty="0"/>
              <a:t> </a:t>
            </a:r>
            <a:r>
              <a:rPr dirty="0" err="1"/>
              <a:t>essere</a:t>
            </a:r>
            <a:r>
              <a:rPr dirty="0"/>
              <a:t> </a:t>
            </a:r>
            <a:r>
              <a:rPr dirty="0" err="1"/>
              <a:t>commesso</a:t>
            </a:r>
            <a:r>
              <a:rPr dirty="0"/>
              <a:t> da </a:t>
            </a:r>
            <a:r>
              <a:rPr dirty="0" err="1"/>
              <a:t>chiunque</a:t>
            </a:r>
            <a:r>
              <a:rPr dirty="0"/>
              <a:t>. </a:t>
            </a:r>
          </a:p>
          <a:p>
            <a:pPr marL="0" indent="0" algn="just">
              <a:lnSpc>
                <a:spcPct val="114000"/>
              </a:lnSpc>
              <a:spcBef>
                <a:spcPts val="600"/>
              </a:spcBef>
              <a:buSzTx/>
              <a:buNone/>
              <a:defRPr sz="2200">
                <a:latin typeface="Book Antiqua"/>
                <a:ea typeface="Book Antiqua"/>
                <a:cs typeface="Book Antiqua"/>
                <a:sym typeface="Book Antiqua"/>
              </a:defRPr>
            </a:pPr>
            <a:r>
              <a:rPr dirty="0"/>
              <a:t>BADA BENE — se </a:t>
            </a:r>
            <a:r>
              <a:rPr dirty="0" err="1"/>
              <a:t>commesso</a:t>
            </a:r>
            <a:r>
              <a:rPr dirty="0"/>
              <a:t> da un </a:t>
            </a:r>
            <a:r>
              <a:rPr dirty="0" err="1"/>
              <a:t>Pubblico</a:t>
            </a:r>
            <a:r>
              <a:rPr dirty="0"/>
              <a:t> </a:t>
            </a:r>
            <a:r>
              <a:rPr dirty="0" err="1"/>
              <a:t>Ufficiale</a:t>
            </a:r>
            <a:r>
              <a:rPr dirty="0"/>
              <a:t>, integra </a:t>
            </a:r>
            <a:r>
              <a:rPr dirty="0" err="1"/>
              <a:t>il</a:t>
            </a:r>
            <a:r>
              <a:rPr dirty="0"/>
              <a:t> </a:t>
            </a:r>
            <a:r>
              <a:rPr dirty="0" err="1"/>
              <a:t>reato</a:t>
            </a:r>
            <a:r>
              <a:rPr dirty="0"/>
              <a:t> </a:t>
            </a:r>
            <a:r>
              <a:rPr dirty="0" err="1"/>
              <a:t>concussione</a:t>
            </a:r>
            <a:r>
              <a:rPr dirty="0"/>
              <a:t> (art.317), </a:t>
            </a:r>
            <a:r>
              <a:rPr dirty="0" err="1"/>
              <a:t>sempre</a:t>
            </a:r>
            <a:r>
              <a:rPr dirty="0"/>
              <a:t> </a:t>
            </a:r>
            <a:r>
              <a:rPr dirty="0" err="1"/>
              <a:t>che</a:t>
            </a:r>
            <a:r>
              <a:rPr dirty="0"/>
              <a:t> vi </a:t>
            </a:r>
            <a:r>
              <a:rPr dirty="0" err="1"/>
              <a:t>sia</a:t>
            </a:r>
            <a:r>
              <a:rPr dirty="0"/>
              <a:t> </a:t>
            </a:r>
            <a:r>
              <a:rPr dirty="0" err="1"/>
              <a:t>abuso</a:t>
            </a:r>
            <a:r>
              <a:rPr dirty="0"/>
              <a:t> </a:t>
            </a:r>
            <a:r>
              <a:rPr dirty="0" err="1"/>
              <a:t>dei</a:t>
            </a:r>
            <a:r>
              <a:rPr dirty="0"/>
              <a:t> </a:t>
            </a:r>
            <a:r>
              <a:rPr dirty="0" err="1"/>
              <a:t>poteri</a:t>
            </a:r>
            <a:r>
              <a:rPr dirty="0"/>
              <a:t>.</a:t>
            </a:r>
          </a:p>
          <a:p>
            <a:pPr marL="0" indent="0" algn="just">
              <a:lnSpc>
                <a:spcPct val="114000"/>
              </a:lnSpc>
              <a:spcBef>
                <a:spcPts val="600"/>
              </a:spcBef>
              <a:buSzTx/>
              <a:buNone/>
              <a:defRPr sz="2200">
                <a:latin typeface="Book Antiqua"/>
                <a:ea typeface="Book Antiqua"/>
                <a:cs typeface="Book Antiqua"/>
                <a:sym typeface="Book Antiqua"/>
              </a:defRPr>
            </a:pPr>
            <a:endParaRPr dirty="0"/>
          </a:p>
          <a:p>
            <a:pPr marL="0" indent="0" algn="just">
              <a:lnSpc>
                <a:spcPct val="114000"/>
              </a:lnSpc>
              <a:spcBef>
                <a:spcPts val="600"/>
              </a:spcBef>
              <a:buSzTx/>
              <a:buNone/>
              <a:defRPr sz="2200">
                <a:latin typeface="Times New Roman"/>
                <a:ea typeface="Times New Roman"/>
                <a:cs typeface="Times New Roman"/>
                <a:sym typeface="Times New Roman"/>
              </a:defRPr>
            </a:pPr>
            <a:endParaRPr dirty="0"/>
          </a:p>
          <a:p>
            <a:pPr marL="0" indent="0" algn="just">
              <a:lnSpc>
                <a:spcPct val="114000"/>
              </a:lnSpc>
              <a:spcBef>
                <a:spcPts val="600"/>
              </a:spcBef>
              <a:buSzTx/>
              <a:buNone/>
              <a:defRPr sz="2200">
                <a:latin typeface="Book Antiqua"/>
                <a:ea typeface="Book Antiqua"/>
                <a:cs typeface="Book Antiqua"/>
                <a:sym typeface="Book Antiqua"/>
              </a:defRPr>
            </a:pPr>
            <a:r>
              <a:rPr dirty="0"/>
              <a:t>Il </a:t>
            </a:r>
            <a:r>
              <a:rPr dirty="0" err="1"/>
              <a:t>delitto</a:t>
            </a:r>
            <a:r>
              <a:rPr dirty="0"/>
              <a:t> è </a:t>
            </a:r>
            <a:r>
              <a:rPr b="1" dirty="0">
                <a:solidFill>
                  <a:srgbClr val="31859C"/>
                </a:solidFill>
              </a:rPr>
              <a:t>PLURIOFFENSIVO</a:t>
            </a:r>
            <a:r>
              <a:rPr dirty="0"/>
              <a:t>: </a:t>
            </a:r>
            <a:r>
              <a:rPr lang="it-IT" sz="2200" dirty="0">
                <a:sym typeface="Book Antiqua"/>
              </a:rPr>
              <a:t>. Accanto alla lesione del </a:t>
            </a:r>
            <a:r>
              <a:rPr lang="it-IT" sz="2200" b="1" u="sng" dirty="0">
                <a:sym typeface="Book Antiqua"/>
              </a:rPr>
              <a:t>patrimonio</a:t>
            </a:r>
            <a:r>
              <a:rPr lang="it-IT" sz="2200" dirty="0">
                <a:sym typeface="Book Antiqua"/>
              </a:rPr>
              <a:t> è presente anche una offesa alla </a:t>
            </a:r>
            <a:r>
              <a:rPr lang="fr-FR" sz="2200" b="1" u="sng" dirty="0" err="1">
                <a:sym typeface="Book Antiqua"/>
              </a:rPr>
              <a:t>libert</a:t>
            </a:r>
            <a:r>
              <a:rPr lang="it-IT" sz="2200" b="1" u="sng" dirty="0">
                <a:sym typeface="Book Antiqua"/>
              </a:rPr>
              <a:t>à di autodeterminazione</a:t>
            </a:r>
            <a:r>
              <a:rPr lang="it-IT" sz="2200" u="sng" dirty="0">
                <a:sym typeface="Book Antiqua"/>
              </a:rPr>
              <a:t> del soggetto passivo</a:t>
            </a:r>
            <a:r>
              <a:rPr lang="it-IT" sz="2200" dirty="0">
                <a:sym typeface="Book Antiqua"/>
              </a:rPr>
              <a:t>. </a:t>
            </a:r>
          </a:p>
          <a:p>
            <a:pPr marL="0" indent="0" algn="just">
              <a:lnSpc>
                <a:spcPct val="114000"/>
              </a:lnSpc>
              <a:spcBef>
                <a:spcPts val="600"/>
              </a:spcBef>
              <a:buSzTx/>
              <a:buNone/>
              <a:defRPr sz="2200">
                <a:latin typeface="Book Antiqua"/>
                <a:ea typeface="Book Antiqua"/>
                <a:cs typeface="Book Antiqua"/>
                <a:sym typeface="Book Antiqua"/>
              </a:defRPr>
            </a:pPr>
            <a:r>
              <a:rPr lang="it-IT" dirty="0"/>
              <a:t>N</a:t>
            </a:r>
            <a:r>
              <a:rPr dirty="0"/>
              <a:t>el </a:t>
            </a:r>
            <a:r>
              <a:rPr dirty="0" err="1"/>
              <a:t>caso</a:t>
            </a:r>
            <a:r>
              <a:rPr dirty="0"/>
              <a:t> in cui </a:t>
            </a:r>
            <a:r>
              <a:rPr dirty="0" err="1"/>
              <a:t>i</a:t>
            </a:r>
            <a:r>
              <a:rPr dirty="0"/>
              <a:t> due </a:t>
            </a:r>
            <a:r>
              <a:rPr dirty="0" err="1"/>
              <a:t>interessi</a:t>
            </a:r>
            <a:r>
              <a:rPr dirty="0"/>
              <a:t> </a:t>
            </a:r>
            <a:r>
              <a:rPr dirty="0" err="1"/>
              <a:t>lesi</a:t>
            </a:r>
            <a:r>
              <a:rPr dirty="0"/>
              <a:t> (</a:t>
            </a:r>
            <a:r>
              <a:rPr b="1" u="sng" dirty="0" err="1"/>
              <a:t>personale</a:t>
            </a:r>
            <a:r>
              <a:rPr dirty="0"/>
              <a:t> e </a:t>
            </a:r>
            <a:r>
              <a:rPr b="1" u="sng" dirty="0" err="1"/>
              <a:t>patrimoniale</a:t>
            </a:r>
            <a:r>
              <a:rPr dirty="0"/>
              <a:t>) </a:t>
            </a:r>
            <a:r>
              <a:rPr dirty="0" err="1"/>
              <a:t>dovessero</a:t>
            </a:r>
            <a:r>
              <a:rPr dirty="0"/>
              <a:t> far capo a due </a:t>
            </a:r>
            <a:r>
              <a:rPr dirty="0" err="1"/>
              <a:t>soggetti</a:t>
            </a:r>
            <a:r>
              <a:rPr dirty="0"/>
              <a:t> </a:t>
            </a:r>
            <a:r>
              <a:rPr dirty="0" err="1"/>
              <a:t>diversi</a:t>
            </a:r>
            <a:r>
              <a:rPr dirty="0"/>
              <a:t>, </a:t>
            </a:r>
            <a:r>
              <a:rPr dirty="0" err="1"/>
              <a:t>si</a:t>
            </a:r>
            <a:r>
              <a:rPr dirty="0"/>
              <a:t> </a:t>
            </a:r>
            <a:r>
              <a:rPr dirty="0" err="1"/>
              <a:t>avranno</a:t>
            </a:r>
            <a:r>
              <a:rPr dirty="0"/>
              <a:t> due </a:t>
            </a:r>
            <a:r>
              <a:rPr dirty="0" err="1"/>
              <a:t>soggetti</a:t>
            </a:r>
            <a:r>
              <a:rPr dirty="0"/>
              <a:t> </a:t>
            </a:r>
            <a:r>
              <a:rPr dirty="0" err="1"/>
              <a:t>passivi</a:t>
            </a:r>
            <a:r>
              <a:rPr dirty="0"/>
              <a:t>.</a:t>
            </a:r>
          </a:p>
        </p:txBody>
      </p:sp>
      <p:sp>
        <p:nvSpPr>
          <p:cNvPr id="295" name="Numero diapositiva"/>
          <p:cNvSpPr txBox="1">
            <a:spLocks noGrp="1"/>
          </p:cNvSpPr>
          <p:nvPr>
            <p:ph type="sldNum" sz="quarter" idx="4294967295"/>
          </p:nvPr>
        </p:nvSpPr>
        <p:spPr>
          <a:xfrm>
            <a:off x="8430259" y="6401179"/>
            <a:ext cx="256539" cy="2754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17</a:t>
            </a:fld>
            <a:endParaRPr/>
          </a:p>
        </p:txBody>
      </p:sp>
      <p:pic>
        <p:nvPicPr>
          <p:cNvPr id="296"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Rettangolo 4"/>
          <p:cNvSpPr txBox="1"/>
          <p:nvPr/>
        </p:nvSpPr>
        <p:spPr>
          <a:xfrm>
            <a:off x="277595" y="980727"/>
            <a:ext cx="8588810" cy="384329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u="sng">
                <a:latin typeface="Times New Roman"/>
                <a:ea typeface="Times New Roman"/>
                <a:cs typeface="Times New Roman"/>
                <a:sym typeface="Times New Roman"/>
              </a:defRPr>
            </a:pPr>
            <a:r>
              <a:rPr dirty="0"/>
              <a:t>ELEMENTO OGGETTIVO</a:t>
            </a:r>
            <a:r>
              <a:rPr b="0" u="none" dirty="0"/>
              <a:t>: la </a:t>
            </a:r>
            <a:r>
              <a:rPr b="0" u="none" dirty="0" err="1"/>
              <a:t>condotta</a:t>
            </a:r>
            <a:r>
              <a:rPr b="0" u="none" dirty="0"/>
              <a:t> </a:t>
            </a:r>
            <a:r>
              <a:rPr b="0" u="none" dirty="0" err="1"/>
              <a:t>incriminata</a:t>
            </a:r>
            <a:r>
              <a:rPr b="0" u="none" dirty="0"/>
              <a:t> è </a:t>
            </a:r>
            <a:r>
              <a:rPr b="0" u="none" dirty="0" err="1"/>
              <a:t>quella</a:t>
            </a:r>
            <a:r>
              <a:rPr b="0" u="none" dirty="0"/>
              <a:t> di chi, </a:t>
            </a:r>
            <a:r>
              <a:rPr u="none" dirty="0">
                <a:solidFill>
                  <a:srgbClr val="31859C"/>
                </a:solidFill>
              </a:rPr>
              <a:t>con </a:t>
            </a:r>
            <a:r>
              <a:rPr u="none" dirty="0" err="1">
                <a:solidFill>
                  <a:srgbClr val="31859C"/>
                </a:solidFill>
              </a:rPr>
              <a:t>violenza</a:t>
            </a:r>
            <a:r>
              <a:rPr u="none" dirty="0">
                <a:solidFill>
                  <a:srgbClr val="31859C"/>
                </a:solidFill>
              </a:rPr>
              <a:t> o </a:t>
            </a:r>
            <a:r>
              <a:rPr u="none" dirty="0" err="1">
                <a:solidFill>
                  <a:srgbClr val="31859C"/>
                </a:solidFill>
              </a:rPr>
              <a:t>minaccia</a:t>
            </a:r>
            <a:r>
              <a:rPr b="0" u="none" dirty="0"/>
              <a:t>, </a:t>
            </a:r>
            <a:r>
              <a:rPr dirty="0">
                <a:solidFill>
                  <a:srgbClr val="31859C"/>
                </a:solidFill>
              </a:rPr>
              <a:t>COSTRINGA</a:t>
            </a:r>
            <a:r>
              <a:rPr u="none" dirty="0">
                <a:solidFill>
                  <a:srgbClr val="31859C"/>
                </a:solidFill>
              </a:rPr>
              <a:t> </a:t>
            </a:r>
            <a:r>
              <a:rPr u="none" dirty="0" err="1">
                <a:solidFill>
                  <a:srgbClr val="31859C"/>
                </a:solidFill>
              </a:rPr>
              <a:t>taluno</a:t>
            </a:r>
            <a:r>
              <a:rPr u="none" dirty="0">
                <a:solidFill>
                  <a:srgbClr val="31859C"/>
                </a:solidFill>
              </a:rPr>
              <a:t> </a:t>
            </a:r>
            <a:r>
              <a:rPr dirty="0">
                <a:solidFill>
                  <a:srgbClr val="31859C"/>
                </a:solidFill>
              </a:rPr>
              <a:t>A FARE OD OMETTERE QUALCOSA</a:t>
            </a:r>
            <a:r>
              <a:rPr b="0" u="none" dirty="0"/>
              <a:t>, </a:t>
            </a:r>
            <a:r>
              <a:rPr u="none" dirty="0" err="1">
                <a:solidFill>
                  <a:srgbClr val="31859C"/>
                </a:solidFill>
              </a:rPr>
              <a:t>procurando</a:t>
            </a:r>
            <a:r>
              <a:rPr u="none" dirty="0">
                <a:solidFill>
                  <a:srgbClr val="31859C"/>
                </a:solidFill>
              </a:rPr>
              <a:t> a </a:t>
            </a:r>
            <a:r>
              <a:rPr u="none" dirty="0" err="1">
                <a:solidFill>
                  <a:srgbClr val="31859C"/>
                </a:solidFill>
              </a:rPr>
              <a:t>sé</a:t>
            </a:r>
            <a:r>
              <a:rPr u="none" dirty="0">
                <a:solidFill>
                  <a:srgbClr val="31859C"/>
                </a:solidFill>
              </a:rPr>
              <a:t> o ad </a:t>
            </a:r>
            <a:r>
              <a:rPr u="none" dirty="0" err="1">
                <a:solidFill>
                  <a:srgbClr val="31859C"/>
                </a:solidFill>
              </a:rPr>
              <a:t>altri</a:t>
            </a:r>
            <a:r>
              <a:rPr u="none" dirty="0">
                <a:solidFill>
                  <a:srgbClr val="31859C"/>
                </a:solidFill>
              </a:rPr>
              <a:t> un </a:t>
            </a:r>
            <a:r>
              <a:rPr u="none" dirty="0" err="1">
                <a:solidFill>
                  <a:srgbClr val="31859C"/>
                </a:solidFill>
              </a:rPr>
              <a:t>ingiusto</a:t>
            </a:r>
            <a:r>
              <a:rPr u="none" dirty="0">
                <a:solidFill>
                  <a:srgbClr val="31859C"/>
                </a:solidFill>
              </a:rPr>
              <a:t> </a:t>
            </a:r>
            <a:r>
              <a:rPr u="none" dirty="0" err="1">
                <a:solidFill>
                  <a:srgbClr val="31859C"/>
                </a:solidFill>
              </a:rPr>
              <a:t>profitto</a:t>
            </a:r>
            <a:r>
              <a:rPr u="none" dirty="0">
                <a:solidFill>
                  <a:srgbClr val="31859C"/>
                </a:solidFill>
              </a:rPr>
              <a:t> ed </a:t>
            </a:r>
            <a:r>
              <a:rPr u="none" dirty="0" err="1">
                <a:solidFill>
                  <a:srgbClr val="31859C"/>
                </a:solidFill>
              </a:rPr>
              <a:t>arrecando</a:t>
            </a:r>
            <a:r>
              <a:rPr u="none" dirty="0">
                <a:solidFill>
                  <a:srgbClr val="31859C"/>
                </a:solidFill>
              </a:rPr>
              <a:t> un </a:t>
            </a:r>
            <a:r>
              <a:rPr u="none" dirty="0" err="1">
                <a:solidFill>
                  <a:srgbClr val="31859C"/>
                </a:solidFill>
              </a:rPr>
              <a:t>danno</a:t>
            </a:r>
            <a:r>
              <a:rPr u="none" dirty="0">
                <a:solidFill>
                  <a:srgbClr val="31859C"/>
                </a:solidFill>
              </a:rPr>
              <a:t> al </a:t>
            </a:r>
            <a:r>
              <a:rPr u="none" dirty="0" err="1">
                <a:solidFill>
                  <a:srgbClr val="31859C"/>
                </a:solidFill>
              </a:rPr>
              <a:t>soggetto</a:t>
            </a:r>
            <a:r>
              <a:rPr u="none" dirty="0">
                <a:solidFill>
                  <a:srgbClr val="31859C"/>
                </a:solidFill>
              </a:rPr>
              <a:t> </a:t>
            </a:r>
            <a:r>
              <a:rPr u="none" dirty="0" err="1">
                <a:solidFill>
                  <a:srgbClr val="31859C"/>
                </a:solidFill>
              </a:rPr>
              <a:t>passivo</a:t>
            </a:r>
            <a:r>
              <a:rPr b="0" u="none" dirty="0"/>
              <a:t>, </a:t>
            </a:r>
            <a:r>
              <a:rPr b="0" u="none" dirty="0" err="1"/>
              <a:t>inducendo</a:t>
            </a:r>
            <a:r>
              <a:rPr b="0" u="none" dirty="0"/>
              <a:t> </a:t>
            </a:r>
            <a:r>
              <a:rPr b="0" u="none" dirty="0" err="1"/>
              <a:t>quest’ultimo</a:t>
            </a:r>
            <a:r>
              <a:rPr b="0" u="none" dirty="0"/>
              <a:t> a </a:t>
            </a:r>
            <a:r>
              <a:rPr b="0" u="none" dirty="0" err="1"/>
              <a:t>delle</a:t>
            </a:r>
            <a:r>
              <a:rPr b="0" u="none" dirty="0"/>
              <a:t> </a:t>
            </a:r>
            <a:r>
              <a:rPr b="0" u="none" dirty="0" err="1"/>
              <a:t>scelte</a:t>
            </a:r>
            <a:r>
              <a:rPr b="0" u="none" dirty="0"/>
              <a:t> “</a:t>
            </a:r>
            <a:r>
              <a:rPr b="0" u="none" dirty="0" err="1"/>
              <a:t>obbligate</a:t>
            </a:r>
            <a:r>
              <a:rPr b="0" u="none" dirty="0"/>
              <a:t>”. </a:t>
            </a:r>
          </a:p>
          <a:p>
            <a:pPr algn="just">
              <a:lnSpc>
                <a:spcPct val="114000"/>
              </a:lnSpc>
              <a:spcBef>
                <a:spcPts val="1200"/>
              </a:spcBef>
              <a:defRPr sz="2200" b="0">
                <a:latin typeface="Times New Roman"/>
                <a:ea typeface="Times New Roman"/>
                <a:cs typeface="Times New Roman"/>
                <a:sym typeface="Times New Roman"/>
              </a:defRPr>
            </a:pPr>
            <a:endParaRPr b="0" u="none" dirty="0"/>
          </a:p>
          <a:p>
            <a:pPr algn="just">
              <a:lnSpc>
                <a:spcPct val="114000"/>
              </a:lnSpc>
              <a:spcBef>
                <a:spcPts val="1200"/>
              </a:spcBef>
              <a:defRPr sz="2200" b="0" i="1">
                <a:latin typeface="Times New Roman"/>
                <a:ea typeface="Times New Roman"/>
                <a:cs typeface="Times New Roman"/>
                <a:sym typeface="Times New Roman"/>
              </a:defRPr>
            </a:pPr>
            <a:r>
              <a:rPr dirty="0"/>
              <a:t>Es. </a:t>
            </a:r>
            <a:r>
              <a:rPr dirty="0" err="1"/>
              <a:t>costringo</a:t>
            </a:r>
            <a:r>
              <a:rPr dirty="0"/>
              <a:t> </a:t>
            </a:r>
            <a:r>
              <a:rPr dirty="0" err="1"/>
              <a:t>il</a:t>
            </a:r>
            <a:r>
              <a:rPr dirty="0"/>
              <a:t> </a:t>
            </a:r>
            <a:r>
              <a:rPr dirty="0" err="1"/>
              <a:t>soggetto</a:t>
            </a:r>
            <a:r>
              <a:rPr dirty="0"/>
              <a:t> ad </a:t>
            </a:r>
            <a:r>
              <a:rPr dirty="0" err="1"/>
              <a:t>effettuare</a:t>
            </a:r>
            <a:r>
              <a:rPr dirty="0"/>
              <a:t> un </a:t>
            </a:r>
            <a:r>
              <a:rPr dirty="0" err="1"/>
              <a:t>atto</a:t>
            </a:r>
            <a:r>
              <a:rPr dirty="0"/>
              <a:t> di </a:t>
            </a:r>
            <a:r>
              <a:rPr dirty="0" err="1"/>
              <a:t>disposizione</a:t>
            </a:r>
            <a:r>
              <a:rPr dirty="0"/>
              <a:t> </a:t>
            </a:r>
            <a:r>
              <a:rPr dirty="0" err="1"/>
              <a:t>patrimoniale</a:t>
            </a:r>
            <a:r>
              <a:rPr dirty="0"/>
              <a:t> </a:t>
            </a:r>
            <a:r>
              <a:rPr u="sng" dirty="0" err="1">
                <a:solidFill>
                  <a:srgbClr val="FF0000"/>
                </a:solidFill>
              </a:rPr>
              <a:t>positivo</a:t>
            </a:r>
            <a:r>
              <a:rPr dirty="0"/>
              <a:t> ( </a:t>
            </a:r>
            <a:r>
              <a:rPr dirty="0" err="1"/>
              <a:t>donazione</a:t>
            </a:r>
            <a:r>
              <a:rPr dirty="0"/>
              <a:t> di una </a:t>
            </a:r>
            <a:r>
              <a:rPr dirty="0" err="1"/>
              <a:t>somma</a:t>
            </a:r>
            <a:r>
              <a:rPr dirty="0"/>
              <a:t> di </a:t>
            </a:r>
            <a:r>
              <a:rPr dirty="0" err="1"/>
              <a:t>denaro</a:t>
            </a:r>
            <a:r>
              <a:rPr dirty="0"/>
              <a:t>)  o </a:t>
            </a:r>
            <a:r>
              <a:rPr u="sng" dirty="0" err="1">
                <a:solidFill>
                  <a:srgbClr val="FF0000"/>
                </a:solidFill>
              </a:rPr>
              <a:t>negativo</a:t>
            </a:r>
            <a:r>
              <a:rPr dirty="0"/>
              <a:t> ( </a:t>
            </a:r>
            <a:r>
              <a:rPr dirty="0" err="1"/>
              <a:t>Remissione</a:t>
            </a:r>
            <a:r>
              <a:rPr dirty="0"/>
              <a:t> di un </a:t>
            </a:r>
            <a:r>
              <a:rPr dirty="0" err="1"/>
              <a:t>debito</a:t>
            </a:r>
            <a:r>
              <a:rPr dirty="0"/>
              <a:t>).</a:t>
            </a:r>
          </a:p>
        </p:txBody>
      </p:sp>
      <p:pic>
        <p:nvPicPr>
          <p:cNvPr id="299"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00"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rPr dirty="0" err="1"/>
              <a:t>Estorsione</a:t>
            </a:r>
            <a:endParaRPr dirty="0"/>
          </a:p>
        </p:txBody>
      </p:sp>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252ADD32-846B-4564-B836-014D076BF384}"/>
              </a:ext>
            </a:extLst>
          </p:cNvPr>
          <p:cNvSpPr>
            <a:spLocks noGrp="1"/>
          </p:cNvSpPr>
          <p:nvPr>
            <p:ph type="body" idx="1"/>
          </p:nvPr>
        </p:nvSpPr>
        <p:spPr>
          <a:xfrm>
            <a:off x="457200" y="936977"/>
            <a:ext cx="8229600" cy="5853925"/>
          </a:xfrm>
        </p:spPr>
        <p:txBody>
          <a:bodyPr>
            <a:normAutofit fontScale="70000" lnSpcReduction="20000"/>
          </a:bodyPr>
          <a:lstStyle/>
          <a:p>
            <a:pPr marL="0" indent="0" algn="just">
              <a:buNone/>
            </a:pPr>
            <a:r>
              <a:rPr lang="it-IT" dirty="0">
                <a:latin typeface="Book Antiqua" panose="02040602050305030304" pitchFamily="18" charset="0"/>
              </a:rPr>
              <a:t>La </a:t>
            </a:r>
            <a:r>
              <a:rPr lang="it-IT" b="1" u="sng" dirty="0">
                <a:solidFill>
                  <a:srgbClr val="FF0000"/>
                </a:solidFill>
                <a:latin typeface="Book Antiqua" panose="02040602050305030304" pitchFamily="18" charset="0"/>
              </a:rPr>
              <a:t>violenza</a:t>
            </a:r>
            <a:r>
              <a:rPr lang="it-IT" dirty="0">
                <a:latin typeface="Book Antiqua" panose="02040602050305030304" pitchFamily="18" charset="0"/>
              </a:rPr>
              <a:t> </a:t>
            </a:r>
            <a:r>
              <a:rPr lang="it-IT" dirty="0" err="1">
                <a:latin typeface="Book Antiqua" panose="02040602050305030304" pitchFamily="18" charset="0"/>
              </a:rPr>
              <a:t>dell</a:t>
            </a:r>
            <a:r>
              <a:rPr lang="ar-SA" dirty="0">
                <a:latin typeface="Book Antiqua" panose="02040602050305030304" pitchFamily="18" charset="0"/>
              </a:rPr>
              <a:t>’</a:t>
            </a:r>
            <a:r>
              <a:rPr lang="it-IT" dirty="0">
                <a:latin typeface="Book Antiqua" panose="02040602050305030304" pitchFamily="18" charset="0"/>
              </a:rPr>
              <a:t>estorsione è tipicamente detta</a:t>
            </a:r>
            <a:r>
              <a:rPr lang="it-IT" b="1" dirty="0">
                <a:latin typeface="Book Antiqua" panose="02040602050305030304" pitchFamily="18" charset="0"/>
              </a:rPr>
              <a:t> </a:t>
            </a:r>
            <a:r>
              <a:rPr lang="it-IT" b="1" u="sng" dirty="0">
                <a:solidFill>
                  <a:srgbClr val="FF0000"/>
                </a:solidFill>
                <a:latin typeface="Book Antiqua" panose="02040602050305030304" pitchFamily="18" charset="0"/>
              </a:rPr>
              <a:t>relativa</a:t>
            </a:r>
            <a:r>
              <a:rPr lang="it-IT" dirty="0">
                <a:latin typeface="Book Antiqua" panose="02040602050305030304" pitchFamily="18" charset="0"/>
              </a:rPr>
              <a:t>: essa deve costringere, lasciando però alla vittima un </a:t>
            </a:r>
            <a:r>
              <a:rPr lang="it-IT" u="sng" dirty="0">
                <a:latin typeface="Book Antiqua" panose="02040602050305030304" pitchFamily="18" charset="0"/>
              </a:rPr>
              <a:t>certo margine di scelta</a:t>
            </a:r>
            <a:r>
              <a:rPr lang="it-IT" dirty="0">
                <a:latin typeface="Book Antiqua" panose="02040602050305030304" pitchFamily="18" charset="0"/>
              </a:rPr>
              <a:t>, a fronte del quale potrà parlarsi di </a:t>
            </a:r>
            <a:r>
              <a:rPr lang="ar-SA" dirty="0">
                <a:latin typeface="Book Antiqua" panose="02040602050305030304" pitchFamily="18" charset="0"/>
              </a:rPr>
              <a:t>“</a:t>
            </a:r>
            <a:r>
              <a:rPr lang="it-IT" dirty="0">
                <a:latin typeface="Book Antiqua" panose="02040602050305030304" pitchFamily="18" charset="0"/>
              </a:rPr>
              <a:t>cooperazione”. </a:t>
            </a:r>
          </a:p>
          <a:p>
            <a:pPr marL="0" indent="0" algn="just">
              <a:buNone/>
            </a:pPr>
            <a:r>
              <a:rPr lang="it-IT" dirty="0">
                <a:latin typeface="Book Antiqua" panose="02040602050305030304" pitchFamily="18" charset="0"/>
              </a:rPr>
              <a:t>Nell</a:t>
            </a:r>
            <a:r>
              <a:rPr lang="ar-SA" dirty="0">
                <a:latin typeface="Book Antiqua" panose="02040602050305030304" pitchFamily="18" charset="0"/>
              </a:rPr>
              <a:t>’</a:t>
            </a:r>
            <a:r>
              <a:rPr lang="it-IT" dirty="0">
                <a:latin typeface="Book Antiqua" panose="02040602050305030304" pitchFamily="18" charset="0"/>
              </a:rPr>
              <a:t>estorsione, dunque, è sempre necessaria la </a:t>
            </a:r>
            <a:r>
              <a:rPr lang="ar-SA" dirty="0">
                <a:latin typeface="Book Antiqua" panose="02040602050305030304" pitchFamily="18" charset="0"/>
              </a:rPr>
              <a:t>“</a:t>
            </a:r>
            <a:r>
              <a:rPr lang="it-IT" dirty="0">
                <a:latin typeface="Book Antiqua" panose="02040602050305030304" pitchFamily="18" charset="0"/>
              </a:rPr>
              <a:t>collaborazione”, sia pure artificiosa della vittima.</a:t>
            </a:r>
          </a:p>
          <a:p>
            <a:pPr marL="0" indent="0" algn="just">
              <a:buNone/>
            </a:pPr>
            <a:r>
              <a:rPr lang="it-IT" dirty="0">
                <a:latin typeface="Book Antiqua" panose="02040602050305030304" pitchFamily="18" charset="0"/>
              </a:rPr>
              <a:t> La violenza </a:t>
            </a:r>
            <a:r>
              <a:rPr lang="it-IT" dirty="0" err="1">
                <a:latin typeface="Book Antiqua" panose="02040602050305030304" pitchFamily="18" charset="0"/>
              </a:rPr>
              <a:t>nell</a:t>
            </a:r>
            <a:r>
              <a:rPr lang="ar-SA" dirty="0">
                <a:latin typeface="Book Antiqua" panose="02040602050305030304" pitchFamily="18" charset="0"/>
              </a:rPr>
              <a:t>’</a:t>
            </a:r>
            <a:r>
              <a:rPr lang="it-IT" dirty="0">
                <a:latin typeface="Book Antiqua" panose="02040602050305030304" pitchFamily="18" charset="0"/>
              </a:rPr>
              <a:t>estorsione non può, </a:t>
            </a:r>
            <a:r>
              <a:rPr lang="it-IT" u="sng" dirty="0">
                <a:latin typeface="Book Antiqua" panose="02040602050305030304" pitchFamily="18" charset="0"/>
              </a:rPr>
              <a:t>a differenza della rapina</a:t>
            </a:r>
            <a:r>
              <a:rPr lang="it-IT" dirty="0">
                <a:latin typeface="Book Antiqua" panose="02040602050305030304" pitchFamily="18" charset="0"/>
              </a:rPr>
              <a:t>, essere quella </a:t>
            </a:r>
            <a:r>
              <a:rPr lang="it-IT" u="sng" dirty="0">
                <a:latin typeface="Book Antiqua" panose="02040602050305030304" pitchFamily="18" charset="0"/>
              </a:rPr>
              <a:t>assoluta</a:t>
            </a:r>
            <a:r>
              <a:rPr lang="it-IT" dirty="0">
                <a:latin typeface="Book Antiqua" panose="02040602050305030304" pitchFamily="18" charset="0"/>
              </a:rPr>
              <a:t>, quella cioè che annienta del tutto la volontà del soggetto passivo.</a:t>
            </a:r>
          </a:p>
          <a:p>
            <a:pPr marL="0" indent="0" algn="just">
              <a:buNone/>
            </a:pPr>
            <a:endParaRPr lang="it-IT" dirty="0">
              <a:latin typeface="Book Antiqua" panose="02040602050305030304" pitchFamily="18" charset="0"/>
            </a:endParaRPr>
          </a:p>
          <a:p>
            <a:pPr marL="0" indent="0" algn="just">
              <a:buNone/>
            </a:pPr>
            <a:r>
              <a:rPr lang="fr-FR" dirty="0">
                <a:latin typeface="Book Antiqua" panose="02040602050305030304" pitchFamily="18" charset="0"/>
              </a:rPr>
              <a:t>La </a:t>
            </a:r>
            <a:r>
              <a:rPr lang="it-IT" b="1" u="sng" dirty="0">
                <a:solidFill>
                  <a:srgbClr val="7030A0"/>
                </a:solidFill>
                <a:latin typeface="Book Antiqua" panose="02040602050305030304" pitchFamily="18" charset="0"/>
              </a:rPr>
              <a:t>minaccia</a:t>
            </a:r>
            <a:r>
              <a:rPr lang="it-IT" dirty="0">
                <a:latin typeface="Book Antiqua" panose="02040602050305030304" pitchFamily="18" charset="0"/>
              </a:rPr>
              <a:t> è la prospettazione di un male futuro la cui verificazione dipende dalla volontà </a:t>
            </a:r>
            <a:r>
              <a:rPr lang="it-IT" dirty="0" err="1">
                <a:latin typeface="Book Antiqua" panose="02040602050305030304" pitchFamily="18" charset="0"/>
              </a:rPr>
              <a:t>dell</a:t>
            </a:r>
            <a:r>
              <a:rPr lang="ar-SA" dirty="0">
                <a:latin typeface="Book Antiqua" panose="02040602050305030304" pitchFamily="18" charset="0"/>
              </a:rPr>
              <a:t>’</a:t>
            </a:r>
            <a:r>
              <a:rPr lang="it-IT" dirty="0">
                <a:latin typeface="Book Antiqua" panose="02040602050305030304" pitchFamily="18" charset="0"/>
              </a:rPr>
              <a:t>autore. Può consistere nel prospettare sia un</a:t>
            </a:r>
            <a:r>
              <a:rPr lang="ar-SA" dirty="0">
                <a:latin typeface="Book Antiqua" panose="02040602050305030304" pitchFamily="18" charset="0"/>
              </a:rPr>
              <a:t>’</a:t>
            </a:r>
            <a:r>
              <a:rPr lang="it-IT" dirty="0">
                <a:latin typeface="Book Antiqua" panose="02040602050305030304" pitchFamily="18" charset="0"/>
              </a:rPr>
              <a:t>azione (bomba nel negozio) che una omissione. </a:t>
            </a:r>
          </a:p>
          <a:p>
            <a:pPr marL="0" indent="0" algn="just">
              <a:buNone/>
            </a:pPr>
            <a:r>
              <a:rPr lang="it-IT" dirty="0">
                <a:latin typeface="Book Antiqua" panose="02040602050305030304" pitchFamily="18" charset="0"/>
              </a:rPr>
              <a:t>L</a:t>
            </a:r>
            <a:r>
              <a:rPr lang="ar-SA" dirty="0">
                <a:latin typeface="Book Antiqua" panose="02040602050305030304" pitchFamily="18" charset="0"/>
              </a:rPr>
              <a:t>’</a:t>
            </a:r>
            <a:r>
              <a:rPr lang="it-IT" dirty="0">
                <a:latin typeface="Book Antiqua" panose="02040602050305030304" pitchFamily="18" charset="0"/>
              </a:rPr>
              <a:t>omissione rilevante è quella concernente il non impedire un male che si ha l</a:t>
            </a:r>
            <a:r>
              <a:rPr lang="ar-SA" dirty="0">
                <a:latin typeface="Book Antiqua" panose="02040602050305030304" pitchFamily="18" charset="0"/>
              </a:rPr>
              <a:t>’</a:t>
            </a:r>
            <a:r>
              <a:rPr lang="it-IT" dirty="0">
                <a:latin typeface="Book Antiqua" panose="02040602050305030304" pitchFamily="18" charset="0"/>
              </a:rPr>
              <a:t>obbligo giuridico di impedire. </a:t>
            </a:r>
            <a:r>
              <a:rPr lang="it-IT" i="1" dirty="0">
                <a:latin typeface="Book Antiqua" panose="02040602050305030304" pitchFamily="18" charset="0"/>
              </a:rPr>
              <a:t>Ad es., Tizio minaccia di interrompere la fornitura di materiali cui è tenuto per contratto, ottenendo dalla controparte Caio, pressato dalla necessità di non interrompere la sua attività produttiva, il pagamento di un corrispettivo triplo rispetto a quanto convenuto.</a:t>
            </a:r>
            <a:endParaRPr lang="it-IT" dirty="0">
              <a:latin typeface="Book Antiqua" panose="02040602050305030304" pitchFamily="18" charset="0"/>
            </a:endParaRPr>
          </a:p>
          <a:p>
            <a:endParaRPr lang="it-IT" dirty="0"/>
          </a:p>
        </p:txBody>
      </p:sp>
      <p:sp>
        <p:nvSpPr>
          <p:cNvPr id="4" name="Text Box 5">
            <a:extLst>
              <a:ext uri="{FF2B5EF4-FFF2-40B4-BE49-F238E27FC236}">
                <a16:creationId xmlns:a16="http://schemas.microsoft.com/office/drawing/2014/main" id="{BBA1EA85-E5BC-4281-B0ED-CFB5D69A6E0A}"/>
              </a:ext>
            </a:extLst>
          </p:cNvPr>
          <p:cNvSpPr txBox="1">
            <a:spLocks noGrp="1"/>
          </p:cNvSpPr>
          <p:nvPr>
            <p:ph type="title"/>
          </p:nvPr>
        </p:nvSpPr>
        <p:spPr>
          <a:xfrm>
            <a:off x="777550" y="149386"/>
            <a:ext cx="8229600" cy="582451"/>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pPr algn="l"/>
            <a:r>
              <a:rPr dirty="0" err="1"/>
              <a:t>Estorsione</a:t>
            </a:r>
            <a:endParaRPr dirty="0"/>
          </a:p>
        </p:txBody>
      </p:sp>
      <p:pic>
        <p:nvPicPr>
          <p:cNvPr id="5" name="Immagine 6" descr="Immagine 6">
            <a:extLst>
              <a:ext uri="{FF2B5EF4-FFF2-40B4-BE49-F238E27FC236}">
                <a16:creationId xmlns:a16="http://schemas.microsoft.com/office/drawing/2014/main" id="{70509186-51CD-4A8B-8EFC-C0746A37BBBC}"/>
              </a:ext>
            </a:extLst>
          </p:cNvPr>
          <p:cNvPicPr>
            <a:picLocks noChangeAspect="1"/>
          </p:cNvPicPr>
          <p:nvPr/>
        </p:nvPicPr>
        <p:blipFill>
          <a:blip r:embed="rId2"/>
          <a:stretch>
            <a:fillRect/>
          </a:stretch>
        </p:blipFill>
        <p:spPr>
          <a:xfrm>
            <a:off x="136850" y="67097"/>
            <a:ext cx="435671" cy="753167"/>
          </a:xfrm>
          <a:prstGeom prst="rect">
            <a:avLst/>
          </a:prstGeom>
          <a:ln w="12700">
            <a:miter lim="400000"/>
          </a:ln>
        </p:spPr>
      </p:pic>
    </p:spTree>
    <p:extLst>
      <p:ext uri="{BB962C8B-B14F-4D97-AF65-F5344CB8AC3E}">
        <p14:creationId xmlns:p14="http://schemas.microsoft.com/office/powerpoint/2010/main" val="1933832463"/>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0C4C5A1E-BDAB-4A64-B9B2-FB2090BD8D5C}"/>
              </a:ext>
            </a:extLst>
          </p:cNvPr>
          <p:cNvSpPr>
            <a:spLocks noGrp="1"/>
          </p:cNvSpPr>
          <p:nvPr>
            <p:ph type="body" idx="1"/>
          </p:nvPr>
        </p:nvSpPr>
        <p:spPr>
          <a:xfrm>
            <a:off x="457200" y="1117600"/>
            <a:ext cx="8229600" cy="5008563"/>
          </a:xfrm>
        </p:spPr>
        <p:txBody>
          <a:bodyPr>
            <a:normAutofit fontScale="92500" lnSpcReduction="20000"/>
          </a:bodyPr>
          <a:lstStyle/>
          <a:p>
            <a:pPr marL="0" indent="0" algn="just">
              <a:buNone/>
            </a:pPr>
            <a:r>
              <a:rPr lang="it-IT" b="1" dirty="0">
                <a:latin typeface="Book Antiqua" panose="02040602050305030304" pitchFamily="18" charset="0"/>
              </a:rPr>
              <a:t>L</a:t>
            </a:r>
            <a:r>
              <a:rPr lang="ar-SA" b="1" dirty="0">
                <a:latin typeface="Book Antiqua" panose="02040602050305030304" pitchFamily="18" charset="0"/>
              </a:rPr>
              <a:t>’</a:t>
            </a:r>
            <a:r>
              <a:rPr lang="it-IT" b="1" dirty="0">
                <a:latin typeface="Book Antiqua" panose="02040602050305030304" pitchFamily="18" charset="0"/>
              </a:rPr>
              <a:t>Atto di disposizione patrimoniale</a:t>
            </a:r>
          </a:p>
          <a:p>
            <a:pPr marL="0" indent="0" algn="just">
              <a:buNone/>
            </a:pPr>
            <a:endParaRPr lang="it-IT" dirty="0">
              <a:latin typeface="Book Antiqua" panose="02040602050305030304" pitchFamily="18" charset="0"/>
            </a:endParaRPr>
          </a:p>
          <a:p>
            <a:pPr marL="0" indent="0" algn="just">
              <a:buNone/>
            </a:pPr>
            <a:r>
              <a:rPr lang="it-IT" dirty="0">
                <a:latin typeface="Book Antiqua" panose="02040602050305030304" pitchFamily="18" charset="0"/>
              </a:rPr>
              <a:t>Esso può consistere innanzitutto in un </a:t>
            </a:r>
            <a:r>
              <a:rPr lang="it-IT" b="1" u="sng" dirty="0">
                <a:solidFill>
                  <a:srgbClr val="FF0000"/>
                </a:solidFill>
                <a:latin typeface="Book Antiqua" panose="02040602050305030304" pitchFamily="18" charset="0"/>
              </a:rPr>
              <a:t>fare</a:t>
            </a:r>
            <a:r>
              <a:rPr lang="it-IT" dirty="0">
                <a:latin typeface="Book Antiqua" panose="02040602050305030304" pitchFamily="18" charset="0"/>
              </a:rPr>
              <a:t>, da intendersi sia come </a:t>
            </a:r>
            <a:r>
              <a:rPr lang="it-IT" u="sng" dirty="0">
                <a:latin typeface="Book Antiqua" panose="02040602050305030304" pitchFamily="18" charset="0"/>
              </a:rPr>
              <a:t>dare</a:t>
            </a:r>
            <a:r>
              <a:rPr lang="it-IT" dirty="0">
                <a:latin typeface="Book Antiqua" panose="02040602050305030304" pitchFamily="18" charset="0"/>
              </a:rPr>
              <a:t>, sia come vero e proprio </a:t>
            </a:r>
            <a:r>
              <a:rPr lang="it-IT" u="sng" dirty="0">
                <a:latin typeface="Book Antiqua" panose="02040602050305030304" pitchFamily="18" charset="0"/>
              </a:rPr>
              <a:t>facere</a:t>
            </a:r>
            <a:r>
              <a:rPr lang="it-IT" dirty="0">
                <a:latin typeface="Book Antiqua" panose="02040602050305030304" pitchFamily="18" charset="0"/>
              </a:rPr>
              <a:t> (corrispondere una somma di denaro, ritirarsi da una gara d</a:t>
            </a:r>
            <a:r>
              <a:rPr lang="ar-SA" dirty="0">
                <a:latin typeface="Book Antiqua" panose="02040602050305030304" pitchFamily="18" charset="0"/>
              </a:rPr>
              <a:t>’</a:t>
            </a:r>
            <a:r>
              <a:rPr lang="it-IT" dirty="0">
                <a:latin typeface="Book Antiqua" panose="02040602050305030304" pitchFamily="18" charset="0"/>
              </a:rPr>
              <a:t>appalto). </a:t>
            </a:r>
          </a:p>
          <a:p>
            <a:pPr marL="0" indent="0" algn="just">
              <a:buNone/>
            </a:pPr>
            <a:endParaRPr lang="it-IT" dirty="0">
              <a:latin typeface="Book Antiqua" panose="02040602050305030304" pitchFamily="18" charset="0"/>
            </a:endParaRPr>
          </a:p>
          <a:p>
            <a:pPr marL="0" indent="0" algn="just">
              <a:buNone/>
            </a:pPr>
            <a:r>
              <a:rPr lang="it-IT" dirty="0">
                <a:latin typeface="Book Antiqua" panose="02040602050305030304" pitchFamily="18" charset="0"/>
              </a:rPr>
              <a:t>L</a:t>
            </a:r>
            <a:r>
              <a:rPr lang="ar-SA" dirty="0">
                <a:latin typeface="Book Antiqua" panose="02040602050305030304" pitchFamily="18" charset="0"/>
              </a:rPr>
              <a:t>’</a:t>
            </a:r>
            <a:r>
              <a:rPr lang="it-IT" dirty="0">
                <a:latin typeface="Book Antiqua" panose="02040602050305030304" pitchFamily="18" charset="0"/>
              </a:rPr>
              <a:t>atto di disposizione può consistere anche in un </a:t>
            </a:r>
            <a:r>
              <a:rPr lang="it-IT" b="1" u="sng" dirty="0">
                <a:solidFill>
                  <a:srgbClr val="FF0000"/>
                </a:solidFill>
                <a:latin typeface="Book Antiqua" panose="02040602050305030304" pitchFamily="18" charset="0"/>
              </a:rPr>
              <a:t>omettere</a:t>
            </a:r>
            <a:r>
              <a:rPr lang="it-IT" dirty="0">
                <a:latin typeface="Book Antiqua" panose="02040602050305030304" pitchFamily="18" charset="0"/>
              </a:rPr>
              <a:t> (non incassare un assegno, non accettare un lucroso legato testamentario, non esercitare attività economica concorrenziale).</a:t>
            </a:r>
          </a:p>
          <a:p>
            <a:pPr marL="0" indent="0" algn="just">
              <a:buNone/>
            </a:pPr>
            <a:r>
              <a:rPr lang="it-IT" b="1" dirty="0">
                <a:latin typeface="Book Antiqua" panose="02040602050305030304" pitchFamily="18" charset="0"/>
              </a:rPr>
              <a:t> </a:t>
            </a:r>
            <a:endParaRPr lang="it-IT" dirty="0">
              <a:latin typeface="Book Antiqua" panose="02040602050305030304" pitchFamily="18" charset="0"/>
            </a:endParaRPr>
          </a:p>
          <a:p>
            <a:endParaRPr lang="it-IT" dirty="0"/>
          </a:p>
        </p:txBody>
      </p:sp>
      <p:sp>
        <p:nvSpPr>
          <p:cNvPr id="4" name="Text Box 5">
            <a:extLst>
              <a:ext uri="{FF2B5EF4-FFF2-40B4-BE49-F238E27FC236}">
                <a16:creationId xmlns:a16="http://schemas.microsoft.com/office/drawing/2014/main" id="{7D62DBB6-5F99-411C-823B-197A03C2CB3B}"/>
              </a:ext>
            </a:extLst>
          </p:cNvPr>
          <p:cNvSpPr txBox="1">
            <a:spLocks noGrp="1"/>
          </p:cNvSpPr>
          <p:nvPr>
            <p:ph type="title"/>
          </p:nvPr>
        </p:nvSpPr>
        <p:spPr>
          <a:xfrm>
            <a:off x="777550" y="-127820"/>
            <a:ext cx="8229600" cy="1143000"/>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pPr algn="l"/>
            <a:r>
              <a:rPr dirty="0" err="1"/>
              <a:t>Estorsione</a:t>
            </a:r>
            <a:endParaRPr dirty="0"/>
          </a:p>
        </p:txBody>
      </p:sp>
      <p:pic>
        <p:nvPicPr>
          <p:cNvPr id="5" name="Immagine 6" descr="Immagine 6">
            <a:extLst>
              <a:ext uri="{FF2B5EF4-FFF2-40B4-BE49-F238E27FC236}">
                <a16:creationId xmlns:a16="http://schemas.microsoft.com/office/drawing/2014/main" id="{2AADD2D3-3371-4891-A318-0EBB24AD07BE}"/>
              </a:ext>
            </a:extLst>
          </p:cNvPr>
          <p:cNvPicPr>
            <a:picLocks noChangeAspect="1"/>
          </p:cNvPicPr>
          <p:nvPr/>
        </p:nvPicPr>
        <p:blipFill>
          <a:blip r:embed="rId2"/>
          <a:stretch>
            <a:fillRect/>
          </a:stretch>
        </p:blipFill>
        <p:spPr>
          <a:xfrm>
            <a:off x="136850" y="67097"/>
            <a:ext cx="435671" cy="753167"/>
          </a:xfrm>
          <a:prstGeom prst="rect">
            <a:avLst/>
          </a:prstGeom>
          <a:ln w="12700">
            <a:miter lim="400000"/>
          </a:ln>
        </p:spPr>
      </p:pic>
    </p:spTree>
    <p:extLst>
      <p:ext uri="{BB962C8B-B14F-4D97-AF65-F5344CB8AC3E}">
        <p14:creationId xmlns:p14="http://schemas.microsoft.com/office/powerpoint/2010/main" val="217269945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2" name="Estorsione"/>
          <p:cNvSpPr txBox="1">
            <a:spLocks noGrp="1"/>
          </p:cNvSpPr>
          <p:nvPr>
            <p:ph type="title"/>
          </p:nvPr>
        </p:nvSpPr>
        <p:spPr>
          <a:xfrm>
            <a:off x="785993" y="-80814"/>
            <a:ext cx="8229601" cy="1143001"/>
          </a:xfrm>
          <a:prstGeom prst="rect">
            <a:avLst/>
          </a:prstGeom>
        </p:spPr>
        <p:txBody>
          <a:bodyPr/>
          <a:lstStyle>
            <a:lvl1pPr algn="l">
              <a:defRPr sz="3200">
                <a:solidFill>
                  <a:srgbClr val="FFFFFF"/>
                </a:solidFill>
                <a:latin typeface="Book Antiqua"/>
                <a:ea typeface="Book Antiqua"/>
                <a:cs typeface="Book Antiqua"/>
                <a:sym typeface="Book Antiqua"/>
              </a:defRPr>
            </a:lvl1pPr>
          </a:lstStyle>
          <a:p>
            <a:r>
              <a:t>Estorsione</a:t>
            </a:r>
          </a:p>
        </p:txBody>
      </p:sp>
      <p:sp>
        <p:nvSpPr>
          <p:cNvPr id="303" name="ELEMENTO SOGGETTIVO: è il DOLO GENERICO, e non il dolo specifico, dato che il conseguimento del profitto con altrui danno rappresenta l'evento stesso del reato.…"/>
          <p:cNvSpPr txBox="1">
            <a:spLocks noGrp="1"/>
          </p:cNvSpPr>
          <p:nvPr>
            <p:ph type="body" idx="1"/>
          </p:nvPr>
        </p:nvSpPr>
        <p:spPr>
          <a:xfrm>
            <a:off x="457200" y="1600200"/>
            <a:ext cx="8229600" cy="4525963"/>
          </a:xfrm>
          <a:prstGeom prst="rect">
            <a:avLst/>
          </a:prstGeom>
        </p:spPr>
        <p:txBody>
          <a:bodyPr/>
          <a:lstStyle/>
          <a:p>
            <a:pPr marL="0" indent="0" algn="just">
              <a:lnSpc>
                <a:spcPct val="114000"/>
              </a:lnSpc>
              <a:spcBef>
                <a:spcPts val="600"/>
              </a:spcBef>
              <a:buSzTx/>
              <a:buNone/>
              <a:defRPr sz="2200" b="1" u="sng">
                <a:latin typeface="Times New Roman"/>
                <a:ea typeface="Times New Roman"/>
                <a:cs typeface="Times New Roman"/>
                <a:sym typeface="Times New Roman"/>
              </a:defRPr>
            </a:pPr>
            <a:r>
              <a:rPr dirty="0"/>
              <a:t>ELEMENTO SOGGETTIVO</a:t>
            </a:r>
            <a:r>
              <a:rPr b="0" u="none" dirty="0"/>
              <a:t>: è </a:t>
            </a:r>
            <a:r>
              <a:rPr b="0" u="none" dirty="0" err="1"/>
              <a:t>il</a:t>
            </a:r>
            <a:r>
              <a:rPr b="0" u="none" dirty="0"/>
              <a:t> </a:t>
            </a:r>
            <a:r>
              <a:rPr u="none" dirty="0">
                <a:solidFill>
                  <a:srgbClr val="31859C"/>
                </a:solidFill>
              </a:rPr>
              <a:t>DOLO GENERICO, </a:t>
            </a:r>
            <a:r>
              <a:rPr b="0" dirty="0"/>
              <a:t>e non </a:t>
            </a:r>
            <a:r>
              <a:rPr b="0" dirty="0" err="1"/>
              <a:t>il</a:t>
            </a:r>
            <a:r>
              <a:rPr b="0" dirty="0"/>
              <a:t> </a:t>
            </a:r>
            <a:r>
              <a:rPr b="0" dirty="0" err="1"/>
              <a:t>dolo</a:t>
            </a:r>
            <a:r>
              <a:rPr b="0" dirty="0"/>
              <a:t> </a:t>
            </a:r>
            <a:r>
              <a:rPr b="0" dirty="0" err="1"/>
              <a:t>specifico</a:t>
            </a:r>
            <a:r>
              <a:rPr b="0" dirty="0"/>
              <a:t>,</a:t>
            </a:r>
            <a:r>
              <a:rPr b="0" u="none" dirty="0"/>
              <a:t> </a:t>
            </a:r>
            <a:r>
              <a:rPr b="0" u="none" dirty="0" err="1"/>
              <a:t>dato</a:t>
            </a:r>
            <a:r>
              <a:rPr b="0" u="none" dirty="0"/>
              <a:t> </a:t>
            </a:r>
            <a:r>
              <a:rPr b="0" u="none" dirty="0" err="1"/>
              <a:t>che</a:t>
            </a:r>
            <a:r>
              <a:rPr b="0" u="none" dirty="0"/>
              <a:t> </a:t>
            </a:r>
            <a:r>
              <a:rPr b="0" u="none" dirty="0" err="1"/>
              <a:t>il</a:t>
            </a:r>
            <a:r>
              <a:rPr b="0" u="none" dirty="0"/>
              <a:t> </a:t>
            </a:r>
            <a:r>
              <a:rPr u="none" dirty="0" err="1">
                <a:solidFill>
                  <a:srgbClr val="31859C"/>
                </a:solidFill>
              </a:rPr>
              <a:t>conseguimento</a:t>
            </a:r>
            <a:r>
              <a:rPr u="none" dirty="0">
                <a:solidFill>
                  <a:srgbClr val="31859C"/>
                </a:solidFill>
              </a:rPr>
              <a:t> del </a:t>
            </a:r>
            <a:r>
              <a:rPr u="none" dirty="0" err="1">
                <a:solidFill>
                  <a:srgbClr val="31859C"/>
                </a:solidFill>
              </a:rPr>
              <a:t>profitto</a:t>
            </a:r>
            <a:r>
              <a:rPr u="none" dirty="0">
                <a:solidFill>
                  <a:srgbClr val="31859C"/>
                </a:solidFill>
              </a:rPr>
              <a:t> </a:t>
            </a:r>
            <a:r>
              <a:rPr u="none" dirty="0"/>
              <a:t>con </a:t>
            </a:r>
            <a:r>
              <a:rPr u="none" dirty="0" err="1"/>
              <a:t>altrui</a:t>
            </a:r>
            <a:r>
              <a:rPr u="none" dirty="0"/>
              <a:t> </a:t>
            </a:r>
            <a:r>
              <a:rPr u="none" dirty="0" err="1"/>
              <a:t>danno</a:t>
            </a:r>
            <a:r>
              <a:rPr u="none" dirty="0"/>
              <a:t> </a:t>
            </a:r>
            <a:r>
              <a:rPr u="none" dirty="0" err="1"/>
              <a:t>rappresenta</a:t>
            </a:r>
            <a:r>
              <a:rPr u="none" dirty="0"/>
              <a:t> </a:t>
            </a:r>
            <a:r>
              <a:rPr u="none" dirty="0" err="1">
                <a:solidFill>
                  <a:srgbClr val="31859C"/>
                </a:solidFill>
              </a:rPr>
              <a:t>l'evento</a:t>
            </a:r>
            <a:r>
              <a:rPr u="none" dirty="0"/>
              <a:t> </a:t>
            </a:r>
            <a:r>
              <a:rPr u="none" dirty="0" err="1"/>
              <a:t>stesso</a:t>
            </a:r>
            <a:r>
              <a:rPr u="none" dirty="0"/>
              <a:t> del </a:t>
            </a:r>
            <a:r>
              <a:rPr u="none" dirty="0" err="1"/>
              <a:t>reato</a:t>
            </a:r>
            <a:r>
              <a:rPr u="none" dirty="0"/>
              <a:t>. </a:t>
            </a:r>
          </a:p>
          <a:p>
            <a:pPr marL="0" indent="0" algn="just">
              <a:lnSpc>
                <a:spcPct val="114000"/>
              </a:lnSpc>
              <a:spcBef>
                <a:spcPts val="600"/>
              </a:spcBef>
              <a:buSzTx/>
              <a:buNone/>
              <a:defRPr sz="2200">
                <a:latin typeface="Times New Roman"/>
                <a:ea typeface="Times New Roman"/>
                <a:cs typeface="Times New Roman"/>
                <a:sym typeface="Times New Roman"/>
              </a:defRPr>
            </a:pPr>
            <a:r>
              <a:rPr dirty="0"/>
              <a:t>Il </a:t>
            </a:r>
            <a:r>
              <a:rPr dirty="0" err="1"/>
              <a:t>delitto</a:t>
            </a:r>
            <a:r>
              <a:rPr dirty="0"/>
              <a:t> </a:t>
            </a:r>
            <a:r>
              <a:rPr dirty="0" err="1"/>
              <a:t>si</a:t>
            </a:r>
            <a:r>
              <a:rPr dirty="0"/>
              <a:t> </a:t>
            </a:r>
            <a:r>
              <a:rPr dirty="0" err="1"/>
              <a:t>consuma</a:t>
            </a:r>
            <a:r>
              <a:rPr dirty="0"/>
              <a:t> </a:t>
            </a:r>
            <a:r>
              <a:rPr dirty="0" err="1"/>
              <a:t>nel</a:t>
            </a:r>
            <a:r>
              <a:rPr dirty="0"/>
              <a:t> </a:t>
            </a:r>
            <a:r>
              <a:rPr dirty="0" err="1"/>
              <a:t>momento</a:t>
            </a:r>
            <a:r>
              <a:rPr dirty="0"/>
              <a:t> e </a:t>
            </a:r>
            <a:r>
              <a:rPr dirty="0" err="1"/>
              <a:t>nel</a:t>
            </a:r>
            <a:r>
              <a:rPr dirty="0"/>
              <a:t> </a:t>
            </a:r>
            <a:r>
              <a:rPr dirty="0" err="1"/>
              <a:t>luogo</a:t>
            </a:r>
            <a:r>
              <a:rPr dirty="0"/>
              <a:t> in cui </a:t>
            </a:r>
            <a:r>
              <a:rPr dirty="0" err="1"/>
              <a:t>si</a:t>
            </a:r>
            <a:r>
              <a:rPr dirty="0"/>
              <a:t> </a:t>
            </a:r>
            <a:r>
              <a:rPr dirty="0" err="1"/>
              <a:t>realizzano</a:t>
            </a:r>
            <a:r>
              <a:rPr dirty="0"/>
              <a:t> </a:t>
            </a:r>
            <a:r>
              <a:rPr dirty="0" err="1"/>
              <a:t>l’ingiusto</a:t>
            </a:r>
            <a:r>
              <a:rPr dirty="0"/>
              <a:t> </a:t>
            </a:r>
            <a:r>
              <a:rPr dirty="0" err="1"/>
              <a:t>profitto</a:t>
            </a:r>
            <a:r>
              <a:rPr dirty="0"/>
              <a:t> ed </a:t>
            </a:r>
            <a:r>
              <a:rPr dirty="0" err="1"/>
              <a:t>il</a:t>
            </a:r>
            <a:r>
              <a:rPr dirty="0"/>
              <a:t> </a:t>
            </a:r>
            <a:r>
              <a:rPr dirty="0" err="1"/>
              <a:t>danno</a:t>
            </a:r>
            <a:r>
              <a:rPr dirty="0"/>
              <a:t> </a:t>
            </a:r>
            <a:r>
              <a:rPr dirty="0" err="1"/>
              <a:t>patrimoniale</a:t>
            </a:r>
            <a:r>
              <a:rPr dirty="0"/>
              <a:t> (Cass. II 15/12/2010, n. 24353). </a:t>
            </a:r>
          </a:p>
          <a:p>
            <a:pPr marL="0" indent="0" algn="just">
              <a:lnSpc>
                <a:spcPct val="114000"/>
              </a:lnSpc>
              <a:spcBef>
                <a:spcPts val="600"/>
              </a:spcBef>
              <a:buSzTx/>
              <a:buNone/>
              <a:defRPr sz="2200">
                <a:latin typeface="Times New Roman"/>
                <a:ea typeface="Times New Roman"/>
                <a:cs typeface="Times New Roman"/>
                <a:sym typeface="Times New Roman"/>
              </a:defRPr>
            </a:pPr>
            <a:endParaRPr dirty="0"/>
          </a:p>
          <a:p>
            <a:pPr marL="0" indent="0" algn="just">
              <a:lnSpc>
                <a:spcPct val="114000"/>
              </a:lnSpc>
              <a:spcBef>
                <a:spcPts val="600"/>
              </a:spcBef>
              <a:buSzTx/>
              <a:buNone/>
              <a:defRPr sz="2200">
                <a:latin typeface="Times New Roman"/>
                <a:ea typeface="Times New Roman"/>
                <a:cs typeface="Times New Roman"/>
                <a:sym typeface="Times New Roman"/>
              </a:defRPr>
            </a:pPr>
            <a:r>
              <a:rPr dirty="0"/>
              <a:t>Il </a:t>
            </a:r>
            <a:r>
              <a:rPr dirty="0" err="1"/>
              <a:t>tentativo</a:t>
            </a:r>
            <a:r>
              <a:rPr dirty="0"/>
              <a:t> è </a:t>
            </a:r>
            <a:r>
              <a:rPr dirty="0" err="1"/>
              <a:t>configurabile</a:t>
            </a:r>
            <a:r>
              <a:rPr dirty="0"/>
              <a:t>.</a:t>
            </a:r>
          </a:p>
        </p:txBody>
      </p:sp>
      <p:sp>
        <p:nvSpPr>
          <p:cNvPr id="304" name="Numero diapositiva"/>
          <p:cNvSpPr txBox="1">
            <a:spLocks noGrp="1"/>
          </p:cNvSpPr>
          <p:nvPr>
            <p:ph type="sldNum" sz="quarter" idx="4294967295"/>
          </p:nvPr>
        </p:nvSpPr>
        <p:spPr>
          <a:xfrm>
            <a:off x="8430259" y="6401179"/>
            <a:ext cx="256539" cy="2754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21</a:t>
            </a:fld>
            <a:endParaRPr/>
          </a:p>
        </p:txBody>
      </p:sp>
      <p:pic>
        <p:nvPicPr>
          <p:cNvPr id="305"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Rettangolo 4"/>
          <p:cNvSpPr txBox="1"/>
          <p:nvPr/>
        </p:nvSpPr>
        <p:spPr>
          <a:xfrm>
            <a:off x="311912" y="1679861"/>
            <a:ext cx="8462841" cy="42398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600"/>
              </a:spcBef>
              <a:defRPr sz="2200" b="0">
                <a:latin typeface="Times New Roman"/>
                <a:ea typeface="Times New Roman"/>
                <a:cs typeface="Times New Roman"/>
                <a:sym typeface="Times New Roman"/>
              </a:defRPr>
            </a:pPr>
            <a:r>
              <a:t>Si ha </a:t>
            </a:r>
            <a:r>
              <a:rPr b="1"/>
              <a:t>ESTORSIONE</a:t>
            </a:r>
            <a:r>
              <a:t> e non rapina:</a:t>
            </a:r>
          </a:p>
          <a:p>
            <a:pPr algn="just">
              <a:lnSpc>
                <a:spcPct val="114000"/>
              </a:lnSpc>
              <a:spcBef>
                <a:spcPts val="600"/>
              </a:spcBef>
              <a:defRPr sz="2200" b="0">
                <a:latin typeface="Times New Roman"/>
                <a:ea typeface="Times New Roman"/>
                <a:cs typeface="Times New Roman"/>
                <a:sym typeface="Times New Roman"/>
              </a:defRPr>
            </a:pPr>
            <a:endParaRPr/>
          </a:p>
          <a:p>
            <a:pPr marL="342900" indent="-342900" algn="just">
              <a:lnSpc>
                <a:spcPct val="114000"/>
              </a:lnSpc>
              <a:spcBef>
                <a:spcPts val="600"/>
              </a:spcBef>
              <a:buSzPct val="100000"/>
              <a:buChar char="-"/>
              <a:defRPr sz="2200" b="0">
                <a:latin typeface="Times New Roman"/>
                <a:ea typeface="Times New Roman"/>
                <a:cs typeface="Times New Roman"/>
                <a:sym typeface="Times New Roman"/>
              </a:defRPr>
            </a:pPr>
            <a:r>
              <a:t>nei casi in cui la volontà del </a:t>
            </a:r>
            <a:r>
              <a:rPr u="sng"/>
              <a:t>soggetto passivo</a:t>
            </a:r>
            <a:r>
              <a:t> non è completamente coartata, ma </a:t>
            </a:r>
            <a:r>
              <a:rPr b="1" u="sng">
                <a:solidFill>
                  <a:srgbClr val="31859C"/>
                </a:solidFill>
              </a:rPr>
              <a:t>mantiene un margine di autonomia decisionale</a:t>
            </a:r>
            <a:r>
              <a:rPr u="sng"/>
              <a:t>.</a:t>
            </a:r>
          </a:p>
          <a:p>
            <a:pPr algn="just">
              <a:lnSpc>
                <a:spcPct val="114000"/>
              </a:lnSpc>
              <a:spcBef>
                <a:spcPts val="600"/>
              </a:spcBef>
              <a:defRPr sz="2200" b="0" u="sng">
                <a:latin typeface="Times New Roman"/>
                <a:ea typeface="Times New Roman"/>
                <a:cs typeface="Times New Roman"/>
                <a:sym typeface="Times New Roman"/>
              </a:defRPr>
            </a:pPr>
            <a:endParaRPr u="sng"/>
          </a:p>
          <a:p>
            <a:pPr marL="342900" indent="-342900" algn="just">
              <a:lnSpc>
                <a:spcPct val="114000"/>
              </a:lnSpc>
              <a:spcBef>
                <a:spcPts val="600"/>
              </a:spcBef>
              <a:buSzPct val="100000"/>
              <a:buChar char="-"/>
              <a:defRPr sz="2200" b="0">
                <a:latin typeface="Times New Roman"/>
                <a:ea typeface="Times New Roman"/>
                <a:cs typeface="Times New Roman"/>
                <a:sym typeface="Times New Roman"/>
              </a:defRPr>
            </a:pPr>
            <a:r>
              <a:t>nell’estorsione </a:t>
            </a:r>
            <a:r>
              <a:rPr b="1" u="sng">
                <a:solidFill>
                  <a:srgbClr val="31859C"/>
                </a:solidFill>
              </a:rPr>
              <a:t>la violenza può estrinsecarsi anche contro le cose</a:t>
            </a:r>
            <a:r>
              <a:rPr b="1">
                <a:solidFill>
                  <a:srgbClr val="31859C"/>
                </a:solidFill>
              </a:rPr>
              <a:t> </a:t>
            </a:r>
            <a:r>
              <a:t>mentre </a:t>
            </a:r>
            <a:r>
              <a:rPr b="1"/>
              <a:t>nella rapina la violenza è esercitata contro la persona</a:t>
            </a:r>
            <a:r>
              <a:t>. </a:t>
            </a:r>
          </a:p>
          <a:p>
            <a:pPr algn="just">
              <a:lnSpc>
                <a:spcPct val="114000"/>
              </a:lnSpc>
              <a:spcBef>
                <a:spcPts val="600"/>
              </a:spcBef>
              <a:defRPr sz="2200" b="0">
                <a:latin typeface="Times New Roman"/>
                <a:ea typeface="Times New Roman"/>
                <a:cs typeface="Times New Roman"/>
                <a:sym typeface="Times New Roman"/>
              </a:defRPr>
            </a:pPr>
            <a:endParaRPr/>
          </a:p>
          <a:p>
            <a:pPr marL="342900" indent="-342900" algn="just">
              <a:lnSpc>
                <a:spcPct val="114000"/>
              </a:lnSpc>
              <a:spcBef>
                <a:spcPts val="600"/>
              </a:spcBef>
              <a:buSzPct val="100000"/>
              <a:buChar char="-"/>
              <a:defRPr sz="2200" b="0">
                <a:latin typeface="Times New Roman"/>
                <a:ea typeface="Times New Roman"/>
                <a:cs typeface="Times New Roman"/>
                <a:sym typeface="Times New Roman"/>
              </a:defRPr>
            </a:pPr>
            <a:r>
              <a:t>può avere </a:t>
            </a:r>
            <a:r>
              <a:rPr b="1" u="sng">
                <a:solidFill>
                  <a:srgbClr val="31859C"/>
                </a:solidFill>
              </a:rPr>
              <a:t>per oggetto anche beni immobili o diritti di qualsiasi specie</a:t>
            </a:r>
            <a:r>
              <a:rPr u="sng"/>
              <a:t>,</a:t>
            </a:r>
            <a:r>
              <a:t> mentre </a:t>
            </a:r>
            <a:r>
              <a:rPr b="1"/>
              <a:t>oggetto della rapina è solo il denaro o la cosa mobile</a:t>
            </a:r>
            <a:r>
              <a:t>.</a:t>
            </a:r>
          </a:p>
        </p:txBody>
      </p:sp>
      <p:pic>
        <p:nvPicPr>
          <p:cNvPr id="308"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09"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Estorsione vs Rapina</a:t>
            </a:r>
          </a:p>
        </p:txBody>
      </p:sp>
      <p:sp>
        <p:nvSpPr>
          <p:cNvPr id="310" name="Rettangolo 1"/>
          <p:cNvSpPr txBox="1"/>
          <p:nvPr/>
        </p:nvSpPr>
        <p:spPr>
          <a:xfrm>
            <a:off x="2748041" y="1060653"/>
            <a:ext cx="3621543" cy="4213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45718" tIns="45718" rIns="45718" bIns="45718">
            <a:spAutoFit/>
          </a:bodyPr>
          <a:lstStyle>
            <a:lvl1pPr algn="just">
              <a:lnSpc>
                <a:spcPct val="114000"/>
              </a:lnSpc>
              <a:spcBef>
                <a:spcPts val="600"/>
              </a:spcBef>
              <a:defRPr sz="2400">
                <a:solidFill>
                  <a:srgbClr val="31859C"/>
                </a:solidFill>
                <a:latin typeface="Times New Roman"/>
                <a:ea typeface="Times New Roman"/>
                <a:cs typeface="Times New Roman"/>
                <a:sym typeface="Times New Roman"/>
              </a:defRPr>
            </a:lvl1pPr>
          </a:lstStyle>
          <a:p>
            <a:r>
              <a:t>ESTORSIONE E RAPINA</a:t>
            </a:r>
          </a:p>
        </p:txBody>
      </p:sp>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CasellaDiTesto 1"/>
          <p:cNvSpPr txBox="1"/>
          <p:nvPr/>
        </p:nvSpPr>
        <p:spPr>
          <a:xfrm>
            <a:off x="229859" y="980729"/>
            <a:ext cx="8684281" cy="54714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336600"/>
                </a:solidFill>
                <a:latin typeface="Book Antiqua"/>
                <a:ea typeface="Book Antiqua"/>
                <a:cs typeface="Book Antiqua"/>
                <a:sym typeface="Book Antiqua"/>
              </a:defRPr>
            </a:pPr>
            <a:r>
              <a:rPr dirty="0">
                <a:solidFill>
                  <a:srgbClr val="FF0000"/>
                </a:solidFill>
              </a:rPr>
              <a:t>Art. 640 </a:t>
            </a:r>
            <a:r>
              <a:rPr dirty="0" err="1">
                <a:solidFill>
                  <a:srgbClr val="FF0000"/>
                </a:solidFill>
              </a:rPr>
              <a:t>c.p.</a:t>
            </a:r>
            <a:r>
              <a:rPr dirty="0">
                <a:solidFill>
                  <a:srgbClr val="FF0000"/>
                </a:solidFill>
              </a:rPr>
              <a:t> </a:t>
            </a:r>
            <a:r>
              <a:rPr dirty="0" err="1">
                <a:solidFill>
                  <a:srgbClr val="FF0000"/>
                </a:solidFill>
              </a:rPr>
              <a:t>Truffa</a:t>
            </a:r>
            <a:endParaRPr dirty="0">
              <a:solidFill>
                <a:srgbClr val="FF0000"/>
              </a:solidFill>
              <a:latin typeface="Times New Roman"/>
              <a:ea typeface="Times New Roman"/>
              <a:cs typeface="Times New Roman"/>
              <a:sym typeface="Times New Roman"/>
            </a:endParaRPr>
          </a:p>
          <a:p>
            <a:pPr algn="just">
              <a:lnSpc>
                <a:spcPct val="114000"/>
              </a:lnSpc>
              <a:spcBef>
                <a:spcPts val="600"/>
              </a:spcBef>
              <a:defRPr sz="2200" b="0">
                <a:latin typeface="Book Antiqua"/>
                <a:ea typeface="Book Antiqua"/>
                <a:cs typeface="Book Antiqua"/>
                <a:sym typeface="Book Antiqua"/>
              </a:defRPr>
            </a:pPr>
            <a:r>
              <a:rPr dirty="0"/>
              <a:t>«</a:t>
            </a:r>
            <a:r>
              <a:rPr i="1" dirty="0" err="1"/>
              <a:t>Chiunque</a:t>
            </a:r>
            <a:r>
              <a:rPr i="1" dirty="0"/>
              <a:t>, </a:t>
            </a:r>
            <a:r>
              <a:rPr b="1" i="1" dirty="0"/>
              <a:t>con </a:t>
            </a:r>
            <a:r>
              <a:rPr b="1" i="1" u="sng" dirty="0" err="1"/>
              <a:t>artifizi</a:t>
            </a:r>
            <a:r>
              <a:rPr b="1" i="1" dirty="0"/>
              <a:t> o </a:t>
            </a:r>
            <a:r>
              <a:rPr b="1" i="1" u="sng" dirty="0" err="1"/>
              <a:t>raggiri</a:t>
            </a:r>
            <a:r>
              <a:rPr i="1" dirty="0"/>
              <a:t>, </a:t>
            </a:r>
            <a:r>
              <a:rPr b="1" i="1" dirty="0" err="1"/>
              <a:t>inducendo</a:t>
            </a:r>
            <a:r>
              <a:rPr b="1" i="1" dirty="0"/>
              <a:t> </a:t>
            </a:r>
            <a:r>
              <a:rPr b="1" i="1" dirty="0" err="1"/>
              <a:t>taluno</a:t>
            </a:r>
            <a:r>
              <a:rPr b="1" i="1" dirty="0"/>
              <a:t> in </a:t>
            </a:r>
            <a:r>
              <a:rPr b="1" i="1" dirty="0" err="1"/>
              <a:t>errore</a:t>
            </a:r>
            <a:r>
              <a:rPr b="1" i="1" dirty="0"/>
              <a:t>, </a:t>
            </a:r>
            <a:r>
              <a:rPr b="1" i="1" dirty="0" err="1">
                <a:solidFill>
                  <a:srgbClr val="336600"/>
                </a:solidFill>
              </a:rPr>
              <a:t>procura</a:t>
            </a:r>
            <a:r>
              <a:rPr b="1" i="1" dirty="0">
                <a:solidFill>
                  <a:srgbClr val="336600"/>
                </a:solidFill>
              </a:rPr>
              <a:t> a </a:t>
            </a:r>
            <a:r>
              <a:rPr b="1" i="1" dirty="0" err="1">
                <a:solidFill>
                  <a:srgbClr val="336600"/>
                </a:solidFill>
              </a:rPr>
              <a:t>sé</a:t>
            </a:r>
            <a:r>
              <a:rPr b="1" i="1" dirty="0">
                <a:solidFill>
                  <a:srgbClr val="336600"/>
                </a:solidFill>
              </a:rPr>
              <a:t> o ad </a:t>
            </a:r>
            <a:r>
              <a:rPr b="1" i="1" dirty="0" err="1">
                <a:solidFill>
                  <a:srgbClr val="336600"/>
                </a:solidFill>
              </a:rPr>
              <a:t>altri</a:t>
            </a:r>
            <a:r>
              <a:rPr b="1" i="1" dirty="0">
                <a:solidFill>
                  <a:srgbClr val="336600"/>
                </a:solidFill>
              </a:rPr>
              <a:t> un </a:t>
            </a:r>
            <a:r>
              <a:rPr b="1" i="1" u="sng" dirty="0" err="1">
                <a:solidFill>
                  <a:srgbClr val="336600"/>
                </a:solidFill>
              </a:rPr>
              <a:t>ingiusto</a:t>
            </a:r>
            <a:r>
              <a:rPr b="1" i="1" u="sng" dirty="0">
                <a:solidFill>
                  <a:srgbClr val="336600"/>
                </a:solidFill>
              </a:rPr>
              <a:t> </a:t>
            </a:r>
            <a:r>
              <a:rPr b="1" i="1" u="sng" dirty="0" err="1">
                <a:solidFill>
                  <a:srgbClr val="336600"/>
                </a:solidFill>
              </a:rPr>
              <a:t>profitto</a:t>
            </a:r>
            <a:r>
              <a:rPr b="1" i="1" dirty="0">
                <a:solidFill>
                  <a:srgbClr val="336600"/>
                </a:solidFill>
              </a:rPr>
              <a:t> con</a:t>
            </a:r>
            <a:r>
              <a:rPr b="1" i="1" u="sng" dirty="0">
                <a:solidFill>
                  <a:srgbClr val="336600"/>
                </a:solidFill>
              </a:rPr>
              <a:t> </a:t>
            </a:r>
            <a:r>
              <a:rPr b="1" i="1" u="sng" dirty="0" err="1">
                <a:solidFill>
                  <a:srgbClr val="336600"/>
                </a:solidFill>
              </a:rPr>
              <a:t>altrui</a:t>
            </a:r>
            <a:r>
              <a:rPr b="1" i="1" u="sng" dirty="0">
                <a:solidFill>
                  <a:srgbClr val="336600"/>
                </a:solidFill>
              </a:rPr>
              <a:t> </a:t>
            </a:r>
            <a:r>
              <a:rPr b="1" i="1" u="sng" dirty="0" err="1">
                <a:solidFill>
                  <a:srgbClr val="336600"/>
                </a:solidFill>
              </a:rPr>
              <a:t>danno</a:t>
            </a:r>
            <a:r>
              <a:rPr i="1" dirty="0"/>
              <a:t>, è </a:t>
            </a:r>
            <a:r>
              <a:rPr i="1" dirty="0" err="1"/>
              <a:t>punito</a:t>
            </a:r>
            <a:r>
              <a:rPr i="1" dirty="0"/>
              <a:t> con la </a:t>
            </a:r>
            <a:r>
              <a:rPr i="1" dirty="0" err="1"/>
              <a:t>reclusione</a:t>
            </a:r>
            <a:r>
              <a:rPr i="1" dirty="0"/>
              <a:t> da sei </a:t>
            </a:r>
            <a:r>
              <a:rPr i="1" dirty="0" err="1"/>
              <a:t>mesi</a:t>
            </a:r>
            <a:r>
              <a:rPr i="1" dirty="0"/>
              <a:t> a </a:t>
            </a:r>
            <a:r>
              <a:rPr i="1" dirty="0" err="1"/>
              <a:t>tre</a:t>
            </a:r>
            <a:r>
              <a:rPr i="1" dirty="0"/>
              <a:t> </a:t>
            </a:r>
            <a:r>
              <a:rPr i="1" dirty="0" err="1"/>
              <a:t>anni</a:t>
            </a:r>
            <a:r>
              <a:rPr i="1" dirty="0"/>
              <a:t> e con la </a:t>
            </a:r>
            <a:r>
              <a:rPr i="1" dirty="0" err="1"/>
              <a:t>multa</a:t>
            </a:r>
            <a:r>
              <a:rPr i="1" dirty="0"/>
              <a:t> da 51 euro a 1032 euro.</a:t>
            </a:r>
          </a:p>
          <a:p>
            <a:pPr algn="just">
              <a:lnSpc>
                <a:spcPct val="114000"/>
              </a:lnSpc>
              <a:spcBef>
                <a:spcPts val="600"/>
              </a:spcBef>
              <a:defRPr sz="2200" b="0">
                <a:latin typeface="Times New Roman"/>
                <a:ea typeface="Times New Roman"/>
                <a:cs typeface="Times New Roman"/>
                <a:sym typeface="Times New Roman"/>
              </a:defRPr>
            </a:pPr>
            <a:endParaRPr i="1" dirty="0"/>
          </a:p>
          <a:p>
            <a:pPr algn="just">
              <a:lnSpc>
                <a:spcPct val="114000"/>
              </a:lnSpc>
              <a:defRPr sz="1800" b="0" i="1">
                <a:latin typeface="Book Antiqua"/>
                <a:ea typeface="Book Antiqua"/>
                <a:cs typeface="Book Antiqua"/>
                <a:sym typeface="Book Antiqua"/>
              </a:defRPr>
            </a:pPr>
            <a:r>
              <a:rPr dirty="0"/>
              <a:t>La </a:t>
            </a:r>
            <a:r>
              <a:rPr dirty="0" err="1"/>
              <a:t>pena</a:t>
            </a:r>
            <a:r>
              <a:rPr dirty="0"/>
              <a:t> è </a:t>
            </a:r>
            <a:r>
              <a:rPr dirty="0" err="1"/>
              <a:t>della</a:t>
            </a:r>
            <a:r>
              <a:rPr dirty="0"/>
              <a:t> </a:t>
            </a:r>
            <a:r>
              <a:rPr dirty="0" err="1"/>
              <a:t>reclusione</a:t>
            </a:r>
            <a:r>
              <a:rPr dirty="0"/>
              <a:t> da </a:t>
            </a:r>
            <a:r>
              <a:rPr dirty="0" err="1"/>
              <a:t>uno</a:t>
            </a:r>
            <a:r>
              <a:rPr dirty="0"/>
              <a:t> a cinque </a:t>
            </a:r>
            <a:r>
              <a:rPr dirty="0" err="1"/>
              <a:t>anni</a:t>
            </a:r>
            <a:r>
              <a:rPr dirty="0"/>
              <a:t> e </a:t>
            </a:r>
            <a:r>
              <a:rPr dirty="0" err="1"/>
              <a:t>della</a:t>
            </a:r>
            <a:r>
              <a:rPr dirty="0"/>
              <a:t> </a:t>
            </a:r>
            <a:r>
              <a:rPr dirty="0" err="1"/>
              <a:t>multa</a:t>
            </a:r>
            <a:r>
              <a:rPr dirty="0"/>
              <a:t> da 309 euro a 1549 euro:</a:t>
            </a:r>
            <a:endParaRPr dirty="0">
              <a:latin typeface="Times New Roman"/>
              <a:ea typeface="Times New Roman"/>
              <a:cs typeface="Times New Roman"/>
              <a:sym typeface="Times New Roman"/>
            </a:endParaRPr>
          </a:p>
          <a:p>
            <a:pPr algn="just">
              <a:lnSpc>
                <a:spcPct val="114000"/>
              </a:lnSpc>
              <a:defRPr sz="2000" b="0" i="1">
                <a:latin typeface="Book Antiqua"/>
                <a:ea typeface="Book Antiqua"/>
                <a:cs typeface="Book Antiqua"/>
                <a:sym typeface="Book Antiqua"/>
              </a:defRPr>
            </a:pPr>
            <a:r>
              <a:rPr dirty="0"/>
              <a:t>1) se </a:t>
            </a:r>
            <a:r>
              <a:rPr dirty="0" err="1"/>
              <a:t>il</a:t>
            </a:r>
            <a:r>
              <a:rPr dirty="0"/>
              <a:t> </a:t>
            </a:r>
            <a:r>
              <a:rPr dirty="0" err="1"/>
              <a:t>fatto</a:t>
            </a:r>
            <a:r>
              <a:rPr dirty="0"/>
              <a:t> è </a:t>
            </a:r>
            <a:r>
              <a:rPr dirty="0" err="1"/>
              <a:t>commesso</a:t>
            </a:r>
            <a:r>
              <a:rPr dirty="0"/>
              <a:t> </a:t>
            </a:r>
            <a:r>
              <a:rPr b="1" dirty="0"/>
              <a:t>a </a:t>
            </a:r>
            <a:r>
              <a:rPr b="1" dirty="0" err="1"/>
              <a:t>danno</a:t>
            </a:r>
            <a:r>
              <a:rPr b="1" dirty="0"/>
              <a:t> </a:t>
            </a:r>
            <a:r>
              <a:rPr b="1" dirty="0" err="1"/>
              <a:t>dello</a:t>
            </a:r>
            <a:r>
              <a:rPr b="1" dirty="0"/>
              <a:t> </a:t>
            </a:r>
            <a:r>
              <a:rPr b="1" dirty="0" err="1"/>
              <a:t>Stato</a:t>
            </a:r>
            <a:r>
              <a:rPr b="1" dirty="0"/>
              <a:t> o di un </a:t>
            </a:r>
            <a:r>
              <a:rPr b="1" dirty="0" err="1"/>
              <a:t>altro</a:t>
            </a:r>
            <a:r>
              <a:rPr b="1" dirty="0"/>
              <a:t> </a:t>
            </a:r>
            <a:r>
              <a:rPr b="1" dirty="0" err="1"/>
              <a:t>ente</a:t>
            </a:r>
            <a:r>
              <a:rPr b="1" dirty="0"/>
              <a:t> </a:t>
            </a:r>
            <a:r>
              <a:rPr b="1" dirty="0" err="1"/>
              <a:t>pubblico</a:t>
            </a:r>
            <a:r>
              <a:rPr b="1" dirty="0"/>
              <a:t> </a:t>
            </a:r>
            <a:r>
              <a:rPr dirty="0"/>
              <a:t>o col </a:t>
            </a:r>
            <a:r>
              <a:rPr dirty="0" err="1"/>
              <a:t>pretesto</a:t>
            </a:r>
            <a:r>
              <a:rPr dirty="0"/>
              <a:t> di far </a:t>
            </a:r>
            <a:r>
              <a:rPr dirty="0" err="1"/>
              <a:t>esonerare</a:t>
            </a:r>
            <a:r>
              <a:rPr dirty="0"/>
              <a:t> </a:t>
            </a:r>
            <a:r>
              <a:rPr dirty="0" err="1"/>
              <a:t>taluno</a:t>
            </a:r>
            <a:r>
              <a:rPr dirty="0"/>
              <a:t> dal </a:t>
            </a:r>
            <a:r>
              <a:rPr dirty="0" err="1"/>
              <a:t>servizio</a:t>
            </a:r>
            <a:r>
              <a:rPr dirty="0"/>
              <a:t> </a:t>
            </a:r>
            <a:r>
              <a:rPr dirty="0" err="1"/>
              <a:t>militare</a:t>
            </a:r>
            <a:r>
              <a:rPr dirty="0"/>
              <a:t>;</a:t>
            </a:r>
            <a:endParaRPr dirty="0">
              <a:latin typeface="Times New Roman"/>
              <a:ea typeface="Times New Roman"/>
              <a:cs typeface="Times New Roman"/>
              <a:sym typeface="Times New Roman"/>
            </a:endParaRPr>
          </a:p>
          <a:p>
            <a:pPr algn="just">
              <a:lnSpc>
                <a:spcPct val="114000"/>
              </a:lnSpc>
              <a:defRPr sz="2000" b="0" i="1">
                <a:latin typeface="Book Antiqua"/>
                <a:ea typeface="Book Antiqua"/>
                <a:cs typeface="Book Antiqua"/>
                <a:sym typeface="Book Antiqua"/>
              </a:defRPr>
            </a:pPr>
            <a:r>
              <a:rPr dirty="0"/>
              <a:t>2) se </a:t>
            </a:r>
            <a:r>
              <a:rPr dirty="0" err="1"/>
              <a:t>il</a:t>
            </a:r>
            <a:r>
              <a:rPr dirty="0"/>
              <a:t> </a:t>
            </a:r>
            <a:r>
              <a:rPr dirty="0" err="1"/>
              <a:t>fatto</a:t>
            </a:r>
            <a:r>
              <a:rPr dirty="0"/>
              <a:t> è </a:t>
            </a:r>
            <a:r>
              <a:rPr dirty="0" err="1"/>
              <a:t>commesso</a:t>
            </a:r>
            <a:r>
              <a:rPr dirty="0"/>
              <a:t> </a:t>
            </a:r>
            <a:r>
              <a:rPr dirty="0" err="1"/>
              <a:t>ingenerando</a:t>
            </a:r>
            <a:r>
              <a:rPr dirty="0"/>
              <a:t> </a:t>
            </a:r>
            <a:r>
              <a:rPr dirty="0" err="1"/>
              <a:t>nella</a:t>
            </a:r>
            <a:r>
              <a:rPr dirty="0"/>
              <a:t> persona </a:t>
            </a:r>
            <a:r>
              <a:rPr dirty="0" err="1"/>
              <a:t>offesa</a:t>
            </a:r>
            <a:r>
              <a:rPr dirty="0"/>
              <a:t> </a:t>
            </a:r>
            <a:r>
              <a:rPr dirty="0" err="1"/>
              <a:t>il</a:t>
            </a:r>
            <a:r>
              <a:rPr dirty="0"/>
              <a:t> </a:t>
            </a:r>
            <a:r>
              <a:rPr dirty="0" err="1"/>
              <a:t>timore</a:t>
            </a:r>
            <a:r>
              <a:rPr dirty="0"/>
              <a:t> di un </a:t>
            </a:r>
            <a:r>
              <a:rPr b="1" dirty="0" err="1"/>
              <a:t>pericolo</a:t>
            </a:r>
            <a:r>
              <a:rPr b="1" dirty="0"/>
              <a:t> </a:t>
            </a:r>
            <a:r>
              <a:rPr b="1" dirty="0" err="1"/>
              <a:t>immaginario</a:t>
            </a:r>
            <a:r>
              <a:rPr b="1" dirty="0"/>
              <a:t> o </a:t>
            </a:r>
            <a:r>
              <a:rPr b="1" dirty="0" err="1"/>
              <a:t>l'erroneo</a:t>
            </a:r>
            <a:r>
              <a:rPr b="1" dirty="0"/>
              <a:t> </a:t>
            </a:r>
            <a:r>
              <a:rPr b="1" dirty="0" err="1"/>
              <a:t>convincimento</a:t>
            </a:r>
            <a:r>
              <a:rPr b="1" dirty="0"/>
              <a:t> di </a:t>
            </a:r>
            <a:r>
              <a:rPr b="1" dirty="0" err="1"/>
              <a:t>dovere</a:t>
            </a:r>
            <a:r>
              <a:rPr b="1" dirty="0"/>
              <a:t> </a:t>
            </a:r>
            <a:r>
              <a:rPr b="1" dirty="0" err="1"/>
              <a:t>eseguire</a:t>
            </a:r>
            <a:r>
              <a:rPr b="1" dirty="0"/>
              <a:t> un </a:t>
            </a:r>
            <a:r>
              <a:rPr b="1" dirty="0" err="1"/>
              <a:t>ordine</a:t>
            </a:r>
            <a:r>
              <a:rPr b="1" dirty="0"/>
              <a:t> </a:t>
            </a:r>
            <a:r>
              <a:rPr b="1" dirty="0" err="1"/>
              <a:t>dell'Autorità</a:t>
            </a:r>
            <a:r>
              <a:rPr dirty="0"/>
              <a:t>;</a:t>
            </a:r>
            <a:endParaRPr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a:t>2-bis) se </a:t>
            </a:r>
            <a:r>
              <a:rPr dirty="0" err="1"/>
              <a:t>il</a:t>
            </a:r>
            <a:r>
              <a:rPr dirty="0"/>
              <a:t> </a:t>
            </a:r>
            <a:r>
              <a:rPr dirty="0" err="1"/>
              <a:t>fatto</a:t>
            </a:r>
            <a:r>
              <a:rPr dirty="0"/>
              <a:t> è </a:t>
            </a:r>
            <a:r>
              <a:rPr dirty="0" err="1"/>
              <a:t>commesso</a:t>
            </a:r>
            <a:r>
              <a:rPr dirty="0"/>
              <a:t> </a:t>
            </a:r>
            <a:r>
              <a:rPr b="1" dirty="0"/>
              <a:t>in </a:t>
            </a:r>
            <a:r>
              <a:rPr b="1" dirty="0" err="1"/>
              <a:t>presenza</a:t>
            </a:r>
            <a:r>
              <a:rPr b="1" dirty="0"/>
              <a:t> </a:t>
            </a:r>
            <a:r>
              <a:rPr b="1" dirty="0" err="1"/>
              <a:t>della</a:t>
            </a:r>
            <a:r>
              <a:rPr b="1" dirty="0"/>
              <a:t> </a:t>
            </a:r>
            <a:r>
              <a:rPr b="1" dirty="0" err="1"/>
              <a:t>circostanza</a:t>
            </a:r>
            <a:r>
              <a:rPr b="1" dirty="0"/>
              <a:t> </a:t>
            </a:r>
            <a:r>
              <a:rPr dirty="0"/>
              <a:t>di cui </a:t>
            </a:r>
            <a:r>
              <a:rPr dirty="0" err="1"/>
              <a:t>all’art</a:t>
            </a:r>
            <a:r>
              <a:rPr dirty="0"/>
              <a:t>. 61, n. 5).</a:t>
            </a:r>
            <a:endParaRPr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a:t>Il </a:t>
            </a:r>
            <a:r>
              <a:rPr dirty="0" err="1"/>
              <a:t>delitto</a:t>
            </a:r>
            <a:r>
              <a:rPr dirty="0"/>
              <a:t> è </a:t>
            </a:r>
            <a:r>
              <a:rPr dirty="0" err="1"/>
              <a:t>punibile</a:t>
            </a:r>
            <a:r>
              <a:rPr dirty="0"/>
              <a:t> </a:t>
            </a:r>
            <a:r>
              <a:rPr b="1" u="sng" dirty="0"/>
              <a:t>a querela </a:t>
            </a:r>
            <a:r>
              <a:rPr b="1" u="sng" dirty="0" err="1"/>
              <a:t>della</a:t>
            </a:r>
            <a:r>
              <a:rPr b="1" u="sng" dirty="0"/>
              <a:t> persona </a:t>
            </a:r>
            <a:r>
              <a:rPr b="1" u="sng" dirty="0" err="1"/>
              <a:t>offesa</a:t>
            </a:r>
            <a:r>
              <a:rPr dirty="0"/>
              <a:t>, </a:t>
            </a:r>
            <a:r>
              <a:rPr u="sng" dirty="0">
                <a:solidFill>
                  <a:srgbClr val="FF0000"/>
                </a:solidFill>
              </a:rPr>
              <a:t>salvo</a:t>
            </a:r>
            <a:r>
              <a:rPr dirty="0"/>
              <a:t> </a:t>
            </a:r>
            <a:r>
              <a:rPr dirty="0" err="1"/>
              <a:t>che</a:t>
            </a:r>
            <a:r>
              <a:rPr dirty="0"/>
              <a:t> </a:t>
            </a:r>
            <a:r>
              <a:rPr dirty="0" err="1"/>
              <a:t>ricorra</a:t>
            </a:r>
            <a:r>
              <a:rPr dirty="0"/>
              <a:t> </a:t>
            </a:r>
            <a:r>
              <a:rPr dirty="0" err="1"/>
              <a:t>taluna</a:t>
            </a:r>
            <a:r>
              <a:rPr dirty="0"/>
              <a:t> </a:t>
            </a:r>
            <a:r>
              <a:rPr dirty="0" err="1"/>
              <a:t>delle</a:t>
            </a:r>
            <a:r>
              <a:rPr dirty="0"/>
              <a:t> </a:t>
            </a:r>
            <a:r>
              <a:rPr dirty="0" err="1"/>
              <a:t>circostanze</a:t>
            </a:r>
            <a:r>
              <a:rPr dirty="0"/>
              <a:t> </a:t>
            </a:r>
            <a:r>
              <a:rPr dirty="0" err="1"/>
              <a:t>previste</a:t>
            </a:r>
            <a:r>
              <a:rPr dirty="0"/>
              <a:t> dal </a:t>
            </a:r>
            <a:r>
              <a:rPr dirty="0" err="1"/>
              <a:t>capoverso</a:t>
            </a:r>
            <a:r>
              <a:rPr dirty="0"/>
              <a:t> </a:t>
            </a:r>
            <a:r>
              <a:rPr dirty="0" err="1"/>
              <a:t>precedente</a:t>
            </a:r>
            <a:r>
              <a:rPr dirty="0"/>
              <a:t>».</a:t>
            </a:r>
          </a:p>
        </p:txBody>
      </p:sp>
      <p:pic>
        <p:nvPicPr>
          <p:cNvPr id="313"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14"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Truffa</a:t>
            </a:r>
          </a:p>
        </p:txBody>
      </p:sp>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Rettangolo 4"/>
          <p:cNvSpPr txBox="1"/>
          <p:nvPr/>
        </p:nvSpPr>
        <p:spPr>
          <a:xfrm>
            <a:off x="324041" y="1460588"/>
            <a:ext cx="8495918" cy="349033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t>La truffa è un </a:t>
            </a:r>
            <a:r>
              <a:rPr b="1">
                <a:solidFill>
                  <a:srgbClr val="336600"/>
                </a:solidFill>
              </a:rPr>
              <a:t>REATO COMUNE</a:t>
            </a:r>
            <a:r>
              <a:t>, per quanto riguarda il </a:t>
            </a:r>
            <a:r>
              <a:rPr b="1" u="sng"/>
              <a:t>soggetto passivo</a:t>
            </a:r>
            <a:r>
              <a:t> è colui che </a:t>
            </a:r>
            <a:r>
              <a:rPr u="sng"/>
              <a:t>subisce il danno patrimoniale</a:t>
            </a:r>
            <a:r>
              <a:t> derivante dall’azione fraudolenta posta in essere dal reo.</a:t>
            </a:r>
          </a:p>
          <a:p>
            <a:pPr algn="just">
              <a:lnSpc>
                <a:spcPct val="114000"/>
              </a:lnSpc>
              <a:spcBef>
                <a:spcPts val="1200"/>
              </a:spcBef>
              <a:defRPr sz="2200" b="0">
                <a:latin typeface="Times New Roman"/>
                <a:ea typeface="Times New Roman"/>
                <a:cs typeface="Times New Roman"/>
                <a:sym typeface="Times New Roman"/>
              </a:defRPr>
            </a:pPr>
            <a:endParaRPr/>
          </a:p>
          <a:p>
            <a:pPr algn="just">
              <a:lnSpc>
                <a:spcPct val="114000"/>
              </a:lnSpc>
              <a:spcBef>
                <a:spcPts val="1200"/>
              </a:spcBef>
              <a:defRPr sz="2200" b="0">
                <a:latin typeface="Times New Roman"/>
                <a:ea typeface="Times New Roman"/>
                <a:cs typeface="Times New Roman"/>
                <a:sym typeface="Times New Roman"/>
              </a:defRPr>
            </a:pPr>
            <a:endParaRPr/>
          </a:p>
          <a:p>
            <a:pPr algn="just">
              <a:lnSpc>
                <a:spcPct val="114000"/>
              </a:lnSpc>
              <a:spcBef>
                <a:spcPts val="1200"/>
              </a:spcBef>
              <a:defRPr sz="2200" u="sng">
                <a:latin typeface="Times New Roman"/>
                <a:ea typeface="Times New Roman"/>
                <a:cs typeface="Times New Roman"/>
                <a:sym typeface="Times New Roman"/>
              </a:defRPr>
            </a:pPr>
            <a:r>
              <a:t>ELEMENTO OGGETTIVO</a:t>
            </a:r>
            <a:r>
              <a:rPr b="0" u="none"/>
              <a:t>: si punisce chi </a:t>
            </a:r>
            <a:r>
              <a:rPr u="none">
                <a:solidFill>
                  <a:srgbClr val="336600"/>
                </a:solidFill>
              </a:rPr>
              <a:t>procura a sé o altri un ingiusto profitto con danno altrui</a:t>
            </a:r>
            <a:r>
              <a:rPr b="0" u="none"/>
              <a:t>, inducendo in errore, con artifizi e raggiri.</a:t>
            </a:r>
          </a:p>
        </p:txBody>
      </p:sp>
      <p:pic>
        <p:nvPicPr>
          <p:cNvPr id="317"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18"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Truffa</a:t>
            </a:r>
          </a:p>
        </p:txBody>
      </p:sp>
    </p:spTree>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Rettangolo 4"/>
          <p:cNvSpPr txBox="1"/>
          <p:nvPr/>
        </p:nvSpPr>
        <p:spPr>
          <a:xfrm>
            <a:off x="45719" y="980727"/>
            <a:ext cx="9052561" cy="53088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rPr dirty="0"/>
              <a:t>Si </a:t>
            </a:r>
            <a:r>
              <a:rPr dirty="0" err="1"/>
              <a:t>tratta</a:t>
            </a:r>
            <a:r>
              <a:rPr dirty="0"/>
              <a:t> di un </a:t>
            </a:r>
            <a:r>
              <a:rPr b="1" dirty="0">
                <a:solidFill>
                  <a:srgbClr val="336600"/>
                </a:solidFill>
              </a:rPr>
              <a:t>DELITTO A FORMA VINCOLATA</a:t>
            </a:r>
            <a:r>
              <a:rPr dirty="0"/>
              <a:t>, </a:t>
            </a:r>
            <a:r>
              <a:rPr dirty="0" err="1"/>
              <a:t>cioè</a:t>
            </a:r>
            <a:r>
              <a:rPr dirty="0"/>
              <a:t> non </a:t>
            </a:r>
            <a:r>
              <a:rPr dirty="0" err="1"/>
              <a:t>realizzabile</a:t>
            </a:r>
            <a:r>
              <a:rPr dirty="0"/>
              <a:t> con </a:t>
            </a:r>
            <a:r>
              <a:rPr dirty="0" err="1"/>
              <a:t>qualsivoglia</a:t>
            </a:r>
            <a:r>
              <a:rPr dirty="0"/>
              <a:t> </a:t>
            </a:r>
            <a:r>
              <a:rPr dirty="0" err="1"/>
              <a:t>condotta</a:t>
            </a:r>
            <a:r>
              <a:rPr dirty="0"/>
              <a:t> </a:t>
            </a:r>
            <a:r>
              <a:rPr dirty="0" err="1"/>
              <a:t>subdola</a:t>
            </a:r>
            <a:r>
              <a:rPr dirty="0"/>
              <a:t>, </a:t>
            </a:r>
            <a:r>
              <a:rPr dirty="0" err="1"/>
              <a:t>bensì</a:t>
            </a:r>
            <a:r>
              <a:rPr dirty="0"/>
              <a:t> solo con </a:t>
            </a:r>
            <a:r>
              <a:rPr dirty="0" err="1"/>
              <a:t>quella</a:t>
            </a:r>
            <a:r>
              <a:rPr dirty="0"/>
              <a:t> </a:t>
            </a:r>
            <a:r>
              <a:rPr dirty="0" err="1"/>
              <a:t>che</a:t>
            </a:r>
            <a:r>
              <a:rPr dirty="0"/>
              <a:t> assume la </a:t>
            </a:r>
            <a:r>
              <a:rPr dirty="0" err="1"/>
              <a:t>qualità</a:t>
            </a:r>
            <a:r>
              <a:rPr dirty="0"/>
              <a:t> di </a:t>
            </a:r>
            <a:r>
              <a:rPr dirty="0" err="1"/>
              <a:t>artifizio</a:t>
            </a:r>
            <a:r>
              <a:rPr dirty="0"/>
              <a:t> o </a:t>
            </a:r>
            <a:r>
              <a:rPr dirty="0" err="1"/>
              <a:t>raggiro</a:t>
            </a:r>
            <a:r>
              <a:rPr dirty="0"/>
              <a:t> .</a:t>
            </a:r>
          </a:p>
          <a:p>
            <a:pPr marL="342900" indent="-342900" algn="just">
              <a:lnSpc>
                <a:spcPct val="114000"/>
              </a:lnSpc>
              <a:spcBef>
                <a:spcPts val="1200"/>
              </a:spcBef>
              <a:buSzPct val="100000"/>
              <a:buFont typeface="Arial"/>
              <a:buChar char="•"/>
              <a:defRPr sz="2200" b="0">
                <a:latin typeface="Times New Roman"/>
                <a:ea typeface="Times New Roman"/>
                <a:cs typeface="Times New Roman"/>
                <a:sym typeface="Times New Roman"/>
              </a:defRPr>
            </a:pPr>
            <a:r>
              <a:rPr dirty="0"/>
              <a:t>Per </a:t>
            </a:r>
            <a:r>
              <a:rPr b="1" dirty="0">
                <a:solidFill>
                  <a:srgbClr val="336600"/>
                </a:solidFill>
              </a:rPr>
              <a:t>ARTIFIZIO</a:t>
            </a:r>
            <a:r>
              <a:rPr dirty="0"/>
              <a:t> - </a:t>
            </a:r>
            <a:r>
              <a:rPr lang="it-IT" sz="2200" u="sng" dirty="0">
                <a:sym typeface="Times New Roman"/>
              </a:rPr>
              <a:t>Alterazione della realtà materiale, f</a:t>
            </a:r>
            <a:r>
              <a:rPr b="1" u="sng" dirty="0" err="1"/>
              <a:t>ar</a:t>
            </a:r>
            <a:r>
              <a:rPr b="1" u="sng" dirty="0"/>
              <a:t> </a:t>
            </a:r>
            <a:r>
              <a:rPr b="1" u="sng" dirty="0" err="1"/>
              <a:t>apparire</a:t>
            </a:r>
            <a:r>
              <a:rPr b="1" u="sng" dirty="0"/>
              <a:t> come </a:t>
            </a:r>
            <a:r>
              <a:rPr b="1" u="sng" dirty="0" err="1"/>
              <a:t>vera</a:t>
            </a:r>
            <a:r>
              <a:rPr b="1" u="sng" dirty="0"/>
              <a:t> una </a:t>
            </a:r>
            <a:r>
              <a:rPr b="1" u="sng" dirty="0" err="1"/>
              <a:t>situazione</a:t>
            </a:r>
            <a:r>
              <a:rPr b="1" u="sng" dirty="0"/>
              <a:t> </a:t>
            </a:r>
            <a:r>
              <a:rPr b="1" u="sng" dirty="0" err="1"/>
              <a:t>che</a:t>
            </a:r>
            <a:r>
              <a:rPr b="1" u="sng" dirty="0"/>
              <a:t> non </a:t>
            </a:r>
            <a:r>
              <a:rPr b="1" u="sng" dirty="0" err="1"/>
              <a:t>trova</a:t>
            </a:r>
            <a:r>
              <a:rPr b="1" u="sng" dirty="0"/>
              <a:t> </a:t>
            </a:r>
            <a:r>
              <a:rPr b="1" u="sng" dirty="0" err="1"/>
              <a:t>riscontro</a:t>
            </a:r>
            <a:r>
              <a:rPr b="1" u="sng" dirty="0"/>
              <a:t> </a:t>
            </a:r>
            <a:r>
              <a:rPr b="1" u="sng" dirty="0" err="1"/>
              <a:t>nei</a:t>
            </a:r>
            <a:r>
              <a:rPr b="1" u="sng" dirty="0"/>
              <a:t> </a:t>
            </a:r>
            <a:r>
              <a:rPr b="1" u="sng" dirty="0" err="1"/>
              <a:t>fatti</a:t>
            </a:r>
            <a:r>
              <a:rPr b="1" u="sng" dirty="0"/>
              <a:t>.</a:t>
            </a:r>
          </a:p>
          <a:p>
            <a:pPr marL="342900" indent="-342900" algn="just">
              <a:lnSpc>
                <a:spcPct val="114000"/>
              </a:lnSpc>
              <a:spcBef>
                <a:spcPts val="1200"/>
              </a:spcBef>
              <a:buSzPct val="100000"/>
              <a:buFont typeface="Arial"/>
              <a:buChar char="•"/>
              <a:defRPr sz="2200" b="0">
                <a:latin typeface="Times New Roman"/>
                <a:ea typeface="Times New Roman"/>
                <a:cs typeface="Times New Roman"/>
                <a:sym typeface="Times New Roman"/>
              </a:defRPr>
            </a:pPr>
            <a:r>
              <a:rPr dirty="0"/>
              <a:t>Per </a:t>
            </a:r>
            <a:r>
              <a:rPr b="1" dirty="0">
                <a:solidFill>
                  <a:srgbClr val="336600"/>
                </a:solidFill>
              </a:rPr>
              <a:t>RAGGIRO</a:t>
            </a:r>
            <a:r>
              <a:rPr dirty="0"/>
              <a:t> </a:t>
            </a:r>
            <a:r>
              <a:rPr dirty="0" err="1"/>
              <a:t>invece</a:t>
            </a:r>
            <a:r>
              <a:rPr dirty="0"/>
              <a:t> </a:t>
            </a:r>
            <a:r>
              <a:rPr dirty="0" err="1"/>
              <a:t>si</a:t>
            </a:r>
            <a:r>
              <a:rPr dirty="0"/>
              <a:t> </a:t>
            </a:r>
            <a:r>
              <a:rPr dirty="0" err="1"/>
              <a:t>intende</a:t>
            </a:r>
            <a:r>
              <a:rPr dirty="0"/>
              <a:t> </a:t>
            </a:r>
            <a:r>
              <a:rPr dirty="0" err="1"/>
              <a:t>ogni</a:t>
            </a:r>
            <a:r>
              <a:rPr dirty="0"/>
              <a:t> </a:t>
            </a:r>
            <a:r>
              <a:rPr b="1" u="sng" dirty="0" err="1"/>
              <a:t>ragionamento</a:t>
            </a:r>
            <a:r>
              <a:rPr b="1" u="sng" dirty="0"/>
              <a:t> </a:t>
            </a:r>
            <a:r>
              <a:rPr b="1" u="sng" dirty="0" err="1"/>
              <a:t>menzognero</a:t>
            </a:r>
            <a:r>
              <a:rPr dirty="0"/>
              <a:t> </a:t>
            </a:r>
            <a:r>
              <a:rPr dirty="0" err="1"/>
              <a:t>destinato</a:t>
            </a:r>
            <a:r>
              <a:rPr dirty="0"/>
              <a:t> a </a:t>
            </a:r>
            <a:r>
              <a:rPr dirty="0" err="1"/>
              <a:t>convincere</a:t>
            </a:r>
            <a:r>
              <a:rPr dirty="0"/>
              <a:t> ed </a:t>
            </a:r>
            <a:r>
              <a:rPr dirty="0" err="1"/>
              <a:t>idoneo</a:t>
            </a:r>
            <a:r>
              <a:rPr dirty="0"/>
              <a:t> a far </a:t>
            </a:r>
            <a:r>
              <a:rPr dirty="0" err="1"/>
              <a:t>apparire</a:t>
            </a:r>
            <a:r>
              <a:rPr dirty="0"/>
              <a:t> come </a:t>
            </a:r>
            <a:r>
              <a:rPr dirty="0" err="1"/>
              <a:t>vera</a:t>
            </a:r>
            <a:r>
              <a:rPr dirty="0"/>
              <a:t> la </a:t>
            </a:r>
            <a:r>
              <a:rPr dirty="0" err="1"/>
              <a:t>falsità</a:t>
            </a:r>
            <a:r>
              <a:rPr dirty="0"/>
              <a:t> </a:t>
            </a:r>
            <a:r>
              <a:rPr dirty="0" err="1"/>
              <a:t>prospettata</a:t>
            </a:r>
            <a:r>
              <a:rPr dirty="0"/>
              <a:t>. Si </a:t>
            </a:r>
            <a:r>
              <a:rPr dirty="0" err="1"/>
              <a:t>agisce</a:t>
            </a:r>
            <a:r>
              <a:rPr dirty="0"/>
              <a:t> </a:t>
            </a:r>
            <a:r>
              <a:rPr dirty="0" err="1"/>
              <a:t>sulla</a:t>
            </a:r>
            <a:r>
              <a:rPr dirty="0"/>
              <a:t> </a:t>
            </a:r>
            <a:r>
              <a:rPr dirty="0" err="1"/>
              <a:t>psiche</a:t>
            </a:r>
            <a:r>
              <a:rPr dirty="0"/>
              <a:t> </a:t>
            </a:r>
            <a:r>
              <a:rPr dirty="0" err="1"/>
              <a:t>della</a:t>
            </a:r>
            <a:r>
              <a:rPr dirty="0"/>
              <a:t> </a:t>
            </a:r>
            <a:r>
              <a:rPr dirty="0" err="1"/>
              <a:t>vittima</a:t>
            </a:r>
            <a:r>
              <a:rPr dirty="0"/>
              <a:t>, </a:t>
            </a:r>
            <a:r>
              <a:rPr dirty="0" err="1"/>
              <a:t>che</a:t>
            </a:r>
            <a:r>
              <a:rPr dirty="0"/>
              <a:t> </a:t>
            </a:r>
            <a:r>
              <a:rPr dirty="0" err="1"/>
              <a:t>viene</a:t>
            </a:r>
            <a:r>
              <a:rPr dirty="0"/>
              <a:t> </a:t>
            </a:r>
            <a:r>
              <a:rPr dirty="0" err="1"/>
              <a:t>convinta</a:t>
            </a:r>
            <a:r>
              <a:rPr dirty="0"/>
              <a:t> </a:t>
            </a:r>
            <a:r>
              <a:rPr dirty="0" err="1"/>
              <a:t>mediante</a:t>
            </a:r>
            <a:r>
              <a:rPr dirty="0"/>
              <a:t> </a:t>
            </a:r>
            <a:r>
              <a:rPr dirty="0" err="1"/>
              <a:t>ragionamenti</a:t>
            </a:r>
            <a:r>
              <a:rPr dirty="0"/>
              <a:t> </a:t>
            </a:r>
            <a:r>
              <a:rPr dirty="0" err="1"/>
              <a:t>che</a:t>
            </a:r>
            <a:r>
              <a:rPr dirty="0"/>
              <a:t> una </a:t>
            </a:r>
            <a:r>
              <a:rPr dirty="0" err="1"/>
              <a:t>situazione</a:t>
            </a:r>
            <a:r>
              <a:rPr dirty="0"/>
              <a:t> </a:t>
            </a:r>
            <a:r>
              <a:rPr dirty="0" err="1"/>
              <a:t>sia</a:t>
            </a:r>
            <a:r>
              <a:rPr dirty="0"/>
              <a:t> in un </a:t>
            </a:r>
            <a:r>
              <a:rPr dirty="0" err="1"/>
              <a:t>tal</a:t>
            </a:r>
            <a:r>
              <a:rPr dirty="0"/>
              <a:t> modo, </a:t>
            </a:r>
            <a:r>
              <a:rPr dirty="0" err="1"/>
              <a:t>quando</a:t>
            </a:r>
            <a:r>
              <a:rPr dirty="0"/>
              <a:t> </a:t>
            </a:r>
            <a:r>
              <a:rPr dirty="0" err="1"/>
              <a:t>ciò</a:t>
            </a:r>
            <a:r>
              <a:rPr dirty="0"/>
              <a:t> non è </a:t>
            </a:r>
            <a:r>
              <a:rPr dirty="0" err="1"/>
              <a:t>vero</a:t>
            </a:r>
            <a:r>
              <a:rPr dirty="0"/>
              <a:t>.</a:t>
            </a:r>
          </a:p>
          <a:p>
            <a:pPr algn="just">
              <a:lnSpc>
                <a:spcPct val="114000"/>
              </a:lnSpc>
              <a:spcBef>
                <a:spcPts val="1200"/>
              </a:spcBef>
              <a:defRPr sz="2200" b="0">
                <a:latin typeface="Times New Roman"/>
                <a:ea typeface="Times New Roman"/>
                <a:cs typeface="Times New Roman"/>
                <a:sym typeface="Times New Roman"/>
              </a:defRPr>
            </a:pPr>
            <a:endParaRPr dirty="0"/>
          </a:p>
          <a:p>
            <a:pPr algn="just">
              <a:lnSpc>
                <a:spcPct val="114000"/>
              </a:lnSpc>
              <a:spcBef>
                <a:spcPts val="1200"/>
              </a:spcBef>
              <a:defRPr sz="2200">
                <a:solidFill>
                  <a:srgbClr val="336600"/>
                </a:solidFill>
                <a:latin typeface="Times New Roman"/>
                <a:ea typeface="Times New Roman"/>
                <a:cs typeface="Times New Roman"/>
                <a:sym typeface="Times New Roman"/>
              </a:defRPr>
            </a:pPr>
            <a:r>
              <a:rPr dirty="0"/>
              <a:t>L’INDUZIONE IN ERRORE </a:t>
            </a:r>
            <a:r>
              <a:rPr b="0" dirty="0" err="1">
                <a:solidFill>
                  <a:srgbClr val="000000"/>
                </a:solidFill>
              </a:rPr>
              <a:t>consiste</a:t>
            </a:r>
            <a:r>
              <a:rPr b="0" dirty="0">
                <a:solidFill>
                  <a:srgbClr val="000000"/>
                </a:solidFill>
              </a:rPr>
              <a:t> </a:t>
            </a:r>
            <a:r>
              <a:rPr b="0" dirty="0" err="1">
                <a:solidFill>
                  <a:srgbClr val="000000"/>
                </a:solidFill>
              </a:rPr>
              <a:t>nel</a:t>
            </a:r>
            <a:r>
              <a:rPr b="0" dirty="0">
                <a:solidFill>
                  <a:srgbClr val="000000"/>
                </a:solidFill>
              </a:rPr>
              <a:t> </a:t>
            </a:r>
            <a:r>
              <a:rPr dirty="0" err="1">
                <a:solidFill>
                  <a:srgbClr val="000000"/>
                </a:solidFill>
              </a:rPr>
              <a:t>determinare</a:t>
            </a:r>
            <a:r>
              <a:rPr dirty="0">
                <a:solidFill>
                  <a:srgbClr val="000000"/>
                </a:solidFill>
              </a:rPr>
              <a:t> in </a:t>
            </a:r>
            <a:r>
              <a:rPr dirty="0" err="1">
                <a:solidFill>
                  <a:srgbClr val="000000"/>
                </a:solidFill>
              </a:rPr>
              <a:t>altri</a:t>
            </a:r>
            <a:r>
              <a:rPr dirty="0">
                <a:solidFill>
                  <a:srgbClr val="000000"/>
                </a:solidFill>
              </a:rPr>
              <a:t> la </a:t>
            </a:r>
            <a:r>
              <a:rPr dirty="0" err="1">
                <a:solidFill>
                  <a:srgbClr val="000000"/>
                </a:solidFill>
              </a:rPr>
              <a:t>positiva</a:t>
            </a:r>
            <a:r>
              <a:rPr dirty="0">
                <a:solidFill>
                  <a:srgbClr val="000000"/>
                </a:solidFill>
              </a:rPr>
              <a:t> </a:t>
            </a:r>
            <a:r>
              <a:rPr dirty="0" err="1">
                <a:solidFill>
                  <a:srgbClr val="000000"/>
                </a:solidFill>
              </a:rPr>
              <a:t>certezza</a:t>
            </a:r>
            <a:r>
              <a:rPr dirty="0">
                <a:solidFill>
                  <a:srgbClr val="000000"/>
                </a:solidFill>
              </a:rPr>
              <a:t> di una </a:t>
            </a:r>
            <a:r>
              <a:rPr dirty="0" err="1">
                <a:solidFill>
                  <a:srgbClr val="000000"/>
                </a:solidFill>
              </a:rPr>
              <a:t>situazione</a:t>
            </a:r>
            <a:r>
              <a:rPr dirty="0">
                <a:solidFill>
                  <a:srgbClr val="000000"/>
                </a:solidFill>
              </a:rPr>
              <a:t> in </a:t>
            </a:r>
            <a:r>
              <a:rPr dirty="0" err="1">
                <a:solidFill>
                  <a:srgbClr val="000000"/>
                </a:solidFill>
              </a:rPr>
              <a:t>realtà</a:t>
            </a:r>
            <a:r>
              <a:rPr dirty="0">
                <a:solidFill>
                  <a:srgbClr val="000000"/>
                </a:solidFill>
              </a:rPr>
              <a:t> </a:t>
            </a:r>
            <a:r>
              <a:rPr dirty="0" err="1">
                <a:solidFill>
                  <a:srgbClr val="000000"/>
                </a:solidFill>
              </a:rPr>
              <a:t>inesistente</a:t>
            </a:r>
            <a:r>
              <a:rPr dirty="0">
                <a:solidFill>
                  <a:srgbClr val="000000"/>
                </a:solidFill>
              </a:rPr>
              <a:t>.</a:t>
            </a:r>
          </a:p>
        </p:txBody>
      </p:sp>
      <p:pic>
        <p:nvPicPr>
          <p:cNvPr id="321"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22"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rPr dirty="0" err="1"/>
              <a:t>Truffa</a:t>
            </a:r>
            <a:endParaRPr dirty="0"/>
          </a:p>
        </p:txBody>
      </p:sp>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0305E867-5484-42AB-88E1-EB0E46424F17}"/>
              </a:ext>
            </a:extLst>
          </p:cNvPr>
          <p:cNvSpPr>
            <a:spLocks noGrp="1"/>
          </p:cNvSpPr>
          <p:nvPr>
            <p:ph type="body" idx="1"/>
          </p:nvPr>
        </p:nvSpPr>
        <p:spPr>
          <a:xfrm>
            <a:off x="457200" y="1072444"/>
            <a:ext cx="8229600" cy="5475112"/>
          </a:xfrm>
        </p:spPr>
        <p:txBody>
          <a:bodyPr>
            <a:normAutofit fontScale="70000" lnSpcReduction="20000"/>
          </a:bodyPr>
          <a:lstStyle/>
          <a:p>
            <a:pPr marL="0" indent="0" algn="just">
              <a:buNone/>
            </a:pPr>
            <a:r>
              <a:rPr lang="it-IT" dirty="0">
                <a:latin typeface="Book Antiqua" panose="02040602050305030304" pitchFamily="18" charset="0"/>
              </a:rPr>
              <a:t>il reato di truffa è caratterizzato dalla presenza di ben quattro eventi:</a:t>
            </a:r>
          </a:p>
          <a:p>
            <a:pPr marL="0" indent="0" algn="just">
              <a:buNone/>
            </a:pPr>
            <a:endParaRPr lang="it-IT" dirty="0">
              <a:latin typeface="Book Antiqua" panose="02040602050305030304" pitchFamily="18" charset="0"/>
            </a:endParaRPr>
          </a:p>
          <a:p>
            <a:pPr algn="just">
              <a:lnSpc>
                <a:spcPct val="120000"/>
              </a:lnSpc>
            </a:pPr>
            <a:r>
              <a:rPr lang="it-IT" b="1" dirty="0">
                <a:solidFill>
                  <a:srgbClr val="FF0000"/>
                </a:solidFill>
                <a:latin typeface="Book Antiqua" panose="02040602050305030304" pitchFamily="18" charset="0"/>
              </a:rPr>
              <a:t> </a:t>
            </a:r>
            <a:r>
              <a:rPr lang="it-IT" b="1" u="sng" dirty="0">
                <a:solidFill>
                  <a:srgbClr val="FF0000"/>
                </a:solidFill>
                <a:latin typeface="Book Antiqua" panose="02040602050305030304" pitchFamily="18" charset="0"/>
              </a:rPr>
              <a:t>lo stato di errore: </a:t>
            </a:r>
            <a:r>
              <a:rPr lang="it-IT" dirty="0">
                <a:latin typeface="Book Antiqua" panose="02040602050305030304" pitchFamily="18" charset="0"/>
              </a:rPr>
              <a:t>Gli artifizi e raggiri </a:t>
            </a:r>
            <a:r>
              <a:rPr lang="it-IT" u="sng" dirty="0">
                <a:latin typeface="Book Antiqua" panose="02040602050305030304" pitchFamily="18" charset="0"/>
              </a:rPr>
              <a:t>devono produrre l</a:t>
            </a:r>
            <a:r>
              <a:rPr lang="ar-SA" u="sng" dirty="0">
                <a:latin typeface="Book Antiqua" panose="02040602050305030304" pitchFamily="18" charset="0"/>
              </a:rPr>
              <a:t>’</a:t>
            </a:r>
            <a:r>
              <a:rPr lang="it-IT" u="sng" dirty="0">
                <a:latin typeface="Book Antiqua" panose="02040602050305030304" pitchFamily="18" charset="0"/>
              </a:rPr>
              <a:t>errore </a:t>
            </a:r>
            <a:r>
              <a:rPr lang="it-IT" dirty="0">
                <a:latin typeface="Book Antiqua" panose="02040602050305030304" pitchFamily="18" charset="0"/>
              </a:rPr>
              <a:t>(falsa rappresentazione della realtà) </a:t>
            </a:r>
            <a:r>
              <a:rPr lang="it-IT" u="sng" dirty="0">
                <a:latin typeface="Book Antiqua" panose="02040602050305030304" pitchFamily="18" charset="0"/>
              </a:rPr>
              <a:t>del soggetto cui sono indirizzati;</a:t>
            </a:r>
          </a:p>
          <a:p>
            <a:pPr algn="just">
              <a:lnSpc>
                <a:spcPct val="120000"/>
              </a:lnSpc>
            </a:pPr>
            <a:endParaRPr lang="it-IT" dirty="0">
              <a:latin typeface="Book Antiqua" panose="02040602050305030304" pitchFamily="18" charset="0"/>
            </a:endParaRPr>
          </a:p>
          <a:p>
            <a:pPr algn="just">
              <a:lnSpc>
                <a:spcPct val="120000"/>
              </a:lnSpc>
            </a:pPr>
            <a:r>
              <a:rPr lang="it-IT" b="1" u="sng" dirty="0">
                <a:solidFill>
                  <a:srgbClr val="FF0000"/>
                </a:solidFill>
                <a:latin typeface="Book Antiqua" panose="02040602050305030304" pitchFamily="18" charset="0"/>
              </a:rPr>
              <a:t>l</a:t>
            </a:r>
            <a:r>
              <a:rPr lang="ar-SA" b="1" u="sng" dirty="0">
                <a:solidFill>
                  <a:srgbClr val="FF0000"/>
                </a:solidFill>
                <a:latin typeface="Book Antiqua" panose="02040602050305030304" pitchFamily="18" charset="0"/>
              </a:rPr>
              <a:t>’</a:t>
            </a:r>
            <a:r>
              <a:rPr lang="it-IT" b="1" u="sng" dirty="0">
                <a:solidFill>
                  <a:srgbClr val="FF0000"/>
                </a:solidFill>
                <a:latin typeface="Book Antiqua" panose="02040602050305030304" pitchFamily="18" charset="0"/>
              </a:rPr>
              <a:t>atto di disposizione patrimoniale: </a:t>
            </a:r>
            <a:r>
              <a:rPr lang="it-IT" dirty="0">
                <a:latin typeface="Book Antiqua" panose="02040602050305030304" pitchFamily="18" charset="0"/>
              </a:rPr>
              <a:t>ritenuto indispensabile;</a:t>
            </a:r>
          </a:p>
          <a:p>
            <a:pPr algn="just">
              <a:lnSpc>
                <a:spcPct val="120000"/>
              </a:lnSpc>
            </a:pPr>
            <a:endParaRPr lang="it-IT" dirty="0">
              <a:latin typeface="Book Antiqua" panose="02040602050305030304" pitchFamily="18" charset="0"/>
            </a:endParaRPr>
          </a:p>
          <a:p>
            <a:pPr algn="just">
              <a:lnSpc>
                <a:spcPct val="120000"/>
              </a:lnSpc>
            </a:pPr>
            <a:r>
              <a:rPr lang="it-IT" b="1" u="sng" dirty="0">
                <a:solidFill>
                  <a:srgbClr val="FF0000"/>
                </a:solidFill>
                <a:latin typeface="Book Antiqua" panose="02040602050305030304" pitchFamily="18" charset="0"/>
              </a:rPr>
              <a:t>il danno: </a:t>
            </a:r>
            <a:r>
              <a:rPr lang="it-IT" dirty="0">
                <a:latin typeface="Book Antiqua" panose="02040602050305030304" pitchFamily="18" charset="0"/>
              </a:rPr>
              <a:t>danno </a:t>
            </a:r>
            <a:r>
              <a:rPr lang="it-IT" u="sng" dirty="0">
                <a:latin typeface="Book Antiqua" panose="02040602050305030304" pitchFamily="18" charset="0"/>
              </a:rPr>
              <a:t>causato </a:t>
            </a:r>
            <a:r>
              <a:rPr lang="it-IT" u="sng" dirty="0" err="1">
                <a:latin typeface="Book Antiqua" panose="02040602050305030304" pitchFamily="18" charset="0"/>
              </a:rPr>
              <a:t>dall</a:t>
            </a:r>
            <a:r>
              <a:rPr lang="ar-SA" u="sng" dirty="0">
                <a:latin typeface="Book Antiqua" panose="02040602050305030304" pitchFamily="18" charset="0"/>
              </a:rPr>
              <a:t>’</a:t>
            </a:r>
            <a:r>
              <a:rPr lang="it-IT" u="sng" dirty="0">
                <a:latin typeface="Book Antiqua" panose="02040602050305030304" pitchFamily="18" charset="0"/>
              </a:rPr>
              <a:t>inganno e dal conseguente atto di disposizione patrimoniale;</a:t>
            </a:r>
          </a:p>
          <a:p>
            <a:pPr algn="just">
              <a:lnSpc>
                <a:spcPct val="120000"/>
              </a:lnSpc>
            </a:pPr>
            <a:endParaRPr lang="it-IT" dirty="0">
              <a:latin typeface="Book Antiqua" panose="02040602050305030304" pitchFamily="18" charset="0"/>
            </a:endParaRPr>
          </a:p>
          <a:p>
            <a:pPr algn="just">
              <a:lnSpc>
                <a:spcPct val="120000"/>
              </a:lnSpc>
            </a:pPr>
            <a:r>
              <a:rPr lang="it-IT" b="1" u="sng" dirty="0">
                <a:solidFill>
                  <a:srgbClr val="FF0000"/>
                </a:solidFill>
                <a:latin typeface="Book Antiqua" panose="02040602050305030304" pitchFamily="18" charset="0"/>
              </a:rPr>
              <a:t>il profitto ingiusto: </a:t>
            </a:r>
            <a:r>
              <a:rPr lang="it-IT" dirty="0">
                <a:latin typeface="Book Antiqua" panose="02040602050305030304" pitchFamily="18" charset="0"/>
              </a:rPr>
              <a:t>il profitto del soggetto agente o di altri.</a:t>
            </a:r>
          </a:p>
          <a:p>
            <a:endParaRPr lang="it-IT" dirty="0"/>
          </a:p>
        </p:txBody>
      </p:sp>
      <p:sp>
        <p:nvSpPr>
          <p:cNvPr id="4" name="Text Box 5">
            <a:extLst>
              <a:ext uri="{FF2B5EF4-FFF2-40B4-BE49-F238E27FC236}">
                <a16:creationId xmlns:a16="http://schemas.microsoft.com/office/drawing/2014/main" id="{F660315E-79A3-4FC1-8464-DD3750437B1C}"/>
              </a:ext>
            </a:extLst>
          </p:cNvPr>
          <p:cNvSpPr txBox="1">
            <a:spLocks noGrp="1"/>
          </p:cNvSpPr>
          <p:nvPr>
            <p:ph type="title"/>
          </p:nvPr>
        </p:nvSpPr>
        <p:spPr>
          <a:xfrm>
            <a:off x="777550" y="152454"/>
            <a:ext cx="8229600" cy="582451"/>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pPr algn="l"/>
            <a:r>
              <a:rPr dirty="0" err="1"/>
              <a:t>Truffa</a:t>
            </a:r>
            <a:endParaRPr dirty="0"/>
          </a:p>
        </p:txBody>
      </p:sp>
      <p:pic>
        <p:nvPicPr>
          <p:cNvPr id="5" name="Immagine 6" descr="Immagine 6">
            <a:extLst>
              <a:ext uri="{FF2B5EF4-FFF2-40B4-BE49-F238E27FC236}">
                <a16:creationId xmlns:a16="http://schemas.microsoft.com/office/drawing/2014/main" id="{09F9A677-6637-4EA1-909C-DE38E5C82048}"/>
              </a:ext>
            </a:extLst>
          </p:cNvPr>
          <p:cNvPicPr>
            <a:picLocks noChangeAspect="1"/>
          </p:cNvPicPr>
          <p:nvPr/>
        </p:nvPicPr>
        <p:blipFill>
          <a:blip r:embed="rId2"/>
          <a:stretch>
            <a:fillRect/>
          </a:stretch>
        </p:blipFill>
        <p:spPr>
          <a:xfrm>
            <a:off x="136850" y="67097"/>
            <a:ext cx="435671" cy="753167"/>
          </a:xfrm>
          <a:prstGeom prst="rect">
            <a:avLst/>
          </a:prstGeom>
          <a:ln w="12700">
            <a:miter lim="400000"/>
          </a:ln>
        </p:spPr>
      </p:pic>
    </p:spTree>
    <p:extLst>
      <p:ext uri="{BB962C8B-B14F-4D97-AF65-F5344CB8AC3E}">
        <p14:creationId xmlns:p14="http://schemas.microsoft.com/office/powerpoint/2010/main" val="1584626114"/>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Rettangolo 4"/>
          <p:cNvSpPr txBox="1"/>
          <p:nvPr/>
        </p:nvSpPr>
        <p:spPr>
          <a:xfrm>
            <a:off x="45719" y="980728"/>
            <a:ext cx="9052561" cy="4322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u="sng">
                <a:latin typeface="Times New Roman"/>
                <a:ea typeface="Times New Roman"/>
                <a:cs typeface="Times New Roman"/>
                <a:sym typeface="Times New Roman"/>
              </a:defRPr>
            </a:pPr>
            <a:r>
              <a:t>ELEMENTO SOGGETTIVO</a:t>
            </a:r>
            <a:r>
              <a:rPr b="0" u="none"/>
              <a:t>: è il </a:t>
            </a:r>
            <a:r>
              <a:rPr u="none">
                <a:solidFill>
                  <a:srgbClr val="336600"/>
                </a:solidFill>
              </a:rPr>
              <a:t>DOLO GENERICO</a:t>
            </a:r>
            <a:r>
              <a:rPr u="none">
                <a:solidFill>
                  <a:srgbClr val="31859C"/>
                </a:solidFill>
              </a:rPr>
              <a:t>, </a:t>
            </a:r>
            <a:r>
              <a:rPr b="0" u="none"/>
              <a:t>avente ad oggetto gli elementi costitutivi del reato (inganno, profitto, e danno ingiusto). </a:t>
            </a:r>
          </a:p>
          <a:p>
            <a:pPr algn="just">
              <a:lnSpc>
                <a:spcPct val="114000"/>
              </a:lnSpc>
              <a:spcBef>
                <a:spcPts val="1200"/>
              </a:spcBef>
              <a:defRPr sz="2200" b="0">
                <a:latin typeface="Times New Roman"/>
                <a:ea typeface="Times New Roman"/>
                <a:cs typeface="Times New Roman"/>
                <a:sym typeface="Times New Roman"/>
              </a:defRPr>
            </a:pPr>
            <a:endParaRPr b="0" u="none"/>
          </a:p>
          <a:p>
            <a:pPr algn="just">
              <a:lnSpc>
                <a:spcPct val="114000"/>
              </a:lnSpc>
              <a:spcBef>
                <a:spcPts val="1200"/>
              </a:spcBef>
              <a:defRPr sz="2200" b="0">
                <a:latin typeface="Times New Roman"/>
                <a:ea typeface="Times New Roman"/>
                <a:cs typeface="Times New Roman"/>
                <a:sym typeface="Times New Roman"/>
              </a:defRPr>
            </a:pPr>
            <a:endParaRPr b="0" u="none"/>
          </a:p>
          <a:p>
            <a:pPr algn="just">
              <a:lnSpc>
                <a:spcPct val="114000"/>
              </a:lnSpc>
              <a:spcBef>
                <a:spcPts val="1200"/>
              </a:spcBef>
              <a:defRPr sz="2200" b="0">
                <a:latin typeface="Times New Roman"/>
                <a:ea typeface="Times New Roman"/>
                <a:cs typeface="Times New Roman"/>
                <a:sym typeface="Times New Roman"/>
              </a:defRPr>
            </a:pPr>
            <a:r>
              <a:t>Questo </a:t>
            </a:r>
            <a:r>
              <a:rPr b="1" u="sng"/>
              <a:t>delitto si consuma </a:t>
            </a:r>
            <a:r>
              <a:t>nel momento in cui l’agente </a:t>
            </a:r>
            <a:r>
              <a:rPr u="sng"/>
              <a:t>realizza l’ingiusto profitto con relativo danno patrimoniale</a:t>
            </a:r>
            <a:r>
              <a:t> (Cass. II 24/10/1983).</a:t>
            </a:r>
          </a:p>
          <a:p>
            <a:pPr algn="just">
              <a:lnSpc>
                <a:spcPct val="114000"/>
              </a:lnSpc>
              <a:spcBef>
                <a:spcPts val="1200"/>
              </a:spcBef>
              <a:defRPr sz="2200" b="0">
                <a:latin typeface="Times New Roman"/>
                <a:ea typeface="Times New Roman"/>
                <a:cs typeface="Times New Roman"/>
                <a:sym typeface="Times New Roman"/>
              </a:defRPr>
            </a:pPr>
            <a:endParaRPr/>
          </a:p>
          <a:p>
            <a:pPr algn="just">
              <a:lnSpc>
                <a:spcPct val="114000"/>
              </a:lnSpc>
              <a:spcBef>
                <a:spcPts val="1200"/>
              </a:spcBef>
              <a:defRPr sz="2200" b="0">
                <a:latin typeface="Times New Roman"/>
                <a:ea typeface="Times New Roman"/>
                <a:cs typeface="Times New Roman"/>
                <a:sym typeface="Times New Roman"/>
              </a:defRPr>
            </a:pPr>
            <a:endParaRPr/>
          </a:p>
          <a:p>
            <a:pPr algn="just">
              <a:lnSpc>
                <a:spcPct val="114000"/>
              </a:lnSpc>
              <a:spcBef>
                <a:spcPts val="1200"/>
              </a:spcBef>
              <a:defRPr sz="2200" b="0">
                <a:latin typeface="Times New Roman"/>
                <a:ea typeface="Times New Roman"/>
                <a:cs typeface="Times New Roman"/>
                <a:sym typeface="Times New Roman"/>
              </a:defRPr>
            </a:pPr>
            <a:r>
              <a:t>Il tentativo è configurabile.</a:t>
            </a:r>
          </a:p>
        </p:txBody>
      </p:sp>
      <p:pic>
        <p:nvPicPr>
          <p:cNvPr id="325"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26"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Truffa</a:t>
            </a:r>
          </a:p>
        </p:txBody>
      </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CasellaDiTesto 1"/>
          <p:cNvSpPr txBox="1"/>
          <p:nvPr/>
        </p:nvSpPr>
        <p:spPr>
          <a:xfrm>
            <a:off x="229859" y="980729"/>
            <a:ext cx="8684281" cy="57960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00B050"/>
                </a:solidFill>
                <a:latin typeface="Book Antiqua"/>
                <a:ea typeface="Book Antiqua"/>
                <a:cs typeface="Book Antiqua"/>
                <a:sym typeface="Book Antiqua"/>
              </a:defRPr>
            </a:pPr>
            <a:r>
              <a:rPr dirty="0">
                <a:solidFill>
                  <a:srgbClr val="FF0000"/>
                </a:solidFill>
              </a:rPr>
              <a:t>Art. 641 </a:t>
            </a:r>
            <a:r>
              <a:rPr dirty="0" err="1">
                <a:solidFill>
                  <a:srgbClr val="FF0000"/>
                </a:solidFill>
              </a:rPr>
              <a:t>c.p.</a:t>
            </a:r>
            <a:r>
              <a:rPr dirty="0">
                <a:solidFill>
                  <a:srgbClr val="FF0000"/>
                </a:solidFill>
              </a:rPr>
              <a:t> </a:t>
            </a:r>
            <a:r>
              <a:rPr dirty="0" err="1">
                <a:solidFill>
                  <a:srgbClr val="FF0000"/>
                </a:solidFill>
              </a:rPr>
              <a:t>Insolvenza</a:t>
            </a:r>
            <a:r>
              <a:rPr dirty="0">
                <a:solidFill>
                  <a:srgbClr val="FF0000"/>
                </a:solidFill>
              </a:rPr>
              <a:t> </a:t>
            </a:r>
            <a:r>
              <a:rPr dirty="0" err="1">
                <a:solidFill>
                  <a:srgbClr val="FF0000"/>
                </a:solidFill>
              </a:rPr>
              <a:t>fraudolenta</a:t>
            </a:r>
            <a:endParaRPr dirty="0">
              <a:solidFill>
                <a:srgbClr val="FF0000"/>
              </a:solidFill>
              <a:latin typeface="Times New Roman"/>
              <a:ea typeface="Times New Roman"/>
              <a:cs typeface="Times New Roman"/>
              <a:sym typeface="Times New Roman"/>
            </a:endParaRPr>
          </a:p>
          <a:p>
            <a:pPr algn="just">
              <a:lnSpc>
                <a:spcPct val="114000"/>
              </a:lnSpc>
              <a:spcBef>
                <a:spcPts val="600"/>
              </a:spcBef>
              <a:defRPr sz="2200" b="0">
                <a:latin typeface="Book Antiqua"/>
                <a:ea typeface="Book Antiqua"/>
                <a:cs typeface="Book Antiqua"/>
                <a:sym typeface="Book Antiqua"/>
              </a:defRPr>
            </a:pPr>
            <a:r>
              <a:rPr dirty="0"/>
              <a:t>«</a:t>
            </a:r>
            <a:r>
              <a:rPr i="1" dirty="0" err="1"/>
              <a:t>Chiunque</a:t>
            </a:r>
            <a:r>
              <a:rPr i="1" dirty="0"/>
              <a:t>, </a:t>
            </a:r>
            <a:r>
              <a:rPr b="1" i="1" u="sng" dirty="0" err="1"/>
              <a:t>dissimulando</a:t>
            </a:r>
            <a:r>
              <a:rPr b="1" i="1" dirty="0"/>
              <a:t> </a:t>
            </a:r>
            <a:r>
              <a:rPr b="1" i="1" dirty="0" err="1"/>
              <a:t>il</a:t>
            </a:r>
            <a:r>
              <a:rPr b="1" i="1" dirty="0"/>
              <a:t> </a:t>
            </a:r>
            <a:r>
              <a:rPr b="1" i="1" u="sng" dirty="0"/>
              <a:t>proprio </a:t>
            </a:r>
            <a:r>
              <a:rPr b="1" i="1" u="sng" dirty="0" err="1"/>
              <a:t>stato</a:t>
            </a:r>
            <a:r>
              <a:rPr b="1" i="1" u="sng" dirty="0"/>
              <a:t> </a:t>
            </a:r>
            <a:r>
              <a:rPr b="1" i="1" u="sng" dirty="0" err="1"/>
              <a:t>d'insolvenza</a:t>
            </a:r>
            <a:r>
              <a:rPr i="1" dirty="0"/>
              <a:t>, </a:t>
            </a:r>
            <a:r>
              <a:rPr b="1" i="1" dirty="0" err="1">
                <a:solidFill>
                  <a:srgbClr val="00B050"/>
                </a:solidFill>
              </a:rPr>
              <a:t>contrae</a:t>
            </a:r>
            <a:r>
              <a:rPr b="1" i="1" dirty="0">
                <a:solidFill>
                  <a:srgbClr val="00B050"/>
                </a:solidFill>
              </a:rPr>
              <a:t> </a:t>
            </a:r>
            <a:r>
              <a:rPr b="1" i="1" dirty="0" err="1">
                <a:solidFill>
                  <a:srgbClr val="00B050"/>
                </a:solidFill>
              </a:rPr>
              <a:t>un'obbligazione</a:t>
            </a:r>
            <a:r>
              <a:rPr b="1" i="1" dirty="0">
                <a:solidFill>
                  <a:srgbClr val="00B050"/>
                </a:solidFill>
              </a:rPr>
              <a:t> col </a:t>
            </a:r>
            <a:r>
              <a:rPr b="1" i="1" dirty="0" err="1">
                <a:solidFill>
                  <a:srgbClr val="00B050"/>
                </a:solidFill>
              </a:rPr>
              <a:t>proposito</a:t>
            </a:r>
            <a:r>
              <a:rPr b="1" i="1" dirty="0">
                <a:solidFill>
                  <a:srgbClr val="00B050"/>
                </a:solidFill>
              </a:rPr>
              <a:t> di non </a:t>
            </a:r>
            <a:r>
              <a:rPr b="1" i="1" dirty="0" err="1">
                <a:solidFill>
                  <a:srgbClr val="00B050"/>
                </a:solidFill>
              </a:rPr>
              <a:t>adempierla</a:t>
            </a:r>
            <a:r>
              <a:rPr i="1" dirty="0"/>
              <a:t> è </a:t>
            </a:r>
            <a:r>
              <a:rPr i="1" dirty="0" err="1"/>
              <a:t>punito</a:t>
            </a:r>
            <a:r>
              <a:rPr i="1" dirty="0"/>
              <a:t>, </a:t>
            </a:r>
            <a:r>
              <a:rPr b="1" i="1" dirty="0"/>
              <a:t>a querela </a:t>
            </a:r>
            <a:r>
              <a:rPr b="1" i="1" dirty="0" err="1"/>
              <a:t>della</a:t>
            </a:r>
            <a:r>
              <a:rPr b="1" i="1" dirty="0"/>
              <a:t> persona </a:t>
            </a:r>
            <a:r>
              <a:rPr b="1" i="1" dirty="0" err="1"/>
              <a:t>offesa</a:t>
            </a:r>
            <a:r>
              <a:rPr b="1" i="1" dirty="0"/>
              <a:t>, </a:t>
            </a:r>
            <a:r>
              <a:rPr b="1" i="1" dirty="0" err="1"/>
              <a:t>qualora</a:t>
            </a:r>
            <a:r>
              <a:rPr b="1" i="1" dirty="0"/>
              <a:t> </a:t>
            </a:r>
            <a:r>
              <a:rPr b="1" i="1" dirty="0" err="1"/>
              <a:t>l'obbligazione</a:t>
            </a:r>
            <a:r>
              <a:rPr b="1" i="1" dirty="0"/>
              <a:t> non </a:t>
            </a:r>
            <a:r>
              <a:rPr b="1" i="1" dirty="0" err="1"/>
              <a:t>sia</a:t>
            </a:r>
            <a:r>
              <a:rPr b="1" i="1" dirty="0"/>
              <a:t> </a:t>
            </a:r>
            <a:r>
              <a:rPr b="1" i="1" dirty="0" err="1"/>
              <a:t>adempiuta</a:t>
            </a:r>
            <a:r>
              <a:rPr i="1" dirty="0"/>
              <a:t>, con la </a:t>
            </a:r>
            <a:r>
              <a:rPr i="1" dirty="0" err="1"/>
              <a:t>reclusione</a:t>
            </a:r>
            <a:r>
              <a:rPr i="1" dirty="0"/>
              <a:t> </a:t>
            </a:r>
            <a:r>
              <a:rPr i="1" dirty="0" err="1"/>
              <a:t>fino</a:t>
            </a:r>
            <a:r>
              <a:rPr i="1" dirty="0"/>
              <a:t> a due </a:t>
            </a:r>
            <a:r>
              <a:rPr i="1" dirty="0" err="1"/>
              <a:t>anni</a:t>
            </a:r>
            <a:r>
              <a:rPr i="1" dirty="0"/>
              <a:t> o con la </a:t>
            </a:r>
            <a:r>
              <a:rPr i="1" dirty="0" err="1"/>
              <a:t>multa</a:t>
            </a:r>
            <a:r>
              <a:rPr i="1" dirty="0"/>
              <a:t> </a:t>
            </a:r>
            <a:r>
              <a:rPr i="1" dirty="0" err="1"/>
              <a:t>fino</a:t>
            </a:r>
            <a:r>
              <a:rPr i="1" dirty="0"/>
              <a:t> a 516 euro.</a:t>
            </a:r>
            <a:endParaRPr dirty="0">
              <a:latin typeface="Times New Roman"/>
              <a:ea typeface="Times New Roman"/>
              <a:cs typeface="Times New Roman"/>
              <a:sym typeface="Times New Roman"/>
            </a:endParaRPr>
          </a:p>
          <a:p>
            <a:pPr algn="just">
              <a:lnSpc>
                <a:spcPct val="114000"/>
              </a:lnSpc>
              <a:spcBef>
                <a:spcPts val="600"/>
              </a:spcBef>
              <a:defRPr sz="2200" b="0" i="1">
                <a:latin typeface="Book Antiqua"/>
                <a:ea typeface="Book Antiqua"/>
                <a:cs typeface="Book Antiqua"/>
                <a:sym typeface="Book Antiqua"/>
              </a:defRPr>
            </a:pPr>
            <a:r>
              <a:rPr dirty="0" err="1"/>
              <a:t>L'adempimento</a:t>
            </a:r>
            <a:r>
              <a:rPr dirty="0"/>
              <a:t> </a:t>
            </a:r>
            <a:r>
              <a:rPr dirty="0" err="1"/>
              <a:t>dell'obbligazione</a:t>
            </a:r>
            <a:r>
              <a:rPr dirty="0"/>
              <a:t> </a:t>
            </a:r>
            <a:r>
              <a:rPr dirty="0" err="1"/>
              <a:t>avvenuto</a:t>
            </a:r>
            <a:r>
              <a:rPr dirty="0"/>
              <a:t> prima </a:t>
            </a:r>
            <a:r>
              <a:rPr dirty="0" err="1"/>
              <a:t>della</a:t>
            </a:r>
            <a:r>
              <a:rPr dirty="0"/>
              <a:t> </a:t>
            </a:r>
            <a:r>
              <a:rPr dirty="0" err="1"/>
              <a:t>condanna</a:t>
            </a:r>
            <a:r>
              <a:rPr dirty="0"/>
              <a:t> </a:t>
            </a:r>
            <a:r>
              <a:rPr dirty="0" err="1"/>
              <a:t>estingue</a:t>
            </a:r>
            <a:r>
              <a:rPr dirty="0"/>
              <a:t> </a:t>
            </a:r>
            <a:r>
              <a:rPr dirty="0" err="1"/>
              <a:t>il</a:t>
            </a:r>
            <a:r>
              <a:rPr dirty="0"/>
              <a:t> </a:t>
            </a:r>
            <a:r>
              <a:rPr dirty="0" err="1"/>
              <a:t>reato</a:t>
            </a:r>
            <a:r>
              <a:rPr dirty="0"/>
              <a:t>».</a:t>
            </a:r>
            <a:endParaRPr dirty="0">
              <a:latin typeface="Times New Roman"/>
              <a:ea typeface="Times New Roman"/>
              <a:cs typeface="Times New Roman"/>
              <a:sym typeface="Times New Roman"/>
            </a:endParaRPr>
          </a:p>
          <a:p>
            <a:pPr algn="just">
              <a:lnSpc>
                <a:spcPct val="114000"/>
              </a:lnSpc>
              <a:spcBef>
                <a:spcPts val="600"/>
              </a:spcBef>
              <a:defRPr sz="2000" b="0" i="1">
                <a:latin typeface="Times New Roman"/>
                <a:ea typeface="Times New Roman"/>
                <a:cs typeface="Times New Roman"/>
                <a:sym typeface="Times New Roman"/>
              </a:defRPr>
            </a:pPr>
            <a:endParaRPr dirty="0">
              <a:latin typeface="Times New Roman"/>
              <a:ea typeface="Times New Roman"/>
              <a:cs typeface="Times New Roman"/>
              <a:sym typeface="Times New Roman"/>
            </a:endParaRPr>
          </a:p>
          <a:p>
            <a:pPr algn="just">
              <a:lnSpc>
                <a:spcPct val="114000"/>
              </a:lnSpc>
              <a:spcBef>
                <a:spcPts val="600"/>
              </a:spcBef>
              <a:defRPr sz="2000" b="0">
                <a:latin typeface="Book Antiqua"/>
                <a:ea typeface="Book Antiqua"/>
                <a:cs typeface="Book Antiqua"/>
                <a:sym typeface="Book Antiqua"/>
              </a:defRPr>
            </a:pPr>
            <a:r>
              <a:rPr dirty="0" err="1"/>
              <a:t>L'interesse</a:t>
            </a:r>
            <a:r>
              <a:rPr dirty="0"/>
              <a:t> </a:t>
            </a:r>
            <a:r>
              <a:rPr dirty="0" err="1"/>
              <a:t>tutelato</a:t>
            </a:r>
            <a:r>
              <a:rPr dirty="0"/>
              <a:t> è </a:t>
            </a:r>
            <a:r>
              <a:rPr dirty="0" err="1"/>
              <a:t>il</a:t>
            </a:r>
            <a:r>
              <a:rPr dirty="0"/>
              <a:t> </a:t>
            </a:r>
            <a:r>
              <a:rPr b="1" dirty="0" err="1">
                <a:solidFill>
                  <a:srgbClr val="00B050"/>
                </a:solidFill>
              </a:rPr>
              <a:t>patrimonio</a:t>
            </a:r>
            <a:r>
              <a:rPr dirty="0"/>
              <a:t>, </a:t>
            </a:r>
            <a:r>
              <a:rPr dirty="0" err="1"/>
              <a:t>contro</a:t>
            </a:r>
            <a:r>
              <a:rPr dirty="0"/>
              <a:t> </a:t>
            </a:r>
            <a:r>
              <a:rPr dirty="0" err="1"/>
              <a:t>tutti</a:t>
            </a:r>
            <a:r>
              <a:rPr dirty="0"/>
              <a:t> </a:t>
            </a:r>
            <a:r>
              <a:rPr dirty="0" err="1"/>
              <a:t>quei</a:t>
            </a:r>
            <a:r>
              <a:rPr dirty="0"/>
              <a:t> </a:t>
            </a:r>
            <a:r>
              <a:rPr dirty="0" err="1"/>
              <a:t>comportamenti</a:t>
            </a:r>
            <a:r>
              <a:rPr dirty="0"/>
              <a:t> </a:t>
            </a:r>
            <a:r>
              <a:rPr dirty="0" err="1"/>
              <a:t>che</a:t>
            </a:r>
            <a:r>
              <a:rPr dirty="0"/>
              <a:t> </a:t>
            </a:r>
            <a:r>
              <a:rPr dirty="0" err="1"/>
              <a:t>ledono</a:t>
            </a:r>
            <a:r>
              <a:rPr dirty="0"/>
              <a:t> la </a:t>
            </a:r>
            <a:r>
              <a:rPr dirty="0" err="1"/>
              <a:t>buona</a:t>
            </a:r>
            <a:r>
              <a:rPr dirty="0"/>
              <a:t> </a:t>
            </a:r>
            <a:r>
              <a:rPr dirty="0" err="1"/>
              <a:t>fede</a:t>
            </a:r>
            <a:r>
              <a:rPr dirty="0"/>
              <a:t> </a:t>
            </a:r>
            <a:r>
              <a:rPr dirty="0" err="1"/>
              <a:t>contrattuale</a:t>
            </a:r>
            <a:r>
              <a:rPr dirty="0"/>
              <a:t>.</a:t>
            </a:r>
          </a:p>
          <a:p>
            <a:pPr algn="just">
              <a:lnSpc>
                <a:spcPct val="114000"/>
              </a:lnSpc>
              <a:spcBef>
                <a:spcPts val="600"/>
              </a:spcBef>
              <a:defRPr sz="2000">
                <a:solidFill>
                  <a:srgbClr val="3FC258"/>
                </a:solidFill>
                <a:latin typeface="Book Antiqua"/>
                <a:ea typeface="Book Antiqua"/>
                <a:cs typeface="Book Antiqua"/>
                <a:sym typeface="Book Antiqua"/>
              </a:defRPr>
            </a:pPr>
            <a:r>
              <a:rPr dirty="0" err="1">
                <a:solidFill>
                  <a:schemeClr val="accent2"/>
                </a:solidFill>
              </a:rPr>
              <a:t>Dissimulare</a:t>
            </a:r>
            <a:r>
              <a:rPr b="0" dirty="0">
                <a:solidFill>
                  <a:srgbClr val="000000"/>
                </a:solidFill>
              </a:rPr>
              <a:t> - </a:t>
            </a:r>
            <a:r>
              <a:rPr dirty="0" err="1">
                <a:solidFill>
                  <a:srgbClr val="000000"/>
                </a:solidFill>
              </a:rPr>
              <a:t>mantenere</a:t>
            </a:r>
            <a:r>
              <a:rPr dirty="0">
                <a:solidFill>
                  <a:srgbClr val="000000"/>
                </a:solidFill>
              </a:rPr>
              <a:t> la </a:t>
            </a:r>
            <a:r>
              <a:rPr dirty="0" err="1">
                <a:solidFill>
                  <a:srgbClr val="000000"/>
                </a:solidFill>
              </a:rPr>
              <a:t>vittima</a:t>
            </a:r>
            <a:r>
              <a:rPr dirty="0">
                <a:solidFill>
                  <a:srgbClr val="000000"/>
                </a:solidFill>
              </a:rPr>
              <a:t> in una </a:t>
            </a:r>
            <a:r>
              <a:rPr dirty="0" err="1">
                <a:solidFill>
                  <a:srgbClr val="000000"/>
                </a:solidFill>
              </a:rPr>
              <a:t>stato</a:t>
            </a:r>
            <a:r>
              <a:rPr dirty="0">
                <a:solidFill>
                  <a:srgbClr val="000000"/>
                </a:solidFill>
              </a:rPr>
              <a:t> di </a:t>
            </a:r>
            <a:r>
              <a:rPr dirty="0" err="1">
                <a:solidFill>
                  <a:srgbClr val="000000"/>
                </a:solidFill>
              </a:rPr>
              <a:t>ignoranza</a:t>
            </a:r>
            <a:r>
              <a:rPr dirty="0">
                <a:solidFill>
                  <a:srgbClr val="000000"/>
                </a:solidFill>
              </a:rPr>
              <a:t>.</a:t>
            </a:r>
            <a:endParaRPr b="0" dirty="0"/>
          </a:p>
          <a:p>
            <a:pPr algn="just">
              <a:lnSpc>
                <a:spcPct val="114000"/>
              </a:lnSpc>
              <a:spcBef>
                <a:spcPts val="1200"/>
              </a:spcBef>
              <a:defRPr sz="2000">
                <a:solidFill>
                  <a:srgbClr val="00B050"/>
                </a:solidFill>
                <a:latin typeface="Times New Roman"/>
                <a:ea typeface="Times New Roman"/>
                <a:cs typeface="Times New Roman"/>
                <a:sym typeface="Times New Roman"/>
              </a:defRPr>
            </a:pPr>
            <a:r>
              <a:rPr dirty="0" err="1"/>
              <a:t>stato</a:t>
            </a:r>
            <a:r>
              <a:rPr dirty="0"/>
              <a:t> di </a:t>
            </a:r>
            <a:r>
              <a:rPr dirty="0" err="1"/>
              <a:t>insolvenza</a:t>
            </a:r>
            <a:r>
              <a:rPr b="0" dirty="0">
                <a:solidFill>
                  <a:srgbClr val="000000"/>
                </a:solidFill>
              </a:rPr>
              <a:t> - </a:t>
            </a:r>
            <a:r>
              <a:rPr dirty="0" err="1">
                <a:solidFill>
                  <a:srgbClr val="000000"/>
                </a:solidFill>
              </a:rPr>
              <a:t>situazione</a:t>
            </a:r>
            <a:r>
              <a:rPr dirty="0">
                <a:solidFill>
                  <a:srgbClr val="000000"/>
                </a:solidFill>
              </a:rPr>
              <a:t> per la quale </a:t>
            </a:r>
            <a:r>
              <a:rPr dirty="0" err="1">
                <a:solidFill>
                  <a:srgbClr val="000000"/>
                </a:solidFill>
              </a:rPr>
              <a:t>il</a:t>
            </a:r>
            <a:r>
              <a:rPr dirty="0">
                <a:solidFill>
                  <a:srgbClr val="000000"/>
                </a:solidFill>
              </a:rPr>
              <a:t> </a:t>
            </a:r>
            <a:r>
              <a:rPr dirty="0" err="1">
                <a:solidFill>
                  <a:srgbClr val="000000"/>
                </a:solidFill>
              </a:rPr>
              <a:t>soggetto</a:t>
            </a:r>
            <a:r>
              <a:rPr dirty="0">
                <a:solidFill>
                  <a:srgbClr val="000000"/>
                </a:solidFill>
              </a:rPr>
              <a:t> </a:t>
            </a:r>
            <a:r>
              <a:rPr dirty="0" err="1">
                <a:solidFill>
                  <a:srgbClr val="000000"/>
                </a:solidFill>
              </a:rPr>
              <a:t>si</a:t>
            </a:r>
            <a:r>
              <a:rPr dirty="0">
                <a:solidFill>
                  <a:srgbClr val="000000"/>
                </a:solidFill>
              </a:rPr>
              <a:t> </a:t>
            </a:r>
            <a:r>
              <a:rPr dirty="0" err="1">
                <a:solidFill>
                  <a:srgbClr val="000000"/>
                </a:solidFill>
              </a:rPr>
              <a:t>trova</a:t>
            </a:r>
            <a:r>
              <a:rPr dirty="0">
                <a:solidFill>
                  <a:srgbClr val="000000"/>
                </a:solidFill>
              </a:rPr>
              <a:t> </a:t>
            </a:r>
            <a:r>
              <a:rPr dirty="0" err="1">
                <a:solidFill>
                  <a:srgbClr val="000000"/>
                </a:solidFill>
              </a:rPr>
              <a:t>nella</a:t>
            </a:r>
            <a:r>
              <a:rPr dirty="0">
                <a:solidFill>
                  <a:srgbClr val="000000"/>
                </a:solidFill>
              </a:rPr>
              <a:t> </a:t>
            </a:r>
            <a:r>
              <a:rPr dirty="0" err="1">
                <a:solidFill>
                  <a:srgbClr val="000000"/>
                </a:solidFill>
              </a:rPr>
              <a:t>condizione</a:t>
            </a:r>
            <a:r>
              <a:rPr dirty="0">
                <a:solidFill>
                  <a:srgbClr val="000000"/>
                </a:solidFill>
              </a:rPr>
              <a:t> di non </a:t>
            </a:r>
            <a:r>
              <a:rPr dirty="0" err="1">
                <a:solidFill>
                  <a:srgbClr val="000000"/>
                </a:solidFill>
              </a:rPr>
              <a:t>poter</a:t>
            </a:r>
            <a:r>
              <a:rPr dirty="0">
                <a:solidFill>
                  <a:srgbClr val="000000"/>
                </a:solidFill>
              </a:rPr>
              <a:t> </a:t>
            </a:r>
            <a:r>
              <a:rPr dirty="0" err="1">
                <a:solidFill>
                  <a:srgbClr val="000000"/>
                </a:solidFill>
              </a:rPr>
              <a:t>adempiere</a:t>
            </a:r>
            <a:r>
              <a:rPr dirty="0">
                <a:solidFill>
                  <a:srgbClr val="000000"/>
                </a:solidFill>
              </a:rPr>
              <a:t> </a:t>
            </a:r>
            <a:r>
              <a:rPr dirty="0" err="1">
                <a:solidFill>
                  <a:srgbClr val="000000"/>
                </a:solidFill>
              </a:rPr>
              <a:t>alle</a:t>
            </a:r>
            <a:r>
              <a:rPr dirty="0">
                <a:solidFill>
                  <a:srgbClr val="000000"/>
                </a:solidFill>
              </a:rPr>
              <a:t> </a:t>
            </a:r>
            <a:r>
              <a:rPr dirty="0" err="1">
                <a:solidFill>
                  <a:srgbClr val="000000"/>
                </a:solidFill>
              </a:rPr>
              <a:t>obbligazioni</a:t>
            </a:r>
            <a:r>
              <a:rPr dirty="0">
                <a:solidFill>
                  <a:srgbClr val="000000"/>
                </a:solidFill>
              </a:rPr>
              <a:t> </a:t>
            </a:r>
            <a:r>
              <a:rPr dirty="0" err="1">
                <a:solidFill>
                  <a:srgbClr val="000000"/>
                </a:solidFill>
              </a:rPr>
              <a:t>assunte</a:t>
            </a:r>
            <a:r>
              <a:rPr dirty="0">
                <a:solidFill>
                  <a:srgbClr val="000000"/>
                </a:solidFill>
              </a:rPr>
              <a:t> per </a:t>
            </a:r>
            <a:r>
              <a:rPr dirty="0" err="1">
                <a:solidFill>
                  <a:srgbClr val="000000"/>
                </a:solidFill>
              </a:rPr>
              <a:t>motivi</a:t>
            </a:r>
            <a:r>
              <a:rPr dirty="0">
                <a:solidFill>
                  <a:srgbClr val="000000"/>
                </a:solidFill>
              </a:rPr>
              <a:t> </a:t>
            </a:r>
            <a:r>
              <a:rPr dirty="0" err="1">
                <a:solidFill>
                  <a:srgbClr val="000000"/>
                </a:solidFill>
              </a:rPr>
              <a:t>economico-finanziari</a:t>
            </a:r>
            <a:r>
              <a:rPr b="0" dirty="0">
                <a:solidFill>
                  <a:srgbClr val="000000"/>
                </a:solidFill>
              </a:rPr>
              <a:t>;</a:t>
            </a:r>
          </a:p>
        </p:txBody>
      </p:sp>
      <p:pic>
        <p:nvPicPr>
          <p:cNvPr id="329" name="Immagine 3" descr="Immagine 3"/>
          <p:cNvPicPr>
            <a:picLocks noChangeAspect="1"/>
          </p:cNvPicPr>
          <p:nvPr/>
        </p:nvPicPr>
        <p:blipFill>
          <a:blip r:embed="rId3"/>
          <a:stretch>
            <a:fillRect/>
          </a:stretch>
        </p:blipFill>
        <p:spPr>
          <a:xfrm>
            <a:off x="136850" y="67097"/>
            <a:ext cx="435671" cy="753167"/>
          </a:xfrm>
          <a:prstGeom prst="rect">
            <a:avLst/>
          </a:prstGeom>
          <a:ln w="12700">
            <a:miter lim="400000"/>
          </a:ln>
        </p:spPr>
      </p:pic>
      <p:sp>
        <p:nvSpPr>
          <p:cNvPr id="330"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Insolvenza fraudolenta</a:t>
            </a:r>
          </a:p>
        </p:txBody>
      </p:sp>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Rettangolo 4"/>
          <p:cNvSpPr txBox="1"/>
          <p:nvPr/>
        </p:nvSpPr>
        <p:spPr>
          <a:xfrm>
            <a:off x="45719" y="980729"/>
            <a:ext cx="9052561" cy="43098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u="sng">
                <a:latin typeface="Times New Roman"/>
                <a:ea typeface="Times New Roman"/>
                <a:cs typeface="Times New Roman"/>
                <a:sym typeface="Times New Roman"/>
              </a:defRPr>
            </a:pPr>
            <a:r>
              <a:t>ELEMENTO OGGETTIVO</a:t>
            </a:r>
            <a:r>
              <a:rPr b="0" u="none"/>
              <a:t>: la fattispecie criminosa in questione ha una struttura piuttosto articolata, in quanto costituita da:</a:t>
            </a:r>
          </a:p>
          <a:p>
            <a:pPr algn="just">
              <a:lnSpc>
                <a:spcPct val="114000"/>
              </a:lnSpc>
              <a:spcBef>
                <a:spcPts val="1200"/>
              </a:spcBef>
              <a:defRPr sz="2200" b="0">
                <a:latin typeface="Times New Roman"/>
                <a:ea typeface="Times New Roman"/>
                <a:cs typeface="Times New Roman"/>
                <a:sym typeface="Times New Roman"/>
              </a:defRPr>
            </a:pPr>
            <a:r>
              <a:t>1. </a:t>
            </a:r>
            <a:r>
              <a:rPr b="1">
                <a:solidFill>
                  <a:srgbClr val="00B050"/>
                </a:solidFill>
              </a:rPr>
              <a:t>DISSIMULAZIONE DELLO STATO DI INSOLVENZA</a:t>
            </a:r>
            <a:r>
              <a:t>: la dissimulazione consiste in un fatto che, </a:t>
            </a:r>
            <a:r>
              <a:rPr u="sng"/>
              <a:t>senza assumere le caratteristiche degli artifizi o dei raggiri</a:t>
            </a:r>
            <a:r>
              <a:t>, è tale da </a:t>
            </a:r>
            <a:r>
              <a:rPr b="1"/>
              <a:t>guadagnare la fiducia del soggetto passivo</a:t>
            </a:r>
            <a:r>
              <a:t>, così da vincere la sua normale diligenza nei rapporti contrattuali e da metterlo in condizione di non rendersi conto dello stato di insolvenza dell'agente (così Cassazione n. 714 del 1970). La dissimulazione </a:t>
            </a:r>
            <a:r>
              <a:rPr u="sng"/>
              <a:t>può estrinsecarsi anche attraverso il </a:t>
            </a:r>
            <a:r>
              <a:rPr b="1" u="sng"/>
              <a:t>silenzio</a:t>
            </a:r>
            <a:r>
              <a:t>, quando lo stato di insolvenza non è manifestato alla controparte e quando l'intenzione di non adempiere agli impegni assunti sussiste fin dal momento della conclusione del contratto.</a:t>
            </a:r>
          </a:p>
        </p:txBody>
      </p:sp>
      <p:pic>
        <p:nvPicPr>
          <p:cNvPr id="333"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34"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Insolvenza fraudolenta</a:t>
            </a:r>
          </a:p>
        </p:txBody>
      </p:sp>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Rettangolo 4"/>
          <p:cNvSpPr txBox="1"/>
          <p:nvPr/>
        </p:nvSpPr>
        <p:spPr>
          <a:xfrm>
            <a:off x="45719" y="980729"/>
            <a:ext cx="9052561" cy="423986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t>2. </a:t>
            </a:r>
            <a:r>
              <a:rPr b="1">
                <a:solidFill>
                  <a:srgbClr val="00B050"/>
                </a:solidFill>
              </a:rPr>
              <a:t>ASSUNZIONE DI UN'OBBLIGAZIONE</a:t>
            </a:r>
            <a:r>
              <a:t>:  per il quale il creditore può pretendere che il debitore esegua una determinata prestazione; </a:t>
            </a:r>
            <a:r>
              <a:rPr b="1">
                <a:solidFill>
                  <a:srgbClr val="00B050"/>
                </a:solidFill>
              </a:rPr>
              <a:t>le obbligazioni rilevanti sono quelle a prestazioni corrispettive</a:t>
            </a:r>
            <a:r>
              <a:t>. </a:t>
            </a:r>
          </a:p>
          <a:p>
            <a:pPr algn="just">
              <a:lnSpc>
                <a:spcPct val="114000"/>
              </a:lnSpc>
              <a:spcBef>
                <a:spcPts val="1200"/>
              </a:spcBef>
              <a:defRPr sz="2200" b="0">
                <a:latin typeface="Times New Roman"/>
                <a:ea typeface="Times New Roman"/>
                <a:cs typeface="Times New Roman"/>
                <a:sym typeface="Times New Roman"/>
              </a:defRPr>
            </a:pPr>
            <a:r>
              <a:t>Rimangono </a:t>
            </a:r>
            <a:r>
              <a:rPr b="1" u="sng"/>
              <a:t>escluse quelle a titolo gratuito</a:t>
            </a:r>
            <a:r>
              <a:t>, perché l'inadempimento non comporta alcuna diminuzione patrimoniale, </a:t>
            </a:r>
            <a:r>
              <a:rPr b="1" u="sng"/>
              <a:t>quelle la cui prestazione consiste in un facere</a:t>
            </a:r>
            <a:r>
              <a:t> di tipo personale e non in un dare;</a:t>
            </a:r>
          </a:p>
          <a:p>
            <a:pPr algn="just">
              <a:lnSpc>
                <a:spcPct val="114000"/>
              </a:lnSpc>
              <a:spcBef>
                <a:spcPts val="1200"/>
              </a:spcBef>
              <a:defRPr sz="2200" b="0">
                <a:latin typeface="Times New Roman"/>
                <a:ea typeface="Times New Roman"/>
                <a:cs typeface="Times New Roman"/>
                <a:sym typeface="Times New Roman"/>
              </a:defRPr>
            </a:pPr>
            <a:endParaRPr/>
          </a:p>
          <a:p>
            <a:pPr algn="just">
              <a:lnSpc>
                <a:spcPct val="114000"/>
              </a:lnSpc>
              <a:spcBef>
                <a:spcPts val="1200"/>
              </a:spcBef>
              <a:defRPr sz="2200" b="0">
                <a:latin typeface="Times New Roman"/>
                <a:ea typeface="Times New Roman"/>
                <a:cs typeface="Times New Roman"/>
                <a:sym typeface="Times New Roman"/>
              </a:defRPr>
            </a:pPr>
            <a:r>
              <a:t>3. </a:t>
            </a:r>
            <a:r>
              <a:rPr b="1">
                <a:solidFill>
                  <a:srgbClr val="00B050"/>
                </a:solidFill>
              </a:rPr>
              <a:t>INADEMPIMENTO DELL'OBBLIGAZIONE CONTRATTA</a:t>
            </a:r>
            <a:r>
              <a:t>: l'inadempimento si ha quando il soggetto obbligato </a:t>
            </a:r>
            <a:r>
              <a:rPr b="1">
                <a:solidFill>
                  <a:srgbClr val="00B050"/>
                </a:solidFill>
              </a:rPr>
              <a:t>non esegue le prestazioni contrattuali pattuite.</a:t>
            </a:r>
          </a:p>
        </p:txBody>
      </p:sp>
      <p:pic>
        <p:nvPicPr>
          <p:cNvPr id="337"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38"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Insolvenza fraudolenta</a:t>
            </a:r>
          </a:p>
        </p:txBody>
      </p:sp>
    </p:spTree>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Rettangolo 4"/>
          <p:cNvSpPr txBox="1"/>
          <p:nvPr/>
        </p:nvSpPr>
        <p:spPr>
          <a:xfrm>
            <a:off x="45719" y="980729"/>
            <a:ext cx="9052561" cy="53088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rPr dirty="0"/>
              <a:t>La </a:t>
            </a:r>
            <a:r>
              <a:rPr dirty="0" err="1"/>
              <a:t>punibilità</a:t>
            </a:r>
            <a:r>
              <a:rPr dirty="0"/>
              <a:t> del </a:t>
            </a:r>
            <a:r>
              <a:rPr dirty="0" err="1"/>
              <a:t>comportamento</a:t>
            </a:r>
            <a:r>
              <a:rPr dirty="0"/>
              <a:t> </a:t>
            </a:r>
            <a:r>
              <a:rPr dirty="0" err="1"/>
              <a:t>illecito</a:t>
            </a:r>
            <a:r>
              <a:rPr dirty="0"/>
              <a:t>, </a:t>
            </a:r>
            <a:r>
              <a:rPr dirty="0" err="1"/>
              <a:t>pertanto</a:t>
            </a:r>
            <a:r>
              <a:rPr dirty="0"/>
              <a:t>, </a:t>
            </a:r>
            <a:r>
              <a:rPr dirty="0" err="1"/>
              <a:t>sussiste</a:t>
            </a:r>
            <a:r>
              <a:rPr dirty="0"/>
              <a:t> </a:t>
            </a:r>
            <a:r>
              <a:rPr dirty="0" err="1"/>
              <a:t>soltanto</a:t>
            </a:r>
            <a:r>
              <a:rPr dirty="0"/>
              <a:t> </a:t>
            </a:r>
            <a:r>
              <a:rPr dirty="0" err="1"/>
              <a:t>qualora</a:t>
            </a:r>
            <a:r>
              <a:rPr dirty="0"/>
              <a:t> </a:t>
            </a:r>
            <a:r>
              <a:rPr b="1" dirty="0" err="1">
                <a:solidFill>
                  <a:srgbClr val="00B050"/>
                </a:solidFill>
              </a:rPr>
              <a:t>l'obbligazione</a:t>
            </a:r>
            <a:r>
              <a:rPr b="1" dirty="0">
                <a:solidFill>
                  <a:srgbClr val="00B050"/>
                </a:solidFill>
              </a:rPr>
              <a:t> non </a:t>
            </a:r>
            <a:r>
              <a:rPr b="1" dirty="0" err="1">
                <a:solidFill>
                  <a:srgbClr val="00B050"/>
                </a:solidFill>
              </a:rPr>
              <a:t>sia</a:t>
            </a:r>
            <a:r>
              <a:rPr b="1" dirty="0">
                <a:solidFill>
                  <a:srgbClr val="00B050"/>
                </a:solidFill>
              </a:rPr>
              <a:t> in </a:t>
            </a:r>
            <a:r>
              <a:rPr b="1" dirty="0" err="1">
                <a:solidFill>
                  <a:srgbClr val="00B050"/>
                </a:solidFill>
              </a:rPr>
              <a:t>concreto</a:t>
            </a:r>
            <a:r>
              <a:rPr b="1" dirty="0">
                <a:solidFill>
                  <a:srgbClr val="00B050"/>
                </a:solidFill>
              </a:rPr>
              <a:t> </a:t>
            </a:r>
            <a:r>
              <a:rPr b="1" dirty="0" err="1">
                <a:solidFill>
                  <a:srgbClr val="00B050"/>
                </a:solidFill>
              </a:rPr>
              <a:t>adempiuta</a:t>
            </a:r>
            <a:r>
              <a:rPr dirty="0"/>
              <a:t>.</a:t>
            </a:r>
          </a:p>
          <a:p>
            <a:pPr algn="just">
              <a:lnSpc>
                <a:spcPct val="114000"/>
              </a:lnSpc>
              <a:spcBef>
                <a:spcPts val="1200"/>
              </a:spcBef>
              <a:defRPr sz="2200" b="0">
                <a:latin typeface="Times New Roman"/>
                <a:ea typeface="Times New Roman"/>
                <a:cs typeface="Times New Roman"/>
                <a:sym typeface="Times New Roman"/>
              </a:defRPr>
            </a:pPr>
            <a:endParaRPr dirty="0"/>
          </a:p>
          <a:p>
            <a:pPr algn="just">
              <a:lnSpc>
                <a:spcPct val="114000"/>
              </a:lnSpc>
              <a:spcBef>
                <a:spcPts val="1200"/>
              </a:spcBef>
              <a:defRPr sz="2200" b="0">
                <a:latin typeface="Times New Roman"/>
                <a:ea typeface="Times New Roman"/>
                <a:cs typeface="Times New Roman"/>
                <a:sym typeface="Times New Roman"/>
              </a:defRPr>
            </a:pPr>
            <a:r>
              <a:rPr dirty="0"/>
              <a:t>Il c. 2 </a:t>
            </a:r>
            <a:r>
              <a:rPr dirty="0" err="1"/>
              <a:t>prevede</a:t>
            </a:r>
            <a:r>
              <a:rPr dirty="0"/>
              <a:t> una </a:t>
            </a:r>
            <a:r>
              <a:rPr b="1" u="sng" dirty="0">
                <a:solidFill>
                  <a:srgbClr val="FF0000"/>
                </a:solidFill>
              </a:rPr>
              <a:t>causa di non </a:t>
            </a:r>
            <a:r>
              <a:rPr b="1" u="sng" dirty="0" err="1">
                <a:solidFill>
                  <a:srgbClr val="FF0000"/>
                </a:solidFill>
              </a:rPr>
              <a:t>punibilità</a:t>
            </a:r>
            <a:r>
              <a:rPr b="1" u="sng" dirty="0">
                <a:solidFill>
                  <a:srgbClr val="FF0000"/>
                </a:solidFill>
              </a:rPr>
              <a:t> </a:t>
            </a:r>
            <a:r>
              <a:rPr b="1" u="sng" dirty="0" err="1">
                <a:solidFill>
                  <a:srgbClr val="FF0000"/>
                </a:solidFill>
              </a:rPr>
              <a:t>speciale</a:t>
            </a:r>
            <a:r>
              <a:rPr b="1" u="sng" dirty="0">
                <a:solidFill>
                  <a:srgbClr val="FF0000"/>
                </a:solidFill>
              </a:rPr>
              <a:t> </a:t>
            </a:r>
            <a:r>
              <a:rPr dirty="0" err="1"/>
              <a:t>nel</a:t>
            </a:r>
            <a:r>
              <a:rPr dirty="0"/>
              <a:t> </a:t>
            </a:r>
            <a:r>
              <a:rPr dirty="0" err="1"/>
              <a:t>fatto</a:t>
            </a:r>
            <a:r>
              <a:rPr dirty="0"/>
              <a:t> di </a:t>
            </a:r>
            <a:r>
              <a:rPr b="1" dirty="0"/>
              <a:t>chi </a:t>
            </a:r>
            <a:r>
              <a:rPr b="1" dirty="0" err="1"/>
              <a:t>adempie</a:t>
            </a:r>
            <a:r>
              <a:rPr b="1" dirty="0"/>
              <a:t> </a:t>
            </a:r>
            <a:r>
              <a:rPr b="1" dirty="0" err="1"/>
              <a:t>all'obbligazione</a:t>
            </a:r>
            <a:r>
              <a:rPr b="1" dirty="0"/>
              <a:t> prima </a:t>
            </a:r>
            <a:r>
              <a:rPr b="1" dirty="0" err="1"/>
              <a:t>che</a:t>
            </a:r>
            <a:r>
              <a:rPr b="1" dirty="0"/>
              <a:t> </a:t>
            </a:r>
            <a:r>
              <a:rPr b="1" dirty="0" err="1"/>
              <a:t>sia</a:t>
            </a:r>
            <a:r>
              <a:rPr b="1" dirty="0"/>
              <a:t> </a:t>
            </a:r>
            <a:r>
              <a:rPr b="1" dirty="0" err="1"/>
              <a:t>stata</a:t>
            </a:r>
            <a:r>
              <a:rPr b="1" dirty="0"/>
              <a:t> </a:t>
            </a:r>
            <a:r>
              <a:rPr b="1" dirty="0" err="1"/>
              <a:t>pronunciata</a:t>
            </a:r>
            <a:r>
              <a:rPr b="1" dirty="0"/>
              <a:t> la </a:t>
            </a:r>
            <a:r>
              <a:rPr b="1" dirty="0" err="1"/>
              <a:t>sentenza</a:t>
            </a:r>
            <a:r>
              <a:rPr b="1" dirty="0"/>
              <a:t> di </a:t>
            </a:r>
            <a:r>
              <a:rPr b="1" dirty="0" err="1"/>
              <a:t>condanna</a:t>
            </a:r>
            <a:r>
              <a:rPr dirty="0"/>
              <a:t>: ossia </a:t>
            </a:r>
            <a:r>
              <a:rPr dirty="0" err="1"/>
              <a:t>fino</a:t>
            </a:r>
            <a:r>
              <a:rPr dirty="0"/>
              <a:t> al </a:t>
            </a:r>
            <a:r>
              <a:rPr dirty="0" err="1"/>
              <a:t>momento</a:t>
            </a:r>
            <a:r>
              <a:rPr dirty="0"/>
              <a:t> in cui la </a:t>
            </a:r>
            <a:r>
              <a:rPr dirty="0" err="1"/>
              <a:t>sentenza</a:t>
            </a:r>
            <a:r>
              <a:rPr dirty="0"/>
              <a:t> </a:t>
            </a:r>
            <a:r>
              <a:rPr dirty="0" err="1"/>
              <a:t>passa</a:t>
            </a:r>
            <a:r>
              <a:rPr dirty="0"/>
              <a:t> in </a:t>
            </a:r>
            <a:r>
              <a:rPr dirty="0" err="1"/>
              <a:t>giudicato</a:t>
            </a:r>
            <a:r>
              <a:rPr dirty="0"/>
              <a:t>.</a:t>
            </a:r>
          </a:p>
          <a:p>
            <a:pPr algn="just">
              <a:lnSpc>
                <a:spcPct val="114000"/>
              </a:lnSpc>
              <a:spcBef>
                <a:spcPts val="1200"/>
              </a:spcBef>
              <a:defRPr sz="2200" b="0">
                <a:latin typeface="Times New Roman"/>
                <a:ea typeface="Times New Roman"/>
                <a:cs typeface="Times New Roman"/>
                <a:sym typeface="Times New Roman"/>
              </a:defRPr>
            </a:pPr>
            <a:endParaRPr dirty="0"/>
          </a:p>
          <a:p>
            <a:pPr algn="just">
              <a:lnSpc>
                <a:spcPct val="114000"/>
              </a:lnSpc>
              <a:spcBef>
                <a:spcPts val="1200"/>
              </a:spcBef>
              <a:defRPr sz="2200">
                <a:latin typeface="Times New Roman"/>
                <a:ea typeface="Times New Roman"/>
                <a:cs typeface="Times New Roman"/>
                <a:sym typeface="Times New Roman"/>
              </a:defRPr>
            </a:pPr>
            <a:r>
              <a:rPr dirty="0"/>
              <a:t>ELEMENTO SOGGETTIVO</a:t>
            </a:r>
            <a:r>
              <a:rPr b="0" dirty="0"/>
              <a:t>: è </a:t>
            </a:r>
            <a:r>
              <a:rPr b="0" dirty="0" err="1"/>
              <a:t>dubbio</a:t>
            </a:r>
            <a:r>
              <a:rPr b="0" dirty="0"/>
              <a:t>: </a:t>
            </a:r>
            <a:r>
              <a:rPr dirty="0">
                <a:solidFill>
                  <a:srgbClr val="00B050"/>
                </a:solidFill>
              </a:rPr>
              <a:t>DOLO GENERICO</a:t>
            </a:r>
            <a:r>
              <a:rPr b="0" dirty="0"/>
              <a:t>, secondo </a:t>
            </a:r>
            <a:r>
              <a:rPr b="0" dirty="0" err="1"/>
              <a:t>alcuni</a:t>
            </a:r>
            <a:r>
              <a:rPr b="0" dirty="0"/>
              <a:t>, </a:t>
            </a:r>
            <a:r>
              <a:rPr lang="it-IT" b="0" dirty="0"/>
              <a:t>( ritengono che l’inadempimento costituisca elemento del reato) </a:t>
            </a:r>
            <a:r>
              <a:rPr b="0" dirty="0" err="1"/>
              <a:t>perché</a:t>
            </a:r>
            <a:r>
              <a:rPr b="0" dirty="0"/>
              <a:t> vi è la </a:t>
            </a:r>
            <a:r>
              <a:rPr b="0" dirty="0" err="1"/>
              <a:t>coscienza</a:t>
            </a:r>
            <a:r>
              <a:rPr b="0" dirty="0"/>
              <a:t> e </a:t>
            </a:r>
            <a:r>
              <a:rPr b="0" dirty="0" err="1"/>
              <a:t>volontà</a:t>
            </a:r>
            <a:r>
              <a:rPr b="0" dirty="0"/>
              <a:t> del </a:t>
            </a:r>
            <a:r>
              <a:rPr b="0" dirty="0" err="1"/>
              <a:t>fatto</a:t>
            </a:r>
            <a:r>
              <a:rPr b="0" dirty="0"/>
              <a:t> </a:t>
            </a:r>
            <a:r>
              <a:rPr b="0" dirty="0" err="1"/>
              <a:t>tipico</a:t>
            </a:r>
            <a:r>
              <a:rPr b="0" dirty="0"/>
              <a:t> </a:t>
            </a:r>
            <a:r>
              <a:rPr b="0" dirty="0" err="1"/>
              <a:t>previsto</a:t>
            </a:r>
            <a:r>
              <a:rPr b="0" dirty="0"/>
              <a:t> </a:t>
            </a:r>
            <a:r>
              <a:rPr b="0" dirty="0" err="1"/>
              <a:t>dalla</a:t>
            </a:r>
            <a:r>
              <a:rPr b="0" dirty="0"/>
              <a:t> </a:t>
            </a:r>
            <a:r>
              <a:rPr b="0" dirty="0" err="1"/>
              <a:t>norma</a:t>
            </a:r>
            <a:r>
              <a:rPr b="0" dirty="0"/>
              <a:t> </a:t>
            </a:r>
            <a:r>
              <a:rPr b="0" dirty="0" err="1"/>
              <a:t>incriminatrice</a:t>
            </a:r>
            <a:r>
              <a:rPr b="0" dirty="0"/>
              <a:t>; </a:t>
            </a:r>
            <a:r>
              <a:rPr dirty="0">
                <a:solidFill>
                  <a:srgbClr val="00B050"/>
                </a:solidFill>
              </a:rPr>
              <a:t>DOLO SPECIFICO</a:t>
            </a:r>
            <a:r>
              <a:rPr b="0" dirty="0"/>
              <a:t>, secondo </a:t>
            </a:r>
            <a:r>
              <a:rPr b="0" dirty="0" err="1"/>
              <a:t>altri</a:t>
            </a:r>
            <a:r>
              <a:rPr b="0" dirty="0"/>
              <a:t>, </a:t>
            </a:r>
            <a:r>
              <a:rPr b="0" dirty="0" err="1"/>
              <a:t>perché</a:t>
            </a:r>
            <a:r>
              <a:rPr b="0" dirty="0"/>
              <a:t> vi è lo </a:t>
            </a:r>
            <a:r>
              <a:rPr b="0" dirty="0" err="1"/>
              <a:t>scopo</a:t>
            </a:r>
            <a:r>
              <a:rPr b="0" dirty="0"/>
              <a:t> di non </a:t>
            </a:r>
            <a:r>
              <a:rPr b="0" dirty="0" err="1"/>
              <a:t>adempiere</a:t>
            </a:r>
            <a:r>
              <a:rPr b="0" dirty="0"/>
              <a:t> </a:t>
            </a:r>
            <a:r>
              <a:rPr b="0" dirty="0" err="1"/>
              <a:t>all'obbligazione</a:t>
            </a:r>
            <a:r>
              <a:rPr lang="it-IT" b="0" dirty="0"/>
              <a:t>- ricavando cosi profitto</a:t>
            </a:r>
            <a:r>
              <a:rPr b="0" dirty="0"/>
              <a:t>.</a:t>
            </a:r>
          </a:p>
        </p:txBody>
      </p:sp>
      <p:pic>
        <p:nvPicPr>
          <p:cNvPr id="341"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42"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Insolvenza fraudolenta</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Rettangolo 4"/>
          <p:cNvSpPr txBox="1"/>
          <p:nvPr/>
        </p:nvSpPr>
        <p:spPr>
          <a:xfrm>
            <a:off x="172106" y="1576109"/>
            <a:ext cx="8649797" cy="32253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rPr dirty="0"/>
              <a:t>È un </a:t>
            </a:r>
            <a:r>
              <a:rPr b="1" dirty="0">
                <a:solidFill>
                  <a:srgbClr val="00B050"/>
                </a:solidFill>
              </a:rPr>
              <a:t>REATO COMUNE</a:t>
            </a:r>
            <a:r>
              <a:rPr dirty="0"/>
              <a:t>, </a:t>
            </a:r>
            <a:r>
              <a:rPr b="1" dirty="0">
                <a:solidFill>
                  <a:srgbClr val="00B050"/>
                </a:solidFill>
              </a:rPr>
              <a:t>DI DANNO</a:t>
            </a:r>
            <a:r>
              <a:rPr dirty="0"/>
              <a:t>, </a:t>
            </a:r>
            <a:r>
              <a:rPr dirty="0" err="1"/>
              <a:t>perché</a:t>
            </a:r>
            <a:r>
              <a:rPr dirty="0"/>
              <a:t> </a:t>
            </a:r>
            <a:r>
              <a:rPr dirty="0" err="1"/>
              <a:t>richiede</a:t>
            </a:r>
            <a:r>
              <a:rPr dirty="0"/>
              <a:t> </a:t>
            </a:r>
            <a:r>
              <a:rPr dirty="0" err="1"/>
              <a:t>l'offesa</a:t>
            </a:r>
            <a:r>
              <a:rPr dirty="0"/>
              <a:t> in </a:t>
            </a:r>
            <a:r>
              <a:rPr dirty="0" err="1"/>
              <a:t>senso</a:t>
            </a:r>
            <a:r>
              <a:rPr dirty="0"/>
              <a:t> </a:t>
            </a:r>
            <a:r>
              <a:rPr dirty="0" err="1"/>
              <a:t>naturalistico</a:t>
            </a:r>
            <a:r>
              <a:rPr dirty="0"/>
              <a:t> del bene </a:t>
            </a:r>
            <a:r>
              <a:rPr dirty="0" err="1"/>
              <a:t>protetto</a:t>
            </a:r>
            <a:r>
              <a:rPr dirty="0"/>
              <a:t>; </a:t>
            </a:r>
            <a:r>
              <a:rPr b="1" dirty="0">
                <a:solidFill>
                  <a:srgbClr val="00B050"/>
                </a:solidFill>
              </a:rPr>
              <a:t>DI MERA CONDOTTA</a:t>
            </a:r>
            <a:r>
              <a:rPr dirty="0"/>
              <a:t>, </a:t>
            </a:r>
            <a:r>
              <a:rPr dirty="0" err="1"/>
              <a:t>perché</a:t>
            </a:r>
            <a:r>
              <a:rPr dirty="0"/>
              <a:t> </a:t>
            </a:r>
            <a:r>
              <a:rPr dirty="0" err="1"/>
              <a:t>si</a:t>
            </a:r>
            <a:r>
              <a:rPr dirty="0"/>
              <a:t> </a:t>
            </a:r>
            <a:r>
              <a:rPr dirty="0" err="1"/>
              <a:t>perfeziona</a:t>
            </a:r>
            <a:r>
              <a:rPr dirty="0"/>
              <a:t> con la semplice </a:t>
            </a:r>
            <a:r>
              <a:rPr dirty="0" err="1"/>
              <a:t>esecuzione</a:t>
            </a:r>
            <a:r>
              <a:rPr dirty="0"/>
              <a:t> </a:t>
            </a:r>
            <a:r>
              <a:rPr dirty="0" err="1"/>
              <a:t>dell'azione</a:t>
            </a:r>
            <a:r>
              <a:rPr dirty="0"/>
              <a:t> </a:t>
            </a:r>
            <a:r>
              <a:rPr dirty="0" err="1"/>
              <a:t>illecita</a:t>
            </a:r>
            <a:r>
              <a:rPr dirty="0"/>
              <a:t>; </a:t>
            </a:r>
            <a:r>
              <a:rPr b="1" dirty="0">
                <a:solidFill>
                  <a:srgbClr val="00B050"/>
                </a:solidFill>
              </a:rPr>
              <a:t>A FORMA VINCOLATA</a:t>
            </a:r>
            <a:r>
              <a:rPr dirty="0"/>
              <a:t>, </a:t>
            </a:r>
            <a:r>
              <a:rPr dirty="0" err="1"/>
              <a:t>perché</a:t>
            </a:r>
            <a:r>
              <a:rPr dirty="0"/>
              <a:t> la </a:t>
            </a:r>
            <a:r>
              <a:rPr dirty="0" err="1"/>
              <a:t>condotta</a:t>
            </a:r>
            <a:r>
              <a:rPr dirty="0"/>
              <a:t> </a:t>
            </a:r>
            <a:r>
              <a:rPr dirty="0" err="1"/>
              <a:t>tipica</a:t>
            </a:r>
            <a:r>
              <a:rPr dirty="0"/>
              <a:t> è </a:t>
            </a:r>
            <a:r>
              <a:rPr dirty="0" err="1"/>
              <a:t>prestabilita</a:t>
            </a:r>
            <a:r>
              <a:rPr dirty="0"/>
              <a:t> dal </a:t>
            </a:r>
            <a:r>
              <a:rPr dirty="0" err="1"/>
              <a:t>legislatore</a:t>
            </a:r>
            <a:r>
              <a:rPr dirty="0"/>
              <a:t>.</a:t>
            </a:r>
          </a:p>
          <a:p>
            <a:pPr algn="just">
              <a:lnSpc>
                <a:spcPct val="114000"/>
              </a:lnSpc>
              <a:spcBef>
                <a:spcPts val="1200"/>
              </a:spcBef>
              <a:defRPr sz="2200" b="0">
                <a:latin typeface="Times New Roman"/>
                <a:ea typeface="Times New Roman"/>
                <a:cs typeface="Times New Roman"/>
                <a:sym typeface="Times New Roman"/>
              </a:defRPr>
            </a:pPr>
            <a:endParaRPr dirty="0"/>
          </a:p>
          <a:p>
            <a:pPr algn="just">
              <a:lnSpc>
                <a:spcPct val="114000"/>
              </a:lnSpc>
              <a:spcBef>
                <a:spcPts val="1200"/>
              </a:spcBef>
              <a:defRPr sz="2200" b="0">
                <a:latin typeface="Times New Roman"/>
                <a:ea typeface="Times New Roman"/>
                <a:cs typeface="Times New Roman"/>
                <a:sym typeface="Times New Roman"/>
              </a:defRPr>
            </a:pPr>
            <a:r>
              <a:rPr dirty="0"/>
              <a:t>Si </a:t>
            </a:r>
            <a:r>
              <a:rPr dirty="0" err="1"/>
              <a:t>consuma</a:t>
            </a:r>
            <a:r>
              <a:rPr dirty="0"/>
              <a:t> </a:t>
            </a:r>
            <a:r>
              <a:rPr dirty="0" err="1"/>
              <a:t>nel</a:t>
            </a:r>
            <a:r>
              <a:rPr dirty="0"/>
              <a:t> </a:t>
            </a:r>
            <a:r>
              <a:rPr dirty="0" err="1"/>
              <a:t>momento</a:t>
            </a:r>
            <a:r>
              <a:rPr dirty="0"/>
              <a:t> in cui </a:t>
            </a:r>
            <a:r>
              <a:rPr dirty="0" err="1"/>
              <a:t>viene</a:t>
            </a:r>
            <a:r>
              <a:rPr dirty="0"/>
              <a:t> </a:t>
            </a:r>
            <a:r>
              <a:rPr b="1" dirty="0" err="1"/>
              <a:t>realizzato</a:t>
            </a:r>
            <a:r>
              <a:rPr b="1" dirty="0"/>
              <a:t> </a:t>
            </a:r>
            <a:r>
              <a:rPr b="1" dirty="0" err="1"/>
              <a:t>l’inadempimento</a:t>
            </a:r>
            <a:r>
              <a:rPr b="1" dirty="0"/>
              <a:t>.</a:t>
            </a:r>
          </a:p>
          <a:p>
            <a:pPr algn="just">
              <a:lnSpc>
                <a:spcPct val="114000"/>
              </a:lnSpc>
              <a:spcBef>
                <a:spcPts val="1200"/>
              </a:spcBef>
              <a:defRPr sz="2200">
                <a:latin typeface="Times New Roman"/>
                <a:ea typeface="Times New Roman"/>
                <a:cs typeface="Times New Roman"/>
                <a:sym typeface="Times New Roman"/>
              </a:defRPr>
            </a:pPr>
            <a:endParaRPr b="1" dirty="0"/>
          </a:p>
        </p:txBody>
      </p:sp>
      <p:pic>
        <p:nvPicPr>
          <p:cNvPr id="345"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46"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Insolvenza fraudolenta</a:t>
            </a:r>
          </a:p>
        </p:txBody>
      </p:sp>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 name="Insolvenza fraudolenta"/>
          <p:cNvSpPr txBox="1">
            <a:spLocks noGrp="1"/>
          </p:cNvSpPr>
          <p:nvPr>
            <p:ph type="title"/>
          </p:nvPr>
        </p:nvSpPr>
        <p:spPr>
          <a:xfrm>
            <a:off x="697130" y="-125246"/>
            <a:ext cx="8229601" cy="1143001"/>
          </a:xfrm>
          <a:prstGeom prst="rect">
            <a:avLst/>
          </a:prstGeom>
        </p:spPr>
        <p:txBody>
          <a:bodyPr/>
          <a:lstStyle>
            <a:lvl1pPr algn="l">
              <a:defRPr sz="3200">
                <a:solidFill>
                  <a:srgbClr val="FFFFFF"/>
                </a:solidFill>
                <a:latin typeface="Book Antiqua"/>
                <a:ea typeface="Book Antiqua"/>
                <a:cs typeface="Book Antiqua"/>
                <a:sym typeface="Book Antiqua"/>
              </a:defRPr>
            </a:lvl1pPr>
          </a:lstStyle>
          <a:p>
            <a:r>
              <a:t>Insolvenza fraudolenta</a:t>
            </a:r>
          </a:p>
        </p:txBody>
      </p:sp>
      <p:sp>
        <p:nvSpPr>
          <p:cNvPr id="349" name="LA DIFFERENZA CON IL REATO DI TRUFFA…"/>
          <p:cNvSpPr txBox="1">
            <a:spLocks noGrp="1"/>
          </p:cNvSpPr>
          <p:nvPr>
            <p:ph type="body" idx="1"/>
          </p:nvPr>
        </p:nvSpPr>
        <p:spPr>
          <a:xfrm>
            <a:off x="457200" y="1600200"/>
            <a:ext cx="8229600" cy="4525963"/>
          </a:xfrm>
          <a:prstGeom prst="rect">
            <a:avLst/>
          </a:prstGeom>
        </p:spPr>
        <p:txBody>
          <a:bodyPr/>
          <a:lstStyle/>
          <a:p>
            <a:pPr marL="0" indent="0" algn="just">
              <a:lnSpc>
                <a:spcPct val="114000"/>
              </a:lnSpc>
              <a:spcBef>
                <a:spcPts val="1200"/>
              </a:spcBef>
              <a:buSzTx/>
              <a:buNone/>
              <a:defRPr sz="2200" b="1">
                <a:solidFill>
                  <a:srgbClr val="00B050"/>
                </a:solidFill>
                <a:latin typeface="Times New Roman"/>
                <a:ea typeface="Times New Roman"/>
                <a:cs typeface="Times New Roman"/>
                <a:sym typeface="Times New Roman"/>
              </a:defRPr>
            </a:pPr>
            <a:r>
              <a:t>LA DIFFERENZA CON IL REATO DI TRUFFA </a:t>
            </a:r>
          </a:p>
          <a:p>
            <a:pPr marL="0" indent="0" algn="just">
              <a:lnSpc>
                <a:spcPct val="114000"/>
              </a:lnSpc>
              <a:spcBef>
                <a:spcPts val="1200"/>
              </a:spcBef>
              <a:buSzTx/>
              <a:buNone/>
              <a:defRPr sz="2200">
                <a:latin typeface="Times New Roman"/>
                <a:ea typeface="Times New Roman"/>
                <a:cs typeface="Times New Roman"/>
                <a:sym typeface="Times New Roman"/>
              </a:defRPr>
            </a:pPr>
            <a:endParaRPr/>
          </a:p>
          <a:p>
            <a:pPr marL="0" indent="0" algn="just">
              <a:lnSpc>
                <a:spcPct val="114000"/>
              </a:lnSpc>
              <a:spcBef>
                <a:spcPts val="1200"/>
              </a:spcBef>
              <a:buSzTx/>
              <a:buNone/>
              <a:defRPr sz="2200" b="1">
                <a:latin typeface="Times New Roman"/>
                <a:ea typeface="Times New Roman"/>
                <a:cs typeface="Times New Roman"/>
                <a:sym typeface="Times New Roman"/>
              </a:defRPr>
            </a:pPr>
            <a:r>
              <a:t>nell’insolvenza fraudolenta il fine illecito viene conseguito mediante la </a:t>
            </a:r>
            <a:r>
              <a:rPr u="sng"/>
              <a:t>dissimulazione di una condizione vera </a:t>
            </a:r>
            <a:r>
              <a:t>e, precisamente, dell'insolvibilità dell'agente,</a:t>
            </a:r>
            <a:r>
              <a:rPr b="0"/>
              <a:t> il quale rende impossibile l'adempimento dell'obbligazione assunta. </a:t>
            </a:r>
            <a:endParaRPr>
              <a:solidFill>
                <a:srgbClr val="00B050"/>
              </a:solidFill>
            </a:endParaRPr>
          </a:p>
          <a:p>
            <a:pPr marL="0" indent="0" algn="just">
              <a:lnSpc>
                <a:spcPct val="114000"/>
              </a:lnSpc>
              <a:spcBef>
                <a:spcPts val="1200"/>
              </a:spcBef>
              <a:buSzTx/>
              <a:buNone/>
              <a:defRPr sz="2200">
                <a:latin typeface="Times New Roman"/>
                <a:ea typeface="Times New Roman"/>
                <a:cs typeface="Times New Roman"/>
                <a:sym typeface="Times New Roman"/>
              </a:defRPr>
            </a:pPr>
            <a:endParaRPr>
              <a:solidFill>
                <a:srgbClr val="00B050"/>
              </a:solidFill>
            </a:endParaRPr>
          </a:p>
          <a:p>
            <a:pPr marL="0" indent="0" algn="just">
              <a:lnSpc>
                <a:spcPct val="114000"/>
              </a:lnSpc>
              <a:spcBef>
                <a:spcPts val="1200"/>
              </a:spcBef>
              <a:buSzTx/>
              <a:buNone/>
              <a:defRPr sz="2200" b="1">
                <a:latin typeface="Times New Roman"/>
                <a:ea typeface="Times New Roman"/>
                <a:cs typeface="Times New Roman"/>
                <a:sym typeface="Times New Roman"/>
              </a:defRPr>
            </a:pPr>
            <a:r>
              <a:t>Se, peraltro,</a:t>
            </a:r>
            <a:r>
              <a:rPr u="sng">
                <a:solidFill>
                  <a:srgbClr val="FF0000"/>
                </a:solidFill>
              </a:rPr>
              <a:t> la dissimulazione è operata con raggiri ricorre il reato di truffa</a:t>
            </a:r>
            <a:r>
              <a:rPr b="0"/>
              <a:t> (Cassazione n. 11731 del 1977).</a:t>
            </a:r>
          </a:p>
        </p:txBody>
      </p:sp>
      <p:sp>
        <p:nvSpPr>
          <p:cNvPr id="350" name="Numero diapositiva"/>
          <p:cNvSpPr txBox="1">
            <a:spLocks noGrp="1"/>
          </p:cNvSpPr>
          <p:nvPr>
            <p:ph type="sldNum" sz="quarter" idx="4294967295"/>
          </p:nvPr>
        </p:nvSpPr>
        <p:spPr>
          <a:xfrm>
            <a:off x="8430259" y="6401179"/>
            <a:ext cx="256539" cy="2754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33</a:t>
            </a:fld>
            <a:endParaRPr/>
          </a:p>
        </p:txBody>
      </p:sp>
      <p:pic>
        <p:nvPicPr>
          <p:cNvPr id="351"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CasellaDiTesto 1"/>
          <p:cNvSpPr txBox="1"/>
          <p:nvPr/>
        </p:nvSpPr>
        <p:spPr>
          <a:xfrm>
            <a:off x="229859" y="980728"/>
            <a:ext cx="8684281" cy="528362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300">
                <a:solidFill>
                  <a:srgbClr val="008000"/>
                </a:solidFill>
                <a:latin typeface="Book Antiqua"/>
                <a:ea typeface="Book Antiqua"/>
                <a:cs typeface="Book Antiqua"/>
                <a:sym typeface="Book Antiqua"/>
              </a:defRPr>
            </a:pPr>
            <a:r>
              <a:rPr dirty="0">
                <a:solidFill>
                  <a:srgbClr val="FF0000"/>
                </a:solidFill>
              </a:rPr>
              <a:t>Art. 643 </a:t>
            </a:r>
            <a:r>
              <a:rPr dirty="0" err="1">
                <a:solidFill>
                  <a:srgbClr val="FF0000"/>
                </a:solidFill>
              </a:rPr>
              <a:t>c.p.</a:t>
            </a:r>
            <a:r>
              <a:rPr dirty="0">
                <a:solidFill>
                  <a:srgbClr val="FF0000"/>
                </a:solidFill>
              </a:rPr>
              <a:t> </a:t>
            </a:r>
            <a:r>
              <a:rPr lang="it-IT" dirty="0">
                <a:solidFill>
                  <a:srgbClr val="FF0000"/>
                </a:solidFill>
              </a:rPr>
              <a:t>CIRCONVENZIONE D’INCAPACE</a:t>
            </a:r>
          </a:p>
          <a:p>
            <a:pPr marL="1797050" indent="-1797050" algn="just">
              <a:lnSpc>
                <a:spcPct val="114000"/>
              </a:lnSpc>
              <a:spcBef>
                <a:spcPts val="600"/>
              </a:spcBef>
              <a:defRPr sz="2300">
                <a:solidFill>
                  <a:srgbClr val="008000"/>
                </a:solidFill>
                <a:latin typeface="Book Antiqua"/>
                <a:ea typeface="Book Antiqua"/>
                <a:cs typeface="Book Antiqua"/>
                <a:sym typeface="Book Antiqua"/>
              </a:defRPr>
            </a:pPr>
            <a:endParaRPr lang="it-IT" dirty="0">
              <a:latin typeface="Times New Roman"/>
              <a:ea typeface="Times New Roman"/>
              <a:cs typeface="Times New Roman"/>
              <a:sym typeface="Times New Roman"/>
            </a:endParaRPr>
          </a:p>
          <a:p>
            <a:pPr algn="just">
              <a:lnSpc>
                <a:spcPct val="114000"/>
              </a:lnSpc>
              <a:spcBef>
                <a:spcPts val="600"/>
              </a:spcBef>
              <a:defRPr sz="2100" b="0">
                <a:latin typeface="Book Antiqua"/>
                <a:ea typeface="Book Antiqua"/>
                <a:cs typeface="Book Antiqua"/>
                <a:sym typeface="Book Antiqua"/>
              </a:defRPr>
            </a:pPr>
            <a:r>
              <a:rPr dirty="0"/>
              <a:t>«</a:t>
            </a:r>
            <a:r>
              <a:rPr i="1" dirty="0" err="1"/>
              <a:t>Chiunque</a:t>
            </a:r>
            <a:r>
              <a:rPr i="1" dirty="0"/>
              <a:t>, </a:t>
            </a:r>
            <a:r>
              <a:rPr b="1" i="1" dirty="0"/>
              <a:t>per </a:t>
            </a:r>
            <a:r>
              <a:rPr b="1" i="1" dirty="0" err="1"/>
              <a:t>procurare</a:t>
            </a:r>
            <a:r>
              <a:rPr b="1" i="1" dirty="0"/>
              <a:t> a </a:t>
            </a:r>
            <a:r>
              <a:rPr b="1" i="1" dirty="0" err="1"/>
              <a:t>sé</a:t>
            </a:r>
            <a:r>
              <a:rPr b="1" i="1" dirty="0"/>
              <a:t> o ad </a:t>
            </a:r>
            <a:r>
              <a:rPr b="1" i="1" dirty="0" err="1"/>
              <a:t>altri</a:t>
            </a:r>
            <a:r>
              <a:rPr b="1" i="1" dirty="0"/>
              <a:t> un </a:t>
            </a:r>
            <a:r>
              <a:rPr b="1" i="1" dirty="0" err="1"/>
              <a:t>profitto</a:t>
            </a:r>
            <a:r>
              <a:rPr i="1" dirty="0"/>
              <a:t>, </a:t>
            </a:r>
            <a:r>
              <a:rPr b="1" i="1" dirty="0" err="1">
                <a:solidFill>
                  <a:srgbClr val="008000"/>
                </a:solidFill>
              </a:rPr>
              <a:t>abusando</a:t>
            </a:r>
            <a:r>
              <a:rPr b="1" i="1" dirty="0">
                <a:solidFill>
                  <a:srgbClr val="008000"/>
                </a:solidFill>
              </a:rPr>
              <a:t> </a:t>
            </a:r>
            <a:r>
              <a:rPr b="1" i="1" dirty="0" err="1">
                <a:solidFill>
                  <a:srgbClr val="008000"/>
                </a:solidFill>
              </a:rPr>
              <a:t>dei</a:t>
            </a:r>
            <a:r>
              <a:rPr b="1" i="1" dirty="0">
                <a:solidFill>
                  <a:srgbClr val="008000"/>
                </a:solidFill>
              </a:rPr>
              <a:t> </a:t>
            </a:r>
            <a:r>
              <a:rPr b="1" i="1" u="sng" dirty="0" err="1">
                <a:solidFill>
                  <a:srgbClr val="008000"/>
                </a:solidFill>
              </a:rPr>
              <a:t>bisogni</a:t>
            </a:r>
            <a:r>
              <a:rPr b="1" i="1" dirty="0">
                <a:solidFill>
                  <a:srgbClr val="008000"/>
                </a:solidFill>
              </a:rPr>
              <a:t>, </a:t>
            </a:r>
            <a:r>
              <a:rPr b="1" i="1" dirty="0" err="1">
                <a:solidFill>
                  <a:srgbClr val="008000"/>
                </a:solidFill>
              </a:rPr>
              <a:t>delle</a:t>
            </a:r>
            <a:r>
              <a:rPr b="1" i="1" dirty="0">
                <a:solidFill>
                  <a:srgbClr val="008000"/>
                </a:solidFill>
              </a:rPr>
              <a:t> </a:t>
            </a:r>
            <a:r>
              <a:rPr b="1" i="1" u="sng" dirty="0" err="1">
                <a:solidFill>
                  <a:srgbClr val="008000"/>
                </a:solidFill>
              </a:rPr>
              <a:t>passioni</a:t>
            </a:r>
            <a:r>
              <a:rPr b="1" i="1" dirty="0">
                <a:solidFill>
                  <a:srgbClr val="008000"/>
                </a:solidFill>
              </a:rPr>
              <a:t> o </a:t>
            </a:r>
            <a:r>
              <a:rPr b="1" i="1" dirty="0" err="1">
                <a:solidFill>
                  <a:srgbClr val="008000"/>
                </a:solidFill>
              </a:rPr>
              <a:t>della</a:t>
            </a:r>
            <a:r>
              <a:rPr b="1" i="1" dirty="0">
                <a:solidFill>
                  <a:srgbClr val="008000"/>
                </a:solidFill>
              </a:rPr>
              <a:t> </a:t>
            </a:r>
            <a:r>
              <a:rPr b="1" i="1" u="sng" dirty="0" err="1">
                <a:solidFill>
                  <a:srgbClr val="008000"/>
                </a:solidFill>
              </a:rPr>
              <a:t>inesperienza</a:t>
            </a:r>
            <a:r>
              <a:rPr b="1" i="1" dirty="0">
                <a:solidFill>
                  <a:srgbClr val="008000"/>
                </a:solidFill>
              </a:rPr>
              <a:t> di una persona </a:t>
            </a:r>
            <a:r>
              <a:rPr b="1" i="1" dirty="0" err="1">
                <a:solidFill>
                  <a:srgbClr val="008000"/>
                </a:solidFill>
              </a:rPr>
              <a:t>minore</a:t>
            </a:r>
            <a:r>
              <a:rPr i="1" dirty="0">
                <a:solidFill>
                  <a:srgbClr val="008000"/>
                </a:solidFill>
              </a:rPr>
              <a:t>, </a:t>
            </a:r>
            <a:r>
              <a:rPr b="1" i="1" dirty="0" err="1">
                <a:solidFill>
                  <a:schemeClr val="accent2">
                    <a:lumMod val="75000"/>
                  </a:schemeClr>
                </a:solidFill>
              </a:rPr>
              <a:t>ovvero</a:t>
            </a:r>
            <a:r>
              <a:rPr b="1" i="1" dirty="0">
                <a:solidFill>
                  <a:schemeClr val="accent2">
                    <a:lumMod val="75000"/>
                  </a:schemeClr>
                </a:solidFill>
              </a:rPr>
              <a:t> </a:t>
            </a:r>
            <a:r>
              <a:rPr b="1" i="1" dirty="0" err="1">
                <a:solidFill>
                  <a:schemeClr val="accent2">
                    <a:lumMod val="75000"/>
                  </a:schemeClr>
                </a:solidFill>
              </a:rPr>
              <a:t>abusando</a:t>
            </a:r>
            <a:r>
              <a:rPr b="1" i="1" dirty="0">
                <a:solidFill>
                  <a:schemeClr val="accent2">
                    <a:lumMod val="75000"/>
                  </a:schemeClr>
                </a:solidFill>
              </a:rPr>
              <a:t> </a:t>
            </a:r>
            <a:r>
              <a:rPr b="1" i="1" dirty="0" err="1">
                <a:solidFill>
                  <a:schemeClr val="accent2">
                    <a:lumMod val="75000"/>
                  </a:schemeClr>
                </a:solidFill>
              </a:rPr>
              <a:t>dello</a:t>
            </a:r>
            <a:r>
              <a:rPr b="1" i="1" dirty="0">
                <a:solidFill>
                  <a:schemeClr val="accent2">
                    <a:lumMod val="75000"/>
                  </a:schemeClr>
                </a:solidFill>
              </a:rPr>
              <a:t> </a:t>
            </a:r>
            <a:r>
              <a:rPr b="1" i="1" dirty="0" err="1">
                <a:solidFill>
                  <a:schemeClr val="accent2">
                    <a:lumMod val="75000"/>
                  </a:schemeClr>
                </a:solidFill>
              </a:rPr>
              <a:t>stato</a:t>
            </a:r>
            <a:r>
              <a:rPr b="1" i="1" dirty="0">
                <a:solidFill>
                  <a:schemeClr val="accent2">
                    <a:lumMod val="75000"/>
                  </a:schemeClr>
                </a:solidFill>
              </a:rPr>
              <a:t> </a:t>
            </a:r>
            <a:r>
              <a:rPr b="1" i="1" dirty="0" err="1">
                <a:solidFill>
                  <a:schemeClr val="accent2">
                    <a:lumMod val="75000"/>
                  </a:schemeClr>
                </a:solidFill>
              </a:rPr>
              <a:t>d'infermità</a:t>
            </a:r>
            <a:r>
              <a:rPr b="1" i="1" dirty="0">
                <a:solidFill>
                  <a:schemeClr val="accent2">
                    <a:lumMod val="75000"/>
                  </a:schemeClr>
                </a:solidFill>
              </a:rPr>
              <a:t> o </a:t>
            </a:r>
            <a:r>
              <a:rPr b="1" i="1" dirty="0" err="1">
                <a:solidFill>
                  <a:schemeClr val="accent2">
                    <a:lumMod val="75000"/>
                  </a:schemeClr>
                </a:solidFill>
              </a:rPr>
              <a:t>deficienza</a:t>
            </a:r>
            <a:r>
              <a:rPr b="1" i="1" dirty="0">
                <a:solidFill>
                  <a:schemeClr val="accent2">
                    <a:lumMod val="75000"/>
                  </a:schemeClr>
                </a:solidFill>
              </a:rPr>
              <a:t> </a:t>
            </a:r>
            <a:r>
              <a:rPr b="1" i="1" dirty="0" err="1">
                <a:solidFill>
                  <a:schemeClr val="accent2">
                    <a:lumMod val="75000"/>
                  </a:schemeClr>
                </a:solidFill>
              </a:rPr>
              <a:t>psichica</a:t>
            </a:r>
            <a:r>
              <a:rPr b="1" i="1" dirty="0">
                <a:solidFill>
                  <a:schemeClr val="accent2">
                    <a:lumMod val="75000"/>
                  </a:schemeClr>
                </a:solidFill>
              </a:rPr>
              <a:t> di una persona</a:t>
            </a:r>
            <a:r>
              <a:rPr i="1" dirty="0"/>
              <a:t>, </a:t>
            </a:r>
            <a:r>
              <a:rPr i="1" dirty="0" err="1">
                <a:solidFill>
                  <a:schemeClr val="accent2">
                    <a:lumMod val="75000"/>
                  </a:schemeClr>
                </a:solidFill>
              </a:rPr>
              <a:t>anche</a:t>
            </a:r>
            <a:r>
              <a:rPr i="1" dirty="0">
                <a:solidFill>
                  <a:schemeClr val="accent2">
                    <a:lumMod val="75000"/>
                  </a:schemeClr>
                </a:solidFill>
              </a:rPr>
              <a:t> se non </a:t>
            </a:r>
            <a:r>
              <a:rPr i="1" dirty="0" err="1">
                <a:solidFill>
                  <a:schemeClr val="accent2">
                    <a:lumMod val="75000"/>
                  </a:schemeClr>
                </a:solidFill>
              </a:rPr>
              <a:t>interdetta</a:t>
            </a:r>
            <a:r>
              <a:rPr i="1" dirty="0">
                <a:solidFill>
                  <a:schemeClr val="accent2">
                    <a:lumMod val="75000"/>
                  </a:schemeClr>
                </a:solidFill>
              </a:rPr>
              <a:t> o </a:t>
            </a:r>
            <a:r>
              <a:rPr i="1" dirty="0" err="1">
                <a:solidFill>
                  <a:schemeClr val="accent2">
                    <a:lumMod val="75000"/>
                  </a:schemeClr>
                </a:solidFill>
              </a:rPr>
              <a:t>inabilitata</a:t>
            </a:r>
            <a:r>
              <a:rPr i="1" dirty="0"/>
              <a:t>, </a:t>
            </a:r>
            <a:r>
              <a:rPr b="1" i="1" dirty="0">
                <a:solidFill>
                  <a:srgbClr val="FF0000"/>
                </a:solidFill>
              </a:rPr>
              <a:t>la induce a </a:t>
            </a:r>
            <a:r>
              <a:rPr b="1" i="1" dirty="0" err="1">
                <a:solidFill>
                  <a:srgbClr val="FF0000"/>
                </a:solidFill>
              </a:rPr>
              <a:t>compiere</a:t>
            </a:r>
            <a:r>
              <a:rPr b="1" i="1" dirty="0">
                <a:solidFill>
                  <a:srgbClr val="FF0000"/>
                </a:solidFill>
              </a:rPr>
              <a:t> un </a:t>
            </a:r>
            <a:r>
              <a:rPr b="1" i="1" dirty="0" err="1">
                <a:solidFill>
                  <a:srgbClr val="FF0000"/>
                </a:solidFill>
              </a:rPr>
              <a:t>atto</a:t>
            </a:r>
            <a:r>
              <a:rPr b="1" i="1" dirty="0">
                <a:solidFill>
                  <a:srgbClr val="FF0000"/>
                </a:solidFill>
              </a:rPr>
              <a:t> </a:t>
            </a:r>
            <a:r>
              <a:rPr b="1" i="1" dirty="0" err="1">
                <a:solidFill>
                  <a:srgbClr val="FF0000"/>
                </a:solidFill>
              </a:rPr>
              <a:t>che</a:t>
            </a:r>
            <a:r>
              <a:rPr b="1" i="1" dirty="0">
                <a:solidFill>
                  <a:srgbClr val="FF0000"/>
                </a:solidFill>
              </a:rPr>
              <a:t> </a:t>
            </a:r>
            <a:r>
              <a:rPr b="1" i="1" dirty="0" err="1">
                <a:solidFill>
                  <a:srgbClr val="FF0000"/>
                </a:solidFill>
              </a:rPr>
              <a:t>importi</a:t>
            </a:r>
            <a:r>
              <a:rPr b="1" i="1" dirty="0">
                <a:solidFill>
                  <a:srgbClr val="FF0000"/>
                </a:solidFill>
              </a:rPr>
              <a:t> </a:t>
            </a:r>
            <a:r>
              <a:rPr b="1" i="1" dirty="0" err="1">
                <a:solidFill>
                  <a:srgbClr val="FF0000"/>
                </a:solidFill>
              </a:rPr>
              <a:t>qualsiasi</a:t>
            </a:r>
            <a:r>
              <a:rPr b="1" i="1" dirty="0">
                <a:solidFill>
                  <a:srgbClr val="FF0000"/>
                </a:solidFill>
              </a:rPr>
              <a:t> </a:t>
            </a:r>
            <a:r>
              <a:rPr b="1" i="1" dirty="0" err="1">
                <a:solidFill>
                  <a:srgbClr val="FF0000"/>
                </a:solidFill>
              </a:rPr>
              <a:t>effetto</a:t>
            </a:r>
            <a:r>
              <a:rPr b="1" i="1" dirty="0">
                <a:solidFill>
                  <a:srgbClr val="FF0000"/>
                </a:solidFill>
              </a:rPr>
              <a:t> </a:t>
            </a:r>
            <a:r>
              <a:rPr b="1" i="1" dirty="0" err="1">
                <a:solidFill>
                  <a:srgbClr val="FF0000"/>
                </a:solidFill>
              </a:rPr>
              <a:t>giuridico</a:t>
            </a:r>
            <a:r>
              <a:rPr b="1" i="1" dirty="0">
                <a:solidFill>
                  <a:srgbClr val="FF0000"/>
                </a:solidFill>
              </a:rPr>
              <a:t> per lei o per </a:t>
            </a:r>
            <a:r>
              <a:rPr b="1" i="1" dirty="0" err="1">
                <a:solidFill>
                  <a:srgbClr val="FF0000"/>
                </a:solidFill>
              </a:rPr>
              <a:t>altri</a:t>
            </a:r>
            <a:r>
              <a:rPr b="1" i="1" dirty="0">
                <a:solidFill>
                  <a:srgbClr val="FF0000"/>
                </a:solidFill>
              </a:rPr>
              <a:t> </a:t>
            </a:r>
            <a:r>
              <a:rPr b="1" i="1" dirty="0" err="1">
                <a:solidFill>
                  <a:srgbClr val="FF0000"/>
                </a:solidFill>
              </a:rPr>
              <a:t>dannoso</a:t>
            </a:r>
            <a:r>
              <a:rPr i="1" dirty="0"/>
              <a:t>, è </a:t>
            </a:r>
            <a:r>
              <a:rPr i="1" dirty="0" err="1"/>
              <a:t>punito</a:t>
            </a:r>
            <a:r>
              <a:rPr i="1" dirty="0"/>
              <a:t> con la </a:t>
            </a:r>
            <a:r>
              <a:rPr i="1" dirty="0" err="1"/>
              <a:t>reclusione</a:t>
            </a:r>
            <a:r>
              <a:rPr i="1" dirty="0"/>
              <a:t> da due a sei </a:t>
            </a:r>
            <a:r>
              <a:rPr i="1" dirty="0" err="1"/>
              <a:t>anni</a:t>
            </a:r>
            <a:r>
              <a:rPr i="1" dirty="0"/>
              <a:t> e con la </a:t>
            </a:r>
            <a:r>
              <a:rPr i="1" dirty="0" err="1"/>
              <a:t>multa</a:t>
            </a:r>
            <a:r>
              <a:rPr i="1" dirty="0"/>
              <a:t> da 206 euro a 2065 euro».</a:t>
            </a:r>
            <a:endParaRPr lang="it-IT" i="1" dirty="0"/>
          </a:p>
          <a:p>
            <a:pPr algn="just">
              <a:lnSpc>
                <a:spcPct val="114000"/>
              </a:lnSpc>
              <a:spcBef>
                <a:spcPts val="600"/>
              </a:spcBef>
              <a:defRPr sz="2100" b="0">
                <a:latin typeface="Book Antiqua"/>
                <a:ea typeface="Book Antiqua"/>
                <a:cs typeface="Book Antiqua"/>
                <a:sym typeface="Book Antiqua"/>
              </a:defRPr>
            </a:pPr>
            <a:endParaRPr lang="it-IT" i="1" dirty="0">
              <a:latin typeface="Times New Roman"/>
              <a:ea typeface="Times New Roman"/>
              <a:cs typeface="Times New Roman"/>
              <a:sym typeface="Times New Roman"/>
            </a:endParaRPr>
          </a:p>
          <a:p>
            <a:pPr algn="just">
              <a:lnSpc>
                <a:spcPct val="114000"/>
              </a:lnSpc>
              <a:spcBef>
                <a:spcPts val="600"/>
              </a:spcBef>
              <a:defRPr sz="2100" b="0">
                <a:latin typeface="Book Antiqua"/>
                <a:ea typeface="Book Antiqua"/>
                <a:cs typeface="Book Antiqua"/>
                <a:sym typeface="Book Antiqua"/>
              </a:defRPr>
            </a:pPr>
            <a:endParaRPr dirty="0">
              <a:latin typeface="Times New Roman"/>
              <a:ea typeface="Times New Roman"/>
              <a:cs typeface="Times New Roman"/>
              <a:sym typeface="Times New Roman"/>
            </a:endParaRPr>
          </a:p>
          <a:p>
            <a:pPr algn="just">
              <a:lnSpc>
                <a:spcPct val="114000"/>
              </a:lnSpc>
              <a:spcBef>
                <a:spcPts val="600"/>
              </a:spcBef>
              <a:defRPr sz="2000">
                <a:latin typeface="Book Antiqua"/>
                <a:ea typeface="Book Antiqua"/>
                <a:cs typeface="Book Antiqua"/>
                <a:sym typeface="Book Antiqua"/>
              </a:defRPr>
            </a:pPr>
            <a:r>
              <a:rPr lang="it-IT" dirty="0"/>
              <a:t>L'INTERESSE TUTELATO</a:t>
            </a:r>
            <a:r>
              <a:rPr lang="it-IT" b="0" dirty="0"/>
              <a:t> </a:t>
            </a:r>
            <a:r>
              <a:rPr b="0" dirty="0"/>
              <a:t>è </a:t>
            </a:r>
            <a:r>
              <a:rPr b="0" dirty="0" err="1"/>
              <a:t>il</a:t>
            </a:r>
            <a:r>
              <a:rPr b="0" dirty="0"/>
              <a:t> </a:t>
            </a:r>
            <a:r>
              <a:rPr dirty="0" err="1">
                <a:solidFill>
                  <a:srgbClr val="008000"/>
                </a:solidFill>
              </a:rPr>
              <a:t>patrimonio</a:t>
            </a:r>
            <a:r>
              <a:rPr b="0" dirty="0"/>
              <a:t> </a:t>
            </a:r>
            <a:r>
              <a:rPr dirty="0">
                <a:solidFill>
                  <a:srgbClr val="008000"/>
                </a:solidFill>
              </a:rPr>
              <a:t>di </a:t>
            </a:r>
            <a:r>
              <a:rPr dirty="0" err="1">
                <a:solidFill>
                  <a:srgbClr val="008000"/>
                </a:solidFill>
              </a:rPr>
              <a:t>soggetti</a:t>
            </a:r>
            <a:r>
              <a:rPr dirty="0">
                <a:solidFill>
                  <a:srgbClr val="008000"/>
                </a:solidFill>
              </a:rPr>
              <a:t> </a:t>
            </a:r>
            <a:r>
              <a:rPr dirty="0" err="1">
                <a:solidFill>
                  <a:srgbClr val="008000"/>
                </a:solidFill>
              </a:rPr>
              <a:t>che</a:t>
            </a:r>
            <a:r>
              <a:rPr dirty="0">
                <a:solidFill>
                  <a:srgbClr val="008000"/>
                </a:solidFill>
              </a:rPr>
              <a:t>, </a:t>
            </a:r>
            <a:r>
              <a:rPr dirty="0" err="1">
                <a:solidFill>
                  <a:srgbClr val="008000"/>
                </a:solidFill>
              </a:rPr>
              <a:t>trovandosi</a:t>
            </a:r>
            <a:r>
              <a:rPr dirty="0">
                <a:solidFill>
                  <a:srgbClr val="008000"/>
                </a:solidFill>
              </a:rPr>
              <a:t> in </a:t>
            </a:r>
            <a:r>
              <a:rPr dirty="0" err="1">
                <a:solidFill>
                  <a:srgbClr val="008000"/>
                </a:solidFill>
              </a:rPr>
              <a:t>condizioni</a:t>
            </a:r>
            <a:r>
              <a:rPr dirty="0">
                <a:solidFill>
                  <a:srgbClr val="008000"/>
                </a:solidFill>
              </a:rPr>
              <a:t> </a:t>
            </a:r>
            <a:r>
              <a:rPr dirty="0" err="1">
                <a:solidFill>
                  <a:srgbClr val="008000"/>
                </a:solidFill>
              </a:rPr>
              <a:t>particolari</a:t>
            </a:r>
            <a:r>
              <a:rPr b="0" dirty="0"/>
              <a:t>, </a:t>
            </a:r>
            <a:r>
              <a:rPr b="0" dirty="0" err="1"/>
              <a:t>sono</a:t>
            </a:r>
            <a:r>
              <a:rPr b="0" dirty="0"/>
              <a:t> </a:t>
            </a:r>
            <a:r>
              <a:rPr b="0" dirty="0" err="1"/>
              <a:t>più</a:t>
            </a:r>
            <a:r>
              <a:rPr b="0" dirty="0"/>
              <a:t> </a:t>
            </a:r>
            <a:r>
              <a:rPr b="0" dirty="0" err="1"/>
              <a:t>esposti</a:t>
            </a:r>
            <a:r>
              <a:rPr b="0" dirty="0"/>
              <a:t> </a:t>
            </a:r>
            <a:r>
              <a:rPr b="0" dirty="0" err="1"/>
              <a:t>allo</a:t>
            </a:r>
            <a:r>
              <a:rPr b="0" dirty="0"/>
              <a:t> </a:t>
            </a:r>
            <a:r>
              <a:rPr b="0" dirty="0" err="1"/>
              <a:t>sfruttamento</a:t>
            </a:r>
            <a:r>
              <a:rPr b="0" dirty="0"/>
              <a:t> </a:t>
            </a:r>
            <a:r>
              <a:rPr b="0" dirty="0" err="1"/>
              <a:t>illecito</a:t>
            </a:r>
            <a:r>
              <a:rPr b="0" dirty="0"/>
              <a:t> </a:t>
            </a:r>
            <a:r>
              <a:rPr b="0" dirty="0" err="1"/>
              <a:t>altrui</a:t>
            </a:r>
            <a:r>
              <a:rPr b="0" dirty="0"/>
              <a:t>.</a:t>
            </a:r>
          </a:p>
        </p:txBody>
      </p:sp>
      <p:pic>
        <p:nvPicPr>
          <p:cNvPr id="354"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55"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rPr dirty="0" err="1"/>
              <a:t>Circonvenzione</a:t>
            </a:r>
            <a:r>
              <a:rPr dirty="0"/>
              <a:t> di </a:t>
            </a:r>
            <a:r>
              <a:rPr dirty="0" err="1"/>
              <a:t>persone</a:t>
            </a:r>
            <a:r>
              <a:rPr dirty="0"/>
              <a:t> </a:t>
            </a:r>
            <a:r>
              <a:rPr dirty="0" err="1"/>
              <a:t>incapaci</a:t>
            </a:r>
            <a:endParaRPr dirty="0"/>
          </a:p>
        </p:txBody>
      </p:sp>
    </p:spTree>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C6A8A92A-8F07-59C1-7FF4-1904B87C8B94}"/>
              </a:ext>
            </a:extLst>
          </p:cNvPr>
          <p:cNvSpPr>
            <a:spLocks noGrp="1"/>
          </p:cNvSpPr>
          <p:nvPr>
            <p:ph type="body" idx="1"/>
          </p:nvPr>
        </p:nvSpPr>
        <p:spPr>
          <a:xfrm>
            <a:off x="457200" y="1210098"/>
            <a:ext cx="8229600" cy="5580806"/>
          </a:xfrm>
        </p:spPr>
        <p:txBody>
          <a:bodyPr>
            <a:normAutofit fontScale="77500" lnSpcReduction="20000"/>
          </a:bodyPr>
          <a:lstStyle/>
          <a:p>
            <a:pPr marL="0" indent="0">
              <a:buNone/>
            </a:pPr>
            <a:r>
              <a:rPr lang="it-IT" sz="4600" b="1" dirty="0">
                <a:latin typeface="Book Antiqua" panose="02040602050305030304" pitchFamily="18" charset="0"/>
              </a:rPr>
              <a:t>Soggetti passivi</a:t>
            </a:r>
          </a:p>
          <a:p>
            <a:pPr marL="0" indent="0" algn="just">
              <a:buNone/>
            </a:pPr>
            <a:endParaRPr lang="it-IT" b="1" dirty="0">
              <a:latin typeface="Book Antiqua" panose="02040602050305030304" pitchFamily="18" charset="0"/>
            </a:endParaRPr>
          </a:p>
          <a:p>
            <a:pPr marL="0" indent="0" algn="just">
              <a:buNone/>
            </a:pPr>
            <a:r>
              <a:rPr lang="it-IT" b="1" dirty="0">
                <a:solidFill>
                  <a:srgbClr val="0070C0"/>
                </a:solidFill>
                <a:latin typeface="Book Antiqua" panose="02040602050305030304" pitchFamily="18" charset="0"/>
              </a:rPr>
              <a:t>Minori: </a:t>
            </a:r>
            <a:r>
              <a:rPr lang="it-IT" dirty="0">
                <a:latin typeface="Book Antiqua" panose="02040602050305030304" pitchFamily="18" charset="0"/>
              </a:rPr>
              <a:t>la loro vulnerabilità risiede nei loro bisogni, nelle passioni o nella inesperienza – per il legislatore è facilmente suggestionabile o </a:t>
            </a:r>
            <a:r>
              <a:rPr lang="it-IT" u="sng" dirty="0">
                <a:latin typeface="Book Antiqua" panose="02040602050305030304" pitchFamily="18" charset="0"/>
              </a:rPr>
              <a:t>perché incapace di esercitare un efficace controllo sui suoi impulsi</a:t>
            </a:r>
            <a:r>
              <a:rPr lang="it-IT" dirty="0">
                <a:latin typeface="Book Antiqua" panose="02040602050305030304" pitchFamily="18" charset="0"/>
              </a:rPr>
              <a:t>, o</a:t>
            </a:r>
            <a:r>
              <a:rPr lang="it-IT" u="sng" dirty="0">
                <a:latin typeface="Book Antiqua" panose="02040602050305030304" pitchFamily="18" charset="0"/>
              </a:rPr>
              <a:t> perché ancora inesperto della vita.</a:t>
            </a:r>
          </a:p>
          <a:p>
            <a:pPr marL="0" indent="0" algn="just">
              <a:buNone/>
            </a:pPr>
            <a:endParaRPr lang="it-IT" dirty="0">
              <a:latin typeface="Book Antiqua" panose="02040602050305030304" pitchFamily="18" charset="0"/>
            </a:endParaRPr>
          </a:p>
          <a:p>
            <a:pPr marL="0" indent="0" algn="just">
              <a:buNone/>
            </a:pPr>
            <a:r>
              <a:rPr lang="it-IT" b="1" dirty="0">
                <a:solidFill>
                  <a:srgbClr val="7030A0"/>
                </a:solidFill>
                <a:latin typeface="Book Antiqua" panose="02040602050305030304" pitchFamily="18" charset="0"/>
              </a:rPr>
              <a:t>Infermi psichici: </a:t>
            </a:r>
            <a:r>
              <a:rPr lang="it-IT" dirty="0">
                <a:latin typeface="Book Antiqua" panose="02040602050305030304" pitchFamily="18" charset="0"/>
              </a:rPr>
              <a:t>è sufficiente che il soggetto presenti una diminuzione della capacità di intendere e di volere, quale effetto di una condizione anche non patologica.</a:t>
            </a:r>
          </a:p>
          <a:p>
            <a:pPr marL="0" indent="0" algn="just">
              <a:buNone/>
            </a:pPr>
            <a:endParaRPr lang="it-IT" dirty="0">
              <a:latin typeface="Book Antiqua" panose="02040602050305030304" pitchFamily="18" charset="0"/>
            </a:endParaRPr>
          </a:p>
          <a:p>
            <a:pPr marL="0" indent="0" algn="just">
              <a:buNone/>
            </a:pPr>
            <a:r>
              <a:rPr lang="it-IT" b="1" dirty="0">
                <a:solidFill>
                  <a:srgbClr val="00B050"/>
                </a:solidFill>
                <a:latin typeface="Book Antiqua" panose="02040602050305030304" pitchFamily="18" charset="0"/>
              </a:rPr>
              <a:t>Persone affette da deficienza psichica:</a:t>
            </a:r>
            <a:r>
              <a:rPr lang="it-IT" dirty="0">
                <a:solidFill>
                  <a:srgbClr val="00B050"/>
                </a:solidFill>
                <a:latin typeface="Book Antiqua" panose="02040602050305030304" pitchFamily="18" charset="0"/>
              </a:rPr>
              <a:t> </a:t>
            </a:r>
            <a:r>
              <a:rPr lang="it-IT" dirty="0">
                <a:latin typeface="Book Antiqua" panose="02040602050305030304" pitchFamily="18" charset="0"/>
              </a:rPr>
              <a:t>soggetti affetti da uno stato di più generica menomazione </a:t>
            </a:r>
            <a:r>
              <a:rPr lang="it-IT" u="sng" dirty="0">
                <a:latin typeface="Book Antiqua" panose="02040602050305030304" pitchFamily="18" charset="0"/>
              </a:rPr>
              <a:t>che lascia parzialmente integra la capacità di intendere  e di volere</a:t>
            </a:r>
            <a:r>
              <a:rPr lang="it-IT" dirty="0">
                <a:latin typeface="Book Antiqua" panose="02040602050305030304" pitchFamily="18" charset="0"/>
              </a:rPr>
              <a:t>.</a:t>
            </a:r>
          </a:p>
        </p:txBody>
      </p:sp>
      <p:sp>
        <p:nvSpPr>
          <p:cNvPr id="4" name="Text Box 5">
            <a:extLst>
              <a:ext uri="{FF2B5EF4-FFF2-40B4-BE49-F238E27FC236}">
                <a16:creationId xmlns:a16="http://schemas.microsoft.com/office/drawing/2014/main" id="{8FD90345-8B0C-5BCB-E7E4-B76F0F64C06D}"/>
              </a:ext>
            </a:extLst>
          </p:cNvPr>
          <p:cNvSpPr txBox="1">
            <a:spLocks noGrp="1"/>
          </p:cNvSpPr>
          <p:nvPr>
            <p:ph type="title"/>
          </p:nvPr>
        </p:nvSpPr>
        <p:spPr>
          <a:xfrm>
            <a:off x="457200" y="-127820"/>
            <a:ext cx="8229600" cy="1143000"/>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569" tIns="44569" rIns="44569" bIns="44569">
            <a:spAutoFit/>
          </a:bodyPr>
          <a:lstStyle>
            <a:lvl1pPr>
              <a:defRPr sz="3200" b="0">
                <a:solidFill>
                  <a:srgbClr val="FFFFFF"/>
                </a:solidFill>
                <a:latin typeface="Book Antiqua"/>
                <a:ea typeface="Book Antiqua"/>
                <a:cs typeface="Book Antiqua"/>
                <a:sym typeface="Book Antiqua"/>
              </a:defRPr>
            </a:lvl1pPr>
          </a:lstStyle>
          <a:p>
            <a:r>
              <a:rPr dirty="0" err="1"/>
              <a:t>Circonvenzione</a:t>
            </a:r>
            <a:r>
              <a:rPr dirty="0"/>
              <a:t> di </a:t>
            </a:r>
            <a:r>
              <a:rPr dirty="0" err="1"/>
              <a:t>persone</a:t>
            </a:r>
            <a:r>
              <a:rPr dirty="0"/>
              <a:t> </a:t>
            </a:r>
            <a:r>
              <a:rPr dirty="0" err="1"/>
              <a:t>incapaci</a:t>
            </a:r>
            <a:endParaRPr dirty="0"/>
          </a:p>
        </p:txBody>
      </p:sp>
      <p:pic>
        <p:nvPicPr>
          <p:cNvPr id="5" name="Immagine 3" descr="Immagine 3">
            <a:extLst>
              <a:ext uri="{FF2B5EF4-FFF2-40B4-BE49-F238E27FC236}">
                <a16:creationId xmlns:a16="http://schemas.microsoft.com/office/drawing/2014/main" id="{D75ECA59-A9E3-EBD9-3814-BFA3BEA7EA1E}"/>
              </a:ext>
            </a:extLst>
          </p:cNvPr>
          <p:cNvPicPr>
            <a:picLocks noChangeAspect="1"/>
          </p:cNvPicPr>
          <p:nvPr/>
        </p:nvPicPr>
        <p:blipFill>
          <a:blip r:embed="rId2"/>
          <a:stretch>
            <a:fillRect/>
          </a:stretch>
        </p:blipFill>
        <p:spPr>
          <a:xfrm>
            <a:off x="136850" y="67097"/>
            <a:ext cx="435671" cy="753167"/>
          </a:xfrm>
          <a:prstGeom prst="rect">
            <a:avLst/>
          </a:prstGeom>
          <a:ln w="12700">
            <a:miter lim="400000"/>
          </a:ln>
        </p:spPr>
      </p:pic>
    </p:spTree>
    <p:extLst>
      <p:ext uri="{BB962C8B-B14F-4D97-AF65-F5344CB8AC3E}">
        <p14:creationId xmlns:p14="http://schemas.microsoft.com/office/powerpoint/2010/main" val="2288643358"/>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34D87C7B-C79E-4694-928F-5FC66DF38A47}"/>
              </a:ext>
            </a:extLst>
          </p:cNvPr>
          <p:cNvSpPr>
            <a:spLocks noGrp="1"/>
          </p:cNvSpPr>
          <p:nvPr>
            <p:ph type="body" idx="1"/>
          </p:nvPr>
        </p:nvSpPr>
        <p:spPr>
          <a:xfrm>
            <a:off x="457200" y="1166018"/>
            <a:ext cx="8229600" cy="4984059"/>
          </a:xfrm>
        </p:spPr>
        <p:txBody>
          <a:bodyPr>
            <a:normAutofit/>
          </a:bodyPr>
          <a:lstStyle/>
          <a:p>
            <a:pPr marL="0" indent="0" algn="just">
              <a:lnSpc>
                <a:spcPct val="114000"/>
              </a:lnSpc>
              <a:spcBef>
                <a:spcPts val="600"/>
              </a:spcBef>
              <a:buNone/>
              <a:defRPr sz="2000" b="0">
                <a:latin typeface="Book Antiqua"/>
                <a:ea typeface="Book Antiqua"/>
                <a:cs typeface="Book Antiqua"/>
                <a:sym typeface="Book Antiqua"/>
              </a:defRPr>
            </a:pPr>
            <a:r>
              <a:rPr lang="it-IT" sz="2800" b="1" i="1" dirty="0">
                <a:solidFill>
                  <a:schemeClr val="tx1"/>
                </a:solidFill>
              </a:rPr>
              <a:t>Anche se non…</a:t>
            </a:r>
          </a:p>
          <a:p>
            <a:pPr algn="just">
              <a:lnSpc>
                <a:spcPct val="114000"/>
              </a:lnSpc>
              <a:spcBef>
                <a:spcPts val="600"/>
              </a:spcBef>
              <a:defRPr sz="1700" b="0">
                <a:solidFill>
                  <a:srgbClr val="FF0000"/>
                </a:solidFill>
                <a:latin typeface="Book Antiqua"/>
                <a:ea typeface="Book Antiqua"/>
                <a:cs typeface="Book Antiqua"/>
                <a:sym typeface="Book Antiqua"/>
              </a:defRPr>
            </a:pPr>
            <a:r>
              <a:rPr lang="it-IT" sz="2400" b="1" dirty="0">
                <a:solidFill>
                  <a:srgbClr val="00B050"/>
                </a:solidFill>
              </a:rPr>
              <a:t>Inabilitato - </a:t>
            </a:r>
            <a:r>
              <a:rPr lang="it-IT" dirty="0">
                <a:solidFill>
                  <a:schemeClr val="tx1"/>
                </a:solidFill>
              </a:rPr>
              <a:t>infermo di mente il cui stato non è talmente grave da dar luogo ad una interdizione </a:t>
            </a:r>
          </a:p>
          <a:p>
            <a:pPr algn="just">
              <a:lnSpc>
                <a:spcPct val="114000"/>
              </a:lnSpc>
              <a:spcBef>
                <a:spcPts val="600"/>
              </a:spcBef>
              <a:defRPr sz="1700" b="0">
                <a:solidFill>
                  <a:srgbClr val="FF0000"/>
                </a:solidFill>
                <a:latin typeface="Book Antiqua"/>
                <a:ea typeface="Book Antiqua"/>
                <a:cs typeface="Book Antiqua"/>
                <a:sym typeface="Book Antiqua"/>
              </a:defRPr>
            </a:pPr>
            <a:r>
              <a:rPr lang="it-IT" b="1" i="1" dirty="0">
                <a:solidFill>
                  <a:schemeClr val="tx1"/>
                </a:solidFill>
              </a:rPr>
              <a:t>( es. coloro che, per prodigalità o per abuso abituale di bevande alcooliche o stupefacenti, espongono sé o la loro famiglia a gravi pregiudizi economici)</a:t>
            </a:r>
          </a:p>
          <a:p>
            <a:pPr marL="0" indent="0" algn="just">
              <a:lnSpc>
                <a:spcPct val="114000"/>
              </a:lnSpc>
              <a:spcBef>
                <a:spcPts val="600"/>
              </a:spcBef>
              <a:buNone/>
              <a:defRPr sz="1700" b="0">
                <a:solidFill>
                  <a:srgbClr val="FF0000"/>
                </a:solidFill>
                <a:latin typeface="Book Antiqua"/>
                <a:ea typeface="Book Antiqua"/>
                <a:cs typeface="Book Antiqua"/>
                <a:sym typeface="Book Antiqua"/>
              </a:defRPr>
            </a:pPr>
            <a:r>
              <a:rPr lang="it-IT" dirty="0">
                <a:solidFill>
                  <a:schemeClr val="tx1"/>
                </a:solidFill>
              </a:rPr>
              <a:t>quindi l’inabile può compiere atti di ordinaria amministrazione, mentre per quelli di straordinaria amministrazione ( atti di disposizione del patrimonio, come la compravendita di immobili) è necessaria l’assistenza del tutore.</a:t>
            </a:r>
          </a:p>
          <a:p>
            <a:pPr marL="0" indent="0" algn="just">
              <a:lnSpc>
                <a:spcPct val="114000"/>
              </a:lnSpc>
              <a:spcBef>
                <a:spcPts val="600"/>
              </a:spcBef>
              <a:buNone/>
              <a:defRPr sz="1700" b="0">
                <a:solidFill>
                  <a:srgbClr val="FF0000"/>
                </a:solidFill>
                <a:latin typeface="Book Antiqua"/>
                <a:ea typeface="Book Antiqua"/>
                <a:cs typeface="Book Antiqua"/>
                <a:sym typeface="Book Antiqua"/>
              </a:defRPr>
            </a:pPr>
            <a:endParaRPr lang="it-IT" dirty="0">
              <a:solidFill>
                <a:schemeClr val="tx1"/>
              </a:solidFill>
            </a:endParaRPr>
          </a:p>
          <a:p>
            <a:pPr marL="0" indent="0" algn="just">
              <a:lnSpc>
                <a:spcPct val="114000"/>
              </a:lnSpc>
              <a:spcBef>
                <a:spcPts val="600"/>
              </a:spcBef>
              <a:buNone/>
              <a:defRPr sz="1700" b="0">
                <a:solidFill>
                  <a:srgbClr val="FF0000"/>
                </a:solidFill>
                <a:latin typeface="Book Antiqua"/>
                <a:ea typeface="Book Antiqua"/>
                <a:cs typeface="Book Antiqua"/>
                <a:sym typeface="Book Antiqua"/>
              </a:defRPr>
            </a:pPr>
            <a:endParaRPr lang="it-IT" dirty="0">
              <a:solidFill>
                <a:schemeClr val="tx1"/>
              </a:solidFill>
            </a:endParaRPr>
          </a:p>
          <a:p>
            <a:pPr algn="just">
              <a:lnSpc>
                <a:spcPct val="114000"/>
              </a:lnSpc>
              <a:spcBef>
                <a:spcPts val="600"/>
              </a:spcBef>
              <a:defRPr sz="1700" b="0">
                <a:solidFill>
                  <a:srgbClr val="FF0000"/>
                </a:solidFill>
                <a:latin typeface="Book Antiqua"/>
                <a:ea typeface="Book Antiqua"/>
                <a:cs typeface="Book Antiqua"/>
                <a:sym typeface="Book Antiqua"/>
              </a:defRPr>
            </a:pPr>
            <a:r>
              <a:rPr lang="it-IT" sz="2400" b="1" dirty="0">
                <a:solidFill>
                  <a:srgbClr val="00B050"/>
                </a:solidFill>
              </a:rPr>
              <a:t>Interdetto</a:t>
            </a:r>
            <a:r>
              <a:rPr lang="it-IT" dirty="0">
                <a:solidFill>
                  <a:schemeClr val="tx1"/>
                </a:solidFill>
              </a:rPr>
              <a:t> - il maggiorenne che si trova in condizioni di abituale infermità di mente ed è quindi incapace di provvedere ai propri interessi.</a:t>
            </a:r>
          </a:p>
          <a:p>
            <a:endParaRPr lang="it-IT" dirty="0"/>
          </a:p>
        </p:txBody>
      </p:sp>
      <p:sp>
        <p:nvSpPr>
          <p:cNvPr id="4" name="Text Box 5">
            <a:extLst>
              <a:ext uri="{FF2B5EF4-FFF2-40B4-BE49-F238E27FC236}">
                <a16:creationId xmlns:a16="http://schemas.microsoft.com/office/drawing/2014/main" id="{5830302A-ECF2-418D-A09D-14E5950B2987}"/>
              </a:ext>
            </a:extLst>
          </p:cNvPr>
          <p:cNvSpPr txBox="1">
            <a:spLocks noGrp="1"/>
          </p:cNvSpPr>
          <p:nvPr>
            <p:ph type="title"/>
          </p:nvPr>
        </p:nvSpPr>
        <p:spPr>
          <a:xfrm>
            <a:off x="572521" y="67097"/>
            <a:ext cx="7682089" cy="582451"/>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4569" tIns="44569" rIns="44569" bIns="44569">
            <a:spAutoFit/>
          </a:bodyPr>
          <a:lstStyle>
            <a:lvl1pPr>
              <a:defRPr sz="3200" b="0">
                <a:solidFill>
                  <a:srgbClr val="FFFFFF"/>
                </a:solidFill>
                <a:latin typeface="Book Antiqua"/>
                <a:ea typeface="Book Antiqua"/>
                <a:cs typeface="Book Antiqua"/>
                <a:sym typeface="Book Antiqua"/>
              </a:defRPr>
            </a:lvl1pPr>
          </a:lstStyle>
          <a:p>
            <a:r>
              <a:rPr dirty="0" err="1"/>
              <a:t>Circonvenzione</a:t>
            </a:r>
            <a:r>
              <a:rPr dirty="0"/>
              <a:t> di </a:t>
            </a:r>
            <a:r>
              <a:rPr dirty="0" err="1"/>
              <a:t>persone</a:t>
            </a:r>
            <a:r>
              <a:rPr dirty="0"/>
              <a:t> </a:t>
            </a:r>
            <a:r>
              <a:rPr dirty="0" err="1"/>
              <a:t>incapaci</a:t>
            </a:r>
            <a:endParaRPr dirty="0"/>
          </a:p>
        </p:txBody>
      </p:sp>
      <p:pic>
        <p:nvPicPr>
          <p:cNvPr id="5" name="Immagine 3" descr="Immagine 3">
            <a:extLst>
              <a:ext uri="{FF2B5EF4-FFF2-40B4-BE49-F238E27FC236}">
                <a16:creationId xmlns:a16="http://schemas.microsoft.com/office/drawing/2014/main" id="{3FB6E188-01D4-4965-BD8B-19F7F1E9C123}"/>
              </a:ext>
            </a:extLst>
          </p:cNvPr>
          <p:cNvPicPr>
            <a:picLocks noChangeAspect="1"/>
          </p:cNvPicPr>
          <p:nvPr/>
        </p:nvPicPr>
        <p:blipFill>
          <a:blip r:embed="rId2"/>
          <a:stretch>
            <a:fillRect/>
          </a:stretch>
        </p:blipFill>
        <p:spPr>
          <a:xfrm>
            <a:off x="136850" y="67097"/>
            <a:ext cx="435671" cy="753167"/>
          </a:xfrm>
          <a:prstGeom prst="rect">
            <a:avLst/>
          </a:prstGeom>
          <a:ln w="12700">
            <a:miter lim="400000"/>
          </a:ln>
        </p:spPr>
      </p:pic>
    </p:spTree>
    <p:extLst>
      <p:ext uri="{BB962C8B-B14F-4D97-AF65-F5344CB8AC3E}">
        <p14:creationId xmlns:p14="http://schemas.microsoft.com/office/powerpoint/2010/main" val="2876035115"/>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7" name="Rettangolo 4"/>
          <p:cNvSpPr txBox="1"/>
          <p:nvPr/>
        </p:nvSpPr>
        <p:spPr>
          <a:xfrm>
            <a:off x="136850" y="854636"/>
            <a:ext cx="9052561" cy="59566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u="sng">
                <a:latin typeface="Times New Roman"/>
                <a:ea typeface="Times New Roman"/>
                <a:cs typeface="Times New Roman"/>
                <a:sym typeface="Times New Roman"/>
              </a:defRPr>
            </a:pPr>
            <a:r>
              <a:rPr dirty="0"/>
              <a:t>ELEMENTO OGGETTIVO</a:t>
            </a:r>
            <a:r>
              <a:rPr b="0" u="none" dirty="0"/>
              <a:t>: </a:t>
            </a:r>
            <a:r>
              <a:rPr sz="2000" b="0" u="none" dirty="0" err="1"/>
              <a:t>consiste</a:t>
            </a:r>
            <a:r>
              <a:rPr sz="2000" b="0" u="none" dirty="0"/>
              <a:t> </a:t>
            </a:r>
            <a:r>
              <a:rPr sz="2000" b="0" u="none" dirty="0" err="1"/>
              <a:t>nell'</a:t>
            </a:r>
            <a:r>
              <a:rPr sz="2000" u="none" dirty="0" err="1">
                <a:solidFill>
                  <a:srgbClr val="008000"/>
                </a:solidFill>
              </a:rPr>
              <a:t>indurre</a:t>
            </a:r>
            <a:r>
              <a:rPr sz="2000" u="none" dirty="0">
                <a:solidFill>
                  <a:srgbClr val="008000"/>
                </a:solidFill>
              </a:rPr>
              <a:t> un </a:t>
            </a:r>
            <a:r>
              <a:rPr sz="2000" u="none" dirty="0" err="1">
                <a:solidFill>
                  <a:srgbClr val="008000"/>
                </a:solidFill>
              </a:rPr>
              <a:t>soggetto</a:t>
            </a:r>
            <a:r>
              <a:rPr lang="it-IT" sz="2000" u="none" dirty="0">
                <a:solidFill>
                  <a:srgbClr val="008000"/>
                </a:solidFill>
              </a:rPr>
              <a:t>, mediante l’abuso della sua condizione di minorità psichica,</a:t>
            </a:r>
            <a:r>
              <a:rPr sz="2000" u="none" dirty="0">
                <a:solidFill>
                  <a:srgbClr val="008000"/>
                </a:solidFill>
              </a:rPr>
              <a:t> a </a:t>
            </a:r>
            <a:r>
              <a:rPr sz="2000" u="none" dirty="0" err="1">
                <a:solidFill>
                  <a:srgbClr val="008000"/>
                </a:solidFill>
              </a:rPr>
              <a:t>compiere</a:t>
            </a:r>
            <a:r>
              <a:rPr sz="2000" u="none" dirty="0">
                <a:solidFill>
                  <a:srgbClr val="008000"/>
                </a:solidFill>
              </a:rPr>
              <a:t> un </a:t>
            </a:r>
            <a:r>
              <a:rPr sz="2000" u="none" dirty="0" err="1">
                <a:solidFill>
                  <a:srgbClr val="008000"/>
                </a:solidFill>
              </a:rPr>
              <a:t>atto</a:t>
            </a:r>
            <a:r>
              <a:rPr sz="2000" u="none" dirty="0">
                <a:solidFill>
                  <a:srgbClr val="008000"/>
                </a:solidFill>
              </a:rPr>
              <a:t> </a:t>
            </a:r>
            <a:r>
              <a:rPr sz="2000" u="none" dirty="0" err="1">
                <a:solidFill>
                  <a:srgbClr val="008000"/>
                </a:solidFill>
              </a:rPr>
              <a:t>che</a:t>
            </a:r>
            <a:r>
              <a:rPr sz="2000" u="none" dirty="0">
                <a:solidFill>
                  <a:srgbClr val="008000"/>
                </a:solidFill>
              </a:rPr>
              <a:t> </a:t>
            </a:r>
            <a:r>
              <a:rPr sz="2000" u="none" dirty="0" err="1">
                <a:solidFill>
                  <a:srgbClr val="008000"/>
                </a:solidFill>
              </a:rPr>
              <a:t>importa</a:t>
            </a:r>
            <a:r>
              <a:rPr sz="2000" u="none" dirty="0">
                <a:solidFill>
                  <a:srgbClr val="008000"/>
                </a:solidFill>
              </a:rPr>
              <a:t> </a:t>
            </a:r>
            <a:r>
              <a:rPr sz="2000" u="none" dirty="0" err="1">
                <a:solidFill>
                  <a:srgbClr val="008000"/>
                </a:solidFill>
              </a:rPr>
              <a:t>qualsiasi</a:t>
            </a:r>
            <a:r>
              <a:rPr sz="2000" u="none" dirty="0">
                <a:solidFill>
                  <a:srgbClr val="008000"/>
                </a:solidFill>
              </a:rPr>
              <a:t> </a:t>
            </a:r>
            <a:r>
              <a:rPr sz="2000" u="none" dirty="0" err="1">
                <a:solidFill>
                  <a:srgbClr val="008000"/>
                </a:solidFill>
              </a:rPr>
              <a:t>effetto</a:t>
            </a:r>
            <a:r>
              <a:rPr sz="2000" u="none" dirty="0">
                <a:solidFill>
                  <a:srgbClr val="008000"/>
                </a:solidFill>
              </a:rPr>
              <a:t> </a:t>
            </a:r>
            <a:r>
              <a:rPr sz="2000" u="none" dirty="0" err="1">
                <a:solidFill>
                  <a:srgbClr val="008000"/>
                </a:solidFill>
              </a:rPr>
              <a:t>giuridico</a:t>
            </a:r>
            <a:r>
              <a:rPr sz="2000" u="none" dirty="0">
                <a:solidFill>
                  <a:srgbClr val="008000"/>
                </a:solidFill>
              </a:rPr>
              <a:t> per </a:t>
            </a:r>
            <a:r>
              <a:rPr sz="2000" u="none" dirty="0" err="1">
                <a:solidFill>
                  <a:srgbClr val="008000"/>
                </a:solidFill>
              </a:rPr>
              <a:t>lui</a:t>
            </a:r>
            <a:r>
              <a:rPr sz="2000" u="none" dirty="0">
                <a:solidFill>
                  <a:srgbClr val="008000"/>
                </a:solidFill>
              </a:rPr>
              <a:t> o per </a:t>
            </a:r>
            <a:r>
              <a:rPr sz="2000" u="none" dirty="0" err="1">
                <a:solidFill>
                  <a:srgbClr val="008000"/>
                </a:solidFill>
              </a:rPr>
              <a:t>altri</a:t>
            </a:r>
            <a:r>
              <a:rPr sz="2000" u="none" dirty="0">
                <a:solidFill>
                  <a:srgbClr val="008000"/>
                </a:solidFill>
              </a:rPr>
              <a:t> </a:t>
            </a:r>
            <a:r>
              <a:rPr sz="2000" u="none" dirty="0" err="1">
                <a:solidFill>
                  <a:srgbClr val="008000"/>
                </a:solidFill>
              </a:rPr>
              <a:t>dannoso</a:t>
            </a:r>
            <a:r>
              <a:rPr sz="2000" b="0" u="none" dirty="0"/>
              <a:t>: </a:t>
            </a:r>
            <a:endParaRPr b="0" u="none" dirty="0"/>
          </a:p>
          <a:p>
            <a:pPr marL="342900" indent="-342900" algn="just">
              <a:lnSpc>
                <a:spcPct val="114000"/>
              </a:lnSpc>
              <a:spcBef>
                <a:spcPts val="1200"/>
              </a:spcBef>
              <a:buSzPct val="100000"/>
              <a:buFont typeface="Arial"/>
              <a:buChar char="•"/>
              <a:defRPr sz="2200">
                <a:solidFill>
                  <a:srgbClr val="008000"/>
                </a:solidFill>
                <a:latin typeface="Times New Roman"/>
                <a:ea typeface="Times New Roman"/>
                <a:cs typeface="Times New Roman"/>
                <a:sym typeface="Times New Roman"/>
              </a:defRPr>
            </a:pPr>
            <a:r>
              <a:rPr sz="2000" dirty="0"/>
              <a:t>INDU</a:t>
            </a:r>
            <a:r>
              <a:rPr lang="it-IT" sz="2000" dirty="0"/>
              <a:t>ZIONE</a:t>
            </a:r>
            <a:r>
              <a:rPr sz="2000" b="0" dirty="0">
                <a:solidFill>
                  <a:srgbClr val="000000"/>
                </a:solidFill>
              </a:rPr>
              <a:t> </a:t>
            </a:r>
            <a:r>
              <a:rPr sz="2000" b="0" dirty="0" err="1">
                <a:solidFill>
                  <a:srgbClr val="000000"/>
                </a:solidFill>
              </a:rPr>
              <a:t>significa</a:t>
            </a:r>
            <a:r>
              <a:rPr sz="2000" b="0" dirty="0">
                <a:solidFill>
                  <a:srgbClr val="000000"/>
                </a:solidFill>
              </a:rPr>
              <a:t> </a:t>
            </a:r>
            <a:r>
              <a:rPr sz="2000" b="0" dirty="0" err="1">
                <a:solidFill>
                  <a:srgbClr val="000000"/>
                </a:solidFill>
              </a:rPr>
              <a:t>suggestionare</a:t>
            </a:r>
            <a:r>
              <a:rPr sz="2000" b="0" dirty="0">
                <a:solidFill>
                  <a:srgbClr val="000000"/>
                </a:solidFill>
              </a:rPr>
              <a:t> e </a:t>
            </a:r>
            <a:r>
              <a:rPr sz="2000" b="0" dirty="0" err="1">
                <a:solidFill>
                  <a:srgbClr val="000000"/>
                </a:solidFill>
              </a:rPr>
              <a:t>convincere</a:t>
            </a:r>
            <a:r>
              <a:rPr sz="2000" b="0" dirty="0">
                <a:solidFill>
                  <a:srgbClr val="000000"/>
                </a:solidFill>
              </a:rPr>
              <a:t> il </a:t>
            </a:r>
            <a:r>
              <a:rPr sz="2000" b="0" dirty="0" err="1">
                <a:solidFill>
                  <a:srgbClr val="000000"/>
                </a:solidFill>
              </a:rPr>
              <a:t>soggetto</a:t>
            </a:r>
            <a:r>
              <a:rPr sz="2000" b="0" dirty="0">
                <a:solidFill>
                  <a:srgbClr val="000000"/>
                </a:solidFill>
              </a:rPr>
              <a:t> </a:t>
            </a:r>
            <a:r>
              <a:rPr sz="2000" b="0" dirty="0" err="1">
                <a:solidFill>
                  <a:srgbClr val="000000"/>
                </a:solidFill>
              </a:rPr>
              <a:t>passivo</a:t>
            </a:r>
            <a:r>
              <a:rPr sz="2000" b="0" dirty="0">
                <a:solidFill>
                  <a:srgbClr val="000000"/>
                </a:solidFill>
              </a:rPr>
              <a:t> a </a:t>
            </a:r>
            <a:r>
              <a:rPr sz="2000" b="0" dirty="0" err="1">
                <a:solidFill>
                  <a:srgbClr val="000000"/>
                </a:solidFill>
              </a:rPr>
              <a:t>porre</a:t>
            </a:r>
            <a:r>
              <a:rPr sz="2000" b="0" dirty="0">
                <a:solidFill>
                  <a:srgbClr val="000000"/>
                </a:solidFill>
              </a:rPr>
              <a:t> in </a:t>
            </a:r>
            <a:r>
              <a:rPr sz="2000" b="0" dirty="0" err="1">
                <a:solidFill>
                  <a:srgbClr val="000000"/>
                </a:solidFill>
              </a:rPr>
              <a:t>essere</a:t>
            </a:r>
            <a:r>
              <a:rPr sz="2000" b="0" dirty="0">
                <a:solidFill>
                  <a:srgbClr val="000000"/>
                </a:solidFill>
              </a:rPr>
              <a:t> </a:t>
            </a:r>
            <a:r>
              <a:rPr sz="2000" b="0" dirty="0" err="1">
                <a:solidFill>
                  <a:srgbClr val="000000"/>
                </a:solidFill>
              </a:rPr>
              <a:t>una</a:t>
            </a:r>
            <a:r>
              <a:rPr sz="2000" b="0" dirty="0">
                <a:solidFill>
                  <a:srgbClr val="000000"/>
                </a:solidFill>
              </a:rPr>
              <a:t> </a:t>
            </a:r>
            <a:r>
              <a:rPr sz="2000" b="0" dirty="0" err="1">
                <a:solidFill>
                  <a:srgbClr val="000000"/>
                </a:solidFill>
              </a:rPr>
              <a:t>determinata</a:t>
            </a:r>
            <a:r>
              <a:rPr sz="2000" b="0" dirty="0">
                <a:solidFill>
                  <a:srgbClr val="000000"/>
                </a:solidFill>
              </a:rPr>
              <a:t> </a:t>
            </a:r>
            <a:r>
              <a:rPr sz="2000" b="0" dirty="0" err="1">
                <a:solidFill>
                  <a:srgbClr val="000000"/>
                </a:solidFill>
              </a:rPr>
              <a:t>attività</a:t>
            </a:r>
            <a:r>
              <a:rPr sz="2000" b="0" dirty="0">
                <a:solidFill>
                  <a:srgbClr val="000000"/>
                </a:solidFill>
              </a:rPr>
              <a:t> per </a:t>
            </a:r>
            <a:r>
              <a:rPr sz="2000" b="0" dirty="0" err="1">
                <a:solidFill>
                  <a:srgbClr val="000000"/>
                </a:solidFill>
              </a:rPr>
              <a:t>evitare</a:t>
            </a:r>
            <a:r>
              <a:rPr sz="2000" b="0" dirty="0">
                <a:solidFill>
                  <a:srgbClr val="000000"/>
                </a:solidFill>
              </a:rPr>
              <a:t> un </a:t>
            </a:r>
            <a:r>
              <a:rPr sz="2000" b="0" dirty="0" err="1">
                <a:solidFill>
                  <a:srgbClr val="000000"/>
                </a:solidFill>
              </a:rPr>
              <a:t>danno</a:t>
            </a:r>
            <a:r>
              <a:rPr sz="2000" b="0" dirty="0">
                <a:solidFill>
                  <a:srgbClr val="000000"/>
                </a:solidFill>
              </a:rPr>
              <a:t> </a:t>
            </a:r>
            <a:r>
              <a:rPr sz="2000" b="0" dirty="0" err="1">
                <a:solidFill>
                  <a:srgbClr val="000000"/>
                </a:solidFill>
              </a:rPr>
              <a:t>maggiore</a:t>
            </a:r>
            <a:r>
              <a:rPr lang="it-IT" sz="2000" b="0" dirty="0">
                <a:solidFill>
                  <a:srgbClr val="000000"/>
                </a:solidFill>
              </a:rPr>
              <a:t>;</a:t>
            </a:r>
          </a:p>
          <a:p>
            <a:pPr marL="342900" indent="-342900" algn="just">
              <a:lnSpc>
                <a:spcPct val="114000"/>
              </a:lnSpc>
              <a:spcBef>
                <a:spcPts val="1200"/>
              </a:spcBef>
              <a:buSzPct val="100000"/>
              <a:buFont typeface="Arial"/>
              <a:buChar char="•"/>
              <a:defRPr sz="2200">
                <a:solidFill>
                  <a:srgbClr val="008000"/>
                </a:solidFill>
                <a:latin typeface="Times New Roman"/>
                <a:ea typeface="Times New Roman"/>
                <a:cs typeface="Times New Roman"/>
                <a:sym typeface="Times New Roman"/>
              </a:defRPr>
            </a:pPr>
            <a:r>
              <a:rPr lang="it-IT" sz="2000" dirty="0">
                <a:solidFill>
                  <a:srgbClr val="007E39"/>
                </a:solidFill>
              </a:rPr>
              <a:t>ABUSO</a:t>
            </a:r>
            <a:r>
              <a:rPr lang="it-IT" sz="2000" b="0" dirty="0">
                <a:solidFill>
                  <a:srgbClr val="000000"/>
                </a:solidFill>
              </a:rPr>
              <a:t>  </a:t>
            </a:r>
            <a:r>
              <a:rPr lang="it-IT" sz="2000" b="0" dirty="0">
                <a:solidFill>
                  <a:schemeClr val="tx1"/>
                </a:solidFill>
              </a:rPr>
              <a:t>significa sfruttamento o </a:t>
            </a:r>
            <a:r>
              <a:rPr lang="it-IT" sz="2000" b="0" dirty="0" err="1">
                <a:solidFill>
                  <a:schemeClr val="tx1"/>
                </a:solidFill>
              </a:rPr>
              <a:t>approfittamento</a:t>
            </a:r>
            <a:r>
              <a:rPr lang="it-IT" sz="2000" b="0" dirty="0">
                <a:solidFill>
                  <a:schemeClr val="tx1"/>
                </a:solidFill>
              </a:rPr>
              <a:t>, con qualsiasi mezzo, delle condizioni di vulnerabilità del soggetto passivo.</a:t>
            </a:r>
          </a:p>
          <a:p>
            <a:pPr algn="just">
              <a:lnSpc>
                <a:spcPct val="114000"/>
              </a:lnSpc>
              <a:spcBef>
                <a:spcPts val="1200"/>
              </a:spcBef>
              <a:buSzPct val="100000"/>
              <a:defRPr sz="2200">
                <a:solidFill>
                  <a:srgbClr val="008000"/>
                </a:solidFill>
                <a:latin typeface="Times New Roman"/>
                <a:ea typeface="Times New Roman"/>
                <a:cs typeface="Times New Roman"/>
                <a:sym typeface="Times New Roman"/>
              </a:defRPr>
            </a:pPr>
            <a:r>
              <a:rPr lang="it-IT" i="1" dirty="0">
                <a:solidFill>
                  <a:schemeClr val="tx1"/>
                </a:solidFill>
              </a:rPr>
              <a:t>la </a:t>
            </a:r>
            <a:r>
              <a:rPr lang="it-IT" i="1" u="sng" dirty="0">
                <a:solidFill>
                  <a:schemeClr val="tx1"/>
                </a:solidFill>
              </a:rPr>
              <a:t>condotta di induzione-approfittatrice </a:t>
            </a:r>
            <a:r>
              <a:rPr lang="it-IT" i="1" dirty="0">
                <a:solidFill>
                  <a:schemeClr val="tx1"/>
                </a:solidFill>
              </a:rPr>
              <a:t>deve produrre, come </a:t>
            </a:r>
            <a:r>
              <a:rPr lang="it-IT" i="1" u="sng" dirty="0">
                <a:solidFill>
                  <a:schemeClr val="tx1"/>
                </a:solidFill>
              </a:rPr>
              <a:t>primo risultato</a:t>
            </a:r>
            <a:r>
              <a:rPr lang="it-IT" i="1" dirty="0">
                <a:solidFill>
                  <a:schemeClr val="tx1"/>
                </a:solidFill>
              </a:rPr>
              <a:t>, il </a:t>
            </a:r>
            <a:r>
              <a:rPr lang="it-IT" i="1" u="sng" dirty="0">
                <a:solidFill>
                  <a:srgbClr val="FF0000"/>
                </a:solidFill>
              </a:rPr>
              <a:t>compimento di un atto </a:t>
            </a:r>
            <a:r>
              <a:rPr lang="it-IT" i="1" dirty="0">
                <a:solidFill>
                  <a:schemeClr val="tx1"/>
                </a:solidFill>
              </a:rPr>
              <a:t>da parte dell’incapace che deve, a sua volta, implicare come </a:t>
            </a:r>
            <a:r>
              <a:rPr lang="it-IT" i="1" u="sng" dirty="0">
                <a:solidFill>
                  <a:schemeClr val="tx1"/>
                </a:solidFill>
              </a:rPr>
              <a:t>conseguenza</a:t>
            </a:r>
            <a:r>
              <a:rPr lang="it-IT" i="1" dirty="0">
                <a:solidFill>
                  <a:schemeClr val="tx1"/>
                </a:solidFill>
              </a:rPr>
              <a:t> un </a:t>
            </a:r>
            <a:r>
              <a:rPr lang="it-IT" i="1" u="sng" dirty="0">
                <a:solidFill>
                  <a:srgbClr val="FF0000"/>
                </a:solidFill>
              </a:rPr>
              <a:t>effetto giuridico dannoso</a:t>
            </a:r>
          </a:p>
          <a:p>
            <a:pPr marL="342900" indent="-342900" algn="just">
              <a:lnSpc>
                <a:spcPct val="114000"/>
              </a:lnSpc>
              <a:spcBef>
                <a:spcPts val="1200"/>
              </a:spcBef>
              <a:buSzPct val="100000"/>
              <a:buFont typeface="Arial"/>
              <a:buChar char="•"/>
              <a:defRPr sz="2200">
                <a:solidFill>
                  <a:srgbClr val="008000"/>
                </a:solidFill>
                <a:latin typeface="Times New Roman"/>
                <a:ea typeface="Times New Roman"/>
                <a:cs typeface="Times New Roman"/>
                <a:sym typeface="Times New Roman"/>
              </a:defRPr>
            </a:pPr>
            <a:r>
              <a:rPr sz="2000" dirty="0"/>
              <a:t>“ATTO” </a:t>
            </a:r>
            <a:r>
              <a:rPr sz="2000" b="0" dirty="0">
                <a:solidFill>
                  <a:srgbClr val="000000"/>
                </a:solidFill>
              </a:rPr>
              <a:t>è </a:t>
            </a:r>
            <a:r>
              <a:rPr sz="2000" b="0" dirty="0" err="1">
                <a:solidFill>
                  <a:srgbClr val="000000"/>
                </a:solidFill>
              </a:rPr>
              <a:t>qualunque</a:t>
            </a:r>
            <a:r>
              <a:rPr sz="2000" b="0" dirty="0">
                <a:solidFill>
                  <a:srgbClr val="000000"/>
                </a:solidFill>
              </a:rPr>
              <a:t> </a:t>
            </a:r>
            <a:r>
              <a:rPr sz="2000" b="0" dirty="0" err="1">
                <a:solidFill>
                  <a:srgbClr val="000000"/>
                </a:solidFill>
              </a:rPr>
              <a:t>comportamento</a:t>
            </a:r>
            <a:r>
              <a:rPr sz="2000" b="0" dirty="0">
                <a:solidFill>
                  <a:srgbClr val="000000"/>
                </a:solidFill>
              </a:rPr>
              <a:t> </a:t>
            </a:r>
            <a:r>
              <a:rPr sz="2000" b="0" dirty="0" err="1">
                <a:solidFill>
                  <a:srgbClr val="000000"/>
                </a:solidFill>
              </a:rPr>
              <a:t>umano</a:t>
            </a:r>
            <a:r>
              <a:rPr sz="2000" b="0" dirty="0">
                <a:solidFill>
                  <a:srgbClr val="000000"/>
                </a:solidFill>
              </a:rPr>
              <a:t>, </a:t>
            </a:r>
            <a:r>
              <a:rPr sz="2000" b="0" dirty="0" err="1">
                <a:solidFill>
                  <a:srgbClr val="000000"/>
                </a:solidFill>
              </a:rPr>
              <a:t>purché</a:t>
            </a:r>
            <a:r>
              <a:rPr sz="2000" b="0" dirty="0">
                <a:solidFill>
                  <a:srgbClr val="000000"/>
                </a:solidFill>
              </a:rPr>
              <a:t> </a:t>
            </a:r>
            <a:r>
              <a:rPr sz="2000" b="0" dirty="0" err="1">
                <a:solidFill>
                  <a:srgbClr val="000000"/>
                </a:solidFill>
              </a:rPr>
              <a:t>idoneo</a:t>
            </a:r>
            <a:r>
              <a:rPr sz="2000" b="0" dirty="0">
                <a:solidFill>
                  <a:srgbClr val="000000"/>
                </a:solidFill>
              </a:rPr>
              <a:t> a </a:t>
            </a:r>
            <a:r>
              <a:rPr sz="2000" b="0" dirty="0" err="1">
                <a:solidFill>
                  <a:srgbClr val="000000"/>
                </a:solidFill>
              </a:rPr>
              <a:t>produrre</a:t>
            </a:r>
            <a:r>
              <a:rPr sz="2000" b="0" dirty="0">
                <a:solidFill>
                  <a:srgbClr val="000000"/>
                </a:solidFill>
              </a:rPr>
              <a:t> </a:t>
            </a:r>
            <a:r>
              <a:rPr sz="2000" b="0" dirty="0" err="1">
                <a:solidFill>
                  <a:srgbClr val="000000"/>
                </a:solidFill>
              </a:rPr>
              <a:t>effetti</a:t>
            </a:r>
            <a:r>
              <a:rPr sz="2000" b="0" dirty="0">
                <a:solidFill>
                  <a:srgbClr val="000000"/>
                </a:solidFill>
              </a:rPr>
              <a:t> </a:t>
            </a:r>
            <a:r>
              <a:rPr sz="2000" b="0" dirty="0" err="1">
                <a:solidFill>
                  <a:srgbClr val="000000"/>
                </a:solidFill>
              </a:rPr>
              <a:t>giuridicamente</a:t>
            </a:r>
            <a:r>
              <a:rPr sz="2000" b="0" dirty="0">
                <a:solidFill>
                  <a:srgbClr val="000000"/>
                </a:solidFill>
              </a:rPr>
              <a:t> </a:t>
            </a:r>
            <a:r>
              <a:rPr sz="2000" b="0" dirty="0" err="1">
                <a:solidFill>
                  <a:srgbClr val="000000"/>
                </a:solidFill>
              </a:rPr>
              <a:t>rilevanti</a:t>
            </a:r>
            <a:r>
              <a:rPr sz="2000" b="0" dirty="0">
                <a:solidFill>
                  <a:srgbClr val="000000"/>
                </a:solidFill>
              </a:rPr>
              <a:t> </a:t>
            </a:r>
          </a:p>
          <a:p>
            <a:pPr marL="342900" indent="-342900" algn="just">
              <a:lnSpc>
                <a:spcPct val="114000"/>
              </a:lnSpc>
              <a:spcBef>
                <a:spcPts val="1200"/>
              </a:spcBef>
              <a:buSzPct val="100000"/>
              <a:buFont typeface="Arial"/>
              <a:buChar char="•"/>
              <a:defRPr sz="2200">
                <a:solidFill>
                  <a:srgbClr val="008000"/>
                </a:solidFill>
                <a:latin typeface="Times New Roman"/>
                <a:ea typeface="Times New Roman"/>
                <a:cs typeface="Times New Roman"/>
                <a:sym typeface="Times New Roman"/>
              </a:defRPr>
            </a:pPr>
            <a:r>
              <a:rPr sz="2000" dirty="0"/>
              <a:t>DANNO</a:t>
            </a:r>
            <a:r>
              <a:rPr sz="2000" b="0" dirty="0">
                <a:solidFill>
                  <a:srgbClr val="000000"/>
                </a:solidFill>
              </a:rPr>
              <a:t> </a:t>
            </a:r>
            <a:r>
              <a:rPr sz="2000" b="0" dirty="0" err="1">
                <a:solidFill>
                  <a:srgbClr val="000000"/>
                </a:solidFill>
              </a:rPr>
              <a:t>consiste</a:t>
            </a:r>
            <a:r>
              <a:rPr sz="2000" b="0" dirty="0">
                <a:solidFill>
                  <a:srgbClr val="000000"/>
                </a:solidFill>
              </a:rPr>
              <a:t> in un </a:t>
            </a:r>
            <a:r>
              <a:rPr sz="2000" b="0" dirty="0" err="1">
                <a:solidFill>
                  <a:srgbClr val="000000"/>
                </a:solidFill>
              </a:rPr>
              <a:t>pregiudizio</a:t>
            </a:r>
            <a:r>
              <a:rPr sz="2000" b="0" dirty="0">
                <a:solidFill>
                  <a:srgbClr val="000000"/>
                </a:solidFill>
              </a:rPr>
              <a:t> non </a:t>
            </a:r>
            <a:r>
              <a:rPr sz="2000" b="0" dirty="0" err="1">
                <a:solidFill>
                  <a:srgbClr val="000000"/>
                </a:solidFill>
              </a:rPr>
              <a:t>necessariamente</a:t>
            </a:r>
            <a:r>
              <a:rPr sz="2000" b="0" dirty="0">
                <a:solidFill>
                  <a:srgbClr val="000000"/>
                </a:solidFill>
              </a:rPr>
              <a:t> di carattere </a:t>
            </a:r>
            <a:r>
              <a:rPr sz="2000" b="0" dirty="0" err="1">
                <a:solidFill>
                  <a:srgbClr val="000000"/>
                </a:solidFill>
              </a:rPr>
              <a:t>patrimoniale</a:t>
            </a:r>
            <a:r>
              <a:rPr sz="2000" b="0" dirty="0">
                <a:solidFill>
                  <a:srgbClr val="000000"/>
                </a:solidFill>
              </a:rPr>
              <a:t>, ma </a:t>
            </a:r>
            <a:r>
              <a:rPr sz="2000" b="0" dirty="0" err="1">
                <a:solidFill>
                  <a:srgbClr val="000000"/>
                </a:solidFill>
              </a:rPr>
              <a:t>anche</a:t>
            </a:r>
            <a:r>
              <a:rPr sz="2000" b="0" dirty="0">
                <a:solidFill>
                  <a:srgbClr val="000000"/>
                </a:solidFill>
              </a:rPr>
              <a:t> di </a:t>
            </a:r>
            <a:r>
              <a:rPr sz="2000" b="0" dirty="0" err="1">
                <a:solidFill>
                  <a:srgbClr val="000000"/>
                </a:solidFill>
              </a:rPr>
              <a:t>tipo</a:t>
            </a:r>
            <a:r>
              <a:rPr sz="2000" b="0" dirty="0">
                <a:solidFill>
                  <a:srgbClr val="000000"/>
                </a:solidFill>
              </a:rPr>
              <a:t> morale, </a:t>
            </a:r>
            <a:r>
              <a:rPr sz="2000" b="0" dirty="0" err="1">
                <a:solidFill>
                  <a:srgbClr val="000000"/>
                </a:solidFill>
              </a:rPr>
              <a:t>psicologico</a:t>
            </a:r>
            <a:r>
              <a:rPr sz="2000" b="0" dirty="0">
                <a:solidFill>
                  <a:srgbClr val="000000"/>
                </a:solidFill>
              </a:rPr>
              <a:t>, </a:t>
            </a:r>
            <a:r>
              <a:rPr sz="2000" b="0" dirty="0" err="1">
                <a:solidFill>
                  <a:srgbClr val="000000"/>
                </a:solidFill>
              </a:rPr>
              <a:t>ecc</a:t>
            </a:r>
            <a:r>
              <a:rPr sz="2000" b="0" dirty="0">
                <a:solidFill>
                  <a:srgbClr val="000000"/>
                </a:solidFill>
              </a:rPr>
              <a:t>.</a:t>
            </a:r>
          </a:p>
        </p:txBody>
      </p:sp>
      <p:pic>
        <p:nvPicPr>
          <p:cNvPr id="358"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59"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rPr dirty="0" err="1"/>
              <a:t>Circonvenzione</a:t>
            </a:r>
            <a:r>
              <a:rPr dirty="0"/>
              <a:t> di </a:t>
            </a:r>
            <a:r>
              <a:rPr dirty="0" err="1"/>
              <a:t>persone</a:t>
            </a:r>
            <a:r>
              <a:rPr dirty="0"/>
              <a:t> </a:t>
            </a:r>
            <a:r>
              <a:rPr dirty="0" err="1"/>
              <a:t>incapaci</a:t>
            </a:r>
            <a:endParaRPr dirty="0"/>
          </a:p>
        </p:txBody>
      </p:sp>
    </p:spTree>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CDFDEBD6-FC05-911C-2D62-4E28C3CD89F3}"/>
              </a:ext>
            </a:extLst>
          </p:cNvPr>
          <p:cNvSpPr>
            <a:spLocks noGrp="1"/>
          </p:cNvSpPr>
          <p:nvPr>
            <p:ph type="body" idx="1"/>
          </p:nvPr>
        </p:nvSpPr>
        <p:spPr>
          <a:xfrm>
            <a:off x="457200" y="1210098"/>
            <a:ext cx="8229600" cy="5647902"/>
          </a:xfrm>
        </p:spPr>
        <p:txBody>
          <a:bodyPr>
            <a:normAutofit fontScale="85000" lnSpcReduction="20000"/>
          </a:bodyPr>
          <a:lstStyle/>
          <a:p>
            <a:pPr marL="0" indent="0">
              <a:buNone/>
            </a:pPr>
            <a:r>
              <a:rPr lang="it-IT" b="1" dirty="0">
                <a:solidFill>
                  <a:schemeClr val="accent2"/>
                </a:solidFill>
                <a:latin typeface="Book Antiqua" panose="02040602050305030304" pitchFamily="18" charset="0"/>
              </a:rPr>
              <a:t>Elemento materiale</a:t>
            </a:r>
          </a:p>
          <a:p>
            <a:pPr marL="0" indent="0">
              <a:buNone/>
            </a:pPr>
            <a:endParaRPr lang="it-IT" b="1" dirty="0">
              <a:solidFill>
                <a:schemeClr val="accent2"/>
              </a:solidFill>
              <a:latin typeface="Book Antiqua" panose="02040602050305030304" pitchFamily="18" charset="0"/>
            </a:endParaRPr>
          </a:p>
          <a:p>
            <a:pPr marL="0" indent="0">
              <a:buNone/>
            </a:pPr>
            <a:r>
              <a:rPr lang="it-IT" i="1" dirty="0">
                <a:solidFill>
                  <a:schemeClr val="tx1">
                    <a:lumMod val="95000"/>
                    <a:lumOff val="5000"/>
                  </a:schemeClr>
                </a:solidFill>
                <a:latin typeface="Book Antiqua" panose="02040602050305030304" pitchFamily="18" charset="0"/>
              </a:rPr>
              <a:t>Affinché si configuri il delitto di circonvenzione di incapaci…</a:t>
            </a:r>
          </a:p>
          <a:p>
            <a:endParaRPr lang="it-IT" dirty="0">
              <a:latin typeface="Book Antiqua" panose="02040602050305030304" pitchFamily="18" charset="0"/>
            </a:endParaRPr>
          </a:p>
          <a:p>
            <a:r>
              <a:rPr lang="it-IT" dirty="0">
                <a:latin typeface="Book Antiqua" panose="02040602050305030304" pitchFamily="18" charset="0"/>
              </a:rPr>
              <a:t>Instaurazione di un </a:t>
            </a:r>
            <a:r>
              <a:rPr lang="it-IT" u="sng" dirty="0">
                <a:latin typeface="Book Antiqua" panose="02040602050305030304" pitchFamily="18" charset="0"/>
              </a:rPr>
              <a:t>rapporto squilibrato fra vittima e agente</a:t>
            </a:r>
          </a:p>
          <a:p>
            <a:endParaRPr lang="it-IT" dirty="0">
              <a:latin typeface="Book Antiqua" panose="02040602050305030304" pitchFamily="18" charset="0"/>
            </a:endParaRPr>
          </a:p>
          <a:p>
            <a:r>
              <a:rPr lang="it-IT" u="sng" dirty="0">
                <a:latin typeface="Book Antiqua" panose="02040602050305030304" pitchFamily="18" charset="0"/>
              </a:rPr>
              <a:t>Induzione a compiere un atto</a:t>
            </a:r>
          </a:p>
          <a:p>
            <a:endParaRPr lang="it-IT" dirty="0">
              <a:latin typeface="Book Antiqua" panose="02040602050305030304" pitchFamily="18" charset="0"/>
            </a:endParaRPr>
          </a:p>
          <a:p>
            <a:r>
              <a:rPr lang="it-IT" u="sng" dirty="0">
                <a:latin typeface="Book Antiqua" panose="02040602050305030304" pitchFamily="18" charset="0"/>
              </a:rPr>
              <a:t>Abuso</a:t>
            </a:r>
            <a:r>
              <a:rPr lang="it-IT" dirty="0">
                <a:latin typeface="Book Antiqua" panose="02040602050305030304" pitchFamily="18" charset="0"/>
              </a:rPr>
              <a:t> dello stato di </a:t>
            </a:r>
            <a:r>
              <a:rPr lang="it-IT" u="sng" dirty="0">
                <a:latin typeface="Book Antiqua" panose="02040602050305030304" pitchFamily="18" charset="0"/>
              </a:rPr>
              <a:t>vulnerabilità</a:t>
            </a:r>
          </a:p>
          <a:p>
            <a:endParaRPr lang="it-IT" dirty="0">
              <a:latin typeface="Book Antiqua" panose="02040602050305030304" pitchFamily="18" charset="0"/>
            </a:endParaRPr>
          </a:p>
          <a:p>
            <a:r>
              <a:rPr lang="it-IT" u="sng" dirty="0">
                <a:latin typeface="Book Antiqua" panose="02040602050305030304" pitchFamily="18" charset="0"/>
              </a:rPr>
              <a:t>Oggettiva riconoscibilità </a:t>
            </a:r>
            <a:r>
              <a:rPr lang="it-IT" dirty="0">
                <a:latin typeface="Book Antiqua" panose="02040602050305030304" pitchFamily="18" charset="0"/>
              </a:rPr>
              <a:t>della minorata </a:t>
            </a:r>
            <a:r>
              <a:rPr lang="it-IT" u="sng" dirty="0">
                <a:latin typeface="Book Antiqua" panose="02040602050305030304" pitchFamily="18" charset="0"/>
              </a:rPr>
              <a:t>incapacità</a:t>
            </a:r>
          </a:p>
        </p:txBody>
      </p:sp>
      <p:pic>
        <p:nvPicPr>
          <p:cNvPr id="4" name="Immagine 6" descr="Immagine 6">
            <a:extLst>
              <a:ext uri="{FF2B5EF4-FFF2-40B4-BE49-F238E27FC236}">
                <a16:creationId xmlns:a16="http://schemas.microsoft.com/office/drawing/2014/main" id="{1E7033B6-BB28-684E-AC07-92D9F01BE27F}"/>
              </a:ext>
            </a:extLst>
          </p:cNvPr>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5" name="Text Box 5">
            <a:extLst>
              <a:ext uri="{FF2B5EF4-FFF2-40B4-BE49-F238E27FC236}">
                <a16:creationId xmlns:a16="http://schemas.microsoft.com/office/drawing/2014/main" id="{F6F9019B-A51F-B29F-5E27-45102F31C8E1}"/>
              </a:ext>
            </a:extLst>
          </p:cNvPr>
          <p:cNvSpPr txBox="1">
            <a:spLocks noGrp="1"/>
          </p:cNvSpPr>
          <p:nvPr>
            <p:ph type="title"/>
          </p:nvPr>
        </p:nvSpPr>
        <p:spPr>
          <a:xfrm>
            <a:off x="457200" y="-127820"/>
            <a:ext cx="8229600" cy="1143000"/>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rPr dirty="0" err="1"/>
              <a:t>Circonvenzione</a:t>
            </a:r>
            <a:r>
              <a:rPr dirty="0"/>
              <a:t> di </a:t>
            </a:r>
            <a:r>
              <a:rPr dirty="0" err="1"/>
              <a:t>persone</a:t>
            </a:r>
            <a:r>
              <a:rPr dirty="0"/>
              <a:t> </a:t>
            </a:r>
            <a:r>
              <a:rPr dirty="0" err="1"/>
              <a:t>incapaci</a:t>
            </a:r>
            <a:endParaRPr dirty="0"/>
          </a:p>
        </p:txBody>
      </p:sp>
    </p:spTree>
    <p:extLst>
      <p:ext uri="{BB962C8B-B14F-4D97-AF65-F5344CB8AC3E}">
        <p14:creationId xmlns:p14="http://schemas.microsoft.com/office/powerpoint/2010/main" val="4069743431"/>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9" name="Rettangolo 4"/>
          <p:cNvSpPr txBox="1"/>
          <p:nvPr/>
        </p:nvSpPr>
        <p:spPr>
          <a:xfrm>
            <a:off x="182570" y="980728"/>
            <a:ext cx="8736198" cy="43831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rPr dirty="0"/>
              <a:t>È un </a:t>
            </a:r>
            <a:r>
              <a:rPr b="1" dirty="0">
                <a:solidFill>
                  <a:srgbClr val="008000"/>
                </a:solidFill>
              </a:rPr>
              <a:t>REATO COMUNE</a:t>
            </a:r>
            <a:r>
              <a:rPr dirty="0"/>
              <a:t>, </a:t>
            </a:r>
            <a:r>
              <a:rPr b="1" dirty="0">
                <a:solidFill>
                  <a:srgbClr val="008000"/>
                </a:solidFill>
              </a:rPr>
              <a:t>DI DANNO</a:t>
            </a:r>
            <a:r>
              <a:rPr dirty="0"/>
              <a:t>, </a:t>
            </a:r>
            <a:r>
              <a:rPr dirty="0" err="1"/>
              <a:t>perché</a:t>
            </a:r>
            <a:r>
              <a:rPr dirty="0"/>
              <a:t> </a:t>
            </a:r>
            <a:r>
              <a:rPr dirty="0" err="1"/>
              <a:t>richiede</a:t>
            </a:r>
            <a:r>
              <a:rPr dirty="0"/>
              <a:t> </a:t>
            </a:r>
            <a:r>
              <a:rPr dirty="0" err="1"/>
              <a:t>l'offesa</a:t>
            </a:r>
            <a:r>
              <a:rPr dirty="0"/>
              <a:t> in senso </a:t>
            </a:r>
            <a:r>
              <a:rPr dirty="0" err="1"/>
              <a:t>naturalistico</a:t>
            </a:r>
            <a:r>
              <a:rPr dirty="0"/>
              <a:t> del bene </a:t>
            </a:r>
            <a:r>
              <a:rPr dirty="0" err="1"/>
              <a:t>protetto</a:t>
            </a:r>
            <a:r>
              <a:rPr dirty="0"/>
              <a:t>; </a:t>
            </a:r>
            <a:r>
              <a:rPr b="1" dirty="0">
                <a:solidFill>
                  <a:srgbClr val="008000"/>
                </a:solidFill>
              </a:rPr>
              <a:t>DI EVENTO</a:t>
            </a:r>
            <a:r>
              <a:rPr dirty="0"/>
              <a:t>, </a:t>
            </a:r>
            <a:r>
              <a:rPr dirty="0" err="1"/>
              <a:t>perché</a:t>
            </a:r>
            <a:r>
              <a:rPr dirty="0"/>
              <a:t> </a:t>
            </a:r>
            <a:r>
              <a:rPr dirty="0" err="1"/>
              <a:t>si</a:t>
            </a:r>
            <a:r>
              <a:rPr dirty="0"/>
              <a:t> </a:t>
            </a:r>
            <a:r>
              <a:rPr dirty="0" err="1"/>
              <a:t>perfeziona</a:t>
            </a:r>
            <a:r>
              <a:rPr dirty="0"/>
              <a:t> con la </a:t>
            </a:r>
            <a:r>
              <a:rPr dirty="0" err="1"/>
              <a:t>verificazione</a:t>
            </a:r>
            <a:r>
              <a:rPr dirty="0"/>
              <a:t> </a:t>
            </a:r>
            <a:r>
              <a:rPr dirty="0" err="1"/>
              <a:t>dell'evento</a:t>
            </a:r>
            <a:r>
              <a:rPr dirty="0"/>
              <a:t> </a:t>
            </a:r>
            <a:r>
              <a:rPr dirty="0" err="1"/>
              <a:t>dannoso</a:t>
            </a:r>
            <a:r>
              <a:rPr dirty="0"/>
              <a:t>; </a:t>
            </a:r>
            <a:r>
              <a:rPr b="1" dirty="0">
                <a:solidFill>
                  <a:srgbClr val="008000"/>
                </a:solidFill>
              </a:rPr>
              <a:t>A FORMA LIBERA</a:t>
            </a:r>
            <a:r>
              <a:rPr dirty="0"/>
              <a:t>, </a:t>
            </a:r>
            <a:r>
              <a:rPr dirty="0" err="1"/>
              <a:t>perché</a:t>
            </a:r>
            <a:r>
              <a:rPr dirty="0"/>
              <a:t> la </a:t>
            </a:r>
            <a:r>
              <a:rPr dirty="0" err="1"/>
              <a:t>condotta</a:t>
            </a:r>
            <a:r>
              <a:rPr dirty="0"/>
              <a:t> non è </a:t>
            </a:r>
            <a:r>
              <a:rPr dirty="0" err="1"/>
              <a:t>tipizzata</a:t>
            </a:r>
            <a:r>
              <a:rPr dirty="0"/>
              <a:t> dal </a:t>
            </a:r>
            <a:r>
              <a:rPr dirty="0" err="1"/>
              <a:t>legislatore</a:t>
            </a:r>
            <a:r>
              <a:rPr dirty="0"/>
              <a:t>.</a:t>
            </a:r>
          </a:p>
          <a:p>
            <a:pPr algn="just">
              <a:lnSpc>
                <a:spcPct val="114000"/>
              </a:lnSpc>
              <a:spcBef>
                <a:spcPts val="1200"/>
              </a:spcBef>
              <a:defRPr sz="2200" b="0">
                <a:latin typeface="Times New Roman"/>
                <a:ea typeface="Times New Roman"/>
                <a:cs typeface="Times New Roman"/>
                <a:sym typeface="Times New Roman"/>
              </a:defRPr>
            </a:pPr>
            <a:r>
              <a:rPr dirty="0"/>
              <a:t>Si </a:t>
            </a:r>
            <a:r>
              <a:rPr dirty="0" err="1"/>
              <a:t>consuma</a:t>
            </a:r>
            <a:r>
              <a:rPr dirty="0"/>
              <a:t> </a:t>
            </a:r>
            <a:r>
              <a:rPr dirty="0" err="1"/>
              <a:t>nel</a:t>
            </a:r>
            <a:r>
              <a:rPr dirty="0"/>
              <a:t> </a:t>
            </a:r>
            <a:r>
              <a:rPr dirty="0" err="1"/>
              <a:t>momento</a:t>
            </a:r>
            <a:r>
              <a:rPr dirty="0"/>
              <a:t> in cui </a:t>
            </a:r>
            <a:r>
              <a:rPr dirty="0" err="1"/>
              <a:t>l'atto</a:t>
            </a:r>
            <a:r>
              <a:rPr dirty="0"/>
              <a:t> </a:t>
            </a:r>
            <a:r>
              <a:rPr dirty="0" err="1"/>
              <a:t>dannoso</a:t>
            </a:r>
            <a:r>
              <a:rPr dirty="0"/>
              <a:t> </a:t>
            </a:r>
            <a:r>
              <a:rPr dirty="0" err="1"/>
              <a:t>viene</a:t>
            </a:r>
            <a:r>
              <a:rPr dirty="0"/>
              <a:t> </a:t>
            </a:r>
            <a:r>
              <a:rPr dirty="0" err="1"/>
              <a:t>realizzato</a:t>
            </a:r>
            <a:r>
              <a:rPr dirty="0"/>
              <a:t> e il </a:t>
            </a:r>
            <a:r>
              <a:rPr dirty="0" err="1"/>
              <a:t>tentativo</a:t>
            </a:r>
            <a:r>
              <a:rPr dirty="0"/>
              <a:t> è </a:t>
            </a:r>
            <a:r>
              <a:rPr dirty="0" err="1"/>
              <a:t>ipotizzabile</a:t>
            </a:r>
            <a:r>
              <a:rPr dirty="0"/>
              <a:t>.</a:t>
            </a:r>
            <a:endParaRPr lang="it-IT" dirty="0"/>
          </a:p>
          <a:p>
            <a:pPr algn="just">
              <a:lnSpc>
                <a:spcPct val="114000"/>
              </a:lnSpc>
              <a:spcBef>
                <a:spcPts val="1200"/>
              </a:spcBef>
              <a:defRPr sz="2200" b="0">
                <a:latin typeface="Times New Roman"/>
                <a:ea typeface="Times New Roman"/>
                <a:cs typeface="Times New Roman"/>
                <a:sym typeface="Times New Roman"/>
              </a:defRPr>
            </a:pPr>
            <a:endParaRPr dirty="0"/>
          </a:p>
          <a:p>
            <a:pPr algn="just">
              <a:lnSpc>
                <a:spcPct val="114000"/>
              </a:lnSpc>
              <a:spcBef>
                <a:spcPts val="1200"/>
              </a:spcBef>
              <a:defRPr sz="2200" u="sng">
                <a:latin typeface="Times New Roman"/>
                <a:ea typeface="Times New Roman"/>
                <a:cs typeface="Times New Roman"/>
                <a:sym typeface="Times New Roman"/>
              </a:defRPr>
            </a:pPr>
            <a:r>
              <a:rPr dirty="0"/>
              <a:t>ELEMENTO SOGGETTIVO</a:t>
            </a:r>
            <a:r>
              <a:rPr u="none" dirty="0"/>
              <a:t> </a:t>
            </a:r>
            <a:r>
              <a:rPr b="0" u="none" dirty="0"/>
              <a:t>è il </a:t>
            </a:r>
            <a:r>
              <a:rPr u="none" dirty="0">
                <a:solidFill>
                  <a:srgbClr val="008000"/>
                </a:solidFill>
              </a:rPr>
              <a:t>DOLO SPECIFICO</a:t>
            </a:r>
            <a:r>
              <a:rPr b="0" u="none" dirty="0"/>
              <a:t>, </a:t>
            </a:r>
            <a:r>
              <a:rPr b="0" u="none" dirty="0" err="1"/>
              <a:t>inteso</a:t>
            </a:r>
            <a:r>
              <a:rPr b="0" u="none" dirty="0"/>
              <a:t> come </a:t>
            </a:r>
            <a:r>
              <a:rPr b="0" u="none" dirty="0" err="1"/>
              <a:t>coscienza</a:t>
            </a:r>
            <a:r>
              <a:rPr b="0" u="none" dirty="0"/>
              <a:t> e </a:t>
            </a:r>
            <a:r>
              <a:rPr b="0" u="none" dirty="0" err="1"/>
              <a:t>volontà</a:t>
            </a:r>
            <a:r>
              <a:rPr b="0" u="none" dirty="0"/>
              <a:t> del </a:t>
            </a:r>
            <a:r>
              <a:rPr b="0" u="none" dirty="0" err="1"/>
              <a:t>fatto</a:t>
            </a:r>
            <a:r>
              <a:rPr b="0" u="none" dirty="0"/>
              <a:t> </a:t>
            </a:r>
            <a:r>
              <a:rPr b="0" u="none" dirty="0" err="1"/>
              <a:t>tipico</a:t>
            </a:r>
            <a:r>
              <a:rPr b="0" u="none" dirty="0"/>
              <a:t>, con </a:t>
            </a:r>
            <a:r>
              <a:rPr b="0" u="none" dirty="0" err="1"/>
              <a:t>l'ulteriore</a:t>
            </a:r>
            <a:r>
              <a:rPr b="0" u="none" dirty="0"/>
              <a:t> </a:t>
            </a:r>
            <a:r>
              <a:rPr b="0" u="none" dirty="0" err="1"/>
              <a:t>scopo</a:t>
            </a:r>
            <a:r>
              <a:rPr b="0" u="none" dirty="0"/>
              <a:t> di </a:t>
            </a:r>
            <a:r>
              <a:rPr b="0" u="none" dirty="0" err="1"/>
              <a:t>conseguire</a:t>
            </a:r>
            <a:r>
              <a:rPr b="0" u="none" dirty="0"/>
              <a:t> un </a:t>
            </a:r>
            <a:r>
              <a:rPr b="0" u="none" dirty="0" err="1"/>
              <a:t>profitto</a:t>
            </a:r>
            <a:r>
              <a:rPr b="0" u="none" dirty="0"/>
              <a:t>.</a:t>
            </a:r>
          </a:p>
        </p:txBody>
      </p:sp>
      <p:pic>
        <p:nvPicPr>
          <p:cNvPr id="370"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71"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Circonvenzione di persone incapaci</a:t>
            </a:r>
          </a:p>
        </p:txBody>
      </p:sp>
    </p:spTree>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CasellaDiTesto 1"/>
          <p:cNvSpPr txBox="1"/>
          <p:nvPr/>
        </p:nvSpPr>
        <p:spPr>
          <a:xfrm>
            <a:off x="229859" y="1633950"/>
            <a:ext cx="8684281" cy="3460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E46C0A"/>
                </a:solidFill>
                <a:latin typeface="Book Antiqua"/>
                <a:ea typeface="Book Antiqua"/>
                <a:cs typeface="Book Antiqua"/>
                <a:sym typeface="Book Antiqua"/>
              </a:defRPr>
            </a:pPr>
            <a:r>
              <a:rPr dirty="0">
                <a:solidFill>
                  <a:srgbClr val="FF0000"/>
                </a:solidFill>
              </a:rPr>
              <a:t>Art. 646 </a:t>
            </a:r>
            <a:r>
              <a:rPr dirty="0" err="1">
                <a:solidFill>
                  <a:srgbClr val="FF0000"/>
                </a:solidFill>
              </a:rPr>
              <a:t>c.p.</a:t>
            </a:r>
            <a:r>
              <a:rPr dirty="0">
                <a:solidFill>
                  <a:srgbClr val="FF0000"/>
                </a:solidFill>
              </a:rPr>
              <a:t> </a:t>
            </a:r>
            <a:r>
              <a:rPr dirty="0" err="1">
                <a:solidFill>
                  <a:srgbClr val="FF0000"/>
                </a:solidFill>
              </a:rPr>
              <a:t>Appropriazione</a:t>
            </a:r>
            <a:r>
              <a:rPr dirty="0">
                <a:solidFill>
                  <a:srgbClr val="FF0000"/>
                </a:solidFill>
              </a:rPr>
              <a:t> </a:t>
            </a:r>
            <a:r>
              <a:rPr dirty="0" err="1">
                <a:solidFill>
                  <a:srgbClr val="FF0000"/>
                </a:solidFill>
              </a:rPr>
              <a:t>indebita</a:t>
            </a:r>
            <a:endParaRPr lang="it-IT" dirty="0">
              <a:solidFill>
                <a:srgbClr val="FF0000"/>
              </a:solidFill>
            </a:endParaRPr>
          </a:p>
          <a:p>
            <a:pPr marL="1797050" indent="-1797050" algn="just">
              <a:lnSpc>
                <a:spcPct val="114000"/>
              </a:lnSpc>
              <a:spcBef>
                <a:spcPts val="600"/>
              </a:spcBef>
              <a:defRPr sz="2400">
                <a:solidFill>
                  <a:srgbClr val="E46C0A"/>
                </a:solidFill>
                <a:latin typeface="Book Antiqua"/>
                <a:ea typeface="Book Antiqua"/>
                <a:cs typeface="Book Antiqua"/>
                <a:sym typeface="Book Antiqua"/>
              </a:defRPr>
            </a:pPr>
            <a:endParaRPr dirty="0">
              <a:latin typeface="Times New Roman"/>
              <a:ea typeface="Times New Roman"/>
              <a:cs typeface="Times New Roman"/>
              <a:sym typeface="Times New Roman"/>
            </a:endParaRPr>
          </a:p>
          <a:p>
            <a:pPr algn="just">
              <a:lnSpc>
                <a:spcPct val="114000"/>
              </a:lnSpc>
              <a:spcBef>
                <a:spcPts val="600"/>
              </a:spcBef>
              <a:defRPr sz="2200" b="0">
                <a:latin typeface="Book Antiqua"/>
                <a:ea typeface="Book Antiqua"/>
                <a:cs typeface="Book Antiqua"/>
                <a:sym typeface="Book Antiqua"/>
              </a:defRPr>
            </a:pPr>
            <a:r>
              <a:rPr dirty="0"/>
              <a:t>«</a:t>
            </a:r>
            <a:r>
              <a:rPr i="1" dirty="0" err="1"/>
              <a:t>Chiunque</a:t>
            </a:r>
            <a:r>
              <a:rPr i="1" dirty="0"/>
              <a:t>, </a:t>
            </a:r>
            <a:r>
              <a:rPr b="1" i="1" dirty="0"/>
              <a:t>per </a:t>
            </a:r>
            <a:r>
              <a:rPr b="1" i="1" dirty="0" err="1"/>
              <a:t>procurare</a:t>
            </a:r>
            <a:r>
              <a:rPr b="1" i="1" dirty="0"/>
              <a:t> a </a:t>
            </a:r>
            <a:r>
              <a:rPr b="1" i="1" dirty="0" err="1"/>
              <a:t>sé</a:t>
            </a:r>
            <a:r>
              <a:rPr b="1" i="1" dirty="0"/>
              <a:t> o ad </a:t>
            </a:r>
            <a:r>
              <a:rPr b="1" i="1" dirty="0" err="1"/>
              <a:t>altri</a:t>
            </a:r>
            <a:r>
              <a:rPr b="1" i="1" dirty="0"/>
              <a:t> un </a:t>
            </a:r>
            <a:r>
              <a:rPr b="1" i="1" dirty="0" err="1"/>
              <a:t>ingiusto</a:t>
            </a:r>
            <a:r>
              <a:rPr b="1" i="1" dirty="0"/>
              <a:t> </a:t>
            </a:r>
            <a:r>
              <a:rPr b="1" i="1" dirty="0" err="1"/>
              <a:t>profitto</a:t>
            </a:r>
            <a:r>
              <a:rPr i="1" dirty="0"/>
              <a:t>, </a:t>
            </a:r>
            <a:r>
              <a:rPr i="1" dirty="0" err="1"/>
              <a:t>si</a:t>
            </a:r>
            <a:r>
              <a:rPr i="1" dirty="0"/>
              <a:t> </a:t>
            </a:r>
            <a:r>
              <a:rPr b="1" i="1" dirty="0" err="1">
                <a:solidFill>
                  <a:srgbClr val="E46C0A"/>
                </a:solidFill>
              </a:rPr>
              <a:t>appropria</a:t>
            </a:r>
            <a:r>
              <a:rPr b="1" i="1" dirty="0">
                <a:solidFill>
                  <a:srgbClr val="E46C0A"/>
                </a:solidFill>
              </a:rPr>
              <a:t> il </a:t>
            </a:r>
            <a:r>
              <a:rPr b="1" i="1" dirty="0" err="1">
                <a:solidFill>
                  <a:srgbClr val="E46C0A"/>
                </a:solidFill>
              </a:rPr>
              <a:t>denaro</a:t>
            </a:r>
            <a:r>
              <a:rPr b="1" i="1" dirty="0">
                <a:solidFill>
                  <a:srgbClr val="E46C0A"/>
                </a:solidFill>
              </a:rPr>
              <a:t> o la </a:t>
            </a:r>
            <a:r>
              <a:rPr b="1" i="1" dirty="0" err="1">
                <a:solidFill>
                  <a:srgbClr val="E46C0A"/>
                </a:solidFill>
              </a:rPr>
              <a:t>cosa</a:t>
            </a:r>
            <a:r>
              <a:rPr b="1" i="1" dirty="0">
                <a:solidFill>
                  <a:srgbClr val="E46C0A"/>
                </a:solidFill>
              </a:rPr>
              <a:t> mobile </a:t>
            </a:r>
            <a:r>
              <a:rPr b="1" i="1" dirty="0" err="1">
                <a:solidFill>
                  <a:srgbClr val="E46C0A"/>
                </a:solidFill>
              </a:rPr>
              <a:t>altrui</a:t>
            </a:r>
            <a:r>
              <a:rPr b="1" i="1" dirty="0">
                <a:solidFill>
                  <a:srgbClr val="E46C0A"/>
                </a:solidFill>
              </a:rPr>
              <a:t> di cui </a:t>
            </a:r>
            <a:r>
              <a:rPr b="1" i="1" dirty="0" err="1">
                <a:solidFill>
                  <a:srgbClr val="E46C0A"/>
                </a:solidFill>
              </a:rPr>
              <a:t>abbia</a:t>
            </a:r>
            <a:r>
              <a:rPr b="1" i="1" dirty="0">
                <a:solidFill>
                  <a:srgbClr val="E46C0A"/>
                </a:solidFill>
              </a:rPr>
              <a:t>, a </a:t>
            </a:r>
            <a:r>
              <a:rPr b="1" i="1" dirty="0" err="1">
                <a:solidFill>
                  <a:srgbClr val="E46C0A"/>
                </a:solidFill>
              </a:rPr>
              <a:t>qualsiasi</a:t>
            </a:r>
            <a:r>
              <a:rPr b="1" i="1" dirty="0">
                <a:solidFill>
                  <a:srgbClr val="E46C0A"/>
                </a:solidFill>
              </a:rPr>
              <a:t> </a:t>
            </a:r>
            <a:r>
              <a:rPr b="1" i="1" dirty="0" err="1">
                <a:solidFill>
                  <a:srgbClr val="E46C0A"/>
                </a:solidFill>
              </a:rPr>
              <a:t>titolo</a:t>
            </a:r>
            <a:r>
              <a:rPr b="1" i="1" dirty="0">
                <a:solidFill>
                  <a:srgbClr val="E46C0A"/>
                </a:solidFill>
              </a:rPr>
              <a:t>, il </a:t>
            </a:r>
            <a:r>
              <a:rPr b="1" i="1" dirty="0" err="1">
                <a:solidFill>
                  <a:srgbClr val="E46C0A"/>
                </a:solidFill>
              </a:rPr>
              <a:t>possesso</a:t>
            </a:r>
            <a:r>
              <a:rPr i="1" dirty="0"/>
              <a:t>, è </a:t>
            </a:r>
            <a:r>
              <a:rPr i="1" dirty="0" err="1"/>
              <a:t>punito</a:t>
            </a:r>
            <a:r>
              <a:rPr i="1" dirty="0"/>
              <a:t>, </a:t>
            </a:r>
            <a:r>
              <a:rPr b="1" i="1" dirty="0"/>
              <a:t>a querela </a:t>
            </a:r>
            <a:r>
              <a:rPr b="1" i="1" dirty="0" err="1"/>
              <a:t>della</a:t>
            </a:r>
            <a:r>
              <a:rPr b="1" i="1" dirty="0"/>
              <a:t> persona </a:t>
            </a:r>
            <a:r>
              <a:rPr b="1" i="1" dirty="0" err="1"/>
              <a:t>offesa</a:t>
            </a:r>
            <a:r>
              <a:rPr i="1" dirty="0"/>
              <a:t>, con la </a:t>
            </a:r>
            <a:r>
              <a:rPr i="1" dirty="0" err="1"/>
              <a:t>reclusione</a:t>
            </a:r>
            <a:r>
              <a:rPr i="1" dirty="0"/>
              <a:t> da due a cinque anni e con la </a:t>
            </a:r>
            <a:r>
              <a:rPr i="1" dirty="0" err="1"/>
              <a:t>multa</a:t>
            </a:r>
            <a:r>
              <a:rPr i="1" dirty="0"/>
              <a:t> da euro </a:t>
            </a:r>
            <a:r>
              <a:rPr lang="it-IT" i="1" dirty="0"/>
              <a:t>1000</a:t>
            </a:r>
            <a:r>
              <a:rPr i="1" dirty="0"/>
              <a:t> a euro </a:t>
            </a:r>
            <a:r>
              <a:rPr lang="it-IT" i="1" dirty="0"/>
              <a:t>3000</a:t>
            </a:r>
            <a:r>
              <a:rPr i="1" dirty="0"/>
              <a:t>.</a:t>
            </a:r>
            <a:endParaRPr dirty="0">
              <a:latin typeface="Times New Roman"/>
              <a:ea typeface="Times New Roman"/>
              <a:cs typeface="Times New Roman"/>
              <a:sym typeface="Times New Roman"/>
            </a:endParaRPr>
          </a:p>
          <a:p>
            <a:pPr algn="just">
              <a:lnSpc>
                <a:spcPct val="114000"/>
              </a:lnSpc>
              <a:spcBef>
                <a:spcPts val="600"/>
              </a:spcBef>
              <a:defRPr sz="2200" b="0" i="1">
                <a:latin typeface="Book Antiqua"/>
                <a:ea typeface="Book Antiqua"/>
                <a:cs typeface="Book Antiqua"/>
                <a:sym typeface="Book Antiqua"/>
              </a:defRPr>
            </a:pPr>
            <a:r>
              <a:rPr dirty="0"/>
              <a:t>Se </a:t>
            </a:r>
            <a:r>
              <a:rPr dirty="0" err="1"/>
              <a:t>il</a:t>
            </a:r>
            <a:r>
              <a:rPr dirty="0"/>
              <a:t> </a:t>
            </a:r>
            <a:r>
              <a:rPr dirty="0" err="1"/>
              <a:t>fatto</a:t>
            </a:r>
            <a:r>
              <a:rPr dirty="0"/>
              <a:t> è </a:t>
            </a:r>
            <a:r>
              <a:rPr dirty="0" err="1"/>
              <a:t>commesso</a:t>
            </a:r>
            <a:r>
              <a:rPr dirty="0"/>
              <a:t> </a:t>
            </a:r>
            <a:r>
              <a:rPr dirty="0" err="1"/>
              <a:t>su</a:t>
            </a:r>
            <a:r>
              <a:rPr dirty="0"/>
              <a:t> </a:t>
            </a:r>
            <a:r>
              <a:rPr dirty="0" err="1"/>
              <a:t>cose</a:t>
            </a:r>
            <a:r>
              <a:rPr dirty="0"/>
              <a:t> </a:t>
            </a:r>
            <a:r>
              <a:rPr dirty="0" err="1"/>
              <a:t>possedute</a:t>
            </a:r>
            <a:r>
              <a:rPr dirty="0"/>
              <a:t> a </a:t>
            </a:r>
            <a:r>
              <a:rPr dirty="0" err="1"/>
              <a:t>titolo</a:t>
            </a:r>
            <a:r>
              <a:rPr dirty="0"/>
              <a:t> di </a:t>
            </a:r>
            <a:r>
              <a:rPr dirty="0" err="1"/>
              <a:t>deposito</a:t>
            </a:r>
            <a:r>
              <a:rPr dirty="0"/>
              <a:t> </a:t>
            </a:r>
            <a:r>
              <a:rPr dirty="0" err="1"/>
              <a:t>necessario</a:t>
            </a:r>
            <a:r>
              <a:rPr dirty="0"/>
              <a:t>, la </a:t>
            </a:r>
            <a:r>
              <a:rPr dirty="0" err="1"/>
              <a:t>pena</a:t>
            </a:r>
            <a:r>
              <a:rPr dirty="0"/>
              <a:t> è </a:t>
            </a:r>
            <a:r>
              <a:rPr dirty="0" err="1"/>
              <a:t>aumentata</a:t>
            </a:r>
            <a:r>
              <a:rPr dirty="0"/>
              <a:t>.</a:t>
            </a:r>
            <a:endParaRPr dirty="0">
              <a:latin typeface="Times New Roman"/>
              <a:ea typeface="Times New Roman"/>
              <a:cs typeface="Times New Roman"/>
              <a:sym typeface="Times New Roman"/>
            </a:endParaRPr>
          </a:p>
        </p:txBody>
      </p:sp>
      <p:pic>
        <p:nvPicPr>
          <p:cNvPr id="374"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75"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Appropriazione indebita</a:t>
            </a:r>
          </a:p>
        </p:txBody>
      </p:sp>
    </p:spTree>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7" name="Appropriazione indebita"/>
          <p:cNvSpPr txBox="1">
            <a:spLocks noGrp="1"/>
          </p:cNvSpPr>
          <p:nvPr>
            <p:ph type="title"/>
          </p:nvPr>
        </p:nvSpPr>
        <p:spPr>
          <a:xfrm>
            <a:off x="679357" y="-169677"/>
            <a:ext cx="8229601" cy="1143001"/>
          </a:xfrm>
          <a:prstGeom prst="rect">
            <a:avLst/>
          </a:prstGeom>
        </p:spPr>
        <p:txBody>
          <a:bodyPr/>
          <a:lstStyle>
            <a:lvl1pPr algn="l">
              <a:defRPr sz="3200">
                <a:solidFill>
                  <a:srgbClr val="FFFFFF"/>
                </a:solidFill>
                <a:latin typeface="Book Antiqua"/>
                <a:ea typeface="Book Antiqua"/>
                <a:cs typeface="Book Antiqua"/>
                <a:sym typeface="Book Antiqua"/>
              </a:defRPr>
            </a:lvl1pPr>
          </a:lstStyle>
          <a:p>
            <a:r>
              <a:t>Appropriazione indebita</a:t>
            </a:r>
          </a:p>
        </p:txBody>
      </p:sp>
      <p:sp>
        <p:nvSpPr>
          <p:cNvPr id="378" name="Il reato di appropriazione indebita tutela il diritto di proprietà quando esso sia disgiunto dal possesso sanzionando il comportamento di chi, esercitando sulla cosa altrui un potere di fatto autonomo, se ne approfitti per compiere sulla stessa atti di d"/>
          <p:cNvSpPr txBox="1">
            <a:spLocks noGrp="1"/>
          </p:cNvSpPr>
          <p:nvPr>
            <p:ph type="body" idx="1"/>
          </p:nvPr>
        </p:nvSpPr>
        <p:spPr>
          <a:xfrm>
            <a:off x="457200" y="1351382"/>
            <a:ext cx="8229600" cy="4525966"/>
          </a:xfrm>
          <a:prstGeom prst="rect">
            <a:avLst/>
          </a:prstGeom>
        </p:spPr>
        <p:txBody>
          <a:bodyPr/>
          <a:lstStyle/>
          <a:p>
            <a:pPr marL="0" indent="0" algn="just">
              <a:lnSpc>
                <a:spcPct val="114000"/>
              </a:lnSpc>
              <a:spcBef>
                <a:spcPts val="600"/>
              </a:spcBef>
              <a:buSzTx/>
              <a:buNone/>
              <a:defRPr sz="2400">
                <a:latin typeface="Book Antiqua"/>
                <a:ea typeface="Book Antiqua"/>
                <a:cs typeface="Book Antiqua"/>
                <a:sym typeface="Book Antiqua"/>
              </a:defRPr>
            </a:pPr>
            <a:r>
              <a:t>Il reato di appropriazione indebita </a:t>
            </a:r>
            <a:r>
              <a:rPr b="1" u="sng"/>
              <a:t>tutela</a:t>
            </a:r>
            <a:r>
              <a:t> il </a:t>
            </a:r>
            <a:r>
              <a:rPr b="1" u="sng"/>
              <a:t>diritto di proprietà</a:t>
            </a:r>
            <a:r>
              <a:t> quando esso sia disgiunto dal possesso </a:t>
            </a:r>
            <a:r>
              <a:rPr u="sng"/>
              <a:t>sanzionando il comportamento di chi, esercitando sulla cosa altrui un potere di fatto autonomo, se ne approfitti per compiere sulla stessa atti di disposizione riservati al proprietario.</a:t>
            </a:r>
          </a:p>
        </p:txBody>
      </p:sp>
      <p:sp>
        <p:nvSpPr>
          <p:cNvPr id="379" name="Numero diapositiva"/>
          <p:cNvSpPr txBox="1">
            <a:spLocks noGrp="1"/>
          </p:cNvSpPr>
          <p:nvPr>
            <p:ph type="sldNum" sz="quarter" idx="4294967295"/>
          </p:nvPr>
        </p:nvSpPr>
        <p:spPr>
          <a:xfrm>
            <a:off x="8430259" y="6401179"/>
            <a:ext cx="256539" cy="2754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41</a:t>
            </a:fld>
            <a:endParaRPr/>
          </a:p>
        </p:txBody>
      </p:sp>
      <p:pic>
        <p:nvPicPr>
          <p:cNvPr id="380"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Rettangolo 4"/>
          <p:cNvSpPr txBox="1"/>
          <p:nvPr/>
        </p:nvSpPr>
        <p:spPr>
          <a:xfrm>
            <a:off x="295161" y="980729"/>
            <a:ext cx="8553678" cy="51975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r>
              <a:rPr lang="it-IT" sz="2400" dirty="0">
                <a:solidFill>
                  <a:srgbClr val="FF0000"/>
                </a:solidFill>
                <a:latin typeface="Times New Roman" panose="02020603050405020304" pitchFamily="18" charset="0"/>
                <a:cs typeface="Times New Roman" panose="02020603050405020304" pitchFamily="18" charset="0"/>
              </a:rPr>
              <a:t>REATO COMUNE</a:t>
            </a:r>
            <a:r>
              <a:rPr lang="it-IT" sz="2400" b="0" dirty="0">
                <a:latin typeface="Times New Roman" panose="02020603050405020304" pitchFamily="18" charset="0"/>
                <a:cs typeface="Times New Roman" panose="02020603050405020304" pitchFamily="18" charset="0"/>
              </a:rPr>
              <a:t>, soggetto attivo può essere chiunque si trovi in quel particolare rapporto di signoria con la cosa altrui. </a:t>
            </a:r>
          </a:p>
          <a:p>
            <a:pPr algn="just">
              <a:lnSpc>
                <a:spcPct val="114000"/>
              </a:lnSpc>
              <a:spcBef>
                <a:spcPts val="1200"/>
              </a:spcBef>
              <a:defRPr sz="2200" b="0">
                <a:latin typeface="Times New Roman"/>
                <a:ea typeface="Times New Roman"/>
                <a:cs typeface="Times New Roman"/>
                <a:sym typeface="Times New Roman"/>
              </a:defRPr>
            </a:pPr>
            <a:endParaRPr dirty="0"/>
          </a:p>
          <a:p>
            <a:pPr algn="just">
              <a:lnSpc>
                <a:spcPct val="114000"/>
              </a:lnSpc>
              <a:spcBef>
                <a:spcPts val="1200"/>
              </a:spcBef>
              <a:defRPr sz="2200" b="0">
                <a:solidFill>
                  <a:srgbClr val="FF0000"/>
                </a:solidFill>
                <a:latin typeface="Times New Roman"/>
                <a:ea typeface="Times New Roman"/>
                <a:cs typeface="Times New Roman"/>
                <a:sym typeface="Times New Roman"/>
              </a:defRPr>
            </a:pPr>
            <a:r>
              <a:rPr dirty="0"/>
              <a:t>DIFFERENZA</a:t>
            </a:r>
            <a:r>
              <a:rPr dirty="0">
                <a:solidFill>
                  <a:srgbClr val="000000"/>
                </a:solidFill>
              </a:rPr>
              <a:t> </a:t>
            </a:r>
            <a:r>
              <a:rPr dirty="0" err="1">
                <a:solidFill>
                  <a:srgbClr val="000000"/>
                </a:solidFill>
              </a:rPr>
              <a:t>tra</a:t>
            </a:r>
            <a:r>
              <a:rPr dirty="0">
                <a:solidFill>
                  <a:srgbClr val="000000"/>
                </a:solidFill>
              </a:rPr>
              <a:t> </a:t>
            </a:r>
            <a:r>
              <a:rPr b="1" u="sng" dirty="0">
                <a:solidFill>
                  <a:srgbClr val="000000"/>
                </a:solidFill>
              </a:rPr>
              <a:t>FURTO</a:t>
            </a:r>
            <a:r>
              <a:rPr dirty="0">
                <a:solidFill>
                  <a:srgbClr val="000000"/>
                </a:solidFill>
              </a:rPr>
              <a:t> e </a:t>
            </a:r>
            <a:r>
              <a:rPr b="1" u="sng" dirty="0">
                <a:solidFill>
                  <a:srgbClr val="000000"/>
                </a:solidFill>
              </a:rPr>
              <a:t>APPROPRIAZIONE</a:t>
            </a:r>
            <a:r>
              <a:rPr u="sng" dirty="0">
                <a:solidFill>
                  <a:srgbClr val="000000"/>
                </a:solidFill>
              </a:rPr>
              <a:t> </a:t>
            </a:r>
            <a:r>
              <a:rPr b="1" u="sng" dirty="0">
                <a:solidFill>
                  <a:srgbClr val="000000"/>
                </a:solidFill>
              </a:rPr>
              <a:t>INDEBITA</a:t>
            </a:r>
            <a:endParaRPr lang="it-IT" b="1" u="sng" dirty="0">
              <a:solidFill>
                <a:srgbClr val="000000"/>
              </a:solidFill>
            </a:endParaRPr>
          </a:p>
          <a:p>
            <a:pPr algn="just">
              <a:lnSpc>
                <a:spcPct val="114000"/>
              </a:lnSpc>
              <a:spcBef>
                <a:spcPts val="1200"/>
              </a:spcBef>
              <a:defRPr sz="2200" b="0">
                <a:solidFill>
                  <a:srgbClr val="FF0000"/>
                </a:solidFill>
                <a:latin typeface="Times New Roman"/>
                <a:ea typeface="Times New Roman"/>
                <a:cs typeface="Times New Roman"/>
                <a:sym typeface="Times New Roman"/>
              </a:defRPr>
            </a:pPr>
            <a:endParaRPr b="1" u="sng" dirty="0">
              <a:solidFill>
                <a:srgbClr val="000000"/>
              </a:solidFill>
            </a:endParaRPr>
          </a:p>
          <a:p>
            <a:pPr algn="just">
              <a:lnSpc>
                <a:spcPct val="114000"/>
              </a:lnSpc>
              <a:spcBef>
                <a:spcPts val="1200"/>
              </a:spcBef>
              <a:defRPr sz="2200" b="0">
                <a:latin typeface="Times New Roman"/>
                <a:ea typeface="Times New Roman"/>
                <a:cs typeface="Times New Roman"/>
                <a:sym typeface="Times New Roman"/>
              </a:defRPr>
            </a:pPr>
            <a:r>
              <a:rPr dirty="0"/>
              <a:t>-Nel </a:t>
            </a:r>
            <a:r>
              <a:rPr dirty="0" err="1"/>
              <a:t>furto</a:t>
            </a:r>
            <a:r>
              <a:rPr dirty="0"/>
              <a:t> il </a:t>
            </a:r>
            <a:r>
              <a:rPr dirty="0" err="1"/>
              <a:t>ladro</a:t>
            </a:r>
            <a:r>
              <a:rPr dirty="0"/>
              <a:t> non ha il </a:t>
            </a:r>
            <a:r>
              <a:rPr dirty="0" err="1"/>
              <a:t>possesso</a:t>
            </a:r>
            <a:r>
              <a:rPr dirty="0"/>
              <a:t> </a:t>
            </a:r>
            <a:r>
              <a:rPr dirty="0" err="1"/>
              <a:t>della</a:t>
            </a:r>
            <a:r>
              <a:rPr dirty="0"/>
              <a:t> </a:t>
            </a:r>
            <a:r>
              <a:rPr dirty="0" err="1"/>
              <a:t>cosa</a:t>
            </a:r>
            <a:r>
              <a:rPr dirty="0"/>
              <a:t> mobile, </a:t>
            </a:r>
            <a:r>
              <a:rPr dirty="0" err="1"/>
              <a:t>tant’è</a:t>
            </a:r>
            <a:r>
              <a:rPr dirty="0"/>
              <a:t> </a:t>
            </a:r>
            <a:r>
              <a:rPr dirty="0" err="1"/>
              <a:t>che</a:t>
            </a:r>
            <a:r>
              <a:rPr dirty="0"/>
              <a:t> la </a:t>
            </a:r>
            <a:r>
              <a:rPr dirty="0" err="1"/>
              <a:t>condotta</a:t>
            </a:r>
            <a:r>
              <a:rPr dirty="0"/>
              <a:t> del </a:t>
            </a:r>
            <a:r>
              <a:rPr dirty="0" err="1"/>
              <a:t>furto</a:t>
            </a:r>
            <a:r>
              <a:rPr dirty="0"/>
              <a:t> </a:t>
            </a:r>
            <a:r>
              <a:rPr dirty="0" err="1"/>
              <a:t>consiste</a:t>
            </a:r>
            <a:r>
              <a:rPr dirty="0"/>
              <a:t> </a:t>
            </a:r>
            <a:r>
              <a:rPr dirty="0" err="1"/>
              <a:t>nella</a:t>
            </a:r>
            <a:r>
              <a:rPr dirty="0"/>
              <a:t> </a:t>
            </a:r>
            <a:r>
              <a:rPr dirty="0" err="1"/>
              <a:t>sottrazione</a:t>
            </a:r>
            <a:r>
              <a:rPr dirty="0"/>
              <a:t> e </a:t>
            </a:r>
            <a:r>
              <a:rPr dirty="0" err="1"/>
              <a:t>nel</a:t>
            </a:r>
            <a:r>
              <a:rPr dirty="0"/>
              <a:t> </a:t>
            </a:r>
            <a:r>
              <a:rPr dirty="0" err="1"/>
              <a:t>conseguente</a:t>
            </a:r>
            <a:r>
              <a:rPr dirty="0"/>
              <a:t> </a:t>
            </a:r>
            <a:r>
              <a:rPr dirty="0" err="1"/>
              <a:t>impossessamento</a:t>
            </a:r>
            <a:r>
              <a:rPr dirty="0"/>
              <a:t> del </a:t>
            </a:r>
            <a:r>
              <a:rPr dirty="0" err="1"/>
              <a:t>denaro</a:t>
            </a:r>
            <a:r>
              <a:rPr dirty="0"/>
              <a:t> o </a:t>
            </a:r>
            <a:r>
              <a:rPr dirty="0" err="1"/>
              <a:t>della</a:t>
            </a:r>
            <a:r>
              <a:rPr dirty="0"/>
              <a:t> </a:t>
            </a:r>
            <a:r>
              <a:rPr dirty="0" err="1"/>
              <a:t>cosa</a:t>
            </a:r>
            <a:r>
              <a:rPr dirty="0"/>
              <a:t> mobile.</a:t>
            </a:r>
            <a:endParaRPr lang="it-IT" dirty="0"/>
          </a:p>
          <a:p>
            <a:pPr algn="just">
              <a:lnSpc>
                <a:spcPct val="114000"/>
              </a:lnSpc>
              <a:spcBef>
                <a:spcPts val="1200"/>
              </a:spcBef>
              <a:defRPr sz="2200" b="0">
                <a:latin typeface="Times New Roman"/>
                <a:ea typeface="Times New Roman"/>
                <a:cs typeface="Times New Roman"/>
                <a:sym typeface="Times New Roman"/>
              </a:defRPr>
            </a:pPr>
            <a:endParaRPr dirty="0"/>
          </a:p>
          <a:p>
            <a:pPr algn="just">
              <a:lnSpc>
                <a:spcPct val="114000"/>
              </a:lnSpc>
              <a:spcBef>
                <a:spcPts val="1200"/>
              </a:spcBef>
              <a:defRPr sz="2200" b="0">
                <a:latin typeface="Times New Roman"/>
                <a:ea typeface="Times New Roman"/>
                <a:cs typeface="Times New Roman"/>
                <a:sym typeface="Times New Roman"/>
              </a:defRPr>
            </a:pPr>
            <a:r>
              <a:rPr dirty="0"/>
              <a:t>-</a:t>
            </a:r>
            <a:r>
              <a:rPr dirty="0" err="1"/>
              <a:t>N</a:t>
            </a:r>
            <a:r>
              <a:rPr b="1" dirty="0" err="1"/>
              <a:t>ell’appropriazione</a:t>
            </a:r>
            <a:r>
              <a:rPr b="1" dirty="0"/>
              <a:t> </a:t>
            </a:r>
            <a:r>
              <a:rPr b="1" dirty="0" err="1"/>
              <a:t>indebita</a:t>
            </a:r>
            <a:r>
              <a:rPr b="1" dirty="0"/>
              <a:t> </a:t>
            </a:r>
            <a:r>
              <a:rPr b="1" dirty="0" err="1"/>
              <a:t>il</a:t>
            </a:r>
            <a:r>
              <a:rPr b="1" dirty="0"/>
              <a:t> </a:t>
            </a:r>
            <a:r>
              <a:rPr b="1" dirty="0" err="1"/>
              <a:t>soggetto</a:t>
            </a:r>
            <a:r>
              <a:rPr b="1" dirty="0"/>
              <a:t> </a:t>
            </a:r>
            <a:r>
              <a:rPr b="1" dirty="0" err="1"/>
              <a:t>attivo</a:t>
            </a:r>
            <a:r>
              <a:rPr b="1" dirty="0"/>
              <a:t> ha </a:t>
            </a:r>
            <a:r>
              <a:rPr b="1" dirty="0" err="1"/>
              <a:t>già</a:t>
            </a:r>
            <a:r>
              <a:rPr b="1" dirty="0"/>
              <a:t> </a:t>
            </a:r>
            <a:r>
              <a:rPr b="1" dirty="0" err="1"/>
              <a:t>il</a:t>
            </a:r>
            <a:r>
              <a:rPr b="1" dirty="0"/>
              <a:t> </a:t>
            </a:r>
            <a:r>
              <a:rPr b="1" dirty="0" err="1"/>
              <a:t>possesso</a:t>
            </a:r>
            <a:r>
              <a:rPr b="1" dirty="0"/>
              <a:t> del </a:t>
            </a:r>
            <a:r>
              <a:rPr b="1" dirty="0" err="1"/>
              <a:t>denaro</a:t>
            </a:r>
            <a:r>
              <a:rPr b="1" dirty="0"/>
              <a:t> o </a:t>
            </a:r>
            <a:r>
              <a:rPr b="1" dirty="0" err="1"/>
              <a:t>della</a:t>
            </a:r>
            <a:r>
              <a:rPr b="1" dirty="0"/>
              <a:t> </a:t>
            </a:r>
            <a:r>
              <a:rPr b="1" dirty="0" err="1"/>
              <a:t>cosa</a:t>
            </a:r>
            <a:r>
              <a:rPr b="1" dirty="0"/>
              <a:t> mobile, e se ne </a:t>
            </a:r>
            <a:r>
              <a:rPr b="1" dirty="0" err="1"/>
              <a:t>appropria</a:t>
            </a:r>
            <a:r>
              <a:rPr b="1" dirty="0"/>
              <a:t>.</a:t>
            </a:r>
            <a:r>
              <a:rPr dirty="0"/>
              <a:t> </a:t>
            </a:r>
          </a:p>
        </p:txBody>
      </p:sp>
      <p:pic>
        <p:nvPicPr>
          <p:cNvPr id="383"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84"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Appropriazione indebita</a:t>
            </a:r>
          </a:p>
        </p:txBody>
      </p:sp>
    </p:spTree>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 name="Appropriazione indebita"/>
          <p:cNvSpPr txBox="1">
            <a:spLocks noGrp="1"/>
          </p:cNvSpPr>
          <p:nvPr>
            <p:ph type="title"/>
          </p:nvPr>
        </p:nvSpPr>
        <p:spPr>
          <a:xfrm>
            <a:off x="706016" y="-134132"/>
            <a:ext cx="8229601" cy="1143001"/>
          </a:xfrm>
          <a:prstGeom prst="rect">
            <a:avLst/>
          </a:prstGeom>
        </p:spPr>
        <p:txBody>
          <a:bodyPr/>
          <a:lstStyle>
            <a:lvl1pPr algn="l">
              <a:defRPr sz="3200">
                <a:solidFill>
                  <a:srgbClr val="FFFFFF"/>
                </a:solidFill>
                <a:latin typeface="Book Antiqua"/>
                <a:ea typeface="Book Antiqua"/>
                <a:cs typeface="Book Antiqua"/>
                <a:sym typeface="Book Antiqua"/>
              </a:defRPr>
            </a:lvl1pPr>
          </a:lstStyle>
          <a:p>
            <a:r>
              <a:t>Appropriazione indebita</a:t>
            </a:r>
          </a:p>
        </p:txBody>
      </p:sp>
      <p:sp>
        <p:nvSpPr>
          <p:cNvPr id="387" name="ELEMENTO OGGETTIVO: la condotta di questo delitto consiste nell’appropriarsi di un qualcosa di cui si abbia già il possesso.…"/>
          <p:cNvSpPr txBox="1">
            <a:spLocks noGrp="1"/>
          </p:cNvSpPr>
          <p:nvPr>
            <p:ph type="body" idx="1"/>
          </p:nvPr>
        </p:nvSpPr>
        <p:spPr>
          <a:xfrm>
            <a:off x="457200" y="1209368"/>
            <a:ext cx="8229600" cy="5191811"/>
          </a:xfrm>
          <a:prstGeom prst="rect">
            <a:avLst/>
          </a:prstGeom>
        </p:spPr>
        <p:txBody>
          <a:bodyPr/>
          <a:lstStyle/>
          <a:p>
            <a:pPr marL="0" indent="0" algn="just">
              <a:lnSpc>
                <a:spcPct val="114000"/>
              </a:lnSpc>
              <a:spcBef>
                <a:spcPts val="1200"/>
              </a:spcBef>
              <a:buSzTx/>
              <a:buNone/>
              <a:defRPr sz="2200" b="1" u="sng">
                <a:latin typeface="Times New Roman"/>
                <a:ea typeface="Times New Roman"/>
                <a:cs typeface="Times New Roman"/>
                <a:sym typeface="Times New Roman"/>
              </a:defRPr>
            </a:pPr>
            <a:r>
              <a:rPr dirty="0"/>
              <a:t>ELEMENTO OGGETTIVO</a:t>
            </a:r>
            <a:r>
              <a:rPr b="0" u="none" dirty="0"/>
              <a:t>: la </a:t>
            </a:r>
            <a:r>
              <a:rPr b="0" u="none" dirty="0" err="1"/>
              <a:t>condotta</a:t>
            </a:r>
            <a:r>
              <a:rPr b="0" u="none" dirty="0"/>
              <a:t> di </a:t>
            </a:r>
            <a:r>
              <a:rPr b="0" u="none" dirty="0" err="1"/>
              <a:t>questo</a:t>
            </a:r>
            <a:r>
              <a:rPr b="0" u="none" dirty="0"/>
              <a:t> </a:t>
            </a:r>
            <a:r>
              <a:rPr b="0" u="none" dirty="0" err="1"/>
              <a:t>delitto</a:t>
            </a:r>
            <a:r>
              <a:rPr b="0" u="none" dirty="0"/>
              <a:t> </a:t>
            </a:r>
            <a:r>
              <a:rPr b="0" u="none" dirty="0" err="1"/>
              <a:t>consiste</a:t>
            </a:r>
            <a:r>
              <a:rPr b="0" u="none" dirty="0"/>
              <a:t> </a:t>
            </a:r>
            <a:r>
              <a:rPr u="none" dirty="0" err="1">
                <a:solidFill>
                  <a:srgbClr val="E46C0A"/>
                </a:solidFill>
              </a:rPr>
              <a:t>nell’appropriarsi</a:t>
            </a:r>
            <a:r>
              <a:rPr u="none" dirty="0">
                <a:solidFill>
                  <a:srgbClr val="E46C0A"/>
                </a:solidFill>
              </a:rPr>
              <a:t> di un </a:t>
            </a:r>
            <a:r>
              <a:rPr u="none" dirty="0" err="1">
                <a:solidFill>
                  <a:srgbClr val="E46C0A"/>
                </a:solidFill>
              </a:rPr>
              <a:t>qualcosa</a:t>
            </a:r>
            <a:r>
              <a:rPr u="none" dirty="0">
                <a:solidFill>
                  <a:srgbClr val="E46C0A"/>
                </a:solidFill>
              </a:rPr>
              <a:t> di cui </a:t>
            </a:r>
            <a:r>
              <a:rPr u="none" dirty="0" err="1">
                <a:solidFill>
                  <a:srgbClr val="E46C0A"/>
                </a:solidFill>
              </a:rPr>
              <a:t>si</a:t>
            </a:r>
            <a:r>
              <a:rPr u="none" dirty="0">
                <a:solidFill>
                  <a:srgbClr val="E46C0A"/>
                </a:solidFill>
              </a:rPr>
              <a:t> </a:t>
            </a:r>
            <a:r>
              <a:rPr u="none" dirty="0" err="1">
                <a:solidFill>
                  <a:srgbClr val="E46C0A"/>
                </a:solidFill>
              </a:rPr>
              <a:t>abbia</a:t>
            </a:r>
            <a:r>
              <a:rPr u="none" dirty="0">
                <a:solidFill>
                  <a:srgbClr val="E46C0A"/>
                </a:solidFill>
              </a:rPr>
              <a:t> </a:t>
            </a:r>
            <a:r>
              <a:rPr u="none" dirty="0" err="1">
                <a:solidFill>
                  <a:srgbClr val="E46C0A"/>
                </a:solidFill>
              </a:rPr>
              <a:t>già</a:t>
            </a:r>
            <a:r>
              <a:rPr u="none" dirty="0">
                <a:solidFill>
                  <a:srgbClr val="E46C0A"/>
                </a:solidFill>
              </a:rPr>
              <a:t> il </a:t>
            </a:r>
            <a:r>
              <a:rPr u="none" dirty="0" err="1">
                <a:solidFill>
                  <a:srgbClr val="E46C0A"/>
                </a:solidFill>
              </a:rPr>
              <a:t>possesso</a:t>
            </a:r>
            <a:r>
              <a:rPr b="0" u="none" dirty="0"/>
              <a:t>.</a:t>
            </a:r>
            <a:endParaRPr lang="it-IT" b="0" u="none" dirty="0"/>
          </a:p>
          <a:p>
            <a:pPr marL="0" indent="0" algn="just">
              <a:lnSpc>
                <a:spcPct val="114000"/>
              </a:lnSpc>
              <a:spcBef>
                <a:spcPts val="1200"/>
              </a:spcBef>
              <a:buSzTx/>
              <a:buNone/>
              <a:defRPr sz="2200" b="1" u="sng">
                <a:latin typeface="Times New Roman"/>
                <a:ea typeface="Times New Roman"/>
                <a:cs typeface="Times New Roman"/>
                <a:sym typeface="Times New Roman"/>
              </a:defRPr>
            </a:pPr>
            <a:endParaRPr b="0" u="none" dirty="0"/>
          </a:p>
          <a:p>
            <a:pPr marL="0" indent="0" algn="just">
              <a:lnSpc>
                <a:spcPct val="114000"/>
              </a:lnSpc>
              <a:spcBef>
                <a:spcPts val="1200"/>
              </a:spcBef>
              <a:buSzTx/>
              <a:buNone/>
              <a:defRPr sz="2200" b="1">
                <a:solidFill>
                  <a:srgbClr val="FF0000"/>
                </a:solidFill>
                <a:latin typeface="Times New Roman"/>
                <a:ea typeface="Times New Roman"/>
                <a:cs typeface="Times New Roman"/>
                <a:sym typeface="Times New Roman"/>
              </a:defRPr>
            </a:pPr>
            <a:r>
              <a:rPr lang="it-IT" dirty="0"/>
              <a:t>POSSESSORI</a:t>
            </a:r>
            <a:r>
              <a:rPr b="0" dirty="0">
                <a:solidFill>
                  <a:srgbClr val="000000"/>
                </a:solidFill>
              </a:rPr>
              <a:t>: </a:t>
            </a:r>
            <a:r>
              <a:rPr b="0" i="1" dirty="0">
                <a:solidFill>
                  <a:srgbClr val="000000"/>
                </a:solidFill>
              </a:rPr>
              <a:t>il </a:t>
            </a:r>
            <a:r>
              <a:rPr b="0" i="1" dirty="0" err="1">
                <a:solidFill>
                  <a:srgbClr val="000000"/>
                </a:solidFill>
              </a:rPr>
              <a:t>vettore</a:t>
            </a:r>
            <a:r>
              <a:rPr b="0" i="1" dirty="0">
                <a:solidFill>
                  <a:srgbClr val="000000"/>
                </a:solidFill>
              </a:rPr>
              <a:t>, </a:t>
            </a:r>
            <a:r>
              <a:rPr b="0" i="1" u="sng" dirty="0" err="1">
                <a:solidFill>
                  <a:srgbClr val="000000"/>
                </a:solidFill>
              </a:rPr>
              <a:t>proprietario</a:t>
            </a:r>
            <a:r>
              <a:rPr b="0" i="1" u="sng" dirty="0">
                <a:solidFill>
                  <a:srgbClr val="000000"/>
                </a:solidFill>
              </a:rPr>
              <a:t> del mezzo di </a:t>
            </a:r>
            <a:r>
              <a:rPr b="0" i="1" u="sng" dirty="0" err="1">
                <a:solidFill>
                  <a:srgbClr val="000000"/>
                </a:solidFill>
              </a:rPr>
              <a:t>trasporto</a:t>
            </a:r>
            <a:r>
              <a:rPr b="0" i="1" dirty="0">
                <a:solidFill>
                  <a:srgbClr val="000000"/>
                </a:solidFill>
              </a:rPr>
              <a:t>, rispetto </a:t>
            </a:r>
            <a:r>
              <a:rPr b="0" i="1" dirty="0" err="1">
                <a:solidFill>
                  <a:srgbClr val="000000"/>
                </a:solidFill>
              </a:rPr>
              <a:t>alla</a:t>
            </a:r>
            <a:r>
              <a:rPr b="0" i="1" dirty="0">
                <a:solidFill>
                  <a:srgbClr val="000000"/>
                </a:solidFill>
              </a:rPr>
              <a:t> </a:t>
            </a:r>
            <a:r>
              <a:rPr b="0" i="1" dirty="0" err="1">
                <a:solidFill>
                  <a:srgbClr val="000000"/>
                </a:solidFill>
              </a:rPr>
              <a:t>merce</a:t>
            </a:r>
            <a:r>
              <a:rPr b="0" i="1" dirty="0">
                <a:solidFill>
                  <a:srgbClr val="000000"/>
                </a:solidFill>
              </a:rPr>
              <a:t> </a:t>
            </a:r>
            <a:r>
              <a:rPr b="0" i="1" dirty="0" err="1">
                <a:solidFill>
                  <a:srgbClr val="000000"/>
                </a:solidFill>
              </a:rPr>
              <a:t>che</a:t>
            </a:r>
            <a:r>
              <a:rPr b="0" i="1" dirty="0">
                <a:solidFill>
                  <a:srgbClr val="000000"/>
                </a:solidFill>
              </a:rPr>
              <a:t> </a:t>
            </a:r>
            <a:r>
              <a:rPr b="0" i="1" dirty="0" err="1">
                <a:solidFill>
                  <a:srgbClr val="000000"/>
                </a:solidFill>
              </a:rPr>
              <a:t>gli</a:t>
            </a:r>
            <a:r>
              <a:rPr b="0" i="1" dirty="0">
                <a:solidFill>
                  <a:srgbClr val="000000"/>
                </a:solidFill>
              </a:rPr>
              <a:t> è </a:t>
            </a:r>
            <a:r>
              <a:rPr b="0" i="1" dirty="0" err="1">
                <a:solidFill>
                  <a:srgbClr val="000000"/>
                </a:solidFill>
              </a:rPr>
              <a:t>stata</a:t>
            </a:r>
            <a:r>
              <a:rPr b="0" i="1" dirty="0">
                <a:solidFill>
                  <a:srgbClr val="000000"/>
                </a:solidFill>
              </a:rPr>
              <a:t> </a:t>
            </a:r>
            <a:r>
              <a:rPr b="0" i="1" dirty="0" err="1">
                <a:solidFill>
                  <a:srgbClr val="000000"/>
                </a:solidFill>
              </a:rPr>
              <a:t>affidata</a:t>
            </a:r>
            <a:r>
              <a:rPr b="0" i="1" dirty="0">
                <a:solidFill>
                  <a:srgbClr val="000000"/>
                </a:solidFill>
              </a:rPr>
              <a:t>; </a:t>
            </a:r>
            <a:r>
              <a:rPr b="0" i="1" dirty="0" err="1">
                <a:solidFill>
                  <a:srgbClr val="000000"/>
                </a:solidFill>
              </a:rPr>
              <a:t>amministratore</a:t>
            </a:r>
            <a:r>
              <a:rPr b="0" i="1" dirty="0">
                <a:solidFill>
                  <a:srgbClr val="000000"/>
                </a:solidFill>
              </a:rPr>
              <a:t> di </a:t>
            </a:r>
            <a:r>
              <a:rPr b="0" i="1" dirty="0" err="1">
                <a:solidFill>
                  <a:srgbClr val="000000"/>
                </a:solidFill>
              </a:rPr>
              <a:t>condominio</a:t>
            </a:r>
            <a:r>
              <a:rPr b="0" i="1" dirty="0">
                <a:solidFill>
                  <a:srgbClr val="000000"/>
                </a:solidFill>
              </a:rPr>
              <a:t> con </a:t>
            </a:r>
            <a:r>
              <a:rPr b="0" i="1" dirty="0" err="1">
                <a:solidFill>
                  <a:srgbClr val="000000"/>
                </a:solidFill>
              </a:rPr>
              <a:t>riferimento</a:t>
            </a:r>
            <a:r>
              <a:rPr b="0" i="1" dirty="0">
                <a:solidFill>
                  <a:srgbClr val="000000"/>
                </a:solidFill>
              </a:rPr>
              <a:t> alle </a:t>
            </a:r>
            <a:r>
              <a:rPr b="0" i="1" dirty="0" err="1">
                <a:solidFill>
                  <a:srgbClr val="000000"/>
                </a:solidFill>
              </a:rPr>
              <a:t>somme</a:t>
            </a:r>
            <a:r>
              <a:rPr b="0" i="1" dirty="0">
                <a:solidFill>
                  <a:srgbClr val="000000"/>
                </a:solidFill>
              </a:rPr>
              <a:t> </a:t>
            </a:r>
            <a:r>
              <a:rPr b="0" i="1" dirty="0" err="1">
                <a:solidFill>
                  <a:srgbClr val="000000"/>
                </a:solidFill>
              </a:rPr>
              <a:t>versate</a:t>
            </a:r>
            <a:r>
              <a:rPr b="0" i="1" dirty="0">
                <a:solidFill>
                  <a:srgbClr val="000000"/>
                </a:solidFill>
              </a:rPr>
              <a:t> </a:t>
            </a:r>
            <a:r>
              <a:rPr b="0" i="1" dirty="0" err="1">
                <a:solidFill>
                  <a:srgbClr val="000000"/>
                </a:solidFill>
              </a:rPr>
              <a:t>dai</a:t>
            </a:r>
            <a:r>
              <a:rPr b="0" i="1" dirty="0">
                <a:solidFill>
                  <a:srgbClr val="000000"/>
                </a:solidFill>
              </a:rPr>
              <a:t> </a:t>
            </a:r>
            <a:r>
              <a:rPr b="0" i="1" dirty="0" err="1">
                <a:solidFill>
                  <a:srgbClr val="000000"/>
                </a:solidFill>
              </a:rPr>
              <a:t>condomini</a:t>
            </a:r>
            <a:r>
              <a:rPr b="0" i="1" dirty="0">
                <a:solidFill>
                  <a:srgbClr val="000000"/>
                </a:solidFill>
              </a:rPr>
              <a:t>; il </a:t>
            </a:r>
            <a:r>
              <a:rPr b="0" i="1" dirty="0" err="1">
                <a:solidFill>
                  <a:srgbClr val="000000"/>
                </a:solidFill>
              </a:rPr>
              <a:t>noleggiatore</a:t>
            </a:r>
            <a:r>
              <a:rPr b="0" i="1" dirty="0">
                <a:solidFill>
                  <a:srgbClr val="000000"/>
                </a:solidFill>
              </a:rPr>
              <a:t> rispetto al </a:t>
            </a:r>
            <a:r>
              <a:rPr b="0" i="1" dirty="0" err="1">
                <a:solidFill>
                  <a:srgbClr val="000000"/>
                </a:solidFill>
              </a:rPr>
              <a:t>veicolo</a:t>
            </a:r>
            <a:r>
              <a:rPr b="0" i="1" dirty="0">
                <a:solidFill>
                  <a:srgbClr val="000000"/>
                </a:solidFill>
              </a:rPr>
              <a:t> </a:t>
            </a:r>
            <a:r>
              <a:rPr b="0" i="1" dirty="0" err="1">
                <a:solidFill>
                  <a:srgbClr val="000000"/>
                </a:solidFill>
              </a:rPr>
              <a:t>preso</a:t>
            </a:r>
            <a:r>
              <a:rPr b="0" i="1" dirty="0">
                <a:solidFill>
                  <a:srgbClr val="000000"/>
                </a:solidFill>
              </a:rPr>
              <a:t> a nolo.</a:t>
            </a:r>
            <a:endParaRPr lang="it-IT" b="0" i="1" dirty="0">
              <a:solidFill>
                <a:srgbClr val="000000"/>
              </a:solidFill>
            </a:endParaRPr>
          </a:p>
          <a:p>
            <a:pPr marL="0" indent="0" algn="just">
              <a:lnSpc>
                <a:spcPct val="114000"/>
              </a:lnSpc>
              <a:spcBef>
                <a:spcPts val="1200"/>
              </a:spcBef>
              <a:buSzTx/>
              <a:buNone/>
              <a:defRPr sz="2200" b="1">
                <a:solidFill>
                  <a:srgbClr val="FF0000"/>
                </a:solidFill>
                <a:latin typeface="Times New Roman"/>
                <a:ea typeface="Times New Roman"/>
                <a:cs typeface="Times New Roman"/>
                <a:sym typeface="Times New Roman"/>
              </a:defRPr>
            </a:pPr>
            <a:endParaRPr b="0" i="1" dirty="0">
              <a:solidFill>
                <a:srgbClr val="000000"/>
              </a:solidFill>
            </a:endParaRPr>
          </a:p>
          <a:p>
            <a:pPr marL="0" indent="0" algn="just">
              <a:lnSpc>
                <a:spcPct val="114000"/>
              </a:lnSpc>
              <a:spcBef>
                <a:spcPts val="1200"/>
              </a:spcBef>
              <a:buSzTx/>
              <a:buNone/>
              <a:defRPr sz="2200">
                <a:latin typeface="Times New Roman"/>
                <a:ea typeface="Times New Roman"/>
                <a:cs typeface="Times New Roman"/>
                <a:sym typeface="Times New Roman"/>
              </a:defRPr>
            </a:pPr>
            <a:r>
              <a:rPr dirty="0"/>
              <a:t>Il </a:t>
            </a:r>
            <a:r>
              <a:rPr b="1" u="sng" dirty="0" err="1"/>
              <a:t>soggetto</a:t>
            </a:r>
            <a:r>
              <a:rPr b="1" u="sng" dirty="0"/>
              <a:t> </a:t>
            </a:r>
            <a:r>
              <a:rPr b="1" u="sng" dirty="0" err="1"/>
              <a:t>passivo</a:t>
            </a:r>
            <a:r>
              <a:rPr b="1" dirty="0"/>
              <a:t> </a:t>
            </a:r>
            <a:r>
              <a:rPr dirty="0" err="1"/>
              <a:t>invece</a:t>
            </a:r>
            <a:r>
              <a:rPr dirty="0"/>
              <a:t>, </a:t>
            </a:r>
            <a:r>
              <a:rPr dirty="0" err="1"/>
              <a:t>oltre</a:t>
            </a:r>
            <a:r>
              <a:rPr dirty="0"/>
              <a:t> </a:t>
            </a:r>
            <a:r>
              <a:rPr dirty="0" err="1"/>
              <a:t>che</a:t>
            </a:r>
            <a:r>
              <a:rPr dirty="0"/>
              <a:t> </a:t>
            </a:r>
            <a:r>
              <a:rPr dirty="0" err="1"/>
              <a:t>il</a:t>
            </a:r>
            <a:r>
              <a:rPr dirty="0"/>
              <a:t> </a:t>
            </a:r>
            <a:r>
              <a:rPr dirty="0" err="1"/>
              <a:t>proprietario</a:t>
            </a:r>
            <a:r>
              <a:rPr dirty="0"/>
              <a:t> </a:t>
            </a:r>
            <a:r>
              <a:rPr dirty="0" err="1"/>
              <a:t>della</a:t>
            </a:r>
            <a:r>
              <a:rPr dirty="0"/>
              <a:t> </a:t>
            </a:r>
            <a:r>
              <a:rPr dirty="0" err="1"/>
              <a:t>cosa</a:t>
            </a:r>
            <a:r>
              <a:rPr dirty="0"/>
              <a:t>, </a:t>
            </a:r>
            <a:r>
              <a:rPr dirty="0" err="1"/>
              <a:t>può</a:t>
            </a:r>
            <a:r>
              <a:rPr dirty="0"/>
              <a:t> </a:t>
            </a:r>
            <a:r>
              <a:rPr dirty="0" err="1"/>
              <a:t>essere</a:t>
            </a:r>
            <a:r>
              <a:rPr dirty="0"/>
              <a:t> pure una persona </a:t>
            </a:r>
            <a:r>
              <a:rPr dirty="0" err="1"/>
              <a:t>diversa</a:t>
            </a:r>
            <a:r>
              <a:rPr dirty="0"/>
              <a:t> da </a:t>
            </a:r>
            <a:r>
              <a:rPr dirty="0" err="1"/>
              <a:t>esso</a:t>
            </a:r>
            <a:r>
              <a:rPr dirty="0"/>
              <a:t> </a:t>
            </a:r>
            <a:r>
              <a:rPr dirty="0" err="1"/>
              <a:t>che</a:t>
            </a:r>
            <a:r>
              <a:rPr dirty="0"/>
              <a:t> </a:t>
            </a:r>
            <a:r>
              <a:rPr dirty="0" err="1"/>
              <a:t>abbia</a:t>
            </a:r>
            <a:r>
              <a:rPr dirty="0"/>
              <a:t> </a:t>
            </a:r>
            <a:r>
              <a:rPr dirty="0" err="1"/>
              <a:t>su</a:t>
            </a:r>
            <a:r>
              <a:rPr dirty="0"/>
              <a:t> </a:t>
            </a:r>
            <a:r>
              <a:rPr dirty="0" err="1"/>
              <a:t>questa</a:t>
            </a:r>
            <a:r>
              <a:rPr dirty="0"/>
              <a:t> </a:t>
            </a:r>
            <a:r>
              <a:rPr dirty="0" err="1"/>
              <a:t>cosa</a:t>
            </a:r>
            <a:r>
              <a:rPr dirty="0"/>
              <a:t> un </a:t>
            </a:r>
            <a:r>
              <a:rPr dirty="0" err="1"/>
              <a:t>diritto</a:t>
            </a:r>
            <a:r>
              <a:rPr dirty="0"/>
              <a:t> </a:t>
            </a:r>
            <a:r>
              <a:rPr dirty="0" err="1"/>
              <a:t>reale</a:t>
            </a:r>
            <a:r>
              <a:rPr dirty="0"/>
              <a:t> o </a:t>
            </a:r>
            <a:r>
              <a:rPr dirty="0" err="1"/>
              <a:t>personale</a:t>
            </a:r>
            <a:r>
              <a:rPr dirty="0"/>
              <a:t>.</a:t>
            </a:r>
          </a:p>
        </p:txBody>
      </p:sp>
      <p:sp>
        <p:nvSpPr>
          <p:cNvPr id="388" name="Numero diapositiva"/>
          <p:cNvSpPr txBox="1">
            <a:spLocks noGrp="1"/>
          </p:cNvSpPr>
          <p:nvPr>
            <p:ph type="sldNum" sz="quarter" idx="4294967295"/>
          </p:nvPr>
        </p:nvSpPr>
        <p:spPr>
          <a:xfrm>
            <a:off x="8430259" y="6401179"/>
            <a:ext cx="256539" cy="2754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43</a:t>
            </a:fld>
            <a:endParaRPr/>
          </a:p>
        </p:txBody>
      </p:sp>
      <p:pic>
        <p:nvPicPr>
          <p:cNvPr id="389"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Rettangolo 4"/>
          <p:cNvSpPr txBox="1"/>
          <p:nvPr/>
        </p:nvSpPr>
        <p:spPr>
          <a:xfrm>
            <a:off x="45719" y="980729"/>
            <a:ext cx="9052561" cy="50011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rPr dirty="0"/>
              <a:t>Il </a:t>
            </a:r>
            <a:r>
              <a:rPr dirty="0" err="1"/>
              <a:t>delitto</a:t>
            </a:r>
            <a:r>
              <a:rPr dirty="0"/>
              <a:t> di </a:t>
            </a:r>
            <a:r>
              <a:rPr dirty="0" err="1"/>
              <a:t>appropriazione</a:t>
            </a:r>
            <a:r>
              <a:rPr dirty="0"/>
              <a:t> è un </a:t>
            </a:r>
            <a:r>
              <a:rPr b="1" dirty="0">
                <a:solidFill>
                  <a:srgbClr val="E46C0A"/>
                </a:solidFill>
              </a:rPr>
              <a:t>REATO ISTANTANEO</a:t>
            </a:r>
            <a:r>
              <a:rPr dirty="0">
                <a:solidFill>
                  <a:srgbClr val="E46C0A"/>
                </a:solidFill>
              </a:rPr>
              <a:t>:</a:t>
            </a:r>
            <a:r>
              <a:rPr dirty="0"/>
              <a:t> </a:t>
            </a:r>
            <a:r>
              <a:rPr dirty="0" err="1"/>
              <a:t>si</a:t>
            </a:r>
            <a:r>
              <a:rPr dirty="0"/>
              <a:t> </a:t>
            </a:r>
            <a:r>
              <a:rPr dirty="0" err="1"/>
              <a:t>consuma</a:t>
            </a:r>
            <a:r>
              <a:rPr dirty="0"/>
              <a:t> con la </a:t>
            </a:r>
            <a:r>
              <a:rPr b="1" dirty="0"/>
              <a:t>prima </a:t>
            </a:r>
            <a:r>
              <a:rPr b="1" dirty="0" err="1"/>
              <a:t>condotta</a:t>
            </a:r>
            <a:r>
              <a:rPr b="1" dirty="0"/>
              <a:t> </a:t>
            </a:r>
            <a:r>
              <a:rPr b="1" dirty="0" err="1"/>
              <a:t>appropriativa</a:t>
            </a:r>
            <a:r>
              <a:rPr dirty="0"/>
              <a:t>, </a:t>
            </a:r>
            <a:r>
              <a:rPr dirty="0" err="1"/>
              <a:t>nel</a:t>
            </a:r>
            <a:r>
              <a:rPr dirty="0"/>
              <a:t> </a:t>
            </a:r>
            <a:r>
              <a:rPr dirty="0" err="1"/>
              <a:t>momento</a:t>
            </a:r>
            <a:r>
              <a:rPr dirty="0"/>
              <a:t> in cui </a:t>
            </a:r>
            <a:r>
              <a:rPr dirty="0" err="1"/>
              <a:t>l’agente</a:t>
            </a:r>
            <a:r>
              <a:rPr dirty="0"/>
              <a:t> </a:t>
            </a:r>
            <a:r>
              <a:rPr dirty="0" err="1"/>
              <a:t>compie</a:t>
            </a:r>
            <a:r>
              <a:rPr dirty="0"/>
              <a:t> un </a:t>
            </a:r>
            <a:r>
              <a:rPr dirty="0" err="1"/>
              <a:t>atto</a:t>
            </a:r>
            <a:r>
              <a:rPr dirty="0"/>
              <a:t> di </a:t>
            </a:r>
            <a:r>
              <a:rPr dirty="0" err="1"/>
              <a:t>dominio</a:t>
            </a:r>
            <a:r>
              <a:rPr dirty="0"/>
              <a:t> </a:t>
            </a:r>
            <a:r>
              <a:rPr dirty="0" err="1"/>
              <a:t>sulla</a:t>
            </a:r>
            <a:r>
              <a:rPr dirty="0"/>
              <a:t> </a:t>
            </a:r>
            <a:r>
              <a:rPr dirty="0" err="1"/>
              <a:t>cosa</a:t>
            </a:r>
            <a:r>
              <a:rPr dirty="0"/>
              <a:t> con la </a:t>
            </a:r>
            <a:r>
              <a:rPr dirty="0" err="1"/>
              <a:t>volontà</a:t>
            </a:r>
            <a:r>
              <a:rPr dirty="0"/>
              <a:t> </a:t>
            </a:r>
            <a:r>
              <a:rPr dirty="0" err="1"/>
              <a:t>espressa</a:t>
            </a:r>
            <a:r>
              <a:rPr dirty="0"/>
              <a:t> o </a:t>
            </a:r>
            <a:r>
              <a:rPr dirty="0" err="1"/>
              <a:t>implicita</a:t>
            </a:r>
            <a:r>
              <a:rPr dirty="0"/>
              <a:t> di </a:t>
            </a:r>
            <a:r>
              <a:rPr dirty="0" err="1"/>
              <a:t>tenere</a:t>
            </a:r>
            <a:r>
              <a:rPr dirty="0"/>
              <a:t> </a:t>
            </a:r>
            <a:r>
              <a:rPr dirty="0" err="1"/>
              <a:t>questa</a:t>
            </a:r>
            <a:r>
              <a:rPr dirty="0"/>
              <a:t> come propria. Si </a:t>
            </a:r>
            <a:r>
              <a:rPr dirty="0" err="1"/>
              <a:t>parla</a:t>
            </a:r>
            <a:r>
              <a:rPr dirty="0"/>
              <a:t> a </a:t>
            </a:r>
            <a:r>
              <a:rPr dirty="0" err="1"/>
              <a:t>tal</a:t>
            </a:r>
            <a:r>
              <a:rPr dirty="0"/>
              <a:t> </a:t>
            </a:r>
            <a:r>
              <a:rPr dirty="0" err="1"/>
              <a:t>proposito</a:t>
            </a:r>
            <a:r>
              <a:rPr dirty="0"/>
              <a:t> di </a:t>
            </a:r>
            <a:r>
              <a:rPr b="1" dirty="0" err="1">
                <a:solidFill>
                  <a:srgbClr val="E46C0A"/>
                </a:solidFill>
              </a:rPr>
              <a:t>atto</a:t>
            </a:r>
            <a:r>
              <a:rPr b="1" dirty="0">
                <a:solidFill>
                  <a:srgbClr val="E46C0A"/>
                </a:solidFill>
              </a:rPr>
              <a:t> </a:t>
            </a:r>
            <a:r>
              <a:rPr b="1" i="1" dirty="0" err="1">
                <a:solidFill>
                  <a:srgbClr val="E46C0A"/>
                </a:solidFill>
              </a:rPr>
              <a:t>uti</a:t>
            </a:r>
            <a:r>
              <a:rPr b="1" i="1" dirty="0">
                <a:solidFill>
                  <a:srgbClr val="E46C0A"/>
                </a:solidFill>
              </a:rPr>
              <a:t> dominus</a:t>
            </a:r>
            <a:r>
              <a:rPr dirty="0"/>
              <a:t>, </a:t>
            </a:r>
            <a:r>
              <a:rPr dirty="0" err="1"/>
              <a:t>cioè</a:t>
            </a:r>
            <a:r>
              <a:rPr dirty="0"/>
              <a:t> come se </a:t>
            </a:r>
            <a:r>
              <a:rPr dirty="0" err="1"/>
              <a:t>il</a:t>
            </a:r>
            <a:r>
              <a:rPr dirty="0"/>
              <a:t> </a:t>
            </a:r>
            <a:r>
              <a:rPr dirty="0" err="1"/>
              <a:t>possessore</a:t>
            </a:r>
            <a:r>
              <a:rPr dirty="0"/>
              <a:t> ne fosse </a:t>
            </a:r>
            <a:r>
              <a:rPr dirty="0" err="1"/>
              <a:t>il</a:t>
            </a:r>
            <a:r>
              <a:rPr dirty="0"/>
              <a:t> </a:t>
            </a:r>
            <a:r>
              <a:rPr dirty="0" err="1"/>
              <a:t>proprietario</a:t>
            </a:r>
            <a:r>
              <a:rPr dirty="0"/>
              <a:t>. </a:t>
            </a:r>
            <a:r>
              <a:rPr i="1" dirty="0" err="1"/>
              <a:t>Esempio</a:t>
            </a:r>
            <a:r>
              <a:rPr lang="it-IT" i="1" dirty="0"/>
              <a:t>:</a:t>
            </a:r>
            <a:r>
              <a:rPr i="1" dirty="0"/>
              <a:t> la </a:t>
            </a:r>
            <a:r>
              <a:rPr i="1" dirty="0" err="1"/>
              <a:t>condotta</a:t>
            </a:r>
            <a:r>
              <a:rPr i="1" dirty="0"/>
              <a:t> del </a:t>
            </a:r>
            <a:r>
              <a:rPr i="1" dirty="0" err="1"/>
              <a:t>soggetto</a:t>
            </a:r>
            <a:r>
              <a:rPr i="1" dirty="0"/>
              <a:t> </a:t>
            </a:r>
            <a:r>
              <a:rPr i="1" dirty="0" err="1"/>
              <a:t>che</a:t>
            </a:r>
            <a:r>
              <a:rPr i="1" dirty="0"/>
              <a:t> </a:t>
            </a:r>
            <a:r>
              <a:rPr i="1" dirty="0" err="1"/>
              <a:t>vende</a:t>
            </a:r>
            <a:r>
              <a:rPr i="1" dirty="0"/>
              <a:t> a </a:t>
            </a:r>
            <a:r>
              <a:rPr i="1" dirty="0" err="1"/>
              <a:t>terzi</a:t>
            </a:r>
            <a:r>
              <a:rPr i="1" dirty="0"/>
              <a:t>, senza </a:t>
            </a:r>
            <a:r>
              <a:rPr i="1" dirty="0" err="1"/>
              <a:t>il</a:t>
            </a:r>
            <a:r>
              <a:rPr i="1" dirty="0"/>
              <a:t> </a:t>
            </a:r>
            <a:r>
              <a:rPr i="1" dirty="0" err="1"/>
              <a:t>consenso</a:t>
            </a:r>
            <a:r>
              <a:rPr i="1" dirty="0"/>
              <a:t> del </a:t>
            </a:r>
            <a:r>
              <a:rPr i="1" dirty="0" err="1"/>
              <a:t>proprietario</a:t>
            </a:r>
            <a:r>
              <a:rPr i="1" dirty="0"/>
              <a:t>, una </a:t>
            </a:r>
            <a:r>
              <a:rPr i="1" dirty="0" err="1"/>
              <a:t>cosa</a:t>
            </a:r>
            <a:r>
              <a:rPr i="1" dirty="0"/>
              <a:t> </a:t>
            </a:r>
            <a:r>
              <a:rPr i="1" dirty="0" err="1"/>
              <a:t>datagli</a:t>
            </a:r>
            <a:r>
              <a:rPr i="1" dirty="0"/>
              <a:t> in </a:t>
            </a:r>
            <a:r>
              <a:rPr i="1" dirty="0" err="1"/>
              <a:t>prestito</a:t>
            </a:r>
            <a:r>
              <a:rPr i="1" dirty="0"/>
              <a:t>.</a:t>
            </a:r>
          </a:p>
          <a:p>
            <a:pPr algn="just">
              <a:lnSpc>
                <a:spcPct val="114000"/>
              </a:lnSpc>
              <a:spcBef>
                <a:spcPts val="1200"/>
              </a:spcBef>
              <a:defRPr sz="2200" b="0">
                <a:latin typeface="Times New Roman"/>
                <a:ea typeface="Times New Roman"/>
                <a:cs typeface="Times New Roman"/>
                <a:sym typeface="Times New Roman"/>
              </a:defRPr>
            </a:pPr>
            <a:endParaRPr i="1" dirty="0"/>
          </a:p>
          <a:p>
            <a:pPr algn="just">
              <a:lnSpc>
                <a:spcPct val="114000"/>
              </a:lnSpc>
              <a:spcBef>
                <a:spcPts val="1200"/>
              </a:spcBef>
              <a:defRPr sz="2200" u="sng">
                <a:latin typeface="Times New Roman"/>
                <a:ea typeface="Times New Roman"/>
                <a:cs typeface="Times New Roman"/>
                <a:sym typeface="Times New Roman"/>
              </a:defRPr>
            </a:pPr>
            <a:r>
              <a:rPr dirty="0"/>
              <a:t>ELEMENTO SOGGETTIVO</a:t>
            </a:r>
            <a:r>
              <a:rPr u="none" dirty="0"/>
              <a:t> </a:t>
            </a:r>
            <a:r>
              <a:rPr b="0" u="none" dirty="0"/>
              <a:t>è il </a:t>
            </a:r>
            <a:r>
              <a:rPr u="none" dirty="0">
                <a:solidFill>
                  <a:srgbClr val="E46C0A"/>
                </a:solidFill>
              </a:rPr>
              <a:t>DOLO SPECIFICO</a:t>
            </a:r>
            <a:r>
              <a:rPr b="0" u="none" dirty="0"/>
              <a:t>, </a:t>
            </a:r>
            <a:r>
              <a:rPr b="0" u="none" dirty="0" err="1"/>
              <a:t>consistente</a:t>
            </a:r>
            <a:r>
              <a:rPr b="0" u="none" dirty="0"/>
              <a:t> </a:t>
            </a:r>
            <a:r>
              <a:rPr b="0" u="none" dirty="0" err="1"/>
              <a:t>nella</a:t>
            </a:r>
            <a:r>
              <a:rPr b="0" u="none" dirty="0"/>
              <a:t> </a:t>
            </a:r>
            <a:r>
              <a:rPr b="0" u="none" dirty="0" err="1"/>
              <a:t>volontà</a:t>
            </a:r>
            <a:r>
              <a:rPr b="0" u="none" dirty="0"/>
              <a:t> e </a:t>
            </a:r>
            <a:r>
              <a:rPr b="0" u="none" dirty="0" err="1"/>
              <a:t>coscienza</a:t>
            </a:r>
            <a:r>
              <a:rPr b="0" u="none" dirty="0"/>
              <a:t> di </a:t>
            </a:r>
            <a:r>
              <a:rPr b="0" u="none" dirty="0" err="1"/>
              <a:t>appropriarsi</a:t>
            </a:r>
            <a:r>
              <a:rPr b="0" u="none" dirty="0"/>
              <a:t> </a:t>
            </a:r>
            <a:r>
              <a:rPr b="0" u="none" dirty="0" err="1"/>
              <a:t>della</a:t>
            </a:r>
            <a:r>
              <a:rPr b="0" u="none" dirty="0"/>
              <a:t> </a:t>
            </a:r>
            <a:r>
              <a:rPr b="0" u="none" dirty="0" err="1"/>
              <a:t>cosa</a:t>
            </a:r>
            <a:r>
              <a:rPr b="0" u="none" dirty="0"/>
              <a:t> mobile </a:t>
            </a:r>
            <a:r>
              <a:rPr b="0" u="none" dirty="0" err="1"/>
              <a:t>altrui</a:t>
            </a:r>
            <a:r>
              <a:rPr b="0" u="none" dirty="0"/>
              <a:t> al </a:t>
            </a:r>
            <a:r>
              <a:rPr b="0" u="none" dirty="0" err="1"/>
              <a:t>momento</a:t>
            </a:r>
            <a:r>
              <a:rPr b="0" u="none" dirty="0"/>
              <a:t> </a:t>
            </a:r>
            <a:r>
              <a:rPr b="0" u="none" dirty="0" err="1"/>
              <a:t>posseduta</a:t>
            </a:r>
            <a:r>
              <a:rPr b="0" u="none" dirty="0"/>
              <a:t>, </a:t>
            </a:r>
            <a:r>
              <a:rPr b="0" u="none" dirty="0" err="1"/>
              <a:t>sapendo</a:t>
            </a:r>
            <a:r>
              <a:rPr b="0" u="none" dirty="0"/>
              <a:t> di non </a:t>
            </a:r>
            <a:r>
              <a:rPr b="0" u="none" dirty="0" err="1"/>
              <a:t>avere</a:t>
            </a:r>
            <a:r>
              <a:rPr b="0" u="none" dirty="0"/>
              <a:t> </a:t>
            </a:r>
            <a:r>
              <a:rPr b="0" u="none" dirty="0" err="1"/>
              <a:t>nessun</a:t>
            </a:r>
            <a:r>
              <a:rPr b="0" u="none" dirty="0"/>
              <a:t> </a:t>
            </a:r>
            <a:r>
              <a:rPr b="0" u="none" dirty="0" err="1"/>
              <a:t>titolo</a:t>
            </a:r>
            <a:r>
              <a:rPr b="0" u="none" dirty="0"/>
              <a:t> di </a:t>
            </a:r>
            <a:r>
              <a:rPr b="0" u="none" dirty="0" err="1"/>
              <a:t>disporre</a:t>
            </a:r>
            <a:r>
              <a:rPr b="0" u="none" dirty="0"/>
              <a:t> </a:t>
            </a:r>
            <a:r>
              <a:rPr b="0" u="none" dirty="0" err="1"/>
              <a:t>liberamente</a:t>
            </a:r>
            <a:r>
              <a:rPr b="0" u="none" dirty="0"/>
              <a:t> </a:t>
            </a:r>
            <a:r>
              <a:rPr b="0" u="none" dirty="0" err="1"/>
              <a:t>su</a:t>
            </a:r>
            <a:r>
              <a:rPr b="0" u="none" dirty="0"/>
              <a:t> </a:t>
            </a:r>
            <a:r>
              <a:rPr b="0" u="none" dirty="0" err="1"/>
              <a:t>quella</a:t>
            </a:r>
            <a:r>
              <a:rPr b="0" u="none" dirty="0"/>
              <a:t> </a:t>
            </a:r>
            <a:r>
              <a:rPr b="0" u="none" dirty="0" err="1"/>
              <a:t>cosa</a:t>
            </a:r>
            <a:r>
              <a:rPr b="0" u="none" dirty="0"/>
              <a:t> e </a:t>
            </a:r>
            <a:r>
              <a:rPr b="0" u="none" dirty="0" err="1"/>
              <a:t>conseguentemente</a:t>
            </a:r>
            <a:r>
              <a:rPr b="0" u="none" dirty="0"/>
              <a:t> </a:t>
            </a:r>
            <a:r>
              <a:rPr u="none" dirty="0">
                <a:solidFill>
                  <a:srgbClr val="E46C0A"/>
                </a:solidFill>
              </a:rPr>
              <a:t>con lo </a:t>
            </a:r>
            <a:r>
              <a:rPr u="none" dirty="0" err="1">
                <a:solidFill>
                  <a:srgbClr val="E46C0A"/>
                </a:solidFill>
              </a:rPr>
              <a:t>scopo</a:t>
            </a:r>
            <a:r>
              <a:rPr u="none" dirty="0">
                <a:solidFill>
                  <a:srgbClr val="E46C0A"/>
                </a:solidFill>
              </a:rPr>
              <a:t> di </a:t>
            </a:r>
            <a:r>
              <a:rPr u="none" dirty="0" err="1">
                <a:solidFill>
                  <a:srgbClr val="E46C0A"/>
                </a:solidFill>
              </a:rPr>
              <a:t>trarne</a:t>
            </a:r>
            <a:r>
              <a:rPr u="none" dirty="0">
                <a:solidFill>
                  <a:srgbClr val="E46C0A"/>
                </a:solidFill>
              </a:rPr>
              <a:t> </a:t>
            </a:r>
            <a:r>
              <a:rPr lang="it-IT" u="none" dirty="0">
                <a:solidFill>
                  <a:srgbClr val="E46C0A"/>
                </a:solidFill>
              </a:rPr>
              <a:t>per sé o per altri </a:t>
            </a:r>
            <a:r>
              <a:rPr u="none" dirty="0">
                <a:solidFill>
                  <a:srgbClr val="E46C0A"/>
                </a:solidFill>
              </a:rPr>
              <a:t>un</a:t>
            </a:r>
            <a:r>
              <a:rPr lang="it-IT" u="none" dirty="0">
                <a:solidFill>
                  <a:srgbClr val="E46C0A"/>
                </a:solidFill>
              </a:rPr>
              <a:t> </a:t>
            </a:r>
            <a:r>
              <a:rPr u="none" dirty="0" err="1">
                <a:solidFill>
                  <a:srgbClr val="E46C0A"/>
                </a:solidFill>
              </a:rPr>
              <a:t>ingiust</a:t>
            </a:r>
            <a:r>
              <a:rPr lang="it-IT" u="none" dirty="0">
                <a:solidFill>
                  <a:srgbClr val="E46C0A"/>
                </a:solidFill>
              </a:rPr>
              <a:t>o</a:t>
            </a:r>
            <a:r>
              <a:rPr u="none" dirty="0">
                <a:solidFill>
                  <a:srgbClr val="E46C0A"/>
                </a:solidFill>
              </a:rPr>
              <a:t> </a:t>
            </a:r>
            <a:r>
              <a:rPr lang="it-IT" u="none" dirty="0">
                <a:solidFill>
                  <a:srgbClr val="E46C0A"/>
                </a:solidFill>
              </a:rPr>
              <a:t>profitto.</a:t>
            </a:r>
            <a:r>
              <a:rPr u="none" dirty="0">
                <a:solidFill>
                  <a:srgbClr val="E46C0A"/>
                </a:solidFill>
              </a:rPr>
              <a:t> </a:t>
            </a:r>
            <a:r>
              <a:rPr b="0" u="none" dirty="0"/>
              <a:t>(Cass. II, 25/03/1974).</a:t>
            </a:r>
          </a:p>
        </p:txBody>
      </p:sp>
      <p:pic>
        <p:nvPicPr>
          <p:cNvPr id="392"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93"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Appropriazione indebita</a:t>
            </a:r>
          </a:p>
        </p:txBody>
      </p:sp>
    </p:spTree>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5" name="CasellaDiTesto 1"/>
          <p:cNvSpPr txBox="1"/>
          <p:nvPr/>
        </p:nvSpPr>
        <p:spPr>
          <a:xfrm>
            <a:off x="229859" y="980727"/>
            <a:ext cx="8684281" cy="54782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C00000"/>
                </a:solidFill>
                <a:latin typeface="Book Antiqua"/>
                <a:ea typeface="Book Antiqua"/>
                <a:cs typeface="Book Antiqua"/>
                <a:sym typeface="Book Antiqua"/>
              </a:defRPr>
            </a:pPr>
            <a:r>
              <a:rPr dirty="0">
                <a:solidFill>
                  <a:srgbClr val="FF0000"/>
                </a:solidFill>
              </a:rPr>
              <a:t>Art. 630 </a:t>
            </a:r>
            <a:r>
              <a:rPr dirty="0" err="1">
                <a:solidFill>
                  <a:srgbClr val="FF0000"/>
                </a:solidFill>
              </a:rPr>
              <a:t>c.p.</a:t>
            </a:r>
            <a:r>
              <a:rPr dirty="0">
                <a:solidFill>
                  <a:srgbClr val="FF0000"/>
                </a:solidFill>
              </a:rPr>
              <a:t> </a:t>
            </a:r>
            <a:r>
              <a:rPr dirty="0" err="1">
                <a:solidFill>
                  <a:srgbClr val="FF0000"/>
                </a:solidFill>
              </a:rPr>
              <a:t>Sequestro</a:t>
            </a:r>
            <a:r>
              <a:rPr dirty="0">
                <a:solidFill>
                  <a:srgbClr val="FF0000"/>
                </a:solidFill>
              </a:rPr>
              <a:t> di persona a </a:t>
            </a:r>
            <a:r>
              <a:rPr dirty="0" err="1">
                <a:solidFill>
                  <a:srgbClr val="FF0000"/>
                </a:solidFill>
              </a:rPr>
              <a:t>scopo</a:t>
            </a:r>
            <a:r>
              <a:rPr dirty="0">
                <a:solidFill>
                  <a:srgbClr val="FF0000"/>
                </a:solidFill>
              </a:rPr>
              <a:t> di </a:t>
            </a:r>
            <a:r>
              <a:rPr dirty="0" err="1">
                <a:solidFill>
                  <a:srgbClr val="FF0000"/>
                </a:solidFill>
              </a:rPr>
              <a:t>estorsione</a:t>
            </a:r>
            <a:endParaRPr dirty="0">
              <a:solidFill>
                <a:srgbClr val="FF0000"/>
              </a:solidFill>
              <a:latin typeface="Times New Roman"/>
              <a:ea typeface="Times New Roman"/>
              <a:cs typeface="Times New Roman"/>
              <a:sym typeface="Times New Roman"/>
            </a:endParaRPr>
          </a:p>
          <a:p>
            <a:pPr algn="just">
              <a:lnSpc>
                <a:spcPct val="114000"/>
              </a:lnSpc>
              <a:spcBef>
                <a:spcPts val="600"/>
              </a:spcBef>
              <a:defRPr sz="2200" b="0">
                <a:latin typeface="Book Antiqua"/>
                <a:ea typeface="Book Antiqua"/>
                <a:cs typeface="Book Antiqua"/>
                <a:sym typeface="Book Antiqua"/>
              </a:defRPr>
            </a:pPr>
            <a:r>
              <a:rPr dirty="0"/>
              <a:t>«</a:t>
            </a:r>
            <a:r>
              <a:rPr i="1" dirty="0" err="1"/>
              <a:t>Chiunque</a:t>
            </a:r>
            <a:r>
              <a:rPr i="1" dirty="0"/>
              <a:t> </a:t>
            </a:r>
            <a:r>
              <a:rPr b="1" i="1" dirty="0" err="1">
                <a:solidFill>
                  <a:srgbClr val="C00000"/>
                </a:solidFill>
              </a:rPr>
              <a:t>sequestra</a:t>
            </a:r>
            <a:r>
              <a:rPr b="1" i="1" dirty="0">
                <a:solidFill>
                  <a:srgbClr val="C00000"/>
                </a:solidFill>
              </a:rPr>
              <a:t> una persona </a:t>
            </a:r>
            <a:r>
              <a:rPr b="1" i="1" dirty="0" err="1">
                <a:solidFill>
                  <a:srgbClr val="C00000"/>
                </a:solidFill>
              </a:rPr>
              <a:t>allo</a:t>
            </a:r>
            <a:r>
              <a:rPr b="1" i="1" dirty="0">
                <a:solidFill>
                  <a:srgbClr val="C00000"/>
                </a:solidFill>
              </a:rPr>
              <a:t> </a:t>
            </a:r>
            <a:r>
              <a:rPr b="1" i="1" dirty="0" err="1">
                <a:solidFill>
                  <a:srgbClr val="C00000"/>
                </a:solidFill>
              </a:rPr>
              <a:t>scopo</a:t>
            </a:r>
            <a:r>
              <a:rPr b="1" i="1" dirty="0">
                <a:solidFill>
                  <a:srgbClr val="C00000"/>
                </a:solidFill>
              </a:rPr>
              <a:t> di </a:t>
            </a:r>
            <a:r>
              <a:rPr b="1" i="1" dirty="0" err="1">
                <a:solidFill>
                  <a:srgbClr val="C00000"/>
                </a:solidFill>
              </a:rPr>
              <a:t>conseguire</a:t>
            </a:r>
            <a:r>
              <a:rPr i="1" dirty="0"/>
              <a:t>, per </a:t>
            </a:r>
            <a:r>
              <a:rPr i="1" dirty="0" err="1"/>
              <a:t>sé</a:t>
            </a:r>
            <a:r>
              <a:rPr i="1" dirty="0"/>
              <a:t> o per </a:t>
            </a:r>
            <a:r>
              <a:rPr i="1" dirty="0" err="1"/>
              <a:t>altri</a:t>
            </a:r>
            <a:r>
              <a:rPr i="1" dirty="0"/>
              <a:t>, </a:t>
            </a:r>
            <a:r>
              <a:rPr b="1" i="1" dirty="0">
                <a:solidFill>
                  <a:srgbClr val="C00000"/>
                </a:solidFill>
              </a:rPr>
              <a:t>un </a:t>
            </a:r>
            <a:r>
              <a:rPr b="1" i="1" dirty="0" err="1">
                <a:solidFill>
                  <a:srgbClr val="C00000"/>
                </a:solidFill>
              </a:rPr>
              <a:t>ingiusto</a:t>
            </a:r>
            <a:r>
              <a:rPr b="1" i="1" dirty="0">
                <a:solidFill>
                  <a:srgbClr val="C00000"/>
                </a:solidFill>
              </a:rPr>
              <a:t> </a:t>
            </a:r>
            <a:r>
              <a:rPr b="1" i="1" dirty="0" err="1">
                <a:solidFill>
                  <a:srgbClr val="C00000"/>
                </a:solidFill>
              </a:rPr>
              <a:t>profitto</a:t>
            </a:r>
            <a:r>
              <a:rPr b="1" i="1" dirty="0">
                <a:solidFill>
                  <a:srgbClr val="C00000"/>
                </a:solidFill>
              </a:rPr>
              <a:t> come </a:t>
            </a:r>
            <a:r>
              <a:rPr b="1" i="1" dirty="0" err="1">
                <a:solidFill>
                  <a:srgbClr val="C00000"/>
                </a:solidFill>
              </a:rPr>
              <a:t>prezzo</a:t>
            </a:r>
            <a:r>
              <a:rPr b="1" i="1" dirty="0">
                <a:solidFill>
                  <a:srgbClr val="C00000"/>
                </a:solidFill>
              </a:rPr>
              <a:t> </a:t>
            </a:r>
            <a:r>
              <a:rPr b="1" i="1" dirty="0" err="1">
                <a:solidFill>
                  <a:srgbClr val="C00000"/>
                </a:solidFill>
              </a:rPr>
              <a:t>della</a:t>
            </a:r>
            <a:r>
              <a:rPr b="1" i="1" dirty="0">
                <a:solidFill>
                  <a:srgbClr val="C00000"/>
                </a:solidFill>
              </a:rPr>
              <a:t> </a:t>
            </a:r>
            <a:r>
              <a:rPr b="1" i="1" dirty="0" err="1">
                <a:solidFill>
                  <a:srgbClr val="C00000"/>
                </a:solidFill>
              </a:rPr>
              <a:t>liberazione</a:t>
            </a:r>
            <a:r>
              <a:rPr i="1" dirty="0"/>
              <a:t>, è </a:t>
            </a:r>
            <a:r>
              <a:rPr i="1" dirty="0" err="1"/>
              <a:t>punito</a:t>
            </a:r>
            <a:r>
              <a:rPr i="1" dirty="0"/>
              <a:t> con la </a:t>
            </a:r>
            <a:r>
              <a:rPr i="1" dirty="0" err="1"/>
              <a:t>reclusione</a:t>
            </a:r>
            <a:r>
              <a:rPr i="1" dirty="0"/>
              <a:t> da </a:t>
            </a:r>
            <a:r>
              <a:rPr i="1" dirty="0" err="1"/>
              <a:t>venticinque</a:t>
            </a:r>
            <a:r>
              <a:rPr i="1" dirty="0"/>
              <a:t> a </a:t>
            </a:r>
            <a:r>
              <a:rPr i="1" dirty="0" err="1"/>
              <a:t>trenta</a:t>
            </a:r>
            <a:r>
              <a:rPr i="1" dirty="0"/>
              <a:t> </a:t>
            </a:r>
            <a:r>
              <a:rPr i="1" dirty="0" err="1"/>
              <a:t>anni</a:t>
            </a:r>
            <a:r>
              <a:rPr i="1" dirty="0"/>
              <a:t>.</a:t>
            </a:r>
            <a:endParaRPr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a:t>Se dal </a:t>
            </a:r>
            <a:r>
              <a:rPr dirty="0" err="1"/>
              <a:t>sequestro</a:t>
            </a:r>
            <a:r>
              <a:rPr dirty="0"/>
              <a:t> </a:t>
            </a:r>
            <a:r>
              <a:rPr b="1" dirty="0" err="1"/>
              <a:t>deriva</a:t>
            </a:r>
            <a:r>
              <a:rPr b="1" dirty="0"/>
              <a:t> </a:t>
            </a:r>
            <a:r>
              <a:rPr b="1" dirty="0" err="1"/>
              <a:t>comunque</a:t>
            </a:r>
            <a:r>
              <a:rPr b="1" dirty="0"/>
              <a:t> la </a:t>
            </a:r>
            <a:r>
              <a:rPr b="1" dirty="0" err="1"/>
              <a:t>morte</a:t>
            </a:r>
            <a:r>
              <a:rPr dirty="0"/>
              <a:t>, quale </a:t>
            </a:r>
            <a:r>
              <a:rPr dirty="0" err="1"/>
              <a:t>conseguenza</a:t>
            </a:r>
            <a:r>
              <a:rPr dirty="0"/>
              <a:t> non </a:t>
            </a:r>
            <a:r>
              <a:rPr dirty="0" err="1"/>
              <a:t>voluta</a:t>
            </a:r>
            <a:r>
              <a:rPr dirty="0"/>
              <a:t> dal </a:t>
            </a:r>
            <a:r>
              <a:rPr dirty="0" err="1"/>
              <a:t>reo</a:t>
            </a:r>
            <a:r>
              <a:rPr dirty="0"/>
              <a:t>, </a:t>
            </a:r>
            <a:r>
              <a:rPr b="1" dirty="0" err="1"/>
              <a:t>della</a:t>
            </a:r>
            <a:r>
              <a:rPr b="1" dirty="0"/>
              <a:t> persona </a:t>
            </a:r>
            <a:r>
              <a:rPr b="1" dirty="0" err="1"/>
              <a:t>sequestrata</a:t>
            </a:r>
            <a:r>
              <a:rPr dirty="0"/>
              <a:t>, </a:t>
            </a:r>
            <a:r>
              <a:rPr dirty="0" err="1"/>
              <a:t>il</a:t>
            </a:r>
            <a:r>
              <a:rPr dirty="0"/>
              <a:t> </a:t>
            </a:r>
            <a:r>
              <a:rPr dirty="0" err="1"/>
              <a:t>colpevole</a:t>
            </a:r>
            <a:r>
              <a:rPr dirty="0"/>
              <a:t> è </a:t>
            </a:r>
            <a:r>
              <a:rPr dirty="0" err="1"/>
              <a:t>punito</a:t>
            </a:r>
            <a:r>
              <a:rPr dirty="0"/>
              <a:t> con la </a:t>
            </a:r>
            <a:r>
              <a:rPr dirty="0" err="1"/>
              <a:t>reclusione</a:t>
            </a:r>
            <a:r>
              <a:rPr dirty="0"/>
              <a:t> di </a:t>
            </a:r>
            <a:r>
              <a:rPr dirty="0" err="1"/>
              <a:t>anni</a:t>
            </a:r>
            <a:r>
              <a:rPr dirty="0"/>
              <a:t> </a:t>
            </a:r>
            <a:r>
              <a:rPr dirty="0" err="1"/>
              <a:t>trenta</a:t>
            </a:r>
            <a:r>
              <a:rPr dirty="0"/>
              <a:t>.</a:t>
            </a:r>
            <a:endParaRPr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a:t>Se </a:t>
            </a:r>
            <a:r>
              <a:rPr dirty="0" err="1"/>
              <a:t>il</a:t>
            </a:r>
            <a:r>
              <a:rPr dirty="0"/>
              <a:t> </a:t>
            </a:r>
            <a:r>
              <a:rPr dirty="0" err="1"/>
              <a:t>colpevole</a:t>
            </a:r>
            <a:r>
              <a:rPr dirty="0"/>
              <a:t> </a:t>
            </a:r>
            <a:r>
              <a:rPr b="1" dirty="0" err="1"/>
              <a:t>cagiona</a:t>
            </a:r>
            <a:r>
              <a:rPr b="1" dirty="0"/>
              <a:t> la </a:t>
            </a:r>
            <a:r>
              <a:rPr b="1" dirty="0" err="1"/>
              <a:t>morte</a:t>
            </a:r>
            <a:r>
              <a:rPr b="1" dirty="0"/>
              <a:t> del </a:t>
            </a:r>
            <a:r>
              <a:rPr b="1" dirty="0" err="1"/>
              <a:t>sequestrato</a:t>
            </a:r>
            <a:r>
              <a:rPr b="1" dirty="0"/>
              <a:t> </a:t>
            </a:r>
            <a:r>
              <a:rPr dirty="0" err="1"/>
              <a:t>si</a:t>
            </a:r>
            <a:r>
              <a:rPr dirty="0"/>
              <a:t> </a:t>
            </a:r>
            <a:r>
              <a:rPr dirty="0" err="1"/>
              <a:t>applica</a:t>
            </a:r>
            <a:r>
              <a:rPr dirty="0"/>
              <a:t> la </a:t>
            </a:r>
            <a:r>
              <a:rPr dirty="0" err="1"/>
              <a:t>pena</a:t>
            </a:r>
            <a:r>
              <a:rPr dirty="0"/>
              <a:t> </a:t>
            </a:r>
            <a:r>
              <a:rPr dirty="0" err="1"/>
              <a:t>dell'ergastolo</a:t>
            </a:r>
            <a:r>
              <a:rPr dirty="0"/>
              <a:t>.</a:t>
            </a:r>
          </a:p>
          <a:p>
            <a:pPr algn="just">
              <a:lnSpc>
                <a:spcPct val="114000"/>
              </a:lnSpc>
              <a:spcBef>
                <a:spcPts val="600"/>
              </a:spcBef>
              <a:defRPr sz="1600" b="0" i="1">
                <a:solidFill>
                  <a:srgbClr val="FF0000"/>
                </a:solidFill>
                <a:latin typeface="Times New Roman"/>
                <a:ea typeface="Times New Roman"/>
                <a:cs typeface="Times New Roman"/>
                <a:sym typeface="Times New Roman"/>
              </a:defRPr>
            </a:pPr>
            <a:r>
              <a:rPr dirty="0"/>
              <a:t>(in </a:t>
            </a:r>
            <a:r>
              <a:rPr dirty="0" err="1"/>
              <a:t>ragione</a:t>
            </a:r>
            <a:r>
              <a:rPr dirty="0"/>
              <a:t> del principio </a:t>
            </a:r>
            <a:r>
              <a:rPr dirty="0" err="1"/>
              <a:t>dell’assorbimento</a:t>
            </a:r>
            <a:r>
              <a:rPr dirty="0"/>
              <a:t> non </a:t>
            </a:r>
            <a:r>
              <a:rPr dirty="0" err="1"/>
              <a:t>concorre</a:t>
            </a:r>
            <a:r>
              <a:rPr dirty="0"/>
              <a:t> </a:t>
            </a:r>
            <a:r>
              <a:rPr dirty="0" err="1"/>
              <a:t>il</a:t>
            </a:r>
            <a:r>
              <a:rPr dirty="0"/>
              <a:t> </a:t>
            </a:r>
            <a:r>
              <a:rPr dirty="0" err="1"/>
              <a:t>delitto</a:t>
            </a:r>
            <a:r>
              <a:rPr dirty="0"/>
              <a:t> ex art.575 cp.)</a:t>
            </a:r>
            <a:endParaRPr sz="2000" dirty="0">
              <a:latin typeface="Book Antiqua"/>
              <a:ea typeface="Book Antiqua"/>
              <a:cs typeface="Book Antiqua"/>
              <a:sym typeface="Book Antiqua"/>
            </a:endParaRPr>
          </a:p>
          <a:p>
            <a:pPr algn="just">
              <a:lnSpc>
                <a:spcPct val="114000"/>
              </a:lnSpc>
              <a:spcBef>
                <a:spcPts val="600"/>
              </a:spcBef>
              <a:defRPr sz="2000" b="0" i="1">
                <a:latin typeface="Book Antiqua"/>
                <a:ea typeface="Book Antiqua"/>
                <a:cs typeface="Book Antiqua"/>
                <a:sym typeface="Book Antiqua"/>
              </a:defRPr>
            </a:pPr>
            <a:r>
              <a:rPr dirty="0"/>
              <a:t>Al </a:t>
            </a:r>
            <a:r>
              <a:rPr b="1" dirty="0" err="1"/>
              <a:t>concorrente</a:t>
            </a:r>
            <a:r>
              <a:rPr dirty="0"/>
              <a:t> </a:t>
            </a:r>
            <a:r>
              <a:rPr dirty="0" err="1"/>
              <a:t>che</a:t>
            </a:r>
            <a:r>
              <a:rPr dirty="0"/>
              <a:t>, </a:t>
            </a:r>
            <a:r>
              <a:rPr dirty="0" err="1"/>
              <a:t>dissociandosi</a:t>
            </a:r>
            <a:r>
              <a:rPr dirty="0"/>
              <a:t> </a:t>
            </a:r>
            <a:r>
              <a:rPr dirty="0" err="1"/>
              <a:t>dagli</a:t>
            </a:r>
            <a:r>
              <a:rPr dirty="0"/>
              <a:t> </a:t>
            </a:r>
            <a:r>
              <a:rPr dirty="0" err="1"/>
              <a:t>altri</a:t>
            </a:r>
            <a:r>
              <a:rPr dirty="0"/>
              <a:t>, </a:t>
            </a:r>
            <a:r>
              <a:rPr dirty="0" err="1"/>
              <a:t>si</a:t>
            </a:r>
            <a:r>
              <a:rPr dirty="0"/>
              <a:t> </a:t>
            </a:r>
            <a:r>
              <a:rPr dirty="0" err="1"/>
              <a:t>adopera</a:t>
            </a:r>
            <a:r>
              <a:rPr dirty="0"/>
              <a:t> in modo </a:t>
            </a:r>
            <a:r>
              <a:rPr dirty="0" err="1"/>
              <a:t>che</a:t>
            </a:r>
            <a:r>
              <a:rPr dirty="0"/>
              <a:t> </a:t>
            </a:r>
            <a:r>
              <a:rPr dirty="0" err="1"/>
              <a:t>il</a:t>
            </a:r>
            <a:r>
              <a:rPr dirty="0"/>
              <a:t> </a:t>
            </a:r>
            <a:r>
              <a:rPr dirty="0" err="1"/>
              <a:t>soggetto</a:t>
            </a:r>
            <a:r>
              <a:rPr dirty="0"/>
              <a:t> </a:t>
            </a:r>
            <a:r>
              <a:rPr dirty="0" err="1"/>
              <a:t>passivo</a:t>
            </a:r>
            <a:r>
              <a:rPr dirty="0"/>
              <a:t> </a:t>
            </a:r>
            <a:r>
              <a:rPr dirty="0" err="1"/>
              <a:t>riacquisti</a:t>
            </a:r>
            <a:r>
              <a:rPr dirty="0"/>
              <a:t> la </a:t>
            </a:r>
            <a:r>
              <a:rPr dirty="0" err="1"/>
              <a:t>libertà</a:t>
            </a:r>
            <a:r>
              <a:rPr dirty="0"/>
              <a:t>, senza </a:t>
            </a:r>
            <a:r>
              <a:rPr dirty="0" err="1"/>
              <a:t>che</a:t>
            </a:r>
            <a:r>
              <a:rPr dirty="0"/>
              <a:t> tale </a:t>
            </a:r>
            <a:r>
              <a:rPr dirty="0" err="1"/>
              <a:t>risultato</a:t>
            </a:r>
            <a:r>
              <a:rPr dirty="0"/>
              <a:t> </a:t>
            </a:r>
            <a:r>
              <a:rPr dirty="0" err="1"/>
              <a:t>sia</a:t>
            </a:r>
            <a:r>
              <a:rPr dirty="0"/>
              <a:t> </a:t>
            </a:r>
            <a:r>
              <a:rPr dirty="0" err="1"/>
              <a:t>conseguenza</a:t>
            </a:r>
            <a:r>
              <a:rPr dirty="0"/>
              <a:t> del </a:t>
            </a:r>
            <a:r>
              <a:rPr dirty="0" err="1"/>
              <a:t>prezzo</a:t>
            </a:r>
            <a:r>
              <a:rPr dirty="0"/>
              <a:t> </a:t>
            </a:r>
            <a:r>
              <a:rPr dirty="0" err="1"/>
              <a:t>della</a:t>
            </a:r>
            <a:r>
              <a:rPr dirty="0"/>
              <a:t> </a:t>
            </a:r>
            <a:r>
              <a:rPr dirty="0" err="1"/>
              <a:t>liberazione</a:t>
            </a:r>
            <a:r>
              <a:rPr dirty="0"/>
              <a:t>, </a:t>
            </a:r>
            <a:r>
              <a:rPr dirty="0" err="1"/>
              <a:t>si</a:t>
            </a:r>
            <a:r>
              <a:rPr dirty="0"/>
              <a:t> </a:t>
            </a:r>
            <a:r>
              <a:rPr dirty="0" err="1"/>
              <a:t>applicano</a:t>
            </a:r>
            <a:r>
              <a:rPr dirty="0"/>
              <a:t> le </a:t>
            </a:r>
            <a:r>
              <a:rPr dirty="0" err="1"/>
              <a:t>pene</a:t>
            </a:r>
            <a:r>
              <a:rPr dirty="0"/>
              <a:t> </a:t>
            </a:r>
            <a:r>
              <a:rPr dirty="0" err="1"/>
              <a:t>previste</a:t>
            </a:r>
            <a:r>
              <a:rPr dirty="0"/>
              <a:t> </a:t>
            </a:r>
            <a:r>
              <a:rPr dirty="0" err="1"/>
              <a:t>dall'articolo</a:t>
            </a:r>
            <a:r>
              <a:rPr dirty="0"/>
              <a:t> 605 (</a:t>
            </a:r>
            <a:r>
              <a:rPr dirty="0" err="1"/>
              <a:t>sequestro</a:t>
            </a:r>
            <a:r>
              <a:rPr dirty="0"/>
              <a:t> di persona). Se </a:t>
            </a:r>
            <a:r>
              <a:rPr dirty="0" err="1"/>
              <a:t>tuttavia</a:t>
            </a:r>
            <a:r>
              <a:rPr dirty="0"/>
              <a:t> </a:t>
            </a:r>
            <a:r>
              <a:rPr dirty="0" err="1"/>
              <a:t>il</a:t>
            </a:r>
            <a:r>
              <a:rPr dirty="0"/>
              <a:t> </a:t>
            </a:r>
            <a:r>
              <a:rPr dirty="0" err="1"/>
              <a:t>soggetto</a:t>
            </a:r>
            <a:r>
              <a:rPr dirty="0"/>
              <a:t> </a:t>
            </a:r>
            <a:r>
              <a:rPr dirty="0" err="1"/>
              <a:t>passivo</a:t>
            </a:r>
            <a:r>
              <a:rPr dirty="0"/>
              <a:t> </a:t>
            </a:r>
            <a:r>
              <a:rPr dirty="0" err="1"/>
              <a:t>muore</a:t>
            </a:r>
            <a:r>
              <a:rPr dirty="0"/>
              <a:t>, in </a:t>
            </a:r>
            <a:r>
              <a:rPr dirty="0" err="1"/>
              <a:t>conseguenza</a:t>
            </a:r>
            <a:r>
              <a:rPr dirty="0"/>
              <a:t> del </a:t>
            </a:r>
            <a:r>
              <a:rPr dirty="0" err="1"/>
              <a:t>sequestro</a:t>
            </a:r>
            <a:r>
              <a:rPr dirty="0"/>
              <a:t>, </a:t>
            </a:r>
            <a:r>
              <a:rPr dirty="0" err="1"/>
              <a:t>dopo</a:t>
            </a:r>
            <a:r>
              <a:rPr dirty="0"/>
              <a:t> la </a:t>
            </a:r>
            <a:r>
              <a:rPr dirty="0" err="1"/>
              <a:t>liberazione</a:t>
            </a:r>
            <a:r>
              <a:rPr dirty="0"/>
              <a:t>, la </a:t>
            </a:r>
            <a:r>
              <a:rPr dirty="0" err="1"/>
              <a:t>pena</a:t>
            </a:r>
            <a:r>
              <a:rPr dirty="0"/>
              <a:t> è </a:t>
            </a:r>
            <a:r>
              <a:rPr dirty="0" err="1"/>
              <a:t>della</a:t>
            </a:r>
            <a:r>
              <a:rPr dirty="0"/>
              <a:t> </a:t>
            </a:r>
            <a:r>
              <a:rPr dirty="0" err="1"/>
              <a:t>reclusione</a:t>
            </a:r>
            <a:r>
              <a:rPr dirty="0"/>
              <a:t> da sei a </a:t>
            </a:r>
            <a:r>
              <a:rPr dirty="0" err="1"/>
              <a:t>quindici</a:t>
            </a:r>
            <a:r>
              <a:rPr dirty="0"/>
              <a:t> </a:t>
            </a:r>
            <a:r>
              <a:rPr dirty="0" err="1"/>
              <a:t>anni</a:t>
            </a:r>
            <a:r>
              <a:rPr dirty="0"/>
              <a:t>. …</a:t>
            </a:r>
          </a:p>
        </p:txBody>
      </p:sp>
      <p:pic>
        <p:nvPicPr>
          <p:cNvPr id="396"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397"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Sequestro di persona a scopo di estorsione</a:t>
            </a:r>
          </a:p>
        </p:txBody>
      </p:sp>
    </p:spTree>
  </p:cSld>
  <p:clrMapOvr>
    <a:masterClrMapping/>
  </p:clrMapOvr>
  <p:transition spd="me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 name="CasellaDiTesto 1"/>
          <p:cNvSpPr txBox="1"/>
          <p:nvPr/>
        </p:nvSpPr>
        <p:spPr>
          <a:xfrm>
            <a:off x="229859" y="980728"/>
            <a:ext cx="8684281" cy="590930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C00000"/>
                </a:solidFill>
                <a:latin typeface="Book Antiqua"/>
                <a:ea typeface="Book Antiqua"/>
                <a:cs typeface="Book Antiqua"/>
                <a:sym typeface="Book Antiqua"/>
              </a:defRPr>
            </a:pPr>
            <a:r>
              <a:t>Art. 630 c.p. Sequestro di persona a scopo di estorsione</a:t>
            </a:r>
            <a:endParaRPr>
              <a:latin typeface="Times New Roman"/>
              <a:ea typeface="Times New Roman"/>
              <a:cs typeface="Times New Roman"/>
              <a:sym typeface="Times New Roman"/>
            </a:endParaRPr>
          </a:p>
          <a:p>
            <a:pPr algn="just">
              <a:lnSpc>
                <a:spcPct val="114000"/>
              </a:lnSpc>
              <a:spcBef>
                <a:spcPts val="600"/>
              </a:spcBef>
              <a:defRPr sz="2000" b="0">
                <a:latin typeface="Book Antiqua"/>
                <a:ea typeface="Book Antiqua"/>
                <a:cs typeface="Book Antiqua"/>
                <a:sym typeface="Book Antiqua"/>
              </a:defRPr>
            </a:pPr>
            <a:r>
              <a:t>… </a:t>
            </a:r>
            <a:r>
              <a:rPr i="1"/>
              <a:t>Nei confronti del </a:t>
            </a:r>
            <a:r>
              <a:rPr b="1" i="1"/>
              <a:t>concorrente</a:t>
            </a:r>
            <a:r>
              <a:rPr i="1"/>
              <a:t> che, dissociandosi dagli altri, si adopera, al di fuori del caso previsto dal comma precedente, per evitare che l'attività delittuosa sia portata a conseguenze ulteriori ovvero aiuta concretamente l'autorità di polizia o l'autorità giudiziaria nella raccolta di prove decisive per l'individuazione o la cattura dei concorrenti, la pena dell'ergastolo è sostituita da quella della reclusione da dodici a vent'anni e le altre pene sono diminuite da un terzo a due terzi.</a:t>
            </a:r>
            <a:endParaRPr>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t>Quando ricorre </a:t>
            </a:r>
            <a:r>
              <a:rPr b="1"/>
              <a:t>una circostanza attenuante</a:t>
            </a:r>
            <a:r>
              <a:t>, alla pena prevista dal secondo comma è sostituita la reclusione da venti a ventiquattro anni; alla pena prevista dal terzo comma è sostituita la reclusione da ventiquattro a trenta anni. Se concorrono più circostanze attenuanti, la pena da applicare per effetto delle diminuzioni non può essere inferiore a dieci anni, nell'ipotesi prevista dal secondo comma, ed a quindici anni, nell'ipotesi prevista dal terzo comma.</a:t>
            </a:r>
            <a:endParaRPr>
              <a:latin typeface="Times New Roman"/>
              <a:ea typeface="Times New Roman"/>
              <a:cs typeface="Times New Roman"/>
              <a:sym typeface="Times New Roman"/>
            </a:endParaRPr>
          </a:p>
          <a:p>
            <a:pPr algn="just">
              <a:lnSpc>
                <a:spcPct val="114000"/>
              </a:lnSpc>
              <a:spcBef>
                <a:spcPts val="600"/>
              </a:spcBef>
              <a:defRPr sz="2000" i="1">
                <a:latin typeface="Book Antiqua"/>
                <a:ea typeface="Book Antiqua"/>
                <a:cs typeface="Book Antiqua"/>
                <a:sym typeface="Book Antiqua"/>
              </a:defRPr>
            </a:pPr>
            <a:r>
              <a:t>I limiti di pena preveduti nel comma precedente possono essere superati allorché ricorrono le circostanze attenuanti di cui al quinto comma del presente articolo</a:t>
            </a:r>
            <a:r>
              <a:rPr b="0"/>
              <a:t>».</a:t>
            </a:r>
          </a:p>
        </p:txBody>
      </p:sp>
      <p:pic>
        <p:nvPicPr>
          <p:cNvPr id="400"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01"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Sequestro di persona a scopo di estorsione</a:t>
            </a:r>
          </a:p>
        </p:txBody>
      </p:sp>
    </p:spTree>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Rettangolo 4"/>
          <p:cNvSpPr txBox="1"/>
          <p:nvPr/>
        </p:nvSpPr>
        <p:spPr>
          <a:xfrm>
            <a:off x="45719" y="836713"/>
            <a:ext cx="9052561" cy="592687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rPr dirty="0"/>
              <a:t>Il </a:t>
            </a:r>
            <a:r>
              <a:rPr dirty="0" err="1"/>
              <a:t>delitto</a:t>
            </a:r>
            <a:r>
              <a:rPr dirty="0"/>
              <a:t> in </a:t>
            </a:r>
            <a:r>
              <a:rPr dirty="0" err="1"/>
              <a:t>esame</a:t>
            </a:r>
            <a:r>
              <a:rPr dirty="0"/>
              <a:t> </a:t>
            </a:r>
            <a:r>
              <a:rPr dirty="0" err="1"/>
              <a:t>si</a:t>
            </a:r>
            <a:r>
              <a:rPr dirty="0"/>
              <a:t> </a:t>
            </a:r>
            <a:r>
              <a:rPr dirty="0" err="1"/>
              <a:t>presenta</a:t>
            </a:r>
            <a:r>
              <a:rPr dirty="0"/>
              <a:t> come </a:t>
            </a:r>
            <a:r>
              <a:rPr b="1" dirty="0">
                <a:solidFill>
                  <a:srgbClr val="0070C0"/>
                </a:solidFill>
              </a:rPr>
              <a:t>PLURIOFFENSIVO</a:t>
            </a:r>
            <a:r>
              <a:rPr dirty="0"/>
              <a:t> (Cass. I, 15/11/1977), in </a:t>
            </a:r>
            <a:r>
              <a:rPr dirty="0" err="1"/>
              <a:t>quanto</a:t>
            </a:r>
            <a:r>
              <a:rPr dirty="0"/>
              <a:t> </a:t>
            </a:r>
            <a:r>
              <a:rPr dirty="0" err="1"/>
              <a:t>lede</a:t>
            </a:r>
            <a:r>
              <a:rPr dirty="0"/>
              <a:t> </a:t>
            </a:r>
            <a:r>
              <a:rPr dirty="0" err="1"/>
              <a:t>sia</a:t>
            </a:r>
            <a:r>
              <a:rPr dirty="0"/>
              <a:t> </a:t>
            </a:r>
            <a:r>
              <a:rPr b="1" dirty="0" err="1">
                <a:solidFill>
                  <a:srgbClr val="C00000"/>
                </a:solidFill>
              </a:rPr>
              <a:t>l’interesse</a:t>
            </a:r>
            <a:r>
              <a:rPr b="1" dirty="0">
                <a:solidFill>
                  <a:srgbClr val="C00000"/>
                </a:solidFill>
              </a:rPr>
              <a:t> </a:t>
            </a:r>
            <a:r>
              <a:rPr b="1" dirty="0" err="1">
                <a:solidFill>
                  <a:srgbClr val="C00000"/>
                </a:solidFill>
              </a:rPr>
              <a:t>all’inviolabilità</a:t>
            </a:r>
            <a:r>
              <a:rPr b="1" dirty="0">
                <a:solidFill>
                  <a:srgbClr val="C00000"/>
                </a:solidFill>
              </a:rPr>
              <a:t> del </a:t>
            </a:r>
            <a:r>
              <a:rPr b="1" dirty="0" err="1">
                <a:solidFill>
                  <a:srgbClr val="C00000"/>
                </a:solidFill>
              </a:rPr>
              <a:t>patrimonio</a:t>
            </a:r>
            <a:r>
              <a:rPr dirty="0"/>
              <a:t>, </a:t>
            </a:r>
            <a:r>
              <a:rPr dirty="0" err="1"/>
              <a:t>sia</a:t>
            </a:r>
            <a:r>
              <a:rPr dirty="0"/>
              <a:t> la </a:t>
            </a:r>
            <a:r>
              <a:rPr b="1" dirty="0" err="1">
                <a:solidFill>
                  <a:srgbClr val="C00000"/>
                </a:solidFill>
              </a:rPr>
              <a:t>libertà</a:t>
            </a:r>
            <a:r>
              <a:rPr b="1" dirty="0">
                <a:solidFill>
                  <a:srgbClr val="C00000"/>
                </a:solidFill>
              </a:rPr>
              <a:t> </a:t>
            </a:r>
            <a:r>
              <a:rPr b="1" dirty="0" err="1">
                <a:solidFill>
                  <a:srgbClr val="C00000"/>
                </a:solidFill>
              </a:rPr>
              <a:t>personale</a:t>
            </a:r>
            <a:r>
              <a:rPr b="1" dirty="0">
                <a:solidFill>
                  <a:srgbClr val="C00000"/>
                </a:solidFill>
              </a:rPr>
              <a:t> </a:t>
            </a:r>
            <a:r>
              <a:rPr dirty="0" err="1"/>
              <a:t>intesa</a:t>
            </a:r>
            <a:r>
              <a:rPr dirty="0"/>
              <a:t> come </a:t>
            </a:r>
            <a:r>
              <a:rPr dirty="0" err="1"/>
              <a:t>libertà</a:t>
            </a:r>
            <a:r>
              <a:rPr dirty="0"/>
              <a:t> di </a:t>
            </a:r>
            <a:r>
              <a:rPr dirty="0" err="1"/>
              <a:t>muoversi</a:t>
            </a:r>
            <a:r>
              <a:rPr dirty="0"/>
              <a:t> </a:t>
            </a:r>
            <a:r>
              <a:rPr dirty="0" err="1"/>
              <a:t>nello</a:t>
            </a:r>
            <a:r>
              <a:rPr dirty="0"/>
              <a:t> </a:t>
            </a:r>
            <a:r>
              <a:rPr dirty="0" err="1"/>
              <a:t>spazio</a:t>
            </a:r>
            <a:r>
              <a:rPr dirty="0"/>
              <a:t> secondo le </a:t>
            </a:r>
            <a:r>
              <a:rPr dirty="0" err="1"/>
              <a:t>proprie</a:t>
            </a:r>
            <a:r>
              <a:rPr dirty="0"/>
              <a:t> </a:t>
            </a:r>
            <a:r>
              <a:rPr dirty="0" err="1"/>
              <a:t>autonome</a:t>
            </a:r>
            <a:r>
              <a:rPr dirty="0"/>
              <a:t> </a:t>
            </a:r>
            <a:r>
              <a:rPr dirty="0" err="1"/>
              <a:t>determinazioni</a:t>
            </a:r>
            <a:r>
              <a:rPr dirty="0"/>
              <a:t>. </a:t>
            </a:r>
          </a:p>
          <a:p>
            <a:pPr algn="just">
              <a:lnSpc>
                <a:spcPct val="114000"/>
              </a:lnSpc>
              <a:spcBef>
                <a:spcPts val="1200"/>
              </a:spcBef>
              <a:defRPr sz="2200" u="sng">
                <a:latin typeface="Times New Roman"/>
                <a:ea typeface="Times New Roman"/>
                <a:cs typeface="Times New Roman"/>
                <a:sym typeface="Times New Roman"/>
              </a:defRPr>
            </a:pPr>
            <a:r>
              <a:rPr dirty="0"/>
              <a:t>ELEMENTO OGGETTIVO</a:t>
            </a:r>
            <a:r>
              <a:rPr b="0" u="none" dirty="0"/>
              <a:t>: </a:t>
            </a:r>
            <a:r>
              <a:rPr b="0" u="none" dirty="0" err="1"/>
              <a:t>consiste</a:t>
            </a:r>
            <a:r>
              <a:rPr b="0" u="none" dirty="0"/>
              <a:t> </a:t>
            </a:r>
            <a:r>
              <a:rPr b="0" u="none" dirty="0" err="1"/>
              <a:t>nel</a:t>
            </a:r>
            <a:r>
              <a:rPr b="0" u="none" dirty="0"/>
              <a:t> </a:t>
            </a:r>
            <a:r>
              <a:rPr u="none" dirty="0" err="1">
                <a:solidFill>
                  <a:srgbClr val="C00000"/>
                </a:solidFill>
              </a:rPr>
              <a:t>privare</a:t>
            </a:r>
            <a:r>
              <a:rPr u="none" dirty="0">
                <a:solidFill>
                  <a:srgbClr val="C00000"/>
                </a:solidFill>
              </a:rPr>
              <a:t> la </a:t>
            </a:r>
            <a:r>
              <a:rPr u="none" dirty="0" err="1">
                <a:solidFill>
                  <a:srgbClr val="C00000"/>
                </a:solidFill>
              </a:rPr>
              <a:t>libertà</a:t>
            </a:r>
            <a:r>
              <a:rPr u="none" dirty="0">
                <a:solidFill>
                  <a:srgbClr val="C00000"/>
                </a:solidFill>
              </a:rPr>
              <a:t> </a:t>
            </a:r>
            <a:r>
              <a:rPr u="none" dirty="0" err="1">
                <a:solidFill>
                  <a:srgbClr val="C00000"/>
                </a:solidFill>
              </a:rPr>
              <a:t>personale</a:t>
            </a:r>
            <a:r>
              <a:rPr u="none" dirty="0">
                <a:solidFill>
                  <a:srgbClr val="C00000"/>
                </a:solidFill>
              </a:rPr>
              <a:t> </a:t>
            </a:r>
            <a:r>
              <a:rPr b="0" u="none" dirty="0"/>
              <a:t>al fine di </a:t>
            </a:r>
            <a:r>
              <a:rPr b="0" u="none" dirty="0" err="1"/>
              <a:t>ottenere</a:t>
            </a:r>
            <a:r>
              <a:rPr b="0" u="none" dirty="0"/>
              <a:t> un </a:t>
            </a:r>
            <a:r>
              <a:rPr b="0" u="none" dirty="0" err="1"/>
              <a:t>ingiusto</a:t>
            </a:r>
            <a:r>
              <a:rPr b="0" u="none" dirty="0"/>
              <a:t> </a:t>
            </a:r>
            <a:r>
              <a:rPr b="0" u="none" dirty="0" err="1"/>
              <a:t>profitto</a:t>
            </a:r>
            <a:r>
              <a:rPr b="0" u="none" dirty="0"/>
              <a:t> come </a:t>
            </a:r>
            <a:r>
              <a:rPr b="0" u="none" dirty="0" err="1"/>
              <a:t>prezzo</a:t>
            </a:r>
            <a:r>
              <a:rPr b="0" u="none" dirty="0"/>
              <a:t> </a:t>
            </a:r>
            <a:r>
              <a:rPr b="0" u="none" dirty="0" err="1"/>
              <a:t>della</a:t>
            </a:r>
            <a:r>
              <a:rPr b="0" u="none" dirty="0"/>
              <a:t> </a:t>
            </a:r>
            <a:r>
              <a:rPr b="0" u="none" dirty="0" err="1"/>
              <a:t>liberazione</a:t>
            </a:r>
            <a:r>
              <a:rPr b="0" u="none" dirty="0"/>
              <a:t>.</a:t>
            </a:r>
          </a:p>
          <a:p>
            <a:pPr algn="just">
              <a:lnSpc>
                <a:spcPct val="114000"/>
              </a:lnSpc>
              <a:spcBef>
                <a:spcPts val="1200"/>
              </a:spcBef>
              <a:defRPr sz="2200" b="0">
                <a:latin typeface="Times New Roman"/>
                <a:ea typeface="Times New Roman"/>
                <a:cs typeface="Times New Roman"/>
                <a:sym typeface="Times New Roman"/>
              </a:defRPr>
            </a:pPr>
            <a:r>
              <a:rPr dirty="0"/>
              <a:t>Per </a:t>
            </a:r>
            <a:r>
              <a:rPr dirty="0" err="1"/>
              <a:t>quanto</a:t>
            </a:r>
            <a:r>
              <a:rPr dirty="0"/>
              <a:t> </a:t>
            </a:r>
            <a:r>
              <a:rPr dirty="0" err="1"/>
              <a:t>riguarda</a:t>
            </a:r>
            <a:r>
              <a:rPr dirty="0"/>
              <a:t> </a:t>
            </a:r>
            <a:r>
              <a:rPr dirty="0" err="1"/>
              <a:t>questa</a:t>
            </a:r>
            <a:r>
              <a:rPr dirty="0"/>
              <a:t> </a:t>
            </a:r>
            <a:r>
              <a:rPr dirty="0" err="1"/>
              <a:t>figura</a:t>
            </a:r>
            <a:r>
              <a:rPr dirty="0"/>
              <a:t> di </a:t>
            </a:r>
            <a:r>
              <a:rPr dirty="0" err="1"/>
              <a:t>reato</a:t>
            </a:r>
            <a:r>
              <a:rPr dirty="0"/>
              <a:t>, la </a:t>
            </a:r>
            <a:r>
              <a:rPr dirty="0" err="1"/>
              <a:t>limitazione</a:t>
            </a:r>
            <a:r>
              <a:rPr dirty="0"/>
              <a:t> </a:t>
            </a:r>
            <a:r>
              <a:rPr dirty="0" err="1"/>
              <a:t>della</a:t>
            </a:r>
            <a:r>
              <a:rPr dirty="0"/>
              <a:t> </a:t>
            </a:r>
            <a:r>
              <a:rPr dirty="0" err="1"/>
              <a:t>libertà</a:t>
            </a:r>
            <a:r>
              <a:rPr dirty="0"/>
              <a:t> </a:t>
            </a:r>
            <a:r>
              <a:rPr dirty="0" err="1"/>
              <a:t>personale</a:t>
            </a:r>
            <a:r>
              <a:rPr dirty="0"/>
              <a:t> </a:t>
            </a:r>
            <a:r>
              <a:rPr dirty="0" err="1"/>
              <a:t>della</a:t>
            </a:r>
            <a:r>
              <a:rPr dirty="0"/>
              <a:t> </a:t>
            </a:r>
            <a:r>
              <a:rPr dirty="0" err="1"/>
              <a:t>vittima</a:t>
            </a:r>
            <a:r>
              <a:rPr dirty="0"/>
              <a:t> </a:t>
            </a:r>
            <a:r>
              <a:rPr b="1" u="sng" dirty="0" err="1">
                <a:solidFill>
                  <a:srgbClr val="C00000"/>
                </a:solidFill>
              </a:rPr>
              <a:t>può</a:t>
            </a:r>
            <a:r>
              <a:rPr b="1" u="sng" dirty="0">
                <a:solidFill>
                  <a:srgbClr val="C00000"/>
                </a:solidFill>
              </a:rPr>
              <a:t> </a:t>
            </a:r>
            <a:r>
              <a:rPr b="1" u="sng" dirty="0" err="1">
                <a:solidFill>
                  <a:srgbClr val="C00000"/>
                </a:solidFill>
              </a:rPr>
              <a:t>realizzarsi</a:t>
            </a:r>
            <a:r>
              <a:rPr b="1" u="sng" dirty="0">
                <a:solidFill>
                  <a:srgbClr val="C00000"/>
                </a:solidFill>
              </a:rPr>
              <a:t>, </a:t>
            </a:r>
            <a:r>
              <a:rPr b="1" u="sng" dirty="0" err="1">
                <a:solidFill>
                  <a:srgbClr val="C00000"/>
                </a:solidFill>
              </a:rPr>
              <a:t>oltre</a:t>
            </a:r>
            <a:r>
              <a:rPr b="1" u="sng" dirty="0">
                <a:solidFill>
                  <a:srgbClr val="C00000"/>
                </a:solidFill>
              </a:rPr>
              <a:t> </a:t>
            </a:r>
            <a:r>
              <a:rPr b="1" u="sng" dirty="0" err="1">
                <a:solidFill>
                  <a:srgbClr val="C00000"/>
                </a:solidFill>
              </a:rPr>
              <a:t>che</a:t>
            </a:r>
            <a:r>
              <a:rPr b="1" u="sng" dirty="0">
                <a:solidFill>
                  <a:srgbClr val="C00000"/>
                </a:solidFill>
              </a:rPr>
              <a:t> con la </a:t>
            </a:r>
            <a:r>
              <a:rPr b="1" u="sng" dirty="0" err="1">
                <a:solidFill>
                  <a:srgbClr val="C00000"/>
                </a:solidFill>
              </a:rPr>
              <a:t>coercizione</a:t>
            </a:r>
            <a:r>
              <a:rPr b="1" u="sng" dirty="0">
                <a:solidFill>
                  <a:srgbClr val="C00000"/>
                </a:solidFill>
              </a:rPr>
              <a:t> </a:t>
            </a:r>
            <a:r>
              <a:rPr b="1" u="sng" dirty="0" err="1">
                <a:solidFill>
                  <a:srgbClr val="C00000"/>
                </a:solidFill>
              </a:rPr>
              <a:t>fisica</a:t>
            </a:r>
            <a:r>
              <a:rPr b="1" u="sng" dirty="0">
                <a:solidFill>
                  <a:srgbClr val="C00000"/>
                </a:solidFill>
              </a:rPr>
              <a:t>, </a:t>
            </a:r>
            <a:r>
              <a:rPr b="1" u="sng" dirty="0" err="1">
                <a:solidFill>
                  <a:srgbClr val="7030A0"/>
                </a:solidFill>
              </a:rPr>
              <a:t>anche</a:t>
            </a:r>
            <a:r>
              <a:rPr b="1" u="sng" dirty="0">
                <a:solidFill>
                  <a:srgbClr val="7030A0"/>
                </a:solidFill>
              </a:rPr>
              <a:t> </a:t>
            </a:r>
            <a:r>
              <a:rPr b="1" u="sng" dirty="0" err="1">
                <a:solidFill>
                  <a:srgbClr val="7030A0"/>
                </a:solidFill>
              </a:rPr>
              <a:t>attraverso</a:t>
            </a:r>
            <a:r>
              <a:rPr b="1" u="sng" dirty="0">
                <a:solidFill>
                  <a:srgbClr val="7030A0"/>
                </a:solidFill>
              </a:rPr>
              <a:t> </a:t>
            </a:r>
            <a:r>
              <a:rPr b="1" u="sng" dirty="0" err="1">
                <a:solidFill>
                  <a:srgbClr val="7030A0"/>
                </a:solidFill>
              </a:rPr>
              <a:t>l’inganno</a:t>
            </a:r>
            <a:r>
              <a:rPr dirty="0">
                <a:solidFill>
                  <a:srgbClr val="7030A0"/>
                </a:solidFill>
              </a:rPr>
              <a:t>, </a:t>
            </a:r>
            <a:r>
              <a:rPr dirty="0" err="1"/>
              <a:t>sempre</a:t>
            </a:r>
            <a:r>
              <a:rPr dirty="0"/>
              <a:t> </a:t>
            </a:r>
            <a:r>
              <a:rPr dirty="0" err="1"/>
              <a:t>che</a:t>
            </a:r>
            <a:r>
              <a:rPr dirty="0"/>
              <a:t> </a:t>
            </a:r>
            <a:r>
              <a:rPr dirty="0" err="1"/>
              <a:t>questo</a:t>
            </a:r>
            <a:r>
              <a:rPr dirty="0"/>
              <a:t> </a:t>
            </a:r>
            <a:r>
              <a:rPr dirty="0" err="1"/>
              <a:t>sia</a:t>
            </a:r>
            <a:r>
              <a:rPr dirty="0"/>
              <a:t> </a:t>
            </a:r>
            <a:r>
              <a:rPr dirty="0" err="1"/>
              <a:t>idoneo</a:t>
            </a:r>
            <a:r>
              <a:rPr dirty="0"/>
              <a:t> a </a:t>
            </a:r>
            <a:r>
              <a:rPr dirty="0" err="1"/>
              <a:t>creare</a:t>
            </a:r>
            <a:r>
              <a:rPr dirty="0"/>
              <a:t> </a:t>
            </a:r>
            <a:r>
              <a:rPr dirty="0" err="1"/>
              <a:t>nel</a:t>
            </a:r>
            <a:r>
              <a:rPr dirty="0"/>
              <a:t> </a:t>
            </a:r>
            <a:r>
              <a:rPr dirty="0" err="1"/>
              <a:t>soggetto</a:t>
            </a:r>
            <a:r>
              <a:rPr dirty="0"/>
              <a:t> </a:t>
            </a:r>
            <a:r>
              <a:rPr dirty="0" err="1"/>
              <a:t>passivo</a:t>
            </a:r>
            <a:r>
              <a:rPr dirty="0"/>
              <a:t> </a:t>
            </a:r>
            <a:r>
              <a:rPr u="sng" dirty="0" err="1"/>
              <a:t>l’apparenza</a:t>
            </a:r>
            <a:r>
              <a:rPr u="sng" dirty="0"/>
              <a:t> di un </a:t>
            </a:r>
            <a:r>
              <a:rPr u="sng" dirty="0" err="1"/>
              <a:t>pericolo</a:t>
            </a:r>
            <a:r>
              <a:rPr u="sng" dirty="0"/>
              <a:t> per la </a:t>
            </a:r>
            <a:r>
              <a:rPr u="sng" dirty="0" err="1"/>
              <a:t>sua</a:t>
            </a:r>
            <a:r>
              <a:rPr u="sng" dirty="0"/>
              <a:t> </a:t>
            </a:r>
            <a:r>
              <a:rPr u="sng" dirty="0" err="1"/>
              <a:t>incolumità</a:t>
            </a:r>
            <a:r>
              <a:rPr u="sng" dirty="0"/>
              <a:t> o per </a:t>
            </a:r>
            <a:r>
              <a:rPr u="sng" dirty="0" err="1"/>
              <a:t>il</a:t>
            </a:r>
            <a:r>
              <a:rPr u="sng" dirty="0"/>
              <a:t> </a:t>
            </a:r>
            <a:r>
              <a:rPr u="sng" dirty="0" err="1"/>
              <a:t>suo</a:t>
            </a:r>
            <a:r>
              <a:rPr u="sng" dirty="0"/>
              <a:t> </a:t>
            </a:r>
            <a:r>
              <a:rPr u="sng" dirty="0" err="1"/>
              <a:t>patrimonio</a:t>
            </a:r>
            <a:r>
              <a:rPr dirty="0"/>
              <a:t>, tale da </a:t>
            </a:r>
            <a:r>
              <a:rPr dirty="0" err="1"/>
              <a:t>indurlo</a:t>
            </a:r>
            <a:r>
              <a:rPr dirty="0"/>
              <a:t> ad </a:t>
            </a:r>
            <a:r>
              <a:rPr dirty="0" err="1"/>
              <a:t>autolimitarsi</a:t>
            </a:r>
            <a:r>
              <a:rPr dirty="0"/>
              <a:t>.</a:t>
            </a:r>
          </a:p>
          <a:p>
            <a:pPr algn="just">
              <a:lnSpc>
                <a:spcPct val="114000"/>
              </a:lnSpc>
              <a:spcBef>
                <a:spcPts val="1200"/>
              </a:spcBef>
              <a:defRPr sz="2200" u="sng">
                <a:latin typeface="Times New Roman"/>
                <a:ea typeface="Times New Roman"/>
                <a:cs typeface="Times New Roman"/>
                <a:sym typeface="Times New Roman"/>
              </a:defRPr>
            </a:pPr>
            <a:r>
              <a:rPr dirty="0"/>
              <a:t>ELEMENTO SOGGETTIVO</a:t>
            </a:r>
            <a:r>
              <a:rPr u="none" dirty="0"/>
              <a:t> </a:t>
            </a:r>
            <a:r>
              <a:rPr b="0" u="none" dirty="0"/>
              <a:t>è </a:t>
            </a:r>
            <a:r>
              <a:rPr b="0" u="none" dirty="0" err="1"/>
              <a:t>il</a:t>
            </a:r>
            <a:r>
              <a:rPr b="0" u="none" dirty="0"/>
              <a:t> </a:t>
            </a:r>
            <a:r>
              <a:rPr u="none" dirty="0">
                <a:solidFill>
                  <a:srgbClr val="C00000"/>
                </a:solidFill>
              </a:rPr>
              <a:t>DOLO SPECIFICO</a:t>
            </a:r>
            <a:r>
              <a:rPr b="0" u="none" dirty="0"/>
              <a:t>, </a:t>
            </a:r>
            <a:r>
              <a:rPr b="0" u="none" dirty="0" err="1"/>
              <a:t>venendo</a:t>
            </a:r>
            <a:r>
              <a:rPr b="0" u="none" dirty="0"/>
              <a:t> in </a:t>
            </a:r>
            <a:r>
              <a:rPr b="0" u="none" dirty="0" err="1"/>
              <a:t>rilievo</a:t>
            </a:r>
            <a:r>
              <a:rPr b="0" u="none" dirty="0"/>
              <a:t> </a:t>
            </a:r>
            <a:r>
              <a:rPr b="0" u="none" dirty="0" err="1"/>
              <a:t>il</a:t>
            </a:r>
            <a:r>
              <a:rPr b="0" u="none" dirty="0"/>
              <a:t> fine di </a:t>
            </a:r>
            <a:r>
              <a:rPr b="0" u="none" dirty="0" err="1"/>
              <a:t>conseguire</a:t>
            </a:r>
            <a:r>
              <a:rPr b="0" u="none" dirty="0"/>
              <a:t> un </a:t>
            </a:r>
            <a:r>
              <a:rPr u="none" dirty="0" err="1">
                <a:solidFill>
                  <a:srgbClr val="C00000"/>
                </a:solidFill>
              </a:rPr>
              <a:t>ingiusto</a:t>
            </a:r>
            <a:r>
              <a:rPr u="none" dirty="0">
                <a:solidFill>
                  <a:srgbClr val="C00000"/>
                </a:solidFill>
              </a:rPr>
              <a:t> </a:t>
            </a:r>
            <a:r>
              <a:rPr u="none" dirty="0" err="1">
                <a:solidFill>
                  <a:srgbClr val="C00000"/>
                </a:solidFill>
              </a:rPr>
              <a:t>profitto</a:t>
            </a:r>
            <a:r>
              <a:rPr u="none" dirty="0">
                <a:solidFill>
                  <a:srgbClr val="C00000"/>
                </a:solidFill>
              </a:rPr>
              <a:t> </a:t>
            </a:r>
            <a:r>
              <a:rPr b="0" u="none" dirty="0" err="1"/>
              <a:t>collegato</a:t>
            </a:r>
            <a:r>
              <a:rPr b="0" u="none" dirty="0"/>
              <a:t> </a:t>
            </a:r>
            <a:r>
              <a:rPr b="0" u="none" dirty="0" err="1"/>
              <a:t>casualmente</a:t>
            </a:r>
            <a:r>
              <a:rPr b="0" u="none" dirty="0"/>
              <a:t> </a:t>
            </a:r>
            <a:r>
              <a:rPr b="0" u="none" dirty="0" err="1"/>
              <a:t>alla</a:t>
            </a:r>
            <a:r>
              <a:rPr b="0" u="none" dirty="0"/>
              <a:t> </a:t>
            </a:r>
            <a:r>
              <a:rPr b="0" u="none" dirty="0" err="1"/>
              <a:t>liberazione</a:t>
            </a:r>
            <a:r>
              <a:rPr b="0" u="none" dirty="0"/>
              <a:t> </a:t>
            </a:r>
            <a:r>
              <a:rPr b="0" u="none" dirty="0" err="1"/>
              <a:t>della</a:t>
            </a:r>
            <a:r>
              <a:rPr b="0" u="none" dirty="0"/>
              <a:t> </a:t>
            </a:r>
            <a:r>
              <a:rPr b="0" u="none" dirty="0" err="1"/>
              <a:t>vittima</a:t>
            </a:r>
            <a:r>
              <a:rPr b="0" u="none" dirty="0"/>
              <a:t>. </a:t>
            </a:r>
          </a:p>
        </p:txBody>
      </p:sp>
      <p:pic>
        <p:nvPicPr>
          <p:cNvPr id="404"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05"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Sequestro di persona a scopo di estorsione</a:t>
            </a:r>
          </a:p>
        </p:txBody>
      </p:sp>
    </p:spTree>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7" name="Rettangolo 4"/>
          <p:cNvSpPr txBox="1"/>
          <p:nvPr/>
        </p:nvSpPr>
        <p:spPr>
          <a:xfrm>
            <a:off x="182570" y="1133645"/>
            <a:ext cx="8736198" cy="438311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rPr dirty="0"/>
              <a:t>Per </a:t>
            </a:r>
            <a:r>
              <a:rPr dirty="0" err="1"/>
              <a:t>quanto</a:t>
            </a:r>
            <a:r>
              <a:rPr dirty="0"/>
              <a:t> </a:t>
            </a:r>
            <a:r>
              <a:rPr dirty="0" err="1"/>
              <a:t>riguarda</a:t>
            </a:r>
            <a:r>
              <a:rPr dirty="0"/>
              <a:t> la </a:t>
            </a:r>
            <a:r>
              <a:rPr dirty="0" err="1"/>
              <a:t>consumazione</a:t>
            </a:r>
            <a:r>
              <a:rPr dirty="0"/>
              <a:t> il </a:t>
            </a:r>
            <a:r>
              <a:rPr dirty="0" err="1"/>
              <a:t>delitto</a:t>
            </a:r>
            <a:r>
              <a:rPr dirty="0"/>
              <a:t> in </a:t>
            </a:r>
            <a:r>
              <a:rPr dirty="0" err="1"/>
              <a:t>esame</a:t>
            </a:r>
            <a:r>
              <a:rPr dirty="0"/>
              <a:t> </a:t>
            </a:r>
            <a:r>
              <a:rPr dirty="0" err="1"/>
              <a:t>rientra</a:t>
            </a:r>
            <a:r>
              <a:rPr dirty="0"/>
              <a:t> </a:t>
            </a:r>
            <a:r>
              <a:rPr dirty="0" err="1"/>
              <a:t>tra</a:t>
            </a:r>
            <a:r>
              <a:rPr dirty="0"/>
              <a:t> </a:t>
            </a:r>
            <a:r>
              <a:rPr dirty="0" err="1"/>
              <a:t>i</a:t>
            </a:r>
            <a:r>
              <a:rPr dirty="0"/>
              <a:t> </a:t>
            </a:r>
            <a:r>
              <a:rPr b="1" dirty="0">
                <a:solidFill>
                  <a:srgbClr val="C00000"/>
                </a:solidFill>
              </a:rPr>
              <a:t>REATI DI PERICOLO A CONSUMAZIONE ANTICIPATA </a:t>
            </a:r>
            <a:r>
              <a:rPr u="sng" dirty="0"/>
              <a:t>non </a:t>
            </a:r>
            <a:r>
              <a:rPr u="sng" dirty="0" err="1"/>
              <a:t>essendo</a:t>
            </a:r>
            <a:r>
              <a:rPr u="sng" dirty="0"/>
              <a:t> </a:t>
            </a:r>
            <a:r>
              <a:rPr u="sng" dirty="0" err="1"/>
              <a:t>richiesto</a:t>
            </a:r>
            <a:r>
              <a:rPr u="sng" dirty="0"/>
              <a:t> il </a:t>
            </a:r>
            <a:r>
              <a:rPr u="sng" dirty="0" err="1"/>
              <a:t>conseguimento</a:t>
            </a:r>
            <a:r>
              <a:rPr u="sng" dirty="0"/>
              <a:t> </a:t>
            </a:r>
            <a:r>
              <a:rPr u="sng" dirty="0" err="1"/>
              <a:t>effettivo</a:t>
            </a:r>
            <a:r>
              <a:rPr u="sng" dirty="0"/>
              <a:t> del </a:t>
            </a:r>
            <a:r>
              <a:rPr u="sng" dirty="0" err="1"/>
              <a:t>riscatto</a:t>
            </a:r>
            <a:r>
              <a:rPr u="sng" dirty="0"/>
              <a:t> da </a:t>
            </a:r>
            <a:r>
              <a:rPr u="sng" dirty="0" err="1"/>
              <a:t>parte</a:t>
            </a:r>
            <a:r>
              <a:rPr u="sng" dirty="0"/>
              <a:t> del </a:t>
            </a:r>
            <a:r>
              <a:rPr u="sng" dirty="0" err="1"/>
              <a:t>reo</a:t>
            </a:r>
            <a:r>
              <a:rPr u="sng" dirty="0"/>
              <a:t>, </a:t>
            </a:r>
            <a:r>
              <a:rPr b="1" dirty="0" err="1"/>
              <a:t>perfezionandosi</a:t>
            </a:r>
            <a:r>
              <a:rPr b="1" dirty="0"/>
              <a:t> </a:t>
            </a:r>
            <a:r>
              <a:rPr b="1" dirty="0" err="1"/>
              <a:t>già</a:t>
            </a:r>
            <a:r>
              <a:rPr b="1" dirty="0"/>
              <a:t> con la </a:t>
            </a:r>
            <a:r>
              <a:rPr b="1" dirty="0" err="1"/>
              <a:t>privazione</a:t>
            </a:r>
            <a:r>
              <a:rPr b="1" dirty="0"/>
              <a:t> </a:t>
            </a:r>
            <a:r>
              <a:rPr b="1" dirty="0" err="1"/>
              <a:t>della</a:t>
            </a:r>
            <a:r>
              <a:rPr b="1" dirty="0"/>
              <a:t> </a:t>
            </a:r>
            <a:r>
              <a:rPr b="1" dirty="0" err="1"/>
              <a:t>libertà</a:t>
            </a:r>
            <a:r>
              <a:rPr b="1" dirty="0"/>
              <a:t> </a:t>
            </a:r>
            <a:r>
              <a:rPr dirty="0"/>
              <a:t>a </a:t>
            </a:r>
            <a:r>
              <a:rPr dirty="0" err="1"/>
              <a:t>prescindere</a:t>
            </a:r>
            <a:r>
              <a:rPr dirty="0"/>
              <a:t> </a:t>
            </a:r>
            <a:r>
              <a:rPr dirty="0" err="1"/>
              <a:t>dalla</a:t>
            </a:r>
            <a:r>
              <a:rPr dirty="0"/>
              <a:t> </a:t>
            </a:r>
            <a:r>
              <a:rPr dirty="0" err="1"/>
              <a:t>durata</a:t>
            </a:r>
            <a:r>
              <a:rPr dirty="0"/>
              <a:t>, dal </a:t>
            </a:r>
            <a:r>
              <a:rPr dirty="0" err="1"/>
              <a:t>luogo</a:t>
            </a:r>
            <a:r>
              <a:rPr dirty="0"/>
              <a:t> in cui è </a:t>
            </a:r>
            <a:r>
              <a:rPr dirty="0" err="1"/>
              <a:t>avvenuta</a:t>
            </a:r>
            <a:r>
              <a:rPr dirty="0"/>
              <a:t> e </a:t>
            </a:r>
            <a:r>
              <a:rPr dirty="0" err="1"/>
              <a:t>dai</a:t>
            </a:r>
            <a:r>
              <a:rPr dirty="0"/>
              <a:t> </a:t>
            </a:r>
            <a:r>
              <a:rPr dirty="0" err="1"/>
              <a:t>mezzi</a:t>
            </a:r>
            <a:r>
              <a:rPr dirty="0"/>
              <a:t> </a:t>
            </a:r>
            <a:r>
              <a:rPr dirty="0" err="1"/>
              <a:t>utilizzati</a:t>
            </a:r>
            <a:r>
              <a:rPr dirty="0"/>
              <a:t>.</a:t>
            </a:r>
            <a:endParaRPr lang="it-IT" dirty="0"/>
          </a:p>
          <a:p>
            <a:pPr algn="just">
              <a:lnSpc>
                <a:spcPct val="114000"/>
              </a:lnSpc>
              <a:spcBef>
                <a:spcPts val="1200"/>
              </a:spcBef>
              <a:defRPr sz="2200" b="0">
                <a:latin typeface="Times New Roman"/>
                <a:ea typeface="Times New Roman"/>
                <a:cs typeface="Times New Roman"/>
                <a:sym typeface="Times New Roman"/>
              </a:defRPr>
            </a:pPr>
            <a:endParaRPr lang="it-IT" dirty="0"/>
          </a:p>
          <a:p>
            <a:pPr algn="just">
              <a:lnSpc>
                <a:spcPct val="114000"/>
              </a:lnSpc>
              <a:spcBef>
                <a:spcPts val="1200"/>
              </a:spcBef>
              <a:defRPr sz="2200" b="0">
                <a:latin typeface="Times New Roman"/>
                <a:ea typeface="Times New Roman"/>
                <a:cs typeface="Times New Roman"/>
                <a:sym typeface="Times New Roman"/>
              </a:defRPr>
            </a:pPr>
            <a:endParaRPr dirty="0"/>
          </a:p>
          <a:p>
            <a:pPr algn="just">
              <a:lnSpc>
                <a:spcPct val="114000"/>
              </a:lnSpc>
              <a:spcBef>
                <a:spcPts val="1200"/>
              </a:spcBef>
              <a:defRPr sz="2200" b="0">
                <a:latin typeface="Times New Roman"/>
                <a:ea typeface="Times New Roman"/>
                <a:cs typeface="Times New Roman"/>
                <a:sym typeface="Times New Roman"/>
              </a:defRPr>
            </a:pPr>
            <a:r>
              <a:rPr dirty="0"/>
              <a:t>Il </a:t>
            </a:r>
            <a:r>
              <a:rPr b="1" dirty="0" err="1"/>
              <a:t>tentativo</a:t>
            </a:r>
            <a:r>
              <a:rPr b="1" dirty="0"/>
              <a:t> è </a:t>
            </a:r>
            <a:r>
              <a:rPr b="1" dirty="0" err="1"/>
              <a:t>configurabile</a:t>
            </a:r>
            <a:r>
              <a:rPr b="1" dirty="0"/>
              <a:t> </a:t>
            </a:r>
            <a:r>
              <a:rPr u="sng" dirty="0" err="1"/>
              <a:t>finché</a:t>
            </a:r>
            <a:r>
              <a:rPr u="sng" dirty="0"/>
              <a:t> non </a:t>
            </a:r>
            <a:r>
              <a:rPr u="sng" dirty="0" err="1"/>
              <a:t>sia</a:t>
            </a:r>
            <a:r>
              <a:rPr u="sng" dirty="0"/>
              <a:t> </a:t>
            </a:r>
            <a:r>
              <a:rPr u="sng" dirty="0" err="1"/>
              <a:t>iniziata</a:t>
            </a:r>
            <a:r>
              <a:rPr u="sng" dirty="0"/>
              <a:t> la </a:t>
            </a:r>
            <a:r>
              <a:rPr u="sng" dirty="0" err="1"/>
              <a:t>privazione</a:t>
            </a:r>
            <a:r>
              <a:rPr u="sng" dirty="0"/>
              <a:t> </a:t>
            </a:r>
            <a:r>
              <a:rPr u="sng" dirty="0" err="1"/>
              <a:t>della</a:t>
            </a:r>
            <a:r>
              <a:rPr u="sng" dirty="0"/>
              <a:t> </a:t>
            </a:r>
            <a:r>
              <a:rPr u="sng" dirty="0" err="1"/>
              <a:t>libertà</a:t>
            </a:r>
            <a:r>
              <a:rPr u="sng" dirty="0"/>
              <a:t> </a:t>
            </a:r>
            <a:r>
              <a:rPr dirty="0" err="1"/>
              <a:t>personale</a:t>
            </a:r>
            <a:r>
              <a:rPr dirty="0"/>
              <a:t>, </a:t>
            </a:r>
            <a:r>
              <a:rPr dirty="0" err="1"/>
              <a:t>ovviamente</a:t>
            </a:r>
            <a:r>
              <a:rPr dirty="0"/>
              <a:t> </a:t>
            </a:r>
            <a:r>
              <a:rPr dirty="0" err="1"/>
              <a:t>una</a:t>
            </a:r>
            <a:r>
              <a:rPr dirty="0"/>
              <a:t> volta </a:t>
            </a:r>
            <a:r>
              <a:rPr dirty="0" err="1"/>
              <a:t>accertata</a:t>
            </a:r>
            <a:r>
              <a:rPr dirty="0"/>
              <a:t> la </a:t>
            </a:r>
            <a:r>
              <a:rPr dirty="0" err="1"/>
              <a:t>inequivoca</a:t>
            </a:r>
            <a:r>
              <a:rPr dirty="0"/>
              <a:t> </a:t>
            </a:r>
            <a:r>
              <a:rPr dirty="0" err="1"/>
              <a:t>direzione</a:t>
            </a:r>
            <a:r>
              <a:rPr dirty="0"/>
              <a:t> </a:t>
            </a:r>
            <a:r>
              <a:rPr dirty="0" err="1"/>
              <a:t>degli</a:t>
            </a:r>
            <a:r>
              <a:rPr dirty="0"/>
              <a:t> </a:t>
            </a:r>
            <a:r>
              <a:rPr dirty="0" err="1"/>
              <a:t>atti</a:t>
            </a:r>
            <a:r>
              <a:rPr dirty="0"/>
              <a:t> e </a:t>
            </a:r>
            <a:r>
              <a:rPr dirty="0" err="1"/>
              <a:t>l’idoneità</a:t>
            </a:r>
            <a:r>
              <a:rPr dirty="0"/>
              <a:t> </a:t>
            </a:r>
            <a:r>
              <a:rPr dirty="0" err="1"/>
              <a:t>degli</a:t>
            </a:r>
            <a:r>
              <a:rPr dirty="0"/>
              <a:t> </a:t>
            </a:r>
            <a:r>
              <a:rPr dirty="0" err="1"/>
              <a:t>stessi</a:t>
            </a:r>
            <a:r>
              <a:rPr dirty="0"/>
              <a:t> </a:t>
            </a:r>
            <a:r>
              <a:rPr dirty="0" err="1"/>
              <a:t>alla</a:t>
            </a:r>
            <a:r>
              <a:rPr dirty="0"/>
              <a:t> </a:t>
            </a:r>
            <a:r>
              <a:rPr dirty="0" err="1"/>
              <a:t>potenziale</a:t>
            </a:r>
            <a:r>
              <a:rPr dirty="0"/>
              <a:t> </a:t>
            </a:r>
            <a:r>
              <a:rPr dirty="0" err="1"/>
              <a:t>produzione</a:t>
            </a:r>
            <a:r>
              <a:rPr dirty="0"/>
              <a:t> </a:t>
            </a:r>
            <a:r>
              <a:rPr dirty="0" err="1"/>
              <a:t>dell’evento</a:t>
            </a:r>
            <a:r>
              <a:rPr dirty="0"/>
              <a:t>. </a:t>
            </a:r>
          </a:p>
        </p:txBody>
      </p:sp>
      <p:pic>
        <p:nvPicPr>
          <p:cNvPr id="408"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09"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Sequestro di persona a scopo di estorsione</a:t>
            </a:r>
          </a:p>
        </p:txBody>
      </p:sp>
    </p:spTree>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 name="CasellaDiTesto 1"/>
          <p:cNvSpPr txBox="1"/>
          <p:nvPr/>
        </p:nvSpPr>
        <p:spPr>
          <a:xfrm>
            <a:off x="229859" y="980728"/>
            <a:ext cx="8684281" cy="554176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7030A0"/>
                </a:solidFill>
                <a:latin typeface="Book Antiqua"/>
                <a:ea typeface="Book Antiqua"/>
                <a:cs typeface="Book Antiqua"/>
                <a:sym typeface="Book Antiqua"/>
              </a:defRPr>
            </a:pPr>
            <a:r>
              <a:rPr dirty="0">
                <a:solidFill>
                  <a:srgbClr val="FF0000"/>
                </a:solidFill>
              </a:rPr>
              <a:t>Art. 635 </a:t>
            </a:r>
            <a:r>
              <a:rPr dirty="0" err="1">
                <a:solidFill>
                  <a:srgbClr val="FF0000"/>
                </a:solidFill>
              </a:rPr>
              <a:t>c.p.</a:t>
            </a:r>
            <a:r>
              <a:rPr dirty="0">
                <a:solidFill>
                  <a:srgbClr val="FF0000"/>
                </a:solidFill>
              </a:rPr>
              <a:t> </a:t>
            </a:r>
            <a:r>
              <a:rPr dirty="0" err="1">
                <a:solidFill>
                  <a:srgbClr val="FF0000"/>
                </a:solidFill>
              </a:rPr>
              <a:t>Danneggiamento</a:t>
            </a:r>
            <a:endParaRPr dirty="0">
              <a:solidFill>
                <a:srgbClr val="FF0000"/>
              </a:solidFill>
              <a:latin typeface="Times New Roman"/>
              <a:ea typeface="Times New Roman"/>
              <a:cs typeface="Times New Roman"/>
              <a:sym typeface="Times New Roman"/>
            </a:endParaRPr>
          </a:p>
          <a:p>
            <a:pPr algn="just">
              <a:lnSpc>
                <a:spcPct val="114000"/>
              </a:lnSpc>
              <a:spcBef>
                <a:spcPts val="600"/>
              </a:spcBef>
              <a:defRPr sz="2200" b="0">
                <a:latin typeface="Book Antiqua"/>
                <a:ea typeface="Book Antiqua"/>
                <a:cs typeface="Book Antiqua"/>
                <a:sym typeface="Book Antiqua"/>
              </a:defRPr>
            </a:pPr>
            <a:r>
              <a:rPr dirty="0"/>
              <a:t>«</a:t>
            </a:r>
            <a:r>
              <a:rPr i="1" dirty="0" err="1"/>
              <a:t>Chiunque</a:t>
            </a:r>
            <a:r>
              <a:rPr i="1" dirty="0"/>
              <a:t> </a:t>
            </a:r>
            <a:r>
              <a:rPr b="1" i="1" dirty="0" err="1">
                <a:solidFill>
                  <a:srgbClr val="7030A0"/>
                </a:solidFill>
              </a:rPr>
              <a:t>distrugge</a:t>
            </a:r>
            <a:r>
              <a:rPr i="1" dirty="0"/>
              <a:t>, </a:t>
            </a:r>
            <a:r>
              <a:rPr b="1" i="1" dirty="0" err="1">
                <a:solidFill>
                  <a:srgbClr val="7030A0"/>
                </a:solidFill>
              </a:rPr>
              <a:t>disperde</a:t>
            </a:r>
            <a:r>
              <a:rPr i="1" dirty="0"/>
              <a:t>, </a:t>
            </a:r>
            <a:r>
              <a:rPr b="1" i="1" dirty="0" err="1">
                <a:solidFill>
                  <a:srgbClr val="7030A0"/>
                </a:solidFill>
              </a:rPr>
              <a:t>deteriora</a:t>
            </a:r>
            <a:r>
              <a:rPr i="1" dirty="0"/>
              <a:t> o </a:t>
            </a:r>
            <a:r>
              <a:rPr b="1" i="1" dirty="0" err="1">
                <a:solidFill>
                  <a:srgbClr val="7030A0"/>
                </a:solidFill>
              </a:rPr>
              <a:t>rende</a:t>
            </a:r>
            <a:r>
              <a:rPr i="1" dirty="0"/>
              <a:t>, in </a:t>
            </a:r>
            <a:r>
              <a:rPr i="1" dirty="0" err="1"/>
              <a:t>tutto</a:t>
            </a:r>
            <a:r>
              <a:rPr i="1" dirty="0"/>
              <a:t> o in </a:t>
            </a:r>
            <a:r>
              <a:rPr i="1" dirty="0" err="1"/>
              <a:t>parte</a:t>
            </a:r>
            <a:r>
              <a:rPr i="1" dirty="0"/>
              <a:t>, </a:t>
            </a:r>
            <a:r>
              <a:rPr b="1" i="1" dirty="0" err="1">
                <a:solidFill>
                  <a:srgbClr val="7030A0"/>
                </a:solidFill>
              </a:rPr>
              <a:t>inservibili</a:t>
            </a:r>
            <a:r>
              <a:rPr b="1" i="1" dirty="0">
                <a:solidFill>
                  <a:srgbClr val="7030A0"/>
                </a:solidFill>
              </a:rPr>
              <a:t> </a:t>
            </a:r>
            <a:r>
              <a:rPr b="1" i="1" dirty="0" err="1">
                <a:solidFill>
                  <a:srgbClr val="7030A0"/>
                </a:solidFill>
              </a:rPr>
              <a:t>cose</a:t>
            </a:r>
            <a:r>
              <a:rPr b="1" i="1" dirty="0">
                <a:solidFill>
                  <a:srgbClr val="7030A0"/>
                </a:solidFill>
              </a:rPr>
              <a:t> </a:t>
            </a:r>
            <a:r>
              <a:rPr b="1" i="1" dirty="0" err="1">
                <a:solidFill>
                  <a:srgbClr val="7030A0"/>
                </a:solidFill>
              </a:rPr>
              <a:t>mobili</a:t>
            </a:r>
            <a:r>
              <a:rPr b="1" i="1" dirty="0">
                <a:solidFill>
                  <a:srgbClr val="7030A0"/>
                </a:solidFill>
              </a:rPr>
              <a:t> o </a:t>
            </a:r>
            <a:r>
              <a:rPr b="1" i="1" dirty="0" err="1">
                <a:solidFill>
                  <a:srgbClr val="7030A0"/>
                </a:solidFill>
              </a:rPr>
              <a:t>immobili</a:t>
            </a:r>
            <a:r>
              <a:rPr b="1" i="1" dirty="0">
                <a:solidFill>
                  <a:srgbClr val="7030A0"/>
                </a:solidFill>
              </a:rPr>
              <a:t> </a:t>
            </a:r>
            <a:r>
              <a:rPr b="1" i="1" dirty="0" err="1">
                <a:solidFill>
                  <a:srgbClr val="7030A0"/>
                </a:solidFill>
              </a:rPr>
              <a:t>altrui</a:t>
            </a:r>
            <a:r>
              <a:rPr b="1" i="1" dirty="0">
                <a:solidFill>
                  <a:srgbClr val="7030A0"/>
                </a:solidFill>
              </a:rPr>
              <a:t> con </a:t>
            </a:r>
            <a:r>
              <a:rPr b="1" i="1" dirty="0" err="1">
                <a:solidFill>
                  <a:srgbClr val="7030A0"/>
                </a:solidFill>
              </a:rPr>
              <a:t>violenza</a:t>
            </a:r>
            <a:r>
              <a:rPr b="1" i="1" dirty="0">
                <a:solidFill>
                  <a:srgbClr val="7030A0"/>
                </a:solidFill>
              </a:rPr>
              <a:t> </a:t>
            </a:r>
            <a:r>
              <a:rPr b="1" i="1" dirty="0" err="1">
                <a:solidFill>
                  <a:srgbClr val="7030A0"/>
                </a:solidFill>
              </a:rPr>
              <a:t>alla</a:t>
            </a:r>
            <a:r>
              <a:rPr b="1" i="1" dirty="0">
                <a:solidFill>
                  <a:srgbClr val="7030A0"/>
                </a:solidFill>
              </a:rPr>
              <a:t> persona o con </a:t>
            </a:r>
            <a:r>
              <a:rPr b="1" i="1" dirty="0" err="1">
                <a:solidFill>
                  <a:srgbClr val="7030A0"/>
                </a:solidFill>
              </a:rPr>
              <a:t>minaccia</a:t>
            </a:r>
            <a:r>
              <a:rPr b="1" i="1" dirty="0">
                <a:solidFill>
                  <a:srgbClr val="7030A0"/>
                </a:solidFill>
              </a:rPr>
              <a:t> </a:t>
            </a:r>
            <a:r>
              <a:rPr b="1" i="1" dirty="0" err="1">
                <a:solidFill>
                  <a:srgbClr val="7030A0"/>
                </a:solidFill>
              </a:rPr>
              <a:t>ovvero</a:t>
            </a:r>
            <a:r>
              <a:rPr b="1" i="1" dirty="0">
                <a:solidFill>
                  <a:srgbClr val="7030A0"/>
                </a:solidFill>
              </a:rPr>
              <a:t> in </a:t>
            </a:r>
            <a:r>
              <a:rPr b="1" i="1" dirty="0" err="1">
                <a:solidFill>
                  <a:srgbClr val="7030A0"/>
                </a:solidFill>
              </a:rPr>
              <a:t>occasione</a:t>
            </a:r>
            <a:r>
              <a:rPr b="1" i="1" dirty="0">
                <a:solidFill>
                  <a:srgbClr val="7030A0"/>
                </a:solidFill>
              </a:rPr>
              <a:t> del </a:t>
            </a:r>
            <a:r>
              <a:rPr b="1" i="1" dirty="0" err="1">
                <a:solidFill>
                  <a:srgbClr val="7030A0"/>
                </a:solidFill>
              </a:rPr>
              <a:t>delitto</a:t>
            </a:r>
            <a:r>
              <a:rPr b="1" i="1" dirty="0">
                <a:solidFill>
                  <a:srgbClr val="7030A0"/>
                </a:solidFill>
              </a:rPr>
              <a:t> </a:t>
            </a:r>
            <a:r>
              <a:rPr b="1" i="1" dirty="0" err="1">
                <a:solidFill>
                  <a:srgbClr val="7030A0"/>
                </a:solidFill>
              </a:rPr>
              <a:t>previsto</a:t>
            </a:r>
            <a:r>
              <a:rPr b="1" i="1" dirty="0">
                <a:solidFill>
                  <a:srgbClr val="7030A0"/>
                </a:solidFill>
              </a:rPr>
              <a:t> </a:t>
            </a:r>
            <a:r>
              <a:rPr b="1" i="1" dirty="0" err="1">
                <a:solidFill>
                  <a:srgbClr val="7030A0"/>
                </a:solidFill>
              </a:rPr>
              <a:t>dall'articolo</a:t>
            </a:r>
            <a:r>
              <a:rPr b="1" i="1" dirty="0">
                <a:solidFill>
                  <a:srgbClr val="7030A0"/>
                </a:solidFill>
              </a:rPr>
              <a:t> 331</a:t>
            </a:r>
            <a:r>
              <a:rPr dirty="0"/>
              <a:t> (</a:t>
            </a:r>
            <a:r>
              <a:rPr dirty="0" err="1"/>
              <a:t>interruzione</a:t>
            </a:r>
            <a:r>
              <a:rPr dirty="0"/>
              <a:t> di un </a:t>
            </a:r>
            <a:r>
              <a:rPr dirty="0" err="1"/>
              <a:t>servizio</a:t>
            </a:r>
            <a:r>
              <a:rPr dirty="0"/>
              <a:t> </a:t>
            </a:r>
            <a:r>
              <a:rPr dirty="0" err="1"/>
              <a:t>pubblico</a:t>
            </a:r>
            <a:r>
              <a:rPr dirty="0"/>
              <a:t> o di </a:t>
            </a:r>
            <a:r>
              <a:rPr dirty="0" err="1"/>
              <a:t>pubblica</a:t>
            </a:r>
            <a:r>
              <a:rPr dirty="0"/>
              <a:t> </a:t>
            </a:r>
            <a:r>
              <a:rPr dirty="0" err="1"/>
              <a:t>necessità</a:t>
            </a:r>
            <a:r>
              <a:rPr dirty="0"/>
              <a:t>)</a:t>
            </a:r>
            <a:r>
              <a:rPr i="1" dirty="0"/>
              <a:t>, è </a:t>
            </a:r>
            <a:r>
              <a:rPr i="1" dirty="0" err="1"/>
              <a:t>punito</a:t>
            </a:r>
            <a:r>
              <a:rPr i="1" dirty="0"/>
              <a:t> con la </a:t>
            </a:r>
            <a:r>
              <a:rPr i="1" dirty="0" err="1"/>
              <a:t>reclusione</a:t>
            </a:r>
            <a:r>
              <a:rPr i="1" dirty="0"/>
              <a:t> da sei </a:t>
            </a:r>
            <a:r>
              <a:rPr i="1" dirty="0" err="1"/>
              <a:t>mesi</a:t>
            </a:r>
            <a:r>
              <a:rPr i="1" dirty="0"/>
              <a:t> a </a:t>
            </a:r>
            <a:r>
              <a:rPr i="1" dirty="0" err="1"/>
              <a:t>tre</a:t>
            </a:r>
            <a:r>
              <a:rPr i="1" dirty="0"/>
              <a:t> </a:t>
            </a:r>
            <a:r>
              <a:rPr i="1" dirty="0" err="1"/>
              <a:t>anni</a:t>
            </a:r>
            <a:r>
              <a:rPr i="1" dirty="0"/>
              <a:t>.</a:t>
            </a:r>
            <a:endParaRPr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err="1"/>
              <a:t>Alla</a:t>
            </a:r>
            <a:r>
              <a:rPr dirty="0"/>
              <a:t> </a:t>
            </a:r>
            <a:r>
              <a:rPr dirty="0" err="1"/>
              <a:t>stessa</a:t>
            </a:r>
            <a:r>
              <a:rPr dirty="0"/>
              <a:t> </a:t>
            </a:r>
            <a:r>
              <a:rPr dirty="0" err="1"/>
              <a:t>pena</a:t>
            </a:r>
            <a:r>
              <a:rPr dirty="0"/>
              <a:t> </a:t>
            </a:r>
            <a:r>
              <a:rPr dirty="0" err="1"/>
              <a:t>soggiace</a:t>
            </a:r>
            <a:r>
              <a:rPr dirty="0"/>
              <a:t> </a:t>
            </a:r>
            <a:r>
              <a:rPr dirty="0" err="1"/>
              <a:t>chiunque</a:t>
            </a:r>
            <a:r>
              <a:rPr dirty="0"/>
              <a:t> </a:t>
            </a:r>
            <a:r>
              <a:rPr dirty="0" err="1"/>
              <a:t>distrugge</a:t>
            </a:r>
            <a:r>
              <a:rPr dirty="0"/>
              <a:t>, </a:t>
            </a:r>
            <a:r>
              <a:rPr dirty="0" err="1"/>
              <a:t>disperde</a:t>
            </a:r>
            <a:r>
              <a:rPr dirty="0"/>
              <a:t>, </a:t>
            </a:r>
            <a:r>
              <a:rPr dirty="0" err="1"/>
              <a:t>deteriora</a:t>
            </a:r>
            <a:r>
              <a:rPr dirty="0"/>
              <a:t> o </a:t>
            </a:r>
            <a:r>
              <a:rPr dirty="0" err="1"/>
              <a:t>rende</a:t>
            </a:r>
            <a:r>
              <a:rPr dirty="0"/>
              <a:t>, in </a:t>
            </a:r>
            <a:r>
              <a:rPr dirty="0" err="1"/>
              <a:t>tutto</a:t>
            </a:r>
            <a:r>
              <a:rPr dirty="0"/>
              <a:t> o in </a:t>
            </a:r>
            <a:r>
              <a:rPr dirty="0" err="1"/>
              <a:t>parte</a:t>
            </a:r>
            <a:r>
              <a:rPr dirty="0"/>
              <a:t>, </a:t>
            </a:r>
            <a:r>
              <a:rPr dirty="0" err="1"/>
              <a:t>inservibili</a:t>
            </a:r>
            <a:r>
              <a:rPr dirty="0"/>
              <a:t> </a:t>
            </a:r>
            <a:r>
              <a:rPr b="1" dirty="0">
                <a:solidFill>
                  <a:srgbClr val="7030A0"/>
                </a:solidFill>
              </a:rPr>
              <a:t>le </a:t>
            </a:r>
            <a:r>
              <a:rPr b="1" dirty="0" err="1">
                <a:solidFill>
                  <a:srgbClr val="7030A0"/>
                </a:solidFill>
              </a:rPr>
              <a:t>seguenti</a:t>
            </a:r>
            <a:r>
              <a:rPr b="1" dirty="0">
                <a:solidFill>
                  <a:srgbClr val="7030A0"/>
                </a:solidFill>
              </a:rPr>
              <a:t> </a:t>
            </a:r>
            <a:r>
              <a:rPr b="1" dirty="0" err="1">
                <a:solidFill>
                  <a:srgbClr val="7030A0"/>
                </a:solidFill>
              </a:rPr>
              <a:t>cose</a:t>
            </a:r>
            <a:r>
              <a:rPr b="1" dirty="0">
                <a:solidFill>
                  <a:srgbClr val="7030A0"/>
                </a:solidFill>
              </a:rPr>
              <a:t> </a:t>
            </a:r>
            <a:r>
              <a:rPr b="1" dirty="0" err="1">
                <a:solidFill>
                  <a:srgbClr val="7030A0"/>
                </a:solidFill>
              </a:rPr>
              <a:t>altrui</a:t>
            </a:r>
            <a:r>
              <a:rPr dirty="0"/>
              <a:t>:</a:t>
            </a:r>
            <a:endParaRPr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a:t>1. </a:t>
            </a:r>
            <a:r>
              <a:rPr b="1" dirty="0" err="1"/>
              <a:t>edifici</a:t>
            </a:r>
            <a:r>
              <a:rPr b="1" dirty="0"/>
              <a:t> </a:t>
            </a:r>
            <a:r>
              <a:rPr b="1" dirty="0" err="1"/>
              <a:t>pubblici</a:t>
            </a:r>
            <a:r>
              <a:rPr b="1" dirty="0"/>
              <a:t> o </a:t>
            </a:r>
            <a:r>
              <a:rPr b="1" dirty="0" err="1"/>
              <a:t>destinati</a:t>
            </a:r>
            <a:r>
              <a:rPr b="1" dirty="0"/>
              <a:t> a </a:t>
            </a:r>
            <a:r>
              <a:rPr b="1" dirty="0" err="1"/>
              <a:t>uso</a:t>
            </a:r>
            <a:r>
              <a:rPr b="1" dirty="0"/>
              <a:t> </a:t>
            </a:r>
            <a:r>
              <a:rPr b="1" dirty="0" err="1"/>
              <a:t>pubblico</a:t>
            </a:r>
            <a:r>
              <a:rPr b="1" dirty="0"/>
              <a:t> o </a:t>
            </a:r>
            <a:r>
              <a:rPr b="1" dirty="0" err="1"/>
              <a:t>all'esercizio</a:t>
            </a:r>
            <a:r>
              <a:rPr b="1" dirty="0"/>
              <a:t> di un </a:t>
            </a:r>
            <a:r>
              <a:rPr b="1" dirty="0" err="1"/>
              <a:t>culto</a:t>
            </a:r>
            <a:r>
              <a:rPr dirty="0"/>
              <a:t>, o </a:t>
            </a:r>
            <a:r>
              <a:rPr dirty="0" err="1"/>
              <a:t>su</a:t>
            </a:r>
            <a:r>
              <a:rPr dirty="0"/>
              <a:t> </a:t>
            </a:r>
            <a:r>
              <a:rPr dirty="0" err="1"/>
              <a:t>cose</a:t>
            </a:r>
            <a:r>
              <a:rPr dirty="0"/>
              <a:t> di </a:t>
            </a:r>
            <a:r>
              <a:rPr b="1" dirty="0"/>
              <a:t>interesse </a:t>
            </a:r>
            <a:r>
              <a:rPr b="1" dirty="0" err="1"/>
              <a:t>storico</a:t>
            </a:r>
            <a:r>
              <a:rPr b="1" dirty="0"/>
              <a:t> o </a:t>
            </a:r>
            <a:r>
              <a:rPr b="1" dirty="0" err="1"/>
              <a:t>artistico</a:t>
            </a:r>
            <a:r>
              <a:rPr b="1" dirty="0"/>
              <a:t> </a:t>
            </a:r>
            <a:r>
              <a:rPr dirty="0" err="1"/>
              <a:t>ovunque</a:t>
            </a:r>
            <a:r>
              <a:rPr dirty="0"/>
              <a:t> </a:t>
            </a:r>
            <a:r>
              <a:rPr dirty="0" err="1"/>
              <a:t>siano</a:t>
            </a:r>
            <a:r>
              <a:rPr dirty="0"/>
              <a:t> ubicate o </a:t>
            </a:r>
            <a:r>
              <a:rPr dirty="0" err="1"/>
              <a:t>su</a:t>
            </a:r>
            <a:r>
              <a:rPr dirty="0"/>
              <a:t> </a:t>
            </a:r>
            <a:r>
              <a:rPr dirty="0" err="1"/>
              <a:t>immobili</a:t>
            </a:r>
            <a:r>
              <a:rPr dirty="0"/>
              <a:t> </a:t>
            </a:r>
            <a:r>
              <a:rPr dirty="0" err="1"/>
              <a:t>compresi</a:t>
            </a:r>
            <a:r>
              <a:rPr dirty="0"/>
              <a:t> </a:t>
            </a:r>
            <a:r>
              <a:rPr dirty="0" err="1"/>
              <a:t>nel</a:t>
            </a:r>
            <a:r>
              <a:rPr dirty="0"/>
              <a:t> </a:t>
            </a:r>
            <a:r>
              <a:rPr dirty="0" err="1"/>
              <a:t>perimetro</a:t>
            </a:r>
            <a:r>
              <a:rPr dirty="0"/>
              <a:t> </a:t>
            </a:r>
            <a:r>
              <a:rPr dirty="0" err="1"/>
              <a:t>dei</a:t>
            </a:r>
            <a:r>
              <a:rPr dirty="0"/>
              <a:t> </a:t>
            </a:r>
            <a:r>
              <a:rPr dirty="0" err="1"/>
              <a:t>centri</a:t>
            </a:r>
            <a:r>
              <a:rPr dirty="0"/>
              <a:t> </a:t>
            </a:r>
            <a:r>
              <a:rPr dirty="0" err="1"/>
              <a:t>storici</a:t>
            </a:r>
            <a:r>
              <a:rPr dirty="0"/>
              <a:t> </a:t>
            </a:r>
            <a:r>
              <a:rPr dirty="0" err="1"/>
              <a:t>ovvero</a:t>
            </a:r>
            <a:r>
              <a:rPr dirty="0"/>
              <a:t> </a:t>
            </a:r>
            <a:r>
              <a:rPr dirty="0" err="1"/>
              <a:t>su</a:t>
            </a:r>
            <a:r>
              <a:rPr dirty="0"/>
              <a:t> </a:t>
            </a:r>
            <a:r>
              <a:rPr dirty="0" err="1"/>
              <a:t>immobili</a:t>
            </a:r>
            <a:r>
              <a:rPr dirty="0"/>
              <a:t> </a:t>
            </a:r>
            <a:r>
              <a:rPr dirty="0" err="1"/>
              <a:t>i</a:t>
            </a:r>
            <a:r>
              <a:rPr dirty="0"/>
              <a:t> cui </a:t>
            </a:r>
            <a:r>
              <a:rPr dirty="0" err="1"/>
              <a:t>lavori</a:t>
            </a:r>
            <a:r>
              <a:rPr dirty="0"/>
              <a:t> di </a:t>
            </a:r>
            <a:r>
              <a:rPr dirty="0" err="1"/>
              <a:t>costruzione</a:t>
            </a:r>
            <a:r>
              <a:rPr dirty="0"/>
              <a:t>, di </a:t>
            </a:r>
            <a:r>
              <a:rPr dirty="0" err="1"/>
              <a:t>ristrutturazione</a:t>
            </a:r>
            <a:r>
              <a:rPr dirty="0"/>
              <a:t>, di </a:t>
            </a:r>
            <a:r>
              <a:rPr dirty="0" err="1"/>
              <a:t>recupero</a:t>
            </a:r>
            <a:r>
              <a:rPr dirty="0"/>
              <a:t> o di </a:t>
            </a:r>
            <a:r>
              <a:rPr dirty="0" err="1"/>
              <a:t>risanamento</a:t>
            </a:r>
            <a:r>
              <a:rPr dirty="0"/>
              <a:t> </a:t>
            </a:r>
            <a:r>
              <a:rPr dirty="0" err="1"/>
              <a:t>sono</a:t>
            </a:r>
            <a:r>
              <a:rPr dirty="0"/>
              <a:t> in </a:t>
            </a:r>
            <a:r>
              <a:rPr dirty="0" err="1"/>
              <a:t>corso</a:t>
            </a:r>
            <a:r>
              <a:rPr dirty="0"/>
              <a:t> o </a:t>
            </a:r>
            <a:r>
              <a:rPr dirty="0" err="1"/>
              <a:t>risultano</a:t>
            </a:r>
            <a:r>
              <a:rPr dirty="0"/>
              <a:t> </a:t>
            </a:r>
            <a:r>
              <a:rPr dirty="0" err="1"/>
              <a:t>ultimati</a:t>
            </a:r>
            <a:r>
              <a:rPr dirty="0"/>
              <a:t>, o </a:t>
            </a:r>
            <a:r>
              <a:rPr dirty="0" err="1"/>
              <a:t>su</a:t>
            </a:r>
            <a:r>
              <a:rPr dirty="0"/>
              <a:t> </a:t>
            </a:r>
            <a:r>
              <a:rPr dirty="0" err="1"/>
              <a:t>altre</a:t>
            </a:r>
            <a:r>
              <a:rPr dirty="0"/>
              <a:t> </a:t>
            </a:r>
            <a:r>
              <a:rPr dirty="0" err="1"/>
              <a:t>delle</a:t>
            </a:r>
            <a:r>
              <a:rPr dirty="0"/>
              <a:t> </a:t>
            </a:r>
            <a:r>
              <a:rPr dirty="0" err="1"/>
              <a:t>cose</a:t>
            </a:r>
            <a:r>
              <a:rPr dirty="0"/>
              <a:t> indicate </a:t>
            </a:r>
            <a:r>
              <a:rPr dirty="0" err="1"/>
              <a:t>nel</a:t>
            </a:r>
            <a:r>
              <a:rPr dirty="0"/>
              <a:t> </a:t>
            </a:r>
            <a:r>
              <a:rPr dirty="0" err="1"/>
              <a:t>numero</a:t>
            </a:r>
            <a:r>
              <a:rPr dirty="0"/>
              <a:t> 7 </a:t>
            </a:r>
            <a:r>
              <a:rPr dirty="0" err="1"/>
              <a:t>dell'articolo</a:t>
            </a:r>
            <a:r>
              <a:rPr dirty="0"/>
              <a:t> 625;</a:t>
            </a:r>
            <a:endParaRPr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a:t>2. </a:t>
            </a:r>
            <a:r>
              <a:rPr dirty="0" err="1"/>
              <a:t>opere</a:t>
            </a:r>
            <a:r>
              <a:rPr dirty="0"/>
              <a:t> </a:t>
            </a:r>
            <a:r>
              <a:rPr dirty="0" err="1"/>
              <a:t>destinate</a:t>
            </a:r>
            <a:r>
              <a:rPr dirty="0"/>
              <a:t> </a:t>
            </a:r>
            <a:r>
              <a:rPr b="1" dirty="0" err="1"/>
              <a:t>all'irrigazione</a:t>
            </a:r>
            <a:r>
              <a:rPr dirty="0"/>
              <a:t>; …</a:t>
            </a:r>
          </a:p>
        </p:txBody>
      </p:sp>
      <p:pic>
        <p:nvPicPr>
          <p:cNvPr id="412" name="Immagine 3" descr="Immagine 3"/>
          <p:cNvPicPr>
            <a:picLocks noChangeAspect="1"/>
          </p:cNvPicPr>
          <p:nvPr/>
        </p:nvPicPr>
        <p:blipFill>
          <a:blip r:embed="rId3"/>
          <a:stretch>
            <a:fillRect/>
          </a:stretch>
        </p:blipFill>
        <p:spPr>
          <a:xfrm>
            <a:off x="136850" y="67097"/>
            <a:ext cx="435671" cy="753167"/>
          </a:xfrm>
          <a:prstGeom prst="rect">
            <a:avLst/>
          </a:prstGeom>
          <a:ln w="12700">
            <a:miter lim="400000"/>
          </a:ln>
        </p:spPr>
      </p:pic>
      <p:sp>
        <p:nvSpPr>
          <p:cNvPr id="413"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Danneggiamento</a:t>
            </a:r>
          </a:p>
        </p:txBody>
      </p:sp>
    </p:spTree>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CasellaDiTesto 1"/>
          <p:cNvSpPr txBox="1"/>
          <p:nvPr/>
        </p:nvSpPr>
        <p:spPr>
          <a:xfrm>
            <a:off x="229859" y="1057260"/>
            <a:ext cx="8684281" cy="57018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600"/>
              </a:spcBef>
              <a:defRPr sz="2000" b="0" i="1">
                <a:latin typeface="Book Antiqua"/>
                <a:ea typeface="Book Antiqua"/>
                <a:cs typeface="Book Antiqua"/>
                <a:sym typeface="Book Antiqua"/>
              </a:defRPr>
            </a:pPr>
            <a:r>
              <a:rPr sz="1800" dirty="0"/>
              <a:t>3. </a:t>
            </a:r>
            <a:r>
              <a:rPr sz="1800" b="1" dirty="0" err="1"/>
              <a:t>piantate</a:t>
            </a:r>
            <a:r>
              <a:rPr sz="1800" b="1" dirty="0"/>
              <a:t> di </a:t>
            </a:r>
            <a:r>
              <a:rPr sz="1800" b="1" dirty="0" err="1"/>
              <a:t>viti</a:t>
            </a:r>
            <a:r>
              <a:rPr sz="1800" b="1" dirty="0"/>
              <a:t>, di </a:t>
            </a:r>
            <a:r>
              <a:rPr sz="1800" b="1" dirty="0" err="1"/>
              <a:t>alberi</a:t>
            </a:r>
            <a:r>
              <a:rPr sz="1800" b="1" dirty="0"/>
              <a:t> o </a:t>
            </a:r>
            <a:r>
              <a:rPr sz="1800" b="1" dirty="0" err="1"/>
              <a:t>arbusti</a:t>
            </a:r>
            <a:r>
              <a:rPr sz="1800" b="1" dirty="0"/>
              <a:t> </a:t>
            </a:r>
            <a:r>
              <a:rPr sz="1800" b="1" dirty="0" err="1"/>
              <a:t>fruttiferi</a:t>
            </a:r>
            <a:r>
              <a:rPr sz="1800" b="1" dirty="0"/>
              <a:t>, o </a:t>
            </a:r>
            <a:r>
              <a:rPr sz="1800" b="1" dirty="0" err="1"/>
              <a:t>su</a:t>
            </a:r>
            <a:r>
              <a:rPr sz="1800" b="1" dirty="0"/>
              <a:t> </a:t>
            </a:r>
            <a:r>
              <a:rPr sz="1800" b="1" dirty="0" err="1"/>
              <a:t>boschi</a:t>
            </a:r>
            <a:r>
              <a:rPr sz="1800" b="1" dirty="0"/>
              <a:t>, </a:t>
            </a:r>
            <a:r>
              <a:rPr sz="1800" b="1" dirty="0" err="1"/>
              <a:t>selve</a:t>
            </a:r>
            <a:r>
              <a:rPr sz="1800" b="1" dirty="0"/>
              <a:t> o </a:t>
            </a:r>
            <a:r>
              <a:rPr sz="1800" b="1" dirty="0" err="1"/>
              <a:t>foreste</a:t>
            </a:r>
            <a:r>
              <a:rPr sz="1800" dirty="0"/>
              <a:t>, </a:t>
            </a:r>
            <a:r>
              <a:rPr sz="1800" dirty="0" err="1"/>
              <a:t>ovvero</a:t>
            </a:r>
            <a:r>
              <a:rPr sz="1800" dirty="0"/>
              <a:t> </a:t>
            </a:r>
            <a:r>
              <a:rPr sz="1800" dirty="0" err="1"/>
              <a:t>su</a:t>
            </a:r>
            <a:r>
              <a:rPr sz="1800" dirty="0"/>
              <a:t> </a:t>
            </a:r>
            <a:r>
              <a:rPr sz="1800" b="1" dirty="0" err="1"/>
              <a:t>vivai</a:t>
            </a:r>
            <a:r>
              <a:rPr sz="1800" b="1" dirty="0"/>
              <a:t> </a:t>
            </a:r>
            <a:r>
              <a:rPr sz="1800" b="1" dirty="0" err="1"/>
              <a:t>forestali</a:t>
            </a:r>
            <a:r>
              <a:rPr sz="1800" b="1" dirty="0"/>
              <a:t> </a:t>
            </a:r>
            <a:r>
              <a:rPr sz="1800" b="1" dirty="0" err="1"/>
              <a:t>destinati</a:t>
            </a:r>
            <a:r>
              <a:rPr sz="1800" b="1" dirty="0"/>
              <a:t> al </a:t>
            </a:r>
            <a:r>
              <a:rPr sz="1800" b="1" dirty="0" err="1"/>
              <a:t>rimboschimento</a:t>
            </a:r>
            <a:r>
              <a:rPr sz="1800" dirty="0"/>
              <a:t>;</a:t>
            </a:r>
            <a:endParaRPr sz="1800"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sz="1800" dirty="0"/>
              <a:t>4. </a:t>
            </a:r>
            <a:r>
              <a:rPr sz="1800" b="1" dirty="0" err="1"/>
              <a:t>attrezzature</a:t>
            </a:r>
            <a:r>
              <a:rPr sz="1800" b="1" dirty="0"/>
              <a:t> e </a:t>
            </a:r>
            <a:r>
              <a:rPr sz="1800" b="1" dirty="0" err="1"/>
              <a:t>impianti</a:t>
            </a:r>
            <a:r>
              <a:rPr sz="1800" b="1" dirty="0"/>
              <a:t> </a:t>
            </a:r>
            <a:r>
              <a:rPr sz="1800" b="1" dirty="0" err="1"/>
              <a:t>sportivi</a:t>
            </a:r>
            <a:r>
              <a:rPr sz="1800" dirty="0"/>
              <a:t> al fine di </a:t>
            </a:r>
            <a:r>
              <a:rPr sz="1800" dirty="0" err="1"/>
              <a:t>impedire</a:t>
            </a:r>
            <a:r>
              <a:rPr sz="1800" dirty="0"/>
              <a:t> o </a:t>
            </a:r>
            <a:r>
              <a:rPr sz="1800" dirty="0" err="1"/>
              <a:t>interrompere</a:t>
            </a:r>
            <a:r>
              <a:rPr sz="1800" dirty="0"/>
              <a:t> lo </a:t>
            </a:r>
            <a:r>
              <a:rPr sz="1800" dirty="0" err="1"/>
              <a:t>svolgimento</a:t>
            </a:r>
            <a:r>
              <a:rPr sz="1800" dirty="0"/>
              <a:t> di </a:t>
            </a:r>
            <a:r>
              <a:rPr sz="1800" dirty="0" err="1"/>
              <a:t>manifestazioni</a:t>
            </a:r>
            <a:r>
              <a:rPr sz="1800" dirty="0"/>
              <a:t> sportive.</a:t>
            </a:r>
            <a:endParaRPr sz="1800"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sz="1800" dirty="0" err="1"/>
              <a:t>Chiunque</a:t>
            </a:r>
            <a:r>
              <a:rPr sz="1800" dirty="0"/>
              <a:t> </a:t>
            </a:r>
            <a:r>
              <a:rPr sz="1800" dirty="0" err="1"/>
              <a:t>distrugge</a:t>
            </a:r>
            <a:r>
              <a:rPr sz="1800" dirty="0"/>
              <a:t>, </a:t>
            </a:r>
            <a:r>
              <a:rPr sz="1800" dirty="0" err="1"/>
              <a:t>disperde</a:t>
            </a:r>
            <a:r>
              <a:rPr sz="1800" dirty="0"/>
              <a:t>, </a:t>
            </a:r>
            <a:r>
              <a:rPr sz="1800" dirty="0" err="1"/>
              <a:t>deteriora</a:t>
            </a:r>
            <a:r>
              <a:rPr sz="1800" dirty="0"/>
              <a:t> o </a:t>
            </a:r>
            <a:r>
              <a:rPr sz="1800" dirty="0" err="1"/>
              <a:t>rende</a:t>
            </a:r>
            <a:r>
              <a:rPr sz="1800" dirty="0"/>
              <a:t>, in </a:t>
            </a:r>
            <a:r>
              <a:rPr sz="1800" dirty="0" err="1"/>
              <a:t>tutto</a:t>
            </a:r>
            <a:r>
              <a:rPr sz="1800" dirty="0"/>
              <a:t> o in </a:t>
            </a:r>
            <a:r>
              <a:rPr sz="1800" dirty="0" err="1"/>
              <a:t>parte</a:t>
            </a:r>
            <a:r>
              <a:rPr sz="1800" dirty="0"/>
              <a:t>, </a:t>
            </a:r>
            <a:r>
              <a:rPr sz="1800" dirty="0" err="1"/>
              <a:t>inservibili</a:t>
            </a:r>
            <a:r>
              <a:rPr sz="1800" dirty="0"/>
              <a:t> </a:t>
            </a:r>
            <a:r>
              <a:rPr sz="1800" dirty="0" err="1"/>
              <a:t>cose</a:t>
            </a:r>
            <a:r>
              <a:rPr sz="1800" dirty="0"/>
              <a:t> </a:t>
            </a:r>
            <a:r>
              <a:rPr sz="1800" dirty="0" err="1"/>
              <a:t>mobili</a:t>
            </a:r>
            <a:r>
              <a:rPr sz="1800" dirty="0"/>
              <a:t> o </a:t>
            </a:r>
            <a:r>
              <a:rPr sz="1800" dirty="0" err="1"/>
              <a:t>immobili</a:t>
            </a:r>
            <a:r>
              <a:rPr sz="1800" dirty="0"/>
              <a:t> </a:t>
            </a:r>
            <a:r>
              <a:rPr sz="1800" dirty="0" err="1"/>
              <a:t>altrui</a:t>
            </a:r>
            <a:r>
              <a:rPr sz="1800" dirty="0"/>
              <a:t> </a:t>
            </a:r>
            <a:r>
              <a:rPr sz="1800" b="1" dirty="0">
                <a:solidFill>
                  <a:srgbClr val="7030A0"/>
                </a:solidFill>
              </a:rPr>
              <a:t>in </a:t>
            </a:r>
            <a:r>
              <a:rPr sz="1800" b="1" dirty="0" err="1">
                <a:solidFill>
                  <a:srgbClr val="7030A0"/>
                </a:solidFill>
              </a:rPr>
              <a:t>occasione</a:t>
            </a:r>
            <a:r>
              <a:rPr sz="1800" b="1" dirty="0">
                <a:solidFill>
                  <a:srgbClr val="7030A0"/>
                </a:solidFill>
              </a:rPr>
              <a:t> di </a:t>
            </a:r>
            <a:r>
              <a:rPr sz="1800" b="1" dirty="0" err="1">
                <a:solidFill>
                  <a:srgbClr val="7030A0"/>
                </a:solidFill>
              </a:rPr>
              <a:t>manifestazioni</a:t>
            </a:r>
            <a:r>
              <a:rPr sz="1800" b="1" dirty="0">
                <a:solidFill>
                  <a:srgbClr val="7030A0"/>
                </a:solidFill>
              </a:rPr>
              <a:t> </a:t>
            </a:r>
            <a:r>
              <a:rPr sz="1800" b="1" dirty="0" err="1">
                <a:solidFill>
                  <a:srgbClr val="7030A0"/>
                </a:solidFill>
              </a:rPr>
              <a:t>che</a:t>
            </a:r>
            <a:r>
              <a:rPr sz="1800" b="1" dirty="0">
                <a:solidFill>
                  <a:srgbClr val="7030A0"/>
                </a:solidFill>
              </a:rPr>
              <a:t> </a:t>
            </a:r>
            <a:r>
              <a:rPr sz="1800" b="1" dirty="0" err="1">
                <a:solidFill>
                  <a:srgbClr val="7030A0"/>
                </a:solidFill>
              </a:rPr>
              <a:t>si</a:t>
            </a:r>
            <a:r>
              <a:rPr sz="1800" b="1" dirty="0">
                <a:solidFill>
                  <a:srgbClr val="7030A0"/>
                </a:solidFill>
              </a:rPr>
              <a:t> </a:t>
            </a:r>
            <a:r>
              <a:rPr sz="1800" b="1" dirty="0" err="1">
                <a:solidFill>
                  <a:srgbClr val="7030A0"/>
                </a:solidFill>
              </a:rPr>
              <a:t>svolgono</a:t>
            </a:r>
            <a:r>
              <a:rPr sz="1800" b="1" dirty="0">
                <a:solidFill>
                  <a:srgbClr val="7030A0"/>
                </a:solidFill>
              </a:rPr>
              <a:t> in </a:t>
            </a:r>
            <a:r>
              <a:rPr sz="1800" b="1" dirty="0" err="1">
                <a:solidFill>
                  <a:srgbClr val="7030A0"/>
                </a:solidFill>
              </a:rPr>
              <a:t>luogo</a:t>
            </a:r>
            <a:r>
              <a:rPr sz="1800" b="1" dirty="0">
                <a:solidFill>
                  <a:srgbClr val="7030A0"/>
                </a:solidFill>
              </a:rPr>
              <a:t> </a:t>
            </a:r>
            <a:r>
              <a:rPr sz="1800" b="1" dirty="0" err="1">
                <a:solidFill>
                  <a:srgbClr val="7030A0"/>
                </a:solidFill>
              </a:rPr>
              <a:t>pubblico</a:t>
            </a:r>
            <a:r>
              <a:rPr sz="1800" b="1" dirty="0">
                <a:solidFill>
                  <a:srgbClr val="7030A0"/>
                </a:solidFill>
              </a:rPr>
              <a:t> o </a:t>
            </a:r>
            <a:r>
              <a:rPr sz="1800" b="1" dirty="0" err="1">
                <a:solidFill>
                  <a:srgbClr val="7030A0"/>
                </a:solidFill>
              </a:rPr>
              <a:t>aperto</a:t>
            </a:r>
            <a:r>
              <a:rPr sz="1800" b="1" dirty="0">
                <a:solidFill>
                  <a:srgbClr val="7030A0"/>
                </a:solidFill>
              </a:rPr>
              <a:t> al </a:t>
            </a:r>
            <a:r>
              <a:rPr sz="1800" b="1" dirty="0" err="1">
                <a:solidFill>
                  <a:srgbClr val="7030A0"/>
                </a:solidFill>
              </a:rPr>
              <a:t>pubblico</a:t>
            </a:r>
            <a:r>
              <a:rPr sz="1800" b="1" dirty="0">
                <a:solidFill>
                  <a:srgbClr val="7030A0"/>
                </a:solidFill>
              </a:rPr>
              <a:t> </a:t>
            </a:r>
            <a:r>
              <a:rPr sz="1800" dirty="0"/>
              <a:t>è </a:t>
            </a:r>
            <a:r>
              <a:rPr sz="1800" dirty="0" err="1"/>
              <a:t>punito</a:t>
            </a:r>
            <a:r>
              <a:rPr sz="1800" dirty="0"/>
              <a:t> con la </a:t>
            </a:r>
            <a:r>
              <a:rPr sz="1800" dirty="0" err="1"/>
              <a:t>reclusione</a:t>
            </a:r>
            <a:r>
              <a:rPr sz="1800" dirty="0"/>
              <a:t> da uno a cinque anni e con la </a:t>
            </a:r>
            <a:r>
              <a:rPr sz="1800" dirty="0" err="1"/>
              <a:t>multa</a:t>
            </a:r>
            <a:r>
              <a:rPr sz="1800" dirty="0"/>
              <a:t> </a:t>
            </a:r>
            <a:r>
              <a:rPr sz="1800" dirty="0" err="1"/>
              <a:t>fino</a:t>
            </a:r>
            <a:r>
              <a:rPr sz="1800" dirty="0"/>
              <a:t> a 10.000 euro.</a:t>
            </a:r>
            <a:endParaRPr lang="it-IT" sz="1800" dirty="0"/>
          </a:p>
          <a:p>
            <a:pPr algn="just">
              <a:lnSpc>
                <a:spcPct val="114000"/>
              </a:lnSpc>
              <a:spcBef>
                <a:spcPts val="600"/>
              </a:spcBef>
              <a:defRPr sz="2000" b="0" i="1">
                <a:latin typeface="Book Antiqua"/>
                <a:ea typeface="Book Antiqua"/>
                <a:cs typeface="Book Antiqua"/>
                <a:sym typeface="Book Antiqua"/>
              </a:defRPr>
            </a:pPr>
            <a:r>
              <a:rPr lang="it-IT" sz="1800" dirty="0">
                <a:latin typeface="Times New Roman"/>
                <a:ea typeface="Times New Roman"/>
                <a:cs typeface="Times New Roman"/>
                <a:sym typeface="Times New Roman"/>
              </a:rPr>
              <a:t>Chiunque, all’interno o nelle pertinenze di strutture sanitarie o socio-sanitarie residenziali o semiresidenziali, pubbliche o private, con violenza alla persona o minaccia ovvero in occasione delle condotte previste </a:t>
            </a:r>
            <a:r>
              <a:rPr lang="it-IT" u="sng" dirty="0">
                <a:latin typeface="Times New Roman"/>
                <a:ea typeface="Times New Roman"/>
                <a:cs typeface="Times New Roman"/>
                <a:sym typeface="Times New Roman"/>
              </a:rPr>
              <a:t>nell’art. 583 quater, c.2</a:t>
            </a:r>
            <a:r>
              <a:rPr lang="it-IT" dirty="0">
                <a:latin typeface="Times New Roman"/>
                <a:ea typeface="Times New Roman"/>
                <a:cs typeface="Times New Roman"/>
                <a:sym typeface="Times New Roman"/>
              </a:rPr>
              <a:t>, (</a:t>
            </a:r>
            <a:r>
              <a:rPr lang="it-IT" sz="1800" u="sng" dirty="0">
                <a:latin typeface="Times New Roman"/>
                <a:ea typeface="Times New Roman"/>
                <a:cs typeface="Times New Roman"/>
                <a:sym typeface="Times New Roman"/>
              </a:rPr>
              <a:t>Lesioni personali a un Ufficiale o agente di PG o di PS nell’atto o a causa dell’adempimento delle sue funzioni, nonché a personale esercente una professione sanitaria o socio-sanitaria e a chiunque svolga attività ausiliarie a essa funzionali) </a:t>
            </a:r>
            <a:r>
              <a:rPr lang="it-IT" sz="1800" dirty="0">
                <a:latin typeface="Times New Roman"/>
                <a:ea typeface="Times New Roman"/>
                <a:cs typeface="Times New Roman"/>
                <a:sym typeface="Times New Roman"/>
              </a:rPr>
              <a:t>distrugge, disperde, deteriora o rende, in tutto o in parte, inservibili cose mobili o immobili altrui ivi esistenti o comunque destinate al servizio sanitario o socio-sanitario è punito con la reclusione da 1 a 5 anni e con a multa fino a 10.000 euro. Se il fatto è commesso da più persone riunite, la pena è aumentata.</a:t>
            </a:r>
            <a:endParaRPr sz="1800" dirty="0">
              <a:latin typeface="Times New Roman"/>
              <a:ea typeface="Times New Roman"/>
              <a:cs typeface="Times New Roman"/>
              <a:sym typeface="Times New Roman"/>
            </a:endParaRPr>
          </a:p>
        </p:txBody>
      </p:sp>
      <p:pic>
        <p:nvPicPr>
          <p:cNvPr id="416"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17"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rPr dirty="0" err="1"/>
              <a:t>Danneggiamento</a:t>
            </a:r>
            <a:endParaRPr dirty="0"/>
          </a:p>
        </p:txBody>
      </p:sp>
    </p:spTree>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7C739772-DC87-1F83-5CA6-5CA6355E089E}"/>
              </a:ext>
            </a:extLst>
          </p:cNvPr>
          <p:cNvSpPr>
            <a:spLocks noGrp="1"/>
          </p:cNvSpPr>
          <p:nvPr>
            <p:ph type="body" idx="1"/>
          </p:nvPr>
        </p:nvSpPr>
        <p:spPr>
          <a:xfrm>
            <a:off x="457200" y="1364226"/>
            <a:ext cx="8229600" cy="4983162"/>
          </a:xfrm>
        </p:spPr>
        <p:txBody>
          <a:bodyPr>
            <a:normAutofit lnSpcReduction="10000"/>
          </a:bodyPr>
          <a:lstStyle/>
          <a:p>
            <a:pPr marL="0" indent="0" algn="just">
              <a:buNone/>
            </a:pPr>
            <a:r>
              <a:rPr lang="it-IT" sz="2200" i="1" dirty="0">
                <a:latin typeface="Book Antiqua" panose="02040602050305030304" pitchFamily="18" charset="0"/>
              </a:rPr>
              <a:t>Per i reati, di cui ai commi precedenti, la sospensione condizionale della pena è subordinata all'eliminazione delle conseguenze dannose o pericolose del reato, ovvero, se il condannato non si oppone, alla prestazione di attività non retribuita a favore della collettività per un tempo determinato, comunque non superiore alla durata della pena sospesa, secondo le modalità indicate dal giudice nella sentenza di condanna.</a:t>
            </a:r>
          </a:p>
          <a:p>
            <a:pPr marL="0" indent="0" algn="just">
              <a:buNone/>
            </a:pPr>
            <a:r>
              <a:rPr lang="it-IT" sz="2200" i="1" dirty="0">
                <a:latin typeface="Book Antiqua" panose="02040602050305030304" pitchFamily="18" charset="0"/>
              </a:rPr>
              <a:t>Nei casi previsti dal c.1, nonché dal c.2, nr 1), limitatamente ai fatti commessi su cose esposte per necessità o per consuetudine o per destinazione alla pubblica fede, ai sensi dell’art.625, c.1, nr.7, il delitto è punibile a querela della persona offesa. </a:t>
            </a:r>
          </a:p>
          <a:p>
            <a:pPr marL="0" indent="0" algn="just">
              <a:buNone/>
            </a:pPr>
            <a:r>
              <a:rPr lang="it-IT" sz="2200" i="1" dirty="0">
                <a:latin typeface="Book Antiqua" panose="02040602050305030304" pitchFamily="18" charset="0"/>
              </a:rPr>
              <a:t>Si procede tuttavia d’ufficio se il fatto è commesso in occasione del delitto previsto </a:t>
            </a:r>
            <a:r>
              <a:rPr lang="it-IT" sz="2200" i="1" u="sng" dirty="0">
                <a:latin typeface="Book Antiqua" panose="02040602050305030304" pitchFamily="18" charset="0"/>
              </a:rPr>
              <a:t>dall’art. 331 (interruzione d’un servizio pubblico o di pubblica necessità</a:t>
            </a:r>
            <a:r>
              <a:rPr lang="it-IT" sz="2200" i="1" dirty="0">
                <a:latin typeface="Book Antiqua" panose="02040602050305030304" pitchFamily="18" charset="0"/>
              </a:rPr>
              <a:t>) ovvero se la persona offesa è incapace, per età o per infermità.</a:t>
            </a:r>
          </a:p>
          <a:p>
            <a:endParaRPr lang="it-IT" dirty="0"/>
          </a:p>
        </p:txBody>
      </p:sp>
      <p:sp>
        <p:nvSpPr>
          <p:cNvPr id="4" name="Text Box 5">
            <a:extLst>
              <a:ext uri="{FF2B5EF4-FFF2-40B4-BE49-F238E27FC236}">
                <a16:creationId xmlns:a16="http://schemas.microsoft.com/office/drawing/2014/main" id="{31A707D3-9E3E-7617-60E5-D45785D2BD89}"/>
              </a:ext>
            </a:extLst>
          </p:cNvPr>
          <p:cNvSpPr txBox="1">
            <a:spLocks noGrp="1"/>
          </p:cNvSpPr>
          <p:nvPr>
            <p:ph type="title"/>
          </p:nvPr>
        </p:nvSpPr>
        <p:spPr>
          <a:xfrm>
            <a:off x="777550" y="150006"/>
            <a:ext cx="8229600" cy="582451"/>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pPr algn="l"/>
            <a:r>
              <a:rPr dirty="0" err="1"/>
              <a:t>Danneggiamento</a:t>
            </a:r>
            <a:endParaRPr dirty="0"/>
          </a:p>
        </p:txBody>
      </p:sp>
      <p:pic>
        <p:nvPicPr>
          <p:cNvPr id="5" name="Immagine 3" descr="Immagine 3">
            <a:extLst>
              <a:ext uri="{FF2B5EF4-FFF2-40B4-BE49-F238E27FC236}">
                <a16:creationId xmlns:a16="http://schemas.microsoft.com/office/drawing/2014/main" id="{3F502459-AC4C-5FB6-ED4A-3242DD44BFED}"/>
              </a:ext>
            </a:extLst>
          </p:cNvPr>
          <p:cNvPicPr>
            <a:picLocks noChangeAspect="1"/>
          </p:cNvPicPr>
          <p:nvPr/>
        </p:nvPicPr>
        <p:blipFill>
          <a:blip r:embed="rId2"/>
          <a:stretch>
            <a:fillRect/>
          </a:stretch>
        </p:blipFill>
        <p:spPr>
          <a:xfrm>
            <a:off x="136850" y="67097"/>
            <a:ext cx="435671" cy="753167"/>
          </a:xfrm>
          <a:prstGeom prst="rect">
            <a:avLst/>
          </a:prstGeom>
          <a:ln w="12700">
            <a:miter lim="400000"/>
          </a:ln>
        </p:spPr>
      </p:pic>
    </p:spTree>
    <p:extLst>
      <p:ext uri="{BB962C8B-B14F-4D97-AF65-F5344CB8AC3E}">
        <p14:creationId xmlns:p14="http://schemas.microsoft.com/office/powerpoint/2010/main" val="2164508963"/>
      </p:ext>
    </p:ext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 name="Rettangolo 4"/>
          <p:cNvSpPr txBox="1"/>
          <p:nvPr/>
        </p:nvSpPr>
        <p:spPr>
          <a:xfrm>
            <a:off x="291225" y="888007"/>
            <a:ext cx="8808206" cy="581363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000">
                <a:solidFill>
                  <a:srgbClr val="7030A0"/>
                </a:solidFill>
                <a:latin typeface="Book Antiqua"/>
                <a:ea typeface="Book Antiqua"/>
                <a:cs typeface="Book Antiqua"/>
                <a:sym typeface="Book Antiqua"/>
              </a:defRPr>
            </a:pPr>
            <a:r>
              <a:rPr dirty="0"/>
              <a:t>Art. 635 </a:t>
            </a:r>
            <a:r>
              <a:rPr dirty="0" err="1"/>
              <a:t>c.p.</a:t>
            </a:r>
            <a:r>
              <a:rPr dirty="0"/>
              <a:t> </a:t>
            </a:r>
            <a:r>
              <a:rPr dirty="0" err="1"/>
              <a:t>Danneggiamento</a:t>
            </a:r>
            <a:endParaRPr sz="2200" b="0" i="1" dirty="0">
              <a:latin typeface="Times New Roman"/>
              <a:ea typeface="Times New Roman"/>
              <a:cs typeface="Times New Roman"/>
              <a:sym typeface="Times New Roman"/>
            </a:endParaRPr>
          </a:p>
          <a:p>
            <a:pPr algn="just">
              <a:lnSpc>
                <a:spcPct val="114000"/>
              </a:lnSpc>
              <a:spcBef>
                <a:spcPts val="1200"/>
              </a:spcBef>
              <a:defRPr sz="2200" b="0">
                <a:solidFill>
                  <a:srgbClr val="FF3300"/>
                </a:solidFill>
                <a:latin typeface="Times New Roman"/>
                <a:ea typeface="Times New Roman"/>
                <a:cs typeface="Times New Roman"/>
                <a:sym typeface="Times New Roman"/>
              </a:defRPr>
            </a:pPr>
            <a:r>
              <a:rPr lang="it-IT" dirty="0">
                <a:solidFill>
                  <a:schemeClr val="tx1">
                    <a:lumMod val="95000"/>
                    <a:lumOff val="5000"/>
                  </a:schemeClr>
                </a:solidFill>
              </a:rPr>
              <a:t>il </a:t>
            </a:r>
            <a:r>
              <a:rPr lang="it-IT" dirty="0" err="1">
                <a:solidFill>
                  <a:srgbClr val="FF0000"/>
                </a:solidFill>
              </a:rPr>
              <a:t>d.l.</a:t>
            </a:r>
            <a:r>
              <a:rPr lang="it-IT" dirty="0">
                <a:solidFill>
                  <a:srgbClr val="FF0000"/>
                </a:solidFill>
              </a:rPr>
              <a:t> n.31/2024  </a:t>
            </a:r>
            <a:r>
              <a:rPr lang="it-IT" dirty="0">
                <a:solidFill>
                  <a:schemeClr val="tx1"/>
                </a:solidFill>
              </a:rPr>
              <a:t>ha</a:t>
            </a:r>
            <a:r>
              <a:rPr lang="it-IT" dirty="0">
                <a:solidFill>
                  <a:srgbClr val="FF0000"/>
                </a:solidFill>
              </a:rPr>
              <a:t> </a:t>
            </a:r>
            <a:r>
              <a:rPr lang="it-IT" dirty="0">
                <a:solidFill>
                  <a:schemeClr val="tx1">
                    <a:lumMod val="95000"/>
                    <a:lumOff val="5000"/>
                  </a:schemeClr>
                </a:solidFill>
              </a:rPr>
              <a:t>previsto la </a:t>
            </a:r>
            <a:r>
              <a:rPr lang="it-IT" u="sng" dirty="0">
                <a:solidFill>
                  <a:schemeClr val="tx1">
                    <a:lumMod val="95000"/>
                    <a:lumOff val="5000"/>
                  </a:schemeClr>
                </a:solidFill>
              </a:rPr>
              <a:t>procedibilità a querela</a:t>
            </a:r>
            <a:r>
              <a:rPr lang="it-IT" dirty="0">
                <a:solidFill>
                  <a:schemeClr val="tx1">
                    <a:lumMod val="95000"/>
                    <a:lumOff val="5000"/>
                  </a:schemeClr>
                </a:solidFill>
              </a:rPr>
              <a:t> per il delitto di danneggiamento di cose esposte per necessità/ consuetudine/destinazione alla pubblica fede.</a:t>
            </a:r>
          </a:p>
          <a:p>
            <a:pPr algn="just">
              <a:lnSpc>
                <a:spcPct val="114000"/>
              </a:lnSpc>
              <a:spcBef>
                <a:spcPts val="1200"/>
              </a:spcBef>
              <a:defRPr sz="2200" b="0">
                <a:solidFill>
                  <a:srgbClr val="FF3300"/>
                </a:solidFill>
                <a:latin typeface="Times New Roman"/>
                <a:ea typeface="Times New Roman"/>
                <a:cs typeface="Times New Roman"/>
                <a:sym typeface="Times New Roman"/>
              </a:defRPr>
            </a:pPr>
            <a:r>
              <a:rPr lang="it-IT" dirty="0">
                <a:solidFill>
                  <a:schemeClr val="tx1">
                    <a:lumMod val="95000"/>
                    <a:lumOff val="5000"/>
                  </a:schemeClr>
                </a:solidFill>
              </a:rPr>
              <a:t>Il </a:t>
            </a:r>
            <a:r>
              <a:rPr lang="it-IT" dirty="0" err="1">
                <a:solidFill>
                  <a:srgbClr val="FF0000"/>
                </a:solidFill>
              </a:rPr>
              <a:t>d.l.</a:t>
            </a:r>
            <a:r>
              <a:rPr lang="it-IT" dirty="0">
                <a:solidFill>
                  <a:srgbClr val="FF0000"/>
                </a:solidFill>
              </a:rPr>
              <a:t> n.137/2024 </a:t>
            </a:r>
            <a:r>
              <a:rPr lang="it-IT" dirty="0">
                <a:solidFill>
                  <a:schemeClr val="tx1">
                    <a:lumMod val="95000"/>
                    <a:lumOff val="5000"/>
                  </a:schemeClr>
                </a:solidFill>
              </a:rPr>
              <a:t>ha invece introdotto </a:t>
            </a:r>
            <a:r>
              <a:rPr lang="it-IT" u="sng" dirty="0">
                <a:solidFill>
                  <a:schemeClr val="tx1">
                    <a:lumMod val="95000"/>
                    <a:lumOff val="5000"/>
                  </a:schemeClr>
                </a:solidFill>
              </a:rPr>
              <a:t>l’arresto obbligatorio in flagranza </a:t>
            </a:r>
            <a:r>
              <a:rPr lang="it-IT" dirty="0">
                <a:solidFill>
                  <a:schemeClr val="tx1">
                    <a:lumMod val="95000"/>
                    <a:lumOff val="5000"/>
                  </a:schemeClr>
                </a:solidFill>
              </a:rPr>
              <a:t>per il danneggiamento all’interno delle citate strutture.</a:t>
            </a:r>
          </a:p>
          <a:p>
            <a:pPr algn="just">
              <a:lnSpc>
                <a:spcPct val="114000"/>
              </a:lnSpc>
              <a:spcBef>
                <a:spcPts val="1200"/>
              </a:spcBef>
              <a:defRPr sz="2200" b="0">
                <a:solidFill>
                  <a:srgbClr val="FF3300"/>
                </a:solidFill>
                <a:latin typeface="Times New Roman"/>
                <a:ea typeface="Times New Roman"/>
                <a:cs typeface="Times New Roman"/>
                <a:sym typeface="Times New Roman"/>
              </a:defRPr>
            </a:pPr>
            <a:endParaRPr dirty="0">
              <a:solidFill>
                <a:schemeClr val="tx1">
                  <a:lumMod val="95000"/>
                  <a:lumOff val="5000"/>
                </a:schemeClr>
              </a:solidFill>
            </a:endParaRPr>
          </a:p>
          <a:p>
            <a:pPr algn="just">
              <a:lnSpc>
                <a:spcPct val="114000"/>
              </a:lnSpc>
              <a:spcBef>
                <a:spcPts val="1200"/>
              </a:spcBef>
              <a:defRPr sz="2200" b="0">
                <a:latin typeface="Times New Roman"/>
                <a:ea typeface="Times New Roman"/>
                <a:cs typeface="Times New Roman"/>
                <a:sym typeface="Times New Roman"/>
              </a:defRPr>
            </a:pPr>
            <a:r>
              <a:rPr dirty="0"/>
              <a:t>Il </a:t>
            </a:r>
            <a:r>
              <a:rPr dirty="0" err="1"/>
              <a:t>delitto</a:t>
            </a:r>
            <a:r>
              <a:rPr dirty="0"/>
              <a:t> in </a:t>
            </a:r>
            <a:r>
              <a:rPr dirty="0" err="1"/>
              <a:t>esame</a:t>
            </a:r>
            <a:r>
              <a:rPr dirty="0"/>
              <a:t> tutela </a:t>
            </a:r>
            <a:r>
              <a:rPr b="1" dirty="0" err="1">
                <a:solidFill>
                  <a:srgbClr val="7030A0"/>
                </a:solidFill>
              </a:rPr>
              <a:t>l’inviolabilità</a:t>
            </a:r>
            <a:r>
              <a:rPr b="1" dirty="0">
                <a:solidFill>
                  <a:srgbClr val="7030A0"/>
                </a:solidFill>
              </a:rPr>
              <a:t> del </a:t>
            </a:r>
            <a:r>
              <a:rPr b="1" dirty="0" err="1">
                <a:solidFill>
                  <a:srgbClr val="7030A0"/>
                </a:solidFill>
              </a:rPr>
              <a:t>patrimonio</a:t>
            </a:r>
            <a:r>
              <a:rPr b="1" dirty="0">
                <a:solidFill>
                  <a:srgbClr val="7030A0"/>
                </a:solidFill>
              </a:rPr>
              <a:t> </a:t>
            </a:r>
            <a:r>
              <a:rPr b="1" dirty="0" err="1">
                <a:solidFill>
                  <a:srgbClr val="7030A0"/>
                </a:solidFill>
              </a:rPr>
              <a:t>mobiliare</a:t>
            </a:r>
            <a:r>
              <a:rPr b="1" dirty="0">
                <a:solidFill>
                  <a:srgbClr val="7030A0"/>
                </a:solidFill>
              </a:rPr>
              <a:t> ed </a:t>
            </a:r>
            <a:r>
              <a:rPr b="1" dirty="0" err="1">
                <a:solidFill>
                  <a:srgbClr val="7030A0"/>
                </a:solidFill>
              </a:rPr>
              <a:t>immobiliare</a:t>
            </a:r>
            <a:r>
              <a:rPr b="1" dirty="0">
                <a:solidFill>
                  <a:srgbClr val="7030A0"/>
                </a:solidFill>
              </a:rPr>
              <a:t> rispetto ai </a:t>
            </a:r>
            <a:r>
              <a:rPr b="1" dirty="0" err="1">
                <a:solidFill>
                  <a:srgbClr val="7030A0"/>
                </a:solidFill>
              </a:rPr>
              <a:t>fatti</a:t>
            </a:r>
            <a:r>
              <a:rPr b="1" dirty="0">
                <a:solidFill>
                  <a:srgbClr val="7030A0"/>
                </a:solidFill>
              </a:rPr>
              <a:t> </a:t>
            </a:r>
            <a:r>
              <a:rPr b="1" dirty="0" err="1">
                <a:solidFill>
                  <a:srgbClr val="7030A0"/>
                </a:solidFill>
              </a:rPr>
              <a:t>che</a:t>
            </a:r>
            <a:r>
              <a:rPr b="1" dirty="0">
                <a:solidFill>
                  <a:srgbClr val="7030A0"/>
                </a:solidFill>
              </a:rPr>
              <a:t> ne </a:t>
            </a:r>
            <a:r>
              <a:rPr b="1" dirty="0" err="1">
                <a:solidFill>
                  <a:srgbClr val="7030A0"/>
                </a:solidFill>
              </a:rPr>
              <a:t>compromettano</a:t>
            </a:r>
            <a:r>
              <a:rPr b="1" dirty="0">
                <a:solidFill>
                  <a:srgbClr val="7030A0"/>
                </a:solidFill>
              </a:rPr>
              <a:t> la </a:t>
            </a:r>
            <a:r>
              <a:rPr b="1" dirty="0" err="1">
                <a:solidFill>
                  <a:srgbClr val="7030A0"/>
                </a:solidFill>
              </a:rPr>
              <a:t>sostanza</a:t>
            </a:r>
            <a:r>
              <a:rPr b="1" dirty="0">
                <a:solidFill>
                  <a:srgbClr val="7030A0"/>
                </a:solidFill>
              </a:rPr>
              <a:t> o </a:t>
            </a:r>
            <a:r>
              <a:rPr b="1" dirty="0" err="1">
                <a:solidFill>
                  <a:srgbClr val="7030A0"/>
                </a:solidFill>
              </a:rPr>
              <a:t>l’utilizzabilità</a:t>
            </a:r>
            <a:r>
              <a:rPr dirty="0"/>
              <a:t>. </a:t>
            </a:r>
          </a:p>
          <a:p>
            <a:pPr algn="just">
              <a:lnSpc>
                <a:spcPct val="114000"/>
              </a:lnSpc>
              <a:spcBef>
                <a:spcPts val="1200"/>
              </a:spcBef>
              <a:defRPr sz="2200" b="0">
                <a:latin typeface="Times New Roman"/>
                <a:ea typeface="Times New Roman"/>
                <a:cs typeface="Times New Roman"/>
                <a:sym typeface="Times New Roman"/>
              </a:defRPr>
            </a:pPr>
            <a:r>
              <a:rPr dirty="0"/>
              <a:t>E’ un </a:t>
            </a:r>
            <a:r>
              <a:rPr b="1" dirty="0">
                <a:solidFill>
                  <a:srgbClr val="7030A0"/>
                </a:solidFill>
              </a:rPr>
              <a:t>REATO COMUNE</a:t>
            </a:r>
            <a:r>
              <a:rPr dirty="0"/>
              <a:t>, </a:t>
            </a:r>
            <a:r>
              <a:rPr dirty="0" err="1"/>
              <a:t>il</a:t>
            </a:r>
            <a:r>
              <a:rPr dirty="0"/>
              <a:t> </a:t>
            </a:r>
            <a:r>
              <a:rPr dirty="0" err="1"/>
              <a:t>soggetto</a:t>
            </a:r>
            <a:r>
              <a:rPr dirty="0"/>
              <a:t> </a:t>
            </a:r>
            <a:r>
              <a:rPr dirty="0" err="1"/>
              <a:t>passivo</a:t>
            </a:r>
            <a:r>
              <a:rPr dirty="0"/>
              <a:t> </a:t>
            </a:r>
            <a:r>
              <a:rPr dirty="0" err="1"/>
              <a:t>si</a:t>
            </a:r>
            <a:r>
              <a:rPr dirty="0"/>
              <a:t> </a:t>
            </a:r>
            <a:r>
              <a:rPr dirty="0" err="1"/>
              <a:t>identifica</a:t>
            </a:r>
            <a:r>
              <a:rPr dirty="0"/>
              <a:t> </a:t>
            </a:r>
            <a:r>
              <a:rPr dirty="0" err="1"/>
              <a:t>nel</a:t>
            </a:r>
            <a:r>
              <a:rPr dirty="0"/>
              <a:t> </a:t>
            </a:r>
            <a:r>
              <a:rPr dirty="0" err="1"/>
              <a:t>titolare</a:t>
            </a:r>
            <a:r>
              <a:rPr dirty="0"/>
              <a:t> del bene-interesse </a:t>
            </a:r>
            <a:r>
              <a:rPr dirty="0" err="1"/>
              <a:t>tutelato</a:t>
            </a:r>
            <a:r>
              <a:rPr dirty="0"/>
              <a:t> </a:t>
            </a:r>
            <a:r>
              <a:rPr dirty="0" err="1"/>
              <a:t>dalle</a:t>
            </a:r>
            <a:r>
              <a:rPr dirty="0"/>
              <a:t> </a:t>
            </a:r>
            <a:r>
              <a:rPr dirty="0" err="1"/>
              <a:t>norme</a:t>
            </a:r>
            <a:r>
              <a:rPr dirty="0"/>
              <a:t> </a:t>
            </a:r>
            <a:r>
              <a:rPr dirty="0" err="1"/>
              <a:t>penali</a:t>
            </a:r>
            <a:r>
              <a:rPr dirty="0"/>
              <a:t>, </a:t>
            </a:r>
            <a:r>
              <a:rPr dirty="0" err="1"/>
              <a:t>pertanto</a:t>
            </a:r>
            <a:r>
              <a:rPr dirty="0"/>
              <a:t> </a:t>
            </a:r>
            <a:r>
              <a:rPr dirty="0" err="1"/>
              <a:t>quando</a:t>
            </a:r>
            <a:r>
              <a:rPr dirty="0"/>
              <a:t> </a:t>
            </a:r>
            <a:r>
              <a:rPr dirty="0" err="1"/>
              <a:t>il</a:t>
            </a:r>
            <a:r>
              <a:rPr dirty="0"/>
              <a:t> </a:t>
            </a:r>
            <a:r>
              <a:rPr dirty="0" err="1"/>
              <a:t>codice</a:t>
            </a:r>
            <a:r>
              <a:rPr dirty="0"/>
              <a:t> </a:t>
            </a:r>
            <a:r>
              <a:rPr dirty="0" err="1"/>
              <a:t>si</a:t>
            </a:r>
            <a:r>
              <a:rPr dirty="0"/>
              <a:t> </a:t>
            </a:r>
            <a:r>
              <a:rPr dirty="0" err="1"/>
              <a:t>riferisce</a:t>
            </a:r>
            <a:r>
              <a:rPr dirty="0"/>
              <a:t> </a:t>
            </a:r>
            <a:r>
              <a:rPr dirty="0" err="1"/>
              <a:t>alla</a:t>
            </a:r>
            <a:r>
              <a:rPr dirty="0"/>
              <a:t> </a:t>
            </a:r>
            <a:r>
              <a:rPr dirty="0" err="1"/>
              <a:t>cosa</a:t>
            </a:r>
            <a:r>
              <a:rPr dirty="0"/>
              <a:t> </a:t>
            </a:r>
            <a:r>
              <a:rPr dirty="0" err="1"/>
              <a:t>altrui</a:t>
            </a:r>
            <a:r>
              <a:rPr dirty="0"/>
              <a:t> </a:t>
            </a:r>
            <a:r>
              <a:rPr dirty="0" err="1"/>
              <a:t>c</a:t>
            </a:r>
            <a:r>
              <a:rPr b="1" dirty="0" err="1"/>
              <a:t>omprende</a:t>
            </a:r>
            <a:r>
              <a:rPr b="1" dirty="0"/>
              <a:t> </a:t>
            </a:r>
            <a:r>
              <a:rPr b="1" dirty="0" err="1"/>
              <a:t>anche</a:t>
            </a:r>
            <a:r>
              <a:rPr b="1" dirty="0"/>
              <a:t> </a:t>
            </a:r>
            <a:r>
              <a:rPr b="1" dirty="0" err="1"/>
              <a:t>il</a:t>
            </a:r>
            <a:r>
              <a:rPr b="1" dirty="0"/>
              <a:t> mero </a:t>
            </a:r>
            <a:r>
              <a:rPr b="1" dirty="0" err="1"/>
              <a:t>detentore</a:t>
            </a:r>
            <a:r>
              <a:rPr dirty="0"/>
              <a:t>.</a:t>
            </a:r>
          </a:p>
        </p:txBody>
      </p:sp>
      <p:pic>
        <p:nvPicPr>
          <p:cNvPr id="420"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21"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Danneggiamento</a:t>
            </a:r>
          </a:p>
        </p:txBody>
      </p:sp>
    </p:spTree>
  </p:cSld>
  <p:clrMapOvr>
    <a:masterClrMapping/>
  </p:clrMapOvr>
  <p:transition spd="me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3" name="Rettangolo 4"/>
          <p:cNvSpPr txBox="1"/>
          <p:nvPr/>
        </p:nvSpPr>
        <p:spPr>
          <a:xfrm>
            <a:off x="45719" y="836713"/>
            <a:ext cx="9052561" cy="58634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u="sng">
                <a:latin typeface="Times New Roman"/>
                <a:ea typeface="Times New Roman"/>
                <a:cs typeface="Times New Roman"/>
                <a:sym typeface="Times New Roman"/>
              </a:defRPr>
            </a:pPr>
            <a:r>
              <a:rPr sz="2000" dirty="0"/>
              <a:t>ELEMENTO OGGETTIVO</a:t>
            </a:r>
            <a:r>
              <a:rPr sz="2000" b="0" u="none" dirty="0"/>
              <a:t>: Le </a:t>
            </a:r>
            <a:r>
              <a:rPr sz="2000" b="0" u="none" dirty="0" err="1"/>
              <a:t>condotte</a:t>
            </a:r>
            <a:r>
              <a:rPr sz="2000" b="0" u="none" dirty="0"/>
              <a:t> </a:t>
            </a:r>
            <a:r>
              <a:rPr sz="2000" b="0" u="none" dirty="0" err="1"/>
              <a:t>sono</a:t>
            </a:r>
            <a:r>
              <a:rPr sz="2000" b="0" u="none" dirty="0"/>
              <a:t> </a:t>
            </a:r>
            <a:r>
              <a:rPr sz="2000" b="0" u="none" dirty="0" err="1"/>
              <a:t>accomunate</a:t>
            </a:r>
            <a:r>
              <a:rPr sz="2000" b="0" u="none" dirty="0"/>
              <a:t> </a:t>
            </a:r>
            <a:r>
              <a:rPr sz="2000" b="0" u="none" dirty="0" err="1"/>
              <a:t>dalla</a:t>
            </a:r>
            <a:r>
              <a:rPr sz="2000" b="0" u="none" dirty="0"/>
              <a:t> </a:t>
            </a:r>
            <a:r>
              <a:rPr sz="2000" b="0" u="none" dirty="0" err="1"/>
              <a:t>eguale</a:t>
            </a:r>
            <a:r>
              <a:rPr sz="2000" b="0" u="none" dirty="0"/>
              <a:t> </a:t>
            </a:r>
            <a:r>
              <a:rPr sz="2000" b="0" u="none" dirty="0" err="1"/>
              <a:t>attitudine</a:t>
            </a:r>
            <a:r>
              <a:rPr sz="2000" b="0" u="none" dirty="0"/>
              <a:t> a </a:t>
            </a:r>
            <a:r>
              <a:rPr sz="2000" b="0" u="none" dirty="0" err="1"/>
              <a:t>produrre</a:t>
            </a:r>
            <a:r>
              <a:rPr sz="2000" b="0" u="none" dirty="0"/>
              <a:t> </a:t>
            </a:r>
            <a:r>
              <a:rPr sz="2000" b="0" u="none" dirty="0" err="1"/>
              <a:t>il</a:t>
            </a:r>
            <a:r>
              <a:rPr sz="2000" b="0" u="none" dirty="0"/>
              <a:t> </a:t>
            </a:r>
            <a:r>
              <a:rPr sz="2000" b="0" u="none" dirty="0" err="1"/>
              <a:t>medesimo</a:t>
            </a:r>
            <a:r>
              <a:rPr sz="2000" b="0" u="none" dirty="0"/>
              <a:t> </a:t>
            </a:r>
            <a:r>
              <a:rPr sz="2000" b="0" u="none" dirty="0" err="1"/>
              <a:t>risultato</a:t>
            </a:r>
            <a:r>
              <a:rPr sz="2000" b="0" u="none" dirty="0"/>
              <a:t>  — ossia </a:t>
            </a:r>
            <a:r>
              <a:rPr sz="2000" b="0" u="none" dirty="0" err="1"/>
              <a:t>l’alterazione</a:t>
            </a:r>
            <a:r>
              <a:rPr sz="2000" b="0" u="none" dirty="0"/>
              <a:t> </a:t>
            </a:r>
            <a:r>
              <a:rPr sz="2000" b="0" u="none" dirty="0" err="1"/>
              <a:t>strutturale</a:t>
            </a:r>
            <a:r>
              <a:rPr sz="2000" b="0" u="none" dirty="0"/>
              <a:t> o </a:t>
            </a:r>
            <a:r>
              <a:rPr sz="2000" b="0" u="none" dirty="0" err="1"/>
              <a:t>funzionale</a:t>
            </a:r>
            <a:r>
              <a:rPr sz="2000" b="0" u="none" dirty="0"/>
              <a:t> </a:t>
            </a:r>
            <a:r>
              <a:rPr sz="2000" b="0" u="none" dirty="0" err="1"/>
              <a:t>della</a:t>
            </a:r>
            <a:r>
              <a:rPr sz="2000" b="0" u="none" dirty="0"/>
              <a:t> </a:t>
            </a:r>
            <a:r>
              <a:rPr sz="2000" b="0" u="none" dirty="0" err="1"/>
              <a:t>cosa</a:t>
            </a:r>
            <a:r>
              <a:rPr sz="2000" b="0" u="none" dirty="0"/>
              <a:t>, </a:t>
            </a:r>
            <a:r>
              <a:rPr sz="2000" b="0" u="none" dirty="0" err="1"/>
              <a:t>ovvero</a:t>
            </a:r>
            <a:r>
              <a:rPr sz="2000" b="0" u="none" dirty="0"/>
              <a:t> un </a:t>
            </a:r>
            <a:r>
              <a:rPr sz="2000" b="0" u="none" dirty="0" err="1"/>
              <a:t>suo</a:t>
            </a:r>
            <a:r>
              <a:rPr sz="2000" b="0" u="none" dirty="0"/>
              <a:t> </a:t>
            </a:r>
            <a:r>
              <a:rPr sz="2000" b="0" u="none" dirty="0" err="1"/>
              <a:t>deterioramento</a:t>
            </a:r>
            <a:r>
              <a:rPr sz="2000" b="0" u="none" dirty="0"/>
              <a:t> una </a:t>
            </a:r>
            <a:r>
              <a:rPr sz="2000" b="0" u="none" dirty="0" err="1"/>
              <a:t>certa</a:t>
            </a:r>
            <a:r>
              <a:rPr sz="2000" b="0" u="none" dirty="0"/>
              <a:t> </a:t>
            </a:r>
            <a:r>
              <a:rPr sz="2000" b="0" u="none" dirty="0" err="1"/>
              <a:t>consistenza</a:t>
            </a:r>
            <a:r>
              <a:rPr sz="2000" b="0" u="none" dirty="0"/>
              <a:t> ed </a:t>
            </a:r>
            <a:r>
              <a:rPr sz="2000" b="0" u="none" dirty="0" err="1"/>
              <a:t>evidenza</a:t>
            </a:r>
            <a:r>
              <a:rPr sz="2000" b="0" u="none" dirty="0"/>
              <a:t>.</a:t>
            </a:r>
            <a:r>
              <a:rPr lang="it-IT" sz="2000" b="0" u="none" dirty="0"/>
              <a:t>   </a:t>
            </a:r>
          </a:p>
          <a:p>
            <a:pPr algn="just">
              <a:lnSpc>
                <a:spcPct val="114000"/>
              </a:lnSpc>
              <a:spcBef>
                <a:spcPts val="1200"/>
              </a:spcBef>
              <a:defRPr sz="2200" u="sng">
                <a:latin typeface="Times New Roman"/>
                <a:ea typeface="Times New Roman"/>
                <a:cs typeface="Times New Roman"/>
                <a:sym typeface="Times New Roman"/>
              </a:defRPr>
            </a:pPr>
            <a:r>
              <a:rPr lang="it-IT" u="none" dirty="0">
                <a:solidFill>
                  <a:srgbClr val="00B050"/>
                </a:solidFill>
              </a:rPr>
              <a:t>- Per la realizzazione del reato basta che ne venga  realizzata una soltanto-</a:t>
            </a:r>
            <a:endParaRPr u="none" dirty="0">
              <a:solidFill>
                <a:srgbClr val="00B050"/>
              </a:solidFill>
            </a:endParaRPr>
          </a:p>
          <a:p>
            <a:pPr algn="just">
              <a:lnSpc>
                <a:spcPct val="114000"/>
              </a:lnSpc>
              <a:spcBef>
                <a:spcPts val="1200"/>
              </a:spcBef>
              <a:defRPr sz="2200" u="sng">
                <a:latin typeface="Times New Roman"/>
                <a:ea typeface="Times New Roman"/>
                <a:cs typeface="Times New Roman"/>
                <a:sym typeface="Times New Roman"/>
              </a:defRPr>
            </a:pPr>
            <a:r>
              <a:rPr sz="1900" b="0" u="none" dirty="0" err="1"/>
              <a:t>Pertanto</a:t>
            </a:r>
            <a:r>
              <a:rPr sz="1900" b="0" u="none" dirty="0"/>
              <a:t> le </a:t>
            </a:r>
            <a:r>
              <a:rPr sz="1900" b="0" u="none" dirty="0" err="1"/>
              <a:t>condotte</a:t>
            </a:r>
            <a:r>
              <a:rPr sz="1900" b="0" u="none" dirty="0"/>
              <a:t> </a:t>
            </a:r>
            <a:r>
              <a:rPr sz="1900" b="0" u="none" dirty="0" err="1"/>
              <a:t>sanzionate</a:t>
            </a:r>
            <a:r>
              <a:rPr sz="1900" b="0" u="none" dirty="0"/>
              <a:t> </a:t>
            </a:r>
            <a:r>
              <a:rPr sz="1900" b="0" u="none" dirty="0" err="1"/>
              <a:t>sono</a:t>
            </a:r>
            <a:r>
              <a:rPr sz="1900" b="0" u="none" dirty="0"/>
              <a:t>:</a:t>
            </a:r>
          </a:p>
          <a:p>
            <a:pPr marL="182562" indent="-182562" algn="just">
              <a:lnSpc>
                <a:spcPct val="114000"/>
              </a:lnSpc>
              <a:spcBef>
                <a:spcPts val="600"/>
              </a:spcBef>
              <a:buSzPct val="100000"/>
              <a:buFont typeface="Arial"/>
              <a:buChar char="•"/>
              <a:defRPr sz="2000">
                <a:solidFill>
                  <a:srgbClr val="7030A0"/>
                </a:solidFill>
                <a:latin typeface="Times New Roman"/>
                <a:ea typeface="Times New Roman"/>
                <a:cs typeface="Times New Roman"/>
                <a:sym typeface="Times New Roman"/>
              </a:defRPr>
            </a:pPr>
            <a:r>
              <a:rPr sz="1900" dirty="0" err="1"/>
              <a:t>DISTRUGGERE</a:t>
            </a:r>
            <a:r>
              <a:rPr sz="1900" b="0" dirty="0" err="1">
                <a:solidFill>
                  <a:srgbClr val="000000"/>
                </a:solidFill>
              </a:rPr>
              <a:t>:la</a:t>
            </a:r>
            <a:r>
              <a:rPr sz="1900" b="0" dirty="0">
                <a:solidFill>
                  <a:srgbClr val="000000"/>
                </a:solidFill>
              </a:rPr>
              <a:t> </a:t>
            </a:r>
            <a:r>
              <a:rPr sz="1900" b="0" dirty="0" err="1">
                <a:solidFill>
                  <a:srgbClr val="000000"/>
                </a:solidFill>
              </a:rPr>
              <a:t>distruzione</a:t>
            </a:r>
            <a:r>
              <a:rPr sz="1900" b="0" dirty="0">
                <a:solidFill>
                  <a:srgbClr val="000000"/>
                </a:solidFill>
              </a:rPr>
              <a:t> </a:t>
            </a:r>
            <a:r>
              <a:rPr sz="1900" b="0" dirty="0" err="1">
                <a:solidFill>
                  <a:srgbClr val="000000"/>
                </a:solidFill>
              </a:rPr>
              <a:t>comporta</a:t>
            </a:r>
            <a:r>
              <a:rPr sz="1900" b="0" dirty="0">
                <a:solidFill>
                  <a:srgbClr val="000000"/>
                </a:solidFill>
              </a:rPr>
              <a:t> </a:t>
            </a:r>
            <a:r>
              <a:rPr sz="1900" b="0" dirty="0" err="1">
                <a:solidFill>
                  <a:srgbClr val="000000"/>
                </a:solidFill>
              </a:rPr>
              <a:t>il</a:t>
            </a:r>
            <a:r>
              <a:rPr sz="1900" b="0" dirty="0">
                <a:solidFill>
                  <a:srgbClr val="000000"/>
                </a:solidFill>
              </a:rPr>
              <a:t> </a:t>
            </a:r>
            <a:r>
              <a:rPr sz="1900" b="0" dirty="0" err="1">
                <a:solidFill>
                  <a:srgbClr val="000000"/>
                </a:solidFill>
              </a:rPr>
              <a:t>completo</a:t>
            </a:r>
            <a:r>
              <a:rPr sz="1900" b="0" dirty="0">
                <a:solidFill>
                  <a:srgbClr val="000000"/>
                </a:solidFill>
              </a:rPr>
              <a:t> </a:t>
            </a:r>
            <a:r>
              <a:rPr sz="1900" b="0" dirty="0" err="1">
                <a:solidFill>
                  <a:srgbClr val="000000"/>
                </a:solidFill>
              </a:rPr>
              <a:t>annientamento</a:t>
            </a:r>
            <a:r>
              <a:rPr sz="1900" b="0" dirty="0">
                <a:solidFill>
                  <a:srgbClr val="000000"/>
                </a:solidFill>
              </a:rPr>
              <a:t> </a:t>
            </a:r>
            <a:r>
              <a:rPr sz="1900" b="0" dirty="0" err="1">
                <a:solidFill>
                  <a:srgbClr val="000000"/>
                </a:solidFill>
              </a:rPr>
              <a:t>della</a:t>
            </a:r>
            <a:r>
              <a:rPr sz="1900" b="0" dirty="0">
                <a:solidFill>
                  <a:srgbClr val="000000"/>
                </a:solidFill>
              </a:rPr>
              <a:t> </a:t>
            </a:r>
            <a:r>
              <a:rPr sz="1900" b="0" dirty="0" err="1">
                <a:solidFill>
                  <a:srgbClr val="000000"/>
                </a:solidFill>
              </a:rPr>
              <a:t>cosa</a:t>
            </a:r>
            <a:r>
              <a:rPr sz="1900" b="0" dirty="0">
                <a:solidFill>
                  <a:srgbClr val="000000"/>
                </a:solidFill>
              </a:rPr>
              <a:t> - </a:t>
            </a:r>
            <a:r>
              <a:rPr sz="1900" b="0" i="1" dirty="0">
                <a:solidFill>
                  <a:srgbClr val="000000"/>
                </a:solidFill>
              </a:rPr>
              <a:t>es: </a:t>
            </a:r>
            <a:r>
              <a:rPr sz="1900" b="0" i="1" dirty="0" err="1">
                <a:solidFill>
                  <a:srgbClr val="000000"/>
                </a:solidFill>
              </a:rPr>
              <a:t>demolizione</a:t>
            </a:r>
            <a:r>
              <a:rPr sz="1900" b="0" i="1" dirty="0">
                <a:solidFill>
                  <a:srgbClr val="000000"/>
                </a:solidFill>
              </a:rPr>
              <a:t> di un </a:t>
            </a:r>
            <a:r>
              <a:rPr sz="1900" b="0" i="1" dirty="0" err="1">
                <a:solidFill>
                  <a:srgbClr val="000000"/>
                </a:solidFill>
              </a:rPr>
              <a:t>edificio</a:t>
            </a:r>
            <a:r>
              <a:rPr sz="1900" b="0" i="1" dirty="0">
                <a:solidFill>
                  <a:srgbClr val="000000"/>
                </a:solidFill>
              </a:rPr>
              <a:t>- </a:t>
            </a:r>
            <a:r>
              <a:rPr sz="1900" b="0" i="1" dirty="0" err="1">
                <a:solidFill>
                  <a:srgbClr val="000000"/>
                </a:solidFill>
              </a:rPr>
              <a:t>frantumazione</a:t>
            </a:r>
            <a:r>
              <a:rPr sz="1900" b="0" i="1" dirty="0">
                <a:solidFill>
                  <a:srgbClr val="000000"/>
                </a:solidFill>
              </a:rPr>
              <a:t> di un </a:t>
            </a:r>
            <a:r>
              <a:rPr sz="1900" b="0" i="1" dirty="0" err="1">
                <a:solidFill>
                  <a:srgbClr val="000000"/>
                </a:solidFill>
              </a:rPr>
              <a:t>oggetto</a:t>
            </a:r>
            <a:r>
              <a:rPr sz="1900" b="0" i="1" dirty="0">
                <a:solidFill>
                  <a:srgbClr val="000000"/>
                </a:solidFill>
              </a:rPr>
              <a:t> di </a:t>
            </a:r>
            <a:r>
              <a:rPr sz="1900" b="0" i="1" dirty="0" err="1">
                <a:solidFill>
                  <a:srgbClr val="000000"/>
                </a:solidFill>
              </a:rPr>
              <a:t>vetro</a:t>
            </a:r>
            <a:r>
              <a:rPr sz="1900" b="0" i="1" dirty="0">
                <a:solidFill>
                  <a:srgbClr val="000000"/>
                </a:solidFill>
              </a:rPr>
              <a:t> </a:t>
            </a:r>
            <a:r>
              <a:rPr sz="1900" b="0" i="1" dirty="0" err="1">
                <a:solidFill>
                  <a:srgbClr val="000000"/>
                </a:solidFill>
              </a:rPr>
              <a:t>ecc</a:t>
            </a:r>
            <a:r>
              <a:rPr sz="1900" b="0" i="1" dirty="0">
                <a:solidFill>
                  <a:srgbClr val="000000"/>
                </a:solidFill>
              </a:rPr>
              <a:t>..;</a:t>
            </a:r>
            <a:endParaRPr sz="1900" i="1" dirty="0"/>
          </a:p>
          <a:p>
            <a:pPr marL="182562" indent="-182562" algn="just">
              <a:lnSpc>
                <a:spcPct val="114000"/>
              </a:lnSpc>
              <a:spcBef>
                <a:spcPts val="600"/>
              </a:spcBef>
              <a:buSzPct val="100000"/>
              <a:buFont typeface="Arial"/>
              <a:buChar char="•"/>
              <a:defRPr sz="2000">
                <a:solidFill>
                  <a:srgbClr val="7030A0"/>
                </a:solidFill>
                <a:latin typeface="Times New Roman"/>
                <a:ea typeface="Times New Roman"/>
                <a:cs typeface="Times New Roman"/>
                <a:sym typeface="Times New Roman"/>
              </a:defRPr>
            </a:pPr>
            <a:r>
              <a:rPr sz="1900" dirty="0"/>
              <a:t>DISPERDERE</a:t>
            </a:r>
            <a:r>
              <a:rPr sz="1900" b="0" dirty="0">
                <a:solidFill>
                  <a:srgbClr val="000000"/>
                </a:solidFill>
              </a:rPr>
              <a:t>: </a:t>
            </a:r>
            <a:r>
              <a:rPr sz="1900" b="0" dirty="0" err="1">
                <a:solidFill>
                  <a:srgbClr val="000000"/>
                </a:solidFill>
              </a:rPr>
              <a:t>concernente</a:t>
            </a:r>
            <a:r>
              <a:rPr sz="1900" b="0" dirty="0">
                <a:solidFill>
                  <a:srgbClr val="000000"/>
                </a:solidFill>
              </a:rPr>
              <a:t> solo le </a:t>
            </a:r>
            <a:r>
              <a:rPr sz="1900" b="0" dirty="0" err="1">
                <a:solidFill>
                  <a:srgbClr val="000000"/>
                </a:solidFill>
              </a:rPr>
              <a:t>cose</a:t>
            </a:r>
            <a:r>
              <a:rPr sz="1900" b="0" dirty="0">
                <a:solidFill>
                  <a:srgbClr val="000000"/>
                </a:solidFill>
              </a:rPr>
              <a:t> </a:t>
            </a:r>
            <a:r>
              <a:rPr sz="1900" b="0" dirty="0" err="1">
                <a:solidFill>
                  <a:srgbClr val="000000"/>
                </a:solidFill>
              </a:rPr>
              <a:t>mobili</a:t>
            </a:r>
            <a:r>
              <a:rPr sz="1900" b="0" dirty="0">
                <a:solidFill>
                  <a:srgbClr val="000000"/>
                </a:solidFill>
              </a:rPr>
              <a:t>, </a:t>
            </a:r>
            <a:r>
              <a:rPr sz="1900" b="0" dirty="0" err="1">
                <a:solidFill>
                  <a:srgbClr val="000000"/>
                </a:solidFill>
              </a:rPr>
              <a:t>consiste</a:t>
            </a:r>
            <a:r>
              <a:rPr sz="1900" b="0" dirty="0">
                <a:solidFill>
                  <a:srgbClr val="000000"/>
                </a:solidFill>
              </a:rPr>
              <a:t> </a:t>
            </a:r>
            <a:r>
              <a:rPr sz="1900" b="0" dirty="0" err="1">
                <a:solidFill>
                  <a:srgbClr val="000000"/>
                </a:solidFill>
              </a:rPr>
              <a:t>nel</a:t>
            </a:r>
            <a:r>
              <a:rPr sz="1900" b="0" dirty="0">
                <a:solidFill>
                  <a:srgbClr val="000000"/>
                </a:solidFill>
              </a:rPr>
              <a:t> far </a:t>
            </a:r>
            <a:r>
              <a:rPr sz="1900" b="0" dirty="0" err="1">
                <a:solidFill>
                  <a:srgbClr val="000000"/>
                </a:solidFill>
              </a:rPr>
              <a:t>uscire</a:t>
            </a:r>
            <a:r>
              <a:rPr sz="1900" b="0" dirty="0">
                <a:solidFill>
                  <a:srgbClr val="000000"/>
                </a:solidFill>
              </a:rPr>
              <a:t> la </a:t>
            </a:r>
            <a:r>
              <a:rPr sz="1900" b="0" dirty="0" err="1">
                <a:solidFill>
                  <a:srgbClr val="000000"/>
                </a:solidFill>
              </a:rPr>
              <a:t>cosa</a:t>
            </a:r>
            <a:r>
              <a:rPr sz="1900" b="0" dirty="0">
                <a:solidFill>
                  <a:srgbClr val="000000"/>
                </a:solidFill>
              </a:rPr>
              <a:t> </a:t>
            </a:r>
            <a:r>
              <a:rPr sz="1900" b="0" dirty="0" err="1">
                <a:solidFill>
                  <a:srgbClr val="000000"/>
                </a:solidFill>
              </a:rPr>
              <a:t>dalla</a:t>
            </a:r>
            <a:r>
              <a:rPr sz="1900" b="0" dirty="0">
                <a:solidFill>
                  <a:srgbClr val="000000"/>
                </a:solidFill>
              </a:rPr>
              <a:t> </a:t>
            </a:r>
            <a:r>
              <a:rPr sz="1900" b="0" dirty="0" err="1">
                <a:solidFill>
                  <a:srgbClr val="000000"/>
                </a:solidFill>
              </a:rPr>
              <a:t>disponibilità</a:t>
            </a:r>
            <a:r>
              <a:rPr sz="1900" b="0" dirty="0">
                <a:solidFill>
                  <a:srgbClr val="000000"/>
                </a:solidFill>
              </a:rPr>
              <a:t> </a:t>
            </a:r>
            <a:r>
              <a:rPr sz="1900" b="0" dirty="0" err="1">
                <a:solidFill>
                  <a:srgbClr val="000000"/>
                </a:solidFill>
              </a:rPr>
              <a:t>dell’avente</a:t>
            </a:r>
            <a:r>
              <a:rPr sz="1900" b="0" dirty="0">
                <a:solidFill>
                  <a:srgbClr val="000000"/>
                </a:solidFill>
              </a:rPr>
              <a:t> </a:t>
            </a:r>
            <a:r>
              <a:rPr sz="1900" b="0" dirty="0" err="1">
                <a:solidFill>
                  <a:srgbClr val="000000"/>
                </a:solidFill>
              </a:rPr>
              <a:t>diritto</a:t>
            </a:r>
            <a:r>
              <a:rPr sz="1900" b="0" dirty="0">
                <a:solidFill>
                  <a:srgbClr val="000000"/>
                </a:solidFill>
              </a:rPr>
              <a:t> in modo </a:t>
            </a:r>
            <a:r>
              <a:rPr sz="1900" b="0" dirty="0" err="1">
                <a:solidFill>
                  <a:srgbClr val="000000"/>
                </a:solidFill>
              </a:rPr>
              <a:t>che</a:t>
            </a:r>
            <a:r>
              <a:rPr sz="1900" b="0" dirty="0">
                <a:solidFill>
                  <a:srgbClr val="000000"/>
                </a:solidFill>
              </a:rPr>
              <a:t> </a:t>
            </a:r>
            <a:r>
              <a:rPr sz="1900" b="0" dirty="0" err="1">
                <a:solidFill>
                  <a:srgbClr val="000000"/>
                </a:solidFill>
              </a:rPr>
              <a:t>costui</a:t>
            </a:r>
            <a:r>
              <a:rPr sz="1900" b="0" dirty="0">
                <a:solidFill>
                  <a:srgbClr val="000000"/>
                </a:solidFill>
              </a:rPr>
              <a:t> non </a:t>
            </a:r>
            <a:r>
              <a:rPr sz="1900" b="0" dirty="0" err="1">
                <a:solidFill>
                  <a:srgbClr val="000000"/>
                </a:solidFill>
              </a:rPr>
              <a:t>possa</a:t>
            </a:r>
            <a:r>
              <a:rPr sz="1900" b="0" dirty="0">
                <a:solidFill>
                  <a:srgbClr val="000000"/>
                </a:solidFill>
              </a:rPr>
              <a:t> </a:t>
            </a:r>
            <a:r>
              <a:rPr sz="1900" b="0" dirty="0" err="1">
                <a:solidFill>
                  <a:srgbClr val="000000"/>
                </a:solidFill>
              </a:rPr>
              <a:t>più</a:t>
            </a:r>
            <a:r>
              <a:rPr sz="1900" b="0" dirty="0">
                <a:solidFill>
                  <a:srgbClr val="000000"/>
                </a:solidFill>
              </a:rPr>
              <a:t> </a:t>
            </a:r>
            <a:r>
              <a:rPr sz="1900" b="0" dirty="0" err="1">
                <a:solidFill>
                  <a:srgbClr val="000000"/>
                </a:solidFill>
              </a:rPr>
              <a:t>recuperarla</a:t>
            </a:r>
            <a:r>
              <a:rPr sz="1900" b="0" dirty="0">
                <a:solidFill>
                  <a:srgbClr val="000000"/>
                </a:solidFill>
              </a:rPr>
              <a:t> o </a:t>
            </a:r>
            <a:r>
              <a:rPr sz="1900" b="0" dirty="0" err="1">
                <a:solidFill>
                  <a:srgbClr val="000000"/>
                </a:solidFill>
              </a:rPr>
              <a:t>possa</a:t>
            </a:r>
            <a:r>
              <a:rPr sz="1900" b="0" dirty="0">
                <a:solidFill>
                  <a:srgbClr val="000000"/>
                </a:solidFill>
              </a:rPr>
              <a:t> </a:t>
            </a:r>
            <a:r>
              <a:rPr sz="1900" b="0" dirty="0" err="1">
                <a:solidFill>
                  <a:srgbClr val="000000"/>
                </a:solidFill>
              </a:rPr>
              <a:t>farlo</a:t>
            </a:r>
            <a:r>
              <a:rPr sz="1900" b="0" dirty="0">
                <a:solidFill>
                  <a:srgbClr val="000000"/>
                </a:solidFill>
              </a:rPr>
              <a:t> </a:t>
            </a:r>
            <a:r>
              <a:rPr sz="1900" b="0" dirty="0" err="1">
                <a:solidFill>
                  <a:srgbClr val="000000"/>
                </a:solidFill>
              </a:rPr>
              <a:t>soltanto</a:t>
            </a:r>
            <a:r>
              <a:rPr sz="1900" b="0" dirty="0">
                <a:solidFill>
                  <a:srgbClr val="000000"/>
                </a:solidFill>
              </a:rPr>
              <a:t> con </a:t>
            </a:r>
            <a:r>
              <a:rPr sz="1900" b="0" dirty="0" err="1">
                <a:solidFill>
                  <a:srgbClr val="000000"/>
                </a:solidFill>
              </a:rPr>
              <a:t>molta</a:t>
            </a:r>
            <a:r>
              <a:rPr sz="1900" b="0" dirty="0">
                <a:solidFill>
                  <a:srgbClr val="000000"/>
                </a:solidFill>
              </a:rPr>
              <a:t> </a:t>
            </a:r>
            <a:r>
              <a:rPr sz="1900" b="0" dirty="0" err="1">
                <a:solidFill>
                  <a:srgbClr val="000000"/>
                </a:solidFill>
              </a:rPr>
              <a:t>difficoltà</a:t>
            </a:r>
            <a:r>
              <a:rPr sz="1900" b="0" dirty="0">
                <a:solidFill>
                  <a:srgbClr val="000000"/>
                </a:solidFill>
              </a:rPr>
              <a:t> - </a:t>
            </a:r>
            <a:r>
              <a:rPr sz="1900" b="0" i="1" dirty="0">
                <a:solidFill>
                  <a:srgbClr val="000000"/>
                </a:solidFill>
              </a:rPr>
              <a:t>es: </a:t>
            </a:r>
            <a:r>
              <a:rPr sz="1900" b="0" i="1" dirty="0" err="1">
                <a:solidFill>
                  <a:srgbClr val="000000"/>
                </a:solidFill>
              </a:rPr>
              <a:t>aprire</a:t>
            </a:r>
            <a:r>
              <a:rPr sz="1900" b="0" i="1" dirty="0">
                <a:solidFill>
                  <a:srgbClr val="000000"/>
                </a:solidFill>
              </a:rPr>
              <a:t> una </a:t>
            </a:r>
            <a:r>
              <a:rPr sz="1900" b="0" i="1" dirty="0" err="1">
                <a:solidFill>
                  <a:srgbClr val="000000"/>
                </a:solidFill>
              </a:rPr>
              <a:t>bombola</a:t>
            </a:r>
            <a:r>
              <a:rPr sz="1900" b="0" i="1" dirty="0">
                <a:solidFill>
                  <a:srgbClr val="000000"/>
                </a:solidFill>
              </a:rPr>
              <a:t> di gas in modo da </a:t>
            </a:r>
            <a:r>
              <a:rPr sz="1900" b="0" i="1" dirty="0" err="1">
                <a:solidFill>
                  <a:srgbClr val="000000"/>
                </a:solidFill>
              </a:rPr>
              <a:t>farne</a:t>
            </a:r>
            <a:r>
              <a:rPr sz="1900" b="0" i="1" dirty="0">
                <a:solidFill>
                  <a:srgbClr val="000000"/>
                </a:solidFill>
              </a:rPr>
              <a:t> </a:t>
            </a:r>
            <a:r>
              <a:rPr sz="1900" b="0" i="1" dirty="0" err="1">
                <a:solidFill>
                  <a:srgbClr val="000000"/>
                </a:solidFill>
              </a:rPr>
              <a:t>fuoriuscire</a:t>
            </a:r>
            <a:r>
              <a:rPr sz="1900" b="0" i="1" dirty="0">
                <a:solidFill>
                  <a:srgbClr val="000000"/>
                </a:solidFill>
              </a:rPr>
              <a:t> </a:t>
            </a:r>
            <a:r>
              <a:rPr sz="1900" b="0" i="1" dirty="0" err="1">
                <a:solidFill>
                  <a:srgbClr val="000000"/>
                </a:solidFill>
              </a:rPr>
              <a:t>il</a:t>
            </a:r>
            <a:r>
              <a:rPr sz="1900" b="0" i="1" dirty="0">
                <a:solidFill>
                  <a:srgbClr val="000000"/>
                </a:solidFill>
              </a:rPr>
              <a:t> gas - </a:t>
            </a:r>
            <a:r>
              <a:rPr sz="1900" b="0" i="1" dirty="0" err="1">
                <a:solidFill>
                  <a:srgbClr val="000000"/>
                </a:solidFill>
              </a:rPr>
              <a:t>gettare</a:t>
            </a:r>
            <a:r>
              <a:rPr sz="1900" b="0" i="1" dirty="0">
                <a:solidFill>
                  <a:srgbClr val="000000"/>
                </a:solidFill>
              </a:rPr>
              <a:t> </a:t>
            </a:r>
            <a:r>
              <a:rPr sz="1900" b="0" i="1" dirty="0" err="1">
                <a:solidFill>
                  <a:srgbClr val="000000"/>
                </a:solidFill>
              </a:rPr>
              <a:t>degli</a:t>
            </a:r>
            <a:r>
              <a:rPr sz="1900" b="0" i="1" dirty="0">
                <a:solidFill>
                  <a:srgbClr val="000000"/>
                </a:solidFill>
              </a:rPr>
              <a:t> </a:t>
            </a:r>
            <a:r>
              <a:rPr sz="1900" b="0" i="1" dirty="0" err="1">
                <a:solidFill>
                  <a:srgbClr val="000000"/>
                </a:solidFill>
              </a:rPr>
              <a:t>oggetti</a:t>
            </a:r>
            <a:r>
              <a:rPr sz="1900" b="0" i="1" dirty="0">
                <a:solidFill>
                  <a:srgbClr val="000000"/>
                </a:solidFill>
              </a:rPr>
              <a:t> da un </a:t>
            </a:r>
            <a:r>
              <a:rPr sz="1900" b="0" i="1" dirty="0" err="1">
                <a:solidFill>
                  <a:srgbClr val="000000"/>
                </a:solidFill>
              </a:rPr>
              <a:t>treno</a:t>
            </a:r>
            <a:r>
              <a:rPr sz="1900" b="0" i="1" dirty="0">
                <a:solidFill>
                  <a:srgbClr val="000000"/>
                </a:solidFill>
              </a:rPr>
              <a:t> in </a:t>
            </a:r>
            <a:r>
              <a:rPr sz="1900" b="0" i="1" dirty="0" err="1">
                <a:solidFill>
                  <a:srgbClr val="000000"/>
                </a:solidFill>
              </a:rPr>
              <a:t>corsa</a:t>
            </a:r>
            <a:r>
              <a:rPr sz="1900" b="0" i="1" dirty="0">
                <a:solidFill>
                  <a:srgbClr val="000000"/>
                </a:solidFill>
              </a:rPr>
              <a:t>;</a:t>
            </a:r>
            <a:endParaRPr sz="1900" i="1" dirty="0"/>
          </a:p>
          <a:p>
            <a:pPr marL="182562" indent="-182562" algn="just">
              <a:lnSpc>
                <a:spcPct val="114000"/>
              </a:lnSpc>
              <a:spcBef>
                <a:spcPts val="600"/>
              </a:spcBef>
              <a:buSzPct val="100000"/>
              <a:buFont typeface="Arial"/>
              <a:buChar char="•"/>
              <a:defRPr sz="2000">
                <a:solidFill>
                  <a:srgbClr val="7030A0"/>
                </a:solidFill>
                <a:latin typeface="Times New Roman"/>
                <a:ea typeface="Times New Roman"/>
                <a:cs typeface="Times New Roman"/>
                <a:sym typeface="Times New Roman"/>
              </a:defRPr>
            </a:pPr>
            <a:r>
              <a:rPr sz="1900" dirty="0"/>
              <a:t>DETERIORARE</a:t>
            </a:r>
            <a:r>
              <a:rPr sz="1900" b="0" dirty="0">
                <a:solidFill>
                  <a:srgbClr val="000000"/>
                </a:solidFill>
              </a:rPr>
              <a:t>: </a:t>
            </a:r>
            <a:r>
              <a:rPr sz="1900" b="0" dirty="0" err="1">
                <a:solidFill>
                  <a:srgbClr val="000000"/>
                </a:solidFill>
              </a:rPr>
              <a:t>alterare</a:t>
            </a:r>
            <a:r>
              <a:rPr sz="1900" b="0" dirty="0">
                <a:solidFill>
                  <a:srgbClr val="000000"/>
                </a:solidFill>
              </a:rPr>
              <a:t> in </a:t>
            </a:r>
            <a:r>
              <a:rPr sz="1900" b="0" dirty="0" err="1">
                <a:solidFill>
                  <a:srgbClr val="000000"/>
                </a:solidFill>
              </a:rPr>
              <a:t>peggio</a:t>
            </a:r>
            <a:r>
              <a:rPr sz="1900" b="0" dirty="0">
                <a:solidFill>
                  <a:srgbClr val="000000"/>
                </a:solidFill>
              </a:rPr>
              <a:t> una </a:t>
            </a:r>
            <a:r>
              <a:rPr sz="1900" b="0" dirty="0" err="1">
                <a:solidFill>
                  <a:srgbClr val="000000"/>
                </a:solidFill>
              </a:rPr>
              <a:t>cosa</a:t>
            </a:r>
            <a:r>
              <a:rPr sz="1900" b="0" dirty="0">
                <a:solidFill>
                  <a:srgbClr val="000000"/>
                </a:solidFill>
              </a:rPr>
              <a:t>, in modo da </a:t>
            </a:r>
            <a:r>
              <a:rPr sz="1900" b="0" dirty="0" err="1">
                <a:solidFill>
                  <a:srgbClr val="000000"/>
                </a:solidFill>
              </a:rPr>
              <a:t>farne</a:t>
            </a:r>
            <a:r>
              <a:rPr sz="1900" b="0" dirty="0">
                <a:solidFill>
                  <a:srgbClr val="000000"/>
                </a:solidFill>
              </a:rPr>
              <a:t> </a:t>
            </a:r>
            <a:r>
              <a:rPr sz="1900" b="0" dirty="0" err="1">
                <a:solidFill>
                  <a:srgbClr val="000000"/>
                </a:solidFill>
              </a:rPr>
              <a:t>diminuire</a:t>
            </a:r>
            <a:r>
              <a:rPr sz="1900" b="0" dirty="0">
                <a:solidFill>
                  <a:srgbClr val="000000"/>
                </a:solidFill>
              </a:rPr>
              <a:t> </a:t>
            </a:r>
            <a:r>
              <a:rPr sz="1900" b="0" dirty="0" err="1">
                <a:solidFill>
                  <a:srgbClr val="000000"/>
                </a:solidFill>
              </a:rPr>
              <a:t>il</a:t>
            </a:r>
            <a:r>
              <a:rPr sz="1900" b="0" dirty="0">
                <a:solidFill>
                  <a:srgbClr val="000000"/>
                </a:solidFill>
              </a:rPr>
              <a:t> </a:t>
            </a:r>
            <a:r>
              <a:rPr sz="1900" b="0" dirty="0" err="1">
                <a:solidFill>
                  <a:srgbClr val="000000"/>
                </a:solidFill>
              </a:rPr>
              <a:t>valore</a:t>
            </a:r>
            <a:r>
              <a:rPr sz="1900" b="0" dirty="0">
                <a:solidFill>
                  <a:srgbClr val="000000"/>
                </a:solidFill>
              </a:rPr>
              <a:t> </a:t>
            </a:r>
            <a:r>
              <a:rPr sz="1900" b="0" i="1" dirty="0">
                <a:solidFill>
                  <a:srgbClr val="000000"/>
                </a:solidFill>
              </a:rPr>
              <a:t>- es: </a:t>
            </a:r>
            <a:r>
              <a:rPr sz="1900" b="0" i="1" dirty="0" err="1">
                <a:solidFill>
                  <a:srgbClr val="000000"/>
                </a:solidFill>
              </a:rPr>
              <a:t>imbruttimento</a:t>
            </a:r>
            <a:r>
              <a:rPr sz="1900" b="0" i="1" dirty="0">
                <a:solidFill>
                  <a:srgbClr val="000000"/>
                </a:solidFill>
              </a:rPr>
              <a:t> di un dipinto - </a:t>
            </a:r>
            <a:r>
              <a:rPr sz="1900" b="0" i="1" dirty="0" err="1">
                <a:solidFill>
                  <a:srgbClr val="000000"/>
                </a:solidFill>
              </a:rPr>
              <a:t>mutilazione</a:t>
            </a:r>
            <a:r>
              <a:rPr sz="1900" b="0" i="1" dirty="0">
                <a:solidFill>
                  <a:srgbClr val="000000"/>
                </a:solidFill>
              </a:rPr>
              <a:t> di una </a:t>
            </a:r>
            <a:r>
              <a:rPr sz="1900" b="0" i="1" dirty="0" err="1">
                <a:solidFill>
                  <a:srgbClr val="000000"/>
                </a:solidFill>
              </a:rPr>
              <a:t>statua</a:t>
            </a:r>
            <a:r>
              <a:rPr sz="1900" b="0" i="1" dirty="0">
                <a:solidFill>
                  <a:srgbClr val="000000"/>
                </a:solidFill>
              </a:rPr>
              <a:t>;</a:t>
            </a:r>
            <a:endParaRPr sz="1900" i="1" dirty="0"/>
          </a:p>
          <a:p>
            <a:pPr marL="182562" indent="-182562" algn="just">
              <a:lnSpc>
                <a:spcPct val="114000"/>
              </a:lnSpc>
              <a:spcBef>
                <a:spcPts val="1200"/>
              </a:spcBef>
              <a:buSzPct val="100000"/>
              <a:buFont typeface="Arial"/>
              <a:buChar char="•"/>
              <a:defRPr sz="2000">
                <a:solidFill>
                  <a:srgbClr val="7030A0"/>
                </a:solidFill>
                <a:latin typeface="Times New Roman"/>
                <a:ea typeface="Times New Roman"/>
                <a:cs typeface="Times New Roman"/>
                <a:sym typeface="Times New Roman"/>
              </a:defRPr>
            </a:pPr>
            <a:r>
              <a:rPr sz="1900" dirty="0"/>
              <a:t>RENDERE INSERVIBILE</a:t>
            </a:r>
            <a:r>
              <a:rPr sz="1900" b="0" dirty="0">
                <a:solidFill>
                  <a:srgbClr val="000000"/>
                </a:solidFill>
              </a:rPr>
              <a:t>: ossia </a:t>
            </a:r>
            <a:r>
              <a:rPr sz="1900" b="0" dirty="0" err="1">
                <a:solidFill>
                  <a:srgbClr val="000000"/>
                </a:solidFill>
              </a:rPr>
              <a:t>rendere</a:t>
            </a:r>
            <a:r>
              <a:rPr sz="1900" b="0" dirty="0">
                <a:solidFill>
                  <a:srgbClr val="000000"/>
                </a:solidFill>
              </a:rPr>
              <a:t> la </a:t>
            </a:r>
            <a:r>
              <a:rPr sz="1900" b="0" dirty="0" err="1">
                <a:solidFill>
                  <a:srgbClr val="000000"/>
                </a:solidFill>
              </a:rPr>
              <a:t>cosa</a:t>
            </a:r>
            <a:r>
              <a:rPr sz="1900" b="0" dirty="0">
                <a:solidFill>
                  <a:srgbClr val="000000"/>
                </a:solidFill>
              </a:rPr>
              <a:t> </a:t>
            </a:r>
            <a:r>
              <a:rPr sz="1900" b="0" dirty="0" err="1">
                <a:solidFill>
                  <a:srgbClr val="000000"/>
                </a:solidFill>
              </a:rPr>
              <a:t>inutilizzabile</a:t>
            </a:r>
            <a:r>
              <a:rPr sz="1900" b="0" dirty="0">
                <a:solidFill>
                  <a:srgbClr val="000000"/>
                </a:solidFill>
              </a:rPr>
              <a:t>, </a:t>
            </a:r>
            <a:r>
              <a:rPr sz="1900" b="0" dirty="0" err="1">
                <a:solidFill>
                  <a:srgbClr val="000000"/>
                </a:solidFill>
              </a:rPr>
              <a:t>totalmente</a:t>
            </a:r>
            <a:r>
              <a:rPr sz="1900" b="0" dirty="0">
                <a:solidFill>
                  <a:srgbClr val="000000"/>
                </a:solidFill>
              </a:rPr>
              <a:t> o </a:t>
            </a:r>
            <a:r>
              <a:rPr sz="1900" b="0" dirty="0" err="1">
                <a:solidFill>
                  <a:srgbClr val="000000"/>
                </a:solidFill>
              </a:rPr>
              <a:t>parzialmente</a:t>
            </a:r>
            <a:r>
              <a:rPr sz="1900" b="0" dirty="0">
                <a:solidFill>
                  <a:srgbClr val="000000"/>
                </a:solidFill>
              </a:rPr>
              <a:t>, in </a:t>
            </a:r>
            <a:r>
              <a:rPr sz="1900" b="0" dirty="0" err="1">
                <a:solidFill>
                  <a:srgbClr val="000000"/>
                </a:solidFill>
              </a:rPr>
              <a:t>rapporto</a:t>
            </a:r>
            <a:r>
              <a:rPr sz="1900" b="0" dirty="0">
                <a:solidFill>
                  <a:srgbClr val="000000"/>
                </a:solidFill>
              </a:rPr>
              <a:t> </a:t>
            </a:r>
            <a:r>
              <a:rPr sz="1900" b="0" dirty="0" err="1">
                <a:solidFill>
                  <a:srgbClr val="000000"/>
                </a:solidFill>
              </a:rPr>
              <a:t>alla</a:t>
            </a:r>
            <a:r>
              <a:rPr sz="1900" b="0" dirty="0">
                <a:solidFill>
                  <a:srgbClr val="000000"/>
                </a:solidFill>
              </a:rPr>
              <a:t> </a:t>
            </a:r>
            <a:r>
              <a:rPr sz="1900" b="0" dirty="0" err="1">
                <a:solidFill>
                  <a:srgbClr val="000000"/>
                </a:solidFill>
              </a:rPr>
              <a:t>sua</a:t>
            </a:r>
            <a:r>
              <a:rPr sz="1900" b="0" dirty="0">
                <a:solidFill>
                  <a:srgbClr val="000000"/>
                </a:solidFill>
              </a:rPr>
              <a:t> </a:t>
            </a:r>
            <a:r>
              <a:rPr sz="1900" b="0" dirty="0" err="1">
                <a:solidFill>
                  <a:srgbClr val="000000"/>
                </a:solidFill>
              </a:rPr>
              <a:t>originaria</a:t>
            </a:r>
            <a:r>
              <a:rPr sz="1900" b="0" dirty="0">
                <a:solidFill>
                  <a:srgbClr val="000000"/>
                </a:solidFill>
              </a:rPr>
              <a:t> </a:t>
            </a:r>
            <a:r>
              <a:rPr sz="1900" b="0" dirty="0" err="1">
                <a:solidFill>
                  <a:srgbClr val="000000"/>
                </a:solidFill>
              </a:rPr>
              <a:t>funzione</a:t>
            </a:r>
            <a:r>
              <a:rPr sz="1900" b="0" dirty="0">
                <a:solidFill>
                  <a:srgbClr val="000000"/>
                </a:solidFill>
              </a:rPr>
              <a:t> </a:t>
            </a:r>
            <a:r>
              <a:rPr sz="1900" b="0" dirty="0" err="1">
                <a:solidFill>
                  <a:srgbClr val="000000"/>
                </a:solidFill>
              </a:rPr>
              <a:t>strumentale</a:t>
            </a:r>
            <a:r>
              <a:rPr sz="1900" b="0" dirty="0">
                <a:solidFill>
                  <a:srgbClr val="000000"/>
                </a:solidFill>
              </a:rPr>
              <a:t>;</a:t>
            </a:r>
          </a:p>
        </p:txBody>
      </p:sp>
      <p:pic>
        <p:nvPicPr>
          <p:cNvPr id="424"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25"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Danneggiamento</a:t>
            </a:r>
          </a:p>
        </p:txBody>
      </p:sp>
    </p:spTree>
  </p:cSld>
  <p:clrMapOvr>
    <a:masterClrMapping/>
  </p:clrMapOvr>
  <p:transition spd="me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Rettangolo 4"/>
          <p:cNvSpPr txBox="1"/>
          <p:nvPr/>
        </p:nvSpPr>
        <p:spPr>
          <a:xfrm>
            <a:off x="182570" y="1237437"/>
            <a:ext cx="8736198" cy="42398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rPr dirty="0" err="1"/>
              <a:t>Alla</a:t>
            </a:r>
            <a:r>
              <a:rPr dirty="0"/>
              <a:t> luce </a:t>
            </a:r>
            <a:r>
              <a:rPr dirty="0" err="1"/>
              <a:t>dei</a:t>
            </a:r>
            <a:r>
              <a:rPr dirty="0"/>
              <a:t> </a:t>
            </a:r>
            <a:r>
              <a:rPr dirty="0" err="1"/>
              <a:t>correttivi</a:t>
            </a:r>
            <a:r>
              <a:rPr dirty="0"/>
              <a:t> del 2016, </a:t>
            </a:r>
            <a:r>
              <a:rPr dirty="0" err="1"/>
              <a:t>il</a:t>
            </a:r>
            <a:r>
              <a:rPr dirty="0"/>
              <a:t> </a:t>
            </a:r>
            <a:r>
              <a:rPr dirty="0" err="1"/>
              <a:t>fatto</a:t>
            </a:r>
            <a:r>
              <a:rPr dirty="0"/>
              <a:t>, per </a:t>
            </a:r>
            <a:r>
              <a:rPr dirty="0" err="1"/>
              <a:t>avere</a:t>
            </a:r>
            <a:r>
              <a:rPr dirty="0"/>
              <a:t> </a:t>
            </a:r>
            <a:r>
              <a:rPr dirty="0" err="1"/>
              <a:t>rilevanza</a:t>
            </a:r>
            <a:r>
              <a:rPr dirty="0"/>
              <a:t> </a:t>
            </a:r>
            <a:r>
              <a:rPr dirty="0" err="1"/>
              <a:t>penale</a:t>
            </a:r>
            <a:r>
              <a:rPr dirty="0"/>
              <a:t>, </a:t>
            </a:r>
            <a:r>
              <a:rPr dirty="0" err="1"/>
              <a:t>deve</a:t>
            </a:r>
            <a:r>
              <a:rPr dirty="0"/>
              <a:t>:</a:t>
            </a:r>
          </a:p>
          <a:p>
            <a:pPr marL="342900" indent="-342900" algn="just">
              <a:lnSpc>
                <a:spcPct val="114000"/>
              </a:lnSpc>
              <a:spcBef>
                <a:spcPts val="1200"/>
              </a:spcBef>
              <a:buSzPct val="100000"/>
              <a:buFont typeface="Arial"/>
              <a:buChar char="•"/>
              <a:defRPr sz="2200" b="0">
                <a:latin typeface="Times New Roman"/>
                <a:ea typeface="Times New Roman"/>
                <a:cs typeface="Times New Roman"/>
                <a:sym typeface="Times New Roman"/>
              </a:defRPr>
            </a:pPr>
            <a:r>
              <a:rPr dirty="0" err="1"/>
              <a:t>essere</a:t>
            </a:r>
            <a:r>
              <a:rPr dirty="0"/>
              <a:t> </a:t>
            </a:r>
            <a:r>
              <a:rPr dirty="0" err="1"/>
              <a:t>commesso</a:t>
            </a:r>
            <a:r>
              <a:rPr dirty="0"/>
              <a:t> in </a:t>
            </a:r>
            <a:r>
              <a:rPr dirty="0" err="1"/>
              <a:t>primis</a:t>
            </a:r>
            <a:r>
              <a:rPr dirty="0"/>
              <a:t> </a:t>
            </a:r>
            <a:r>
              <a:rPr b="1" dirty="0">
                <a:solidFill>
                  <a:srgbClr val="7030A0"/>
                </a:solidFill>
              </a:rPr>
              <a:t>con </a:t>
            </a:r>
            <a:r>
              <a:rPr b="1" dirty="0" err="1">
                <a:solidFill>
                  <a:srgbClr val="7030A0"/>
                </a:solidFill>
              </a:rPr>
              <a:t>violenza</a:t>
            </a:r>
            <a:r>
              <a:rPr b="1" dirty="0">
                <a:solidFill>
                  <a:srgbClr val="7030A0"/>
                </a:solidFill>
              </a:rPr>
              <a:t> o </a:t>
            </a:r>
            <a:r>
              <a:rPr b="1" dirty="0" err="1">
                <a:solidFill>
                  <a:srgbClr val="7030A0"/>
                </a:solidFill>
              </a:rPr>
              <a:t>minaccia</a:t>
            </a:r>
            <a:r>
              <a:rPr b="1" dirty="0">
                <a:solidFill>
                  <a:srgbClr val="7030A0"/>
                </a:solidFill>
              </a:rPr>
              <a:t> </a:t>
            </a:r>
            <a:r>
              <a:rPr b="1" dirty="0" err="1">
                <a:solidFill>
                  <a:srgbClr val="7030A0"/>
                </a:solidFill>
              </a:rPr>
              <a:t>sulla</a:t>
            </a:r>
            <a:r>
              <a:rPr b="1" dirty="0">
                <a:solidFill>
                  <a:srgbClr val="7030A0"/>
                </a:solidFill>
              </a:rPr>
              <a:t> persona</a:t>
            </a:r>
            <a:r>
              <a:rPr dirty="0"/>
              <a:t>;</a:t>
            </a:r>
          </a:p>
          <a:p>
            <a:pPr marL="342900" indent="-342900" algn="just">
              <a:lnSpc>
                <a:spcPct val="114000"/>
              </a:lnSpc>
              <a:spcBef>
                <a:spcPts val="1200"/>
              </a:spcBef>
              <a:buSzPct val="100000"/>
              <a:buFont typeface="Arial"/>
              <a:buChar char="•"/>
              <a:defRPr sz="2200">
                <a:solidFill>
                  <a:srgbClr val="7030A0"/>
                </a:solidFill>
                <a:latin typeface="Times New Roman"/>
                <a:ea typeface="Times New Roman"/>
                <a:cs typeface="Times New Roman"/>
                <a:sym typeface="Times New Roman"/>
              </a:defRPr>
            </a:pPr>
            <a:r>
              <a:rPr dirty="0"/>
              <a:t>in </a:t>
            </a:r>
            <a:r>
              <a:rPr dirty="0" err="1"/>
              <a:t>occasione</a:t>
            </a:r>
            <a:r>
              <a:rPr dirty="0"/>
              <a:t> </a:t>
            </a:r>
            <a:r>
              <a:rPr dirty="0" err="1"/>
              <a:t>dello</a:t>
            </a:r>
            <a:r>
              <a:rPr dirty="0"/>
              <a:t> </a:t>
            </a:r>
            <a:r>
              <a:rPr dirty="0" err="1"/>
              <a:t>svolgimento</a:t>
            </a:r>
            <a:r>
              <a:rPr dirty="0"/>
              <a:t> di </a:t>
            </a:r>
            <a:r>
              <a:rPr dirty="0" err="1"/>
              <a:t>manifestazioni</a:t>
            </a:r>
            <a:r>
              <a:rPr dirty="0"/>
              <a:t> in </a:t>
            </a:r>
            <a:r>
              <a:rPr dirty="0" err="1"/>
              <a:t>luogo</a:t>
            </a:r>
            <a:r>
              <a:rPr dirty="0"/>
              <a:t> </a:t>
            </a:r>
            <a:r>
              <a:rPr dirty="0" err="1"/>
              <a:t>pubblico</a:t>
            </a:r>
            <a:r>
              <a:rPr dirty="0"/>
              <a:t> o </a:t>
            </a:r>
            <a:r>
              <a:rPr dirty="0" err="1"/>
              <a:t>aperto</a:t>
            </a:r>
            <a:r>
              <a:rPr dirty="0"/>
              <a:t> al </a:t>
            </a:r>
            <a:r>
              <a:rPr dirty="0" err="1"/>
              <a:t>pubblico</a:t>
            </a:r>
            <a:r>
              <a:rPr b="0" dirty="0">
                <a:solidFill>
                  <a:srgbClr val="000000"/>
                </a:solidFill>
              </a:rPr>
              <a:t>;</a:t>
            </a:r>
          </a:p>
          <a:p>
            <a:pPr marL="342900" indent="-342900" algn="just">
              <a:lnSpc>
                <a:spcPct val="114000"/>
              </a:lnSpc>
              <a:spcBef>
                <a:spcPts val="1200"/>
              </a:spcBef>
              <a:buSzPct val="100000"/>
              <a:buFont typeface="Arial"/>
              <a:buChar char="•"/>
              <a:defRPr sz="2200">
                <a:solidFill>
                  <a:srgbClr val="7030A0"/>
                </a:solidFill>
                <a:latin typeface="Times New Roman"/>
                <a:ea typeface="Times New Roman"/>
                <a:cs typeface="Times New Roman"/>
                <a:sym typeface="Times New Roman"/>
              </a:defRPr>
            </a:pPr>
            <a:r>
              <a:rPr dirty="0" err="1"/>
              <a:t>su</a:t>
            </a:r>
            <a:r>
              <a:rPr dirty="0"/>
              <a:t> </a:t>
            </a:r>
            <a:r>
              <a:rPr dirty="0" err="1"/>
              <a:t>edifici</a:t>
            </a:r>
            <a:r>
              <a:rPr dirty="0"/>
              <a:t> </a:t>
            </a:r>
            <a:r>
              <a:rPr dirty="0" err="1"/>
              <a:t>pubblici</a:t>
            </a:r>
            <a:r>
              <a:rPr dirty="0"/>
              <a:t> o </a:t>
            </a:r>
            <a:r>
              <a:rPr dirty="0" err="1"/>
              <a:t>destinati</a:t>
            </a:r>
            <a:r>
              <a:rPr dirty="0"/>
              <a:t> a </a:t>
            </a:r>
            <a:r>
              <a:rPr dirty="0" err="1"/>
              <a:t>uso</a:t>
            </a:r>
            <a:r>
              <a:rPr dirty="0"/>
              <a:t> </a:t>
            </a:r>
            <a:r>
              <a:rPr dirty="0" err="1"/>
              <a:t>pubblico</a:t>
            </a:r>
            <a:r>
              <a:rPr dirty="0"/>
              <a:t> o </a:t>
            </a:r>
            <a:r>
              <a:rPr dirty="0" err="1"/>
              <a:t>all'esercizio</a:t>
            </a:r>
            <a:r>
              <a:rPr dirty="0"/>
              <a:t> di </a:t>
            </a:r>
            <a:r>
              <a:rPr dirty="0" err="1"/>
              <a:t>culto</a:t>
            </a:r>
            <a:r>
              <a:rPr dirty="0"/>
              <a:t> o </a:t>
            </a:r>
            <a:r>
              <a:rPr dirty="0" err="1"/>
              <a:t>su</a:t>
            </a:r>
            <a:r>
              <a:rPr dirty="0"/>
              <a:t> </a:t>
            </a:r>
            <a:r>
              <a:rPr dirty="0" err="1"/>
              <a:t>cose</a:t>
            </a:r>
            <a:r>
              <a:rPr dirty="0"/>
              <a:t> di interesse </a:t>
            </a:r>
            <a:r>
              <a:rPr dirty="0" err="1"/>
              <a:t>storico-artistico</a:t>
            </a:r>
            <a:r>
              <a:rPr dirty="0"/>
              <a:t> o </a:t>
            </a:r>
            <a:r>
              <a:rPr dirty="0" err="1"/>
              <a:t>su</a:t>
            </a:r>
            <a:r>
              <a:rPr dirty="0"/>
              <a:t> </a:t>
            </a:r>
            <a:r>
              <a:rPr dirty="0" err="1"/>
              <a:t>immobili</a:t>
            </a:r>
            <a:r>
              <a:rPr dirty="0"/>
              <a:t> </a:t>
            </a:r>
            <a:r>
              <a:rPr dirty="0" err="1"/>
              <a:t>sia</a:t>
            </a:r>
            <a:r>
              <a:rPr dirty="0"/>
              <a:t> in </a:t>
            </a:r>
            <a:r>
              <a:rPr dirty="0" err="1"/>
              <a:t>costruzione</a:t>
            </a:r>
            <a:r>
              <a:rPr dirty="0"/>
              <a:t> </a:t>
            </a:r>
            <a:r>
              <a:rPr dirty="0" err="1"/>
              <a:t>che</a:t>
            </a:r>
            <a:r>
              <a:rPr dirty="0"/>
              <a:t> in </a:t>
            </a:r>
            <a:r>
              <a:rPr dirty="0" err="1"/>
              <a:t>ristrutturazione</a:t>
            </a:r>
            <a:r>
              <a:rPr dirty="0"/>
              <a:t> </a:t>
            </a:r>
            <a:r>
              <a:rPr b="0" dirty="0">
                <a:solidFill>
                  <a:srgbClr val="000000"/>
                </a:solidFill>
              </a:rPr>
              <a:t>o </a:t>
            </a:r>
            <a:r>
              <a:rPr b="0" dirty="0" err="1">
                <a:solidFill>
                  <a:srgbClr val="000000"/>
                </a:solidFill>
              </a:rPr>
              <a:t>su</a:t>
            </a:r>
            <a:r>
              <a:rPr b="0" dirty="0">
                <a:solidFill>
                  <a:srgbClr val="000000"/>
                </a:solidFill>
              </a:rPr>
              <a:t> </a:t>
            </a:r>
            <a:r>
              <a:rPr b="0" dirty="0" err="1">
                <a:solidFill>
                  <a:srgbClr val="000000"/>
                </a:solidFill>
              </a:rPr>
              <a:t>altre</a:t>
            </a:r>
            <a:r>
              <a:rPr b="0" dirty="0">
                <a:solidFill>
                  <a:srgbClr val="000000"/>
                </a:solidFill>
              </a:rPr>
              <a:t> </a:t>
            </a:r>
            <a:r>
              <a:rPr b="0" dirty="0" err="1">
                <a:solidFill>
                  <a:srgbClr val="000000"/>
                </a:solidFill>
              </a:rPr>
              <a:t>delle</a:t>
            </a:r>
            <a:r>
              <a:rPr b="0" dirty="0">
                <a:solidFill>
                  <a:srgbClr val="000000"/>
                </a:solidFill>
              </a:rPr>
              <a:t> </a:t>
            </a:r>
            <a:r>
              <a:rPr b="0" dirty="0" err="1">
                <a:solidFill>
                  <a:srgbClr val="000000"/>
                </a:solidFill>
              </a:rPr>
              <a:t>cose</a:t>
            </a:r>
            <a:r>
              <a:rPr b="0" dirty="0">
                <a:solidFill>
                  <a:srgbClr val="000000"/>
                </a:solidFill>
              </a:rPr>
              <a:t> indicate </a:t>
            </a:r>
            <a:r>
              <a:rPr b="0" dirty="0" err="1">
                <a:solidFill>
                  <a:srgbClr val="000000"/>
                </a:solidFill>
              </a:rPr>
              <a:t>nel</a:t>
            </a:r>
            <a:r>
              <a:rPr b="0" dirty="0">
                <a:solidFill>
                  <a:srgbClr val="000000"/>
                </a:solidFill>
              </a:rPr>
              <a:t> </a:t>
            </a:r>
            <a:r>
              <a:rPr b="0" dirty="0" err="1">
                <a:solidFill>
                  <a:srgbClr val="000000"/>
                </a:solidFill>
              </a:rPr>
              <a:t>numero</a:t>
            </a:r>
            <a:r>
              <a:rPr b="0" dirty="0">
                <a:solidFill>
                  <a:srgbClr val="000000"/>
                </a:solidFill>
              </a:rPr>
              <a:t> 7 </a:t>
            </a:r>
            <a:r>
              <a:rPr b="0" dirty="0" err="1">
                <a:solidFill>
                  <a:srgbClr val="000000"/>
                </a:solidFill>
              </a:rPr>
              <a:t>dell'articolo</a:t>
            </a:r>
            <a:r>
              <a:rPr b="0" dirty="0">
                <a:solidFill>
                  <a:srgbClr val="000000"/>
                </a:solidFill>
              </a:rPr>
              <a:t> 625 </a:t>
            </a:r>
            <a:r>
              <a:rPr b="0" dirty="0" err="1">
                <a:solidFill>
                  <a:srgbClr val="000000"/>
                </a:solidFill>
              </a:rPr>
              <a:t>c.p.</a:t>
            </a:r>
            <a:r>
              <a:rPr b="0" dirty="0">
                <a:solidFill>
                  <a:srgbClr val="000000"/>
                </a:solidFill>
              </a:rPr>
              <a:t> (</a:t>
            </a:r>
            <a:r>
              <a:rPr b="0" dirty="0" err="1">
                <a:solidFill>
                  <a:srgbClr val="000000"/>
                </a:solidFill>
              </a:rPr>
              <a:t>cose</a:t>
            </a:r>
            <a:r>
              <a:rPr b="0" dirty="0">
                <a:solidFill>
                  <a:srgbClr val="000000"/>
                </a:solidFill>
              </a:rPr>
              <a:t> </a:t>
            </a:r>
            <a:r>
              <a:rPr b="0" dirty="0" err="1">
                <a:solidFill>
                  <a:srgbClr val="000000"/>
                </a:solidFill>
              </a:rPr>
              <a:t>esistenti</a:t>
            </a:r>
            <a:r>
              <a:rPr b="0" dirty="0">
                <a:solidFill>
                  <a:srgbClr val="000000"/>
                </a:solidFill>
              </a:rPr>
              <a:t> in </a:t>
            </a:r>
            <a:r>
              <a:rPr b="0" dirty="0" err="1">
                <a:solidFill>
                  <a:srgbClr val="000000"/>
                </a:solidFill>
              </a:rPr>
              <a:t>uffici</a:t>
            </a:r>
            <a:r>
              <a:rPr b="0" dirty="0">
                <a:solidFill>
                  <a:srgbClr val="000000"/>
                </a:solidFill>
              </a:rPr>
              <a:t> o </a:t>
            </a:r>
            <a:r>
              <a:rPr b="0" dirty="0" err="1">
                <a:solidFill>
                  <a:srgbClr val="000000"/>
                </a:solidFill>
              </a:rPr>
              <a:t>stabilimenti</a:t>
            </a:r>
            <a:r>
              <a:rPr b="0" dirty="0">
                <a:solidFill>
                  <a:srgbClr val="000000"/>
                </a:solidFill>
              </a:rPr>
              <a:t> </a:t>
            </a:r>
            <a:r>
              <a:rPr b="0" dirty="0" err="1">
                <a:solidFill>
                  <a:srgbClr val="000000"/>
                </a:solidFill>
              </a:rPr>
              <a:t>pubblici</a:t>
            </a:r>
            <a:r>
              <a:rPr b="0" dirty="0">
                <a:solidFill>
                  <a:srgbClr val="000000"/>
                </a:solidFill>
              </a:rPr>
              <a:t>, </a:t>
            </a:r>
            <a:r>
              <a:rPr b="0" dirty="0" err="1">
                <a:solidFill>
                  <a:srgbClr val="000000"/>
                </a:solidFill>
              </a:rPr>
              <a:t>cose</a:t>
            </a:r>
            <a:r>
              <a:rPr b="0" dirty="0">
                <a:solidFill>
                  <a:srgbClr val="000000"/>
                </a:solidFill>
              </a:rPr>
              <a:t> </a:t>
            </a:r>
            <a:r>
              <a:rPr b="0" dirty="0" err="1">
                <a:solidFill>
                  <a:srgbClr val="000000"/>
                </a:solidFill>
              </a:rPr>
              <a:t>sottoposte</a:t>
            </a:r>
            <a:r>
              <a:rPr b="0" dirty="0">
                <a:solidFill>
                  <a:srgbClr val="000000"/>
                </a:solidFill>
              </a:rPr>
              <a:t> a </a:t>
            </a:r>
            <a:r>
              <a:rPr b="0" dirty="0" err="1">
                <a:solidFill>
                  <a:srgbClr val="000000"/>
                </a:solidFill>
              </a:rPr>
              <a:t>sequestro</a:t>
            </a:r>
            <a:r>
              <a:rPr b="0" dirty="0">
                <a:solidFill>
                  <a:srgbClr val="000000"/>
                </a:solidFill>
              </a:rPr>
              <a:t> o </a:t>
            </a:r>
            <a:r>
              <a:rPr b="0" dirty="0" err="1">
                <a:solidFill>
                  <a:srgbClr val="000000"/>
                </a:solidFill>
              </a:rPr>
              <a:t>pignoramento</a:t>
            </a:r>
            <a:r>
              <a:rPr b="0" dirty="0">
                <a:solidFill>
                  <a:srgbClr val="000000"/>
                </a:solidFill>
              </a:rPr>
              <a:t>; </a:t>
            </a:r>
            <a:r>
              <a:rPr b="0" dirty="0" err="1">
                <a:solidFill>
                  <a:srgbClr val="000000"/>
                </a:solidFill>
              </a:rPr>
              <a:t>cose</a:t>
            </a:r>
            <a:r>
              <a:rPr b="0" dirty="0">
                <a:solidFill>
                  <a:srgbClr val="000000"/>
                </a:solidFill>
              </a:rPr>
              <a:t> </a:t>
            </a:r>
            <a:r>
              <a:rPr b="0" dirty="0" err="1">
                <a:solidFill>
                  <a:srgbClr val="000000"/>
                </a:solidFill>
              </a:rPr>
              <a:t>esposte</a:t>
            </a:r>
            <a:r>
              <a:rPr b="0" dirty="0">
                <a:solidFill>
                  <a:srgbClr val="000000"/>
                </a:solidFill>
              </a:rPr>
              <a:t> </a:t>
            </a:r>
            <a:r>
              <a:rPr b="0" dirty="0" err="1">
                <a:solidFill>
                  <a:srgbClr val="000000"/>
                </a:solidFill>
              </a:rPr>
              <a:t>alla</a:t>
            </a:r>
            <a:r>
              <a:rPr b="0" dirty="0">
                <a:solidFill>
                  <a:srgbClr val="000000"/>
                </a:solidFill>
              </a:rPr>
              <a:t> </a:t>
            </a:r>
            <a:r>
              <a:rPr b="0" dirty="0" err="1">
                <a:solidFill>
                  <a:srgbClr val="000000"/>
                </a:solidFill>
              </a:rPr>
              <a:t>pubblica</a:t>
            </a:r>
            <a:r>
              <a:rPr b="0" dirty="0">
                <a:solidFill>
                  <a:srgbClr val="000000"/>
                </a:solidFill>
              </a:rPr>
              <a:t> </a:t>
            </a:r>
            <a:r>
              <a:rPr b="0" dirty="0" err="1">
                <a:solidFill>
                  <a:srgbClr val="000000"/>
                </a:solidFill>
              </a:rPr>
              <a:t>fede</a:t>
            </a:r>
            <a:r>
              <a:rPr b="0" dirty="0">
                <a:solidFill>
                  <a:srgbClr val="000000"/>
                </a:solidFill>
              </a:rPr>
              <a:t>, </a:t>
            </a:r>
            <a:r>
              <a:rPr b="0" dirty="0" err="1">
                <a:solidFill>
                  <a:srgbClr val="000000"/>
                </a:solidFill>
              </a:rPr>
              <a:t>cose</a:t>
            </a:r>
            <a:r>
              <a:rPr b="0" dirty="0">
                <a:solidFill>
                  <a:srgbClr val="000000"/>
                </a:solidFill>
              </a:rPr>
              <a:t> </a:t>
            </a:r>
            <a:r>
              <a:rPr b="0" dirty="0" err="1">
                <a:solidFill>
                  <a:srgbClr val="000000"/>
                </a:solidFill>
              </a:rPr>
              <a:t>destinate</a:t>
            </a:r>
            <a:r>
              <a:rPr b="0" dirty="0">
                <a:solidFill>
                  <a:srgbClr val="000000"/>
                </a:solidFill>
              </a:rPr>
              <a:t> a </a:t>
            </a:r>
            <a:r>
              <a:rPr b="0" dirty="0" err="1">
                <a:solidFill>
                  <a:srgbClr val="000000"/>
                </a:solidFill>
              </a:rPr>
              <a:t>pubblico</a:t>
            </a:r>
            <a:r>
              <a:rPr b="0" dirty="0">
                <a:solidFill>
                  <a:srgbClr val="000000"/>
                </a:solidFill>
              </a:rPr>
              <a:t> </a:t>
            </a:r>
            <a:r>
              <a:rPr b="0" dirty="0" err="1">
                <a:solidFill>
                  <a:srgbClr val="000000"/>
                </a:solidFill>
              </a:rPr>
              <a:t>servizio</a:t>
            </a:r>
            <a:r>
              <a:rPr b="0" dirty="0">
                <a:solidFill>
                  <a:srgbClr val="000000"/>
                </a:solidFill>
              </a:rPr>
              <a:t> o a </a:t>
            </a:r>
            <a:r>
              <a:rPr b="0" dirty="0" err="1">
                <a:solidFill>
                  <a:srgbClr val="000000"/>
                </a:solidFill>
              </a:rPr>
              <a:t>pubblica</a:t>
            </a:r>
            <a:r>
              <a:rPr b="0" dirty="0">
                <a:solidFill>
                  <a:srgbClr val="000000"/>
                </a:solidFill>
              </a:rPr>
              <a:t> </a:t>
            </a:r>
            <a:r>
              <a:rPr b="0" dirty="0" err="1">
                <a:solidFill>
                  <a:srgbClr val="000000"/>
                </a:solidFill>
              </a:rPr>
              <a:t>utilità</a:t>
            </a:r>
            <a:r>
              <a:rPr b="0" dirty="0">
                <a:solidFill>
                  <a:srgbClr val="000000"/>
                </a:solidFill>
              </a:rPr>
              <a:t>, </a:t>
            </a:r>
            <a:r>
              <a:rPr b="0" dirty="0" err="1">
                <a:solidFill>
                  <a:srgbClr val="000000"/>
                </a:solidFill>
              </a:rPr>
              <a:t>difesa</a:t>
            </a:r>
            <a:r>
              <a:rPr b="0" dirty="0">
                <a:solidFill>
                  <a:srgbClr val="000000"/>
                </a:solidFill>
              </a:rPr>
              <a:t> o </a:t>
            </a:r>
            <a:r>
              <a:rPr b="0" dirty="0" err="1">
                <a:solidFill>
                  <a:srgbClr val="000000"/>
                </a:solidFill>
              </a:rPr>
              <a:t>reverenza</a:t>
            </a:r>
            <a:r>
              <a:rPr b="0" dirty="0">
                <a:solidFill>
                  <a:srgbClr val="000000"/>
                </a:solidFill>
              </a:rPr>
              <a:t>).</a:t>
            </a:r>
          </a:p>
        </p:txBody>
      </p:sp>
      <p:pic>
        <p:nvPicPr>
          <p:cNvPr id="428"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29"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Danneggiamento</a:t>
            </a:r>
          </a:p>
        </p:txBody>
      </p:sp>
    </p:spTree>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1" name="Rettangolo 4"/>
          <p:cNvSpPr txBox="1"/>
          <p:nvPr/>
        </p:nvSpPr>
        <p:spPr>
          <a:xfrm>
            <a:off x="82231" y="984977"/>
            <a:ext cx="9052561" cy="507183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u="sng">
                <a:latin typeface="Times New Roman"/>
                <a:ea typeface="Times New Roman"/>
                <a:cs typeface="Times New Roman"/>
                <a:sym typeface="Times New Roman"/>
              </a:defRPr>
            </a:pPr>
            <a:r>
              <a:t>ELEMENTO SOGGETTIVO</a:t>
            </a:r>
            <a:r>
              <a:rPr u="none"/>
              <a:t> </a:t>
            </a:r>
            <a:r>
              <a:rPr b="0" u="none"/>
              <a:t>è il </a:t>
            </a:r>
            <a:r>
              <a:rPr u="none">
                <a:solidFill>
                  <a:srgbClr val="7030A0"/>
                </a:solidFill>
              </a:rPr>
              <a:t>DOLO GENERICO</a:t>
            </a:r>
            <a:r>
              <a:rPr b="0" u="none"/>
              <a:t>, venendo in rilievo la coscienza e la volontà di distruggere, disperdere, deteriorare, o rendere inservibile (in tutto o in parte) la cosa altrui con la consapevolezza dell’altruità della cosa senza avere un preciso fine. </a:t>
            </a:r>
          </a:p>
          <a:p>
            <a:pPr algn="just">
              <a:lnSpc>
                <a:spcPct val="114000"/>
              </a:lnSpc>
              <a:spcBef>
                <a:spcPts val="1200"/>
              </a:spcBef>
              <a:defRPr sz="2200" u="sng">
                <a:latin typeface="Times New Roman"/>
                <a:ea typeface="Times New Roman"/>
                <a:cs typeface="Times New Roman"/>
                <a:sym typeface="Times New Roman"/>
              </a:defRPr>
            </a:pPr>
            <a:endParaRPr b="0" u="none"/>
          </a:p>
          <a:p>
            <a:pPr algn="just">
              <a:lnSpc>
                <a:spcPct val="114000"/>
              </a:lnSpc>
              <a:spcBef>
                <a:spcPts val="1200"/>
              </a:spcBef>
              <a:defRPr sz="2200" b="0">
                <a:latin typeface="Times New Roman"/>
                <a:ea typeface="Times New Roman"/>
                <a:cs typeface="Times New Roman"/>
                <a:sym typeface="Times New Roman"/>
              </a:defRPr>
            </a:pPr>
            <a:r>
              <a:t>Il delitto si consuma nel momento in cui </a:t>
            </a:r>
            <a:r>
              <a:rPr b="1">
                <a:solidFill>
                  <a:srgbClr val="7030A0"/>
                </a:solidFill>
              </a:rPr>
              <a:t>si verifica l’effetto dannoso </a:t>
            </a:r>
            <a:r>
              <a:t>collegato ad una delle azioni indicate.</a:t>
            </a:r>
          </a:p>
          <a:p>
            <a:pPr algn="just">
              <a:lnSpc>
                <a:spcPct val="114000"/>
              </a:lnSpc>
              <a:spcBef>
                <a:spcPts val="1200"/>
              </a:spcBef>
              <a:defRPr sz="2200" b="0">
                <a:latin typeface="Times New Roman"/>
                <a:ea typeface="Times New Roman"/>
                <a:cs typeface="Times New Roman"/>
                <a:sym typeface="Times New Roman"/>
              </a:defRPr>
            </a:pPr>
            <a:endParaRPr/>
          </a:p>
          <a:p>
            <a:pPr algn="just">
              <a:lnSpc>
                <a:spcPct val="114000"/>
              </a:lnSpc>
              <a:spcBef>
                <a:spcPts val="1200"/>
              </a:spcBef>
              <a:defRPr sz="2200" b="0">
                <a:latin typeface="Times New Roman"/>
                <a:ea typeface="Times New Roman"/>
                <a:cs typeface="Times New Roman"/>
                <a:sym typeface="Times New Roman"/>
              </a:defRPr>
            </a:pPr>
            <a:endParaRPr/>
          </a:p>
          <a:p>
            <a:pPr algn="just">
              <a:lnSpc>
                <a:spcPct val="114000"/>
              </a:lnSpc>
              <a:spcBef>
                <a:spcPts val="1200"/>
              </a:spcBef>
              <a:defRPr sz="2200" b="0">
                <a:latin typeface="Times New Roman"/>
                <a:ea typeface="Times New Roman"/>
                <a:cs typeface="Times New Roman"/>
                <a:sym typeface="Times New Roman"/>
              </a:defRPr>
            </a:pPr>
            <a:endParaRPr/>
          </a:p>
          <a:p>
            <a:pPr algn="just">
              <a:lnSpc>
                <a:spcPct val="114000"/>
              </a:lnSpc>
              <a:spcBef>
                <a:spcPts val="1200"/>
              </a:spcBef>
              <a:defRPr sz="2200" b="0">
                <a:latin typeface="Times New Roman"/>
                <a:ea typeface="Times New Roman"/>
                <a:cs typeface="Times New Roman"/>
                <a:sym typeface="Times New Roman"/>
              </a:defRPr>
            </a:pPr>
            <a:r>
              <a:t>Il tentativo è configurabile.</a:t>
            </a:r>
          </a:p>
        </p:txBody>
      </p:sp>
      <p:pic>
        <p:nvPicPr>
          <p:cNvPr id="432"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33"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Danneggiamento</a:t>
            </a:r>
          </a:p>
        </p:txBody>
      </p:sp>
    </p:spTree>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5" name="CasellaDiTesto 1"/>
          <p:cNvSpPr txBox="1"/>
          <p:nvPr/>
        </p:nvSpPr>
        <p:spPr>
          <a:xfrm>
            <a:off x="229859" y="764703"/>
            <a:ext cx="8684281" cy="589250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A22E8C"/>
                </a:solidFill>
                <a:latin typeface="Book Antiqua"/>
                <a:ea typeface="Book Antiqua"/>
                <a:cs typeface="Book Antiqua"/>
                <a:sym typeface="Book Antiqua"/>
              </a:defRPr>
            </a:pPr>
            <a:r>
              <a:rPr dirty="0">
                <a:solidFill>
                  <a:srgbClr val="FF0000"/>
                </a:solidFill>
              </a:rPr>
              <a:t>Art. 644 </a:t>
            </a:r>
            <a:r>
              <a:rPr dirty="0" err="1">
                <a:solidFill>
                  <a:srgbClr val="FF0000"/>
                </a:solidFill>
              </a:rPr>
              <a:t>c.p.</a:t>
            </a:r>
            <a:r>
              <a:rPr dirty="0">
                <a:solidFill>
                  <a:srgbClr val="FF0000"/>
                </a:solidFill>
              </a:rPr>
              <a:t> </a:t>
            </a:r>
            <a:r>
              <a:rPr dirty="0" err="1">
                <a:solidFill>
                  <a:srgbClr val="FF0000"/>
                </a:solidFill>
              </a:rPr>
              <a:t>Usura</a:t>
            </a:r>
            <a:endParaRPr dirty="0">
              <a:solidFill>
                <a:srgbClr val="FF0000"/>
              </a:solidFill>
              <a:latin typeface="Times New Roman"/>
              <a:ea typeface="Times New Roman"/>
              <a:cs typeface="Times New Roman"/>
              <a:sym typeface="Times New Roman"/>
            </a:endParaRPr>
          </a:p>
          <a:p>
            <a:pPr algn="just">
              <a:lnSpc>
                <a:spcPct val="114000"/>
              </a:lnSpc>
              <a:spcBef>
                <a:spcPts val="600"/>
              </a:spcBef>
              <a:defRPr sz="2200" b="0">
                <a:latin typeface="Book Antiqua"/>
                <a:ea typeface="Book Antiqua"/>
                <a:cs typeface="Book Antiqua"/>
                <a:sym typeface="Book Antiqua"/>
              </a:defRPr>
            </a:pPr>
            <a:r>
              <a:rPr dirty="0"/>
              <a:t>«</a:t>
            </a:r>
            <a:r>
              <a:rPr i="1" dirty="0" err="1"/>
              <a:t>Chiunque</a:t>
            </a:r>
            <a:r>
              <a:rPr i="1" dirty="0"/>
              <a:t>, </a:t>
            </a:r>
            <a:r>
              <a:rPr i="1" dirty="0" err="1"/>
              <a:t>fuori</a:t>
            </a:r>
            <a:r>
              <a:rPr i="1" dirty="0"/>
              <a:t> </a:t>
            </a:r>
            <a:r>
              <a:rPr i="1" dirty="0" err="1"/>
              <a:t>dei</a:t>
            </a:r>
            <a:r>
              <a:rPr i="1" dirty="0"/>
              <a:t> </a:t>
            </a:r>
            <a:r>
              <a:rPr i="1" dirty="0" err="1"/>
              <a:t>casi</a:t>
            </a:r>
            <a:r>
              <a:rPr i="1" dirty="0"/>
              <a:t> </a:t>
            </a:r>
            <a:r>
              <a:rPr i="1" dirty="0" err="1"/>
              <a:t>previsti</a:t>
            </a:r>
            <a:r>
              <a:rPr i="1" dirty="0"/>
              <a:t> </a:t>
            </a:r>
            <a:r>
              <a:rPr i="1" dirty="0" err="1"/>
              <a:t>dall'articolo</a:t>
            </a:r>
            <a:r>
              <a:rPr i="1" dirty="0"/>
              <a:t> 643</a:t>
            </a:r>
            <a:r>
              <a:rPr lang="it-IT" i="1" dirty="0"/>
              <a:t> (CIRCONVENZIONE DI PERSONE INCAPACI) ,</a:t>
            </a:r>
            <a:r>
              <a:rPr i="1" dirty="0"/>
              <a:t> </a:t>
            </a:r>
            <a:r>
              <a:rPr b="1" i="1" dirty="0" err="1">
                <a:solidFill>
                  <a:srgbClr val="A22E8C"/>
                </a:solidFill>
              </a:rPr>
              <a:t>si</a:t>
            </a:r>
            <a:r>
              <a:rPr b="1" i="1" dirty="0">
                <a:solidFill>
                  <a:srgbClr val="A22E8C"/>
                </a:solidFill>
              </a:rPr>
              <a:t> fa dare o </a:t>
            </a:r>
            <a:r>
              <a:rPr b="1" i="1" dirty="0" err="1">
                <a:solidFill>
                  <a:srgbClr val="A22E8C"/>
                </a:solidFill>
              </a:rPr>
              <a:t>promettere</a:t>
            </a:r>
            <a:r>
              <a:rPr i="1" dirty="0"/>
              <a:t>, sotto </a:t>
            </a:r>
            <a:r>
              <a:rPr i="1" dirty="0" err="1"/>
              <a:t>qualsiasi</a:t>
            </a:r>
            <a:r>
              <a:rPr i="1" dirty="0"/>
              <a:t> forma, per </a:t>
            </a:r>
            <a:r>
              <a:rPr i="1" dirty="0" err="1"/>
              <a:t>sé</a:t>
            </a:r>
            <a:r>
              <a:rPr i="1" dirty="0"/>
              <a:t> o per </a:t>
            </a:r>
            <a:r>
              <a:rPr i="1" dirty="0" err="1"/>
              <a:t>altri</a:t>
            </a:r>
            <a:r>
              <a:rPr i="1" dirty="0"/>
              <a:t>, </a:t>
            </a:r>
            <a:r>
              <a:rPr b="1" i="1" dirty="0">
                <a:solidFill>
                  <a:srgbClr val="A22E8C"/>
                </a:solidFill>
              </a:rPr>
              <a:t>in </a:t>
            </a:r>
            <a:r>
              <a:rPr b="1" i="1" dirty="0" err="1">
                <a:solidFill>
                  <a:srgbClr val="A22E8C"/>
                </a:solidFill>
              </a:rPr>
              <a:t>corrispettivo</a:t>
            </a:r>
            <a:r>
              <a:rPr b="1" i="1" dirty="0">
                <a:solidFill>
                  <a:srgbClr val="A22E8C"/>
                </a:solidFill>
              </a:rPr>
              <a:t> di una </a:t>
            </a:r>
            <a:r>
              <a:rPr b="1" i="1" dirty="0" err="1">
                <a:solidFill>
                  <a:srgbClr val="A22E8C"/>
                </a:solidFill>
              </a:rPr>
              <a:t>prestazione</a:t>
            </a:r>
            <a:r>
              <a:rPr b="1" i="1" dirty="0">
                <a:solidFill>
                  <a:srgbClr val="A22E8C"/>
                </a:solidFill>
              </a:rPr>
              <a:t> di </a:t>
            </a:r>
            <a:r>
              <a:rPr b="1" i="1" dirty="0" err="1">
                <a:solidFill>
                  <a:srgbClr val="A22E8C"/>
                </a:solidFill>
              </a:rPr>
              <a:t>denaro</a:t>
            </a:r>
            <a:r>
              <a:rPr b="1" i="1" dirty="0">
                <a:solidFill>
                  <a:srgbClr val="A22E8C"/>
                </a:solidFill>
              </a:rPr>
              <a:t> o di </a:t>
            </a:r>
            <a:r>
              <a:rPr b="1" i="1" dirty="0" err="1">
                <a:solidFill>
                  <a:srgbClr val="A22E8C"/>
                </a:solidFill>
              </a:rPr>
              <a:t>altra</a:t>
            </a:r>
            <a:r>
              <a:rPr b="1" i="1" dirty="0">
                <a:solidFill>
                  <a:srgbClr val="A22E8C"/>
                </a:solidFill>
              </a:rPr>
              <a:t> </a:t>
            </a:r>
            <a:r>
              <a:rPr b="1" i="1" dirty="0" err="1">
                <a:solidFill>
                  <a:srgbClr val="A22E8C"/>
                </a:solidFill>
              </a:rPr>
              <a:t>utilità</a:t>
            </a:r>
            <a:r>
              <a:rPr b="1" i="1" dirty="0">
                <a:solidFill>
                  <a:srgbClr val="A22E8C"/>
                </a:solidFill>
              </a:rPr>
              <a:t>, </a:t>
            </a:r>
            <a:r>
              <a:rPr b="1" i="1" dirty="0" err="1">
                <a:solidFill>
                  <a:srgbClr val="A22E8C"/>
                </a:solidFill>
              </a:rPr>
              <a:t>interessi</a:t>
            </a:r>
            <a:r>
              <a:rPr b="1" i="1" dirty="0">
                <a:solidFill>
                  <a:srgbClr val="A22E8C"/>
                </a:solidFill>
              </a:rPr>
              <a:t> o </a:t>
            </a:r>
            <a:r>
              <a:rPr b="1" i="1" dirty="0" err="1">
                <a:solidFill>
                  <a:srgbClr val="A22E8C"/>
                </a:solidFill>
              </a:rPr>
              <a:t>altri</a:t>
            </a:r>
            <a:r>
              <a:rPr b="1" i="1" dirty="0">
                <a:solidFill>
                  <a:srgbClr val="A22E8C"/>
                </a:solidFill>
              </a:rPr>
              <a:t> </a:t>
            </a:r>
            <a:r>
              <a:rPr b="1" i="1" dirty="0" err="1">
                <a:solidFill>
                  <a:srgbClr val="A22E8C"/>
                </a:solidFill>
              </a:rPr>
              <a:t>vantaggi</a:t>
            </a:r>
            <a:r>
              <a:rPr b="1" i="1" dirty="0">
                <a:solidFill>
                  <a:srgbClr val="A22E8C"/>
                </a:solidFill>
              </a:rPr>
              <a:t> </a:t>
            </a:r>
            <a:r>
              <a:rPr b="1" i="1" dirty="0" err="1">
                <a:solidFill>
                  <a:srgbClr val="A22E8C"/>
                </a:solidFill>
              </a:rPr>
              <a:t>usurari</a:t>
            </a:r>
            <a:r>
              <a:rPr i="1" dirty="0"/>
              <a:t>, è </a:t>
            </a:r>
            <a:r>
              <a:rPr i="1" dirty="0" err="1"/>
              <a:t>punito</a:t>
            </a:r>
            <a:r>
              <a:rPr i="1" dirty="0"/>
              <a:t> con la </a:t>
            </a:r>
            <a:r>
              <a:rPr i="1" dirty="0" err="1"/>
              <a:t>reclusione</a:t>
            </a:r>
            <a:r>
              <a:rPr i="1" dirty="0"/>
              <a:t> da due a </a:t>
            </a:r>
            <a:r>
              <a:rPr i="1" dirty="0" err="1"/>
              <a:t>dieci</a:t>
            </a:r>
            <a:r>
              <a:rPr i="1" dirty="0"/>
              <a:t> anni e con la </a:t>
            </a:r>
            <a:r>
              <a:rPr i="1" dirty="0" err="1"/>
              <a:t>multa</a:t>
            </a:r>
            <a:r>
              <a:rPr i="1" dirty="0"/>
              <a:t> da euro 5.000 a euro 30.000.</a:t>
            </a:r>
            <a:endParaRPr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err="1"/>
              <a:t>Alla</a:t>
            </a:r>
            <a:r>
              <a:rPr dirty="0"/>
              <a:t> </a:t>
            </a:r>
            <a:r>
              <a:rPr dirty="0" err="1"/>
              <a:t>stessa</a:t>
            </a:r>
            <a:r>
              <a:rPr dirty="0"/>
              <a:t> </a:t>
            </a:r>
            <a:r>
              <a:rPr dirty="0" err="1"/>
              <a:t>pena</a:t>
            </a:r>
            <a:r>
              <a:rPr dirty="0"/>
              <a:t> </a:t>
            </a:r>
            <a:r>
              <a:rPr dirty="0" err="1"/>
              <a:t>soggiace</a:t>
            </a:r>
            <a:r>
              <a:rPr dirty="0"/>
              <a:t> chi, </a:t>
            </a:r>
            <a:r>
              <a:rPr dirty="0" err="1"/>
              <a:t>fuori</a:t>
            </a:r>
            <a:r>
              <a:rPr dirty="0"/>
              <a:t> del </a:t>
            </a:r>
            <a:r>
              <a:rPr dirty="0" err="1"/>
              <a:t>caso</a:t>
            </a:r>
            <a:r>
              <a:rPr dirty="0"/>
              <a:t> di </a:t>
            </a:r>
            <a:r>
              <a:rPr dirty="0" err="1"/>
              <a:t>concorso</a:t>
            </a:r>
            <a:r>
              <a:rPr dirty="0"/>
              <a:t> </a:t>
            </a:r>
            <a:r>
              <a:rPr dirty="0" err="1"/>
              <a:t>nel</a:t>
            </a:r>
            <a:r>
              <a:rPr dirty="0"/>
              <a:t> </a:t>
            </a:r>
            <a:r>
              <a:rPr dirty="0" err="1"/>
              <a:t>delitto</a:t>
            </a:r>
            <a:r>
              <a:rPr dirty="0"/>
              <a:t> </a:t>
            </a:r>
            <a:r>
              <a:rPr dirty="0" err="1"/>
              <a:t>previsto</a:t>
            </a:r>
            <a:r>
              <a:rPr dirty="0"/>
              <a:t> dal primo comma, </a:t>
            </a:r>
            <a:r>
              <a:rPr b="1" dirty="0" err="1"/>
              <a:t>procura</a:t>
            </a:r>
            <a:r>
              <a:rPr b="1" dirty="0"/>
              <a:t> a </a:t>
            </a:r>
            <a:r>
              <a:rPr b="1" dirty="0" err="1"/>
              <a:t>taluno</a:t>
            </a:r>
            <a:r>
              <a:rPr b="1" dirty="0"/>
              <a:t> una </a:t>
            </a:r>
            <a:r>
              <a:rPr b="1" dirty="0" err="1"/>
              <a:t>somma</a:t>
            </a:r>
            <a:r>
              <a:rPr b="1" dirty="0"/>
              <a:t> di </a:t>
            </a:r>
            <a:r>
              <a:rPr b="1" dirty="0" err="1"/>
              <a:t>denaro</a:t>
            </a:r>
            <a:r>
              <a:rPr b="1" dirty="0"/>
              <a:t> o </a:t>
            </a:r>
            <a:r>
              <a:rPr b="1" dirty="0" err="1"/>
              <a:t>altra</a:t>
            </a:r>
            <a:r>
              <a:rPr b="1" dirty="0"/>
              <a:t> </a:t>
            </a:r>
            <a:r>
              <a:rPr b="1" dirty="0" err="1"/>
              <a:t>utilità</a:t>
            </a:r>
            <a:r>
              <a:rPr b="1" dirty="0"/>
              <a:t> </a:t>
            </a:r>
            <a:r>
              <a:rPr b="1" dirty="0" err="1"/>
              <a:t>facendo</a:t>
            </a:r>
            <a:r>
              <a:rPr b="1" dirty="0"/>
              <a:t> dare o </a:t>
            </a:r>
            <a:r>
              <a:rPr b="1" dirty="0" err="1"/>
              <a:t>promettere</a:t>
            </a:r>
            <a:r>
              <a:rPr b="1" dirty="0"/>
              <a:t>, a </a:t>
            </a:r>
            <a:r>
              <a:rPr b="1" dirty="0" err="1"/>
              <a:t>sé</a:t>
            </a:r>
            <a:r>
              <a:rPr b="1" dirty="0"/>
              <a:t> o ad </a:t>
            </a:r>
            <a:r>
              <a:rPr b="1" dirty="0" err="1"/>
              <a:t>altri</a:t>
            </a:r>
            <a:r>
              <a:rPr b="1" dirty="0"/>
              <a:t>, per la </a:t>
            </a:r>
            <a:r>
              <a:rPr b="1" dirty="0" err="1"/>
              <a:t>mediazione</a:t>
            </a:r>
            <a:r>
              <a:rPr b="1" dirty="0"/>
              <a:t>, un </a:t>
            </a:r>
            <a:r>
              <a:rPr b="1" dirty="0" err="1"/>
              <a:t>compenso</a:t>
            </a:r>
            <a:r>
              <a:rPr b="1" dirty="0"/>
              <a:t> </a:t>
            </a:r>
            <a:r>
              <a:rPr b="1" dirty="0" err="1"/>
              <a:t>usurario</a:t>
            </a:r>
            <a:r>
              <a:rPr dirty="0"/>
              <a:t>.</a:t>
            </a:r>
            <a:endParaRPr dirty="0">
              <a:latin typeface="Times New Roman"/>
              <a:ea typeface="Times New Roman"/>
              <a:cs typeface="Times New Roman"/>
              <a:sym typeface="Times New Roman"/>
            </a:endParaRPr>
          </a:p>
          <a:p>
            <a:pPr algn="just">
              <a:lnSpc>
                <a:spcPct val="114000"/>
              </a:lnSpc>
              <a:spcBef>
                <a:spcPts val="600"/>
              </a:spcBef>
              <a:defRPr sz="2000" i="1">
                <a:latin typeface="Book Antiqua"/>
                <a:ea typeface="Book Antiqua"/>
                <a:cs typeface="Book Antiqua"/>
                <a:sym typeface="Book Antiqua"/>
              </a:defRPr>
            </a:pPr>
            <a:r>
              <a:rPr dirty="0"/>
              <a:t>La </a:t>
            </a:r>
            <a:r>
              <a:rPr dirty="0" err="1"/>
              <a:t>legge</a:t>
            </a:r>
            <a:r>
              <a:rPr dirty="0"/>
              <a:t> </a:t>
            </a:r>
            <a:r>
              <a:rPr dirty="0" err="1"/>
              <a:t>stabilisce</a:t>
            </a:r>
            <a:r>
              <a:rPr dirty="0"/>
              <a:t> </a:t>
            </a:r>
            <a:r>
              <a:rPr dirty="0" err="1"/>
              <a:t>il</a:t>
            </a:r>
            <a:r>
              <a:rPr dirty="0"/>
              <a:t> </a:t>
            </a:r>
            <a:r>
              <a:rPr dirty="0" err="1"/>
              <a:t>limite</a:t>
            </a:r>
            <a:r>
              <a:rPr dirty="0"/>
              <a:t> </a:t>
            </a:r>
            <a:r>
              <a:rPr dirty="0" err="1"/>
              <a:t>oltre</a:t>
            </a:r>
            <a:r>
              <a:rPr dirty="0"/>
              <a:t> </a:t>
            </a:r>
            <a:r>
              <a:rPr dirty="0" err="1"/>
              <a:t>il</a:t>
            </a:r>
            <a:r>
              <a:rPr dirty="0"/>
              <a:t> quale </a:t>
            </a:r>
            <a:r>
              <a:rPr dirty="0" err="1"/>
              <a:t>gli</a:t>
            </a:r>
            <a:r>
              <a:rPr dirty="0"/>
              <a:t> </a:t>
            </a:r>
            <a:r>
              <a:rPr dirty="0" err="1"/>
              <a:t>interessi</a:t>
            </a:r>
            <a:r>
              <a:rPr dirty="0"/>
              <a:t> </a:t>
            </a:r>
            <a:r>
              <a:rPr dirty="0" err="1"/>
              <a:t>sono</a:t>
            </a:r>
            <a:r>
              <a:rPr dirty="0"/>
              <a:t> </a:t>
            </a:r>
            <a:r>
              <a:rPr dirty="0" err="1"/>
              <a:t>sempre</a:t>
            </a:r>
            <a:r>
              <a:rPr dirty="0"/>
              <a:t> </a:t>
            </a:r>
            <a:r>
              <a:rPr dirty="0" err="1"/>
              <a:t>usurari</a:t>
            </a:r>
            <a:r>
              <a:rPr b="0" dirty="0"/>
              <a:t>.</a:t>
            </a:r>
            <a:endParaRPr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err="1"/>
              <a:t>Sono</a:t>
            </a:r>
            <a:r>
              <a:rPr dirty="0"/>
              <a:t> </a:t>
            </a:r>
            <a:r>
              <a:rPr dirty="0" err="1"/>
              <a:t>altresì</a:t>
            </a:r>
            <a:r>
              <a:rPr dirty="0"/>
              <a:t> </a:t>
            </a:r>
            <a:r>
              <a:rPr dirty="0" err="1"/>
              <a:t>usurari</a:t>
            </a:r>
            <a:r>
              <a:rPr dirty="0"/>
              <a:t> </a:t>
            </a:r>
            <a:r>
              <a:rPr dirty="0" err="1"/>
              <a:t>gli</a:t>
            </a:r>
            <a:r>
              <a:rPr dirty="0"/>
              <a:t> </a:t>
            </a:r>
            <a:r>
              <a:rPr dirty="0" err="1"/>
              <a:t>interessi</a:t>
            </a:r>
            <a:r>
              <a:rPr dirty="0"/>
              <a:t>, </a:t>
            </a:r>
            <a:r>
              <a:rPr dirty="0" err="1"/>
              <a:t>anche</a:t>
            </a:r>
            <a:r>
              <a:rPr dirty="0"/>
              <a:t> se </a:t>
            </a:r>
            <a:r>
              <a:rPr dirty="0" err="1"/>
              <a:t>inferiori</a:t>
            </a:r>
            <a:r>
              <a:rPr dirty="0"/>
              <a:t> a tale </a:t>
            </a:r>
            <a:r>
              <a:rPr dirty="0" err="1"/>
              <a:t>limite</a:t>
            </a:r>
            <a:r>
              <a:rPr dirty="0"/>
              <a:t>, e </a:t>
            </a:r>
            <a:r>
              <a:rPr dirty="0" err="1"/>
              <a:t>gli</a:t>
            </a:r>
            <a:r>
              <a:rPr dirty="0"/>
              <a:t> </a:t>
            </a:r>
            <a:r>
              <a:rPr dirty="0" err="1"/>
              <a:t>altri</a:t>
            </a:r>
            <a:r>
              <a:rPr dirty="0"/>
              <a:t> </a:t>
            </a:r>
            <a:r>
              <a:rPr dirty="0" err="1"/>
              <a:t>vantaggi</a:t>
            </a:r>
            <a:r>
              <a:rPr dirty="0"/>
              <a:t> o </a:t>
            </a:r>
            <a:r>
              <a:rPr dirty="0" err="1"/>
              <a:t>compensi</a:t>
            </a:r>
            <a:r>
              <a:rPr dirty="0"/>
              <a:t> </a:t>
            </a:r>
            <a:r>
              <a:rPr dirty="0" err="1"/>
              <a:t>che</a:t>
            </a:r>
            <a:r>
              <a:rPr dirty="0"/>
              <a:t> </a:t>
            </a:r>
            <a:r>
              <a:rPr dirty="0" err="1"/>
              <a:t>avuto</a:t>
            </a:r>
            <a:r>
              <a:rPr dirty="0"/>
              <a:t> </a:t>
            </a:r>
            <a:r>
              <a:rPr dirty="0" err="1"/>
              <a:t>riguardo</a:t>
            </a:r>
            <a:r>
              <a:rPr dirty="0"/>
              <a:t> </a:t>
            </a:r>
            <a:r>
              <a:rPr dirty="0" err="1"/>
              <a:t>alle</a:t>
            </a:r>
            <a:r>
              <a:rPr dirty="0"/>
              <a:t> concrete </a:t>
            </a:r>
            <a:r>
              <a:rPr dirty="0" err="1"/>
              <a:t>modalità</a:t>
            </a:r>
            <a:r>
              <a:rPr dirty="0"/>
              <a:t> del </a:t>
            </a:r>
            <a:r>
              <a:rPr dirty="0" err="1"/>
              <a:t>fatto</a:t>
            </a:r>
            <a:r>
              <a:rPr dirty="0"/>
              <a:t> e al </a:t>
            </a:r>
            <a:r>
              <a:rPr dirty="0" err="1"/>
              <a:t>tasso</a:t>
            </a:r>
            <a:r>
              <a:rPr dirty="0"/>
              <a:t> medio </a:t>
            </a:r>
            <a:r>
              <a:rPr dirty="0" err="1"/>
              <a:t>praticato</a:t>
            </a:r>
            <a:r>
              <a:rPr dirty="0"/>
              <a:t> per </a:t>
            </a:r>
            <a:r>
              <a:rPr dirty="0" err="1"/>
              <a:t>operazioni</a:t>
            </a:r>
            <a:r>
              <a:rPr dirty="0"/>
              <a:t> </a:t>
            </a:r>
            <a:r>
              <a:rPr dirty="0" err="1"/>
              <a:t>similari</a:t>
            </a:r>
            <a:r>
              <a:rPr dirty="0"/>
              <a:t> </a:t>
            </a:r>
            <a:r>
              <a:rPr dirty="0" err="1"/>
              <a:t>risultano</a:t>
            </a:r>
            <a:r>
              <a:rPr dirty="0"/>
              <a:t> </a:t>
            </a:r>
            <a:r>
              <a:rPr dirty="0" err="1"/>
              <a:t>comunque</a:t>
            </a:r>
            <a:r>
              <a:rPr dirty="0"/>
              <a:t> </a:t>
            </a:r>
            <a:r>
              <a:rPr dirty="0" err="1"/>
              <a:t>sproporzionati</a:t>
            </a:r>
            <a:r>
              <a:rPr dirty="0"/>
              <a:t> rispetto </a:t>
            </a:r>
            <a:r>
              <a:rPr dirty="0" err="1"/>
              <a:t>alla</a:t>
            </a:r>
            <a:r>
              <a:rPr dirty="0"/>
              <a:t> </a:t>
            </a:r>
            <a:r>
              <a:rPr dirty="0" err="1"/>
              <a:t>prestazione</a:t>
            </a:r>
            <a:r>
              <a:rPr dirty="0"/>
              <a:t> di </a:t>
            </a:r>
            <a:r>
              <a:rPr dirty="0" err="1"/>
              <a:t>denaro</a:t>
            </a:r>
            <a:r>
              <a:rPr dirty="0"/>
              <a:t> o di </a:t>
            </a:r>
            <a:r>
              <a:rPr dirty="0" err="1"/>
              <a:t>altra</a:t>
            </a:r>
            <a:r>
              <a:rPr dirty="0"/>
              <a:t> </a:t>
            </a:r>
            <a:r>
              <a:rPr dirty="0" err="1"/>
              <a:t>utilità</a:t>
            </a:r>
            <a:r>
              <a:rPr dirty="0"/>
              <a:t>, </a:t>
            </a:r>
            <a:r>
              <a:rPr dirty="0" err="1"/>
              <a:t>ovvero</a:t>
            </a:r>
            <a:r>
              <a:rPr dirty="0"/>
              <a:t> </a:t>
            </a:r>
            <a:r>
              <a:rPr dirty="0" err="1"/>
              <a:t>all'opera</a:t>
            </a:r>
            <a:r>
              <a:rPr dirty="0"/>
              <a:t> di </a:t>
            </a:r>
            <a:r>
              <a:rPr dirty="0" err="1"/>
              <a:t>mediazione</a:t>
            </a:r>
            <a:r>
              <a:rPr dirty="0"/>
              <a:t>, </a:t>
            </a:r>
            <a:r>
              <a:rPr dirty="0" err="1"/>
              <a:t>quando</a:t>
            </a:r>
            <a:r>
              <a:rPr dirty="0"/>
              <a:t> chi li ha </a:t>
            </a:r>
            <a:r>
              <a:rPr dirty="0" err="1"/>
              <a:t>dati</a:t>
            </a:r>
            <a:r>
              <a:rPr dirty="0"/>
              <a:t> o </a:t>
            </a:r>
            <a:r>
              <a:rPr dirty="0" err="1"/>
              <a:t>promessi</a:t>
            </a:r>
            <a:r>
              <a:rPr dirty="0"/>
              <a:t> </a:t>
            </a:r>
            <a:r>
              <a:rPr dirty="0" err="1"/>
              <a:t>si</a:t>
            </a:r>
            <a:r>
              <a:rPr dirty="0"/>
              <a:t> </a:t>
            </a:r>
            <a:r>
              <a:rPr dirty="0" err="1"/>
              <a:t>trova</a:t>
            </a:r>
            <a:r>
              <a:rPr dirty="0"/>
              <a:t> </a:t>
            </a:r>
            <a:r>
              <a:rPr u="sng" dirty="0"/>
              <a:t>in </a:t>
            </a:r>
            <a:r>
              <a:rPr u="sng" dirty="0" err="1"/>
              <a:t>condizioni</a:t>
            </a:r>
            <a:r>
              <a:rPr u="sng" dirty="0"/>
              <a:t> di </a:t>
            </a:r>
            <a:r>
              <a:rPr u="sng" dirty="0" err="1"/>
              <a:t>difficoltà</a:t>
            </a:r>
            <a:r>
              <a:rPr u="sng" dirty="0"/>
              <a:t> </a:t>
            </a:r>
            <a:r>
              <a:rPr u="sng" dirty="0" err="1"/>
              <a:t>economica</a:t>
            </a:r>
            <a:r>
              <a:rPr u="sng" dirty="0"/>
              <a:t> o </a:t>
            </a:r>
            <a:r>
              <a:rPr u="sng" dirty="0" err="1"/>
              <a:t>finanziaria</a:t>
            </a:r>
            <a:r>
              <a:rPr u="sng" dirty="0"/>
              <a:t>. …</a:t>
            </a:r>
          </a:p>
        </p:txBody>
      </p:sp>
      <p:pic>
        <p:nvPicPr>
          <p:cNvPr id="436"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37"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Usura</a:t>
            </a:r>
          </a:p>
        </p:txBody>
      </p:sp>
    </p:spTree>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Usura"/>
          <p:cNvSpPr txBox="1">
            <a:spLocks noGrp="1"/>
          </p:cNvSpPr>
          <p:nvPr>
            <p:ph type="title"/>
          </p:nvPr>
        </p:nvSpPr>
        <p:spPr>
          <a:xfrm>
            <a:off x="626039" y="-151905"/>
            <a:ext cx="8229601" cy="1143002"/>
          </a:xfrm>
          <a:prstGeom prst="rect">
            <a:avLst/>
          </a:prstGeom>
        </p:spPr>
        <p:txBody>
          <a:bodyPr/>
          <a:lstStyle>
            <a:lvl1pPr algn="l">
              <a:defRPr sz="3200">
                <a:solidFill>
                  <a:srgbClr val="FFFFFF"/>
                </a:solidFill>
                <a:latin typeface="Book Antiqua"/>
                <a:ea typeface="Book Antiqua"/>
                <a:cs typeface="Book Antiqua"/>
                <a:sym typeface="Book Antiqua"/>
              </a:defRPr>
            </a:lvl1pPr>
          </a:lstStyle>
          <a:p>
            <a:r>
              <a:t>Usura</a:t>
            </a:r>
          </a:p>
        </p:txBody>
      </p:sp>
      <p:sp>
        <p:nvSpPr>
          <p:cNvPr id="440" name="Per la determinazione del tasso  di  interesse  usurario  si  tiene conto delle commissioni, remunerazioni a  qualsiasi  titolo  e  delle spese, escluse quelle per imposte e tasse, collegate alla erogazione del credito.…"/>
          <p:cNvSpPr txBox="1">
            <a:spLocks noGrp="1"/>
          </p:cNvSpPr>
          <p:nvPr>
            <p:ph type="body" idx="1"/>
          </p:nvPr>
        </p:nvSpPr>
        <p:spPr>
          <a:xfrm>
            <a:off x="131149" y="787088"/>
            <a:ext cx="8881702" cy="6177592"/>
          </a:xfrm>
          <a:prstGeom prst="rect">
            <a:avLst/>
          </a:prstGeom>
        </p:spPr>
        <p:txBody>
          <a:bodyPr>
            <a:noAutofit/>
          </a:bodyPr>
          <a:lstStyle/>
          <a:p>
            <a:pPr marL="0" indent="0" algn="just" defTabSz="361188">
              <a:spcBef>
                <a:spcPts val="0"/>
              </a:spcBef>
              <a:buSzTx/>
              <a:buFontTx/>
              <a:buNone/>
              <a:defRPr sz="1738" i="1">
                <a:solidFill>
                  <a:srgbClr val="444444"/>
                </a:solidFill>
                <a:latin typeface="Times New Roman"/>
                <a:ea typeface="Times New Roman"/>
                <a:cs typeface="Times New Roman"/>
                <a:sym typeface="Times New Roman"/>
              </a:defRPr>
            </a:pPr>
            <a:r>
              <a:rPr sz="1800" dirty="0">
                <a:solidFill>
                  <a:schemeClr val="tx1"/>
                </a:solidFill>
              </a:rPr>
              <a:t> Per la </a:t>
            </a:r>
            <a:r>
              <a:rPr sz="1800" dirty="0" err="1">
                <a:solidFill>
                  <a:schemeClr val="tx1"/>
                </a:solidFill>
              </a:rPr>
              <a:t>determinazione</a:t>
            </a:r>
            <a:r>
              <a:rPr sz="1800" dirty="0">
                <a:solidFill>
                  <a:schemeClr val="tx1"/>
                </a:solidFill>
              </a:rPr>
              <a:t> del </a:t>
            </a:r>
            <a:r>
              <a:rPr sz="1800" dirty="0" err="1">
                <a:solidFill>
                  <a:schemeClr val="tx1"/>
                </a:solidFill>
              </a:rPr>
              <a:t>tasso</a:t>
            </a:r>
            <a:r>
              <a:rPr sz="1800" dirty="0">
                <a:solidFill>
                  <a:schemeClr val="tx1"/>
                </a:solidFill>
              </a:rPr>
              <a:t>  di  interesse  </a:t>
            </a:r>
            <a:r>
              <a:rPr sz="1800" dirty="0" err="1">
                <a:solidFill>
                  <a:schemeClr val="tx1"/>
                </a:solidFill>
              </a:rPr>
              <a:t>usurario</a:t>
            </a:r>
            <a:r>
              <a:rPr sz="1800" dirty="0">
                <a:solidFill>
                  <a:schemeClr val="tx1"/>
                </a:solidFill>
              </a:rPr>
              <a:t>  </a:t>
            </a:r>
            <a:r>
              <a:rPr sz="1800" dirty="0" err="1">
                <a:solidFill>
                  <a:schemeClr val="tx1"/>
                </a:solidFill>
              </a:rPr>
              <a:t>si</a:t>
            </a:r>
            <a:r>
              <a:rPr sz="1800" dirty="0">
                <a:solidFill>
                  <a:schemeClr val="tx1"/>
                </a:solidFill>
              </a:rPr>
              <a:t>  </a:t>
            </a:r>
            <a:r>
              <a:rPr sz="1800" dirty="0" err="1">
                <a:solidFill>
                  <a:schemeClr val="tx1"/>
                </a:solidFill>
              </a:rPr>
              <a:t>tiene</a:t>
            </a:r>
            <a:r>
              <a:rPr sz="1800" dirty="0">
                <a:solidFill>
                  <a:schemeClr val="tx1"/>
                </a:solidFill>
              </a:rPr>
              <a:t> </a:t>
            </a:r>
            <a:r>
              <a:rPr sz="1800" dirty="0" err="1">
                <a:solidFill>
                  <a:schemeClr val="tx1"/>
                </a:solidFill>
              </a:rPr>
              <a:t>conto</a:t>
            </a:r>
            <a:r>
              <a:rPr sz="1800" dirty="0">
                <a:solidFill>
                  <a:schemeClr val="tx1"/>
                </a:solidFill>
              </a:rPr>
              <a:t> </a:t>
            </a:r>
            <a:r>
              <a:rPr sz="1800" dirty="0" err="1">
                <a:solidFill>
                  <a:schemeClr val="tx1"/>
                </a:solidFill>
              </a:rPr>
              <a:t>delle</a:t>
            </a:r>
            <a:r>
              <a:rPr sz="1800" dirty="0">
                <a:solidFill>
                  <a:schemeClr val="tx1"/>
                </a:solidFill>
              </a:rPr>
              <a:t> </a:t>
            </a:r>
            <a:r>
              <a:rPr sz="1800" dirty="0" err="1">
                <a:solidFill>
                  <a:schemeClr val="tx1"/>
                </a:solidFill>
              </a:rPr>
              <a:t>commissioni</a:t>
            </a:r>
            <a:r>
              <a:rPr sz="1800" dirty="0">
                <a:solidFill>
                  <a:schemeClr val="tx1"/>
                </a:solidFill>
              </a:rPr>
              <a:t>, </a:t>
            </a:r>
            <a:r>
              <a:rPr sz="1800" dirty="0" err="1">
                <a:solidFill>
                  <a:schemeClr val="tx1"/>
                </a:solidFill>
              </a:rPr>
              <a:t>remunerazioni</a:t>
            </a:r>
            <a:r>
              <a:rPr sz="1800" dirty="0">
                <a:solidFill>
                  <a:schemeClr val="tx1"/>
                </a:solidFill>
              </a:rPr>
              <a:t> a  </a:t>
            </a:r>
            <a:r>
              <a:rPr sz="1800" dirty="0" err="1">
                <a:solidFill>
                  <a:schemeClr val="tx1"/>
                </a:solidFill>
              </a:rPr>
              <a:t>qualsiasi</a:t>
            </a:r>
            <a:r>
              <a:rPr sz="1800" dirty="0">
                <a:solidFill>
                  <a:schemeClr val="tx1"/>
                </a:solidFill>
              </a:rPr>
              <a:t>  </a:t>
            </a:r>
            <a:r>
              <a:rPr sz="1800" dirty="0" err="1">
                <a:solidFill>
                  <a:schemeClr val="tx1"/>
                </a:solidFill>
              </a:rPr>
              <a:t>titolo</a:t>
            </a:r>
            <a:r>
              <a:rPr sz="1800" dirty="0">
                <a:solidFill>
                  <a:schemeClr val="tx1"/>
                </a:solidFill>
              </a:rPr>
              <a:t>  e  </a:t>
            </a:r>
            <a:r>
              <a:rPr sz="1800" dirty="0" err="1">
                <a:solidFill>
                  <a:schemeClr val="tx1"/>
                </a:solidFill>
              </a:rPr>
              <a:t>delle</a:t>
            </a:r>
            <a:r>
              <a:rPr sz="1800" dirty="0">
                <a:solidFill>
                  <a:schemeClr val="tx1"/>
                </a:solidFill>
              </a:rPr>
              <a:t> </a:t>
            </a:r>
            <a:r>
              <a:rPr sz="1800" dirty="0" err="1">
                <a:solidFill>
                  <a:schemeClr val="tx1"/>
                </a:solidFill>
              </a:rPr>
              <a:t>spese</a:t>
            </a:r>
            <a:r>
              <a:rPr sz="1800" dirty="0">
                <a:solidFill>
                  <a:schemeClr val="tx1"/>
                </a:solidFill>
              </a:rPr>
              <a:t>, </a:t>
            </a:r>
            <a:r>
              <a:rPr sz="1800" dirty="0" err="1">
                <a:solidFill>
                  <a:schemeClr val="tx1"/>
                </a:solidFill>
              </a:rPr>
              <a:t>escluse</a:t>
            </a:r>
            <a:r>
              <a:rPr sz="1800" dirty="0">
                <a:solidFill>
                  <a:schemeClr val="tx1"/>
                </a:solidFill>
              </a:rPr>
              <a:t> quelle per </a:t>
            </a:r>
            <a:r>
              <a:rPr sz="1800" dirty="0" err="1">
                <a:solidFill>
                  <a:schemeClr val="tx1"/>
                </a:solidFill>
              </a:rPr>
              <a:t>imposte</a:t>
            </a:r>
            <a:r>
              <a:rPr sz="1800" dirty="0">
                <a:solidFill>
                  <a:schemeClr val="tx1"/>
                </a:solidFill>
              </a:rPr>
              <a:t> e </a:t>
            </a:r>
            <a:r>
              <a:rPr sz="1800" dirty="0" err="1">
                <a:solidFill>
                  <a:schemeClr val="tx1"/>
                </a:solidFill>
              </a:rPr>
              <a:t>tasse</a:t>
            </a:r>
            <a:r>
              <a:rPr sz="1800" dirty="0">
                <a:solidFill>
                  <a:schemeClr val="tx1"/>
                </a:solidFill>
              </a:rPr>
              <a:t>, </a:t>
            </a:r>
            <a:r>
              <a:rPr sz="1800" dirty="0" err="1">
                <a:solidFill>
                  <a:schemeClr val="tx1"/>
                </a:solidFill>
              </a:rPr>
              <a:t>collegate</a:t>
            </a:r>
            <a:r>
              <a:rPr sz="1800" dirty="0">
                <a:solidFill>
                  <a:schemeClr val="tx1"/>
                </a:solidFill>
              </a:rPr>
              <a:t> </a:t>
            </a:r>
            <a:r>
              <a:rPr sz="1800" dirty="0" err="1">
                <a:solidFill>
                  <a:schemeClr val="tx1"/>
                </a:solidFill>
              </a:rPr>
              <a:t>alla</a:t>
            </a:r>
            <a:r>
              <a:rPr sz="1800" dirty="0">
                <a:solidFill>
                  <a:schemeClr val="tx1"/>
                </a:solidFill>
              </a:rPr>
              <a:t> </a:t>
            </a:r>
            <a:r>
              <a:rPr sz="1800" dirty="0" err="1">
                <a:solidFill>
                  <a:schemeClr val="tx1"/>
                </a:solidFill>
              </a:rPr>
              <a:t>erogazione</a:t>
            </a:r>
            <a:r>
              <a:rPr sz="1800" dirty="0">
                <a:solidFill>
                  <a:schemeClr val="tx1"/>
                </a:solidFill>
              </a:rPr>
              <a:t> del </a:t>
            </a:r>
            <a:r>
              <a:rPr sz="1800" dirty="0" err="1">
                <a:solidFill>
                  <a:schemeClr val="tx1"/>
                </a:solidFill>
              </a:rPr>
              <a:t>credito</a:t>
            </a:r>
            <a:r>
              <a:rPr sz="1800" dirty="0">
                <a:solidFill>
                  <a:schemeClr val="tx1"/>
                </a:solidFill>
              </a:rPr>
              <a:t>. </a:t>
            </a:r>
          </a:p>
          <a:p>
            <a:pPr marL="0" indent="0" algn="just" defTabSz="361188">
              <a:spcBef>
                <a:spcPts val="0"/>
              </a:spcBef>
              <a:buSzTx/>
              <a:buFontTx/>
              <a:buNone/>
              <a:defRPr sz="1738" i="1">
                <a:solidFill>
                  <a:srgbClr val="444444"/>
                </a:solidFill>
                <a:latin typeface="Times New Roman"/>
                <a:ea typeface="Times New Roman"/>
                <a:cs typeface="Times New Roman"/>
                <a:sym typeface="Times New Roman"/>
              </a:defRPr>
            </a:pPr>
            <a:endParaRPr sz="1800" dirty="0">
              <a:solidFill>
                <a:schemeClr val="tx1"/>
              </a:solidFill>
            </a:endParaRPr>
          </a:p>
          <a:p>
            <a:pPr marL="0" indent="0" algn="just" defTabSz="361188">
              <a:spcBef>
                <a:spcPts val="0"/>
              </a:spcBef>
              <a:buSzTx/>
              <a:buFontTx/>
              <a:buNone/>
              <a:defRPr sz="1738" i="1">
                <a:solidFill>
                  <a:srgbClr val="444444"/>
                </a:solidFill>
                <a:latin typeface="Times New Roman"/>
                <a:ea typeface="Times New Roman"/>
                <a:cs typeface="Times New Roman"/>
                <a:sym typeface="Times New Roman"/>
              </a:defRPr>
            </a:pPr>
            <a:r>
              <a:rPr sz="1800" dirty="0">
                <a:solidFill>
                  <a:schemeClr val="tx1"/>
                </a:solidFill>
              </a:rPr>
              <a:t>  Le </a:t>
            </a:r>
            <a:r>
              <a:rPr sz="1800" dirty="0" err="1">
                <a:solidFill>
                  <a:schemeClr val="tx1"/>
                </a:solidFill>
              </a:rPr>
              <a:t>pene</a:t>
            </a:r>
            <a:r>
              <a:rPr sz="1800" dirty="0">
                <a:solidFill>
                  <a:schemeClr val="tx1"/>
                </a:solidFill>
              </a:rPr>
              <a:t> per </a:t>
            </a:r>
            <a:r>
              <a:rPr sz="1800" dirty="0" err="1">
                <a:solidFill>
                  <a:schemeClr val="tx1"/>
                </a:solidFill>
              </a:rPr>
              <a:t>i</a:t>
            </a:r>
            <a:r>
              <a:rPr sz="1800" dirty="0">
                <a:solidFill>
                  <a:schemeClr val="tx1"/>
                </a:solidFill>
              </a:rPr>
              <a:t> </a:t>
            </a:r>
            <a:r>
              <a:rPr sz="1800" dirty="0" err="1">
                <a:solidFill>
                  <a:schemeClr val="tx1"/>
                </a:solidFill>
              </a:rPr>
              <a:t>fatti</a:t>
            </a:r>
            <a:r>
              <a:rPr sz="1800" dirty="0">
                <a:solidFill>
                  <a:schemeClr val="tx1"/>
                </a:solidFill>
              </a:rPr>
              <a:t> di cui al primo e secondo comma </a:t>
            </a:r>
            <a:r>
              <a:rPr sz="1800" dirty="0" err="1">
                <a:solidFill>
                  <a:schemeClr val="tx1"/>
                </a:solidFill>
              </a:rPr>
              <a:t>sono</a:t>
            </a:r>
            <a:r>
              <a:rPr sz="1800" dirty="0">
                <a:solidFill>
                  <a:schemeClr val="tx1"/>
                </a:solidFill>
              </a:rPr>
              <a:t>  </a:t>
            </a:r>
            <a:r>
              <a:rPr sz="1800" dirty="0" err="1">
                <a:solidFill>
                  <a:schemeClr val="tx1"/>
                </a:solidFill>
              </a:rPr>
              <a:t>aumentate</a:t>
            </a:r>
            <a:r>
              <a:rPr sz="1800" dirty="0">
                <a:solidFill>
                  <a:schemeClr val="tx1"/>
                </a:solidFill>
              </a:rPr>
              <a:t> da un </a:t>
            </a:r>
            <a:r>
              <a:rPr sz="1800" dirty="0" err="1">
                <a:solidFill>
                  <a:schemeClr val="tx1"/>
                </a:solidFill>
              </a:rPr>
              <a:t>terzo</a:t>
            </a:r>
            <a:r>
              <a:rPr sz="1800" dirty="0">
                <a:solidFill>
                  <a:schemeClr val="tx1"/>
                </a:solidFill>
              </a:rPr>
              <a:t> </a:t>
            </a:r>
            <a:r>
              <a:rPr sz="1800" dirty="0" err="1">
                <a:solidFill>
                  <a:schemeClr val="tx1"/>
                </a:solidFill>
              </a:rPr>
              <a:t>alla</a:t>
            </a:r>
            <a:r>
              <a:rPr sz="1800" dirty="0">
                <a:solidFill>
                  <a:schemeClr val="tx1"/>
                </a:solidFill>
              </a:rPr>
              <a:t> meta': </a:t>
            </a:r>
          </a:p>
          <a:p>
            <a:pPr marL="0" indent="0" algn="just" defTabSz="361188">
              <a:spcBef>
                <a:spcPts val="0"/>
              </a:spcBef>
              <a:buSzTx/>
              <a:buFontTx/>
              <a:buNone/>
              <a:defRPr sz="1738" i="1">
                <a:solidFill>
                  <a:srgbClr val="444444"/>
                </a:solidFill>
                <a:latin typeface="Times New Roman"/>
                <a:ea typeface="Times New Roman"/>
                <a:cs typeface="Times New Roman"/>
                <a:sym typeface="Times New Roman"/>
              </a:defRPr>
            </a:pPr>
            <a:r>
              <a:rPr sz="1800" dirty="0">
                <a:solidFill>
                  <a:schemeClr val="tx1"/>
                </a:solidFill>
              </a:rPr>
              <a:t>    1) se </a:t>
            </a:r>
            <a:r>
              <a:rPr sz="1800" dirty="0" err="1">
                <a:solidFill>
                  <a:schemeClr val="tx1"/>
                </a:solidFill>
              </a:rPr>
              <a:t>il</a:t>
            </a:r>
            <a:r>
              <a:rPr sz="1800" dirty="0">
                <a:solidFill>
                  <a:schemeClr val="tx1"/>
                </a:solidFill>
              </a:rPr>
              <a:t> </a:t>
            </a:r>
            <a:r>
              <a:rPr sz="1800" dirty="0" err="1">
                <a:solidFill>
                  <a:schemeClr val="tx1"/>
                </a:solidFill>
              </a:rPr>
              <a:t>colpevole</a:t>
            </a:r>
            <a:r>
              <a:rPr sz="1800" dirty="0">
                <a:solidFill>
                  <a:schemeClr val="tx1"/>
                </a:solidFill>
              </a:rPr>
              <a:t>  ha  agito  </a:t>
            </a:r>
            <a:r>
              <a:rPr sz="1800" dirty="0" err="1">
                <a:solidFill>
                  <a:schemeClr val="tx1"/>
                </a:solidFill>
              </a:rPr>
              <a:t>nell'esercizio</a:t>
            </a:r>
            <a:r>
              <a:rPr sz="1800" dirty="0">
                <a:solidFill>
                  <a:schemeClr val="tx1"/>
                </a:solidFill>
              </a:rPr>
              <a:t>  di  una  </a:t>
            </a:r>
            <a:r>
              <a:rPr sz="1800" dirty="0" err="1">
                <a:solidFill>
                  <a:schemeClr val="tx1"/>
                </a:solidFill>
              </a:rPr>
              <a:t>attività</a:t>
            </a:r>
            <a:r>
              <a:rPr sz="1800" dirty="0">
                <a:solidFill>
                  <a:schemeClr val="tx1"/>
                </a:solidFill>
              </a:rPr>
              <a:t> </a:t>
            </a:r>
            <a:r>
              <a:rPr sz="1800" dirty="0" err="1">
                <a:solidFill>
                  <a:schemeClr val="tx1"/>
                </a:solidFill>
              </a:rPr>
              <a:t>professionale</a:t>
            </a:r>
            <a:r>
              <a:rPr sz="1800" dirty="0">
                <a:solidFill>
                  <a:schemeClr val="tx1"/>
                </a:solidFill>
              </a:rPr>
              <a:t>, </a:t>
            </a:r>
            <a:r>
              <a:rPr sz="1800" dirty="0" err="1">
                <a:solidFill>
                  <a:schemeClr val="tx1"/>
                </a:solidFill>
              </a:rPr>
              <a:t>bancaria</a:t>
            </a:r>
            <a:r>
              <a:rPr sz="1800" dirty="0">
                <a:solidFill>
                  <a:schemeClr val="tx1"/>
                </a:solidFill>
              </a:rPr>
              <a:t> o di </a:t>
            </a:r>
            <a:r>
              <a:rPr sz="1800" dirty="0" err="1">
                <a:solidFill>
                  <a:schemeClr val="tx1"/>
                </a:solidFill>
              </a:rPr>
              <a:t>intermediazione</a:t>
            </a:r>
            <a:r>
              <a:rPr sz="1800" dirty="0">
                <a:solidFill>
                  <a:schemeClr val="tx1"/>
                </a:solidFill>
              </a:rPr>
              <a:t> </a:t>
            </a:r>
            <a:r>
              <a:rPr sz="1800" dirty="0" err="1">
                <a:solidFill>
                  <a:schemeClr val="tx1"/>
                </a:solidFill>
              </a:rPr>
              <a:t>finanziaria</a:t>
            </a:r>
            <a:r>
              <a:rPr sz="1800" dirty="0">
                <a:solidFill>
                  <a:schemeClr val="tx1"/>
                </a:solidFill>
              </a:rPr>
              <a:t> </a:t>
            </a:r>
            <a:r>
              <a:rPr sz="1800" dirty="0" err="1">
                <a:solidFill>
                  <a:schemeClr val="tx1"/>
                </a:solidFill>
              </a:rPr>
              <a:t>mobiliare</a:t>
            </a:r>
            <a:r>
              <a:rPr sz="1800" dirty="0">
                <a:solidFill>
                  <a:schemeClr val="tx1"/>
                </a:solidFill>
              </a:rPr>
              <a:t>; </a:t>
            </a:r>
          </a:p>
          <a:p>
            <a:pPr marL="0" indent="0" algn="just" defTabSz="361188">
              <a:spcBef>
                <a:spcPts val="0"/>
              </a:spcBef>
              <a:buSzTx/>
              <a:buFontTx/>
              <a:buNone/>
              <a:defRPr sz="1738" i="1">
                <a:solidFill>
                  <a:srgbClr val="444444"/>
                </a:solidFill>
                <a:latin typeface="Times New Roman"/>
                <a:ea typeface="Times New Roman"/>
                <a:cs typeface="Times New Roman"/>
                <a:sym typeface="Times New Roman"/>
              </a:defRPr>
            </a:pPr>
            <a:r>
              <a:rPr sz="1800" dirty="0">
                <a:solidFill>
                  <a:schemeClr val="tx1"/>
                </a:solidFill>
              </a:rPr>
              <a:t>    2) se </a:t>
            </a:r>
            <a:r>
              <a:rPr sz="1800" dirty="0" err="1">
                <a:solidFill>
                  <a:schemeClr val="tx1"/>
                </a:solidFill>
              </a:rPr>
              <a:t>il</a:t>
            </a:r>
            <a:r>
              <a:rPr sz="1800" dirty="0">
                <a:solidFill>
                  <a:schemeClr val="tx1"/>
                </a:solidFill>
              </a:rPr>
              <a:t> </a:t>
            </a:r>
            <a:r>
              <a:rPr sz="1800" dirty="0" err="1">
                <a:solidFill>
                  <a:schemeClr val="tx1"/>
                </a:solidFill>
              </a:rPr>
              <a:t>colpevole</a:t>
            </a:r>
            <a:r>
              <a:rPr sz="1800" dirty="0">
                <a:solidFill>
                  <a:schemeClr val="tx1"/>
                </a:solidFill>
              </a:rPr>
              <a:t> ha  </a:t>
            </a:r>
            <a:r>
              <a:rPr sz="1800" dirty="0" err="1">
                <a:solidFill>
                  <a:schemeClr val="tx1"/>
                </a:solidFill>
              </a:rPr>
              <a:t>richiesto</a:t>
            </a:r>
            <a:r>
              <a:rPr sz="1800" dirty="0">
                <a:solidFill>
                  <a:schemeClr val="tx1"/>
                </a:solidFill>
              </a:rPr>
              <a:t>  in  </a:t>
            </a:r>
            <a:r>
              <a:rPr sz="1800" dirty="0" err="1">
                <a:solidFill>
                  <a:schemeClr val="tx1"/>
                </a:solidFill>
              </a:rPr>
              <a:t>garanzia</a:t>
            </a:r>
            <a:r>
              <a:rPr sz="1800" dirty="0">
                <a:solidFill>
                  <a:schemeClr val="tx1"/>
                </a:solidFill>
              </a:rPr>
              <a:t>  </a:t>
            </a:r>
            <a:r>
              <a:rPr sz="1800" dirty="0" err="1">
                <a:solidFill>
                  <a:schemeClr val="tx1"/>
                </a:solidFill>
              </a:rPr>
              <a:t>partecipazioni</a:t>
            </a:r>
            <a:r>
              <a:rPr sz="1800" dirty="0">
                <a:solidFill>
                  <a:schemeClr val="tx1"/>
                </a:solidFill>
              </a:rPr>
              <a:t>  o quote </a:t>
            </a:r>
            <a:r>
              <a:rPr sz="1800" dirty="0" err="1">
                <a:solidFill>
                  <a:schemeClr val="tx1"/>
                </a:solidFill>
              </a:rPr>
              <a:t>societarie</a:t>
            </a:r>
            <a:r>
              <a:rPr sz="1800" dirty="0">
                <a:solidFill>
                  <a:schemeClr val="tx1"/>
                </a:solidFill>
              </a:rPr>
              <a:t> o </a:t>
            </a:r>
            <a:r>
              <a:rPr sz="1800" dirty="0" err="1">
                <a:solidFill>
                  <a:schemeClr val="tx1"/>
                </a:solidFill>
              </a:rPr>
              <a:t>aziendali</a:t>
            </a:r>
            <a:r>
              <a:rPr sz="1800" dirty="0">
                <a:solidFill>
                  <a:schemeClr val="tx1"/>
                </a:solidFill>
              </a:rPr>
              <a:t> o </a:t>
            </a:r>
            <a:r>
              <a:rPr sz="1800" dirty="0" err="1">
                <a:solidFill>
                  <a:schemeClr val="tx1"/>
                </a:solidFill>
              </a:rPr>
              <a:t>proprietà</a:t>
            </a:r>
            <a:r>
              <a:rPr sz="1800" dirty="0">
                <a:solidFill>
                  <a:schemeClr val="tx1"/>
                </a:solidFill>
              </a:rPr>
              <a:t> </a:t>
            </a:r>
            <a:r>
              <a:rPr sz="1800" dirty="0" err="1">
                <a:solidFill>
                  <a:schemeClr val="tx1"/>
                </a:solidFill>
              </a:rPr>
              <a:t>immobiliari</a:t>
            </a:r>
            <a:r>
              <a:rPr sz="1800" dirty="0">
                <a:solidFill>
                  <a:schemeClr val="tx1"/>
                </a:solidFill>
              </a:rPr>
              <a:t>;</a:t>
            </a:r>
          </a:p>
          <a:p>
            <a:pPr marL="0" indent="0" algn="just" defTabSz="361188">
              <a:spcBef>
                <a:spcPts val="0"/>
              </a:spcBef>
              <a:buSzTx/>
              <a:buFontTx/>
              <a:buNone/>
              <a:defRPr sz="1738" i="1">
                <a:solidFill>
                  <a:srgbClr val="444444"/>
                </a:solidFill>
                <a:latin typeface="Times New Roman"/>
                <a:ea typeface="Times New Roman"/>
                <a:cs typeface="Times New Roman"/>
                <a:sym typeface="Times New Roman"/>
              </a:defRPr>
            </a:pPr>
            <a:r>
              <a:rPr sz="1800" dirty="0">
                <a:solidFill>
                  <a:schemeClr val="tx1"/>
                </a:solidFill>
              </a:rPr>
              <a:t>    3) se </a:t>
            </a:r>
            <a:r>
              <a:rPr sz="1800" dirty="0" err="1">
                <a:solidFill>
                  <a:schemeClr val="tx1"/>
                </a:solidFill>
              </a:rPr>
              <a:t>il</a:t>
            </a:r>
            <a:r>
              <a:rPr sz="1800" dirty="0">
                <a:solidFill>
                  <a:schemeClr val="tx1"/>
                </a:solidFill>
              </a:rPr>
              <a:t> </a:t>
            </a:r>
            <a:r>
              <a:rPr sz="1800" dirty="0" err="1">
                <a:solidFill>
                  <a:schemeClr val="tx1"/>
                </a:solidFill>
              </a:rPr>
              <a:t>reato</a:t>
            </a:r>
            <a:r>
              <a:rPr sz="1800" dirty="0">
                <a:solidFill>
                  <a:schemeClr val="tx1"/>
                </a:solidFill>
              </a:rPr>
              <a:t> e' </a:t>
            </a:r>
            <a:r>
              <a:rPr sz="1800" dirty="0" err="1">
                <a:solidFill>
                  <a:schemeClr val="tx1"/>
                </a:solidFill>
              </a:rPr>
              <a:t>commesso</a:t>
            </a:r>
            <a:r>
              <a:rPr sz="1800" dirty="0">
                <a:solidFill>
                  <a:schemeClr val="tx1"/>
                </a:solidFill>
              </a:rPr>
              <a:t> in </a:t>
            </a:r>
            <a:r>
              <a:rPr sz="1800" dirty="0" err="1">
                <a:solidFill>
                  <a:schemeClr val="tx1"/>
                </a:solidFill>
              </a:rPr>
              <a:t>danno</a:t>
            </a:r>
            <a:r>
              <a:rPr sz="1800" dirty="0">
                <a:solidFill>
                  <a:schemeClr val="tx1"/>
                </a:solidFill>
              </a:rPr>
              <a:t> di chi </a:t>
            </a:r>
            <a:r>
              <a:rPr sz="1800" dirty="0" err="1">
                <a:solidFill>
                  <a:schemeClr val="tx1"/>
                </a:solidFill>
              </a:rPr>
              <a:t>si</a:t>
            </a:r>
            <a:r>
              <a:rPr sz="1800" dirty="0">
                <a:solidFill>
                  <a:schemeClr val="tx1"/>
                </a:solidFill>
              </a:rPr>
              <a:t> </a:t>
            </a:r>
            <a:r>
              <a:rPr sz="1800" dirty="0" err="1">
                <a:solidFill>
                  <a:schemeClr val="tx1"/>
                </a:solidFill>
              </a:rPr>
              <a:t>trova</a:t>
            </a:r>
            <a:r>
              <a:rPr sz="1800" dirty="0">
                <a:solidFill>
                  <a:schemeClr val="tx1"/>
                </a:solidFill>
              </a:rPr>
              <a:t> in  </a:t>
            </a:r>
            <a:r>
              <a:rPr sz="1800" dirty="0" err="1">
                <a:solidFill>
                  <a:schemeClr val="tx1"/>
                </a:solidFill>
              </a:rPr>
              <a:t>stato</a:t>
            </a:r>
            <a:r>
              <a:rPr sz="1800" dirty="0">
                <a:solidFill>
                  <a:schemeClr val="tx1"/>
                </a:solidFill>
              </a:rPr>
              <a:t>  di </a:t>
            </a:r>
            <a:r>
              <a:rPr sz="1800" dirty="0" err="1">
                <a:solidFill>
                  <a:schemeClr val="tx1"/>
                </a:solidFill>
              </a:rPr>
              <a:t>bisogno</a:t>
            </a:r>
            <a:r>
              <a:rPr sz="1800" dirty="0">
                <a:solidFill>
                  <a:schemeClr val="tx1"/>
                </a:solidFill>
              </a:rPr>
              <a:t>; </a:t>
            </a:r>
          </a:p>
          <a:p>
            <a:pPr marL="0" indent="0" algn="just" defTabSz="361188">
              <a:spcBef>
                <a:spcPts val="0"/>
              </a:spcBef>
              <a:buSzTx/>
              <a:buFontTx/>
              <a:buNone/>
              <a:defRPr sz="1738" i="1">
                <a:solidFill>
                  <a:srgbClr val="444444"/>
                </a:solidFill>
                <a:latin typeface="Times New Roman"/>
                <a:ea typeface="Times New Roman"/>
                <a:cs typeface="Times New Roman"/>
                <a:sym typeface="Times New Roman"/>
              </a:defRPr>
            </a:pPr>
            <a:r>
              <a:rPr sz="1800" dirty="0">
                <a:solidFill>
                  <a:schemeClr val="tx1"/>
                </a:solidFill>
              </a:rPr>
              <a:t>    4) se </a:t>
            </a:r>
            <a:r>
              <a:rPr sz="1800" dirty="0" err="1">
                <a:solidFill>
                  <a:schemeClr val="tx1"/>
                </a:solidFill>
              </a:rPr>
              <a:t>il</a:t>
            </a:r>
            <a:r>
              <a:rPr sz="1800" dirty="0">
                <a:solidFill>
                  <a:schemeClr val="tx1"/>
                </a:solidFill>
              </a:rPr>
              <a:t> </a:t>
            </a:r>
            <a:r>
              <a:rPr sz="1800" dirty="0" err="1">
                <a:solidFill>
                  <a:schemeClr val="tx1"/>
                </a:solidFill>
              </a:rPr>
              <a:t>reato</a:t>
            </a:r>
            <a:r>
              <a:rPr sz="1800" dirty="0">
                <a:solidFill>
                  <a:schemeClr val="tx1"/>
                </a:solidFill>
              </a:rPr>
              <a:t> e' </a:t>
            </a:r>
            <a:r>
              <a:rPr sz="1800" dirty="0" err="1">
                <a:solidFill>
                  <a:schemeClr val="tx1"/>
                </a:solidFill>
              </a:rPr>
              <a:t>commesso</a:t>
            </a:r>
            <a:r>
              <a:rPr sz="1800" dirty="0">
                <a:solidFill>
                  <a:schemeClr val="tx1"/>
                </a:solidFill>
              </a:rPr>
              <a:t>  in  </a:t>
            </a:r>
            <a:r>
              <a:rPr sz="1800" dirty="0" err="1">
                <a:solidFill>
                  <a:schemeClr val="tx1"/>
                </a:solidFill>
              </a:rPr>
              <a:t>danno</a:t>
            </a:r>
            <a:r>
              <a:rPr sz="1800" dirty="0">
                <a:solidFill>
                  <a:schemeClr val="tx1"/>
                </a:solidFill>
              </a:rPr>
              <a:t>  di  chi  </a:t>
            </a:r>
            <a:r>
              <a:rPr sz="1800" dirty="0" err="1">
                <a:solidFill>
                  <a:schemeClr val="tx1"/>
                </a:solidFill>
              </a:rPr>
              <a:t>svolge</a:t>
            </a:r>
            <a:r>
              <a:rPr sz="1800" dirty="0">
                <a:solidFill>
                  <a:schemeClr val="tx1"/>
                </a:solidFill>
              </a:rPr>
              <a:t>  </a:t>
            </a:r>
            <a:r>
              <a:rPr sz="1800" dirty="0" err="1">
                <a:solidFill>
                  <a:schemeClr val="tx1"/>
                </a:solidFill>
              </a:rPr>
              <a:t>attività</a:t>
            </a:r>
            <a:r>
              <a:rPr sz="1800" dirty="0">
                <a:solidFill>
                  <a:schemeClr val="tx1"/>
                </a:solidFill>
              </a:rPr>
              <a:t> </a:t>
            </a:r>
            <a:r>
              <a:rPr sz="1800" dirty="0" err="1">
                <a:solidFill>
                  <a:schemeClr val="tx1"/>
                </a:solidFill>
              </a:rPr>
              <a:t>imprenditoriale</a:t>
            </a:r>
            <a:r>
              <a:rPr sz="1800" dirty="0">
                <a:solidFill>
                  <a:schemeClr val="tx1"/>
                </a:solidFill>
              </a:rPr>
              <a:t>, </a:t>
            </a:r>
            <a:r>
              <a:rPr sz="1800" dirty="0" err="1">
                <a:solidFill>
                  <a:schemeClr val="tx1"/>
                </a:solidFill>
              </a:rPr>
              <a:t>professionale</a:t>
            </a:r>
            <a:r>
              <a:rPr sz="1800" dirty="0">
                <a:solidFill>
                  <a:schemeClr val="tx1"/>
                </a:solidFill>
              </a:rPr>
              <a:t> o </a:t>
            </a:r>
            <a:r>
              <a:rPr sz="1800" dirty="0" err="1">
                <a:solidFill>
                  <a:schemeClr val="tx1"/>
                </a:solidFill>
              </a:rPr>
              <a:t>artigianale</a:t>
            </a:r>
            <a:r>
              <a:rPr sz="1800" dirty="0">
                <a:solidFill>
                  <a:schemeClr val="tx1"/>
                </a:solidFill>
              </a:rPr>
              <a:t>;  </a:t>
            </a:r>
          </a:p>
          <a:p>
            <a:pPr marL="0" indent="0" algn="just" defTabSz="361188">
              <a:spcBef>
                <a:spcPts val="0"/>
              </a:spcBef>
              <a:buSzTx/>
              <a:buFontTx/>
              <a:buNone/>
              <a:defRPr sz="1738" i="1">
                <a:solidFill>
                  <a:srgbClr val="444444"/>
                </a:solidFill>
                <a:latin typeface="Times New Roman"/>
                <a:ea typeface="Times New Roman"/>
                <a:cs typeface="Times New Roman"/>
                <a:sym typeface="Times New Roman"/>
              </a:defRPr>
            </a:pPr>
            <a:r>
              <a:rPr sz="1800" dirty="0">
                <a:solidFill>
                  <a:schemeClr val="tx1"/>
                </a:solidFill>
              </a:rPr>
              <a:t>   5)  se  </a:t>
            </a:r>
            <a:r>
              <a:rPr sz="1800" dirty="0" err="1">
                <a:solidFill>
                  <a:schemeClr val="tx1"/>
                </a:solidFill>
              </a:rPr>
              <a:t>il</a:t>
            </a:r>
            <a:r>
              <a:rPr sz="1800" dirty="0">
                <a:solidFill>
                  <a:schemeClr val="tx1"/>
                </a:solidFill>
              </a:rPr>
              <a:t>  </a:t>
            </a:r>
            <a:r>
              <a:rPr sz="1800" dirty="0" err="1">
                <a:solidFill>
                  <a:schemeClr val="tx1"/>
                </a:solidFill>
              </a:rPr>
              <a:t>reato</a:t>
            </a:r>
            <a:r>
              <a:rPr sz="1800" dirty="0">
                <a:solidFill>
                  <a:schemeClr val="tx1"/>
                </a:solidFill>
              </a:rPr>
              <a:t>  e'  </a:t>
            </a:r>
            <a:r>
              <a:rPr sz="1800" dirty="0" err="1">
                <a:solidFill>
                  <a:schemeClr val="tx1"/>
                </a:solidFill>
              </a:rPr>
              <a:t>commesso</a:t>
            </a:r>
            <a:r>
              <a:rPr sz="1800" dirty="0">
                <a:solidFill>
                  <a:schemeClr val="tx1"/>
                </a:solidFill>
              </a:rPr>
              <a:t>   da   persona   </a:t>
            </a:r>
            <a:r>
              <a:rPr sz="1800" dirty="0" err="1">
                <a:solidFill>
                  <a:schemeClr val="tx1"/>
                </a:solidFill>
              </a:rPr>
              <a:t>sottoposta</a:t>
            </a:r>
            <a:r>
              <a:rPr sz="1800" dirty="0">
                <a:solidFill>
                  <a:schemeClr val="tx1"/>
                </a:solidFill>
              </a:rPr>
              <a:t>   con </a:t>
            </a:r>
            <a:r>
              <a:rPr sz="1800" dirty="0" err="1">
                <a:solidFill>
                  <a:schemeClr val="tx1"/>
                </a:solidFill>
              </a:rPr>
              <a:t>provvedimento</a:t>
            </a:r>
            <a:r>
              <a:rPr sz="1800" dirty="0">
                <a:solidFill>
                  <a:schemeClr val="tx1"/>
                </a:solidFill>
              </a:rPr>
              <a:t>   </a:t>
            </a:r>
            <a:r>
              <a:rPr sz="1800" dirty="0" err="1">
                <a:solidFill>
                  <a:schemeClr val="tx1"/>
                </a:solidFill>
              </a:rPr>
              <a:t>definitivo</a:t>
            </a:r>
            <a:r>
              <a:rPr sz="1800" dirty="0">
                <a:solidFill>
                  <a:schemeClr val="tx1"/>
                </a:solidFill>
              </a:rPr>
              <a:t>   </a:t>
            </a:r>
            <a:r>
              <a:rPr sz="1800" dirty="0" err="1">
                <a:solidFill>
                  <a:schemeClr val="tx1"/>
                </a:solidFill>
              </a:rPr>
              <a:t>alla</a:t>
            </a:r>
            <a:r>
              <a:rPr sz="1800" dirty="0">
                <a:solidFill>
                  <a:schemeClr val="tx1"/>
                </a:solidFill>
              </a:rPr>
              <a:t>   </a:t>
            </a:r>
            <a:r>
              <a:rPr sz="1800" dirty="0" err="1">
                <a:solidFill>
                  <a:schemeClr val="tx1"/>
                </a:solidFill>
              </a:rPr>
              <a:t>misura</a:t>
            </a:r>
            <a:r>
              <a:rPr sz="1800" dirty="0">
                <a:solidFill>
                  <a:schemeClr val="tx1"/>
                </a:solidFill>
              </a:rPr>
              <a:t>   di   </a:t>
            </a:r>
            <a:r>
              <a:rPr sz="1800" dirty="0" err="1">
                <a:solidFill>
                  <a:schemeClr val="tx1"/>
                </a:solidFill>
              </a:rPr>
              <a:t>prevenzione</a:t>
            </a:r>
            <a:r>
              <a:rPr sz="1800" dirty="0">
                <a:solidFill>
                  <a:schemeClr val="tx1"/>
                </a:solidFill>
              </a:rPr>
              <a:t>   </a:t>
            </a:r>
            <a:r>
              <a:rPr sz="1800" dirty="0" err="1">
                <a:solidFill>
                  <a:schemeClr val="tx1"/>
                </a:solidFill>
              </a:rPr>
              <a:t>della</a:t>
            </a:r>
            <a:r>
              <a:rPr sz="1800" dirty="0">
                <a:solidFill>
                  <a:schemeClr val="tx1"/>
                </a:solidFill>
              </a:rPr>
              <a:t> </a:t>
            </a:r>
            <a:r>
              <a:rPr sz="1800" dirty="0" err="1">
                <a:solidFill>
                  <a:schemeClr val="tx1"/>
                </a:solidFill>
              </a:rPr>
              <a:t>sorveglianza</a:t>
            </a:r>
            <a:r>
              <a:rPr sz="1800" dirty="0">
                <a:solidFill>
                  <a:schemeClr val="tx1"/>
                </a:solidFill>
              </a:rPr>
              <a:t> </a:t>
            </a:r>
            <a:r>
              <a:rPr sz="1800" dirty="0" err="1">
                <a:solidFill>
                  <a:schemeClr val="tx1"/>
                </a:solidFill>
              </a:rPr>
              <a:t>speciale</a:t>
            </a:r>
            <a:r>
              <a:rPr sz="1800" dirty="0">
                <a:solidFill>
                  <a:schemeClr val="tx1"/>
                </a:solidFill>
              </a:rPr>
              <a:t> </a:t>
            </a:r>
            <a:r>
              <a:rPr sz="1800" dirty="0" err="1">
                <a:solidFill>
                  <a:schemeClr val="tx1"/>
                </a:solidFill>
              </a:rPr>
              <a:t>durante</a:t>
            </a:r>
            <a:r>
              <a:rPr sz="1800" dirty="0">
                <a:solidFill>
                  <a:schemeClr val="tx1"/>
                </a:solidFill>
              </a:rPr>
              <a:t> </a:t>
            </a:r>
            <a:r>
              <a:rPr sz="1800" dirty="0" err="1">
                <a:solidFill>
                  <a:schemeClr val="tx1"/>
                </a:solidFill>
              </a:rPr>
              <a:t>il</a:t>
            </a:r>
            <a:r>
              <a:rPr sz="1800" dirty="0">
                <a:solidFill>
                  <a:schemeClr val="tx1"/>
                </a:solidFill>
              </a:rPr>
              <a:t> </a:t>
            </a:r>
            <a:r>
              <a:rPr sz="1800" dirty="0" err="1">
                <a:solidFill>
                  <a:schemeClr val="tx1"/>
                </a:solidFill>
              </a:rPr>
              <a:t>periodo</a:t>
            </a:r>
            <a:r>
              <a:rPr sz="1800" dirty="0">
                <a:solidFill>
                  <a:schemeClr val="tx1"/>
                </a:solidFill>
              </a:rPr>
              <a:t> </a:t>
            </a:r>
            <a:r>
              <a:rPr sz="1800" dirty="0" err="1">
                <a:solidFill>
                  <a:schemeClr val="tx1"/>
                </a:solidFill>
              </a:rPr>
              <a:t>previsto</a:t>
            </a:r>
            <a:r>
              <a:rPr sz="1800" dirty="0">
                <a:solidFill>
                  <a:schemeClr val="tx1"/>
                </a:solidFill>
              </a:rPr>
              <a:t> di  </a:t>
            </a:r>
            <a:r>
              <a:rPr sz="1800" dirty="0" err="1">
                <a:solidFill>
                  <a:schemeClr val="tx1"/>
                </a:solidFill>
              </a:rPr>
              <a:t>applicazione</a:t>
            </a:r>
            <a:r>
              <a:rPr sz="1800" dirty="0">
                <a:solidFill>
                  <a:schemeClr val="tx1"/>
                </a:solidFill>
              </a:rPr>
              <a:t>  e </a:t>
            </a:r>
            <a:r>
              <a:rPr sz="1800" dirty="0" err="1">
                <a:solidFill>
                  <a:schemeClr val="tx1"/>
                </a:solidFill>
              </a:rPr>
              <a:t>fino</a:t>
            </a:r>
            <a:r>
              <a:rPr sz="1800" dirty="0">
                <a:solidFill>
                  <a:schemeClr val="tx1"/>
                </a:solidFill>
              </a:rPr>
              <a:t> a </a:t>
            </a:r>
            <a:r>
              <a:rPr sz="1800" dirty="0" err="1">
                <a:solidFill>
                  <a:schemeClr val="tx1"/>
                </a:solidFill>
              </a:rPr>
              <a:t>tre</a:t>
            </a:r>
            <a:r>
              <a:rPr sz="1800" dirty="0">
                <a:solidFill>
                  <a:schemeClr val="tx1"/>
                </a:solidFill>
              </a:rPr>
              <a:t> </a:t>
            </a:r>
            <a:r>
              <a:rPr sz="1800" dirty="0" err="1">
                <a:solidFill>
                  <a:schemeClr val="tx1"/>
                </a:solidFill>
              </a:rPr>
              <a:t>anni</a:t>
            </a:r>
            <a:r>
              <a:rPr sz="1800" dirty="0">
                <a:solidFill>
                  <a:schemeClr val="tx1"/>
                </a:solidFill>
              </a:rPr>
              <a:t> dal </a:t>
            </a:r>
            <a:r>
              <a:rPr sz="1800" dirty="0" err="1">
                <a:solidFill>
                  <a:schemeClr val="tx1"/>
                </a:solidFill>
              </a:rPr>
              <a:t>momento</a:t>
            </a:r>
            <a:r>
              <a:rPr sz="1800" dirty="0">
                <a:solidFill>
                  <a:schemeClr val="tx1"/>
                </a:solidFill>
              </a:rPr>
              <a:t> in cui e' </a:t>
            </a:r>
            <a:r>
              <a:rPr sz="1800" dirty="0" err="1">
                <a:solidFill>
                  <a:schemeClr val="tx1"/>
                </a:solidFill>
              </a:rPr>
              <a:t>cessata</a:t>
            </a:r>
            <a:r>
              <a:rPr sz="1800" dirty="0">
                <a:solidFill>
                  <a:schemeClr val="tx1"/>
                </a:solidFill>
              </a:rPr>
              <a:t> </a:t>
            </a:r>
            <a:r>
              <a:rPr sz="1800" dirty="0" err="1">
                <a:solidFill>
                  <a:schemeClr val="tx1"/>
                </a:solidFill>
              </a:rPr>
              <a:t>l'esecuzione</a:t>
            </a:r>
            <a:r>
              <a:rPr sz="1800" dirty="0">
                <a:solidFill>
                  <a:schemeClr val="tx1"/>
                </a:solidFill>
              </a:rPr>
              <a:t>.  </a:t>
            </a:r>
          </a:p>
          <a:p>
            <a:pPr marL="0" indent="0" algn="just" defTabSz="361188">
              <a:spcBef>
                <a:spcPts val="0"/>
              </a:spcBef>
              <a:buSzTx/>
              <a:buFontTx/>
              <a:buNone/>
              <a:defRPr sz="1738" i="1">
                <a:solidFill>
                  <a:srgbClr val="444444"/>
                </a:solidFill>
                <a:latin typeface="Times New Roman"/>
                <a:ea typeface="Times New Roman"/>
                <a:cs typeface="Times New Roman"/>
                <a:sym typeface="Times New Roman"/>
              </a:defRPr>
            </a:pPr>
            <a:endParaRPr sz="1800" dirty="0">
              <a:solidFill>
                <a:schemeClr val="tx1"/>
              </a:solidFill>
            </a:endParaRPr>
          </a:p>
          <a:p>
            <a:pPr marL="0" indent="0" algn="just" defTabSz="361188">
              <a:spcBef>
                <a:spcPts val="0"/>
              </a:spcBef>
              <a:buSzTx/>
              <a:buFontTx/>
              <a:buNone/>
              <a:defRPr sz="1738" i="1">
                <a:solidFill>
                  <a:srgbClr val="444444"/>
                </a:solidFill>
                <a:latin typeface="Times New Roman"/>
                <a:ea typeface="Times New Roman"/>
                <a:cs typeface="Times New Roman"/>
                <a:sym typeface="Times New Roman"/>
              </a:defRPr>
            </a:pPr>
            <a:r>
              <a:rPr sz="1700" dirty="0">
                <a:solidFill>
                  <a:schemeClr val="tx1"/>
                </a:solidFill>
              </a:rPr>
              <a:t>   Nel </a:t>
            </a:r>
            <a:r>
              <a:rPr sz="1700" dirty="0" err="1">
                <a:solidFill>
                  <a:schemeClr val="tx1"/>
                </a:solidFill>
              </a:rPr>
              <a:t>caso</a:t>
            </a:r>
            <a:r>
              <a:rPr sz="1700" dirty="0">
                <a:solidFill>
                  <a:schemeClr val="tx1"/>
                </a:solidFill>
              </a:rPr>
              <a:t>  di  </a:t>
            </a:r>
            <a:r>
              <a:rPr sz="1700" dirty="0" err="1">
                <a:solidFill>
                  <a:schemeClr val="tx1"/>
                </a:solidFill>
              </a:rPr>
              <a:t>condanna</a:t>
            </a:r>
            <a:r>
              <a:rPr sz="1700" dirty="0">
                <a:solidFill>
                  <a:schemeClr val="tx1"/>
                </a:solidFill>
              </a:rPr>
              <a:t>,  o  di  </a:t>
            </a:r>
            <a:r>
              <a:rPr sz="1700" dirty="0" err="1">
                <a:solidFill>
                  <a:schemeClr val="tx1"/>
                </a:solidFill>
              </a:rPr>
              <a:t>applicazione</a:t>
            </a:r>
            <a:r>
              <a:rPr sz="1700" dirty="0">
                <a:solidFill>
                  <a:schemeClr val="tx1"/>
                </a:solidFill>
              </a:rPr>
              <a:t>  di  </a:t>
            </a:r>
            <a:r>
              <a:rPr sz="1700" dirty="0" err="1">
                <a:solidFill>
                  <a:schemeClr val="tx1"/>
                </a:solidFill>
              </a:rPr>
              <a:t>pena</a:t>
            </a:r>
            <a:r>
              <a:rPr sz="1700" dirty="0">
                <a:solidFill>
                  <a:schemeClr val="tx1"/>
                </a:solidFill>
              </a:rPr>
              <a:t>  ai  </a:t>
            </a:r>
            <a:r>
              <a:rPr sz="1700" dirty="0" err="1">
                <a:solidFill>
                  <a:schemeClr val="tx1"/>
                </a:solidFill>
              </a:rPr>
              <a:t>sensi</a:t>
            </a:r>
            <a:r>
              <a:rPr sz="1700" dirty="0">
                <a:solidFill>
                  <a:schemeClr val="tx1"/>
                </a:solidFill>
              </a:rPr>
              <a:t> </a:t>
            </a:r>
            <a:r>
              <a:rPr sz="1700" dirty="0" err="1">
                <a:solidFill>
                  <a:schemeClr val="tx1"/>
                </a:solidFill>
              </a:rPr>
              <a:t>dell'articolo</a:t>
            </a:r>
            <a:r>
              <a:rPr sz="1700" dirty="0">
                <a:solidFill>
                  <a:schemeClr val="tx1"/>
                </a:solidFill>
              </a:rPr>
              <a:t> 444 del </a:t>
            </a:r>
            <a:r>
              <a:rPr sz="1700" dirty="0" err="1">
                <a:solidFill>
                  <a:schemeClr val="tx1"/>
                </a:solidFill>
              </a:rPr>
              <a:t>codice</a:t>
            </a:r>
            <a:r>
              <a:rPr sz="1700" dirty="0">
                <a:solidFill>
                  <a:schemeClr val="tx1"/>
                </a:solidFill>
              </a:rPr>
              <a:t> di </a:t>
            </a:r>
            <a:r>
              <a:rPr sz="1700" dirty="0" err="1">
                <a:solidFill>
                  <a:schemeClr val="tx1"/>
                </a:solidFill>
              </a:rPr>
              <a:t>procedura</a:t>
            </a:r>
            <a:r>
              <a:rPr sz="1700" dirty="0">
                <a:solidFill>
                  <a:schemeClr val="tx1"/>
                </a:solidFill>
              </a:rPr>
              <a:t> </a:t>
            </a:r>
            <a:r>
              <a:rPr sz="1700" dirty="0" err="1">
                <a:solidFill>
                  <a:schemeClr val="tx1"/>
                </a:solidFill>
              </a:rPr>
              <a:t>penale</a:t>
            </a:r>
            <a:r>
              <a:rPr sz="1700" dirty="0">
                <a:solidFill>
                  <a:schemeClr val="tx1"/>
                </a:solidFill>
              </a:rPr>
              <a:t>, per </a:t>
            </a:r>
            <a:r>
              <a:rPr sz="1700" dirty="0" err="1">
                <a:solidFill>
                  <a:schemeClr val="tx1"/>
                </a:solidFill>
              </a:rPr>
              <a:t>uno</a:t>
            </a:r>
            <a:r>
              <a:rPr sz="1700" dirty="0">
                <a:solidFill>
                  <a:schemeClr val="tx1"/>
                </a:solidFill>
              </a:rPr>
              <a:t> </a:t>
            </a:r>
            <a:r>
              <a:rPr sz="1700" dirty="0" err="1">
                <a:solidFill>
                  <a:schemeClr val="tx1"/>
                </a:solidFill>
              </a:rPr>
              <a:t>dei</a:t>
            </a:r>
            <a:r>
              <a:rPr sz="1700" dirty="0">
                <a:solidFill>
                  <a:schemeClr val="tx1"/>
                </a:solidFill>
              </a:rPr>
              <a:t> </a:t>
            </a:r>
            <a:r>
              <a:rPr sz="1700" dirty="0" err="1">
                <a:solidFill>
                  <a:schemeClr val="tx1"/>
                </a:solidFill>
              </a:rPr>
              <a:t>delitti</a:t>
            </a:r>
            <a:r>
              <a:rPr sz="1700" dirty="0">
                <a:solidFill>
                  <a:schemeClr val="tx1"/>
                </a:solidFill>
              </a:rPr>
              <a:t> di cui al </a:t>
            </a:r>
            <a:r>
              <a:rPr sz="1700" dirty="0" err="1">
                <a:solidFill>
                  <a:schemeClr val="tx1"/>
                </a:solidFill>
              </a:rPr>
              <a:t>presente</a:t>
            </a:r>
            <a:r>
              <a:rPr sz="1700" dirty="0">
                <a:solidFill>
                  <a:schemeClr val="tx1"/>
                </a:solidFill>
              </a:rPr>
              <a:t> </a:t>
            </a:r>
            <a:r>
              <a:rPr sz="1700" dirty="0" err="1">
                <a:solidFill>
                  <a:schemeClr val="tx1"/>
                </a:solidFill>
              </a:rPr>
              <a:t>articolo</a:t>
            </a:r>
            <a:r>
              <a:rPr sz="1700" dirty="0">
                <a:solidFill>
                  <a:schemeClr val="tx1"/>
                </a:solidFill>
              </a:rPr>
              <a:t>, e' </a:t>
            </a:r>
            <a:r>
              <a:rPr sz="1700" dirty="0" err="1">
                <a:solidFill>
                  <a:schemeClr val="tx1"/>
                </a:solidFill>
              </a:rPr>
              <a:t>sempre</a:t>
            </a:r>
            <a:r>
              <a:rPr sz="1700" dirty="0">
                <a:solidFill>
                  <a:schemeClr val="tx1"/>
                </a:solidFill>
              </a:rPr>
              <a:t> </a:t>
            </a:r>
            <a:r>
              <a:rPr sz="1700" dirty="0" err="1">
                <a:solidFill>
                  <a:schemeClr val="tx1"/>
                </a:solidFill>
              </a:rPr>
              <a:t>ordinata</a:t>
            </a:r>
            <a:r>
              <a:rPr sz="1700" dirty="0">
                <a:solidFill>
                  <a:schemeClr val="tx1"/>
                </a:solidFill>
              </a:rPr>
              <a:t> la </a:t>
            </a:r>
            <a:r>
              <a:rPr sz="1700" dirty="0" err="1">
                <a:solidFill>
                  <a:schemeClr val="tx1"/>
                </a:solidFill>
              </a:rPr>
              <a:t>confisca</a:t>
            </a:r>
            <a:r>
              <a:rPr sz="1700" dirty="0">
                <a:solidFill>
                  <a:schemeClr val="tx1"/>
                </a:solidFill>
              </a:rPr>
              <a:t> </a:t>
            </a:r>
            <a:r>
              <a:rPr sz="1700" dirty="0" err="1">
                <a:solidFill>
                  <a:schemeClr val="tx1"/>
                </a:solidFill>
              </a:rPr>
              <a:t>dei</a:t>
            </a:r>
            <a:r>
              <a:rPr sz="1700" dirty="0">
                <a:solidFill>
                  <a:schemeClr val="tx1"/>
                </a:solidFill>
              </a:rPr>
              <a:t>  </a:t>
            </a:r>
            <a:r>
              <a:rPr sz="1700" dirty="0" err="1">
                <a:solidFill>
                  <a:schemeClr val="tx1"/>
                </a:solidFill>
              </a:rPr>
              <a:t>beni</a:t>
            </a:r>
            <a:r>
              <a:rPr sz="1700" dirty="0">
                <a:solidFill>
                  <a:schemeClr val="tx1"/>
                </a:solidFill>
              </a:rPr>
              <a:t> </a:t>
            </a:r>
            <a:r>
              <a:rPr sz="1700" dirty="0" err="1">
                <a:solidFill>
                  <a:schemeClr val="tx1"/>
                </a:solidFill>
              </a:rPr>
              <a:t>che</a:t>
            </a:r>
            <a:r>
              <a:rPr sz="1700" dirty="0">
                <a:solidFill>
                  <a:schemeClr val="tx1"/>
                </a:solidFill>
              </a:rPr>
              <a:t> </a:t>
            </a:r>
            <a:r>
              <a:rPr sz="1700" dirty="0" err="1">
                <a:solidFill>
                  <a:schemeClr val="tx1"/>
                </a:solidFill>
              </a:rPr>
              <a:t>costituiscono</a:t>
            </a:r>
            <a:r>
              <a:rPr sz="1700" dirty="0">
                <a:solidFill>
                  <a:schemeClr val="tx1"/>
                </a:solidFill>
              </a:rPr>
              <a:t> </a:t>
            </a:r>
            <a:r>
              <a:rPr sz="1700" dirty="0" err="1">
                <a:solidFill>
                  <a:schemeClr val="tx1"/>
                </a:solidFill>
              </a:rPr>
              <a:t>prezzo</a:t>
            </a:r>
            <a:r>
              <a:rPr sz="1700" dirty="0">
                <a:solidFill>
                  <a:schemeClr val="tx1"/>
                </a:solidFill>
              </a:rPr>
              <a:t> o </a:t>
            </a:r>
            <a:r>
              <a:rPr sz="1700" dirty="0" err="1">
                <a:solidFill>
                  <a:schemeClr val="tx1"/>
                </a:solidFill>
              </a:rPr>
              <a:t>profitto</a:t>
            </a:r>
            <a:r>
              <a:rPr sz="1700" dirty="0">
                <a:solidFill>
                  <a:schemeClr val="tx1"/>
                </a:solidFill>
              </a:rPr>
              <a:t> del  </a:t>
            </a:r>
            <a:r>
              <a:rPr sz="1700" dirty="0" err="1">
                <a:solidFill>
                  <a:schemeClr val="tx1"/>
                </a:solidFill>
              </a:rPr>
              <a:t>reato</a:t>
            </a:r>
            <a:r>
              <a:rPr sz="1700" dirty="0">
                <a:solidFill>
                  <a:schemeClr val="tx1"/>
                </a:solidFill>
              </a:rPr>
              <a:t>  </a:t>
            </a:r>
            <a:r>
              <a:rPr sz="1700" dirty="0" err="1">
                <a:solidFill>
                  <a:schemeClr val="tx1"/>
                </a:solidFill>
              </a:rPr>
              <a:t>ovvero</a:t>
            </a:r>
            <a:r>
              <a:rPr sz="1700" dirty="0">
                <a:solidFill>
                  <a:schemeClr val="tx1"/>
                </a:solidFill>
              </a:rPr>
              <a:t>  di  </a:t>
            </a:r>
            <a:r>
              <a:rPr sz="1700" dirty="0" err="1">
                <a:solidFill>
                  <a:schemeClr val="tx1"/>
                </a:solidFill>
              </a:rPr>
              <a:t>somme</a:t>
            </a:r>
            <a:r>
              <a:rPr sz="1700" dirty="0">
                <a:solidFill>
                  <a:schemeClr val="tx1"/>
                </a:solidFill>
              </a:rPr>
              <a:t>  di </a:t>
            </a:r>
            <a:r>
              <a:rPr sz="1700" dirty="0" err="1">
                <a:solidFill>
                  <a:schemeClr val="tx1"/>
                </a:solidFill>
              </a:rPr>
              <a:t>denaro</a:t>
            </a:r>
            <a:r>
              <a:rPr sz="1700" dirty="0">
                <a:solidFill>
                  <a:schemeClr val="tx1"/>
                </a:solidFill>
              </a:rPr>
              <a:t>, </a:t>
            </a:r>
            <a:r>
              <a:rPr sz="1700" dirty="0" err="1">
                <a:solidFill>
                  <a:schemeClr val="tx1"/>
                </a:solidFill>
              </a:rPr>
              <a:t>beni</a:t>
            </a:r>
            <a:r>
              <a:rPr sz="1700" dirty="0">
                <a:solidFill>
                  <a:schemeClr val="tx1"/>
                </a:solidFill>
              </a:rPr>
              <a:t> ed </a:t>
            </a:r>
            <a:r>
              <a:rPr sz="1700" dirty="0" err="1">
                <a:solidFill>
                  <a:schemeClr val="tx1"/>
                </a:solidFill>
              </a:rPr>
              <a:t>utilità</a:t>
            </a:r>
            <a:r>
              <a:rPr sz="1700" dirty="0">
                <a:solidFill>
                  <a:schemeClr val="tx1"/>
                </a:solidFill>
              </a:rPr>
              <a:t>  di cui </a:t>
            </a:r>
            <a:r>
              <a:rPr sz="1700" dirty="0" err="1">
                <a:solidFill>
                  <a:schemeClr val="tx1"/>
                </a:solidFill>
              </a:rPr>
              <a:t>il</a:t>
            </a:r>
            <a:r>
              <a:rPr sz="1700" dirty="0">
                <a:solidFill>
                  <a:schemeClr val="tx1"/>
                </a:solidFill>
              </a:rPr>
              <a:t> </a:t>
            </a:r>
            <a:r>
              <a:rPr sz="1700" dirty="0" err="1">
                <a:solidFill>
                  <a:schemeClr val="tx1"/>
                </a:solidFill>
              </a:rPr>
              <a:t>reo</a:t>
            </a:r>
            <a:r>
              <a:rPr sz="1700" dirty="0">
                <a:solidFill>
                  <a:schemeClr val="tx1"/>
                </a:solidFill>
              </a:rPr>
              <a:t> ha la </a:t>
            </a:r>
            <a:r>
              <a:rPr sz="1700" dirty="0" err="1">
                <a:solidFill>
                  <a:schemeClr val="tx1"/>
                </a:solidFill>
              </a:rPr>
              <a:t>disponibilità</a:t>
            </a:r>
            <a:r>
              <a:rPr sz="1700" dirty="0">
                <a:solidFill>
                  <a:schemeClr val="tx1"/>
                </a:solidFill>
              </a:rPr>
              <a:t> </a:t>
            </a:r>
            <a:r>
              <a:rPr sz="1700" dirty="0" err="1">
                <a:solidFill>
                  <a:schemeClr val="tx1"/>
                </a:solidFill>
              </a:rPr>
              <a:t>anche</a:t>
            </a:r>
            <a:r>
              <a:rPr sz="1700" dirty="0">
                <a:solidFill>
                  <a:schemeClr val="tx1"/>
                </a:solidFill>
              </a:rPr>
              <a:t> per </a:t>
            </a:r>
            <a:r>
              <a:rPr sz="1700" dirty="0" err="1">
                <a:solidFill>
                  <a:schemeClr val="tx1"/>
                </a:solidFill>
              </a:rPr>
              <a:t>interposta</a:t>
            </a:r>
            <a:r>
              <a:rPr sz="1700" dirty="0">
                <a:solidFill>
                  <a:schemeClr val="tx1"/>
                </a:solidFill>
              </a:rPr>
              <a:t> persona per un </a:t>
            </a:r>
            <a:r>
              <a:rPr sz="1700" dirty="0" err="1">
                <a:solidFill>
                  <a:schemeClr val="tx1"/>
                </a:solidFill>
              </a:rPr>
              <a:t>importo</a:t>
            </a:r>
            <a:r>
              <a:rPr sz="1700" dirty="0">
                <a:solidFill>
                  <a:schemeClr val="tx1"/>
                </a:solidFill>
              </a:rPr>
              <a:t> </a:t>
            </a:r>
            <a:r>
              <a:rPr sz="1700" dirty="0" err="1">
                <a:solidFill>
                  <a:schemeClr val="tx1"/>
                </a:solidFill>
              </a:rPr>
              <a:t>pari</a:t>
            </a:r>
            <a:r>
              <a:rPr sz="1700" dirty="0">
                <a:solidFill>
                  <a:schemeClr val="tx1"/>
                </a:solidFill>
              </a:rPr>
              <a:t> al </a:t>
            </a:r>
            <a:r>
              <a:rPr sz="1700" dirty="0" err="1">
                <a:solidFill>
                  <a:schemeClr val="tx1"/>
                </a:solidFill>
              </a:rPr>
              <a:t>valore</a:t>
            </a:r>
            <a:r>
              <a:rPr sz="1700" dirty="0">
                <a:solidFill>
                  <a:schemeClr val="tx1"/>
                </a:solidFill>
              </a:rPr>
              <a:t>  </a:t>
            </a:r>
            <a:r>
              <a:rPr sz="1700" dirty="0" err="1">
                <a:solidFill>
                  <a:schemeClr val="tx1"/>
                </a:solidFill>
              </a:rPr>
              <a:t>degli</a:t>
            </a:r>
            <a:r>
              <a:rPr sz="1700" dirty="0">
                <a:solidFill>
                  <a:schemeClr val="tx1"/>
                </a:solidFill>
              </a:rPr>
              <a:t>  </a:t>
            </a:r>
            <a:r>
              <a:rPr sz="1700" dirty="0" err="1">
                <a:solidFill>
                  <a:schemeClr val="tx1"/>
                </a:solidFill>
              </a:rPr>
              <a:t>interessi</a:t>
            </a:r>
            <a:r>
              <a:rPr sz="1700" dirty="0">
                <a:solidFill>
                  <a:schemeClr val="tx1"/>
                </a:solidFill>
              </a:rPr>
              <a:t>  o </a:t>
            </a:r>
            <a:r>
              <a:rPr sz="1700" dirty="0" err="1">
                <a:solidFill>
                  <a:schemeClr val="tx1"/>
                </a:solidFill>
              </a:rPr>
              <a:t>degli</a:t>
            </a:r>
            <a:r>
              <a:rPr sz="1700" dirty="0">
                <a:solidFill>
                  <a:schemeClr val="tx1"/>
                </a:solidFill>
              </a:rPr>
              <a:t> </a:t>
            </a:r>
            <a:r>
              <a:rPr sz="1700" dirty="0" err="1">
                <a:solidFill>
                  <a:schemeClr val="tx1"/>
                </a:solidFill>
              </a:rPr>
              <a:t>altri</a:t>
            </a:r>
            <a:r>
              <a:rPr sz="1700" dirty="0">
                <a:solidFill>
                  <a:schemeClr val="tx1"/>
                </a:solidFill>
              </a:rPr>
              <a:t> </a:t>
            </a:r>
            <a:r>
              <a:rPr sz="1700" dirty="0" err="1">
                <a:solidFill>
                  <a:schemeClr val="tx1"/>
                </a:solidFill>
              </a:rPr>
              <a:t>vantaggi</a:t>
            </a:r>
            <a:r>
              <a:rPr sz="1700" dirty="0">
                <a:solidFill>
                  <a:schemeClr val="tx1"/>
                </a:solidFill>
              </a:rPr>
              <a:t>  o  </a:t>
            </a:r>
            <a:r>
              <a:rPr sz="1700" dirty="0" err="1">
                <a:solidFill>
                  <a:schemeClr val="tx1"/>
                </a:solidFill>
              </a:rPr>
              <a:t>compensi</a:t>
            </a:r>
            <a:r>
              <a:rPr sz="1700" dirty="0">
                <a:solidFill>
                  <a:schemeClr val="tx1"/>
                </a:solidFill>
              </a:rPr>
              <a:t>  </a:t>
            </a:r>
            <a:r>
              <a:rPr sz="1700" dirty="0" err="1">
                <a:solidFill>
                  <a:schemeClr val="tx1"/>
                </a:solidFill>
              </a:rPr>
              <a:t>usurari</a:t>
            </a:r>
            <a:r>
              <a:rPr sz="1700" dirty="0">
                <a:solidFill>
                  <a:schemeClr val="tx1"/>
                </a:solidFill>
              </a:rPr>
              <a:t>,  </a:t>
            </a:r>
            <a:r>
              <a:rPr sz="1700" dirty="0" err="1">
                <a:solidFill>
                  <a:schemeClr val="tx1"/>
                </a:solidFill>
              </a:rPr>
              <a:t>salvi</a:t>
            </a:r>
            <a:r>
              <a:rPr sz="1700" dirty="0">
                <a:solidFill>
                  <a:schemeClr val="tx1"/>
                </a:solidFill>
              </a:rPr>
              <a:t>  </a:t>
            </a:r>
            <a:r>
              <a:rPr sz="1700" dirty="0" err="1">
                <a:solidFill>
                  <a:schemeClr val="tx1"/>
                </a:solidFill>
              </a:rPr>
              <a:t>i</a:t>
            </a:r>
            <a:r>
              <a:rPr sz="1700" dirty="0">
                <a:solidFill>
                  <a:schemeClr val="tx1"/>
                </a:solidFill>
              </a:rPr>
              <a:t>  </a:t>
            </a:r>
            <a:r>
              <a:rPr sz="1700" dirty="0" err="1">
                <a:solidFill>
                  <a:schemeClr val="tx1"/>
                </a:solidFill>
              </a:rPr>
              <a:t>diritti</a:t>
            </a:r>
            <a:r>
              <a:rPr sz="1700" dirty="0">
                <a:solidFill>
                  <a:schemeClr val="tx1"/>
                </a:solidFill>
              </a:rPr>
              <a:t>  </a:t>
            </a:r>
            <a:r>
              <a:rPr sz="1700" dirty="0" err="1">
                <a:solidFill>
                  <a:schemeClr val="tx1"/>
                </a:solidFill>
              </a:rPr>
              <a:t>della</a:t>
            </a:r>
            <a:r>
              <a:rPr sz="1700" dirty="0">
                <a:solidFill>
                  <a:schemeClr val="tx1"/>
                </a:solidFill>
              </a:rPr>
              <a:t> persona </a:t>
            </a:r>
            <a:r>
              <a:rPr sz="1700" dirty="0" err="1">
                <a:solidFill>
                  <a:schemeClr val="tx1"/>
                </a:solidFill>
              </a:rPr>
              <a:t>offesa</a:t>
            </a:r>
            <a:r>
              <a:rPr sz="1700" dirty="0">
                <a:solidFill>
                  <a:schemeClr val="tx1"/>
                </a:solidFill>
              </a:rPr>
              <a:t> dal </a:t>
            </a:r>
            <a:r>
              <a:rPr sz="1700" dirty="0" err="1">
                <a:solidFill>
                  <a:schemeClr val="tx1"/>
                </a:solidFill>
              </a:rPr>
              <a:t>reato</a:t>
            </a:r>
            <a:r>
              <a:rPr sz="1700" dirty="0">
                <a:solidFill>
                  <a:schemeClr val="tx1"/>
                </a:solidFill>
              </a:rPr>
              <a:t> </a:t>
            </a:r>
            <a:r>
              <a:rPr sz="1700" dirty="0" err="1">
                <a:solidFill>
                  <a:schemeClr val="tx1"/>
                </a:solidFill>
              </a:rPr>
              <a:t>alle</a:t>
            </a:r>
            <a:r>
              <a:rPr sz="1700" dirty="0">
                <a:solidFill>
                  <a:schemeClr val="tx1"/>
                </a:solidFill>
              </a:rPr>
              <a:t>  </a:t>
            </a:r>
            <a:r>
              <a:rPr sz="1700" dirty="0" err="1">
                <a:solidFill>
                  <a:schemeClr val="tx1"/>
                </a:solidFill>
              </a:rPr>
              <a:t>restituzioni</a:t>
            </a:r>
            <a:r>
              <a:rPr sz="1700" dirty="0">
                <a:solidFill>
                  <a:schemeClr val="tx1"/>
                </a:solidFill>
              </a:rPr>
              <a:t>  e  al  </a:t>
            </a:r>
            <a:r>
              <a:rPr sz="1700" dirty="0" err="1">
                <a:solidFill>
                  <a:schemeClr val="tx1"/>
                </a:solidFill>
              </a:rPr>
              <a:t>risarcimento</a:t>
            </a:r>
            <a:r>
              <a:rPr sz="1700" dirty="0">
                <a:solidFill>
                  <a:schemeClr val="tx1"/>
                </a:solidFill>
              </a:rPr>
              <a:t>  </a:t>
            </a:r>
            <a:r>
              <a:rPr sz="1700" dirty="0" err="1">
                <a:solidFill>
                  <a:schemeClr val="tx1"/>
                </a:solidFill>
              </a:rPr>
              <a:t>dei</a:t>
            </a:r>
            <a:r>
              <a:rPr sz="1700" dirty="0">
                <a:solidFill>
                  <a:schemeClr val="tx1"/>
                </a:solidFill>
              </a:rPr>
              <a:t> </a:t>
            </a:r>
            <a:r>
              <a:rPr sz="1700" dirty="0" err="1">
                <a:solidFill>
                  <a:schemeClr val="tx1"/>
                </a:solidFill>
              </a:rPr>
              <a:t>danni</a:t>
            </a:r>
            <a:r>
              <a:rPr sz="1700" dirty="0">
                <a:solidFill>
                  <a:schemeClr val="tx1"/>
                </a:solidFill>
              </a:rPr>
              <a:t>. </a:t>
            </a:r>
          </a:p>
        </p:txBody>
      </p:sp>
      <p:pic>
        <p:nvPicPr>
          <p:cNvPr id="441" name="Immagine 3" descr="Immagine 3"/>
          <p:cNvPicPr>
            <a:picLocks noChangeAspect="1"/>
          </p:cNvPicPr>
          <p:nvPr/>
        </p:nvPicPr>
        <p:blipFill>
          <a:blip r:embed="rId3"/>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Rettangolo 4"/>
          <p:cNvSpPr txBox="1"/>
          <p:nvPr/>
        </p:nvSpPr>
        <p:spPr>
          <a:xfrm>
            <a:off x="167897" y="836712"/>
            <a:ext cx="8808206" cy="574349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rPr dirty="0" err="1"/>
              <a:t>L’usura</a:t>
            </a:r>
            <a:r>
              <a:rPr dirty="0"/>
              <a:t> è un </a:t>
            </a:r>
            <a:r>
              <a:rPr b="1" dirty="0">
                <a:solidFill>
                  <a:srgbClr val="A22E8C"/>
                </a:solidFill>
              </a:rPr>
              <a:t>REATO COMUNE</a:t>
            </a:r>
            <a:r>
              <a:rPr dirty="0"/>
              <a:t>, in </a:t>
            </a:r>
            <a:r>
              <a:rPr dirty="0" err="1"/>
              <a:t>quanto</a:t>
            </a:r>
            <a:r>
              <a:rPr dirty="0"/>
              <a:t> </a:t>
            </a:r>
            <a:r>
              <a:rPr dirty="0" err="1"/>
              <a:t>può</a:t>
            </a:r>
            <a:r>
              <a:rPr dirty="0"/>
              <a:t> </a:t>
            </a:r>
            <a:r>
              <a:rPr dirty="0" err="1"/>
              <a:t>essere</a:t>
            </a:r>
            <a:r>
              <a:rPr dirty="0"/>
              <a:t> </a:t>
            </a:r>
            <a:r>
              <a:rPr dirty="0" err="1"/>
              <a:t>commesso</a:t>
            </a:r>
            <a:r>
              <a:rPr dirty="0"/>
              <a:t> da </a:t>
            </a:r>
            <a:r>
              <a:rPr dirty="0" err="1"/>
              <a:t>chiunque</a:t>
            </a:r>
            <a:r>
              <a:rPr dirty="0"/>
              <a:t>. </a:t>
            </a:r>
            <a:r>
              <a:rPr lang="it-IT" dirty="0"/>
              <a:t> </a:t>
            </a:r>
            <a:r>
              <a:rPr lang="it-IT" dirty="0">
                <a:solidFill>
                  <a:schemeClr val="accent2"/>
                </a:solidFill>
              </a:rPr>
              <a:t>PLURIOFFENSIVO </a:t>
            </a:r>
            <a:r>
              <a:rPr lang="it-IT" dirty="0">
                <a:solidFill>
                  <a:schemeClr val="tx1"/>
                </a:solidFill>
              </a:rPr>
              <a:t>tutela, non solo la posizione del singolo contraente, ma anche il regolare funzionamento delle attività connesse all’erogazione del credito. </a:t>
            </a:r>
          </a:p>
          <a:p>
            <a:pPr algn="just">
              <a:lnSpc>
                <a:spcPct val="114000"/>
              </a:lnSpc>
              <a:spcBef>
                <a:spcPts val="1200"/>
              </a:spcBef>
              <a:defRPr sz="2200" b="0">
                <a:latin typeface="Times New Roman"/>
                <a:ea typeface="Times New Roman"/>
                <a:cs typeface="Times New Roman"/>
                <a:sym typeface="Times New Roman"/>
              </a:defRPr>
            </a:pPr>
            <a:r>
              <a:rPr dirty="0" err="1"/>
              <a:t>L'usura</a:t>
            </a:r>
            <a:r>
              <a:rPr dirty="0"/>
              <a:t> </a:t>
            </a:r>
            <a:r>
              <a:rPr dirty="0" err="1"/>
              <a:t>può</a:t>
            </a:r>
            <a:r>
              <a:rPr dirty="0"/>
              <a:t> </a:t>
            </a:r>
            <a:r>
              <a:rPr dirty="0" err="1"/>
              <a:t>avvenire</a:t>
            </a:r>
            <a:r>
              <a:rPr dirty="0"/>
              <a:t> in </a:t>
            </a:r>
            <a:r>
              <a:rPr dirty="0" err="1"/>
              <a:t>tre</a:t>
            </a:r>
            <a:r>
              <a:rPr dirty="0"/>
              <a:t> </a:t>
            </a:r>
            <a:r>
              <a:rPr dirty="0" err="1"/>
              <a:t>modalità</a:t>
            </a:r>
            <a:r>
              <a:rPr dirty="0"/>
              <a:t>:</a:t>
            </a:r>
          </a:p>
          <a:p>
            <a:pPr algn="just">
              <a:lnSpc>
                <a:spcPct val="114000"/>
              </a:lnSpc>
              <a:spcBef>
                <a:spcPts val="1200"/>
              </a:spcBef>
              <a:defRPr sz="2200">
                <a:solidFill>
                  <a:srgbClr val="A22E8C"/>
                </a:solidFill>
                <a:latin typeface="Times New Roman"/>
                <a:ea typeface="Times New Roman"/>
                <a:cs typeface="Times New Roman"/>
                <a:sym typeface="Times New Roman"/>
              </a:defRPr>
            </a:pPr>
            <a:r>
              <a:rPr dirty="0"/>
              <a:t>1. L'USURA PRESUNTA</a:t>
            </a:r>
            <a:r>
              <a:rPr b="0" dirty="0">
                <a:solidFill>
                  <a:srgbClr val="000000"/>
                </a:solidFill>
              </a:rPr>
              <a:t>, </a:t>
            </a:r>
            <a:r>
              <a:rPr b="0" dirty="0" err="1">
                <a:solidFill>
                  <a:srgbClr val="000000"/>
                </a:solidFill>
              </a:rPr>
              <a:t>integrata</a:t>
            </a:r>
            <a:r>
              <a:rPr b="0" dirty="0">
                <a:solidFill>
                  <a:srgbClr val="000000"/>
                </a:solidFill>
              </a:rPr>
              <a:t> dal </a:t>
            </a:r>
            <a:r>
              <a:rPr dirty="0" err="1">
                <a:solidFill>
                  <a:srgbClr val="000000"/>
                </a:solidFill>
              </a:rPr>
              <a:t>farsi</a:t>
            </a:r>
            <a:r>
              <a:rPr dirty="0">
                <a:solidFill>
                  <a:srgbClr val="000000"/>
                </a:solidFill>
              </a:rPr>
              <a:t> dare o </a:t>
            </a:r>
            <a:r>
              <a:rPr dirty="0" err="1">
                <a:solidFill>
                  <a:srgbClr val="000000"/>
                </a:solidFill>
              </a:rPr>
              <a:t>promettere</a:t>
            </a:r>
            <a:r>
              <a:rPr dirty="0">
                <a:solidFill>
                  <a:srgbClr val="000000"/>
                </a:solidFill>
              </a:rPr>
              <a:t> </a:t>
            </a:r>
            <a:r>
              <a:rPr dirty="0" err="1">
                <a:solidFill>
                  <a:srgbClr val="000000"/>
                </a:solidFill>
              </a:rPr>
              <a:t>interessi</a:t>
            </a:r>
            <a:r>
              <a:rPr dirty="0">
                <a:solidFill>
                  <a:srgbClr val="000000"/>
                </a:solidFill>
              </a:rPr>
              <a:t> o </a:t>
            </a:r>
            <a:r>
              <a:rPr dirty="0" err="1">
                <a:solidFill>
                  <a:srgbClr val="000000"/>
                </a:solidFill>
              </a:rPr>
              <a:t>altri</a:t>
            </a:r>
            <a:r>
              <a:rPr dirty="0">
                <a:solidFill>
                  <a:srgbClr val="000000"/>
                </a:solidFill>
              </a:rPr>
              <a:t> </a:t>
            </a:r>
            <a:r>
              <a:rPr dirty="0" err="1">
                <a:solidFill>
                  <a:srgbClr val="000000"/>
                </a:solidFill>
              </a:rPr>
              <a:t>vantaggi</a:t>
            </a:r>
            <a:r>
              <a:rPr dirty="0">
                <a:solidFill>
                  <a:srgbClr val="000000"/>
                </a:solidFill>
              </a:rPr>
              <a:t> </a:t>
            </a:r>
            <a:r>
              <a:rPr u="sng" dirty="0" err="1"/>
              <a:t>usurari</a:t>
            </a:r>
            <a:r>
              <a:rPr dirty="0">
                <a:solidFill>
                  <a:srgbClr val="000000"/>
                </a:solidFill>
              </a:rPr>
              <a:t> </a:t>
            </a:r>
            <a:r>
              <a:rPr b="0" dirty="0">
                <a:solidFill>
                  <a:srgbClr val="000000"/>
                </a:solidFill>
              </a:rPr>
              <a:t>in </a:t>
            </a:r>
            <a:r>
              <a:rPr b="0" dirty="0" err="1">
                <a:solidFill>
                  <a:srgbClr val="000000"/>
                </a:solidFill>
              </a:rPr>
              <a:t>cambio</a:t>
            </a:r>
            <a:r>
              <a:rPr b="0" dirty="0">
                <a:solidFill>
                  <a:srgbClr val="000000"/>
                </a:solidFill>
              </a:rPr>
              <a:t> di una </a:t>
            </a:r>
            <a:r>
              <a:rPr b="0" dirty="0" err="1">
                <a:solidFill>
                  <a:srgbClr val="000000"/>
                </a:solidFill>
              </a:rPr>
              <a:t>prestazione</a:t>
            </a:r>
            <a:r>
              <a:rPr b="0" dirty="0">
                <a:solidFill>
                  <a:srgbClr val="000000"/>
                </a:solidFill>
              </a:rPr>
              <a:t> di </a:t>
            </a:r>
            <a:r>
              <a:rPr b="0" dirty="0" err="1">
                <a:solidFill>
                  <a:srgbClr val="000000"/>
                </a:solidFill>
              </a:rPr>
              <a:t>denaro</a:t>
            </a:r>
            <a:r>
              <a:rPr b="0" dirty="0">
                <a:solidFill>
                  <a:srgbClr val="000000"/>
                </a:solidFill>
              </a:rPr>
              <a:t> od </a:t>
            </a:r>
            <a:r>
              <a:rPr b="0" dirty="0" err="1">
                <a:solidFill>
                  <a:srgbClr val="000000"/>
                </a:solidFill>
              </a:rPr>
              <a:t>altra</a:t>
            </a:r>
            <a:r>
              <a:rPr b="0" dirty="0">
                <a:solidFill>
                  <a:srgbClr val="000000"/>
                </a:solidFill>
              </a:rPr>
              <a:t> </a:t>
            </a:r>
            <a:r>
              <a:rPr b="0" dirty="0" err="1">
                <a:solidFill>
                  <a:srgbClr val="000000"/>
                </a:solidFill>
              </a:rPr>
              <a:t>utilità</a:t>
            </a:r>
            <a:r>
              <a:rPr b="0" dirty="0">
                <a:solidFill>
                  <a:srgbClr val="000000"/>
                </a:solidFill>
              </a:rPr>
              <a:t> </a:t>
            </a:r>
            <a:r>
              <a:rPr dirty="0"/>
              <a:t>(usura c.d. </a:t>
            </a:r>
            <a:r>
              <a:rPr dirty="0" err="1"/>
              <a:t>reale</a:t>
            </a:r>
            <a:r>
              <a:rPr dirty="0"/>
              <a:t>)</a:t>
            </a:r>
            <a:r>
              <a:rPr dirty="0">
                <a:solidFill>
                  <a:srgbClr val="000000"/>
                </a:solidFill>
              </a:rPr>
              <a:t>. </a:t>
            </a:r>
          </a:p>
          <a:p>
            <a:pPr marL="342900" indent="-342900" algn="just">
              <a:lnSpc>
                <a:spcPct val="114000"/>
              </a:lnSpc>
              <a:spcBef>
                <a:spcPts val="1200"/>
              </a:spcBef>
              <a:buSzPct val="100000"/>
              <a:buChar char="-"/>
              <a:defRPr sz="2200" b="0">
                <a:latin typeface="Times New Roman"/>
                <a:ea typeface="Times New Roman"/>
                <a:cs typeface="Times New Roman"/>
                <a:sym typeface="Times New Roman"/>
              </a:defRPr>
            </a:pPr>
            <a:r>
              <a:rPr sz="2000" dirty="0"/>
              <a:t>Per </a:t>
            </a:r>
            <a:r>
              <a:rPr sz="2000" b="1" dirty="0"/>
              <a:t>INTERESSI</a:t>
            </a:r>
            <a:r>
              <a:rPr sz="2000" dirty="0"/>
              <a:t> </a:t>
            </a:r>
            <a:r>
              <a:rPr sz="2000" dirty="0" err="1"/>
              <a:t>si</a:t>
            </a:r>
            <a:r>
              <a:rPr sz="2000" dirty="0"/>
              <a:t> </a:t>
            </a:r>
            <a:r>
              <a:rPr sz="2000" dirty="0" err="1"/>
              <a:t>intende</a:t>
            </a:r>
            <a:r>
              <a:rPr sz="2000" dirty="0"/>
              <a:t> </a:t>
            </a:r>
            <a:r>
              <a:rPr sz="2000" dirty="0" err="1"/>
              <a:t>il</a:t>
            </a:r>
            <a:r>
              <a:rPr sz="2000" dirty="0"/>
              <a:t> </a:t>
            </a:r>
            <a:r>
              <a:rPr sz="2000" dirty="0" err="1"/>
              <a:t>prezzo</a:t>
            </a:r>
            <a:r>
              <a:rPr sz="2000" dirty="0"/>
              <a:t> </a:t>
            </a:r>
            <a:r>
              <a:rPr sz="2000" dirty="0" err="1"/>
              <a:t>che</a:t>
            </a:r>
            <a:r>
              <a:rPr sz="2000" dirty="0"/>
              <a:t> </a:t>
            </a:r>
            <a:r>
              <a:rPr sz="2000" dirty="0" err="1"/>
              <a:t>si</a:t>
            </a:r>
            <a:r>
              <a:rPr sz="2000" dirty="0"/>
              <a:t> </a:t>
            </a:r>
            <a:r>
              <a:rPr sz="2000" dirty="0" err="1"/>
              <a:t>paga</a:t>
            </a:r>
            <a:r>
              <a:rPr sz="2000" dirty="0"/>
              <a:t> per la </a:t>
            </a:r>
            <a:r>
              <a:rPr sz="2000" dirty="0" err="1"/>
              <a:t>prestazione</a:t>
            </a:r>
            <a:r>
              <a:rPr sz="2000" dirty="0"/>
              <a:t> </a:t>
            </a:r>
            <a:r>
              <a:rPr sz="2000" dirty="0" err="1"/>
              <a:t>ricevuta</a:t>
            </a:r>
            <a:r>
              <a:rPr sz="2000" dirty="0"/>
              <a:t>; </a:t>
            </a:r>
          </a:p>
          <a:p>
            <a:pPr marL="342900" indent="-342900" algn="just">
              <a:lnSpc>
                <a:spcPct val="114000"/>
              </a:lnSpc>
              <a:spcBef>
                <a:spcPts val="1200"/>
              </a:spcBef>
              <a:buSzPct val="100000"/>
              <a:buChar char="-"/>
              <a:defRPr sz="2200" b="0">
                <a:latin typeface="Times New Roman"/>
                <a:ea typeface="Times New Roman"/>
                <a:cs typeface="Times New Roman"/>
                <a:sym typeface="Times New Roman"/>
              </a:defRPr>
            </a:pPr>
            <a:r>
              <a:rPr sz="2000" dirty="0"/>
              <a:t>per </a:t>
            </a:r>
            <a:r>
              <a:rPr sz="2000" b="1" dirty="0"/>
              <a:t>VANTAGGI</a:t>
            </a:r>
            <a:r>
              <a:rPr sz="2000" dirty="0"/>
              <a:t> </a:t>
            </a:r>
            <a:r>
              <a:rPr sz="2000" dirty="0" err="1"/>
              <a:t>ogni</a:t>
            </a:r>
            <a:r>
              <a:rPr sz="2000" dirty="0"/>
              <a:t> </a:t>
            </a:r>
            <a:r>
              <a:rPr sz="2000" dirty="0" err="1"/>
              <a:t>altro</a:t>
            </a:r>
            <a:r>
              <a:rPr sz="2000" dirty="0"/>
              <a:t> </a:t>
            </a:r>
            <a:r>
              <a:rPr sz="2000" dirty="0" err="1"/>
              <a:t>tipo</a:t>
            </a:r>
            <a:r>
              <a:rPr sz="2000" dirty="0"/>
              <a:t> di </a:t>
            </a:r>
            <a:r>
              <a:rPr sz="2000" dirty="0" err="1"/>
              <a:t>compenso</a:t>
            </a:r>
            <a:r>
              <a:rPr sz="2000" dirty="0"/>
              <a:t> </a:t>
            </a:r>
            <a:r>
              <a:rPr sz="2000" dirty="0" err="1"/>
              <a:t>pagato</a:t>
            </a:r>
            <a:r>
              <a:rPr sz="2000" dirty="0"/>
              <a:t> </a:t>
            </a:r>
            <a:r>
              <a:rPr sz="2000" dirty="0" err="1"/>
              <a:t>allo</a:t>
            </a:r>
            <a:r>
              <a:rPr sz="2000" dirty="0"/>
              <a:t> </a:t>
            </a:r>
            <a:r>
              <a:rPr sz="2000" dirty="0" err="1"/>
              <a:t>stesso</a:t>
            </a:r>
            <a:r>
              <a:rPr sz="2000" dirty="0"/>
              <a:t> fine; </a:t>
            </a:r>
          </a:p>
          <a:p>
            <a:pPr marL="342900" indent="-342900" algn="just">
              <a:lnSpc>
                <a:spcPct val="114000"/>
              </a:lnSpc>
              <a:spcBef>
                <a:spcPts val="1200"/>
              </a:spcBef>
              <a:buSzPct val="100000"/>
              <a:buChar char="-"/>
              <a:defRPr sz="2200" b="0">
                <a:latin typeface="Times New Roman"/>
                <a:ea typeface="Times New Roman"/>
                <a:cs typeface="Times New Roman"/>
                <a:sym typeface="Times New Roman"/>
              </a:defRPr>
            </a:pPr>
            <a:r>
              <a:rPr sz="2000" dirty="0"/>
              <a:t>Il </a:t>
            </a:r>
            <a:r>
              <a:rPr sz="2000" b="1" dirty="0"/>
              <a:t>TASSO USURARIO LEGALE </a:t>
            </a:r>
            <a:r>
              <a:rPr sz="2000" dirty="0"/>
              <a:t>a </a:t>
            </a:r>
            <a:r>
              <a:rPr sz="2000" dirty="0" err="1"/>
              <a:t>partire</a:t>
            </a:r>
            <a:r>
              <a:rPr sz="2000" dirty="0"/>
              <a:t> dal quale </a:t>
            </a:r>
            <a:r>
              <a:rPr sz="2000" dirty="0" err="1"/>
              <a:t>scatta</a:t>
            </a:r>
            <a:r>
              <a:rPr sz="2000" dirty="0"/>
              <a:t> la </a:t>
            </a:r>
            <a:r>
              <a:rPr sz="2000" dirty="0" err="1"/>
              <a:t>rilevanza</a:t>
            </a:r>
            <a:r>
              <a:rPr sz="2000" dirty="0"/>
              <a:t> </a:t>
            </a:r>
            <a:r>
              <a:rPr sz="2000" dirty="0" err="1"/>
              <a:t>penale</a:t>
            </a:r>
            <a:r>
              <a:rPr sz="2000" dirty="0"/>
              <a:t>.</a:t>
            </a:r>
            <a:br>
              <a:rPr dirty="0"/>
            </a:br>
            <a:r>
              <a:rPr dirty="0" err="1"/>
              <a:t>Gli</a:t>
            </a:r>
            <a:r>
              <a:rPr dirty="0"/>
              <a:t> </a:t>
            </a:r>
            <a:r>
              <a:rPr dirty="0" err="1"/>
              <a:t>interessi</a:t>
            </a:r>
            <a:r>
              <a:rPr dirty="0"/>
              <a:t> </a:t>
            </a:r>
            <a:r>
              <a:rPr dirty="0" err="1"/>
              <a:t>sono</a:t>
            </a:r>
            <a:r>
              <a:rPr dirty="0"/>
              <a:t> </a:t>
            </a:r>
            <a:r>
              <a:rPr dirty="0" err="1"/>
              <a:t>usurai</a:t>
            </a:r>
            <a:r>
              <a:rPr dirty="0"/>
              <a:t> </a:t>
            </a:r>
            <a:r>
              <a:rPr dirty="0" err="1"/>
              <a:t>quando</a:t>
            </a:r>
            <a:r>
              <a:rPr dirty="0"/>
              <a:t> </a:t>
            </a:r>
            <a:r>
              <a:rPr u="sng" dirty="0" err="1"/>
              <a:t>superano</a:t>
            </a:r>
            <a:r>
              <a:rPr u="sng" dirty="0"/>
              <a:t> </a:t>
            </a:r>
            <a:r>
              <a:rPr lang="it-IT" u="sng" dirty="0"/>
              <a:t>il tasso medio risultante dall’ultima rilevazione pubblicata sulla Gazzetta Ufficiale</a:t>
            </a:r>
            <a:r>
              <a:rPr u="sng" dirty="0"/>
              <a:t>.</a:t>
            </a:r>
          </a:p>
        </p:txBody>
      </p:sp>
      <p:pic>
        <p:nvPicPr>
          <p:cNvPr id="444"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45"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Usura</a:t>
            </a:r>
          </a:p>
        </p:txBody>
      </p:sp>
    </p:spTree>
  </p:cSld>
  <p:clrMapOvr>
    <a:masterClrMapping/>
  </p:clrMapOvr>
  <p:transition spd="me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7" name="Rettangolo 4"/>
          <p:cNvSpPr txBox="1"/>
          <p:nvPr/>
        </p:nvSpPr>
        <p:spPr>
          <a:xfrm>
            <a:off x="167897" y="908720"/>
            <a:ext cx="8808206" cy="35603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a:solidFill>
                  <a:srgbClr val="A22E8C"/>
                </a:solidFill>
                <a:latin typeface="Times New Roman"/>
                <a:ea typeface="Times New Roman"/>
                <a:cs typeface="Times New Roman"/>
                <a:sym typeface="Times New Roman"/>
              </a:defRPr>
            </a:pPr>
            <a:r>
              <a:t>2. L'USURA CONCRETA </a:t>
            </a:r>
            <a:r>
              <a:rPr b="0">
                <a:solidFill>
                  <a:srgbClr val="000000"/>
                </a:solidFill>
              </a:rPr>
              <a:t>ricorre invece quando gli interessi, i vantaggi ed i compensi, </a:t>
            </a:r>
            <a:r>
              <a:rPr>
                <a:solidFill>
                  <a:srgbClr val="000000"/>
                </a:solidFill>
              </a:rPr>
              <a:t>pur inferiori alle soglie di cui sopra</a:t>
            </a:r>
            <a:r>
              <a:rPr b="0">
                <a:solidFill>
                  <a:srgbClr val="000000"/>
                </a:solidFill>
              </a:rPr>
              <a:t>, </a:t>
            </a:r>
            <a:r>
              <a:rPr>
                <a:solidFill>
                  <a:srgbClr val="000000"/>
                </a:solidFill>
              </a:rPr>
              <a:t>risultino</a:t>
            </a:r>
            <a:r>
              <a:rPr b="0">
                <a:solidFill>
                  <a:srgbClr val="000000"/>
                </a:solidFill>
              </a:rPr>
              <a:t> per le concrete modalità del fatto comunque </a:t>
            </a:r>
            <a:r>
              <a:rPr u="sng"/>
              <a:t>sproporzionati</a:t>
            </a:r>
            <a:r>
              <a:rPr>
                <a:solidFill>
                  <a:srgbClr val="000000"/>
                </a:solidFill>
              </a:rPr>
              <a:t> rispetto alla prestazione </a:t>
            </a:r>
            <a:r>
              <a:rPr b="0">
                <a:solidFill>
                  <a:srgbClr val="000000"/>
                </a:solidFill>
              </a:rPr>
              <a:t>di denaro o ad altra utilità, quando </a:t>
            </a:r>
            <a:r>
              <a:rPr b="0">
                <a:solidFill>
                  <a:srgbClr val="FF0000"/>
                </a:solidFill>
              </a:rPr>
              <a:t>il soggetto passivo</a:t>
            </a:r>
            <a:r>
              <a:rPr b="0">
                <a:solidFill>
                  <a:srgbClr val="000000"/>
                </a:solidFill>
              </a:rPr>
              <a:t> </a:t>
            </a:r>
            <a:r>
              <a:rPr b="0">
                <a:solidFill>
                  <a:srgbClr val="FF0000"/>
                </a:solidFill>
              </a:rPr>
              <a:t>versi in stato di difficoltà economica o finanziaria;</a:t>
            </a:r>
          </a:p>
          <a:p>
            <a:pPr algn="just">
              <a:lnSpc>
                <a:spcPct val="114000"/>
              </a:lnSpc>
              <a:spcBef>
                <a:spcPts val="1200"/>
              </a:spcBef>
              <a:defRPr sz="2200">
                <a:solidFill>
                  <a:srgbClr val="A22E8C"/>
                </a:solidFill>
                <a:latin typeface="Times New Roman"/>
                <a:ea typeface="Times New Roman"/>
                <a:cs typeface="Times New Roman"/>
                <a:sym typeface="Times New Roman"/>
              </a:defRPr>
            </a:pPr>
            <a:r>
              <a:t>3. LA MEDIAZIONE USURARIA</a:t>
            </a:r>
            <a:r>
              <a:rPr b="0">
                <a:solidFill>
                  <a:srgbClr val="000000"/>
                </a:solidFill>
              </a:rPr>
              <a:t>, qualora il soggetto agente pretenda, </a:t>
            </a:r>
            <a:r>
              <a:rPr u="sng"/>
              <a:t>per l'opera di mediazione</a:t>
            </a:r>
            <a:r>
              <a:rPr>
                <a:solidFill>
                  <a:srgbClr val="000000"/>
                </a:solidFill>
              </a:rPr>
              <a:t>, vantaggi usurari</a:t>
            </a:r>
            <a:r>
              <a:rPr b="0">
                <a:solidFill>
                  <a:srgbClr val="000000"/>
                </a:solidFill>
              </a:rPr>
              <a:t>, ovvero, </a:t>
            </a:r>
            <a:r>
              <a:rPr>
                <a:solidFill>
                  <a:srgbClr val="000000"/>
                </a:solidFill>
              </a:rPr>
              <a:t>sproporzionati</a:t>
            </a:r>
            <a:r>
              <a:rPr b="0">
                <a:solidFill>
                  <a:srgbClr val="000000"/>
                </a:solidFill>
              </a:rPr>
              <a:t> se ottenuti nei confronti di chi versi in stato di difficoltà economica o finanziaria.</a:t>
            </a:r>
          </a:p>
        </p:txBody>
      </p:sp>
      <p:pic>
        <p:nvPicPr>
          <p:cNvPr id="448"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49"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Usura</a:t>
            </a:r>
          </a:p>
        </p:txBody>
      </p:sp>
    </p:spTree>
  </p:cSld>
  <p:clrMapOvr>
    <a:masterClrMapping/>
  </p:clrMapOvr>
  <p:transition spd="me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Rettangolo 4"/>
          <p:cNvSpPr txBox="1"/>
          <p:nvPr/>
        </p:nvSpPr>
        <p:spPr>
          <a:xfrm>
            <a:off x="45719" y="980728"/>
            <a:ext cx="9052561" cy="45446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u="sng">
                <a:latin typeface="Times New Roman"/>
                <a:ea typeface="Times New Roman"/>
                <a:cs typeface="Times New Roman"/>
                <a:sym typeface="Times New Roman"/>
              </a:defRPr>
            </a:pPr>
            <a:r>
              <a:rPr dirty="0"/>
              <a:t>ELEMENTO OGGETTIVO</a:t>
            </a:r>
            <a:r>
              <a:rPr b="0" u="none" dirty="0"/>
              <a:t>: La </a:t>
            </a:r>
            <a:r>
              <a:rPr b="0" u="none" dirty="0" err="1"/>
              <a:t>condotta</a:t>
            </a:r>
            <a:r>
              <a:rPr b="0" u="none" dirty="0"/>
              <a:t> di </a:t>
            </a:r>
            <a:r>
              <a:rPr b="0" u="none" dirty="0" err="1"/>
              <a:t>questo</a:t>
            </a:r>
            <a:r>
              <a:rPr b="0" u="none" dirty="0"/>
              <a:t> </a:t>
            </a:r>
            <a:r>
              <a:rPr b="0" u="none" dirty="0" err="1"/>
              <a:t>reato</a:t>
            </a:r>
            <a:r>
              <a:rPr b="0" u="none" dirty="0"/>
              <a:t> </a:t>
            </a:r>
            <a:r>
              <a:rPr b="0" u="none" dirty="0" err="1"/>
              <a:t>presuppone</a:t>
            </a:r>
            <a:r>
              <a:rPr b="0" u="none" dirty="0"/>
              <a:t> la </a:t>
            </a:r>
            <a:r>
              <a:rPr u="none" dirty="0" err="1">
                <a:solidFill>
                  <a:srgbClr val="A22E8C"/>
                </a:solidFill>
              </a:rPr>
              <a:t>conclusione</a:t>
            </a:r>
            <a:r>
              <a:rPr u="none" dirty="0">
                <a:solidFill>
                  <a:srgbClr val="A22E8C"/>
                </a:solidFill>
              </a:rPr>
              <a:t> di un </a:t>
            </a:r>
            <a:r>
              <a:rPr u="none" dirty="0" err="1">
                <a:solidFill>
                  <a:srgbClr val="A22E8C"/>
                </a:solidFill>
              </a:rPr>
              <a:t>contratto</a:t>
            </a:r>
            <a:r>
              <a:rPr u="none" dirty="0">
                <a:solidFill>
                  <a:srgbClr val="A22E8C"/>
                </a:solidFill>
              </a:rPr>
              <a:t> a </a:t>
            </a:r>
            <a:r>
              <a:rPr u="none" dirty="0" err="1">
                <a:solidFill>
                  <a:srgbClr val="A22E8C"/>
                </a:solidFill>
              </a:rPr>
              <a:t>prestazioni</a:t>
            </a:r>
            <a:r>
              <a:rPr u="none" dirty="0">
                <a:solidFill>
                  <a:srgbClr val="A22E8C"/>
                </a:solidFill>
              </a:rPr>
              <a:t> </a:t>
            </a:r>
            <a:r>
              <a:rPr u="none" dirty="0" err="1">
                <a:solidFill>
                  <a:srgbClr val="A22E8C"/>
                </a:solidFill>
              </a:rPr>
              <a:t>corrispettive</a:t>
            </a:r>
            <a:r>
              <a:rPr b="0" u="none" dirty="0"/>
              <a:t>, in cui la </a:t>
            </a:r>
            <a:r>
              <a:rPr b="0" u="none" dirty="0" err="1"/>
              <a:t>condotta</a:t>
            </a:r>
            <a:r>
              <a:rPr b="0" u="none" dirty="0"/>
              <a:t> </a:t>
            </a:r>
            <a:r>
              <a:rPr b="0" u="none" dirty="0" err="1"/>
              <a:t>dell’agente</a:t>
            </a:r>
            <a:r>
              <a:rPr b="0" u="none" dirty="0"/>
              <a:t> </a:t>
            </a:r>
            <a:r>
              <a:rPr b="0" u="none" dirty="0" err="1"/>
              <a:t>consiste</a:t>
            </a:r>
            <a:r>
              <a:rPr b="0" u="none" dirty="0"/>
              <a:t> </a:t>
            </a:r>
            <a:r>
              <a:rPr b="0" u="none" dirty="0" err="1"/>
              <a:t>nel</a:t>
            </a:r>
            <a:r>
              <a:rPr b="0" u="none" dirty="0"/>
              <a:t> </a:t>
            </a:r>
            <a:r>
              <a:rPr dirty="0" err="1"/>
              <a:t>prestare</a:t>
            </a:r>
            <a:r>
              <a:rPr dirty="0"/>
              <a:t> </a:t>
            </a:r>
            <a:r>
              <a:rPr dirty="0" err="1"/>
              <a:t>denaro</a:t>
            </a:r>
            <a:r>
              <a:rPr dirty="0"/>
              <a:t> o </a:t>
            </a:r>
            <a:r>
              <a:rPr dirty="0" err="1"/>
              <a:t>altra</a:t>
            </a:r>
            <a:r>
              <a:rPr dirty="0"/>
              <a:t> </a:t>
            </a:r>
            <a:r>
              <a:rPr dirty="0" err="1"/>
              <a:t>utilità</a:t>
            </a:r>
            <a:r>
              <a:rPr dirty="0"/>
              <a:t> a </a:t>
            </a:r>
            <a:r>
              <a:rPr dirty="0" err="1"/>
              <a:t>fronte</a:t>
            </a:r>
            <a:r>
              <a:rPr dirty="0"/>
              <a:t> di </a:t>
            </a:r>
            <a:r>
              <a:rPr dirty="0" err="1"/>
              <a:t>una</a:t>
            </a:r>
            <a:r>
              <a:rPr dirty="0"/>
              <a:t> </a:t>
            </a:r>
            <a:r>
              <a:rPr dirty="0" err="1"/>
              <a:t>dazione</a:t>
            </a:r>
            <a:r>
              <a:rPr dirty="0"/>
              <a:t> o </a:t>
            </a:r>
            <a:r>
              <a:rPr dirty="0" err="1"/>
              <a:t>promessa</a:t>
            </a:r>
            <a:r>
              <a:rPr dirty="0"/>
              <a:t>, da </a:t>
            </a:r>
            <a:r>
              <a:rPr dirty="0" err="1"/>
              <a:t>parte</a:t>
            </a:r>
            <a:r>
              <a:rPr dirty="0"/>
              <a:t> </a:t>
            </a:r>
            <a:r>
              <a:rPr dirty="0" err="1"/>
              <a:t>della</a:t>
            </a:r>
            <a:r>
              <a:rPr dirty="0"/>
              <a:t> </a:t>
            </a:r>
            <a:r>
              <a:rPr dirty="0" err="1"/>
              <a:t>vittima</a:t>
            </a:r>
            <a:r>
              <a:rPr dirty="0"/>
              <a:t>, di </a:t>
            </a:r>
            <a:r>
              <a:rPr dirty="0" err="1"/>
              <a:t>interessi</a:t>
            </a:r>
            <a:r>
              <a:rPr dirty="0"/>
              <a:t> o </a:t>
            </a:r>
            <a:r>
              <a:rPr dirty="0" err="1"/>
              <a:t>vantaggi</a:t>
            </a:r>
            <a:r>
              <a:rPr dirty="0"/>
              <a:t> </a:t>
            </a:r>
            <a:r>
              <a:rPr dirty="0" err="1"/>
              <a:t>usurai</a:t>
            </a:r>
            <a:r>
              <a:rPr dirty="0"/>
              <a:t>. </a:t>
            </a:r>
          </a:p>
          <a:p>
            <a:pPr algn="just">
              <a:lnSpc>
                <a:spcPct val="114000"/>
              </a:lnSpc>
              <a:spcBef>
                <a:spcPts val="1200"/>
              </a:spcBef>
              <a:defRPr sz="2200" u="sng">
                <a:latin typeface="Times New Roman"/>
                <a:ea typeface="Times New Roman"/>
                <a:cs typeface="Times New Roman"/>
                <a:sym typeface="Times New Roman"/>
              </a:defRPr>
            </a:pPr>
            <a:endParaRPr dirty="0"/>
          </a:p>
          <a:p>
            <a:pPr algn="just">
              <a:lnSpc>
                <a:spcPct val="114000"/>
              </a:lnSpc>
              <a:spcBef>
                <a:spcPts val="1200"/>
              </a:spcBef>
              <a:defRPr sz="2200" u="sng">
                <a:latin typeface="Times New Roman"/>
                <a:ea typeface="Times New Roman"/>
                <a:cs typeface="Times New Roman"/>
                <a:sym typeface="Times New Roman"/>
              </a:defRPr>
            </a:pPr>
            <a:r>
              <a:rPr dirty="0"/>
              <a:t>ELEMENTO SOGGETTIVO</a:t>
            </a:r>
            <a:r>
              <a:rPr u="none" dirty="0"/>
              <a:t> </a:t>
            </a:r>
            <a:r>
              <a:rPr b="0" u="none" dirty="0"/>
              <a:t>è il </a:t>
            </a:r>
            <a:r>
              <a:rPr u="none" dirty="0">
                <a:solidFill>
                  <a:srgbClr val="A22E8C"/>
                </a:solidFill>
              </a:rPr>
              <a:t>DOLO GENERICO.</a:t>
            </a:r>
            <a:endParaRPr b="0" dirty="0">
              <a:solidFill>
                <a:srgbClr val="A22E8C"/>
              </a:solidFill>
            </a:endParaRPr>
          </a:p>
          <a:p>
            <a:pPr algn="just">
              <a:lnSpc>
                <a:spcPct val="114000"/>
              </a:lnSpc>
              <a:spcBef>
                <a:spcPts val="1200"/>
              </a:spcBef>
              <a:defRPr sz="2200" b="0">
                <a:latin typeface="Times New Roman"/>
                <a:ea typeface="Times New Roman"/>
                <a:cs typeface="Times New Roman"/>
                <a:sym typeface="Times New Roman"/>
              </a:defRPr>
            </a:pPr>
            <a:r>
              <a:rPr lang="it-IT" dirty="0"/>
              <a:t>Questo delitto si consuma </a:t>
            </a:r>
            <a:r>
              <a:rPr lang="it-IT" b="1" u="sng" dirty="0"/>
              <a:t>con la sola accettazione della promessa degli interessi, o vantaggi usurai</a:t>
            </a:r>
            <a:r>
              <a:rPr lang="it-IT" dirty="0"/>
              <a:t>, non seguita dalla effettiva donazione degli stessi. </a:t>
            </a:r>
          </a:p>
          <a:p>
            <a:pPr algn="just">
              <a:lnSpc>
                <a:spcPct val="114000"/>
              </a:lnSpc>
              <a:spcBef>
                <a:spcPts val="1200"/>
              </a:spcBef>
              <a:defRPr sz="2200" b="0">
                <a:latin typeface="Times New Roman"/>
                <a:ea typeface="Times New Roman"/>
                <a:cs typeface="Times New Roman"/>
                <a:sym typeface="Times New Roman"/>
              </a:defRPr>
            </a:pPr>
            <a:endParaRPr dirty="0"/>
          </a:p>
          <a:p>
            <a:pPr algn="just">
              <a:lnSpc>
                <a:spcPct val="114000"/>
              </a:lnSpc>
              <a:spcBef>
                <a:spcPts val="1200"/>
              </a:spcBef>
              <a:defRPr sz="2200" b="0">
                <a:latin typeface="Times New Roman"/>
                <a:ea typeface="Times New Roman"/>
                <a:cs typeface="Times New Roman"/>
                <a:sym typeface="Times New Roman"/>
              </a:defRPr>
            </a:pPr>
            <a:r>
              <a:rPr dirty="0"/>
              <a:t>Il </a:t>
            </a:r>
            <a:r>
              <a:rPr dirty="0" err="1"/>
              <a:t>tentativo</a:t>
            </a:r>
            <a:r>
              <a:rPr dirty="0"/>
              <a:t> non è </a:t>
            </a:r>
            <a:r>
              <a:rPr dirty="0" err="1"/>
              <a:t>configurabile</a:t>
            </a:r>
            <a:r>
              <a:rPr dirty="0"/>
              <a:t>.</a:t>
            </a:r>
          </a:p>
        </p:txBody>
      </p:sp>
      <p:pic>
        <p:nvPicPr>
          <p:cNvPr id="452"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53"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Usura</a:t>
            </a:r>
          </a:p>
        </p:txBody>
      </p:sp>
    </p:spTree>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8" name="CasellaDiTesto 1"/>
          <p:cNvSpPr txBox="1"/>
          <p:nvPr/>
        </p:nvSpPr>
        <p:spPr>
          <a:xfrm>
            <a:off x="229859" y="848857"/>
            <a:ext cx="8684281" cy="571906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FF3399"/>
                </a:solidFill>
                <a:latin typeface="Book Antiqua"/>
                <a:ea typeface="Book Antiqua"/>
                <a:cs typeface="Book Antiqua"/>
                <a:sym typeface="Book Antiqua"/>
              </a:defRPr>
            </a:pPr>
            <a:r>
              <a:rPr dirty="0">
                <a:solidFill>
                  <a:srgbClr val="FF0000"/>
                </a:solidFill>
              </a:rPr>
              <a:t>Art. 648 </a:t>
            </a:r>
            <a:r>
              <a:rPr dirty="0" err="1">
                <a:solidFill>
                  <a:srgbClr val="FF0000"/>
                </a:solidFill>
              </a:rPr>
              <a:t>c.p.</a:t>
            </a:r>
            <a:r>
              <a:rPr dirty="0">
                <a:solidFill>
                  <a:srgbClr val="FF0000"/>
                </a:solidFill>
              </a:rPr>
              <a:t> </a:t>
            </a:r>
            <a:r>
              <a:rPr dirty="0" err="1">
                <a:solidFill>
                  <a:srgbClr val="FF0000"/>
                </a:solidFill>
              </a:rPr>
              <a:t>Ricettazione</a:t>
            </a:r>
            <a:endParaRPr dirty="0">
              <a:solidFill>
                <a:srgbClr val="FF0000"/>
              </a:solidFill>
              <a:latin typeface="Times New Roman"/>
              <a:ea typeface="Times New Roman"/>
              <a:cs typeface="Times New Roman"/>
              <a:sym typeface="Times New Roman"/>
            </a:endParaRPr>
          </a:p>
          <a:p>
            <a:pPr lvl="0" algn="just">
              <a:lnSpc>
                <a:spcPct val="114000"/>
              </a:lnSpc>
              <a:spcBef>
                <a:spcPts val="1200"/>
              </a:spcBef>
              <a:defRPr sz="2200" b="0">
                <a:latin typeface="Times New Roman"/>
                <a:ea typeface="Times New Roman"/>
                <a:cs typeface="Times New Roman"/>
                <a:sym typeface="Times New Roman"/>
              </a:defRPr>
            </a:pPr>
            <a:r>
              <a:rPr dirty="0"/>
              <a:t>«</a:t>
            </a:r>
            <a:r>
              <a:rPr i="1" dirty="0" err="1"/>
              <a:t>Fuori</a:t>
            </a:r>
            <a:r>
              <a:rPr i="1" dirty="0"/>
              <a:t> </a:t>
            </a:r>
            <a:r>
              <a:rPr i="1" dirty="0" err="1"/>
              <a:t>dei</a:t>
            </a:r>
            <a:r>
              <a:rPr i="1" dirty="0"/>
              <a:t> </a:t>
            </a:r>
            <a:r>
              <a:rPr i="1" dirty="0" err="1"/>
              <a:t>casi</a:t>
            </a:r>
            <a:r>
              <a:rPr i="1" dirty="0"/>
              <a:t> di </a:t>
            </a:r>
            <a:r>
              <a:rPr i="1" dirty="0" err="1"/>
              <a:t>concorso</a:t>
            </a:r>
            <a:r>
              <a:rPr i="1" dirty="0"/>
              <a:t> </a:t>
            </a:r>
            <a:r>
              <a:rPr i="1" dirty="0" err="1"/>
              <a:t>nel</a:t>
            </a:r>
            <a:r>
              <a:rPr i="1" dirty="0"/>
              <a:t> </a:t>
            </a:r>
            <a:r>
              <a:rPr i="1" dirty="0" err="1"/>
              <a:t>reato</a:t>
            </a:r>
            <a:r>
              <a:rPr i="1" dirty="0"/>
              <a:t>, chi, </a:t>
            </a:r>
            <a:r>
              <a:rPr b="1" i="1" u="sng" dirty="0"/>
              <a:t>al fine di </a:t>
            </a:r>
            <a:r>
              <a:rPr b="1" i="1" u="sng" dirty="0" err="1"/>
              <a:t>procurare</a:t>
            </a:r>
            <a:r>
              <a:rPr b="1" i="1" u="sng" dirty="0"/>
              <a:t> a </a:t>
            </a:r>
            <a:r>
              <a:rPr b="1" i="1" u="sng" dirty="0" err="1"/>
              <a:t>sé</a:t>
            </a:r>
            <a:r>
              <a:rPr b="1" i="1" u="sng" dirty="0"/>
              <a:t> o ad </a:t>
            </a:r>
            <a:r>
              <a:rPr b="1" i="1" u="sng" dirty="0" err="1"/>
              <a:t>altri</a:t>
            </a:r>
            <a:r>
              <a:rPr b="1" i="1" u="sng" dirty="0"/>
              <a:t> un </a:t>
            </a:r>
            <a:r>
              <a:rPr b="1" i="1" u="sng" dirty="0" err="1"/>
              <a:t>profitto</a:t>
            </a:r>
            <a:r>
              <a:rPr i="1" dirty="0"/>
              <a:t>, </a:t>
            </a:r>
            <a:r>
              <a:rPr b="1" i="1" dirty="0" err="1">
                <a:solidFill>
                  <a:srgbClr val="FF3399"/>
                </a:solidFill>
              </a:rPr>
              <a:t>acquista</a:t>
            </a:r>
            <a:r>
              <a:rPr b="1" i="1" dirty="0">
                <a:solidFill>
                  <a:srgbClr val="FF3399"/>
                </a:solidFill>
              </a:rPr>
              <a:t>, </a:t>
            </a:r>
            <a:r>
              <a:rPr b="1" i="1" dirty="0" err="1">
                <a:solidFill>
                  <a:srgbClr val="FF3399"/>
                </a:solidFill>
              </a:rPr>
              <a:t>riceve</a:t>
            </a:r>
            <a:r>
              <a:rPr b="1" i="1" dirty="0">
                <a:solidFill>
                  <a:srgbClr val="FF3399"/>
                </a:solidFill>
              </a:rPr>
              <a:t> od occulta </a:t>
            </a:r>
            <a:r>
              <a:rPr b="1" i="1" dirty="0" err="1">
                <a:solidFill>
                  <a:srgbClr val="FF3399"/>
                </a:solidFill>
              </a:rPr>
              <a:t>denaro</a:t>
            </a:r>
            <a:r>
              <a:rPr b="1" i="1" dirty="0">
                <a:solidFill>
                  <a:srgbClr val="FF3399"/>
                </a:solidFill>
              </a:rPr>
              <a:t> o </a:t>
            </a:r>
            <a:r>
              <a:rPr b="1" i="1" dirty="0" err="1">
                <a:solidFill>
                  <a:srgbClr val="FF3399"/>
                </a:solidFill>
              </a:rPr>
              <a:t>cose</a:t>
            </a:r>
            <a:r>
              <a:rPr b="1" i="1" dirty="0">
                <a:solidFill>
                  <a:srgbClr val="FF3399"/>
                </a:solidFill>
              </a:rPr>
              <a:t> </a:t>
            </a:r>
            <a:r>
              <a:rPr b="1" i="1" dirty="0" err="1">
                <a:solidFill>
                  <a:srgbClr val="FF3399"/>
                </a:solidFill>
              </a:rPr>
              <a:t>provenienti</a:t>
            </a:r>
            <a:r>
              <a:rPr b="1" i="1" dirty="0">
                <a:solidFill>
                  <a:srgbClr val="FF3399"/>
                </a:solidFill>
              </a:rPr>
              <a:t> da un </a:t>
            </a:r>
            <a:r>
              <a:rPr b="1" i="1" dirty="0" err="1">
                <a:solidFill>
                  <a:srgbClr val="FF3399"/>
                </a:solidFill>
              </a:rPr>
              <a:t>qualsiasi</a:t>
            </a:r>
            <a:r>
              <a:rPr b="1" i="1" dirty="0">
                <a:solidFill>
                  <a:srgbClr val="FF3399"/>
                </a:solidFill>
              </a:rPr>
              <a:t> </a:t>
            </a:r>
            <a:r>
              <a:rPr b="1" i="1" dirty="0" err="1">
                <a:solidFill>
                  <a:srgbClr val="FF3399"/>
                </a:solidFill>
              </a:rPr>
              <a:t>delitto</a:t>
            </a:r>
            <a:r>
              <a:rPr b="1" i="1" dirty="0">
                <a:solidFill>
                  <a:srgbClr val="FF3399"/>
                </a:solidFill>
              </a:rPr>
              <a:t>,</a:t>
            </a:r>
            <a:r>
              <a:rPr i="1" dirty="0"/>
              <a:t> o </a:t>
            </a:r>
            <a:r>
              <a:rPr i="1" dirty="0" err="1"/>
              <a:t>comunque</a:t>
            </a:r>
            <a:r>
              <a:rPr i="1" dirty="0"/>
              <a:t> </a:t>
            </a:r>
            <a:r>
              <a:rPr b="1" i="1" dirty="0" err="1">
                <a:solidFill>
                  <a:srgbClr val="FF3399"/>
                </a:solidFill>
              </a:rPr>
              <a:t>si</a:t>
            </a:r>
            <a:r>
              <a:rPr b="1" i="1" dirty="0">
                <a:solidFill>
                  <a:srgbClr val="FF3399"/>
                </a:solidFill>
              </a:rPr>
              <a:t> </a:t>
            </a:r>
            <a:r>
              <a:rPr b="1" i="1" dirty="0" err="1">
                <a:solidFill>
                  <a:srgbClr val="FF3399"/>
                </a:solidFill>
              </a:rPr>
              <a:t>intromette</a:t>
            </a:r>
            <a:r>
              <a:rPr b="1" i="1" dirty="0">
                <a:solidFill>
                  <a:srgbClr val="FF3399"/>
                </a:solidFill>
              </a:rPr>
              <a:t> </a:t>
            </a:r>
            <a:r>
              <a:rPr b="1" i="1" dirty="0" err="1">
                <a:solidFill>
                  <a:srgbClr val="FF3399"/>
                </a:solidFill>
              </a:rPr>
              <a:t>nel</a:t>
            </a:r>
            <a:r>
              <a:rPr b="1" i="1" dirty="0">
                <a:solidFill>
                  <a:srgbClr val="FF3399"/>
                </a:solidFill>
              </a:rPr>
              <a:t> </a:t>
            </a:r>
            <a:r>
              <a:rPr b="1" i="1" dirty="0" err="1">
                <a:solidFill>
                  <a:srgbClr val="FF3399"/>
                </a:solidFill>
              </a:rPr>
              <a:t>farle</a:t>
            </a:r>
            <a:r>
              <a:rPr b="1" i="1" dirty="0">
                <a:solidFill>
                  <a:srgbClr val="FF3399"/>
                </a:solidFill>
              </a:rPr>
              <a:t> </a:t>
            </a:r>
            <a:r>
              <a:rPr b="1" i="1" dirty="0" err="1">
                <a:solidFill>
                  <a:srgbClr val="FF3399"/>
                </a:solidFill>
              </a:rPr>
              <a:t>acquistare</a:t>
            </a:r>
            <a:r>
              <a:rPr i="1" dirty="0"/>
              <a:t>, </a:t>
            </a:r>
            <a:r>
              <a:rPr b="1" i="1" dirty="0" err="1">
                <a:solidFill>
                  <a:srgbClr val="FF3399"/>
                </a:solidFill>
              </a:rPr>
              <a:t>ricevere</a:t>
            </a:r>
            <a:r>
              <a:rPr b="1" i="1" dirty="0">
                <a:solidFill>
                  <a:srgbClr val="FF3399"/>
                </a:solidFill>
              </a:rPr>
              <a:t> od </a:t>
            </a:r>
            <a:r>
              <a:rPr b="1" i="1" dirty="0" err="1">
                <a:solidFill>
                  <a:srgbClr val="FF3399"/>
                </a:solidFill>
              </a:rPr>
              <a:t>occultare</a:t>
            </a:r>
            <a:r>
              <a:rPr i="1" dirty="0"/>
              <a:t>, è </a:t>
            </a:r>
            <a:r>
              <a:rPr i="1" dirty="0" err="1"/>
              <a:t>punito</a:t>
            </a:r>
            <a:r>
              <a:rPr i="1" dirty="0"/>
              <a:t> con la </a:t>
            </a:r>
            <a:r>
              <a:rPr i="1" dirty="0" err="1"/>
              <a:t>reclusione</a:t>
            </a:r>
            <a:r>
              <a:rPr i="1" dirty="0"/>
              <a:t> da 2 ad 8 anni e con la </a:t>
            </a:r>
            <a:r>
              <a:rPr i="1" dirty="0" err="1"/>
              <a:t>multa</a:t>
            </a:r>
            <a:r>
              <a:rPr i="1" dirty="0"/>
              <a:t> da 516 euro a 10</a:t>
            </a:r>
            <a:r>
              <a:rPr lang="it-IT" i="1" dirty="0"/>
              <a:t>.</a:t>
            </a:r>
            <a:r>
              <a:rPr i="1" dirty="0"/>
              <a:t>329 euro. </a:t>
            </a:r>
            <a:endParaRPr lang="it-IT" i="1" dirty="0"/>
          </a:p>
          <a:p>
            <a:pPr lvl="0" algn="just">
              <a:lnSpc>
                <a:spcPct val="114000"/>
              </a:lnSpc>
              <a:spcBef>
                <a:spcPts val="1200"/>
              </a:spcBef>
              <a:defRPr sz="2200" b="0">
                <a:latin typeface="Times New Roman"/>
                <a:ea typeface="Times New Roman"/>
                <a:cs typeface="Times New Roman"/>
                <a:sym typeface="Times New Roman"/>
              </a:defRPr>
            </a:pPr>
            <a:r>
              <a:rPr lang="it-IT" sz="1800" b="0" i="1" dirty="0">
                <a:solidFill>
                  <a:srgbClr val="FF0000"/>
                </a:solidFill>
                <a:latin typeface="Times New Roman" panose="02020603050405020304" pitchFamily="18" charset="0"/>
                <a:cs typeface="Times New Roman" panose="02020603050405020304" pitchFamily="18" charset="0"/>
                <a:sym typeface="Times New Roman"/>
              </a:rPr>
              <a:t>(Non è assolutamente necessario che il delitto presupposto venga </a:t>
            </a:r>
            <a:r>
              <a:rPr lang="it-IT" sz="1800" b="0" i="1" u="sng" dirty="0">
                <a:solidFill>
                  <a:srgbClr val="FF0000"/>
                </a:solidFill>
                <a:latin typeface="Times New Roman" panose="02020603050405020304" pitchFamily="18" charset="0"/>
                <a:cs typeface="Times New Roman" panose="02020603050405020304" pitchFamily="18" charset="0"/>
                <a:sym typeface="Times New Roman"/>
                <a:hlinkClick r:id="rId2" tooltip="Dizionario Giuridico: Accertato giudizialmente">
                  <a:extLst>
                    <a:ext uri="{A12FA001-AC4F-418D-AE19-62706E023703}">
                      <ahyp:hlinkClr xmlns:ahyp="http://schemas.microsoft.com/office/drawing/2018/hyperlinkcolor" val="tx"/>
                    </a:ext>
                  </a:extLst>
                </a:hlinkClick>
              </a:rPr>
              <a:t>accertato giudizialmente</a:t>
            </a:r>
            <a:r>
              <a:rPr lang="it-IT" dirty="0">
                <a:solidFill>
                  <a:srgbClr val="FF0000"/>
                </a:solidFill>
                <a:latin typeface="Times New Roman"/>
                <a:ea typeface="Times New Roman"/>
                <a:cs typeface="Times New Roman"/>
                <a:sym typeface="Times New Roman"/>
              </a:rPr>
              <a:t>)</a:t>
            </a:r>
            <a:endParaRPr dirty="0">
              <a:solidFill>
                <a:srgbClr val="FF0000"/>
              </a:solidFill>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a:t>La </a:t>
            </a:r>
            <a:r>
              <a:rPr dirty="0" err="1"/>
              <a:t>pena</a:t>
            </a:r>
            <a:r>
              <a:rPr dirty="0"/>
              <a:t> è </a:t>
            </a:r>
            <a:r>
              <a:rPr b="1" u="sng" dirty="0" err="1"/>
              <a:t>aumentata</a:t>
            </a:r>
            <a:r>
              <a:rPr dirty="0"/>
              <a:t> </a:t>
            </a:r>
            <a:r>
              <a:rPr dirty="0" err="1"/>
              <a:t>quando</a:t>
            </a:r>
            <a:r>
              <a:rPr dirty="0"/>
              <a:t> </a:t>
            </a:r>
            <a:r>
              <a:rPr dirty="0" err="1"/>
              <a:t>il</a:t>
            </a:r>
            <a:r>
              <a:rPr dirty="0"/>
              <a:t> </a:t>
            </a:r>
            <a:r>
              <a:rPr dirty="0" err="1"/>
              <a:t>fatto</a:t>
            </a:r>
            <a:r>
              <a:rPr dirty="0"/>
              <a:t> </a:t>
            </a:r>
            <a:r>
              <a:rPr dirty="0" err="1"/>
              <a:t>riguarda</a:t>
            </a:r>
            <a:r>
              <a:rPr dirty="0"/>
              <a:t> </a:t>
            </a:r>
            <a:r>
              <a:rPr b="1" dirty="0" err="1"/>
              <a:t>denaro</a:t>
            </a:r>
            <a:r>
              <a:rPr dirty="0"/>
              <a:t> o </a:t>
            </a:r>
            <a:r>
              <a:rPr b="1" dirty="0" err="1"/>
              <a:t>cose</a:t>
            </a:r>
            <a:r>
              <a:rPr b="1" dirty="0"/>
              <a:t> </a:t>
            </a:r>
            <a:r>
              <a:rPr b="1" dirty="0" err="1"/>
              <a:t>provenienti</a:t>
            </a:r>
            <a:r>
              <a:rPr b="1" dirty="0"/>
              <a:t> da </a:t>
            </a:r>
            <a:r>
              <a:rPr b="1" dirty="0" err="1"/>
              <a:t>delitti</a:t>
            </a:r>
            <a:r>
              <a:rPr b="1" dirty="0"/>
              <a:t> di </a:t>
            </a:r>
            <a:r>
              <a:rPr b="1" dirty="0" err="1"/>
              <a:t>rapina</a:t>
            </a:r>
            <a:r>
              <a:rPr b="1" dirty="0"/>
              <a:t> </a:t>
            </a:r>
            <a:r>
              <a:rPr b="1" dirty="0" err="1"/>
              <a:t>aggravata</a:t>
            </a:r>
            <a:r>
              <a:rPr b="1" dirty="0"/>
              <a:t> </a:t>
            </a:r>
            <a:r>
              <a:rPr dirty="0"/>
              <a:t>ai </a:t>
            </a:r>
            <a:r>
              <a:rPr dirty="0" err="1"/>
              <a:t>sensi</a:t>
            </a:r>
            <a:r>
              <a:rPr dirty="0"/>
              <a:t> </a:t>
            </a:r>
            <a:r>
              <a:rPr dirty="0" err="1"/>
              <a:t>dell'articolo</a:t>
            </a:r>
            <a:r>
              <a:rPr dirty="0"/>
              <a:t> 628, </a:t>
            </a:r>
            <a:r>
              <a:rPr dirty="0" err="1"/>
              <a:t>terzo</a:t>
            </a:r>
            <a:r>
              <a:rPr dirty="0"/>
              <a:t> comma, </a:t>
            </a:r>
            <a:r>
              <a:rPr b="1" dirty="0"/>
              <a:t>di </a:t>
            </a:r>
            <a:r>
              <a:rPr b="1" dirty="0" err="1"/>
              <a:t>estorsione</a:t>
            </a:r>
            <a:r>
              <a:rPr b="1" dirty="0"/>
              <a:t> </a:t>
            </a:r>
            <a:r>
              <a:rPr b="1" dirty="0" err="1"/>
              <a:t>aggravata</a:t>
            </a:r>
            <a:r>
              <a:rPr b="1" dirty="0"/>
              <a:t> </a:t>
            </a:r>
            <a:r>
              <a:rPr dirty="0"/>
              <a:t>ai </a:t>
            </a:r>
            <a:r>
              <a:rPr dirty="0" err="1"/>
              <a:t>sensi</a:t>
            </a:r>
            <a:r>
              <a:rPr dirty="0"/>
              <a:t> </a:t>
            </a:r>
            <a:r>
              <a:rPr dirty="0" err="1"/>
              <a:t>dell'articolo</a:t>
            </a:r>
            <a:r>
              <a:rPr dirty="0"/>
              <a:t> 629, secondo comma, </a:t>
            </a:r>
            <a:r>
              <a:rPr dirty="0" err="1"/>
              <a:t>ovvero</a:t>
            </a:r>
            <a:r>
              <a:rPr dirty="0"/>
              <a:t> di </a:t>
            </a:r>
            <a:r>
              <a:rPr b="1" dirty="0" err="1"/>
              <a:t>furto</a:t>
            </a:r>
            <a:r>
              <a:rPr b="1" dirty="0"/>
              <a:t> </a:t>
            </a:r>
            <a:r>
              <a:rPr b="1" dirty="0" err="1"/>
              <a:t>aggravato</a:t>
            </a:r>
            <a:r>
              <a:rPr b="1" dirty="0"/>
              <a:t> </a:t>
            </a:r>
            <a:r>
              <a:rPr dirty="0"/>
              <a:t>ai </a:t>
            </a:r>
            <a:r>
              <a:rPr dirty="0" err="1"/>
              <a:t>sensi</a:t>
            </a:r>
            <a:r>
              <a:rPr dirty="0"/>
              <a:t> </a:t>
            </a:r>
            <a:r>
              <a:rPr dirty="0" err="1"/>
              <a:t>dell'articolo</a:t>
            </a:r>
            <a:r>
              <a:rPr dirty="0"/>
              <a:t> 625, primo comma, n. 7-bis).</a:t>
            </a:r>
            <a:endParaRPr dirty="0">
              <a:latin typeface="Times New Roman"/>
              <a:ea typeface="Times New Roman"/>
              <a:cs typeface="Times New Roman"/>
              <a:sym typeface="Times New Roman"/>
            </a:endParaRPr>
          </a:p>
          <a:p>
            <a:pPr algn="just">
              <a:lnSpc>
                <a:spcPct val="114000"/>
              </a:lnSpc>
              <a:spcBef>
                <a:spcPts val="600"/>
              </a:spcBef>
              <a:defRPr sz="2000" b="0" i="1">
                <a:latin typeface="Times New Roman"/>
                <a:ea typeface="Times New Roman"/>
                <a:cs typeface="Times New Roman"/>
                <a:sym typeface="Times New Roman"/>
              </a:defRPr>
            </a:pPr>
            <a:r>
              <a:rPr dirty="0"/>
              <a:t>La </a:t>
            </a:r>
            <a:r>
              <a:rPr dirty="0" err="1"/>
              <a:t>pena</a:t>
            </a:r>
            <a:r>
              <a:rPr dirty="0"/>
              <a:t> è </a:t>
            </a:r>
            <a:r>
              <a:rPr dirty="0" err="1"/>
              <a:t>della</a:t>
            </a:r>
            <a:r>
              <a:rPr dirty="0"/>
              <a:t> </a:t>
            </a:r>
            <a:r>
              <a:rPr dirty="0" err="1"/>
              <a:t>reclusione</a:t>
            </a:r>
            <a:r>
              <a:rPr dirty="0"/>
              <a:t> da </a:t>
            </a:r>
            <a:r>
              <a:rPr dirty="0" err="1"/>
              <a:t>uno</a:t>
            </a:r>
            <a:r>
              <a:rPr dirty="0"/>
              <a:t> a quattro </a:t>
            </a:r>
            <a:r>
              <a:rPr dirty="0" err="1"/>
              <a:t>anni</a:t>
            </a:r>
            <a:r>
              <a:rPr dirty="0"/>
              <a:t> e </a:t>
            </a:r>
            <a:r>
              <a:rPr dirty="0" err="1"/>
              <a:t>della</a:t>
            </a:r>
            <a:r>
              <a:rPr dirty="0"/>
              <a:t> </a:t>
            </a:r>
            <a:r>
              <a:rPr dirty="0" err="1"/>
              <a:t>multa</a:t>
            </a:r>
            <a:r>
              <a:rPr dirty="0"/>
              <a:t> da euro 300 a euro 6.000 </a:t>
            </a:r>
            <a:r>
              <a:rPr dirty="0" err="1"/>
              <a:t>quando</a:t>
            </a:r>
            <a:r>
              <a:rPr dirty="0"/>
              <a:t> </a:t>
            </a:r>
            <a:r>
              <a:rPr dirty="0" err="1"/>
              <a:t>il</a:t>
            </a:r>
            <a:r>
              <a:rPr dirty="0"/>
              <a:t> </a:t>
            </a:r>
            <a:r>
              <a:rPr dirty="0" err="1"/>
              <a:t>fatto</a:t>
            </a:r>
            <a:r>
              <a:rPr dirty="0"/>
              <a:t> </a:t>
            </a:r>
            <a:r>
              <a:rPr dirty="0" err="1"/>
              <a:t>riguarda</a:t>
            </a:r>
            <a:r>
              <a:rPr dirty="0"/>
              <a:t> </a:t>
            </a:r>
            <a:r>
              <a:rPr dirty="0" err="1"/>
              <a:t>denaro</a:t>
            </a:r>
            <a:r>
              <a:rPr dirty="0"/>
              <a:t> o </a:t>
            </a:r>
            <a:r>
              <a:rPr dirty="0" err="1"/>
              <a:t>cose</a:t>
            </a:r>
            <a:r>
              <a:rPr dirty="0"/>
              <a:t> </a:t>
            </a:r>
            <a:r>
              <a:rPr dirty="0" err="1"/>
              <a:t>provenienti</a:t>
            </a:r>
            <a:r>
              <a:rPr dirty="0"/>
              <a:t> da </a:t>
            </a:r>
            <a:r>
              <a:rPr dirty="0" err="1"/>
              <a:t>contravvenzione</a:t>
            </a:r>
            <a:r>
              <a:rPr dirty="0"/>
              <a:t> </a:t>
            </a:r>
            <a:r>
              <a:rPr dirty="0" err="1"/>
              <a:t>punita</a:t>
            </a:r>
            <a:r>
              <a:rPr dirty="0"/>
              <a:t> con </a:t>
            </a:r>
            <a:r>
              <a:rPr dirty="0" err="1"/>
              <a:t>l'arresto</a:t>
            </a:r>
            <a:r>
              <a:rPr dirty="0"/>
              <a:t> </a:t>
            </a:r>
            <a:r>
              <a:rPr dirty="0" err="1"/>
              <a:t>superiore</a:t>
            </a:r>
            <a:r>
              <a:rPr dirty="0"/>
              <a:t> </a:t>
            </a:r>
            <a:r>
              <a:rPr dirty="0" err="1"/>
              <a:t>nel</a:t>
            </a:r>
            <a:r>
              <a:rPr dirty="0"/>
              <a:t> </a:t>
            </a:r>
            <a:r>
              <a:rPr dirty="0" err="1"/>
              <a:t>massimo</a:t>
            </a:r>
            <a:r>
              <a:rPr dirty="0"/>
              <a:t> a un anno o </a:t>
            </a:r>
            <a:r>
              <a:rPr dirty="0" err="1"/>
              <a:t>nel</a:t>
            </a:r>
            <a:r>
              <a:rPr dirty="0"/>
              <a:t> </a:t>
            </a:r>
            <a:r>
              <a:rPr dirty="0" err="1"/>
              <a:t>minimo</a:t>
            </a:r>
            <a:r>
              <a:rPr dirty="0"/>
              <a:t> a sei </a:t>
            </a:r>
            <a:r>
              <a:rPr dirty="0" err="1"/>
              <a:t>mesi</a:t>
            </a:r>
            <a:r>
              <a:rPr dirty="0"/>
              <a:t>.</a:t>
            </a:r>
          </a:p>
        </p:txBody>
      </p:sp>
      <p:pic>
        <p:nvPicPr>
          <p:cNvPr id="459" name="Immagine 3" descr="Immagine 3"/>
          <p:cNvPicPr>
            <a:picLocks noChangeAspect="1"/>
          </p:cNvPicPr>
          <p:nvPr/>
        </p:nvPicPr>
        <p:blipFill>
          <a:blip r:embed="rId3"/>
          <a:stretch>
            <a:fillRect/>
          </a:stretch>
        </p:blipFill>
        <p:spPr>
          <a:xfrm>
            <a:off x="136850" y="67097"/>
            <a:ext cx="435671" cy="753167"/>
          </a:xfrm>
          <a:prstGeom prst="rect">
            <a:avLst/>
          </a:prstGeom>
          <a:ln w="12700">
            <a:miter lim="400000"/>
          </a:ln>
        </p:spPr>
      </p:pic>
      <p:sp>
        <p:nvSpPr>
          <p:cNvPr id="460"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rPr dirty="0" err="1"/>
              <a:t>Ricettazione</a:t>
            </a:r>
            <a:endParaRPr dirty="0"/>
          </a:p>
        </p:txBody>
      </p:sp>
    </p:spTree>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 name="Segnaposto contenuto 2"/>
          <p:cNvSpPr txBox="1">
            <a:spLocks noGrp="1"/>
          </p:cNvSpPr>
          <p:nvPr>
            <p:ph type="body" idx="1"/>
          </p:nvPr>
        </p:nvSpPr>
        <p:spPr>
          <a:xfrm>
            <a:off x="457200" y="980726"/>
            <a:ext cx="8229600" cy="5877276"/>
          </a:xfrm>
          <a:prstGeom prst="rect">
            <a:avLst/>
          </a:prstGeom>
        </p:spPr>
        <p:txBody>
          <a:bodyPr/>
          <a:lstStyle/>
          <a:p>
            <a:pPr>
              <a:lnSpc>
                <a:spcPct val="80000"/>
              </a:lnSpc>
              <a:spcBef>
                <a:spcPts val="100"/>
              </a:spcBef>
              <a:defRPr sz="2000" i="1">
                <a:latin typeface="Book Antiqua"/>
                <a:ea typeface="Book Antiqua"/>
                <a:cs typeface="Book Antiqua"/>
                <a:sym typeface="Book Antiqua"/>
              </a:defRPr>
            </a:pPr>
            <a:endParaRPr dirty="0"/>
          </a:p>
          <a:p>
            <a:pPr marL="0" indent="342900" algn="just">
              <a:lnSpc>
                <a:spcPct val="136000"/>
              </a:lnSpc>
              <a:buSzTx/>
              <a:buNone/>
              <a:defRPr sz="1800" i="1">
                <a:latin typeface="Times New Roman"/>
                <a:ea typeface="Times New Roman"/>
                <a:cs typeface="Times New Roman"/>
                <a:sym typeface="Times New Roman"/>
              </a:defRPr>
            </a:pPr>
            <a:r>
              <a:rPr dirty="0"/>
              <a:t>La </a:t>
            </a:r>
            <a:r>
              <a:rPr dirty="0" err="1"/>
              <a:t>pena</a:t>
            </a:r>
            <a:r>
              <a:rPr dirty="0"/>
              <a:t> è </a:t>
            </a:r>
            <a:r>
              <a:rPr dirty="0" err="1"/>
              <a:t>aumentata</a:t>
            </a:r>
            <a:r>
              <a:rPr dirty="0"/>
              <a:t> se il </a:t>
            </a:r>
            <a:r>
              <a:rPr dirty="0" err="1"/>
              <a:t>fatto</a:t>
            </a:r>
            <a:r>
              <a:rPr dirty="0"/>
              <a:t> è </a:t>
            </a:r>
            <a:r>
              <a:rPr dirty="0" err="1"/>
              <a:t>commesso</a:t>
            </a:r>
            <a:r>
              <a:rPr dirty="0"/>
              <a:t> </a:t>
            </a:r>
            <a:r>
              <a:rPr dirty="0" err="1"/>
              <a:t>nell'esercizio</a:t>
            </a:r>
            <a:r>
              <a:rPr dirty="0"/>
              <a:t> di </a:t>
            </a:r>
            <a:r>
              <a:rPr dirty="0" err="1"/>
              <a:t>un'attività</a:t>
            </a:r>
            <a:r>
              <a:rPr dirty="0"/>
              <a:t> </a:t>
            </a:r>
            <a:r>
              <a:rPr dirty="0" err="1"/>
              <a:t>professionale</a:t>
            </a:r>
            <a:r>
              <a:rPr dirty="0"/>
              <a:t>.</a:t>
            </a:r>
            <a:endParaRPr sz="800" dirty="0"/>
          </a:p>
          <a:p>
            <a:pPr marL="0" indent="342900" algn="just">
              <a:lnSpc>
                <a:spcPct val="136000"/>
              </a:lnSpc>
              <a:buSzTx/>
              <a:buNone/>
              <a:defRPr sz="1800" i="1">
                <a:latin typeface="Times New Roman"/>
                <a:ea typeface="Times New Roman"/>
                <a:cs typeface="Times New Roman"/>
                <a:sym typeface="Times New Roman"/>
              </a:defRPr>
            </a:pPr>
            <a:r>
              <a:rPr dirty="0"/>
              <a:t>Se </a:t>
            </a:r>
            <a:r>
              <a:rPr dirty="0" err="1"/>
              <a:t>il</a:t>
            </a:r>
            <a:r>
              <a:rPr dirty="0"/>
              <a:t> </a:t>
            </a:r>
            <a:r>
              <a:rPr dirty="0" err="1"/>
              <a:t>fatto</a:t>
            </a:r>
            <a:r>
              <a:rPr dirty="0"/>
              <a:t> è di </a:t>
            </a:r>
            <a:r>
              <a:rPr dirty="0" err="1"/>
              <a:t>particolare</a:t>
            </a:r>
            <a:r>
              <a:rPr dirty="0"/>
              <a:t> </a:t>
            </a:r>
            <a:r>
              <a:rPr dirty="0" err="1"/>
              <a:t>tenuità</a:t>
            </a:r>
            <a:r>
              <a:rPr dirty="0"/>
              <a:t>, </a:t>
            </a:r>
            <a:r>
              <a:rPr dirty="0" err="1"/>
              <a:t>si</a:t>
            </a:r>
            <a:r>
              <a:rPr dirty="0"/>
              <a:t> </a:t>
            </a:r>
            <a:r>
              <a:rPr dirty="0" err="1"/>
              <a:t>applica</a:t>
            </a:r>
            <a:r>
              <a:rPr dirty="0"/>
              <a:t> la </a:t>
            </a:r>
            <a:r>
              <a:rPr dirty="0" err="1"/>
              <a:t>pena</a:t>
            </a:r>
            <a:r>
              <a:rPr dirty="0"/>
              <a:t> </a:t>
            </a:r>
            <a:r>
              <a:rPr dirty="0" err="1"/>
              <a:t>della</a:t>
            </a:r>
            <a:r>
              <a:rPr dirty="0"/>
              <a:t> </a:t>
            </a:r>
            <a:r>
              <a:rPr dirty="0" err="1"/>
              <a:t>reclusione</a:t>
            </a:r>
            <a:r>
              <a:rPr dirty="0"/>
              <a:t> </a:t>
            </a:r>
            <a:r>
              <a:rPr dirty="0" err="1"/>
              <a:t>sino</a:t>
            </a:r>
            <a:r>
              <a:rPr dirty="0"/>
              <a:t> a sei </a:t>
            </a:r>
            <a:r>
              <a:rPr dirty="0" err="1"/>
              <a:t>anni</a:t>
            </a:r>
            <a:r>
              <a:rPr dirty="0"/>
              <a:t> e </a:t>
            </a:r>
            <a:r>
              <a:rPr dirty="0" err="1"/>
              <a:t>della</a:t>
            </a:r>
            <a:r>
              <a:rPr dirty="0"/>
              <a:t> </a:t>
            </a:r>
            <a:r>
              <a:rPr dirty="0" err="1"/>
              <a:t>multa</a:t>
            </a:r>
            <a:r>
              <a:rPr dirty="0"/>
              <a:t> </a:t>
            </a:r>
            <a:r>
              <a:rPr dirty="0" err="1"/>
              <a:t>sino</a:t>
            </a:r>
            <a:r>
              <a:rPr dirty="0"/>
              <a:t> a euro 1.000 </a:t>
            </a:r>
            <a:r>
              <a:rPr dirty="0" err="1"/>
              <a:t>nel</a:t>
            </a:r>
            <a:r>
              <a:rPr dirty="0"/>
              <a:t> </a:t>
            </a:r>
            <a:r>
              <a:rPr dirty="0" err="1"/>
              <a:t>caso</a:t>
            </a:r>
            <a:r>
              <a:rPr dirty="0"/>
              <a:t> di </a:t>
            </a:r>
            <a:r>
              <a:rPr dirty="0" err="1"/>
              <a:t>denaro</a:t>
            </a:r>
            <a:r>
              <a:rPr dirty="0"/>
              <a:t> o </a:t>
            </a:r>
            <a:r>
              <a:rPr dirty="0" err="1"/>
              <a:t>cose</a:t>
            </a:r>
            <a:r>
              <a:rPr dirty="0"/>
              <a:t> </a:t>
            </a:r>
            <a:r>
              <a:rPr dirty="0" err="1"/>
              <a:t>provenienti</a:t>
            </a:r>
            <a:r>
              <a:rPr dirty="0"/>
              <a:t> da </a:t>
            </a:r>
            <a:r>
              <a:rPr dirty="0" err="1"/>
              <a:t>delitto</a:t>
            </a:r>
            <a:r>
              <a:rPr dirty="0"/>
              <a:t> e la </a:t>
            </a:r>
            <a:r>
              <a:rPr dirty="0" err="1"/>
              <a:t>pena</a:t>
            </a:r>
            <a:r>
              <a:rPr dirty="0"/>
              <a:t> </a:t>
            </a:r>
            <a:r>
              <a:rPr dirty="0" err="1"/>
              <a:t>della</a:t>
            </a:r>
            <a:r>
              <a:rPr dirty="0"/>
              <a:t> </a:t>
            </a:r>
            <a:r>
              <a:rPr dirty="0" err="1"/>
              <a:t>reclusione</a:t>
            </a:r>
            <a:r>
              <a:rPr dirty="0"/>
              <a:t> </a:t>
            </a:r>
            <a:r>
              <a:rPr dirty="0" err="1"/>
              <a:t>sino</a:t>
            </a:r>
            <a:r>
              <a:rPr dirty="0"/>
              <a:t> a </a:t>
            </a:r>
            <a:r>
              <a:rPr dirty="0" err="1"/>
              <a:t>tre</a:t>
            </a:r>
            <a:r>
              <a:rPr dirty="0"/>
              <a:t> </a:t>
            </a:r>
            <a:r>
              <a:rPr dirty="0" err="1"/>
              <a:t>anni</a:t>
            </a:r>
            <a:r>
              <a:rPr dirty="0"/>
              <a:t> e </a:t>
            </a:r>
            <a:r>
              <a:rPr dirty="0" err="1"/>
              <a:t>della</a:t>
            </a:r>
            <a:r>
              <a:rPr dirty="0"/>
              <a:t> </a:t>
            </a:r>
            <a:r>
              <a:rPr dirty="0" err="1"/>
              <a:t>multa</a:t>
            </a:r>
            <a:r>
              <a:rPr dirty="0"/>
              <a:t> </a:t>
            </a:r>
            <a:r>
              <a:rPr dirty="0" err="1"/>
              <a:t>sino</a:t>
            </a:r>
            <a:r>
              <a:rPr dirty="0"/>
              <a:t> a euro 800 </a:t>
            </a:r>
            <a:r>
              <a:rPr dirty="0" err="1"/>
              <a:t>nel</a:t>
            </a:r>
            <a:r>
              <a:rPr dirty="0"/>
              <a:t> </a:t>
            </a:r>
            <a:r>
              <a:rPr dirty="0" err="1"/>
              <a:t>caso</a:t>
            </a:r>
            <a:r>
              <a:rPr dirty="0"/>
              <a:t> di </a:t>
            </a:r>
            <a:r>
              <a:rPr dirty="0" err="1"/>
              <a:t>denaro</a:t>
            </a:r>
            <a:r>
              <a:rPr dirty="0"/>
              <a:t> o </a:t>
            </a:r>
            <a:r>
              <a:rPr dirty="0" err="1"/>
              <a:t>cose</a:t>
            </a:r>
            <a:r>
              <a:rPr dirty="0"/>
              <a:t> </a:t>
            </a:r>
            <a:r>
              <a:rPr dirty="0" err="1"/>
              <a:t>provenienti</a:t>
            </a:r>
            <a:r>
              <a:rPr dirty="0"/>
              <a:t> da </a:t>
            </a:r>
            <a:r>
              <a:rPr dirty="0" err="1"/>
              <a:t>contravvenzione</a:t>
            </a:r>
            <a:r>
              <a:rPr dirty="0"/>
              <a:t>.</a:t>
            </a:r>
            <a:endParaRPr sz="800" dirty="0"/>
          </a:p>
          <a:p>
            <a:pPr marL="0" indent="0" algn="just">
              <a:lnSpc>
                <a:spcPct val="136000"/>
              </a:lnSpc>
              <a:spcBef>
                <a:spcPts val="400"/>
              </a:spcBef>
              <a:buSzTx/>
              <a:buNone/>
              <a:defRPr sz="2000" i="1">
                <a:latin typeface="Times New Roman"/>
                <a:ea typeface="Times New Roman"/>
                <a:cs typeface="Times New Roman"/>
                <a:sym typeface="Times New Roman"/>
              </a:defRPr>
            </a:pPr>
            <a:r>
              <a:rPr dirty="0"/>
              <a:t>Le </a:t>
            </a:r>
            <a:r>
              <a:rPr dirty="0" err="1"/>
              <a:t>disposizioni</a:t>
            </a:r>
            <a:r>
              <a:rPr dirty="0"/>
              <a:t> di </a:t>
            </a:r>
            <a:r>
              <a:rPr dirty="0" err="1"/>
              <a:t>questo</a:t>
            </a:r>
            <a:r>
              <a:rPr dirty="0"/>
              <a:t> </a:t>
            </a:r>
            <a:r>
              <a:rPr dirty="0" err="1"/>
              <a:t>articolo</a:t>
            </a:r>
            <a:r>
              <a:rPr dirty="0"/>
              <a:t> </a:t>
            </a:r>
            <a:r>
              <a:rPr dirty="0" err="1"/>
              <a:t>si</a:t>
            </a:r>
            <a:r>
              <a:rPr dirty="0"/>
              <a:t> </a:t>
            </a:r>
            <a:r>
              <a:rPr dirty="0" err="1"/>
              <a:t>applicano</a:t>
            </a:r>
            <a:r>
              <a:rPr dirty="0"/>
              <a:t> </a:t>
            </a:r>
            <a:r>
              <a:rPr dirty="0" err="1"/>
              <a:t>anche</a:t>
            </a:r>
            <a:r>
              <a:rPr dirty="0"/>
              <a:t> </a:t>
            </a:r>
            <a:r>
              <a:rPr dirty="0" err="1"/>
              <a:t>quando</a:t>
            </a:r>
            <a:r>
              <a:rPr dirty="0"/>
              <a:t> </a:t>
            </a:r>
            <a:r>
              <a:rPr dirty="0" err="1"/>
              <a:t>l'autore</a:t>
            </a:r>
            <a:r>
              <a:rPr dirty="0"/>
              <a:t> del </a:t>
            </a:r>
            <a:r>
              <a:rPr dirty="0" err="1"/>
              <a:t>delitto</a:t>
            </a:r>
            <a:r>
              <a:rPr dirty="0"/>
              <a:t>, da cui </a:t>
            </a:r>
            <a:r>
              <a:rPr dirty="0" err="1"/>
              <a:t>il</a:t>
            </a:r>
            <a:r>
              <a:rPr dirty="0"/>
              <a:t> </a:t>
            </a:r>
            <a:r>
              <a:rPr dirty="0" err="1"/>
              <a:t>denaro</a:t>
            </a:r>
            <a:r>
              <a:rPr dirty="0"/>
              <a:t> o le </a:t>
            </a:r>
            <a:r>
              <a:rPr dirty="0" err="1"/>
              <a:t>cose</a:t>
            </a:r>
            <a:r>
              <a:rPr dirty="0"/>
              <a:t> </a:t>
            </a:r>
            <a:r>
              <a:rPr dirty="0" err="1"/>
              <a:t>provengono</a:t>
            </a:r>
            <a:r>
              <a:rPr dirty="0"/>
              <a:t>, </a:t>
            </a:r>
            <a:r>
              <a:rPr b="1" u="sng" dirty="0"/>
              <a:t>non è </a:t>
            </a:r>
            <a:r>
              <a:rPr b="1" u="sng" dirty="0" err="1"/>
              <a:t>imputabile</a:t>
            </a:r>
            <a:r>
              <a:rPr b="1" u="sng" dirty="0"/>
              <a:t> </a:t>
            </a:r>
            <a:r>
              <a:rPr dirty="0"/>
              <a:t>o </a:t>
            </a:r>
            <a:r>
              <a:rPr b="1" u="sng" dirty="0"/>
              <a:t>non è </a:t>
            </a:r>
            <a:r>
              <a:rPr b="1" u="sng" dirty="0" err="1"/>
              <a:t>punibile</a:t>
            </a:r>
            <a:r>
              <a:rPr b="1" u="sng" dirty="0"/>
              <a:t> </a:t>
            </a:r>
            <a:r>
              <a:rPr dirty="0" err="1"/>
              <a:t>ovvero</a:t>
            </a:r>
            <a:r>
              <a:rPr dirty="0"/>
              <a:t> </a:t>
            </a:r>
            <a:r>
              <a:rPr dirty="0" err="1"/>
              <a:t>quando</a:t>
            </a:r>
            <a:r>
              <a:rPr dirty="0"/>
              <a:t> </a:t>
            </a:r>
            <a:r>
              <a:rPr b="1" u="sng" dirty="0" err="1"/>
              <a:t>manchi</a:t>
            </a:r>
            <a:r>
              <a:rPr b="1" u="sng" dirty="0"/>
              <a:t> una </a:t>
            </a:r>
            <a:r>
              <a:rPr b="1" u="sng" dirty="0" err="1"/>
              <a:t>condizione</a:t>
            </a:r>
            <a:r>
              <a:rPr b="1" u="sng" dirty="0"/>
              <a:t> di </a:t>
            </a:r>
            <a:r>
              <a:rPr b="1" u="sng" dirty="0" err="1"/>
              <a:t>procedibilità</a:t>
            </a:r>
            <a:r>
              <a:rPr b="1" u="sng" dirty="0"/>
              <a:t> </a:t>
            </a:r>
            <a:r>
              <a:rPr dirty="0" err="1"/>
              <a:t>riferita</a:t>
            </a:r>
            <a:r>
              <a:rPr dirty="0"/>
              <a:t> a tale </a:t>
            </a:r>
            <a:r>
              <a:rPr lang="it-IT" dirty="0"/>
              <a:t>reato</a:t>
            </a:r>
            <a:r>
              <a:rPr dirty="0"/>
              <a:t>».</a:t>
            </a:r>
          </a:p>
        </p:txBody>
      </p:sp>
      <p:sp>
        <p:nvSpPr>
          <p:cNvPr id="463" name="Segnaposto numero diapositiva 3"/>
          <p:cNvSpPr txBox="1">
            <a:spLocks noGrp="1"/>
          </p:cNvSpPr>
          <p:nvPr>
            <p:ph type="sldNum" sz="quarter" idx="4294967295"/>
          </p:nvPr>
        </p:nvSpPr>
        <p:spPr>
          <a:xfrm>
            <a:off x="8430259" y="6401179"/>
            <a:ext cx="256539" cy="275465"/>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62</a:t>
            </a:fld>
            <a:endParaRPr/>
          </a:p>
        </p:txBody>
      </p:sp>
      <p:sp>
        <p:nvSpPr>
          <p:cNvPr id="2" name="Text Box 5">
            <a:extLst>
              <a:ext uri="{FF2B5EF4-FFF2-40B4-BE49-F238E27FC236}">
                <a16:creationId xmlns:a16="http://schemas.microsoft.com/office/drawing/2014/main" id="{21AAC4A5-3098-E11B-7177-586102E23C51}"/>
              </a:ext>
            </a:extLst>
          </p:cNvPr>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rPr dirty="0" err="1"/>
              <a:t>Ricettazione</a:t>
            </a:r>
            <a:endParaRPr dirty="0"/>
          </a:p>
        </p:txBody>
      </p:sp>
      <p:pic>
        <p:nvPicPr>
          <p:cNvPr id="3" name="Immagine 3" descr="Immagine 3">
            <a:extLst>
              <a:ext uri="{FF2B5EF4-FFF2-40B4-BE49-F238E27FC236}">
                <a16:creationId xmlns:a16="http://schemas.microsoft.com/office/drawing/2014/main" id="{135B1743-325B-0707-5D9C-C73500AB6684}"/>
              </a:ext>
            </a:extLst>
          </p:cNvPr>
          <p:cNvPicPr>
            <a:picLocks noChangeAspect="1"/>
          </p:cNvPicPr>
          <p:nvPr/>
        </p:nvPicPr>
        <p:blipFill>
          <a:blip r:embed="rId2"/>
          <a:stretch>
            <a:fillRect/>
          </a:stretch>
        </p:blipFill>
        <p:spPr>
          <a:xfrm>
            <a:off x="136850" y="67097"/>
            <a:ext cx="435671" cy="753167"/>
          </a:xfrm>
          <a:prstGeom prst="rect">
            <a:avLst/>
          </a:prstGeom>
          <a:ln w="12700">
            <a:miter lim="400000"/>
          </a:ln>
        </p:spPr>
      </p:pic>
    </p:spTree>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5" name="Rettangolo 4"/>
          <p:cNvSpPr txBox="1"/>
          <p:nvPr/>
        </p:nvSpPr>
        <p:spPr>
          <a:xfrm>
            <a:off x="167897" y="933180"/>
            <a:ext cx="8808206" cy="53088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rPr dirty="0"/>
              <a:t>Questa </a:t>
            </a:r>
            <a:r>
              <a:rPr dirty="0" err="1"/>
              <a:t>norma</a:t>
            </a:r>
            <a:r>
              <a:rPr dirty="0"/>
              <a:t> </a:t>
            </a:r>
            <a:r>
              <a:rPr dirty="0" err="1"/>
              <a:t>va</a:t>
            </a:r>
            <a:r>
              <a:rPr dirty="0"/>
              <a:t> a </a:t>
            </a:r>
            <a:r>
              <a:rPr b="1" dirty="0" err="1">
                <a:solidFill>
                  <a:srgbClr val="FF3399"/>
                </a:solidFill>
              </a:rPr>
              <a:t>tutelare</a:t>
            </a:r>
            <a:r>
              <a:rPr b="1" dirty="0">
                <a:solidFill>
                  <a:srgbClr val="FF3399"/>
                </a:solidFill>
              </a:rPr>
              <a:t> </a:t>
            </a:r>
            <a:r>
              <a:rPr b="1" dirty="0" err="1">
                <a:solidFill>
                  <a:srgbClr val="FF3399"/>
                </a:solidFill>
              </a:rPr>
              <a:t>il</a:t>
            </a:r>
            <a:r>
              <a:rPr b="1" dirty="0">
                <a:solidFill>
                  <a:srgbClr val="FF3399"/>
                </a:solidFill>
              </a:rPr>
              <a:t> </a:t>
            </a:r>
            <a:r>
              <a:rPr b="1" dirty="0" err="1">
                <a:solidFill>
                  <a:srgbClr val="FF3399"/>
                </a:solidFill>
              </a:rPr>
              <a:t>patrimonio</a:t>
            </a:r>
            <a:r>
              <a:rPr b="1" dirty="0">
                <a:solidFill>
                  <a:srgbClr val="FF3399"/>
                </a:solidFill>
              </a:rPr>
              <a:t> </a:t>
            </a:r>
            <a:r>
              <a:rPr b="1" dirty="0" err="1">
                <a:solidFill>
                  <a:srgbClr val="FF3399"/>
                </a:solidFill>
              </a:rPr>
              <a:t>privato</a:t>
            </a:r>
            <a:r>
              <a:rPr b="1" dirty="0">
                <a:solidFill>
                  <a:srgbClr val="FF3399"/>
                </a:solidFill>
              </a:rPr>
              <a:t> </a:t>
            </a:r>
            <a:r>
              <a:rPr dirty="0" err="1"/>
              <a:t>c</a:t>
            </a:r>
            <a:r>
              <a:rPr b="1" u="sng" dirty="0" err="1"/>
              <a:t>ontro</a:t>
            </a:r>
            <a:r>
              <a:rPr b="1" u="sng" dirty="0"/>
              <a:t> </a:t>
            </a:r>
            <a:r>
              <a:rPr b="1" u="sng" dirty="0" err="1"/>
              <a:t>l’intervento</a:t>
            </a:r>
            <a:r>
              <a:rPr b="1" u="sng" dirty="0"/>
              <a:t> di </a:t>
            </a:r>
            <a:r>
              <a:rPr b="1" u="sng" dirty="0" err="1"/>
              <a:t>attività</a:t>
            </a:r>
            <a:r>
              <a:rPr b="1" u="sng" dirty="0"/>
              <a:t> </a:t>
            </a:r>
            <a:r>
              <a:rPr b="1" u="sng" dirty="0" err="1"/>
              <a:t>estranee</a:t>
            </a:r>
            <a:r>
              <a:rPr b="1" u="sng" dirty="0"/>
              <a:t> al </a:t>
            </a:r>
            <a:r>
              <a:rPr b="1" u="sng" dirty="0" err="1"/>
              <a:t>delitto</a:t>
            </a:r>
            <a:r>
              <a:rPr b="1" u="sng" dirty="0"/>
              <a:t> </a:t>
            </a:r>
            <a:r>
              <a:rPr b="1" u="sng" dirty="0" err="1"/>
              <a:t>anteriore</a:t>
            </a:r>
            <a:r>
              <a:rPr dirty="0"/>
              <a:t>, </a:t>
            </a:r>
            <a:r>
              <a:rPr dirty="0" err="1"/>
              <a:t>capaci</a:t>
            </a:r>
            <a:r>
              <a:rPr dirty="0"/>
              <a:t> di </a:t>
            </a:r>
            <a:r>
              <a:rPr dirty="0" err="1"/>
              <a:t>portare</a:t>
            </a:r>
            <a:r>
              <a:rPr dirty="0"/>
              <a:t> </a:t>
            </a:r>
            <a:r>
              <a:rPr dirty="0" err="1"/>
              <a:t>alle</a:t>
            </a:r>
            <a:r>
              <a:rPr dirty="0"/>
              <a:t> </a:t>
            </a:r>
            <a:r>
              <a:rPr dirty="0" err="1"/>
              <a:t>estreme</a:t>
            </a:r>
            <a:r>
              <a:rPr dirty="0"/>
              <a:t> </a:t>
            </a:r>
            <a:r>
              <a:rPr dirty="0" err="1"/>
              <a:t>conseguenze</a:t>
            </a:r>
            <a:r>
              <a:rPr dirty="0"/>
              <a:t> </a:t>
            </a:r>
            <a:r>
              <a:rPr dirty="0" err="1"/>
              <a:t>il</a:t>
            </a:r>
            <a:r>
              <a:rPr dirty="0"/>
              <a:t> </a:t>
            </a:r>
            <a:r>
              <a:rPr dirty="0" err="1"/>
              <a:t>pregiudizio</a:t>
            </a:r>
            <a:r>
              <a:rPr dirty="0"/>
              <a:t> </a:t>
            </a:r>
            <a:r>
              <a:rPr dirty="0" err="1"/>
              <a:t>già</a:t>
            </a:r>
            <a:r>
              <a:rPr dirty="0"/>
              <a:t> </a:t>
            </a:r>
            <a:r>
              <a:rPr dirty="0" err="1"/>
              <a:t>provocato</a:t>
            </a:r>
            <a:r>
              <a:rPr dirty="0"/>
              <a:t> e </a:t>
            </a:r>
            <a:r>
              <a:rPr dirty="0" err="1"/>
              <a:t>rendere</a:t>
            </a:r>
            <a:r>
              <a:rPr dirty="0"/>
              <a:t> </a:t>
            </a:r>
            <a:r>
              <a:rPr dirty="0" err="1"/>
              <a:t>più</a:t>
            </a:r>
            <a:r>
              <a:rPr dirty="0"/>
              <a:t> </a:t>
            </a:r>
            <a:r>
              <a:rPr dirty="0" err="1"/>
              <a:t>difficoltoso</a:t>
            </a:r>
            <a:r>
              <a:rPr dirty="0"/>
              <a:t> </a:t>
            </a:r>
            <a:r>
              <a:rPr dirty="0" err="1"/>
              <a:t>il</a:t>
            </a:r>
            <a:r>
              <a:rPr dirty="0"/>
              <a:t> </a:t>
            </a:r>
            <a:r>
              <a:rPr dirty="0" err="1"/>
              <a:t>recupero</a:t>
            </a:r>
            <a:r>
              <a:rPr dirty="0"/>
              <a:t> del </a:t>
            </a:r>
            <a:r>
              <a:rPr dirty="0" err="1"/>
              <a:t>prodotto</a:t>
            </a:r>
            <a:r>
              <a:rPr dirty="0"/>
              <a:t> </a:t>
            </a:r>
            <a:r>
              <a:rPr dirty="0" err="1"/>
              <a:t>stesso</a:t>
            </a:r>
            <a:r>
              <a:rPr dirty="0"/>
              <a:t> (Cass. II, 23/04/1985; Cass. II, 11/06/1997). </a:t>
            </a:r>
            <a:endParaRPr lang="it-IT" dirty="0"/>
          </a:p>
          <a:p>
            <a:pPr algn="just">
              <a:lnSpc>
                <a:spcPct val="114000"/>
              </a:lnSpc>
              <a:spcBef>
                <a:spcPts val="1200"/>
              </a:spcBef>
              <a:defRPr sz="2200" b="0">
                <a:latin typeface="Times New Roman"/>
                <a:ea typeface="Times New Roman"/>
                <a:cs typeface="Times New Roman"/>
                <a:sym typeface="Times New Roman"/>
              </a:defRPr>
            </a:pPr>
            <a:endParaRPr dirty="0"/>
          </a:p>
          <a:p>
            <a:pPr algn="just">
              <a:lnSpc>
                <a:spcPct val="114000"/>
              </a:lnSpc>
              <a:spcBef>
                <a:spcPts val="1200"/>
              </a:spcBef>
              <a:defRPr sz="2200" b="0">
                <a:latin typeface="Times New Roman"/>
                <a:ea typeface="Times New Roman"/>
                <a:cs typeface="Times New Roman"/>
                <a:sym typeface="Times New Roman"/>
              </a:defRPr>
            </a:pPr>
            <a:r>
              <a:rPr dirty="0"/>
              <a:t>Il </a:t>
            </a:r>
            <a:r>
              <a:rPr dirty="0" err="1"/>
              <a:t>reato</a:t>
            </a:r>
            <a:r>
              <a:rPr dirty="0"/>
              <a:t> di </a:t>
            </a:r>
            <a:r>
              <a:rPr dirty="0" err="1"/>
              <a:t>ricettazione</a:t>
            </a:r>
            <a:r>
              <a:rPr dirty="0"/>
              <a:t> è un </a:t>
            </a:r>
            <a:r>
              <a:rPr b="1" dirty="0"/>
              <a:t>REATO COMUNE</a:t>
            </a:r>
            <a:r>
              <a:rPr dirty="0"/>
              <a:t>.</a:t>
            </a:r>
            <a:endParaRPr lang="it-IT" dirty="0"/>
          </a:p>
          <a:p>
            <a:pPr algn="just">
              <a:lnSpc>
                <a:spcPct val="114000"/>
              </a:lnSpc>
              <a:spcBef>
                <a:spcPts val="1200"/>
              </a:spcBef>
              <a:defRPr sz="2200" b="0">
                <a:latin typeface="Times New Roman"/>
                <a:ea typeface="Times New Roman"/>
                <a:cs typeface="Times New Roman"/>
                <a:sym typeface="Times New Roman"/>
              </a:defRPr>
            </a:pPr>
            <a:endParaRPr dirty="0"/>
          </a:p>
          <a:p>
            <a:pPr algn="just">
              <a:lnSpc>
                <a:spcPct val="114000"/>
              </a:lnSpc>
              <a:spcBef>
                <a:spcPts val="1200"/>
              </a:spcBef>
              <a:defRPr sz="2200" b="0">
                <a:latin typeface="Times New Roman"/>
                <a:ea typeface="Times New Roman"/>
                <a:cs typeface="Times New Roman"/>
                <a:sym typeface="Times New Roman"/>
              </a:defRPr>
            </a:pPr>
            <a:r>
              <a:rPr dirty="0" err="1"/>
              <a:t>Questo</a:t>
            </a:r>
            <a:r>
              <a:rPr dirty="0"/>
              <a:t> </a:t>
            </a:r>
            <a:r>
              <a:rPr dirty="0" err="1"/>
              <a:t>reato</a:t>
            </a:r>
            <a:r>
              <a:rPr dirty="0"/>
              <a:t> ha </a:t>
            </a:r>
            <a:r>
              <a:rPr lang="it-IT" b="1" u="sng" dirty="0"/>
              <a:t>NATURA ISTANTANEA </a:t>
            </a:r>
            <a:r>
              <a:rPr dirty="0"/>
              <a:t>e </a:t>
            </a:r>
            <a:r>
              <a:rPr dirty="0" err="1">
                <a:solidFill>
                  <a:srgbClr val="FF0000"/>
                </a:solidFill>
              </a:rPr>
              <a:t>si</a:t>
            </a:r>
            <a:r>
              <a:rPr dirty="0">
                <a:solidFill>
                  <a:srgbClr val="FF0000"/>
                </a:solidFill>
              </a:rPr>
              <a:t> </a:t>
            </a:r>
            <a:r>
              <a:rPr dirty="0" err="1">
                <a:solidFill>
                  <a:srgbClr val="FF0000"/>
                </a:solidFill>
              </a:rPr>
              <a:t>consuma</a:t>
            </a:r>
            <a:r>
              <a:rPr dirty="0">
                <a:solidFill>
                  <a:srgbClr val="FF0000"/>
                </a:solidFill>
              </a:rPr>
              <a:t> </a:t>
            </a:r>
            <a:r>
              <a:rPr dirty="0" err="1">
                <a:solidFill>
                  <a:srgbClr val="FF0000"/>
                </a:solidFill>
              </a:rPr>
              <a:t>nel</a:t>
            </a:r>
            <a:r>
              <a:rPr dirty="0">
                <a:solidFill>
                  <a:srgbClr val="FF0000"/>
                </a:solidFill>
              </a:rPr>
              <a:t> </a:t>
            </a:r>
            <a:r>
              <a:rPr dirty="0" err="1">
                <a:solidFill>
                  <a:srgbClr val="FF0000"/>
                </a:solidFill>
              </a:rPr>
              <a:t>momento</a:t>
            </a:r>
            <a:r>
              <a:rPr dirty="0">
                <a:solidFill>
                  <a:srgbClr val="FF0000"/>
                </a:solidFill>
              </a:rPr>
              <a:t> in cui </a:t>
            </a:r>
            <a:r>
              <a:rPr dirty="0" err="1">
                <a:solidFill>
                  <a:srgbClr val="FF0000"/>
                </a:solidFill>
              </a:rPr>
              <a:t>l’agente</a:t>
            </a:r>
            <a:r>
              <a:rPr dirty="0">
                <a:solidFill>
                  <a:srgbClr val="FF0000"/>
                </a:solidFill>
              </a:rPr>
              <a:t> </a:t>
            </a:r>
            <a:r>
              <a:rPr b="1" dirty="0" err="1">
                <a:solidFill>
                  <a:srgbClr val="FF0000"/>
                </a:solidFill>
              </a:rPr>
              <a:t>ottiene</a:t>
            </a:r>
            <a:r>
              <a:rPr b="1" dirty="0">
                <a:solidFill>
                  <a:srgbClr val="FF0000"/>
                </a:solidFill>
              </a:rPr>
              <a:t> </a:t>
            </a:r>
            <a:r>
              <a:rPr b="1" dirty="0" err="1">
                <a:solidFill>
                  <a:srgbClr val="FF0000"/>
                </a:solidFill>
              </a:rPr>
              <a:t>il</a:t>
            </a:r>
            <a:r>
              <a:rPr b="1" dirty="0">
                <a:solidFill>
                  <a:srgbClr val="FF0000"/>
                </a:solidFill>
              </a:rPr>
              <a:t> </a:t>
            </a:r>
            <a:r>
              <a:rPr b="1" dirty="0" err="1">
                <a:solidFill>
                  <a:srgbClr val="FF0000"/>
                </a:solidFill>
              </a:rPr>
              <a:t>possesso</a:t>
            </a:r>
            <a:r>
              <a:rPr b="1" dirty="0">
                <a:solidFill>
                  <a:srgbClr val="FF0000"/>
                </a:solidFill>
              </a:rPr>
              <a:t> </a:t>
            </a:r>
            <a:r>
              <a:rPr b="1" dirty="0" err="1">
                <a:solidFill>
                  <a:srgbClr val="FF0000"/>
                </a:solidFill>
              </a:rPr>
              <a:t>della</a:t>
            </a:r>
            <a:r>
              <a:rPr b="1" dirty="0">
                <a:solidFill>
                  <a:srgbClr val="FF0000"/>
                </a:solidFill>
              </a:rPr>
              <a:t> </a:t>
            </a:r>
            <a:r>
              <a:rPr b="1" dirty="0" err="1">
                <a:solidFill>
                  <a:srgbClr val="FF0000"/>
                </a:solidFill>
              </a:rPr>
              <a:t>cosa</a:t>
            </a:r>
            <a:r>
              <a:rPr dirty="0">
                <a:solidFill>
                  <a:srgbClr val="FF0000"/>
                </a:solidFill>
              </a:rPr>
              <a:t>,</a:t>
            </a:r>
            <a:r>
              <a:rPr dirty="0"/>
              <a:t> </a:t>
            </a:r>
            <a:r>
              <a:rPr b="1" dirty="0" err="1">
                <a:solidFill>
                  <a:schemeClr val="tx1"/>
                </a:solidFill>
              </a:rPr>
              <a:t>oggetto</a:t>
            </a:r>
            <a:r>
              <a:rPr b="1" dirty="0">
                <a:solidFill>
                  <a:schemeClr val="tx1"/>
                </a:solidFill>
              </a:rPr>
              <a:t> </a:t>
            </a:r>
            <a:r>
              <a:rPr b="1" dirty="0" err="1">
                <a:solidFill>
                  <a:schemeClr val="tx1"/>
                </a:solidFill>
              </a:rPr>
              <a:t>della</a:t>
            </a:r>
            <a:r>
              <a:rPr b="1" dirty="0">
                <a:solidFill>
                  <a:schemeClr val="tx1"/>
                </a:solidFill>
              </a:rPr>
              <a:t> </a:t>
            </a:r>
            <a:r>
              <a:rPr b="1" dirty="0" err="1">
                <a:solidFill>
                  <a:schemeClr val="tx1"/>
                </a:solidFill>
              </a:rPr>
              <a:t>condotta</a:t>
            </a:r>
            <a:r>
              <a:rPr b="1" dirty="0">
                <a:solidFill>
                  <a:schemeClr val="tx1"/>
                </a:solidFill>
              </a:rPr>
              <a:t>, </a:t>
            </a:r>
            <a:r>
              <a:rPr b="1" dirty="0">
                <a:solidFill>
                  <a:srgbClr val="FF3399"/>
                </a:solidFill>
              </a:rPr>
              <a:t>la quale </a:t>
            </a:r>
            <a:r>
              <a:rPr b="1" dirty="0" err="1">
                <a:solidFill>
                  <a:srgbClr val="FF3399"/>
                </a:solidFill>
              </a:rPr>
              <a:t>deve</a:t>
            </a:r>
            <a:r>
              <a:rPr b="1" dirty="0">
                <a:solidFill>
                  <a:srgbClr val="FF3399"/>
                </a:solidFill>
              </a:rPr>
              <a:t> </a:t>
            </a:r>
            <a:r>
              <a:rPr b="1" dirty="0" err="1">
                <a:solidFill>
                  <a:srgbClr val="FF3399"/>
                </a:solidFill>
              </a:rPr>
              <a:t>essere</a:t>
            </a:r>
            <a:r>
              <a:rPr b="1" dirty="0">
                <a:solidFill>
                  <a:srgbClr val="FF3399"/>
                </a:solidFill>
              </a:rPr>
              <a:t> di </a:t>
            </a:r>
            <a:r>
              <a:rPr b="1" dirty="0" err="1">
                <a:solidFill>
                  <a:srgbClr val="FF3399"/>
                </a:solidFill>
              </a:rPr>
              <a:t>provenienza</a:t>
            </a:r>
            <a:r>
              <a:rPr b="1" dirty="0">
                <a:solidFill>
                  <a:srgbClr val="FF3399"/>
                </a:solidFill>
              </a:rPr>
              <a:t> </a:t>
            </a:r>
            <a:r>
              <a:rPr b="1" dirty="0" err="1">
                <a:solidFill>
                  <a:srgbClr val="FF3399"/>
                </a:solidFill>
              </a:rPr>
              <a:t>delittuosa</a:t>
            </a:r>
            <a:r>
              <a:rPr dirty="0"/>
              <a:t>, (es. </a:t>
            </a:r>
            <a:r>
              <a:rPr dirty="0" err="1"/>
              <a:t>acquisto</a:t>
            </a:r>
            <a:r>
              <a:rPr dirty="0"/>
              <a:t> di un auto </a:t>
            </a:r>
            <a:r>
              <a:rPr dirty="0" err="1"/>
              <a:t>rubata</a:t>
            </a:r>
            <a:r>
              <a:rPr dirty="0"/>
              <a:t> da </a:t>
            </a:r>
            <a:r>
              <a:rPr dirty="0" err="1"/>
              <a:t>parte</a:t>
            </a:r>
            <a:r>
              <a:rPr dirty="0"/>
              <a:t> di un </a:t>
            </a:r>
            <a:r>
              <a:rPr dirty="0" err="1"/>
              <a:t>soggetto</a:t>
            </a:r>
            <a:r>
              <a:rPr dirty="0"/>
              <a:t> </a:t>
            </a:r>
            <a:r>
              <a:rPr dirty="0" err="1"/>
              <a:t>estraneo</a:t>
            </a:r>
            <a:r>
              <a:rPr dirty="0"/>
              <a:t> al </a:t>
            </a:r>
            <a:r>
              <a:rPr dirty="0" err="1"/>
              <a:t>delitto</a:t>
            </a:r>
            <a:r>
              <a:rPr dirty="0"/>
              <a:t> </a:t>
            </a:r>
            <a:r>
              <a:rPr dirty="0" err="1"/>
              <a:t>iniziale</a:t>
            </a:r>
            <a:r>
              <a:rPr dirty="0"/>
              <a:t>), e </a:t>
            </a:r>
            <a:r>
              <a:rPr dirty="0" err="1"/>
              <a:t>questo</a:t>
            </a:r>
            <a:r>
              <a:rPr dirty="0"/>
              <a:t> vale </a:t>
            </a:r>
            <a:r>
              <a:rPr dirty="0" err="1"/>
              <a:t>sia</a:t>
            </a:r>
            <a:r>
              <a:rPr dirty="0"/>
              <a:t> </a:t>
            </a:r>
            <a:r>
              <a:rPr sz="2200" dirty="0">
                <a:solidFill>
                  <a:schemeClr val="tx1"/>
                </a:solidFill>
                <a:latin typeface="Times New Roman"/>
                <a:cs typeface="Times New Roman"/>
              </a:rPr>
              <a:t>per</a:t>
            </a:r>
            <a:r>
              <a:rPr dirty="0"/>
              <a:t> </a:t>
            </a:r>
            <a:r>
              <a:rPr dirty="0" err="1"/>
              <a:t>i</a:t>
            </a:r>
            <a:r>
              <a:rPr dirty="0"/>
              <a:t> </a:t>
            </a:r>
            <a:r>
              <a:rPr dirty="0" err="1"/>
              <a:t>delitti</a:t>
            </a:r>
            <a:r>
              <a:rPr dirty="0"/>
              <a:t> </a:t>
            </a:r>
            <a:r>
              <a:rPr dirty="0" err="1"/>
              <a:t>dolosi</a:t>
            </a:r>
            <a:r>
              <a:rPr dirty="0"/>
              <a:t> </a:t>
            </a:r>
            <a:r>
              <a:rPr dirty="0" err="1"/>
              <a:t>che</a:t>
            </a:r>
            <a:r>
              <a:rPr dirty="0"/>
              <a:t> </a:t>
            </a:r>
            <a:r>
              <a:rPr dirty="0" err="1"/>
              <a:t>colposi</a:t>
            </a:r>
            <a:r>
              <a:rPr dirty="0"/>
              <a:t> (</a:t>
            </a:r>
            <a:r>
              <a:rPr dirty="0" err="1"/>
              <a:t>anche</a:t>
            </a:r>
            <a:r>
              <a:rPr dirty="0"/>
              <a:t> </a:t>
            </a:r>
            <a:r>
              <a:rPr dirty="0" err="1"/>
              <a:t>nella</a:t>
            </a:r>
            <a:r>
              <a:rPr dirty="0"/>
              <a:t> forma del </a:t>
            </a:r>
            <a:r>
              <a:rPr dirty="0" err="1"/>
              <a:t>tentativo</a:t>
            </a:r>
            <a:r>
              <a:rPr dirty="0"/>
              <a:t>).</a:t>
            </a:r>
          </a:p>
        </p:txBody>
      </p:sp>
      <p:pic>
        <p:nvPicPr>
          <p:cNvPr id="466"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67"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Ricettazione</a:t>
            </a:r>
          </a:p>
        </p:txBody>
      </p:sp>
    </p:spTree>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Rettangolo 4"/>
          <p:cNvSpPr txBox="1"/>
          <p:nvPr/>
        </p:nvSpPr>
        <p:spPr>
          <a:xfrm>
            <a:off x="45719" y="965040"/>
            <a:ext cx="9052561" cy="51090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defRPr sz="2200" u="sng">
                <a:latin typeface="Times New Roman"/>
                <a:ea typeface="Times New Roman"/>
                <a:cs typeface="Times New Roman"/>
                <a:sym typeface="Times New Roman"/>
              </a:defRPr>
            </a:pPr>
            <a:r>
              <a:rPr dirty="0"/>
              <a:t>ELEMENTO OGGETTIVO</a:t>
            </a:r>
            <a:r>
              <a:rPr b="0" u="none" dirty="0"/>
              <a:t>: la </a:t>
            </a:r>
            <a:r>
              <a:rPr b="0" u="none" dirty="0" err="1"/>
              <a:t>condotta</a:t>
            </a:r>
            <a:r>
              <a:rPr b="0" u="none" dirty="0"/>
              <a:t> </a:t>
            </a:r>
            <a:r>
              <a:rPr b="0" u="none" dirty="0" err="1"/>
              <a:t>sanzionata</a:t>
            </a:r>
            <a:r>
              <a:rPr b="0" u="none" dirty="0"/>
              <a:t> è </a:t>
            </a:r>
            <a:r>
              <a:rPr b="0" u="none" dirty="0" err="1"/>
              <a:t>quella</a:t>
            </a:r>
            <a:r>
              <a:rPr b="0" u="none" dirty="0"/>
              <a:t> di chi, al fine di </a:t>
            </a:r>
            <a:r>
              <a:rPr b="0" u="none" dirty="0" err="1"/>
              <a:t>procurare</a:t>
            </a:r>
            <a:r>
              <a:rPr b="0" u="none" dirty="0"/>
              <a:t> a </a:t>
            </a:r>
            <a:r>
              <a:rPr b="0" u="none" dirty="0" err="1"/>
              <a:t>sé</a:t>
            </a:r>
            <a:r>
              <a:rPr b="0" u="none" dirty="0"/>
              <a:t> o ad </a:t>
            </a:r>
            <a:r>
              <a:rPr b="0" u="none" dirty="0" err="1"/>
              <a:t>altri</a:t>
            </a:r>
            <a:r>
              <a:rPr b="0" u="none" dirty="0"/>
              <a:t> un </a:t>
            </a:r>
            <a:r>
              <a:rPr b="0" u="none" dirty="0" err="1"/>
              <a:t>profitto</a:t>
            </a:r>
            <a:r>
              <a:rPr b="0" u="none" dirty="0"/>
              <a:t>, </a:t>
            </a:r>
          </a:p>
          <a:p>
            <a:pPr marL="342900" indent="-342900" algn="just">
              <a:buSzPct val="100000"/>
              <a:buFont typeface="Arial"/>
              <a:buChar char="•"/>
              <a:defRPr sz="2200">
                <a:solidFill>
                  <a:srgbClr val="FF3399"/>
                </a:solidFill>
                <a:latin typeface="Times New Roman"/>
                <a:ea typeface="Times New Roman"/>
                <a:cs typeface="Times New Roman"/>
                <a:sym typeface="Times New Roman"/>
              </a:defRPr>
            </a:pPr>
            <a:r>
              <a:rPr dirty="0" err="1"/>
              <a:t>acquista</a:t>
            </a:r>
            <a:r>
              <a:rPr dirty="0"/>
              <a:t>, </a:t>
            </a:r>
            <a:r>
              <a:rPr dirty="0" err="1"/>
              <a:t>riceve</a:t>
            </a:r>
            <a:r>
              <a:rPr dirty="0"/>
              <a:t> od occulta </a:t>
            </a:r>
            <a:r>
              <a:rPr dirty="0" err="1"/>
              <a:t>denaro</a:t>
            </a:r>
            <a:r>
              <a:rPr dirty="0"/>
              <a:t> o </a:t>
            </a:r>
            <a:r>
              <a:rPr dirty="0" err="1"/>
              <a:t>cose</a:t>
            </a:r>
            <a:r>
              <a:rPr dirty="0"/>
              <a:t> </a:t>
            </a:r>
            <a:r>
              <a:rPr dirty="0" err="1"/>
              <a:t>provenienti</a:t>
            </a:r>
            <a:r>
              <a:rPr dirty="0"/>
              <a:t> da un </a:t>
            </a:r>
            <a:r>
              <a:rPr dirty="0" err="1"/>
              <a:t>qualsiasi</a:t>
            </a:r>
            <a:r>
              <a:rPr dirty="0"/>
              <a:t> </a:t>
            </a:r>
            <a:r>
              <a:rPr dirty="0" err="1"/>
              <a:t>delitto</a:t>
            </a:r>
            <a:r>
              <a:rPr b="0" dirty="0">
                <a:solidFill>
                  <a:srgbClr val="000000"/>
                </a:solidFill>
              </a:rPr>
              <a:t>, </a:t>
            </a:r>
          </a:p>
          <a:p>
            <a:pPr marL="342900" indent="-342900" algn="just">
              <a:spcBef>
                <a:spcPts val="1200"/>
              </a:spcBef>
              <a:buSzPct val="100000"/>
              <a:buFont typeface="Arial"/>
              <a:buChar char="•"/>
              <a:defRPr sz="2200" b="0">
                <a:latin typeface="Times New Roman"/>
                <a:ea typeface="Times New Roman"/>
                <a:cs typeface="Times New Roman"/>
                <a:sym typeface="Times New Roman"/>
              </a:defRPr>
            </a:pPr>
            <a:r>
              <a:rPr dirty="0"/>
              <a:t>o </a:t>
            </a:r>
            <a:r>
              <a:rPr dirty="0" err="1"/>
              <a:t>comunque</a:t>
            </a:r>
            <a:r>
              <a:rPr dirty="0"/>
              <a:t> </a:t>
            </a:r>
            <a:r>
              <a:rPr b="1" dirty="0" err="1">
                <a:solidFill>
                  <a:srgbClr val="FF3399"/>
                </a:solidFill>
              </a:rPr>
              <a:t>si</a:t>
            </a:r>
            <a:r>
              <a:rPr b="1" dirty="0">
                <a:solidFill>
                  <a:srgbClr val="FF3399"/>
                </a:solidFill>
              </a:rPr>
              <a:t> </a:t>
            </a:r>
            <a:r>
              <a:rPr b="1" dirty="0" err="1">
                <a:solidFill>
                  <a:srgbClr val="FF3399"/>
                </a:solidFill>
              </a:rPr>
              <a:t>intromette</a:t>
            </a:r>
            <a:r>
              <a:rPr b="1" dirty="0">
                <a:solidFill>
                  <a:srgbClr val="FF3399"/>
                </a:solidFill>
              </a:rPr>
              <a:t> </a:t>
            </a:r>
            <a:r>
              <a:rPr b="1" dirty="0" err="1">
                <a:solidFill>
                  <a:srgbClr val="FF3399"/>
                </a:solidFill>
              </a:rPr>
              <a:t>nel</a:t>
            </a:r>
            <a:r>
              <a:rPr b="1" dirty="0">
                <a:solidFill>
                  <a:srgbClr val="FF3399"/>
                </a:solidFill>
              </a:rPr>
              <a:t> </a:t>
            </a:r>
            <a:r>
              <a:rPr b="1" dirty="0" err="1">
                <a:solidFill>
                  <a:srgbClr val="FF3399"/>
                </a:solidFill>
              </a:rPr>
              <a:t>farle</a:t>
            </a:r>
            <a:r>
              <a:rPr b="1" dirty="0">
                <a:solidFill>
                  <a:srgbClr val="FF3399"/>
                </a:solidFill>
              </a:rPr>
              <a:t> </a:t>
            </a:r>
            <a:r>
              <a:rPr b="1" dirty="0" err="1">
                <a:solidFill>
                  <a:srgbClr val="FF3399"/>
                </a:solidFill>
              </a:rPr>
              <a:t>acquistare</a:t>
            </a:r>
            <a:r>
              <a:rPr b="1" dirty="0">
                <a:solidFill>
                  <a:srgbClr val="FF3399"/>
                </a:solidFill>
              </a:rPr>
              <a:t>, </a:t>
            </a:r>
            <a:r>
              <a:rPr b="1" dirty="0" err="1">
                <a:solidFill>
                  <a:srgbClr val="FF3399"/>
                </a:solidFill>
              </a:rPr>
              <a:t>ricevere</a:t>
            </a:r>
            <a:r>
              <a:rPr b="1" dirty="0">
                <a:solidFill>
                  <a:srgbClr val="FF3399"/>
                </a:solidFill>
              </a:rPr>
              <a:t> od </a:t>
            </a:r>
            <a:r>
              <a:rPr b="1" dirty="0" err="1">
                <a:solidFill>
                  <a:srgbClr val="FF3399"/>
                </a:solidFill>
              </a:rPr>
              <a:t>occultare</a:t>
            </a:r>
            <a:r>
              <a:rPr b="1" dirty="0">
                <a:solidFill>
                  <a:srgbClr val="FF3399"/>
                </a:solidFill>
              </a:rPr>
              <a:t>.</a:t>
            </a:r>
          </a:p>
          <a:p>
            <a:pPr algn="just">
              <a:spcBef>
                <a:spcPts val="1200"/>
              </a:spcBef>
              <a:defRPr sz="2200" b="0">
                <a:latin typeface="Times New Roman"/>
                <a:ea typeface="Times New Roman"/>
                <a:cs typeface="Times New Roman"/>
                <a:sym typeface="Times New Roman"/>
              </a:defRPr>
            </a:pPr>
            <a:r>
              <a:rPr dirty="0"/>
              <a:t>La </a:t>
            </a:r>
            <a:r>
              <a:rPr dirty="0" err="1"/>
              <a:t>norma</a:t>
            </a:r>
            <a:r>
              <a:rPr dirty="0"/>
              <a:t> </a:t>
            </a:r>
            <a:r>
              <a:rPr dirty="0" err="1"/>
              <a:t>prevede</a:t>
            </a:r>
            <a:r>
              <a:rPr dirty="0"/>
              <a:t> </a:t>
            </a:r>
            <a:r>
              <a:rPr dirty="0" err="1"/>
              <a:t>che</a:t>
            </a:r>
            <a:r>
              <a:rPr dirty="0"/>
              <a:t> </a:t>
            </a:r>
            <a:r>
              <a:rPr dirty="0" err="1"/>
              <a:t>il</a:t>
            </a:r>
            <a:r>
              <a:rPr dirty="0"/>
              <a:t> </a:t>
            </a:r>
            <a:r>
              <a:rPr dirty="0" err="1"/>
              <a:t>denaro</a:t>
            </a:r>
            <a:r>
              <a:rPr dirty="0"/>
              <a:t> o le </a:t>
            </a:r>
            <a:r>
              <a:rPr dirty="0" err="1"/>
              <a:t>cose</a:t>
            </a:r>
            <a:r>
              <a:rPr dirty="0"/>
              <a:t> </a:t>
            </a:r>
            <a:r>
              <a:rPr dirty="0" err="1"/>
              <a:t>debbano</a:t>
            </a:r>
            <a:r>
              <a:rPr dirty="0"/>
              <a:t> </a:t>
            </a:r>
            <a:r>
              <a:rPr b="1" u="sng" dirty="0" err="1"/>
              <a:t>provenire</a:t>
            </a:r>
            <a:r>
              <a:rPr b="1" u="sng" dirty="0"/>
              <a:t> da un </a:t>
            </a:r>
            <a:r>
              <a:rPr b="1" u="sng" dirty="0" err="1"/>
              <a:t>delitto</a:t>
            </a:r>
            <a:r>
              <a:rPr b="1" dirty="0"/>
              <a:t> </a:t>
            </a:r>
            <a:r>
              <a:rPr dirty="0"/>
              <a:t>e non da un </a:t>
            </a:r>
            <a:r>
              <a:rPr dirty="0" err="1"/>
              <a:t>qualunque</a:t>
            </a:r>
            <a:r>
              <a:rPr dirty="0"/>
              <a:t> </a:t>
            </a:r>
            <a:r>
              <a:rPr dirty="0" err="1"/>
              <a:t>reato</a:t>
            </a:r>
            <a:r>
              <a:rPr dirty="0"/>
              <a:t>.</a:t>
            </a:r>
          </a:p>
          <a:p>
            <a:pPr algn="just">
              <a:spcBef>
                <a:spcPts val="1200"/>
              </a:spcBef>
              <a:defRPr sz="2200">
                <a:latin typeface="Times New Roman"/>
                <a:ea typeface="Times New Roman"/>
                <a:cs typeface="Times New Roman"/>
                <a:sym typeface="Times New Roman"/>
              </a:defRPr>
            </a:pPr>
            <a:r>
              <a:rPr dirty="0" err="1"/>
              <a:t>Presupposto</a:t>
            </a:r>
            <a:r>
              <a:rPr b="0" dirty="0"/>
              <a:t> del </a:t>
            </a:r>
            <a:r>
              <a:rPr b="0" dirty="0" err="1"/>
              <a:t>delitto</a:t>
            </a:r>
            <a:r>
              <a:rPr b="0" dirty="0"/>
              <a:t> di </a:t>
            </a:r>
            <a:r>
              <a:rPr b="0" dirty="0" err="1"/>
              <a:t>ricettazione</a:t>
            </a:r>
            <a:r>
              <a:rPr b="0" dirty="0"/>
              <a:t> è </a:t>
            </a:r>
            <a:r>
              <a:rPr b="0" dirty="0" err="1"/>
              <a:t>che</a:t>
            </a:r>
            <a:r>
              <a:rPr b="0" dirty="0"/>
              <a:t>, </a:t>
            </a:r>
            <a:r>
              <a:rPr b="0" dirty="0" err="1"/>
              <a:t>anteriormente</a:t>
            </a:r>
            <a:r>
              <a:rPr b="0" dirty="0"/>
              <a:t> ad </a:t>
            </a:r>
            <a:r>
              <a:rPr b="0" dirty="0" err="1"/>
              <a:t>esso</a:t>
            </a:r>
            <a:r>
              <a:rPr b="0" dirty="0"/>
              <a:t>, </a:t>
            </a:r>
            <a:r>
              <a:rPr b="0" dirty="0" err="1"/>
              <a:t>sia</a:t>
            </a:r>
            <a:r>
              <a:rPr b="0" dirty="0"/>
              <a:t> </a:t>
            </a:r>
            <a:r>
              <a:rPr b="0" dirty="0" err="1"/>
              <a:t>stato</a:t>
            </a:r>
            <a:r>
              <a:rPr b="0" dirty="0"/>
              <a:t> </a:t>
            </a:r>
            <a:r>
              <a:rPr b="0" dirty="0" err="1"/>
              <a:t>commesso</a:t>
            </a:r>
            <a:r>
              <a:rPr b="0" dirty="0"/>
              <a:t> un </a:t>
            </a:r>
            <a:r>
              <a:rPr b="0" dirty="0" err="1"/>
              <a:t>altro</a:t>
            </a:r>
            <a:r>
              <a:rPr b="0" dirty="0"/>
              <a:t> </a:t>
            </a:r>
            <a:r>
              <a:rPr b="0" dirty="0" err="1"/>
              <a:t>delitto</a:t>
            </a:r>
            <a:r>
              <a:rPr b="0" dirty="0"/>
              <a:t>, </a:t>
            </a:r>
            <a:r>
              <a:rPr b="0" dirty="0" err="1"/>
              <a:t>detto</a:t>
            </a:r>
            <a:r>
              <a:rPr b="0" dirty="0"/>
              <a:t> </a:t>
            </a:r>
            <a:r>
              <a:rPr dirty="0">
                <a:solidFill>
                  <a:srgbClr val="FF3399"/>
                </a:solidFill>
              </a:rPr>
              <a:t>DELITTO PRESUPPOSTO</a:t>
            </a:r>
            <a:r>
              <a:rPr b="0" dirty="0"/>
              <a:t>. </a:t>
            </a:r>
          </a:p>
          <a:p>
            <a:pPr algn="just">
              <a:spcBef>
                <a:spcPts val="1200"/>
              </a:spcBef>
              <a:defRPr sz="2200" b="0">
                <a:latin typeface="Times New Roman"/>
                <a:ea typeface="Times New Roman"/>
                <a:cs typeface="Times New Roman"/>
                <a:sym typeface="Times New Roman"/>
              </a:defRPr>
            </a:pPr>
            <a:r>
              <a:rPr dirty="0"/>
              <a:t>In base </a:t>
            </a:r>
            <a:r>
              <a:rPr dirty="0" err="1"/>
              <a:t>alla</a:t>
            </a:r>
            <a:r>
              <a:rPr dirty="0"/>
              <a:t> </a:t>
            </a:r>
            <a:r>
              <a:rPr dirty="0" err="1"/>
              <a:t>clausola</a:t>
            </a:r>
            <a:r>
              <a:rPr dirty="0"/>
              <a:t> di </a:t>
            </a:r>
            <a:r>
              <a:rPr dirty="0" err="1"/>
              <a:t>esclusione</a:t>
            </a:r>
            <a:r>
              <a:rPr dirty="0"/>
              <a:t> </a:t>
            </a:r>
            <a:r>
              <a:rPr dirty="0" err="1"/>
              <a:t>posta</a:t>
            </a:r>
            <a:r>
              <a:rPr dirty="0"/>
              <a:t> </a:t>
            </a:r>
            <a:r>
              <a:rPr dirty="0" err="1"/>
              <a:t>all’inizio</a:t>
            </a:r>
            <a:r>
              <a:rPr dirty="0"/>
              <a:t> del primo comma (“</a:t>
            </a:r>
            <a:r>
              <a:rPr dirty="0" err="1"/>
              <a:t>Fuori</a:t>
            </a:r>
            <a:r>
              <a:rPr dirty="0"/>
              <a:t> </a:t>
            </a:r>
            <a:r>
              <a:rPr dirty="0" err="1"/>
              <a:t>dei</a:t>
            </a:r>
            <a:r>
              <a:rPr dirty="0"/>
              <a:t> </a:t>
            </a:r>
            <a:r>
              <a:rPr dirty="0" err="1"/>
              <a:t>casi</a:t>
            </a:r>
            <a:r>
              <a:rPr dirty="0"/>
              <a:t> di </a:t>
            </a:r>
            <a:r>
              <a:rPr dirty="0" err="1"/>
              <a:t>concorso</a:t>
            </a:r>
            <a:r>
              <a:rPr dirty="0"/>
              <a:t> </a:t>
            </a:r>
            <a:r>
              <a:rPr dirty="0" err="1"/>
              <a:t>nel</a:t>
            </a:r>
            <a:r>
              <a:rPr dirty="0"/>
              <a:t> </a:t>
            </a:r>
            <a:r>
              <a:rPr dirty="0" err="1"/>
              <a:t>reato</a:t>
            </a:r>
            <a:r>
              <a:rPr u="sng" dirty="0">
                <a:solidFill>
                  <a:srgbClr val="FF0000"/>
                </a:solidFill>
              </a:rPr>
              <a:t>”), </a:t>
            </a:r>
            <a:r>
              <a:rPr b="1" u="sng" dirty="0" err="1">
                <a:solidFill>
                  <a:srgbClr val="FF0000"/>
                </a:solidFill>
              </a:rPr>
              <a:t>il</a:t>
            </a:r>
            <a:r>
              <a:rPr b="1" u="sng" dirty="0">
                <a:solidFill>
                  <a:srgbClr val="FF0000"/>
                </a:solidFill>
              </a:rPr>
              <a:t> </a:t>
            </a:r>
            <a:r>
              <a:rPr b="1" u="sng" dirty="0" err="1">
                <a:solidFill>
                  <a:srgbClr val="FF0000"/>
                </a:solidFill>
              </a:rPr>
              <a:t>delitto</a:t>
            </a:r>
            <a:r>
              <a:rPr b="1" u="sng" dirty="0">
                <a:solidFill>
                  <a:srgbClr val="FF0000"/>
                </a:solidFill>
              </a:rPr>
              <a:t> di </a:t>
            </a:r>
            <a:r>
              <a:rPr b="1" u="sng" dirty="0" err="1">
                <a:solidFill>
                  <a:srgbClr val="FF0000"/>
                </a:solidFill>
              </a:rPr>
              <a:t>ricettazione</a:t>
            </a:r>
            <a:r>
              <a:rPr b="1" u="sng" dirty="0">
                <a:solidFill>
                  <a:srgbClr val="FF0000"/>
                </a:solidFill>
              </a:rPr>
              <a:t> </a:t>
            </a:r>
            <a:r>
              <a:rPr b="1" u="sng" dirty="0" err="1">
                <a:solidFill>
                  <a:srgbClr val="FF0000"/>
                </a:solidFill>
              </a:rPr>
              <a:t>può</a:t>
            </a:r>
            <a:r>
              <a:rPr b="1" u="sng" dirty="0">
                <a:solidFill>
                  <a:srgbClr val="FF0000"/>
                </a:solidFill>
              </a:rPr>
              <a:t> </a:t>
            </a:r>
            <a:r>
              <a:rPr b="1" u="sng" dirty="0" err="1">
                <a:solidFill>
                  <a:srgbClr val="FF0000"/>
                </a:solidFill>
              </a:rPr>
              <a:t>essere</a:t>
            </a:r>
            <a:r>
              <a:rPr b="1" u="sng" dirty="0">
                <a:solidFill>
                  <a:srgbClr val="FF0000"/>
                </a:solidFill>
              </a:rPr>
              <a:t> </a:t>
            </a:r>
            <a:r>
              <a:rPr b="1" u="sng" dirty="0" err="1">
                <a:solidFill>
                  <a:srgbClr val="FF0000"/>
                </a:solidFill>
              </a:rPr>
              <a:t>commesso</a:t>
            </a:r>
            <a:r>
              <a:rPr b="1" u="sng" dirty="0">
                <a:solidFill>
                  <a:srgbClr val="FF0000"/>
                </a:solidFill>
              </a:rPr>
              <a:t> da </a:t>
            </a:r>
            <a:r>
              <a:rPr b="1" u="sng" dirty="0" err="1">
                <a:solidFill>
                  <a:srgbClr val="FF0000"/>
                </a:solidFill>
              </a:rPr>
              <a:t>chiunque</a:t>
            </a:r>
            <a:r>
              <a:rPr b="1" u="sng" dirty="0">
                <a:solidFill>
                  <a:srgbClr val="FF0000"/>
                </a:solidFill>
              </a:rPr>
              <a:t> </a:t>
            </a:r>
            <a:r>
              <a:rPr b="1" u="sng" dirty="0" err="1">
                <a:solidFill>
                  <a:srgbClr val="FF0000"/>
                </a:solidFill>
              </a:rPr>
              <a:t>tranne</a:t>
            </a:r>
            <a:r>
              <a:rPr b="1" u="sng" dirty="0">
                <a:solidFill>
                  <a:srgbClr val="FF0000"/>
                </a:solidFill>
              </a:rPr>
              <a:t> </a:t>
            </a:r>
            <a:r>
              <a:rPr b="1" u="sng" dirty="0" err="1">
                <a:solidFill>
                  <a:srgbClr val="FF0000"/>
                </a:solidFill>
              </a:rPr>
              <a:t>che</a:t>
            </a:r>
            <a:r>
              <a:rPr b="1" u="sng" dirty="0">
                <a:solidFill>
                  <a:srgbClr val="FF0000"/>
                </a:solidFill>
              </a:rPr>
              <a:t> da chi </a:t>
            </a:r>
            <a:r>
              <a:rPr b="1" u="sng" dirty="0" err="1">
                <a:solidFill>
                  <a:srgbClr val="FF0000"/>
                </a:solidFill>
              </a:rPr>
              <a:t>abbia</a:t>
            </a:r>
            <a:r>
              <a:rPr b="1" u="sng" dirty="0">
                <a:solidFill>
                  <a:srgbClr val="FF0000"/>
                </a:solidFill>
              </a:rPr>
              <a:t> </a:t>
            </a:r>
            <a:r>
              <a:rPr b="1" u="sng" dirty="0" err="1">
                <a:solidFill>
                  <a:srgbClr val="FF0000"/>
                </a:solidFill>
              </a:rPr>
              <a:t>partecipato</a:t>
            </a:r>
            <a:r>
              <a:rPr b="1" u="sng" dirty="0">
                <a:solidFill>
                  <a:srgbClr val="FF0000"/>
                </a:solidFill>
              </a:rPr>
              <a:t> </a:t>
            </a:r>
            <a:r>
              <a:rPr b="1" u="sng" dirty="0" err="1">
                <a:solidFill>
                  <a:srgbClr val="FF0000"/>
                </a:solidFill>
              </a:rPr>
              <a:t>alla</a:t>
            </a:r>
            <a:r>
              <a:rPr b="1" u="sng" dirty="0">
                <a:solidFill>
                  <a:srgbClr val="FF0000"/>
                </a:solidFill>
              </a:rPr>
              <a:t> </a:t>
            </a:r>
            <a:r>
              <a:rPr b="1" u="sng" dirty="0" err="1">
                <a:solidFill>
                  <a:srgbClr val="FF0000"/>
                </a:solidFill>
              </a:rPr>
              <a:t>commissione</a:t>
            </a:r>
            <a:r>
              <a:rPr b="1" u="sng" dirty="0">
                <a:solidFill>
                  <a:srgbClr val="FF0000"/>
                </a:solidFill>
              </a:rPr>
              <a:t> del </a:t>
            </a:r>
            <a:r>
              <a:rPr b="1" u="sng" dirty="0" err="1">
                <a:solidFill>
                  <a:srgbClr val="FF0000"/>
                </a:solidFill>
              </a:rPr>
              <a:t>delitto</a:t>
            </a:r>
            <a:r>
              <a:rPr b="1" u="sng" dirty="0">
                <a:solidFill>
                  <a:srgbClr val="FF0000"/>
                </a:solidFill>
              </a:rPr>
              <a:t> </a:t>
            </a:r>
            <a:r>
              <a:rPr b="1" u="sng" dirty="0" err="1">
                <a:solidFill>
                  <a:srgbClr val="FF0000"/>
                </a:solidFill>
              </a:rPr>
              <a:t>presupposto</a:t>
            </a:r>
            <a:r>
              <a:rPr dirty="0">
                <a:solidFill>
                  <a:srgbClr val="FF0000"/>
                </a:solidFill>
              </a:rPr>
              <a:t>.</a:t>
            </a:r>
            <a:r>
              <a:rPr dirty="0"/>
              <a:t> </a:t>
            </a:r>
          </a:p>
        </p:txBody>
      </p:sp>
      <p:pic>
        <p:nvPicPr>
          <p:cNvPr id="470"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71"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Ricettazione</a:t>
            </a:r>
          </a:p>
        </p:txBody>
      </p:sp>
    </p:spTree>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Rettangolo 4"/>
          <p:cNvSpPr txBox="1"/>
          <p:nvPr/>
        </p:nvSpPr>
        <p:spPr>
          <a:xfrm>
            <a:off x="45719" y="836711"/>
            <a:ext cx="9052561" cy="497962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u="sng">
                <a:latin typeface="Times New Roman"/>
                <a:ea typeface="Times New Roman"/>
                <a:cs typeface="Times New Roman"/>
                <a:sym typeface="Times New Roman"/>
              </a:defRPr>
            </a:pPr>
            <a:r>
              <a:rPr dirty="0"/>
              <a:t>ELEMENTO SOGGETTIVO</a:t>
            </a:r>
            <a:r>
              <a:rPr u="none" dirty="0"/>
              <a:t> </a:t>
            </a:r>
            <a:r>
              <a:rPr b="0" u="none" dirty="0"/>
              <a:t>è </a:t>
            </a:r>
            <a:r>
              <a:rPr b="0" u="none" dirty="0" err="1"/>
              <a:t>il</a:t>
            </a:r>
            <a:r>
              <a:rPr b="0" u="none" dirty="0"/>
              <a:t> </a:t>
            </a:r>
            <a:r>
              <a:rPr u="none" dirty="0">
                <a:solidFill>
                  <a:srgbClr val="FF3399"/>
                </a:solidFill>
              </a:rPr>
              <a:t>DOLO SPECIFICO </a:t>
            </a:r>
            <a:r>
              <a:rPr b="0" u="none" dirty="0"/>
              <a:t>in </a:t>
            </a:r>
            <a:r>
              <a:rPr b="0" u="none" dirty="0" err="1"/>
              <a:t>quanto</a:t>
            </a:r>
            <a:r>
              <a:rPr b="0" u="none" dirty="0"/>
              <a:t> </a:t>
            </a:r>
            <a:r>
              <a:rPr b="0" u="none" dirty="0" err="1"/>
              <a:t>l’agente</a:t>
            </a:r>
            <a:r>
              <a:rPr b="0" u="none" dirty="0"/>
              <a:t> ha la </a:t>
            </a:r>
            <a:r>
              <a:rPr b="0" u="none" dirty="0" err="1"/>
              <a:t>consapevolezza</a:t>
            </a:r>
            <a:r>
              <a:rPr b="0" u="none" dirty="0"/>
              <a:t> di </a:t>
            </a:r>
            <a:r>
              <a:rPr b="0" u="none" dirty="0" err="1"/>
              <a:t>acquistare</a:t>
            </a:r>
            <a:r>
              <a:rPr b="0" u="none" dirty="0"/>
              <a:t> una </a:t>
            </a:r>
            <a:r>
              <a:rPr b="0" u="none" dirty="0" err="1"/>
              <a:t>cosa</a:t>
            </a:r>
            <a:r>
              <a:rPr b="0" u="none" dirty="0"/>
              <a:t> </a:t>
            </a:r>
            <a:r>
              <a:rPr b="0" u="none" dirty="0" err="1"/>
              <a:t>proveniente</a:t>
            </a:r>
            <a:r>
              <a:rPr b="0" u="none" dirty="0"/>
              <a:t> da </a:t>
            </a:r>
            <a:r>
              <a:rPr b="0" u="none" dirty="0" err="1"/>
              <a:t>fatti</a:t>
            </a:r>
            <a:r>
              <a:rPr b="0" u="none" dirty="0"/>
              <a:t> </a:t>
            </a:r>
            <a:r>
              <a:rPr b="0" u="none" dirty="0" err="1"/>
              <a:t>delittuosi</a:t>
            </a:r>
            <a:r>
              <a:rPr b="0" u="none" dirty="0"/>
              <a:t> </a:t>
            </a:r>
            <a:r>
              <a:rPr u="none" dirty="0">
                <a:solidFill>
                  <a:srgbClr val="FF3399"/>
                </a:solidFill>
              </a:rPr>
              <a:t>al fine di </a:t>
            </a:r>
            <a:r>
              <a:rPr u="none" dirty="0" err="1">
                <a:solidFill>
                  <a:srgbClr val="FF3399"/>
                </a:solidFill>
              </a:rPr>
              <a:t>procurare</a:t>
            </a:r>
            <a:r>
              <a:rPr u="none" dirty="0">
                <a:solidFill>
                  <a:srgbClr val="FF3399"/>
                </a:solidFill>
              </a:rPr>
              <a:t> un </a:t>
            </a:r>
            <a:r>
              <a:rPr u="none" dirty="0" err="1">
                <a:solidFill>
                  <a:srgbClr val="FF3399"/>
                </a:solidFill>
              </a:rPr>
              <a:t>profitto</a:t>
            </a:r>
            <a:r>
              <a:rPr b="0" u="none" dirty="0"/>
              <a:t>.</a:t>
            </a:r>
            <a:endParaRPr lang="it-IT" b="0" u="none" dirty="0"/>
          </a:p>
          <a:p>
            <a:pPr algn="just">
              <a:lnSpc>
                <a:spcPct val="114000"/>
              </a:lnSpc>
              <a:spcBef>
                <a:spcPts val="1200"/>
              </a:spcBef>
              <a:defRPr sz="2200" b="0">
                <a:latin typeface="Times New Roman"/>
                <a:ea typeface="Times New Roman"/>
                <a:cs typeface="Times New Roman"/>
                <a:sym typeface="Times New Roman"/>
              </a:defRPr>
            </a:pPr>
            <a:endParaRPr lang="it-IT" dirty="0"/>
          </a:p>
          <a:p>
            <a:pPr algn="just">
              <a:lnSpc>
                <a:spcPct val="114000"/>
              </a:lnSpc>
              <a:spcBef>
                <a:spcPts val="1200"/>
              </a:spcBef>
              <a:defRPr sz="2200" b="0">
                <a:latin typeface="Times New Roman"/>
                <a:ea typeface="Times New Roman"/>
                <a:cs typeface="Times New Roman"/>
                <a:sym typeface="Times New Roman"/>
              </a:defRPr>
            </a:pPr>
            <a:r>
              <a:rPr dirty="0"/>
              <a:t>Ai </a:t>
            </a:r>
            <a:r>
              <a:rPr dirty="0" err="1"/>
              <a:t>fini</a:t>
            </a:r>
            <a:r>
              <a:rPr dirty="0"/>
              <a:t> </a:t>
            </a:r>
            <a:r>
              <a:rPr dirty="0" err="1"/>
              <a:t>della</a:t>
            </a:r>
            <a:r>
              <a:rPr dirty="0"/>
              <a:t> </a:t>
            </a:r>
            <a:r>
              <a:rPr dirty="0" err="1"/>
              <a:t>configurabilità</a:t>
            </a:r>
            <a:r>
              <a:rPr dirty="0"/>
              <a:t> del </a:t>
            </a:r>
            <a:r>
              <a:rPr dirty="0" err="1"/>
              <a:t>delitto</a:t>
            </a:r>
            <a:r>
              <a:rPr dirty="0"/>
              <a:t> in </a:t>
            </a:r>
            <a:r>
              <a:rPr dirty="0" err="1"/>
              <a:t>senso</a:t>
            </a:r>
            <a:r>
              <a:rPr dirty="0"/>
              <a:t> </a:t>
            </a:r>
            <a:r>
              <a:rPr dirty="0" err="1"/>
              <a:t>stretto</a:t>
            </a:r>
            <a:r>
              <a:rPr dirty="0"/>
              <a:t> </a:t>
            </a:r>
            <a:r>
              <a:rPr b="1" dirty="0" err="1">
                <a:solidFill>
                  <a:srgbClr val="FF3399"/>
                </a:solidFill>
              </a:rPr>
              <a:t>si</a:t>
            </a:r>
            <a:r>
              <a:rPr b="1" dirty="0">
                <a:solidFill>
                  <a:srgbClr val="FF3399"/>
                </a:solidFill>
              </a:rPr>
              <a:t> </a:t>
            </a:r>
            <a:r>
              <a:rPr b="1" dirty="0" err="1">
                <a:solidFill>
                  <a:srgbClr val="FF3399"/>
                </a:solidFill>
              </a:rPr>
              <a:t>richiede</a:t>
            </a:r>
            <a:r>
              <a:rPr b="1" dirty="0">
                <a:solidFill>
                  <a:srgbClr val="FF3399"/>
                </a:solidFill>
              </a:rPr>
              <a:t> la </a:t>
            </a:r>
            <a:r>
              <a:rPr b="1" dirty="0" err="1">
                <a:solidFill>
                  <a:srgbClr val="FF3399"/>
                </a:solidFill>
              </a:rPr>
              <a:t>certezza</a:t>
            </a:r>
            <a:r>
              <a:rPr b="1" dirty="0">
                <a:solidFill>
                  <a:srgbClr val="FF3399"/>
                </a:solidFill>
              </a:rPr>
              <a:t> </a:t>
            </a:r>
            <a:r>
              <a:rPr b="1" dirty="0" err="1">
                <a:solidFill>
                  <a:srgbClr val="FF3399"/>
                </a:solidFill>
              </a:rPr>
              <a:t>della</a:t>
            </a:r>
            <a:r>
              <a:rPr b="1" dirty="0">
                <a:solidFill>
                  <a:srgbClr val="FF3399"/>
                </a:solidFill>
              </a:rPr>
              <a:t> </a:t>
            </a:r>
            <a:r>
              <a:rPr b="1" dirty="0" err="1">
                <a:solidFill>
                  <a:srgbClr val="FF3399"/>
                </a:solidFill>
              </a:rPr>
              <a:t>provenienza</a:t>
            </a:r>
            <a:r>
              <a:rPr b="1" dirty="0">
                <a:solidFill>
                  <a:srgbClr val="FF3399"/>
                </a:solidFill>
              </a:rPr>
              <a:t> </a:t>
            </a:r>
            <a:r>
              <a:rPr b="1" dirty="0" err="1">
                <a:solidFill>
                  <a:srgbClr val="FF3399"/>
                </a:solidFill>
              </a:rPr>
              <a:t>delittuosa</a:t>
            </a:r>
            <a:r>
              <a:rPr b="1" dirty="0">
                <a:solidFill>
                  <a:srgbClr val="FF3399"/>
                </a:solidFill>
              </a:rPr>
              <a:t> del bene </a:t>
            </a:r>
            <a:r>
              <a:rPr b="1" dirty="0" err="1">
                <a:solidFill>
                  <a:srgbClr val="FF3399"/>
                </a:solidFill>
              </a:rPr>
              <a:t>ricevuto</a:t>
            </a:r>
            <a:r>
              <a:rPr b="1" dirty="0">
                <a:solidFill>
                  <a:srgbClr val="FF3399"/>
                </a:solidFill>
              </a:rPr>
              <a:t>, </a:t>
            </a:r>
            <a:r>
              <a:rPr b="1" dirty="0" err="1">
                <a:solidFill>
                  <a:srgbClr val="FF3399"/>
                </a:solidFill>
              </a:rPr>
              <a:t>acquistato</a:t>
            </a:r>
            <a:r>
              <a:rPr b="1" dirty="0">
                <a:solidFill>
                  <a:srgbClr val="FF3399"/>
                </a:solidFill>
              </a:rPr>
              <a:t> od </a:t>
            </a:r>
            <a:r>
              <a:rPr b="1" dirty="0" err="1">
                <a:solidFill>
                  <a:srgbClr val="FF3399"/>
                </a:solidFill>
              </a:rPr>
              <a:t>occultato</a:t>
            </a:r>
            <a:r>
              <a:rPr b="1" dirty="0">
                <a:solidFill>
                  <a:srgbClr val="FF3399"/>
                </a:solidFill>
              </a:rPr>
              <a:t> </a:t>
            </a:r>
            <a:r>
              <a:rPr dirty="0"/>
              <a:t>(Cass. II, 31/01/1990), ma non è </a:t>
            </a:r>
            <a:r>
              <a:rPr dirty="0" err="1"/>
              <a:t>necessario</a:t>
            </a:r>
            <a:r>
              <a:rPr dirty="0"/>
              <a:t> </a:t>
            </a:r>
            <a:r>
              <a:rPr dirty="0" err="1"/>
              <a:t>che</a:t>
            </a:r>
            <a:r>
              <a:rPr dirty="0"/>
              <a:t> </a:t>
            </a:r>
            <a:r>
              <a:rPr dirty="0" err="1"/>
              <a:t>si</a:t>
            </a:r>
            <a:r>
              <a:rPr dirty="0"/>
              <a:t> </a:t>
            </a:r>
            <a:r>
              <a:rPr dirty="0" err="1"/>
              <a:t>estenda</a:t>
            </a:r>
            <a:r>
              <a:rPr dirty="0"/>
              <a:t> </a:t>
            </a:r>
            <a:r>
              <a:rPr dirty="0" err="1"/>
              <a:t>alla</a:t>
            </a:r>
            <a:r>
              <a:rPr dirty="0"/>
              <a:t> </a:t>
            </a:r>
            <a:r>
              <a:rPr dirty="0" err="1"/>
              <a:t>precisa</a:t>
            </a:r>
            <a:r>
              <a:rPr dirty="0"/>
              <a:t> </a:t>
            </a:r>
            <a:r>
              <a:rPr dirty="0" err="1"/>
              <a:t>cognizione</a:t>
            </a:r>
            <a:r>
              <a:rPr dirty="0"/>
              <a:t> </a:t>
            </a:r>
            <a:r>
              <a:rPr dirty="0" err="1"/>
              <a:t>delle</a:t>
            </a:r>
            <a:r>
              <a:rPr dirty="0"/>
              <a:t> </a:t>
            </a:r>
            <a:r>
              <a:rPr dirty="0" err="1"/>
              <a:t>circostanze</a:t>
            </a:r>
            <a:r>
              <a:rPr dirty="0"/>
              <a:t> di tempo e di </a:t>
            </a:r>
            <a:r>
              <a:rPr dirty="0" err="1"/>
              <a:t>luogo</a:t>
            </a:r>
            <a:r>
              <a:rPr dirty="0"/>
              <a:t> del </a:t>
            </a:r>
            <a:r>
              <a:rPr dirty="0" err="1"/>
              <a:t>reato</a:t>
            </a:r>
            <a:r>
              <a:rPr dirty="0"/>
              <a:t> </a:t>
            </a:r>
            <a:r>
              <a:rPr dirty="0" err="1"/>
              <a:t>principale</a:t>
            </a:r>
            <a:r>
              <a:rPr dirty="0"/>
              <a:t>, </a:t>
            </a:r>
            <a:r>
              <a:rPr dirty="0" err="1"/>
              <a:t>essendo</a:t>
            </a:r>
            <a:r>
              <a:rPr dirty="0"/>
              <a:t> </a:t>
            </a:r>
            <a:r>
              <a:rPr sz="2800" b="1" dirty="0" err="1"/>
              <a:t>sufficiente</a:t>
            </a:r>
            <a:r>
              <a:rPr sz="2800" b="1" dirty="0"/>
              <a:t> la </a:t>
            </a:r>
            <a:r>
              <a:rPr sz="2800" b="1" dirty="0" err="1"/>
              <a:t>convinzione</a:t>
            </a:r>
            <a:r>
              <a:rPr sz="2800" b="1" dirty="0"/>
              <a:t> di </a:t>
            </a:r>
            <a:r>
              <a:rPr sz="2800" b="1" dirty="0" err="1"/>
              <a:t>acquistare</a:t>
            </a:r>
            <a:r>
              <a:rPr sz="2800" b="1" dirty="0"/>
              <a:t> </a:t>
            </a:r>
            <a:r>
              <a:rPr sz="2800" b="1" dirty="0" err="1"/>
              <a:t>cose</a:t>
            </a:r>
            <a:r>
              <a:rPr sz="2800" b="1" dirty="0"/>
              <a:t> di </a:t>
            </a:r>
            <a:r>
              <a:rPr sz="2800" b="1" dirty="0" err="1"/>
              <a:t>provenienza</a:t>
            </a:r>
            <a:r>
              <a:rPr sz="2800" b="1" dirty="0"/>
              <a:t> </a:t>
            </a:r>
            <a:r>
              <a:rPr sz="2800" b="1" dirty="0" err="1"/>
              <a:t>delittuosa</a:t>
            </a:r>
            <a:r>
              <a:rPr sz="2800" b="1" dirty="0"/>
              <a:t> </a:t>
            </a:r>
            <a:r>
              <a:rPr dirty="0"/>
              <a:t>(Cass. II, 16/12/1997). </a:t>
            </a:r>
            <a:endParaRPr lang="it-IT" dirty="0"/>
          </a:p>
          <a:p>
            <a:pPr algn="just">
              <a:lnSpc>
                <a:spcPct val="114000"/>
              </a:lnSpc>
              <a:spcBef>
                <a:spcPts val="1200"/>
              </a:spcBef>
              <a:defRPr sz="2200" b="0">
                <a:latin typeface="Times New Roman"/>
                <a:ea typeface="Times New Roman"/>
                <a:cs typeface="Times New Roman"/>
                <a:sym typeface="Times New Roman"/>
              </a:defRPr>
            </a:pPr>
            <a:r>
              <a:rPr dirty="0"/>
              <a:t>Il </a:t>
            </a:r>
            <a:r>
              <a:rPr dirty="0" err="1"/>
              <a:t>tentativo</a:t>
            </a:r>
            <a:r>
              <a:rPr dirty="0"/>
              <a:t> è </a:t>
            </a:r>
            <a:r>
              <a:rPr dirty="0" err="1"/>
              <a:t>configurabile</a:t>
            </a:r>
            <a:r>
              <a:rPr dirty="0"/>
              <a:t>.</a:t>
            </a:r>
          </a:p>
        </p:txBody>
      </p:sp>
      <p:pic>
        <p:nvPicPr>
          <p:cNvPr id="474"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75"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Ricettazione</a:t>
            </a:r>
          </a:p>
        </p:txBody>
      </p:sp>
    </p:spTree>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 name="Rettangolo 4"/>
          <p:cNvSpPr txBox="1"/>
          <p:nvPr/>
        </p:nvSpPr>
        <p:spPr>
          <a:xfrm>
            <a:off x="45719" y="836713"/>
            <a:ext cx="9052561" cy="476905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u="sng">
                <a:latin typeface="Times New Roman"/>
                <a:ea typeface="Times New Roman"/>
                <a:cs typeface="Times New Roman"/>
                <a:sym typeface="Times New Roman"/>
              </a:defRPr>
            </a:pPr>
            <a:r>
              <a:rPr dirty="0"/>
              <a:t>DIFFERENZA TRA RICETTAZIONE E INCAUTO ACQUISTO</a:t>
            </a:r>
          </a:p>
          <a:p>
            <a:pPr algn="just">
              <a:lnSpc>
                <a:spcPct val="114000"/>
              </a:lnSpc>
              <a:spcBef>
                <a:spcPts val="1200"/>
              </a:spcBef>
              <a:defRPr sz="2200" b="0">
                <a:latin typeface="Times New Roman"/>
                <a:ea typeface="Times New Roman"/>
                <a:cs typeface="Times New Roman"/>
                <a:sym typeface="Times New Roman"/>
              </a:defRPr>
            </a:pPr>
            <a:r>
              <a:rPr dirty="0"/>
              <a:t>I </a:t>
            </a:r>
            <a:r>
              <a:rPr dirty="0" err="1"/>
              <a:t>profili</a:t>
            </a:r>
            <a:r>
              <a:rPr dirty="0"/>
              <a:t> </a:t>
            </a:r>
            <a:r>
              <a:rPr dirty="0" err="1"/>
              <a:t>distintivi</a:t>
            </a:r>
            <a:r>
              <a:rPr dirty="0"/>
              <a:t> </a:t>
            </a:r>
            <a:r>
              <a:rPr dirty="0" err="1"/>
              <a:t>sono</a:t>
            </a:r>
            <a:r>
              <a:rPr dirty="0"/>
              <a:t>:</a:t>
            </a:r>
          </a:p>
          <a:p>
            <a:pPr marL="342900" indent="-342900" algn="just">
              <a:lnSpc>
                <a:spcPct val="114000"/>
              </a:lnSpc>
              <a:spcBef>
                <a:spcPts val="1200"/>
              </a:spcBef>
              <a:buSzPct val="100000"/>
              <a:buFont typeface="Times New Roman"/>
              <a:buChar char="➢"/>
              <a:defRPr sz="2200" u="sng">
                <a:latin typeface="Times New Roman"/>
                <a:ea typeface="Times New Roman"/>
                <a:cs typeface="Times New Roman"/>
                <a:sym typeface="Times New Roman"/>
              </a:defRPr>
            </a:pPr>
            <a:r>
              <a:rPr dirty="0"/>
              <a:t>sotto il </a:t>
            </a:r>
            <a:r>
              <a:rPr dirty="0" err="1"/>
              <a:t>profilo</a:t>
            </a:r>
            <a:r>
              <a:rPr dirty="0"/>
              <a:t> </a:t>
            </a:r>
            <a:r>
              <a:rPr dirty="0" err="1"/>
              <a:t>oggettivo</a:t>
            </a:r>
            <a:r>
              <a:rPr b="0" u="none" dirty="0"/>
              <a:t>, le due </a:t>
            </a:r>
            <a:r>
              <a:rPr b="0" u="none" dirty="0" err="1"/>
              <a:t>fattispecie</a:t>
            </a:r>
            <a:r>
              <a:rPr b="0" u="none" dirty="0"/>
              <a:t> </a:t>
            </a:r>
            <a:r>
              <a:rPr b="0" u="none" dirty="0" err="1"/>
              <a:t>hanno</a:t>
            </a:r>
            <a:r>
              <a:rPr b="0" u="none" dirty="0"/>
              <a:t> </a:t>
            </a:r>
            <a:r>
              <a:rPr u="none" dirty="0"/>
              <a:t>in </a:t>
            </a:r>
            <a:r>
              <a:rPr u="none" dirty="0" err="1"/>
              <a:t>comune</a:t>
            </a:r>
            <a:r>
              <a:rPr u="none" dirty="0"/>
              <a:t> il </a:t>
            </a:r>
            <a:r>
              <a:rPr u="none" dirty="0" err="1"/>
              <a:t>presupposto</a:t>
            </a:r>
            <a:r>
              <a:rPr u="none" dirty="0"/>
              <a:t> </a:t>
            </a:r>
            <a:r>
              <a:rPr u="none" dirty="0" err="1"/>
              <a:t>dell’effettiva</a:t>
            </a:r>
            <a:r>
              <a:rPr u="none" dirty="0"/>
              <a:t> </a:t>
            </a:r>
            <a:r>
              <a:rPr u="none" dirty="0" err="1"/>
              <a:t>provenienza</a:t>
            </a:r>
            <a:r>
              <a:rPr u="none" dirty="0"/>
              <a:t> </a:t>
            </a:r>
            <a:r>
              <a:rPr u="none" dirty="0" err="1"/>
              <a:t>della</a:t>
            </a:r>
            <a:r>
              <a:rPr u="none" dirty="0"/>
              <a:t> </a:t>
            </a:r>
            <a:r>
              <a:rPr u="none" dirty="0" err="1"/>
              <a:t>cosa</a:t>
            </a:r>
            <a:r>
              <a:rPr u="none" dirty="0"/>
              <a:t> da </a:t>
            </a:r>
            <a:r>
              <a:rPr u="none" dirty="0" err="1"/>
              <a:t>reato</a:t>
            </a:r>
            <a:r>
              <a:rPr b="0" u="none" dirty="0"/>
              <a:t>, con la </a:t>
            </a:r>
            <a:r>
              <a:rPr b="0" u="none" dirty="0" err="1"/>
              <a:t>differenza</a:t>
            </a:r>
            <a:r>
              <a:rPr b="0" u="none" dirty="0"/>
              <a:t> </a:t>
            </a:r>
            <a:r>
              <a:rPr b="0" u="none" dirty="0" err="1"/>
              <a:t>che</a:t>
            </a:r>
            <a:r>
              <a:rPr b="0" u="none" dirty="0"/>
              <a:t> </a:t>
            </a:r>
            <a:r>
              <a:rPr u="none" dirty="0">
                <a:solidFill>
                  <a:srgbClr val="FF3399"/>
                </a:solidFill>
              </a:rPr>
              <a:t>per la </a:t>
            </a:r>
            <a:r>
              <a:rPr u="none" dirty="0" err="1">
                <a:solidFill>
                  <a:srgbClr val="FF3399"/>
                </a:solidFill>
              </a:rPr>
              <a:t>ricettazione</a:t>
            </a:r>
            <a:r>
              <a:rPr u="none" dirty="0">
                <a:solidFill>
                  <a:srgbClr val="FF3399"/>
                </a:solidFill>
              </a:rPr>
              <a:t> la </a:t>
            </a:r>
            <a:r>
              <a:rPr u="none" dirty="0" err="1">
                <a:solidFill>
                  <a:srgbClr val="FF3399"/>
                </a:solidFill>
              </a:rPr>
              <a:t>stessa</a:t>
            </a:r>
            <a:r>
              <a:rPr u="none" dirty="0">
                <a:solidFill>
                  <a:srgbClr val="FF3399"/>
                </a:solidFill>
              </a:rPr>
              <a:t> </a:t>
            </a:r>
            <a:r>
              <a:rPr u="none" dirty="0" err="1">
                <a:solidFill>
                  <a:srgbClr val="FF3399"/>
                </a:solidFill>
              </a:rPr>
              <a:t>sia</a:t>
            </a:r>
            <a:r>
              <a:rPr u="none" dirty="0">
                <a:solidFill>
                  <a:srgbClr val="FF3399"/>
                </a:solidFill>
              </a:rPr>
              <a:t> </a:t>
            </a:r>
            <a:r>
              <a:rPr u="none" dirty="0" err="1">
                <a:solidFill>
                  <a:srgbClr val="FF3399"/>
                </a:solidFill>
              </a:rPr>
              <a:t>proveniente</a:t>
            </a:r>
            <a:r>
              <a:rPr u="none" dirty="0">
                <a:solidFill>
                  <a:srgbClr val="FF3399"/>
                </a:solidFill>
              </a:rPr>
              <a:t> da un </a:t>
            </a:r>
            <a:r>
              <a:rPr u="sng" dirty="0" err="1">
                <a:solidFill>
                  <a:srgbClr val="FF3399"/>
                </a:solidFill>
              </a:rPr>
              <a:t>delitto</a:t>
            </a:r>
            <a:r>
              <a:rPr u="none" dirty="0">
                <a:solidFill>
                  <a:srgbClr val="FF3399"/>
                </a:solidFill>
              </a:rPr>
              <a:t> </a:t>
            </a:r>
            <a:r>
              <a:rPr b="0" u="none" dirty="0"/>
              <a:t>e </a:t>
            </a:r>
            <a:r>
              <a:rPr b="0" u="sng" dirty="0"/>
              <a:t>non </a:t>
            </a:r>
            <a:r>
              <a:rPr b="0" u="sng" dirty="0" err="1"/>
              <a:t>anche</a:t>
            </a:r>
            <a:r>
              <a:rPr b="0" u="sng" dirty="0"/>
              <a:t> da </a:t>
            </a:r>
            <a:r>
              <a:rPr b="0" u="sng" dirty="0" err="1"/>
              <a:t>una</a:t>
            </a:r>
            <a:r>
              <a:rPr b="0" u="sng" dirty="0"/>
              <a:t> </a:t>
            </a:r>
            <a:r>
              <a:rPr b="0" u="sng" dirty="0" err="1"/>
              <a:t>contravvenzione</a:t>
            </a:r>
            <a:r>
              <a:rPr b="0" u="none" dirty="0"/>
              <a:t>;</a:t>
            </a:r>
          </a:p>
          <a:p>
            <a:pPr marL="342900" indent="-342900" algn="just">
              <a:lnSpc>
                <a:spcPct val="114000"/>
              </a:lnSpc>
              <a:spcBef>
                <a:spcPts val="1200"/>
              </a:spcBef>
              <a:buSzPct val="100000"/>
              <a:buFont typeface="Times New Roman"/>
              <a:buChar char="➢"/>
              <a:defRPr sz="2200" u="sng">
                <a:latin typeface="Times New Roman"/>
                <a:ea typeface="Times New Roman"/>
                <a:cs typeface="Times New Roman"/>
                <a:sym typeface="Times New Roman"/>
              </a:defRPr>
            </a:pPr>
            <a:r>
              <a:rPr dirty="0"/>
              <a:t>sotto il </a:t>
            </a:r>
            <a:r>
              <a:rPr dirty="0" err="1"/>
              <a:t>profilo</a:t>
            </a:r>
            <a:r>
              <a:rPr dirty="0"/>
              <a:t> </a:t>
            </a:r>
            <a:r>
              <a:rPr dirty="0" err="1"/>
              <a:t>soggettivo</a:t>
            </a:r>
            <a:r>
              <a:rPr b="0" u="none" dirty="0"/>
              <a:t>, le due figure </a:t>
            </a:r>
            <a:r>
              <a:rPr b="0" u="none" dirty="0" err="1"/>
              <a:t>si</a:t>
            </a:r>
            <a:r>
              <a:rPr b="0" u="none" dirty="0"/>
              <a:t> </a:t>
            </a:r>
            <a:r>
              <a:rPr b="0" u="none" dirty="0" err="1"/>
              <a:t>distinguono</a:t>
            </a:r>
            <a:r>
              <a:rPr b="0" u="none" dirty="0"/>
              <a:t> in </a:t>
            </a:r>
            <a:r>
              <a:rPr b="0" u="none" dirty="0" err="1"/>
              <a:t>quanto</a:t>
            </a:r>
            <a:r>
              <a:rPr b="0" u="none" dirty="0"/>
              <a:t> la </a:t>
            </a:r>
            <a:r>
              <a:rPr u="none" dirty="0" err="1">
                <a:solidFill>
                  <a:srgbClr val="FF3399"/>
                </a:solidFill>
              </a:rPr>
              <a:t>ricettazione</a:t>
            </a:r>
            <a:r>
              <a:rPr u="none" dirty="0">
                <a:solidFill>
                  <a:srgbClr val="FF3399"/>
                </a:solidFill>
              </a:rPr>
              <a:t> è </a:t>
            </a:r>
            <a:r>
              <a:rPr u="none" dirty="0" err="1">
                <a:solidFill>
                  <a:srgbClr val="FF3399"/>
                </a:solidFill>
              </a:rPr>
              <a:t>reato</a:t>
            </a:r>
            <a:r>
              <a:rPr u="none" dirty="0">
                <a:solidFill>
                  <a:srgbClr val="FF3399"/>
                </a:solidFill>
              </a:rPr>
              <a:t> </a:t>
            </a:r>
            <a:r>
              <a:rPr u="none" dirty="0" err="1">
                <a:solidFill>
                  <a:srgbClr val="FF3399"/>
                </a:solidFill>
              </a:rPr>
              <a:t>doloso</a:t>
            </a:r>
            <a:r>
              <a:rPr b="0" u="none" dirty="0"/>
              <a:t>, </a:t>
            </a:r>
            <a:r>
              <a:rPr b="0" u="none" dirty="0" err="1"/>
              <a:t>mentre</a:t>
            </a:r>
            <a:r>
              <a:rPr b="0" u="none" dirty="0"/>
              <a:t> </a:t>
            </a:r>
            <a:r>
              <a:rPr b="0" u="none" dirty="0" err="1"/>
              <a:t>l</a:t>
            </a:r>
            <a:r>
              <a:rPr u="none" dirty="0" err="1">
                <a:solidFill>
                  <a:srgbClr val="FF3399"/>
                </a:solidFill>
              </a:rPr>
              <a:t>’incauto</a:t>
            </a:r>
            <a:r>
              <a:rPr u="none" dirty="0">
                <a:solidFill>
                  <a:srgbClr val="FF3399"/>
                </a:solidFill>
              </a:rPr>
              <a:t> </a:t>
            </a:r>
            <a:r>
              <a:rPr u="none" dirty="0" err="1">
                <a:solidFill>
                  <a:srgbClr val="FF3399"/>
                </a:solidFill>
              </a:rPr>
              <a:t>acquisto</a:t>
            </a:r>
            <a:r>
              <a:rPr u="none" dirty="0">
                <a:solidFill>
                  <a:srgbClr val="FF3399"/>
                </a:solidFill>
              </a:rPr>
              <a:t> è </a:t>
            </a:r>
            <a:r>
              <a:rPr u="none" dirty="0" err="1">
                <a:solidFill>
                  <a:srgbClr val="FF3399"/>
                </a:solidFill>
              </a:rPr>
              <a:t>punito</a:t>
            </a:r>
            <a:r>
              <a:rPr u="none" dirty="0">
                <a:solidFill>
                  <a:srgbClr val="FF3399"/>
                </a:solidFill>
              </a:rPr>
              <a:t> </a:t>
            </a:r>
            <a:r>
              <a:rPr u="none" dirty="0" err="1">
                <a:solidFill>
                  <a:srgbClr val="FF3399"/>
                </a:solidFill>
              </a:rPr>
              <a:t>solamente</a:t>
            </a:r>
            <a:r>
              <a:rPr u="none" dirty="0">
                <a:solidFill>
                  <a:srgbClr val="FF3399"/>
                </a:solidFill>
              </a:rPr>
              <a:t> come </a:t>
            </a:r>
            <a:r>
              <a:rPr u="none" dirty="0" err="1">
                <a:solidFill>
                  <a:srgbClr val="FF3399"/>
                </a:solidFill>
              </a:rPr>
              <a:t>reato</a:t>
            </a:r>
            <a:r>
              <a:rPr u="none" dirty="0">
                <a:solidFill>
                  <a:srgbClr val="FF3399"/>
                </a:solidFill>
              </a:rPr>
              <a:t> </a:t>
            </a:r>
            <a:r>
              <a:rPr u="none" dirty="0" err="1">
                <a:solidFill>
                  <a:srgbClr val="FF3399"/>
                </a:solidFill>
              </a:rPr>
              <a:t>colposo</a:t>
            </a:r>
            <a:r>
              <a:rPr b="0" u="none" dirty="0"/>
              <a:t>. Detta </a:t>
            </a:r>
            <a:r>
              <a:rPr b="0" u="none" dirty="0" err="1"/>
              <a:t>colpa</a:t>
            </a:r>
            <a:r>
              <a:rPr b="0" u="none" dirty="0"/>
              <a:t> </a:t>
            </a:r>
            <a:r>
              <a:rPr b="0" u="none" dirty="0" err="1"/>
              <a:t>consiste</a:t>
            </a:r>
            <a:r>
              <a:rPr b="0" u="none" dirty="0"/>
              <a:t> </a:t>
            </a:r>
            <a:r>
              <a:rPr b="0" u="none" dirty="0" err="1"/>
              <a:t>nel</a:t>
            </a:r>
            <a:r>
              <a:rPr b="0" u="none" dirty="0"/>
              <a:t> </a:t>
            </a:r>
            <a:r>
              <a:rPr b="0" u="none" dirty="0" err="1"/>
              <a:t>mancato</a:t>
            </a:r>
            <a:r>
              <a:rPr b="0" u="none" dirty="0"/>
              <a:t> </a:t>
            </a:r>
            <a:r>
              <a:rPr b="0" u="none" dirty="0" err="1"/>
              <a:t>accertamento</a:t>
            </a:r>
            <a:r>
              <a:rPr b="0" u="none" dirty="0"/>
              <a:t> </a:t>
            </a:r>
            <a:r>
              <a:rPr b="0" u="none" dirty="0" err="1"/>
              <a:t>della</a:t>
            </a:r>
            <a:r>
              <a:rPr b="0" u="none" dirty="0"/>
              <a:t> </a:t>
            </a:r>
            <a:r>
              <a:rPr b="0" u="none" dirty="0" err="1"/>
              <a:t>provenienza</a:t>
            </a:r>
            <a:r>
              <a:rPr b="0" u="none" dirty="0"/>
              <a:t> </a:t>
            </a:r>
            <a:r>
              <a:rPr b="0" u="none" dirty="0" err="1"/>
              <a:t>illecita</a:t>
            </a:r>
            <a:r>
              <a:rPr b="0" u="none" dirty="0"/>
              <a:t> </a:t>
            </a:r>
            <a:r>
              <a:rPr b="0" u="none" dirty="0" err="1"/>
              <a:t>della</a:t>
            </a:r>
            <a:r>
              <a:rPr b="0" u="none" dirty="0"/>
              <a:t> </a:t>
            </a:r>
            <a:r>
              <a:rPr b="0" u="none" dirty="0" err="1"/>
              <a:t>cosa</a:t>
            </a:r>
            <a:r>
              <a:rPr b="0" u="none" dirty="0"/>
              <a:t>, </a:t>
            </a:r>
            <a:r>
              <a:rPr b="0" u="none" dirty="0" err="1"/>
              <a:t>pur</a:t>
            </a:r>
            <a:r>
              <a:rPr b="0" u="none" dirty="0"/>
              <a:t> </a:t>
            </a:r>
            <a:r>
              <a:rPr b="0" u="none" dirty="0" err="1"/>
              <a:t>dovendosene</a:t>
            </a:r>
            <a:r>
              <a:rPr b="0" u="none" dirty="0"/>
              <a:t> </a:t>
            </a:r>
            <a:r>
              <a:rPr b="0" u="none" dirty="0" err="1"/>
              <a:t>sospettare</a:t>
            </a:r>
            <a:r>
              <a:rPr b="0" u="none" dirty="0"/>
              <a:t> per via </a:t>
            </a:r>
            <a:r>
              <a:rPr b="0" u="none" dirty="0" err="1"/>
              <a:t>della</a:t>
            </a:r>
            <a:r>
              <a:rPr b="0" u="none" dirty="0"/>
              <a:t> </a:t>
            </a:r>
            <a:r>
              <a:rPr b="0" u="none" dirty="0" err="1"/>
              <a:t>qualità</a:t>
            </a:r>
            <a:r>
              <a:rPr b="0" u="none" dirty="0"/>
              <a:t>, </a:t>
            </a:r>
            <a:r>
              <a:rPr b="0" u="none" dirty="0" err="1"/>
              <a:t>entità</a:t>
            </a:r>
            <a:r>
              <a:rPr b="0" u="none" dirty="0"/>
              <a:t> del </a:t>
            </a:r>
            <a:r>
              <a:rPr b="0" u="none" dirty="0" err="1"/>
              <a:t>prezzo</a:t>
            </a:r>
            <a:r>
              <a:rPr b="0" u="none" dirty="0"/>
              <a:t> e </a:t>
            </a:r>
            <a:r>
              <a:rPr b="0" u="none" dirty="0" err="1"/>
              <a:t>condizione</a:t>
            </a:r>
            <a:r>
              <a:rPr b="0" u="none" dirty="0"/>
              <a:t> </a:t>
            </a:r>
            <a:r>
              <a:rPr b="0" u="none" dirty="0" err="1"/>
              <a:t>dell’offerente</a:t>
            </a:r>
            <a:r>
              <a:rPr b="0" u="none" dirty="0"/>
              <a:t>.</a:t>
            </a:r>
          </a:p>
        </p:txBody>
      </p:sp>
      <p:pic>
        <p:nvPicPr>
          <p:cNvPr id="478"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79"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Ricettazione</a:t>
            </a:r>
          </a:p>
        </p:txBody>
      </p:sp>
    </p:spTree>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CasellaDiTesto 1"/>
          <p:cNvSpPr txBox="1"/>
          <p:nvPr/>
        </p:nvSpPr>
        <p:spPr>
          <a:xfrm>
            <a:off x="229859" y="848856"/>
            <a:ext cx="8684281" cy="56537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marL="1797050" indent="-1797050" algn="just">
              <a:lnSpc>
                <a:spcPct val="114000"/>
              </a:lnSpc>
              <a:spcBef>
                <a:spcPts val="600"/>
              </a:spcBef>
              <a:defRPr sz="2400">
                <a:solidFill>
                  <a:srgbClr val="B27DFF"/>
                </a:solidFill>
                <a:latin typeface="Book Antiqua"/>
                <a:ea typeface="Book Antiqua"/>
                <a:cs typeface="Book Antiqua"/>
                <a:sym typeface="Book Antiqua"/>
              </a:defRPr>
            </a:pPr>
            <a:r>
              <a:rPr dirty="0">
                <a:solidFill>
                  <a:srgbClr val="FF0000"/>
                </a:solidFill>
              </a:rPr>
              <a:t>Art. 648 bis </a:t>
            </a:r>
            <a:r>
              <a:rPr dirty="0" err="1">
                <a:solidFill>
                  <a:srgbClr val="FF0000"/>
                </a:solidFill>
              </a:rPr>
              <a:t>c.p.</a:t>
            </a:r>
            <a:r>
              <a:rPr dirty="0">
                <a:solidFill>
                  <a:srgbClr val="FF0000"/>
                </a:solidFill>
              </a:rPr>
              <a:t> </a:t>
            </a:r>
            <a:r>
              <a:rPr dirty="0" err="1">
                <a:solidFill>
                  <a:srgbClr val="FF0000"/>
                </a:solidFill>
              </a:rPr>
              <a:t>Riciclaggio</a:t>
            </a:r>
            <a:endParaRPr dirty="0">
              <a:solidFill>
                <a:srgbClr val="FF0000"/>
              </a:solidFill>
              <a:latin typeface="Times New Roman"/>
              <a:ea typeface="Times New Roman"/>
              <a:cs typeface="Times New Roman"/>
              <a:sym typeface="Times New Roman"/>
            </a:endParaRPr>
          </a:p>
          <a:p>
            <a:pPr algn="just">
              <a:lnSpc>
                <a:spcPct val="114000"/>
              </a:lnSpc>
              <a:spcBef>
                <a:spcPts val="600"/>
              </a:spcBef>
              <a:defRPr sz="2000" b="0">
                <a:latin typeface="Book Antiqua"/>
                <a:ea typeface="Book Antiqua"/>
                <a:cs typeface="Book Antiqua"/>
                <a:sym typeface="Book Antiqua"/>
              </a:defRPr>
            </a:pPr>
            <a:r>
              <a:rPr dirty="0"/>
              <a:t>«</a:t>
            </a:r>
            <a:r>
              <a:rPr i="1" dirty="0" err="1"/>
              <a:t>Fuori</a:t>
            </a:r>
            <a:r>
              <a:rPr i="1" dirty="0"/>
              <a:t> </a:t>
            </a:r>
            <a:r>
              <a:rPr i="1" dirty="0" err="1"/>
              <a:t>dei</a:t>
            </a:r>
            <a:r>
              <a:rPr i="1" dirty="0"/>
              <a:t> </a:t>
            </a:r>
            <a:r>
              <a:rPr i="1" dirty="0" err="1"/>
              <a:t>casi</a:t>
            </a:r>
            <a:r>
              <a:rPr i="1" dirty="0"/>
              <a:t> di </a:t>
            </a:r>
            <a:r>
              <a:rPr i="1" dirty="0" err="1"/>
              <a:t>concorso</a:t>
            </a:r>
            <a:r>
              <a:rPr i="1" dirty="0"/>
              <a:t> </a:t>
            </a:r>
            <a:r>
              <a:rPr i="1" dirty="0" err="1"/>
              <a:t>nel</a:t>
            </a:r>
            <a:r>
              <a:rPr i="1" dirty="0"/>
              <a:t> </a:t>
            </a:r>
            <a:r>
              <a:rPr i="1" dirty="0" err="1"/>
              <a:t>reato</a:t>
            </a:r>
            <a:r>
              <a:rPr i="1" dirty="0"/>
              <a:t>, </a:t>
            </a:r>
            <a:r>
              <a:rPr i="1" dirty="0" err="1"/>
              <a:t>chiunque</a:t>
            </a:r>
            <a:r>
              <a:rPr i="1" dirty="0"/>
              <a:t> </a:t>
            </a:r>
            <a:r>
              <a:rPr b="1" i="1" u="sng" dirty="0" err="1">
                <a:solidFill>
                  <a:srgbClr val="B27DFF"/>
                </a:solidFill>
              </a:rPr>
              <a:t>sostituisce</a:t>
            </a:r>
            <a:r>
              <a:rPr b="1" i="1" u="sng" dirty="0">
                <a:solidFill>
                  <a:srgbClr val="B27DFF"/>
                </a:solidFill>
              </a:rPr>
              <a:t> o </a:t>
            </a:r>
            <a:r>
              <a:rPr b="1" i="1" u="sng" dirty="0" err="1">
                <a:solidFill>
                  <a:srgbClr val="B27DFF"/>
                </a:solidFill>
              </a:rPr>
              <a:t>trasferisce</a:t>
            </a:r>
            <a:r>
              <a:rPr b="1" i="1" u="sng" dirty="0">
                <a:solidFill>
                  <a:srgbClr val="B27DFF"/>
                </a:solidFill>
              </a:rPr>
              <a:t> </a:t>
            </a:r>
            <a:r>
              <a:rPr b="1" i="1" dirty="0" err="1">
                <a:solidFill>
                  <a:srgbClr val="B27DFF"/>
                </a:solidFill>
              </a:rPr>
              <a:t>denaro</a:t>
            </a:r>
            <a:r>
              <a:rPr b="1" i="1" dirty="0">
                <a:solidFill>
                  <a:srgbClr val="B27DFF"/>
                </a:solidFill>
              </a:rPr>
              <a:t>, </a:t>
            </a:r>
            <a:r>
              <a:rPr b="1" i="1" dirty="0" err="1">
                <a:solidFill>
                  <a:srgbClr val="B27DFF"/>
                </a:solidFill>
              </a:rPr>
              <a:t>beni</a:t>
            </a:r>
            <a:r>
              <a:rPr b="1" i="1" dirty="0">
                <a:solidFill>
                  <a:srgbClr val="B27DFF"/>
                </a:solidFill>
              </a:rPr>
              <a:t> o </a:t>
            </a:r>
            <a:r>
              <a:rPr b="1" i="1" dirty="0" err="1">
                <a:solidFill>
                  <a:srgbClr val="B27DFF"/>
                </a:solidFill>
              </a:rPr>
              <a:t>altre</a:t>
            </a:r>
            <a:r>
              <a:rPr b="1" i="1" dirty="0">
                <a:solidFill>
                  <a:srgbClr val="B27DFF"/>
                </a:solidFill>
              </a:rPr>
              <a:t> </a:t>
            </a:r>
            <a:r>
              <a:rPr b="1" i="1" dirty="0" err="1">
                <a:solidFill>
                  <a:srgbClr val="B27DFF"/>
                </a:solidFill>
              </a:rPr>
              <a:t>utilità</a:t>
            </a:r>
            <a:r>
              <a:rPr b="1" i="1" dirty="0">
                <a:solidFill>
                  <a:srgbClr val="B27DFF"/>
                </a:solidFill>
              </a:rPr>
              <a:t> </a:t>
            </a:r>
            <a:r>
              <a:rPr b="1" i="1" dirty="0" err="1">
                <a:solidFill>
                  <a:srgbClr val="B27DFF"/>
                </a:solidFill>
              </a:rPr>
              <a:t>provenienti</a:t>
            </a:r>
            <a:r>
              <a:rPr b="1" i="1" dirty="0">
                <a:solidFill>
                  <a:srgbClr val="B27DFF"/>
                </a:solidFill>
              </a:rPr>
              <a:t> da </a:t>
            </a:r>
            <a:r>
              <a:rPr b="1" i="1" dirty="0" err="1">
                <a:solidFill>
                  <a:srgbClr val="B27DFF"/>
                </a:solidFill>
              </a:rPr>
              <a:t>delitto</a:t>
            </a:r>
            <a:r>
              <a:rPr b="1" i="1" dirty="0">
                <a:solidFill>
                  <a:srgbClr val="B27DFF"/>
                </a:solidFill>
              </a:rPr>
              <a:t> non </a:t>
            </a:r>
            <a:r>
              <a:rPr b="1" i="1" dirty="0" err="1">
                <a:solidFill>
                  <a:srgbClr val="B27DFF"/>
                </a:solidFill>
              </a:rPr>
              <a:t>colposo</a:t>
            </a:r>
            <a:r>
              <a:rPr i="1" dirty="0"/>
              <a:t>; </a:t>
            </a:r>
            <a:r>
              <a:rPr i="1" dirty="0" err="1"/>
              <a:t>ovvero</a:t>
            </a:r>
            <a:r>
              <a:rPr i="1" dirty="0"/>
              <a:t> </a:t>
            </a:r>
            <a:r>
              <a:rPr b="1" i="1" u="sng" dirty="0" err="1">
                <a:solidFill>
                  <a:srgbClr val="B27DFF"/>
                </a:solidFill>
              </a:rPr>
              <a:t>compie</a:t>
            </a:r>
            <a:r>
              <a:rPr i="1" dirty="0"/>
              <a:t> in </a:t>
            </a:r>
            <a:r>
              <a:rPr i="1" dirty="0" err="1"/>
              <a:t>relazione</a:t>
            </a:r>
            <a:r>
              <a:rPr i="1" dirty="0"/>
              <a:t> ad </a:t>
            </a:r>
            <a:r>
              <a:rPr i="1" dirty="0" err="1"/>
              <a:t>essi</a:t>
            </a:r>
            <a:r>
              <a:rPr i="1" dirty="0"/>
              <a:t> </a:t>
            </a:r>
            <a:r>
              <a:rPr b="1" i="1" u="sng" dirty="0" err="1">
                <a:solidFill>
                  <a:srgbClr val="B27DFF"/>
                </a:solidFill>
              </a:rPr>
              <a:t>altre</a:t>
            </a:r>
            <a:r>
              <a:rPr b="1" i="1" u="sng" dirty="0">
                <a:solidFill>
                  <a:srgbClr val="B27DFF"/>
                </a:solidFill>
              </a:rPr>
              <a:t> </a:t>
            </a:r>
            <a:r>
              <a:rPr b="1" i="1" u="sng" dirty="0" err="1">
                <a:solidFill>
                  <a:srgbClr val="B27DFF"/>
                </a:solidFill>
              </a:rPr>
              <a:t>operazioni</a:t>
            </a:r>
            <a:r>
              <a:rPr i="1" dirty="0"/>
              <a:t>, </a:t>
            </a:r>
            <a:r>
              <a:rPr b="1" i="1" u="sng" dirty="0">
                <a:solidFill>
                  <a:srgbClr val="B27DFF"/>
                </a:solidFill>
              </a:rPr>
              <a:t>in modo da </a:t>
            </a:r>
            <a:r>
              <a:rPr b="1" i="1" u="sng" dirty="0" err="1">
                <a:solidFill>
                  <a:srgbClr val="B27DFF"/>
                </a:solidFill>
              </a:rPr>
              <a:t>ostacolare</a:t>
            </a:r>
            <a:r>
              <a:rPr b="1" i="1" u="sng" dirty="0">
                <a:solidFill>
                  <a:srgbClr val="B27DFF"/>
                </a:solidFill>
              </a:rPr>
              <a:t> </a:t>
            </a:r>
            <a:r>
              <a:rPr b="1" i="1" u="sng" dirty="0" err="1">
                <a:solidFill>
                  <a:srgbClr val="B27DFF"/>
                </a:solidFill>
              </a:rPr>
              <a:t>l'identificazione</a:t>
            </a:r>
            <a:r>
              <a:rPr b="1" i="1" u="sng" dirty="0">
                <a:solidFill>
                  <a:srgbClr val="B27DFF"/>
                </a:solidFill>
              </a:rPr>
              <a:t> </a:t>
            </a:r>
            <a:r>
              <a:rPr b="1" i="1" u="sng" dirty="0" err="1">
                <a:solidFill>
                  <a:srgbClr val="B27DFF"/>
                </a:solidFill>
              </a:rPr>
              <a:t>della</a:t>
            </a:r>
            <a:r>
              <a:rPr b="1" i="1" u="sng" dirty="0">
                <a:solidFill>
                  <a:srgbClr val="B27DFF"/>
                </a:solidFill>
              </a:rPr>
              <a:t> </a:t>
            </a:r>
            <a:r>
              <a:rPr b="1" i="1" u="sng" dirty="0" err="1">
                <a:solidFill>
                  <a:srgbClr val="B27DFF"/>
                </a:solidFill>
              </a:rPr>
              <a:t>loro</a:t>
            </a:r>
            <a:r>
              <a:rPr b="1" i="1" u="sng" dirty="0">
                <a:solidFill>
                  <a:srgbClr val="B27DFF"/>
                </a:solidFill>
              </a:rPr>
              <a:t> </a:t>
            </a:r>
            <a:r>
              <a:rPr b="1" i="1" u="sng" dirty="0" err="1">
                <a:solidFill>
                  <a:srgbClr val="B27DFF"/>
                </a:solidFill>
              </a:rPr>
              <a:t>provenienza</a:t>
            </a:r>
            <a:r>
              <a:rPr b="1" i="1" u="sng" dirty="0">
                <a:solidFill>
                  <a:srgbClr val="B27DFF"/>
                </a:solidFill>
              </a:rPr>
              <a:t> </a:t>
            </a:r>
            <a:r>
              <a:rPr b="1" i="1" u="sng" dirty="0" err="1">
                <a:solidFill>
                  <a:srgbClr val="B27DFF"/>
                </a:solidFill>
              </a:rPr>
              <a:t>delittuosa</a:t>
            </a:r>
            <a:r>
              <a:rPr i="1" dirty="0"/>
              <a:t>, è </a:t>
            </a:r>
            <a:r>
              <a:rPr i="1" dirty="0" err="1"/>
              <a:t>punito</a:t>
            </a:r>
            <a:r>
              <a:rPr i="1" dirty="0"/>
              <a:t> con la </a:t>
            </a:r>
            <a:r>
              <a:rPr i="1" dirty="0" err="1"/>
              <a:t>reclusione</a:t>
            </a:r>
            <a:r>
              <a:rPr i="1" dirty="0"/>
              <a:t> da quattro a </a:t>
            </a:r>
            <a:r>
              <a:rPr i="1" dirty="0" err="1"/>
              <a:t>dodici</a:t>
            </a:r>
            <a:r>
              <a:rPr i="1" dirty="0"/>
              <a:t> </a:t>
            </a:r>
            <a:r>
              <a:rPr i="1" dirty="0" err="1"/>
              <a:t>anni</a:t>
            </a:r>
            <a:r>
              <a:rPr i="1" dirty="0"/>
              <a:t> e con la </a:t>
            </a:r>
            <a:r>
              <a:rPr i="1" dirty="0" err="1"/>
              <a:t>multa</a:t>
            </a:r>
            <a:r>
              <a:rPr i="1" dirty="0"/>
              <a:t> da euro 5.000 a euro 25.000.</a:t>
            </a:r>
            <a:endParaRPr dirty="0">
              <a:latin typeface="Times New Roman"/>
              <a:ea typeface="Times New Roman"/>
              <a:cs typeface="Times New Roman"/>
              <a:sym typeface="Times New Roman"/>
            </a:endParaRPr>
          </a:p>
          <a:p>
            <a:pPr algn="just">
              <a:lnSpc>
                <a:spcPct val="114000"/>
              </a:lnSpc>
              <a:spcBef>
                <a:spcPts val="600"/>
              </a:spcBef>
              <a:defRPr sz="1800" b="0" i="1">
                <a:latin typeface="Times New Roman"/>
                <a:ea typeface="Times New Roman"/>
                <a:cs typeface="Times New Roman"/>
                <a:sym typeface="Times New Roman"/>
              </a:defRPr>
            </a:pPr>
            <a:r>
              <a:rPr dirty="0"/>
              <a:t>La </a:t>
            </a:r>
            <a:r>
              <a:rPr dirty="0" err="1"/>
              <a:t>pena</a:t>
            </a:r>
            <a:r>
              <a:rPr dirty="0"/>
              <a:t> è </a:t>
            </a:r>
            <a:r>
              <a:rPr dirty="0" err="1"/>
              <a:t>della</a:t>
            </a:r>
            <a:r>
              <a:rPr dirty="0"/>
              <a:t> </a:t>
            </a:r>
            <a:r>
              <a:rPr dirty="0" err="1"/>
              <a:t>reclusione</a:t>
            </a:r>
            <a:r>
              <a:rPr dirty="0"/>
              <a:t> da due a sei </a:t>
            </a:r>
            <a:r>
              <a:rPr dirty="0" err="1"/>
              <a:t>anni</a:t>
            </a:r>
            <a:r>
              <a:rPr dirty="0"/>
              <a:t> e </a:t>
            </a:r>
            <a:r>
              <a:rPr dirty="0" err="1"/>
              <a:t>della</a:t>
            </a:r>
            <a:r>
              <a:rPr dirty="0"/>
              <a:t> </a:t>
            </a:r>
            <a:r>
              <a:rPr dirty="0" err="1"/>
              <a:t>multa</a:t>
            </a:r>
            <a:r>
              <a:rPr dirty="0"/>
              <a:t> da euro 2.500 a euro 12.500 </a:t>
            </a:r>
            <a:r>
              <a:rPr dirty="0" err="1"/>
              <a:t>quando</a:t>
            </a:r>
            <a:r>
              <a:rPr dirty="0"/>
              <a:t> </a:t>
            </a:r>
            <a:r>
              <a:rPr dirty="0" err="1"/>
              <a:t>il</a:t>
            </a:r>
            <a:r>
              <a:rPr dirty="0"/>
              <a:t> </a:t>
            </a:r>
            <a:r>
              <a:rPr dirty="0" err="1"/>
              <a:t>fatto</a:t>
            </a:r>
            <a:r>
              <a:rPr dirty="0"/>
              <a:t> </a:t>
            </a:r>
            <a:r>
              <a:rPr dirty="0" err="1"/>
              <a:t>riguarda</a:t>
            </a:r>
            <a:r>
              <a:rPr dirty="0"/>
              <a:t> </a:t>
            </a:r>
            <a:r>
              <a:rPr dirty="0" err="1"/>
              <a:t>denaro</a:t>
            </a:r>
            <a:r>
              <a:rPr dirty="0"/>
              <a:t> o </a:t>
            </a:r>
            <a:r>
              <a:rPr dirty="0" err="1"/>
              <a:t>cose</a:t>
            </a:r>
            <a:r>
              <a:rPr dirty="0"/>
              <a:t> </a:t>
            </a:r>
            <a:r>
              <a:rPr dirty="0" err="1"/>
              <a:t>provenienti</a:t>
            </a:r>
            <a:r>
              <a:rPr dirty="0"/>
              <a:t> da </a:t>
            </a:r>
            <a:r>
              <a:rPr dirty="0" err="1"/>
              <a:t>contravvenzione</a:t>
            </a:r>
            <a:r>
              <a:rPr dirty="0"/>
              <a:t> </a:t>
            </a:r>
            <a:r>
              <a:rPr dirty="0" err="1"/>
              <a:t>punita</a:t>
            </a:r>
            <a:r>
              <a:rPr dirty="0"/>
              <a:t> con </a:t>
            </a:r>
            <a:r>
              <a:rPr dirty="0" err="1"/>
              <a:t>l'arresto</a:t>
            </a:r>
            <a:r>
              <a:rPr dirty="0"/>
              <a:t> </a:t>
            </a:r>
            <a:r>
              <a:rPr dirty="0" err="1"/>
              <a:t>superiore</a:t>
            </a:r>
            <a:r>
              <a:rPr dirty="0"/>
              <a:t> </a:t>
            </a:r>
            <a:r>
              <a:rPr dirty="0" err="1"/>
              <a:t>nel</a:t>
            </a:r>
            <a:r>
              <a:rPr dirty="0"/>
              <a:t> </a:t>
            </a:r>
            <a:r>
              <a:rPr dirty="0" err="1"/>
              <a:t>massimo</a:t>
            </a:r>
            <a:r>
              <a:rPr dirty="0"/>
              <a:t> a un anno o </a:t>
            </a:r>
            <a:r>
              <a:rPr dirty="0" err="1"/>
              <a:t>nel</a:t>
            </a:r>
            <a:r>
              <a:rPr dirty="0"/>
              <a:t> </a:t>
            </a:r>
            <a:r>
              <a:rPr dirty="0" err="1"/>
              <a:t>minimo</a:t>
            </a:r>
            <a:r>
              <a:rPr dirty="0"/>
              <a:t> a sei </a:t>
            </a:r>
            <a:r>
              <a:rPr dirty="0" err="1"/>
              <a:t>mesi</a:t>
            </a:r>
            <a:r>
              <a:rPr dirty="0"/>
              <a:t>.</a:t>
            </a:r>
            <a:r>
              <a:rPr i="0" dirty="0"/>
              <a:t> </a:t>
            </a:r>
            <a:r>
              <a:rPr i="0" dirty="0">
                <a:solidFill>
                  <a:srgbClr val="FF3300"/>
                </a:solidFill>
              </a:rPr>
              <a:t>(comma </a:t>
            </a:r>
            <a:r>
              <a:rPr i="0" dirty="0" err="1">
                <a:solidFill>
                  <a:srgbClr val="FF3300"/>
                </a:solidFill>
              </a:rPr>
              <a:t>introdotto</a:t>
            </a:r>
            <a:r>
              <a:rPr i="0" dirty="0">
                <a:solidFill>
                  <a:srgbClr val="FF3300"/>
                </a:solidFill>
              </a:rPr>
              <a:t> dal </a:t>
            </a:r>
            <a:r>
              <a:rPr i="0" dirty="0" err="1">
                <a:solidFill>
                  <a:srgbClr val="FF3300"/>
                </a:solidFill>
              </a:rPr>
              <a:t>D.Lgs</a:t>
            </a:r>
            <a:r>
              <a:rPr i="0" dirty="0">
                <a:solidFill>
                  <a:srgbClr val="FF3300"/>
                </a:solidFill>
              </a:rPr>
              <a:t> 8 </a:t>
            </a:r>
            <a:r>
              <a:rPr i="0" dirty="0" err="1">
                <a:solidFill>
                  <a:srgbClr val="FF3300"/>
                </a:solidFill>
              </a:rPr>
              <a:t>novembre</a:t>
            </a:r>
            <a:r>
              <a:rPr i="0" dirty="0">
                <a:solidFill>
                  <a:srgbClr val="FF3300"/>
                </a:solidFill>
              </a:rPr>
              <a:t> 2021 n.195)</a:t>
            </a:r>
            <a:endParaRPr dirty="0">
              <a:solidFill>
                <a:srgbClr val="FF3300"/>
              </a:solidFill>
            </a:endParaRPr>
          </a:p>
          <a:p>
            <a:pPr algn="just">
              <a:lnSpc>
                <a:spcPct val="114000"/>
              </a:lnSpc>
              <a:spcBef>
                <a:spcPts val="600"/>
              </a:spcBef>
              <a:defRPr sz="2000" b="0" i="1">
                <a:latin typeface="Book Antiqua"/>
                <a:ea typeface="Book Antiqua"/>
                <a:cs typeface="Book Antiqua"/>
                <a:sym typeface="Book Antiqua"/>
              </a:defRPr>
            </a:pPr>
            <a:r>
              <a:rPr dirty="0"/>
              <a:t>La </a:t>
            </a:r>
            <a:r>
              <a:rPr dirty="0" err="1"/>
              <a:t>pena</a:t>
            </a:r>
            <a:r>
              <a:rPr dirty="0"/>
              <a:t> è </a:t>
            </a:r>
            <a:r>
              <a:rPr dirty="0" err="1"/>
              <a:t>aumentata</a:t>
            </a:r>
            <a:r>
              <a:rPr dirty="0"/>
              <a:t> </a:t>
            </a:r>
            <a:r>
              <a:rPr dirty="0" err="1"/>
              <a:t>quando</a:t>
            </a:r>
            <a:r>
              <a:rPr dirty="0"/>
              <a:t> </a:t>
            </a:r>
            <a:r>
              <a:rPr dirty="0" err="1"/>
              <a:t>il</a:t>
            </a:r>
            <a:r>
              <a:rPr dirty="0"/>
              <a:t> </a:t>
            </a:r>
            <a:r>
              <a:rPr dirty="0" err="1"/>
              <a:t>fatto</a:t>
            </a:r>
            <a:r>
              <a:rPr dirty="0"/>
              <a:t> è </a:t>
            </a:r>
            <a:r>
              <a:rPr dirty="0" err="1"/>
              <a:t>commesso</a:t>
            </a:r>
            <a:r>
              <a:rPr dirty="0"/>
              <a:t> </a:t>
            </a:r>
            <a:r>
              <a:rPr dirty="0" err="1"/>
              <a:t>nell'esercizio</a:t>
            </a:r>
            <a:r>
              <a:rPr dirty="0"/>
              <a:t> di </a:t>
            </a:r>
            <a:r>
              <a:rPr dirty="0" err="1"/>
              <a:t>un'attività</a:t>
            </a:r>
            <a:r>
              <a:rPr dirty="0"/>
              <a:t> </a:t>
            </a:r>
            <a:r>
              <a:rPr dirty="0" err="1"/>
              <a:t>professionale</a:t>
            </a:r>
            <a:r>
              <a:rPr dirty="0"/>
              <a:t>.</a:t>
            </a:r>
            <a:endParaRPr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a:t>La </a:t>
            </a:r>
            <a:r>
              <a:rPr dirty="0" err="1"/>
              <a:t>pena</a:t>
            </a:r>
            <a:r>
              <a:rPr dirty="0"/>
              <a:t> è </a:t>
            </a:r>
            <a:r>
              <a:rPr dirty="0" err="1"/>
              <a:t>diminuita</a:t>
            </a:r>
            <a:r>
              <a:rPr dirty="0"/>
              <a:t> se </a:t>
            </a:r>
            <a:r>
              <a:rPr dirty="0" err="1"/>
              <a:t>il</a:t>
            </a:r>
            <a:r>
              <a:rPr dirty="0"/>
              <a:t> </a:t>
            </a:r>
            <a:r>
              <a:rPr dirty="0" err="1"/>
              <a:t>denaro</a:t>
            </a:r>
            <a:r>
              <a:rPr dirty="0"/>
              <a:t>, </a:t>
            </a:r>
            <a:r>
              <a:rPr dirty="0" err="1"/>
              <a:t>i</a:t>
            </a:r>
            <a:r>
              <a:rPr dirty="0"/>
              <a:t> </a:t>
            </a:r>
            <a:r>
              <a:rPr dirty="0" err="1"/>
              <a:t>beni</a:t>
            </a:r>
            <a:r>
              <a:rPr dirty="0"/>
              <a:t> o le </a:t>
            </a:r>
            <a:r>
              <a:rPr dirty="0" err="1"/>
              <a:t>altre</a:t>
            </a:r>
            <a:r>
              <a:rPr dirty="0"/>
              <a:t> </a:t>
            </a:r>
            <a:r>
              <a:rPr dirty="0" err="1"/>
              <a:t>utilità</a:t>
            </a:r>
            <a:r>
              <a:rPr dirty="0"/>
              <a:t> </a:t>
            </a:r>
            <a:r>
              <a:rPr dirty="0" err="1"/>
              <a:t>provengono</a:t>
            </a:r>
            <a:r>
              <a:rPr dirty="0"/>
              <a:t> da </a:t>
            </a:r>
            <a:r>
              <a:rPr dirty="0" err="1"/>
              <a:t>delitto</a:t>
            </a:r>
            <a:r>
              <a:rPr dirty="0"/>
              <a:t> per </a:t>
            </a:r>
            <a:r>
              <a:rPr dirty="0" err="1"/>
              <a:t>il</a:t>
            </a:r>
            <a:r>
              <a:rPr dirty="0"/>
              <a:t> quale è </a:t>
            </a:r>
            <a:r>
              <a:rPr dirty="0" err="1"/>
              <a:t>stabilita</a:t>
            </a:r>
            <a:r>
              <a:rPr dirty="0"/>
              <a:t> la </a:t>
            </a:r>
            <a:r>
              <a:rPr dirty="0" err="1"/>
              <a:t>pena</a:t>
            </a:r>
            <a:r>
              <a:rPr dirty="0"/>
              <a:t> </a:t>
            </a:r>
            <a:r>
              <a:rPr dirty="0" err="1"/>
              <a:t>della</a:t>
            </a:r>
            <a:r>
              <a:rPr dirty="0"/>
              <a:t> </a:t>
            </a:r>
            <a:r>
              <a:rPr dirty="0" err="1"/>
              <a:t>reclusione</a:t>
            </a:r>
            <a:r>
              <a:rPr dirty="0"/>
              <a:t> </a:t>
            </a:r>
            <a:r>
              <a:rPr dirty="0" err="1"/>
              <a:t>inferiore</a:t>
            </a:r>
            <a:r>
              <a:rPr dirty="0"/>
              <a:t> </a:t>
            </a:r>
            <a:r>
              <a:rPr dirty="0" err="1"/>
              <a:t>nel</a:t>
            </a:r>
            <a:r>
              <a:rPr dirty="0"/>
              <a:t> </a:t>
            </a:r>
            <a:r>
              <a:rPr dirty="0" err="1"/>
              <a:t>massimo</a:t>
            </a:r>
            <a:r>
              <a:rPr dirty="0"/>
              <a:t> a cinque </a:t>
            </a:r>
            <a:r>
              <a:rPr dirty="0" err="1"/>
              <a:t>anni</a:t>
            </a:r>
            <a:r>
              <a:rPr dirty="0"/>
              <a:t>.</a:t>
            </a:r>
            <a:endParaRPr dirty="0">
              <a:latin typeface="Times New Roman"/>
              <a:ea typeface="Times New Roman"/>
              <a:cs typeface="Times New Roman"/>
              <a:sym typeface="Times New Roman"/>
            </a:endParaRPr>
          </a:p>
          <a:p>
            <a:pPr algn="just">
              <a:lnSpc>
                <a:spcPct val="114000"/>
              </a:lnSpc>
              <a:spcBef>
                <a:spcPts val="600"/>
              </a:spcBef>
              <a:defRPr sz="2000" b="0" i="1">
                <a:latin typeface="Book Antiqua"/>
                <a:ea typeface="Book Antiqua"/>
                <a:cs typeface="Book Antiqua"/>
                <a:sym typeface="Book Antiqua"/>
              </a:defRPr>
            </a:pPr>
            <a:r>
              <a:rPr dirty="0"/>
              <a:t>Si </a:t>
            </a:r>
            <a:r>
              <a:rPr dirty="0" err="1"/>
              <a:t>applica</a:t>
            </a:r>
            <a:r>
              <a:rPr dirty="0"/>
              <a:t> </a:t>
            </a:r>
            <a:r>
              <a:rPr dirty="0" err="1"/>
              <a:t>l'ultimo</a:t>
            </a:r>
            <a:r>
              <a:rPr dirty="0"/>
              <a:t> comma </a:t>
            </a:r>
            <a:r>
              <a:rPr dirty="0" err="1"/>
              <a:t>dell'articolo</a:t>
            </a:r>
            <a:r>
              <a:rPr dirty="0"/>
              <a:t> 648».</a:t>
            </a:r>
          </a:p>
        </p:txBody>
      </p:sp>
      <p:pic>
        <p:nvPicPr>
          <p:cNvPr id="482" name="Immagine 3" descr="Immagine 3"/>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83"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Riciclaggio</a:t>
            </a:r>
          </a:p>
        </p:txBody>
      </p:sp>
    </p:spTree>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 name="Rettangolo 4"/>
          <p:cNvSpPr txBox="1"/>
          <p:nvPr/>
        </p:nvSpPr>
        <p:spPr>
          <a:xfrm>
            <a:off x="167897" y="933179"/>
            <a:ext cx="8808206" cy="492294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b="0">
                <a:latin typeface="Times New Roman"/>
                <a:ea typeface="Times New Roman"/>
                <a:cs typeface="Times New Roman"/>
                <a:sym typeface="Times New Roman"/>
              </a:defRPr>
            </a:pPr>
            <a:r>
              <a:rPr dirty="0"/>
              <a:t>Questa </a:t>
            </a:r>
            <a:r>
              <a:rPr dirty="0" err="1"/>
              <a:t>norma</a:t>
            </a:r>
            <a:r>
              <a:rPr dirty="0"/>
              <a:t> è </a:t>
            </a:r>
            <a:r>
              <a:rPr dirty="0" err="1"/>
              <a:t>stata</a:t>
            </a:r>
            <a:r>
              <a:rPr dirty="0"/>
              <a:t> </a:t>
            </a:r>
            <a:r>
              <a:rPr dirty="0" err="1"/>
              <a:t>introdotta</a:t>
            </a:r>
            <a:r>
              <a:rPr dirty="0"/>
              <a:t> al fine di </a:t>
            </a:r>
            <a:r>
              <a:rPr b="1" dirty="0" err="1"/>
              <a:t>reprimere</a:t>
            </a:r>
            <a:r>
              <a:rPr b="1" dirty="0"/>
              <a:t> </a:t>
            </a:r>
            <a:r>
              <a:rPr b="1" dirty="0" err="1"/>
              <a:t>i</a:t>
            </a:r>
            <a:r>
              <a:rPr b="1" dirty="0"/>
              <a:t> </a:t>
            </a:r>
            <a:r>
              <a:rPr b="1" dirty="0" err="1"/>
              <a:t>comportamenti</a:t>
            </a:r>
            <a:r>
              <a:rPr b="1" dirty="0"/>
              <a:t> </a:t>
            </a:r>
            <a:r>
              <a:rPr b="1" dirty="0" err="1"/>
              <a:t>diretti</a:t>
            </a:r>
            <a:r>
              <a:rPr b="1" dirty="0"/>
              <a:t> al </a:t>
            </a:r>
            <a:r>
              <a:rPr b="1" dirty="0" err="1"/>
              <a:t>riciclaggio</a:t>
            </a:r>
            <a:r>
              <a:rPr b="1" dirty="0"/>
              <a:t> del </a:t>
            </a:r>
            <a:r>
              <a:rPr b="1" dirty="0" err="1"/>
              <a:t>cosiddetto</a:t>
            </a:r>
            <a:r>
              <a:rPr b="1" dirty="0"/>
              <a:t> “</a:t>
            </a:r>
            <a:r>
              <a:rPr b="1" dirty="0" err="1"/>
              <a:t>Denaro</a:t>
            </a:r>
            <a:r>
              <a:rPr b="1" dirty="0"/>
              <a:t> </a:t>
            </a:r>
            <a:r>
              <a:rPr b="1" dirty="0" err="1"/>
              <a:t>Sporco</a:t>
            </a:r>
            <a:r>
              <a:rPr b="1" dirty="0"/>
              <a:t>” </a:t>
            </a:r>
            <a:r>
              <a:rPr dirty="0"/>
              <a:t>e </a:t>
            </a:r>
            <a:r>
              <a:rPr dirty="0" err="1"/>
              <a:t>configura</a:t>
            </a:r>
            <a:r>
              <a:rPr dirty="0"/>
              <a:t> un </a:t>
            </a:r>
            <a:r>
              <a:rPr dirty="0" err="1"/>
              <a:t>delitto</a:t>
            </a:r>
            <a:r>
              <a:rPr dirty="0"/>
              <a:t> a forma libera. </a:t>
            </a:r>
          </a:p>
          <a:p>
            <a:pPr algn="just">
              <a:lnSpc>
                <a:spcPct val="114000"/>
              </a:lnSpc>
              <a:spcBef>
                <a:spcPts val="1200"/>
              </a:spcBef>
              <a:defRPr sz="2200">
                <a:solidFill>
                  <a:srgbClr val="B27DFF"/>
                </a:solidFill>
                <a:latin typeface="Times New Roman"/>
                <a:ea typeface="Times New Roman"/>
                <a:cs typeface="Times New Roman"/>
                <a:sym typeface="Times New Roman"/>
              </a:defRPr>
            </a:pPr>
            <a:r>
              <a:rPr dirty="0"/>
              <a:t>REATO COMUNE</a:t>
            </a:r>
            <a:r>
              <a:rPr b="0" dirty="0">
                <a:solidFill>
                  <a:srgbClr val="000000"/>
                </a:solidFill>
              </a:rPr>
              <a:t>: </a:t>
            </a:r>
            <a:r>
              <a:rPr b="0" dirty="0" err="1">
                <a:solidFill>
                  <a:srgbClr val="000000"/>
                </a:solidFill>
              </a:rPr>
              <a:t>il</a:t>
            </a:r>
            <a:r>
              <a:rPr b="0" dirty="0">
                <a:solidFill>
                  <a:srgbClr val="000000"/>
                </a:solidFill>
              </a:rPr>
              <a:t> </a:t>
            </a:r>
            <a:r>
              <a:rPr b="0" dirty="0" err="1">
                <a:solidFill>
                  <a:srgbClr val="000000"/>
                </a:solidFill>
              </a:rPr>
              <a:t>soggetto</a:t>
            </a:r>
            <a:r>
              <a:rPr b="0" dirty="0">
                <a:solidFill>
                  <a:srgbClr val="000000"/>
                </a:solidFill>
              </a:rPr>
              <a:t> </a:t>
            </a:r>
            <a:r>
              <a:rPr b="0" dirty="0" err="1">
                <a:solidFill>
                  <a:srgbClr val="000000"/>
                </a:solidFill>
              </a:rPr>
              <a:t>attivo</a:t>
            </a:r>
            <a:r>
              <a:rPr b="0" dirty="0">
                <a:solidFill>
                  <a:srgbClr val="000000"/>
                </a:solidFill>
              </a:rPr>
              <a:t> </a:t>
            </a:r>
            <a:r>
              <a:rPr b="0" dirty="0" err="1">
                <a:solidFill>
                  <a:srgbClr val="000000"/>
                </a:solidFill>
              </a:rPr>
              <a:t>può</a:t>
            </a:r>
            <a:r>
              <a:rPr b="0" dirty="0">
                <a:solidFill>
                  <a:srgbClr val="000000"/>
                </a:solidFill>
              </a:rPr>
              <a:t> </a:t>
            </a:r>
            <a:r>
              <a:rPr b="0" dirty="0" err="1">
                <a:solidFill>
                  <a:srgbClr val="000000"/>
                </a:solidFill>
              </a:rPr>
              <a:t>essere</a:t>
            </a:r>
            <a:r>
              <a:rPr b="0" dirty="0">
                <a:solidFill>
                  <a:srgbClr val="000000"/>
                </a:solidFill>
              </a:rPr>
              <a:t> </a:t>
            </a:r>
            <a:r>
              <a:rPr b="0" dirty="0" err="1">
                <a:solidFill>
                  <a:srgbClr val="000000"/>
                </a:solidFill>
              </a:rPr>
              <a:t>chiunque</a:t>
            </a:r>
            <a:r>
              <a:rPr b="0" dirty="0">
                <a:solidFill>
                  <a:srgbClr val="000000"/>
                </a:solidFill>
              </a:rPr>
              <a:t>, </a:t>
            </a:r>
            <a:r>
              <a:rPr b="0" dirty="0" err="1">
                <a:solidFill>
                  <a:srgbClr val="000000"/>
                </a:solidFill>
              </a:rPr>
              <a:t>fatta</a:t>
            </a:r>
            <a:r>
              <a:rPr b="0" dirty="0">
                <a:solidFill>
                  <a:srgbClr val="000000"/>
                </a:solidFill>
              </a:rPr>
              <a:t> </a:t>
            </a:r>
            <a:r>
              <a:rPr b="0" dirty="0" err="1">
                <a:solidFill>
                  <a:srgbClr val="000000"/>
                </a:solidFill>
              </a:rPr>
              <a:t>eccezione</a:t>
            </a:r>
            <a:r>
              <a:rPr b="0" dirty="0">
                <a:solidFill>
                  <a:srgbClr val="000000"/>
                </a:solidFill>
              </a:rPr>
              <a:t> per chi </a:t>
            </a:r>
            <a:r>
              <a:rPr b="0" dirty="0" err="1">
                <a:solidFill>
                  <a:srgbClr val="000000"/>
                </a:solidFill>
              </a:rPr>
              <a:t>abbia</a:t>
            </a:r>
            <a:r>
              <a:rPr b="0" dirty="0">
                <a:solidFill>
                  <a:srgbClr val="000000"/>
                </a:solidFill>
              </a:rPr>
              <a:t> </a:t>
            </a:r>
            <a:r>
              <a:rPr b="0" dirty="0" err="1">
                <a:solidFill>
                  <a:srgbClr val="000000"/>
                </a:solidFill>
              </a:rPr>
              <a:t>partecipato</a:t>
            </a:r>
            <a:r>
              <a:rPr b="0" dirty="0">
                <a:solidFill>
                  <a:srgbClr val="000000"/>
                </a:solidFill>
              </a:rPr>
              <a:t> al </a:t>
            </a:r>
            <a:r>
              <a:rPr b="0" dirty="0" err="1">
                <a:solidFill>
                  <a:srgbClr val="000000"/>
                </a:solidFill>
              </a:rPr>
              <a:t>delitto</a:t>
            </a:r>
            <a:r>
              <a:rPr b="0" dirty="0">
                <a:solidFill>
                  <a:srgbClr val="000000"/>
                </a:solidFill>
              </a:rPr>
              <a:t> </a:t>
            </a:r>
            <a:r>
              <a:rPr b="0" dirty="0" err="1">
                <a:solidFill>
                  <a:srgbClr val="000000"/>
                </a:solidFill>
              </a:rPr>
              <a:t>presupposto</a:t>
            </a:r>
            <a:r>
              <a:rPr b="0" dirty="0">
                <a:solidFill>
                  <a:srgbClr val="000000"/>
                </a:solidFill>
              </a:rPr>
              <a:t>, in </a:t>
            </a:r>
            <a:r>
              <a:rPr b="0" dirty="0" err="1">
                <a:solidFill>
                  <a:srgbClr val="000000"/>
                </a:solidFill>
              </a:rPr>
              <a:t>virtù</a:t>
            </a:r>
            <a:r>
              <a:rPr b="0" dirty="0">
                <a:solidFill>
                  <a:srgbClr val="000000"/>
                </a:solidFill>
              </a:rPr>
              <a:t> </a:t>
            </a:r>
            <a:r>
              <a:rPr b="0" dirty="0" err="1">
                <a:solidFill>
                  <a:srgbClr val="000000"/>
                </a:solidFill>
              </a:rPr>
              <a:t>della</a:t>
            </a:r>
            <a:r>
              <a:rPr b="0" dirty="0">
                <a:solidFill>
                  <a:srgbClr val="000000"/>
                </a:solidFill>
              </a:rPr>
              <a:t> </a:t>
            </a:r>
            <a:r>
              <a:rPr b="0" dirty="0" err="1">
                <a:solidFill>
                  <a:srgbClr val="000000"/>
                </a:solidFill>
              </a:rPr>
              <a:t>clausola</a:t>
            </a:r>
            <a:r>
              <a:rPr b="0" dirty="0">
                <a:solidFill>
                  <a:srgbClr val="000000"/>
                </a:solidFill>
              </a:rPr>
              <a:t> di </a:t>
            </a:r>
            <a:r>
              <a:rPr b="0" dirty="0" err="1">
                <a:solidFill>
                  <a:srgbClr val="000000"/>
                </a:solidFill>
              </a:rPr>
              <a:t>esclusione</a:t>
            </a:r>
            <a:r>
              <a:rPr b="0" dirty="0">
                <a:solidFill>
                  <a:srgbClr val="000000"/>
                </a:solidFill>
              </a:rPr>
              <a:t> </a:t>
            </a:r>
            <a:r>
              <a:rPr b="0" dirty="0" err="1">
                <a:solidFill>
                  <a:srgbClr val="000000"/>
                </a:solidFill>
              </a:rPr>
              <a:t>posta</a:t>
            </a:r>
            <a:r>
              <a:rPr b="0" dirty="0">
                <a:solidFill>
                  <a:srgbClr val="000000"/>
                </a:solidFill>
              </a:rPr>
              <a:t> in </a:t>
            </a:r>
            <a:r>
              <a:rPr b="0" dirty="0" err="1">
                <a:solidFill>
                  <a:srgbClr val="000000"/>
                </a:solidFill>
              </a:rPr>
              <a:t>apertura</a:t>
            </a:r>
            <a:r>
              <a:rPr b="0" dirty="0">
                <a:solidFill>
                  <a:srgbClr val="000000"/>
                </a:solidFill>
              </a:rPr>
              <a:t> </a:t>
            </a:r>
            <a:r>
              <a:rPr b="0" dirty="0" err="1">
                <a:solidFill>
                  <a:srgbClr val="000000"/>
                </a:solidFill>
              </a:rPr>
              <a:t>dalla</a:t>
            </a:r>
            <a:r>
              <a:rPr b="0" dirty="0">
                <a:solidFill>
                  <a:srgbClr val="000000"/>
                </a:solidFill>
              </a:rPr>
              <a:t> </a:t>
            </a:r>
            <a:r>
              <a:rPr b="0" dirty="0" err="1">
                <a:solidFill>
                  <a:srgbClr val="000000"/>
                </a:solidFill>
              </a:rPr>
              <a:t>norma</a:t>
            </a:r>
            <a:r>
              <a:rPr b="0" dirty="0">
                <a:solidFill>
                  <a:srgbClr val="000000"/>
                </a:solidFill>
              </a:rPr>
              <a:t>. </a:t>
            </a:r>
          </a:p>
          <a:p>
            <a:pPr algn="just">
              <a:lnSpc>
                <a:spcPct val="114000"/>
              </a:lnSpc>
              <a:spcBef>
                <a:spcPts val="1200"/>
              </a:spcBef>
              <a:defRPr sz="2200" b="0">
                <a:latin typeface="Times New Roman"/>
                <a:ea typeface="Times New Roman"/>
                <a:cs typeface="Times New Roman"/>
                <a:sym typeface="Times New Roman"/>
              </a:defRPr>
            </a:pPr>
            <a:r>
              <a:rPr dirty="0"/>
              <a:t>Al fine di far </a:t>
            </a:r>
            <a:r>
              <a:rPr dirty="0" err="1"/>
              <a:t>configurare</a:t>
            </a:r>
            <a:r>
              <a:rPr dirty="0"/>
              <a:t> </a:t>
            </a:r>
            <a:r>
              <a:rPr dirty="0" err="1"/>
              <a:t>questo</a:t>
            </a:r>
            <a:r>
              <a:rPr dirty="0"/>
              <a:t> </a:t>
            </a:r>
            <a:r>
              <a:rPr dirty="0" err="1"/>
              <a:t>reato</a:t>
            </a:r>
            <a:r>
              <a:rPr dirty="0"/>
              <a:t> è </a:t>
            </a:r>
            <a:r>
              <a:rPr dirty="0" err="1"/>
              <a:t>sufficiente</a:t>
            </a:r>
            <a:r>
              <a:rPr dirty="0"/>
              <a:t> </a:t>
            </a:r>
            <a:r>
              <a:rPr dirty="0" err="1"/>
              <a:t>che</a:t>
            </a:r>
            <a:r>
              <a:rPr dirty="0"/>
              <a:t> </a:t>
            </a:r>
            <a:r>
              <a:rPr dirty="0" err="1"/>
              <a:t>sia</a:t>
            </a:r>
            <a:r>
              <a:rPr dirty="0"/>
              <a:t> </a:t>
            </a:r>
            <a:r>
              <a:rPr dirty="0" err="1"/>
              <a:t>stata</a:t>
            </a:r>
            <a:r>
              <a:rPr dirty="0"/>
              <a:t> </a:t>
            </a:r>
            <a:r>
              <a:rPr dirty="0" err="1"/>
              <a:t>raggiunta</a:t>
            </a:r>
            <a:r>
              <a:rPr dirty="0"/>
              <a:t> la </a:t>
            </a:r>
            <a:r>
              <a:rPr b="1" dirty="0" err="1"/>
              <a:t>prova</a:t>
            </a:r>
            <a:r>
              <a:rPr b="1" dirty="0"/>
              <a:t> </a:t>
            </a:r>
            <a:r>
              <a:rPr b="1" dirty="0" err="1"/>
              <a:t>logica</a:t>
            </a:r>
            <a:r>
              <a:rPr b="1" dirty="0"/>
              <a:t> </a:t>
            </a:r>
            <a:r>
              <a:rPr b="1" dirty="0" err="1"/>
              <a:t>della</a:t>
            </a:r>
            <a:r>
              <a:rPr b="1" dirty="0"/>
              <a:t> </a:t>
            </a:r>
            <a:r>
              <a:rPr b="1" dirty="0" err="1"/>
              <a:t>provenienza</a:t>
            </a:r>
            <a:r>
              <a:rPr b="1" dirty="0"/>
              <a:t> </a:t>
            </a:r>
            <a:r>
              <a:rPr b="1" dirty="0" err="1"/>
              <a:t>illecita</a:t>
            </a:r>
            <a:r>
              <a:rPr b="1" dirty="0"/>
              <a:t> </a:t>
            </a:r>
            <a:r>
              <a:rPr b="1" dirty="0" err="1"/>
              <a:t>delle</a:t>
            </a:r>
            <a:r>
              <a:rPr b="1" dirty="0"/>
              <a:t> </a:t>
            </a:r>
            <a:r>
              <a:rPr b="1" dirty="0" err="1"/>
              <a:t>utilità</a:t>
            </a:r>
            <a:r>
              <a:rPr b="1" dirty="0"/>
              <a:t> </a:t>
            </a:r>
            <a:r>
              <a:rPr b="1" dirty="0" err="1"/>
              <a:t>oggetto</a:t>
            </a:r>
            <a:r>
              <a:rPr b="1" dirty="0"/>
              <a:t> </a:t>
            </a:r>
            <a:r>
              <a:rPr b="1" dirty="0" err="1"/>
              <a:t>delle</a:t>
            </a:r>
            <a:r>
              <a:rPr b="1" dirty="0"/>
              <a:t> </a:t>
            </a:r>
            <a:r>
              <a:rPr b="1" dirty="0" err="1"/>
              <a:t>operazioni</a:t>
            </a:r>
            <a:r>
              <a:rPr b="1" dirty="0"/>
              <a:t> </a:t>
            </a:r>
            <a:r>
              <a:rPr b="1" dirty="0" err="1"/>
              <a:t>compiute</a:t>
            </a:r>
            <a:r>
              <a:rPr b="1" dirty="0"/>
              <a:t> </a:t>
            </a:r>
            <a:r>
              <a:rPr dirty="0"/>
              <a:t>(Cass. V, 21/05/2008 n. 36940).</a:t>
            </a:r>
            <a:endParaRPr lang="it-IT" dirty="0"/>
          </a:p>
          <a:p>
            <a:pPr algn="just">
              <a:lnSpc>
                <a:spcPct val="114000"/>
              </a:lnSpc>
              <a:spcBef>
                <a:spcPts val="1200"/>
              </a:spcBef>
              <a:defRPr sz="2200" b="0">
                <a:latin typeface="Times New Roman"/>
                <a:ea typeface="Times New Roman"/>
                <a:cs typeface="Times New Roman"/>
                <a:sym typeface="Times New Roman"/>
              </a:defRPr>
            </a:pPr>
            <a:endParaRPr lang="it-IT" dirty="0"/>
          </a:p>
          <a:p>
            <a:pPr algn="just">
              <a:lnSpc>
                <a:spcPct val="114000"/>
              </a:lnSpc>
              <a:spcBef>
                <a:spcPts val="1200"/>
              </a:spcBef>
              <a:defRPr sz="2200" b="0">
                <a:latin typeface="Times New Roman"/>
                <a:ea typeface="Times New Roman"/>
                <a:cs typeface="Times New Roman"/>
                <a:sym typeface="Times New Roman"/>
              </a:defRPr>
            </a:pPr>
            <a:endParaRPr dirty="0"/>
          </a:p>
        </p:txBody>
      </p:sp>
      <p:pic>
        <p:nvPicPr>
          <p:cNvPr id="486"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87"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Riciclaggio</a:t>
            </a:r>
          </a:p>
        </p:txBody>
      </p:sp>
    </p:spTree>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9" name="Rettangolo 4"/>
          <p:cNvSpPr txBox="1"/>
          <p:nvPr/>
        </p:nvSpPr>
        <p:spPr>
          <a:xfrm>
            <a:off x="62144" y="965040"/>
            <a:ext cx="9036136" cy="605383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8" tIns="45718" rIns="45718" bIns="45718">
            <a:spAutoFit/>
          </a:bodyPr>
          <a:lstStyle/>
          <a:p>
            <a:pPr algn="just">
              <a:lnSpc>
                <a:spcPct val="114000"/>
              </a:lnSpc>
              <a:defRPr sz="2200" u="sng">
                <a:latin typeface="Times New Roman"/>
                <a:ea typeface="Times New Roman"/>
                <a:cs typeface="Times New Roman"/>
                <a:sym typeface="Times New Roman"/>
              </a:defRPr>
            </a:pPr>
            <a:r>
              <a:rPr dirty="0"/>
              <a:t>ELEMENTO OGGETTIVO</a:t>
            </a:r>
            <a:r>
              <a:rPr b="0" u="none" dirty="0"/>
              <a:t>: </a:t>
            </a:r>
            <a:r>
              <a:rPr sz="2000" b="0" u="none" dirty="0"/>
              <a:t>Nel </a:t>
            </a:r>
            <a:r>
              <a:rPr sz="2000" b="0" u="none" dirty="0" err="1"/>
              <a:t>reato</a:t>
            </a:r>
            <a:r>
              <a:rPr sz="2000" b="0" u="none" dirty="0"/>
              <a:t> di </a:t>
            </a:r>
            <a:r>
              <a:rPr sz="2000" b="0" u="none" dirty="0" err="1"/>
              <a:t>riciclaggio</a:t>
            </a:r>
            <a:r>
              <a:rPr sz="2000" b="0" u="none" dirty="0"/>
              <a:t> </a:t>
            </a:r>
            <a:r>
              <a:rPr sz="2000" b="0" u="none" dirty="0" err="1"/>
              <a:t>si</a:t>
            </a:r>
            <a:r>
              <a:rPr sz="2000" b="0" u="none" dirty="0"/>
              <a:t> </a:t>
            </a:r>
            <a:r>
              <a:rPr sz="2000" b="0" u="none" dirty="0" err="1"/>
              <a:t>richiede</a:t>
            </a:r>
            <a:r>
              <a:rPr sz="2000" b="0" u="none" dirty="0"/>
              <a:t> </a:t>
            </a:r>
            <a:r>
              <a:rPr sz="2000" b="0" u="none" dirty="0" err="1"/>
              <a:t>che</a:t>
            </a:r>
            <a:r>
              <a:rPr sz="2000" b="0" u="none" dirty="0"/>
              <a:t> </a:t>
            </a:r>
            <a:r>
              <a:rPr sz="2000" b="0" u="none" dirty="0" err="1"/>
              <a:t>l’attività</a:t>
            </a:r>
            <a:r>
              <a:rPr sz="2000" b="0" u="none" dirty="0"/>
              <a:t> di </a:t>
            </a:r>
            <a:r>
              <a:rPr sz="2000" u="none" dirty="0" err="1">
                <a:solidFill>
                  <a:srgbClr val="B27DFF"/>
                </a:solidFill>
              </a:rPr>
              <a:t>sostituzione</a:t>
            </a:r>
            <a:r>
              <a:rPr sz="2000" u="none" dirty="0">
                <a:solidFill>
                  <a:srgbClr val="B27DFF"/>
                </a:solidFill>
              </a:rPr>
              <a:t> </a:t>
            </a:r>
            <a:r>
              <a:rPr sz="2000" b="0" u="none" dirty="0"/>
              <a:t>o </a:t>
            </a:r>
            <a:r>
              <a:rPr sz="2000" u="none" dirty="0" err="1">
                <a:solidFill>
                  <a:srgbClr val="B27DFF"/>
                </a:solidFill>
              </a:rPr>
              <a:t>trasferimento</a:t>
            </a:r>
            <a:r>
              <a:rPr sz="2000" b="0" u="none" dirty="0"/>
              <a:t> o di </a:t>
            </a:r>
            <a:r>
              <a:rPr sz="2000" u="none" dirty="0" err="1">
                <a:solidFill>
                  <a:srgbClr val="B27DFF"/>
                </a:solidFill>
              </a:rPr>
              <a:t>ostacolo</a:t>
            </a:r>
            <a:r>
              <a:rPr sz="2000" u="none" dirty="0">
                <a:solidFill>
                  <a:srgbClr val="B27DFF"/>
                </a:solidFill>
              </a:rPr>
              <a:t> </a:t>
            </a:r>
            <a:r>
              <a:rPr sz="2000" u="none" dirty="0" err="1">
                <a:solidFill>
                  <a:srgbClr val="B27DFF"/>
                </a:solidFill>
              </a:rPr>
              <a:t>alla</a:t>
            </a:r>
            <a:r>
              <a:rPr sz="2000" u="none" dirty="0">
                <a:solidFill>
                  <a:srgbClr val="B27DFF"/>
                </a:solidFill>
              </a:rPr>
              <a:t> </a:t>
            </a:r>
            <a:r>
              <a:rPr sz="2000" u="none" dirty="0" err="1">
                <a:solidFill>
                  <a:srgbClr val="B27DFF"/>
                </a:solidFill>
              </a:rPr>
              <a:t>ricostruzione</a:t>
            </a:r>
            <a:r>
              <a:rPr sz="2000" u="none" dirty="0">
                <a:solidFill>
                  <a:srgbClr val="B27DFF"/>
                </a:solidFill>
              </a:rPr>
              <a:t> </a:t>
            </a:r>
            <a:r>
              <a:rPr sz="2000" u="none" dirty="0" err="1">
                <a:solidFill>
                  <a:srgbClr val="B27DFF"/>
                </a:solidFill>
              </a:rPr>
              <a:t>della</a:t>
            </a:r>
            <a:r>
              <a:rPr sz="2000" u="none" dirty="0">
                <a:solidFill>
                  <a:srgbClr val="B27DFF"/>
                </a:solidFill>
              </a:rPr>
              <a:t> </a:t>
            </a:r>
            <a:r>
              <a:rPr sz="2000" u="none" dirty="0" err="1">
                <a:solidFill>
                  <a:srgbClr val="B27DFF"/>
                </a:solidFill>
              </a:rPr>
              <a:t>provenienza</a:t>
            </a:r>
            <a:r>
              <a:rPr sz="2000" u="none" dirty="0">
                <a:solidFill>
                  <a:srgbClr val="B27DFF"/>
                </a:solidFill>
              </a:rPr>
              <a:t> </a:t>
            </a:r>
            <a:r>
              <a:rPr sz="2000" u="none" dirty="0" err="1">
                <a:solidFill>
                  <a:srgbClr val="B27DFF"/>
                </a:solidFill>
              </a:rPr>
              <a:t>delittuosa</a:t>
            </a:r>
            <a:r>
              <a:rPr sz="2000" u="none" dirty="0">
                <a:solidFill>
                  <a:srgbClr val="B27DFF"/>
                </a:solidFill>
              </a:rPr>
              <a:t> di </a:t>
            </a:r>
            <a:r>
              <a:rPr sz="2000" u="none" dirty="0" err="1">
                <a:solidFill>
                  <a:srgbClr val="B27DFF"/>
                </a:solidFill>
              </a:rPr>
              <a:t>denaro</a:t>
            </a:r>
            <a:r>
              <a:rPr sz="2000" u="none" dirty="0">
                <a:solidFill>
                  <a:srgbClr val="B27DFF"/>
                </a:solidFill>
              </a:rPr>
              <a:t>, </a:t>
            </a:r>
            <a:r>
              <a:rPr sz="2000" u="none" dirty="0" err="1">
                <a:solidFill>
                  <a:srgbClr val="B27DFF"/>
                </a:solidFill>
              </a:rPr>
              <a:t>beni</a:t>
            </a:r>
            <a:r>
              <a:rPr sz="2000" u="none" dirty="0">
                <a:solidFill>
                  <a:srgbClr val="B27DFF"/>
                </a:solidFill>
              </a:rPr>
              <a:t> o </a:t>
            </a:r>
            <a:r>
              <a:rPr sz="2000" u="none" dirty="0" err="1">
                <a:solidFill>
                  <a:srgbClr val="B27DFF"/>
                </a:solidFill>
              </a:rPr>
              <a:t>altre</a:t>
            </a:r>
            <a:r>
              <a:rPr sz="2000" u="none" dirty="0">
                <a:solidFill>
                  <a:srgbClr val="B27DFF"/>
                </a:solidFill>
              </a:rPr>
              <a:t> </a:t>
            </a:r>
            <a:r>
              <a:rPr sz="2000" u="none" dirty="0" err="1">
                <a:solidFill>
                  <a:srgbClr val="B27DFF"/>
                </a:solidFill>
              </a:rPr>
              <a:t>utilità</a:t>
            </a:r>
            <a:r>
              <a:rPr sz="2000" u="none" dirty="0">
                <a:solidFill>
                  <a:srgbClr val="B27DFF"/>
                </a:solidFill>
              </a:rPr>
              <a:t> </a:t>
            </a:r>
            <a:r>
              <a:rPr sz="2000" b="0" u="none" dirty="0" err="1"/>
              <a:t>si</a:t>
            </a:r>
            <a:r>
              <a:rPr sz="2000" b="0" u="none" dirty="0"/>
              <a:t> </a:t>
            </a:r>
            <a:r>
              <a:rPr sz="2000" b="0" u="none" dirty="0" err="1"/>
              <a:t>traduca</a:t>
            </a:r>
            <a:r>
              <a:rPr sz="2000" b="0" u="none" dirty="0"/>
              <a:t> </a:t>
            </a:r>
            <a:r>
              <a:rPr sz="2000" b="0" u="none" dirty="0" err="1"/>
              <a:t>nella</a:t>
            </a:r>
            <a:r>
              <a:rPr sz="2000" b="0" u="none" dirty="0"/>
              <a:t> </a:t>
            </a:r>
            <a:r>
              <a:rPr sz="2000" b="0" u="none" dirty="0" err="1"/>
              <a:t>realizzazione</a:t>
            </a:r>
            <a:r>
              <a:rPr sz="2000" b="0" u="none" dirty="0"/>
              <a:t> </a:t>
            </a:r>
            <a:r>
              <a:rPr sz="2000" u="none" dirty="0" err="1"/>
              <a:t>dell’evento</a:t>
            </a:r>
            <a:r>
              <a:rPr sz="2000" b="0" u="none" dirty="0"/>
              <a:t>. </a:t>
            </a:r>
          </a:p>
          <a:p>
            <a:pPr algn="just">
              <a:lnSpc>
                <a:spcPct val="114000"/>
              </a:lnSpc>
              <a:defRPr sz="2200" b="0">
                <a:latin typeface="Times New Roman"/>
                <a:ea typeface="Times New Roman"/>
                <a:cs typeface="Times New Roman"/>
                <a:sym typeface="Times New Roman"/>
              </a:defRPr>
            </a:pPr>
            <a:r>
              <a:rPr dirty="0" err="1"/>
              <a:t>Ciò</a:t>
            </a:r>
            <a:r>
              <a:rPr dirty="0"/>
              <a:t> </a:t>
            </a:r>
            <a:r>
              <a:rPr dirty="0" err="1"/>
              <a:t>rende</a:t>
            </a:r>
            <a:r>
              <a:rPr dirty="0"/>
              <a:t> </a:t>
            </a:r>
            <a:r>
              <a:rPr dirty="0" err="1"/>
              <a:t>conseguentemente</a:t>
            </a:r>
            <a:r>
              <a:rPr dirty="0"/>
              <a:t> </a:t>
            </a:r>
            <a:r>
              <a:rPr dirty="0" err="1"/>
              <a:t>configurabile</a:t>
            </a:r>
            <a:r>
              <a:rPr dirty="0"/>
              <a:t> </a:t>
            </a:r>
            <a:r>
              <a:rPr dirty="0" err="1"/>
              <a:t>il</a:t>
            </a:r>
            <a:r>
              <a:rPr dirty="0"/>
              <a:t> </a:t>
            </a:r>
            <a:r>
              <a:rPr dirty="0" err="1"/>
              <a:t>tentativo</a:t>
            </a:r>
            <a:r>
              <a:rPr dirty="0"/>
              <a:t>. </a:t>
            </a:r>
            <a:endParaRPr lang="it-IT" dirty="0"/>
          </a:p>
          <a:p>
            <a:pPr algn="just">
              <a:lnSpc>
                <a:spcPct val="114000"/>
              </a:lnSpc>
              <a:defRPr sz="2200" b="0">
                <a:latin typeface="Times New Roman"/>
                <a:ea typeface="Times New Roman"/>
                <a:cs typeface="Times New Roman"/>
                <a:sym typeface="Times New Roman"/>
              </a:defRPr>
            </a:pPr>
            <a:endParaRPr lang="it-IT" sz="1800" dirty="0">
              <a:latin typeface="Times New Roman" panose="02020603050405020304" pitchFamily="18" charset="0"/>
              <a:cs typeface="Times New Roman" panose="02020603050405020304" pitchFamily="18" charset="0"/>
            </a:endParaRPr>
          </a:p>
          <a:p>
            <a:r>
              <a:rPr lang="it-IT" sz="1800" b="0" dirty="0">
                <a:latin typeface="Times New Roman" panose="02020603050405020304" pitchFamily="18" charset="0"/>
                <a:cs typeface="Times New Roman" panose="02020603050405020304" pitchFamily="18" charset="0"/>
              </a:rPr>
              <a:t>Le condotte incriminate sono tre:</a:t>
            </a:r>
            <a:br>
              <a:rPr lang="it-IT" sz="1800" dirty="0">
                <a:latin typeface="Times New Roman" panose="02020603050405020304" pitchFamily="18" charset="0"/>
                <a:cs typeface="Times New Roman" panose="02020603050405020304" pitchFamily="18" charset="0"/>
              </a:rPr>
            </a:br>
            <a:endParaRPr lang="it-IT" sz="18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it-IT" sz="1800" b="0" dirty="0">
                <a:latin typeface="Times New Roman" panose="02020603050405020304" pitchFamily="18" charset="0"/>
                <a:cs typeface="Times New Roman" panose="02020603050405020304" pitchFamily="18" charset="0"/>
              </a:rPr>
              <a:t>la </a:t>
            </a:r>
            <a:r>
              <a:rPr lang="it-IT" sz="1800" u="sng" dirty="0">
                <a:solidFill>
                  <a:srgbClr val="FF0000"/>
                </a:solidFill>
                <a:latin typeface="Times New Roman" panose="02020603050405020304" pitchFamily="18" charset="0"/>
                <a:cs typeface="Times New Roman" panose="02020603050405020304" pitchFamily="18" charset="0"/>
              </a:rPr>
              <a:t>sostituzione</a:t>
            </a:r>
            <a:r>
              <a:rPr lang="it-IT" sz="1800" b="0" dirty="0">
                <a:latin typeface="Times New Roman" panose="02020603050405020304" pitchFamily="18" charset="0"/>
                <a:cs typeface="Times New Roman" panose="02020603050405020304" pitchFamily="18" charset="0"/>
              </a:rPr>
              <a:t>, </a:t>
            </a:r>
            <a:r>
              <a:rPr lang="it-IT" sz="1800" dirty="0">
                <a:latin typeface="Times New Roman" panose="02020603050405020304" pitchFamily="18" charset="0"/>
                <a:cs typeface="Times New Roman" panose="02020603050405020304" pitchFamily="18" charset="0"/>
              </a:rPr>
              <a:t>ossia rimpiazzare il denaro o i valori sporchi con denaro o valori puliti</a:t>
            </a:r>
            <a:r>
              <a:rPr lang="it-IT" sz="1800" b="0" dirty="0">
                <a:latin typeface="Times New Roman" panose="02020603050405020304" pitchFamily="18" charset="0"/>
                <a:cs typeface="Times New Roman" panose="02020603050405020304" pitchFamily="18" charset="0"/>
              </a:rPr>
              <a:t>. </a:t>
            </a:r>
            <a:r>
              <a:rPr lang="it-IT" sz="1800" b="0" i="1" dirty="0">
                <a:latin typeface="Times New Roman" panose="02020603050405020304" pitchFamily="18" charset="0"/>
                <a:cs typeface="Times New Roman" panose="02020603050405020304" pitchFamily="18" charset="0"/>
              </a:rPr>
              <a:t>Es: cambio delle banconote con altre o con valute diverse, con il versamento presso le banche e il loro successivo ritiro, trasformazione di gioielli in oro grezzo.;</a:t>
            </a:r>
          </a:p>
          <a:p>
            <a:pPr marL="285750" indent="-285750">
              <a:buFont typeface="Arial" panose="020B0604020202020204" pitchFamily="34" charset="0"/>
              <a:buChar char="•"/>
            </a:pPr>
            <a:r>
              <a:rPr lang="it-IT" sz="1800" b="0" dirty="0">
                <a:latin typeface="Times New Roman" panose="02020603050405020304" pitchFamily="18" charset="0"/>
                <a:cs typeface="Times New Roman" panose="02020603050405020304" pitchFamily="18" charset="0"/>
              </a:rPr>
              <a:t> il </a:t>
            </a:r>
            <a:r>
              <a:rPr lang="it-IT" sz="1800" u="sng" dirty="0">
                <a:solidFill>
                  <a:srgbClr val="FF0000"/>
                </a:solidFill>
                <a:latin typeface="Times New Roman" panose="02020603050405020304" pitchFamily="18" charset="0"/>
                <a:cs typeface="Times New Roman" panose="02020603050405020304" pitchFamily="18" charset="0"/>
              </a:rPr>
              <a:t>trasferimento</a:t>
            </a:r>
            <a:r>
              <a:rPr lang="it-IT" sz="1800" b="0" dirty="0">
                <a:latin typeface="Times New Roman" panose="02020603050405020304" pitchFamily="18" charset="0"/>
                <a:cs typeface="Times New Roman" panose="02020603050405020304" pitchFamily="18" charset="0"/>
              </a:rPr>
              <a:t>, con tale termine si va a colpire quelle </a:t>
            </a:r>
            <a:r>
              <a:rPr lang="it-IT" sz="1800" dirty="0">
                <a:latin typeface="Times New Roman" panose="02020603050405020304" pitchFamily="18" charset="0"/>
                <a:cs typeface="Times New Roman" panose="02020603050405020304" pitchFamily="18" charset="0"/>
              </a:rPr>
              <a:t>forme di ripulitura dei capitali illeciti che si servono di strumenti negoziali</a:t>
            </a:r>
            <a:r>
              <a:rPr lang="it-IT" sz="1800" b="0" dirty="0">
                <a:latin typeface="Times New Roman" panose="02020603050405020304" pitchFamily="18" charset="0"/>
                <a:cs typeface="Times New Roman" panose="02020603050405020304" pitchFamily="18" charset="0"/>
              </a:rPr>
              <a:t> o più in generale di forme giuridiche;</a:t>
            </a:r>
          </a:p>
          <a:p>
            <a:r>
              <a:rPr lang="it-IT" sz="1800" b="0" dirty="0">
                <a:latin typeface="Times New Roman" panose="02020603050405020304" pitchFamily="18" charset="0"/>
                <a:cs typeface="Times New Roman" panose="02020603050405020304" pitchFamily="18" charset="0"/>
              </a:rPr>
              <a:t>     </a:t>
            </a:r>
            <a:r>
              <a:rPr lang="it-IT" sz="1800" b="0" i="1" dirty="0">
                <a:latin typeface="Times New Roman" panose="02020603050405020304" pitchFamily="18" charset="0"/>
                <a:cs typeface="Times New Roman" panose="02020603050405020304" pitchFamily="18" charset="0"/>
              </a:rPr>
              <a:t>Es: bonifici bancari (da un conto italiano a un conto estero intestato ad un prestanome);    Passaggio di proprietà fittizio di un bene.</a:t>
            </a:r>
          </a:p>
          <a:p>
            <a:pPr marL="285750" indent="-285750">
              <a:buFont typeface="Arial" panose="020B0604020202020204" pitchFamily="34" charset="0"/>
              <a:buChar char="•"/>
            </a:pPr>
            <a:r>
              <a:rPr lang="it-IT" sz="1800" b="0" dirty="0">
                <a:latin typeface="Times New Roman" panose="02020603050405020304" pitchFamily="18" charset="0"/>
                <a:cs typeface="Times New Roman" panose="02020603050405020304" pitchFamily="18" charset="0"/>
              </a:rPr>
              <a:t>le </a:t>
            </a:r>
            <a:r>
              <a:rPr lang="it-IT" sz="1800" u="sng" dirty="0">
                <a:solidFill>
                  <a:srgbClr val="FF0000"/>
                </a:solidFill>
                <a:latin typeface="Times New Roman" panose="02020603050405020304" pitchFamily="18" charset="0"/>
                <a:cs typeface="Times New Roman" panose="02020603050405020304" pitchFamily="18" charset="0"/>
              </a:rPr>
              <a:t>altre operazioni per ostacolare l'identificazione</a:t>
            </a:r>
            <a:r>
              <a:rPr lang="it-IT" sz="1800" b="0" dirty="0">
                <a:latin typeface="Times New Roman" panose="02020603050405020304" pitchFamily="18" charset="0"/>
                <a:cs typeface="Times New Roman" panose="02020603050405020304" pitchFamily="18" charset="0"/>
              </a:rPr>
              <a:t>, formulazione intesa a punire eventuali tecniche nuove di riciclaggio.</a:t>
            </a:r>
          </a:p>
          <a:p>
            <a:br>
              <a:rPr lang="it-IT" sz="1400" dirty="0">
                <a:latin typeface="Times New Roman" panose="02020603050405020304" pitchFamily="18" charset="0"/>
                <a:cs typeface="Times New Roman" panose="02020603050405020304" pitchFamily="18" charset="0"/>
              </a:rPr>
            </a:br>
            <a:r>
              <a:rPr lang="it-IT" sz="1800" b="0" dirty="0">
                <a:latin typeface="Times New Roman" panose="02020603050405020304" pitchFamily="18" charset="0"/>
                <a:cs typeface="Times New Roman" panose="02020603050405020304" pitchFamily="18" charset="0"/>
              </a:rPr>
              <a:t>L'offesa tipizzata è l'attività posta in essere </a:t>
            </a:r>
            <a:r>
              <a:rPr lang="it-IT" sz="1800" dirty="0">
                <a:latin typeface="Times New Roman" panose="02020603050405020304" pitchFamily="18" charset="0"/>
                <a:cs typeface="Times New Roman" panose="02020603050405020304" pitchFamily="18" charset="0"/>
              </a:rPr>
              <a:t>in modo da ostacolare l'identificazione</a:t>
            </a:r>
            <a:r>
              <a:rPr lang="it-IT" sz="1800" b="0" dirty="0">
                <a:latin typeface="Times New Roman" panose="02020603050405020304" pitchFamily="18" charset="0"/>
                <a:cs typeface="Times New Roman" panose="02020603050405020304" pitchFamily="18" charset="0"/>
              </a:rPr>
              <a:t> (reato di pericolo concreto), che deve caratterizzare le tre condotte descritte.</a:t>
            </a:r>
            <a:endParaRPr lang="it-IT" sz="1800" dirty="0">
              <a:latin typeface="Times New Roman" panose="02020603050405020304" pitchFamily="18" charset="0"/>
              <a:cs typeface="Times New Roman" panose="02020603050405020304" pitchFamily="18" charset="0"/>
            </a:endParaRPr>
          </a:p>
          <a:p>
            <a:pPr algn="just">
              <a:lnSpc>
                <a:spcPct val="114000"/>
              </a:lnSpc>
              <a:defRPr sz="2200" b="0">
                <a:latin typeface="Times New Roman"/>
                <a:ea typeface="Times New Roman"/>
                <a:cs typeface="Times New Roman"/>
                <a:sym typeface="Times New Roman"/>
              </a:defRPr>
            </a:pPr>
            <a:endParaRPr dirty="0"/>
          </a:p>
        </p:txBody>
      </p:sp>
      <p:pic>
        <p:nvPicPr>
          <p:cNvPr id="490" name="Immagine 6" descr="Immagine 6"/>
          <p:cNvPicPr>
            <a:picLocks noChangeAspect="1"/>
          </p:cNvPicPr>
          <p:nvPr/>
        </p:nvPicPr>
        <p:blipFill>
          <a:blip r:embed="rId3"/>
          <a:stretch>
            <a:fillRect/>
          </a:stretch>
        </p:blipFill>
        <p:spPr>
          <a:xfrm>
            <a:off x="136850" y="67097"/>
            <a:ext cx="435671" cy="753167"/>
          </a:xfrm>
          <a:prstGeom prst="rect">
            <a:avLst/>
          </a:prstGeom>
          <a:ln w="12700">
            <a:miter lim="400000"/>
          </a:ln>
        </p:spPr>
      </p:pic>
      <p:sp>
        <p:nvSpPr>
          <p:cNvPr id="491"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rPr dirty="0" err="1"/>
              <a:t>Riciclaggio</a:t>
            </a:r>
            <a:endParaRPr dirty="0"/>
          </a:p>
        </p:txBody>
      </p:sp>
    </p:spTree>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B729BBFD-CCE7-FDA2-DC49-2B14AF4F63A2}"/>
              </a:ext>
            </a:extLst>
          </p:cNvPr>
          <p:cNvSpPr>
            <a:spLocks noGrp="1"/>
          </p:cNvSpPr>
          <p:nvPr>
            <p:ph type="body" idx="1"/>
          </p:nvPr>
        </p:nvSpPr>
        <p:spPr>
          <a:xfrm>
            <a:off x="457200" y="1036320"/>
            <a:ext cx="8229600" cy="4525963"/>
          </a:xfrm>
        </p:spPr>
        <p:txBody>
          <a:bodyPr/>
          <a:lstStyle/>
          <a:p>
            <a:pPr marL="0" indent="0" algn="just">
              <a:buNone/>
            </a:pPr>
            <a:r>
              <a:rPr lang="it-IT" b="1" dirty="0">
                <a:latin typeface="Book Antiqua" panose="02040602050305030304" pitchFamily="18" charset="0"/>
              </a:rPr>
              <a:t>PRESUPPOSTI</a:t>
            </a:r>
          </a:p>
          <a:p>
            <a:pPr algn="just"/>
            <a:endParaRPr lang="it-IT" dirty="0">
              <a:latin typeface="Book Antiqua" panose="02040602050305030304" pitchFamily="18" charset="0"/>
            </a:endParaRPr>
          </a:p>
          <a:p>
            <a:pPr algn="just"/>
            <a:r>
              <a:rPr lang="it-IT" dirty="0">
                <a:latin typeface="Book Antiqua" panose="02040602050305030304" pitchFamily="18" charset="0"/>
              </a:rPr>
              <a:t>Il denaro e le cose riciclate devono provenire da un </a:t>
            </a:r>
            <a:r>
              <a:rPr lang="it-IT" b="1" u="sng" dirty="0">
                <a:solidFill>
                  <a:srgbClr val="FF0000"/>
                </a:solidFill>
                <a:latin typeface="Book Antiqua" panose="02040602050305030304" pitchFamily="18" charset="0"/>
              </a:rPr>
              <a:t>reato presupposto </a:t>
            </a:r>
            <a:r>
              <a:rPr lang="it-IT" dirty="0">
                <a:latin typeface="Book Antiqua" panose="02040602050305030304" pitchFamily="18" charset="0"/>
              </a:rPr>
              <a:t>(delitto);</a:t>
            </a:r>
          </a:p>
          <a:p>
            <a:pPr algn="just"/>
            <a:endParaRPr lang="it-IT" dirty="0">
              <a:latin typeface="Book Antiqua" panose="02040602050305030304" pitchFamily="18" charset="0"/>
            </a:endParaRPr>
          </a:p>
          <a:p>
            <a:pPr algn="just"/>
            <a:r>
              <a:rPr lang="it-IT" dirty="0">
                <a:latin typeface="Book Antiqua" panose="02040602050305030304" pitchFamily="18" charset="0"/>
              </a:rPr>
              <a:t>Il soggetto attivo deve aver agito </a:t>
            </a:r>
            <a:r>
              <a:rPr lang="it-IT" u="sng" dirty="0">
                <a:latin typeface="Book Antiqua" panose="02040602050305030304" pitchFamily="18" charset="0"/>
              </a:rPr>
              <a:t>fuori dai casi di concorso nel reato</a:t>
            </a:r>
            <a:r>
              <a:rPr lang="it-IT" dirty="0">
                <a:latin typeface="Book Antiqua" panose="02040602050305030304" pitchFamily="18" charset="0"/>
              </a:rPr>
              <a:t> presupposto.</a:t>
            </a:r>
          </a:p>
        </p:txBody>
      </p:sp>
      <p:sp>
        <p:nvSpPr>
          <p:cNvPr id="4" name="Text Box 5">
            <a:extLst>
              <a:ext uri="{FF2B5EF4-FFF2-40B4-BE49-F238E27FC236}">
                <a16:creationId xmlns:a16="http://schemas.microsoft.com/office/drawing/2014/main" id="{A6793416-FC6F-1B70-D9B1-90264B8871B0}"/>
              </a:ext>
            </a:extLst>
          </p:cNvPr>
          <p:cNvSpPr txBox="1">
            <a:spLocks noGrp="1"/>
          </p:cNvSpPr>
          <p:nvPr>
            <p:ph type="title"/>
          </p:nvPr>
        </p:nvSpPr>
        <p:spPr>
          <a:xfrm>
            <a:off x="777550" y="152454"/>
            <a:ext cx="8229600" cy="582451"/>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pPr algn="l"/>
            <a:r>
              <a:rPr dirty="0" err="1"/>
              <a:t>Riciclaggio</a:t>
            </a:r>
            <a:endParaRPr dirty="0"/>
          </a:p>
        </p:txBody>
      </p:sp>
      <p:pic>
        <p:nvPicPr>
          <p:cNvPr id="5" name="Immagine 6" descr="Immagine 6">
            <a:extLst>
              <a:ext uri="{FF2B5EF4-FFF2-40B4-BE49-F238E27FC236}">
                <a16:creationId xmlns:a16="http://schemas.microsoft.com/office/drawing/2014/main" id="{A10195D1-5382-7D0D-C70A-FA1D6F7ED965}"/>
              </a:ext>
            </a:extLst>
          </p:cNvPr>
          <p:cNvPicPr>
            <a:picLocks noChangeAspect="1"/>
          </p:cNvPicPr>
          <p:nvPr/>
        </p:nvPicPr>
        <p:blipFill>
          <a:blip r:embed="rId2"/>
          <a:stretch>
            <a:fillRect/>
          </a:stretch>
        </p:blipFill>
        <p:spPr>
          <a:xfrm>
            <a:off x="136850" y="67097"/>
            <a:ext cx="435671" cy="753167"/>
          </a:xfrm>
          <a:prstGeom prst="rect">
            <a:avLst/>
          </a:prstGeom>
          <a:ln w="12700">
            <a:miter lim="400000"/>
          </a:ln>
        </p:spPr>
      </p:pic>
    </p:spTree>
    <p:extLst>
      <p:ext uri="{BB962C8B-B14F-4D97-AF65-F5344CB8AC3E}">
        <p14:creationId xmlns:p14="http://schemas.microsoft.com/office/powerpoint/2010/main" val="2587017789"/>
      </p:ext>
    </p:ext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Rettangolo 4"/>
          <p:cNvSpPr txBox="1"/>
          <p:nvPr/>
        </p:nvSpPr>
        <p:spPr>
          <a:xfrm>
            <a:off x="45719" y="836712"/>
            <a:ext cx="9052561" cy="5308885"/>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8" tIns="45718" rIns="45718" bIns="45718">
            <a:spAutoFit/>
          </a:bodyPr>
          <a:lstStyle/>
          <a:p>
            <a:pPr algn="just">
              <a:lnSpc>
                <a:spcPct val="114000"/>
              </a:lnSpc>
              <a:spcBef>
                <a:spcPts val="1200"/>
              </a:spcBef>
              <a:defRPr sz="2200" u="sng">
                <a:latin typeface="Times New Roman"/>
                <a:ea typeface="Times New Roman"/>
                <a:cs typeface="Times New Roman"/>
                <a:sym typeface="Times New Roman"/>
              </a:defRPr>
            </a:pPr>
            <a:r>
              <a:rPr dirty="0"/>
              <a:t>ELEMENTO SOGGETTIVO</a:t>
            </a:r>
            <a:r>
              <a:rPr u="none" dirty="0"/>
              <a:t> </a:t>
            </a:r>
            <a:r>
              <a:rPr b="0" u="none" dirty="0"/>
              <a:t>è il </a:t>
            </a:r>
            <a:r>
              <a:rPr u="none" dirty="0">
                <a:solidFill>
                  <a:srgbClr val="B27DFF"/>
                </a:solidFill>
              </a:rPr>
              <a:t>DOLO GENERICO </a:t>
            </a:r>
            <a:r>
              <a:rPr b="0" u="none" dirty="0"/>
              <a:t>e </a:t>
            </a:r>
            <a:r>
              <a:rPr b="0" u="none" dirty="0" err="1"/>
              <a:t>consiste</a:t>
            </a:r>
            <a:r>
              <a:rPr b="0" u="none" dirty="0"/>
              <a:t> </a:t>
            </a:r>
            <a:r>
              <a:rPr b="0" u="none" dirty="0" err="1"/>
              <a:t>nella</a:t>
            </a:r>
            <a:r>
              <a:rPr b="0" u="none" dirty="0"/>
              <a:t> </a:t>
            </a:r>
            <a:r>
              <a:rPr b="0" u="none" dirty="0" err="1"/>
              <a:t>coscienza</a:t>
            </a:r>
            <a:r>
              <a:rPr b="0" u="none" dirty="0"/>
              <a:t> e </a:t>
            </a:r>
            <a:r>
              <a:rPr b="0" u="none" dirty="0" err="1"/>
              <a:t>volontà</a:t>
            </a:r>
            <a:r>
              <a:rPr b="0" u="none" dirty="0"/>
              <a:t> di </a:t>
            </a:r>
            <a:r>
              <a:rPr b="0" u="none" dirty="0" err="1"/>
              <a:t>ostacolare</a:t>
            </a:r>
            <a:r>
              <a:rPr b="0" u="none" dirty="0"/>
              <a:t> </a:t>
            </a:r>
            <a:r>
              <a:rPr b="0" u="none" dirty="0" err="1"/>
              <a:t>l’accertamento</a:t>
            </a:r>
            <a:r>
              <a:rPr b="0" u="none" dirty="0"/>
              <a:t> </a:t>
            </a:r>
            <a:r>
              <a:rPr b="0" u="none" dirty="0" err="1"/>
              <a:t>della</a:t>
            </a:r>
            <a:r>
              <a:rPr b="0" u="none" dirty="0"/>
              <a:t> </a:t>
            </a:r>
            <a:r>
              <a:rPr b="0" u="none" dirty="0" err="1"/>
              <a:t>provenienza</a:t>
            </a:r>
            <a:r>
              <a:rPr b="0" u="none" dirty="0"/>
              <a:t> di </a:t>
            </a:r>
            <a:r>
              <a:rPr b="0" u="none" dirty="0" err="1"/>
              <a:t>beni</a:t>
            </a:r>
            <a:r>
              <a:rPr b="0" u="none" dirty="0"/>
              <a:t>, </a:t>
            </a:r>
            <a:r>
              <a:rPr b="0" u="none" dirty="0" err="1"/>
              <a:t>denaro</a:t>
            </a:r>
            <a:r>
              <a:rPr b="0" u="none" dirty="0"/>
              <a:t> o </a:t>
            </a:r>
            <a:r>
              <a:rPr b="0" u="none" dirty="0" err="1"/>
              <a:t>altre</a:t>
            </a:r>
            <a:r>
              <a:rPr b="0" u="none" dirty="0"/>
              <a:t> </a:t>
            </a:r>
            <a:r>
              <a:rPr b="0" u="none" dirty="0" err="1"/>
              <a:t>utilità</a:t>
            </a:r>
            <a:r>
              <a:rPr b="0" u="none" dirty="0"/>
              <a:t>, senza </a:t>
            </a:r>
            <a:r>
              <a:rPr b="0" u="none" dirty="0" err="1"/>
              <a:t>alcun</a:t>
            </a:r>
            <a:r>
              <a:rPr b="0" u="none" dirty="0"/>
              <a:t> </a:t>
            </a:r>
            <a:r>
              <a:rPr b="0" u="none" dirty="0" err="1"/>
              <a:t>riferimento</a:t>
            </a:r>
            <a:r>
              <a:rPr b="0" u="none" dirty="0"/>
              <a:t> a </a:t>
            </a:r>
            <a:r>
              <a:rPr b="0" u="none" dirty="0" err="1"/>
              <a:t>scopi</a:t>
            </a:r>
            <a:r>
              <a:rPr b="0" u="none" dirty="0"/>
              <a:t> di </a:t>
            </a:r>
            <a:r>
              <a:rPr b="0" u="none" dirty="0" err="1"/>
              <a:t>profitto</a:t>
            </a:r>
            <a:r>
              <a:rPr b="0" u="none" dirty="0"/>
              <a:t> o di </a:t>
            </a:r>
            <a:r>
              <a:rPr b="0" u="none" dirty="0" err="1"/>
              <a:t>lucro</a:t>
            </a:r>
            <a:r>
              <a:rPr b="0" u="none" dirty="0"/>
              <a:t> (Cass. VI, 24/04/2008 n. 16980). </a:t>
            </a:r>
          </a:p>
          <a:p>
            <a:pPr algn="just">
              <a:lnSpc>
                <a:spcPct val="114000"/>
              </a:lnSpc>
              <a:spcBef>
                <a:spcPts val="1200"/>
              </a:spcBef>
              <a:defRPr sz="2200" b="0">
                <a:latin typeface="Times New Roman"/>
                <a:ea typeface="Times New Roman"/>
                <a:cs typeface="Times New Roman"/>
                <a:sym typeface="Times New Roman"/>
              </a:defRPr>
            </a:pPr>
            <a:r>
              <a:rPr dirty="0"/>
              <a:t>Il </a:t>
            </a:r>
            <a:r>
              <a:rPr dirty="0" err="1"/>
              <a:t>dolo</a:t>
            </a:r>
            <a:r>
              <a:rPr dirty="0"/>
              <a:t> </a:t>
            </a:r>
            <a:r>
              <a:rPr dirty="0" err="1"/>
              <a:t>oltre</a:t>
            </a:r>
            <a:r>
              <a:rPr dirty="0"/>
              <a:t> </a:t>
            </a:r>
            <a:r>
              <a:rPr dirty="0" err="1"/>
              <a:t>alla</a:t>
            </a:r>
            <a:r>
              <a:rPr dirty="0"/>
              <a:t> </a:t>
            </a:r>
            <a:r>
              <a:rPr b="1" dirty="0" err="1">
                <a:solidFill>
                  <a:srgbClr val="B27DFF"/>
                </a:solidFill>
              </a:rPr>
              <a:t>volontà</a:t>
            </a:r>
            <a:r>
              <a:rPr b="1" dirty="0">
                <a:solidFill>
                  <a:srgbClr val="B27DFF"/>
                </a:solidFill>
              </a:rPr>
              <a:t> di </a:t>
            </a:r>
            <a:r>
              <a:rPr b="1" dirty="0" err="1">
                <a:solidFill>
                  <a:srgbClr val="B27DFF"/>
                </a:solidFill>
              </a:rPr>
              <a:t>compiere</a:t>
            </a:r>
            <a:r>
              <a:rPr b="1" dirty="0">
                <a:solidFill>
                  <a:srgbClr val="B27DFF"/>
                </a:solidFill>
              </a:rPr>
              <a:t> </a:t>
            </a:r>
            <a:r>
              <a:rPr b="1" dirty="0" err="1">
                <a:solidFill>
                  <a:srgbClr val="B27DFF"/>
                </a:solidFill>
              </a:rPr>
              <a:t>l’attività</a:t>
            </a:r>
            <a:r>
              <a:rPr b="1" dirty="0">
                <a:solidFill>
                  <a:srgbClr val="B27DFF"/>
                </a:solidFill>
              </a:rPr>
              <a:t> di </a:t>
            </a:r>
            <a:r>
              <a:rPr b="1" dirty="0" err="1">
                <a:solidFill>
                  <a:srgbClr val="B27DFF"/>
                </a:solidFill>
              </a:rPr>
              <a:t>sostituzione</a:t>
            </a:r>
            <a:r>
              <a:rPr b="1" dirty="0">
                <a:solidFill>
                  <a:srgbClr val="B27DFF"/>
                </a:solidFill>
              </a:rPr>
              <a:t>, </a:t>
            </a:r>
            <a:r>
              <a:rPr b="1" dirty="0" err="1">
                <a:solidFill>
                  <a:srgbClr val="B27DFF"/>
                </a:solidFill>
              </a:rPr>
              <a:t>trasferimento</a:t>
            </a:r>
            <a:r>
              <a:rPr b="1" dirty="0">
                <a:solidFill>
                  <a:srgbClr val="B27DFF"/>
                </a:solidFill>
              </a:rPr>
              <a:t>, o di </a:t>
            </a:r>
            <a:r>
              <a:rPr b="1" dirty="0" err="1">
                <a:solidFill>
                  <a:srgbClr val="B27DFF"/>
                </a:solidFill>
              </a:rPr>
              <a:t>ostacolo</a:t>
            </a:r>
            <a:r>
              <a:rPr dirty="0"/>
              <a:t>, </a:t>
            </a:r>
            <a:r>
              <a:rPr dirty="0" err="1"/>
              <a:t>ricomprende</a:t>
            </a:r>
            <a:r>
              <a:rPr dirty="0"/>
              <a:t> la </a:t>
            </a:r>
            <a:r>
              <a:rPr dirty="0" err="1"/>
              <a:t>consapevolezza</a:t>
            </a:r>
            <a:r>
              <a:rPr dirty="0"/>
              <a:t> </a:t>
            </a:r>
            <a:r>
              <a:rPr dirty="0" err="1"/>
              <a:t>che</a:t>
            </a:r>
            <a:r>
              <a:rPr dirty="0"/>
              <a:t> </a:t>
            </a:r>
            <a:r>
              <a:rPr dirty="0" err="1"/>
              <a:t>i</a:t>
            </a:r>
            <a:r>
              <a:rPr dirty="0"/>
              <a:t> </a:t>
            </a:r>
            <a:r>
              <a:rPr dirty="0" err="1"/>
              <a:t>capitali</a:t>
            </a:r>
            <a:r>
              <a:rPr dirty="0"/>
              <a:t> o </a:t>
            </a:r>
            <a:r>
              <a:rPr dirty="0" err="1"/>
              <a:t>gli</a:t>
            </a:r>
            <a:r>
              <a:rPr dirty="0"/>
              <a:t> </a:t>
            </a:r>
            <a:r>
              <a:rPr dirty="0" err="1"/>
              <a:t>altri</a:t>
            </a:r>
            <a:r>
              <a:rPr dirty="0"/>
              <a:t> </a:t>
            </a:r>
            <a:r>
              <a:rPr dirty="0" err="1"/>
              <a:t>beni</a:t>
            </a:r>
            <a:r>
              <a:rPr dirty="0"/>
              <a:t> da </a:t>
            </a:r>
            <a:r>
              <a:rPr dirty="0" err="1"/>
              <a:t>riciclare</a:t>
            </a:r>
            <a:r>
              <a:rPr dirty="0"/>
              <a:t> </a:t>
            </a:r>
            <a:r>
              <a:rPr b="1" dirty="0" err="1">
                <a:solidFill>
                  <a:srgbClr val="B27DFF"/>
                </a:solidFill>
              </a:rPr>
              <a:t>provengono</a:t>
            </a:r>
            <a:r>
              <a:rPr b="1" dirty="0">
                <a:solidFill>
                  <a:srgbClr val="B27DFF"/>
                </a:solidFill>
              </a:rPr>
              <a:t> da un </a:t>
            </a:r>
            <a:r>
              <a:rPr b="1" dirty="0" err="1">
                <a:solidFill>
                  <a:srgbClr val="B27DFF"/>
                </a:solidFill>
              </a:rPr>
              <a:t>delitto</a:t>
            </a:r>
            <a:r>
              <a:rPr b="1" dirty="0">
                <a:solidFill>
                  <a:srgbClr val="B27DFF"/>
                </a:solidFill>
              </a:rPr>
              <a:t> non </a:t>
            </a:r>
            <a:r>
              <a:rPr b="1" dirty="0" err="1">
                <a:solidFill>
                  <a:srgbClr val="B27DFF"/>
                </a:solidFill>
              </a:rPr>
              <a:t>colposo</a:t>
            </a:r>
            <a:r>
              <a:rPr b="1" dirty="0">
                <a:solidFill>
                  <a:srgbClr val="B27DFF"/>
                </a:solidFill>
              </a:rPr>
              <a:t>.</a:t>
            </a:r>
            <a:endParaRPr lang="it-IT" b="1" dirty="0">
              <a:solidFill>
                <a:srgbClr val="B27DFF"/>
              </a:solidFill>
            </a:endParaRPr>
          </a:p>
          <a:p>
            <a:pPr algn="just">
              <a:lnSpc>
                <a:spcPct val="114000"/>
              </a:lnSpc>
              <a:spcBef>
                <a:spcPts val="1200"/>
              </a:spcBef>
              <a:defRPr sz="2200" b="0">
                <a:latin typeface="Times New Roman"/>
                <a:ea typeface="Times New Roman"/>
                <a:cs typeface="Times New Roman"/>
                <a:sym typeface="Times New Roman"/>
              </a:defRPr>
            </a:pPr>
            <a:endParaRPr lang="it-IT" dirty="0">
              <a:solidFill>
                <a:srgbClr val="B27DFF"/>
              </a:solidFill>
            </a:endParaRPr>
          </a:p>
          <a:p>
            <a:pPr algn="just">
              <a:lnSpc>
                <a:spcPct val="114000"/>
              </a:lnSpc>
              <a:spcBef>
                <a:spcPts val="1200"/>
              </a:spcBef>
              <a:defRPr sz="2200" b="0">
                <a:latin typeface="Times New Roman"/>
                <a:ea typeface="Times New Roman"/>
                <a:cs typeface="Times New Roman"/>
                <a:sym typeface="Times New Roman"/>
              </a:defRPr>
            </a:pPr>
            <a:endParaRPr b="1" dirty="0">
              <a:solidFill>
                <a:srgbClr val="B27DFF"/>
              </a:solidFill>
            </a:endParaRPr>
          </a:p>
          <a:p>
            <a:pPr algn="just">
              <a:lnSpc>
                <a:spcPct val="114000"/>
              </a:lnSpc>
              <a:spcBef>
                <a:spcPts val="1200"/>
              </a:spcBef>
              <a:defRPr sz="2200" b="0">
                <a:latin typeface="Times New Roman"/>
                <a:ea typeface="Times New Roman"/>
                <a:cs typeface="Times New Roman"/>
                <a:sym typeface="Times New Roman"/>
              </a:defRPr>
            </a:pPr>
            <a:r>
              <a:rPr dirty="0" err="1"/>
              <a:t>L’elemento</a:t>
            </a:r>
            <a:r>
              <a:rPr dirty="0"/>
              <a:t> </a:t>
            </a:r>
            <a:r>
              <a:rPr dirty="0" err="1"/>
              <a:t>psicologico</a:t>
            </a:r>
            <a:r>
              <a:rPr dirty="0"/>
              <a:t> </a:t>
            </a:r>
            <a:r>
              <a:rPr dirty="0" err="1"/>
              <a:t>si</a:t>
            </a:r>
            <a:r>
              <a:rPr dirty="0"/>
              <a:t> </a:t>
            </a:r>
            <a:r>
              <a:rPr dirty="0" err="1"/>
              <a:t>caratterizza</a:t>
            </a:r>
            <a:r>
              <a:rPr dirty="0"/>
              <a:t>, rispetto a </a:t>
            </a:r>
            <a:r>
              <a:rPr dirty="0" err="1"/>
              <a:t>quello</a:t>
            </a:r>
            <a:r>
              <a:rPr dirty="0"/>
              <a:t> </a:t>
            </a:r>
            <a:r>
              <a:rPr dirty="0" err="1"/>
              <a:t>della</a:t>
            </a:r>
            <a:r>
              <a:rPr dirty="0"/>
              <a:t> </a:t>
            </a:r>
            <a:r>
              <a:rPr dirty="0" err="1"/>
              <a:t>ricettazione</a:t>
            </a:r>
            <a:r>
              <a:rPr dirty="0"/>
              <a:t>, </a:t>
            </a:r>
            <a:r>
              <a:rPr dirty="0" err="1"/>
              <a:t>perché</a:t>
            </a:r>
            <a:r>
              <a:rPr dirty="0"/>
              <a:t> </a:t>
            </a:r>
            <a:r>
              <a:rPr dirty="0" err="1"/>
              <a:t>richiede</a:t>
            </a:r>
            <a:r>
              <a:rPr dirty="0"/>
              <a:t> </a:t>
            </a:r>
            <a:r>
              <a:rPr dirty="0" err="1"/>
              <a:t>che</a:t>
            </a:r>
            <a:r>
              <a:rPr dirty="0"/>
              <a:t> il </a:t>
            </a:r>
            <a:r>
              <a:rPr dirty="0" err="1"/>
              <a:t>dolo</a:t>
            </a:r>
            <a:r>
              <a:rPr dirty="0"/>
              <a:t> </a:t>
            </a:r>
            <a:r>
              <a:rPr dirty="0" err="1"/>
              <a:t>si</a:t>
            </a:r>
            <a:r>
              <a:rPr dirty="0"/>
              <a:t> </a:t>
            </a:r>
            <a:r>
              <a:rPr dirty="0" err="1"/>
              <a:t>qualifichi</a:t>
            </a:r>
            <a:r>
              <a:rPr dirty="0"/>
              <a:t> non per </a:t>
            </a:r>
            <a:r>
              <a:rPr dirty="0" err="1"/>
              <a:t>una</a:t>
            </a:r>
            <a:r>
              <a:rPr dirty="0"/>
              <a:t> </a:t>
            </a:r>
            <a:r>
              <a:rPr dirty="0" err="1"/>
              <a:t>generica</a:t>
            </a:r>
            <a:r>
              <a:rPr dirty="0"/>
              <a:t> </a:t>
            </a:r>
            <a:r>
              <a:rPr dirty="0" err="1"/>
              <a:t>finalità</a:t>
            </a:r>
            <a:r>
              <a:rPr dirty="0"/>
              <a:t> di </a:t>
            </a:r>
            <a:r>
              <a:rPr dirty="0" err="1"/>
              <a:t>profitto</a:t>
            </a:r>
            <a:r>
              <a:rPr dirty="0"/>
              <a:t>, ma </a:t>
            </a:r>
            <a:r>
              <a:rPr b="1" dirty="0">
                <a:solidFill>
                  <a:srgbClr val="B27DFF"/>
                </a:solidFill>
              </a:rPr>
              <a:t>per lo </a:t>
            </a:r>
            <a:r>
              <a:rPr b="1" dirty="0" err="1">
                <a:solidFill>
                  <a:srgbClr val="B27DFF"/>
                </a:solidFill>
              </a:rPr>
              <a:t>scopo</a:t>
            </a:r>
            <a:r>
              <a:rPr b="1" dirty="0">
                <a:solidFill>
                  <a:srgbClr val="B27DFF"/>
                </a:solidFill>
              </a:rPr>
              <a:t> </a:t>
            </a:r>
            <a:r>
              <a:rPr b="1" dirty="0" err="1">
                <a:solidFill>
                  <a:srgbClr val="B27DFF"/>
                </a:solidFill>
              </a:rPr>
              <a:t>ulteriore</a:t>
            </a:r>
            <a:r>
              <a:rPr b="1" dirty="0">
                <a:solidFill>
                  <a:srgbClr val="B27DFF"/>
                </a:solidFill>
              </a:rPr>
              <a:t> di far </a:t>
            </a:r>
            <a:r>
              <a:rPr b="1" dirty="0" err="1">
                <a:solidFill>
                  <a:srgbClr val="B27DFF"/>
                </a:solidFill>
              </a:rPr>
              <a:t>perdere</a:t>
            </a:r>
            <a:r>
              <a:rPr b="1" dirty="0">
                <a:solidFill>
                  <a:srgbClr val="B27DFF"/>
                </a:solidFill>
              </a:rPr>
              <a:t> le </a:t>
            </a:r>
            <a:r>
              <a:rPr b="1" dirty="0" err="1">
                <a:solidFill>
                  <a:srgbClr val="B27DFF"/>
                </a:solidFill>
              </a:rPr>
              <a:t>tracce</a:t>
            </a:r>
            <a:r>
              <a:rPr b="1" dirty="0">
                <a:solidFill>
                  <a:srgbClr val="B27DFF"/>
                </a:solidFill>
              </a:rPr>
              <a:t> </a:t>
            </a:r>
            <a:r>
              <a:rPr b="1" dirty="0" err="1">
                <a:solidFill>
                  <a:srgbClr val="B27DFF"/>
                </a:solidFill>
              </a:rPr>
              <a:t>dell’origine</a:t>
            </a:r>
            <a:r>
              <a:rPr b="1" dirty="0">
                <a:solidFill>
                  <a:srgbClr val="B27DFF"/>
                </a:solidFill>
              </a:rPr>
              <a:t> </a:t>
            </a:r>
            <a:r>
              <a:rPr b="1" dirty="0" err="1">
                <a:solidFill>
                  <a:srgbClr val="B27DFF"/>
                </a:solidFill>
              </a:rPr>
              <a:t>illecita</a:t>
            </a:r>
            <a:r>
              <a:rPr dirty="0"/>
              <a:t>.</a:t>
            </a:r>
          </a:p>
        </p:txBody>
      </p:sp>
      <p:pic>
        <p:nvPicPr>
          <p:cNvPr id="494" name="Immagine 6" descr="Immagine 6"/>
          <p:cNvPicPr>
            <a:picLocks noChangeAspect="1"/>
          </p:cNvPicPr>
          <p:nvPr/>
        </p:nvPicPr>
        <p:blipFill>
          <a:blip r:embed="rId2"/>
          <a:stretch>
            <a:fillRect/>
          </a:stretch>
        </p:blipFill>
        <p:spPr>
          <a:xfrm>
            <a:off x="136850" y="67097"/>
            <a:ext cx="435671" cy="753167"/>
          </a:xfrm>
          <a:prstGeom prst="rect">
            <a:avLst/>
          </a:prstGeom>
          <a:ln w="12700">
            <a:miter lim="400000"/>
          </a:ln>
        </p:spPr>
      </p:pic>
      <p:sp>
        <p:nvSpPr>
          <p:cNvPr id="495" name="Text Box 5"/>
          <p:cNvSpPr txBox="1"/>
          <p:nvPr/>
        </p:nvSpPr>
        <p:spPr>
          <a:xfrm>
            <a:off x="825746" y="98862"/>
            <a:ext cx="8273685" cy="584439"/>
          </a:xfrm>
          <a:prstGeom prst="rect">
            <a:avLst/>
          </a:prstGeom>
          <a:ln w="12700">
            <a:miter lim="400000"/>
          </a:ln>
          <a:effectLst>
            <a:outerShdw blurRad="63500" dist="17961" dir="2700000" rotWithShape="0">
              <a:srgbClr val="EEECE1">
                <a:alpha val="74998"/>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4569" tIns="44569" rIns="44569" bIns="44569">
            <a:spAutoFit/>
          </a:bodyPr>
          <a:lstStyle>
            <a:lvl1pPr>
              <a:defRPr sz="3200" b="0">
                <a:solidFill>
                  <a:srgbClr val="FFFFFF"/>
                </a:solidFill>
                <a:latin typeface="Book Antiqua"/>
                <a:ea typeface="Book Antiqua"/>
                <a:cs typeface="Book Antiqua"/>
                <a:sym typeface="Book Antiqua"/>
              </a:defRPr>
            </a:lvl1pPr>
          </a:lstStyle>
          <a:p>
            <a:r>
              <a:t>Riciclaggio</a:t>
            </a:r>
          </a:p>
        </p:txBody>
      </p:sp>
    </p:spTree>
  </p:cSld>
  <p:clrMapOvr>
    <a:masterClrMapping/>
  </p:clrMapOvr>
  <p:transition spd="me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 name="Segnaposto contenuto 2"/>
          <p:cNvSpPr txBox="1">
            <a:spLocks noGrp="1"/>
          </p:cNvSpPr>
          <p:nvPr>
            <p:ph type="body" sz="quarter" idx="1"/>
          </p:nvPr>
        </p:nvSpPr>
        <p:spPr>
          <a:xfrm>
            <a:off x="2411758" y="980728"/>
            <a:ext cx="4717507" cy="1296146"/>
          </a:xfrm>
          <a:prstGeom prst="rect">
            <a:avLst/>
          </a:prstGeom>
        </p:spPr>
        <p:txBody>
          <a:bodyPr/>
          <a:lstStyle/>
          <a:p>
            <a:pPr marL="0" indent="0" algn="ctr" defTabSz="411479">
              <a:spcBef>
                <a:spcPts val="300"/>
              </a:spcBef>
              <a:buSzTx/>
              <a:buNone/>
              <a:defRPr sz="1400">
                <a:latin typeface="Book Antiqua"/>
                <a:ea typeface="Book Antiqua"/>
                <a:cs typeface="Book Antiqua"/>
                <a:sym typeface="Book Antiqua"/>
              </a:defRPr>
            </a:pPr>
            <a:endParaRPr/>
          </a:p>
          <a:p>
            <a:pPr marL="0" indent="0" algn="ctr" defTabSz="411479">
              <a:spcBef>
                <a:spcPts val="300"/>
              </a:spcBef>
              <a:buSzTx/>
              <a:buNone/>
              <a:defRPr sz="1400">
                <a:latin typeface="Book Antiqua"/>
                <a:ea typeface="Book Antiqua"/>
                <a:cs typeface="Book Antiqua"/>
                <a:sym typeface="Book Antiqua"/>
              </a:defRPr>
            </a:pPr>
            <a:endParaRPr/>
          </a:p>
          <a:p>
            <a:pPr marL="0" indent="0" algn="ctr" defTabSz="411479">
              <a:spcBef>
                <a:spcPts val="300"/>
              </a:spcBef>
              <a:buSzTx/>
              <a:buNone/>
              <a:defRPr sz="1400">
                <a:latin typeface="Book Antiqua"/>
                <a:ea typeface="Book Antiqua"/>
                <a:cs typeface="Book Antiqua"/>
                <a:sym typeface="Book Antiqua"/>
              </a:defRPr>
            </a:pPr>
            <a:endParaRPr/>
          </a:p>
          <a:p>
            <a:pPr marL="0" indent="0" algn="ctr" defTabSz="411479">
              <a:spcBef>
                <a:spcPts val="500"/>
              </a:spcBef>
              <a:buSzTx/>
              <a:buNone/>
              <a:defRPr sz="2400" b="1">
                <a:solidFill>
                  <a:srgbClr val="002F8E"/>
                </a:solidFill>
                <a:latin typeface="Book Antiqua"/>
                <a:ea typeface="Book Antiqua"/>
                <a:cs typeface="Book Antiqua"/>
                <a:sym typeface="Book Antiqua"/>
              </a:defRPr>
            </a:pPr>
            <a:r>
              <a:t>DOMANDE?</a:t>
            </a:r>
          </a:p>
        </p:txBody>
      </p:sp>
      <p:pic>
        <p:nvPicPr>
          <p:cNvPr id="498" name="Immagine 4" descr="Immagine 4"/>
          <p:cNvPicPr>
            <a:picLocks noChangeAspect="1"/>
          </p:cNvPicPr>
          <p:nvPr/>
        </p:nvPicPr>
        <p:blipFill>
          <a:blip r:embed="rId2"/>
          <a:stretch>
            <a:fillRect/>
          </a:stretch>
        </p:blipFill>
        <p:spPr>
          <a:xfrm>
            <a:off x="4113565" y="3916715"/>
            <a:ext cx="4879271" cy="2439636"/>
          </a:xfrm>
          <a:prstGeom prst="rect">
            <a:avLst/>
          </a:prstGeom>
          <a:ln w="12700">
            <a:miter lim="400000"/>
          </a:ln>
        </p:spPr>
      </p:pic>
      <p:pic>
        <p:nvPicPr>
          <p:cNvPr id="499" name="Immagine 3" descr="Immagine 3"/>
          <p:cNvPicPr>
            <a:picLocks noChangeAspect="1"/>
          </p:cNvPicPr>
          <p:nvPr/>
        </p:nvPicPr>
        <p:blipFill>
          <a:blip r:embed="rId3"/>
          <a:stretch>
            <a:fillRect/>
          </a:stretch>
        </p:blipFill>
        <p:spPr>
          <a:xfrm>
            <a:off x="136850" y="67097"/>
            <a:ext cx="435671" cy="753167"/>
          </a:xfrm>
          <a:prstGeom prst="rect">
            <a:avLst/>
          </a:prstGeom>
          <a:ln w="12700">
            <a:miter lim="400000"/>
          </a:ln>
        </p:spPr>
      </p:pic>
    </p:spTree>
  </p:cSld>
  <p:clrMapOvr>
    <a:masterClrMapping/>
  </p:clrMapOvr>
  <p:transition spd="med"/>
</p:sld>
</file>

<file path=ppt/theme/theme1.xml><?xml version="1.0" encoding="utf-8"?>
<a:theme xmlns:a="http://schemas.openxmlformats.org/drawingml/2006/main" name="1_Personalizza struttura">
  <a:themeElements>
    <a:clrScheme name="1_Personalizza struttura">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1_Personalizza struttura">
      <a:majorFont>
        <a:latin typeface="Helvetica"/>
        <a:ea typeface="Helvetica"/>
        <a:cs typeface="Helvetica"/>
      </a:majorFont>
      <a:minorFont>
        <a:latin typeface="Arial"/>
        <a:ea typeface="Arial"/>
        <a:cs typeface="Arial"/>
      </a:minorFont>
    </a:fontScheme>
    <a:fmtScheme name="1_Personalizza struttur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1_Personalizza struttura">
  <a:themeElements>
    <a:clrScheme name="1_Personalizza struttura">
      <a:dk1>
        <a:srgbClr val="000000"/>
      </a:dk1>
      <a:lt1>
        <a:srgbClr val="FFFFFF"/>
      </a:lt1>
      <a:dk2>
        <a:srgbClr val="A7A7A7"/>
      </a:dk2>
      <a:lt2>
        <a:srgbClr val="535353"/>
      </a:lt2>
      <a:accent1>
        <a:srgbClr val="BBE0E3"/>
      </a:accent1>
      <a:accent2>
        <a:srgbClr val="333399"/>
      </a:accent2>
      <a:accent3>
        <a:srgbClr val="8F8F8F"/>
      </a:accent3>
      <a:accent4>
        <a:srgbClr val="707070"/>
      </a:accent4>
      <a:accent5>
        <a:srgbClr val="DAEDEF"/>
      </a:accent5>
      <a:accent6>
        <a:srgbClr val="2D2D8A"/>
      </a:accent6>
      <a:hlink>
        <a:srgbClr val="0000FF"/>
      </a:hlink>
      <a:folHlink>
        <a:srgbClr val="FF00FF"/>
      </a:folHlink>
    </a:clrScheme>
    <a:fontScheme name="1_Personalizza struttura">
      <a:majorFont>
        <a:latin typeface="Helvetica"/>
        <a:ea typeface="Helvetica"/>
        <a:cs typeface="Helvetica"/>
      </a:majorFont>
      <a:minorFont>
        <a:latin typeface="Arial"/>
        <a:ea typeface="Arial"/>
        <a:cs typeface="Arial"/>
      </a:minorFont>
    </a:fontScheme>
    <a:fmtScheme name="1_Personalizza struttur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700" b="1"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1271</TotalTime>
  <Words>8795</Words>
  <Application>Microsoft Office PowerPoint</Application>
  <PresentationFormat>Presentazione su schermo (4:3)</PresentationFormat>
  <Paragraphs>481</Paragraphs>
  <Slides>72</Slides>
  <Notes>4</Notes>
  <HiddenSlides>0</HiddenSlides>
  <MMClips>0</MMClips>
  <ScaleCrop>false</ScaleCrop>
  <HeadingPairs>
    <vt:vector size="6" baseType="variant">
      <vt:variant>
        <vt:lpstr>Caratteri utilizzati</vt:lpstr>
      </vt:variant>
      <vt:variant>
        <vt:i4>4</vt:i4>
      </vt:variant>
      <vt:variant>
        <vt:lpstr>Tema</vt:lpstr>
      </vt:variant>
      <vt:variant>
        <vt:i4>1</vt:i4>
      </vt:variant>
      <vt:variant>
        <vt:lpstr>Titoli diapositive</vt:lpstr>
      </vt:variant>
      <vt:variant>
        <vt:i4>72</vt:i4>
      </vt:variant>
    </vt:vector>
  </HeadingPairs>
  <TitlesOfParts>
    <vt:vector size="77" baseType="lpstr">
      <vt:lpstr>Arial</vt:lpstr>
      <vt:lpstr>Book Antiqua</vt:lpstr>
      <vt:lpstr>Calibri</vt:lpstr>
      <vt:lpstr>Times New Roman</vt:lpstr>
      <vt:lpstr>1_Personalizza struttura</vt:lpstr>
      <vt:lpstr>Presentazione standard di PowerPoint</vt:lpstr>
      <vt:lpstr>Presentazione standard di PowerPoint</vt:lpstr>
      <vt:lpstr>Presentazione standard di PowerPoint</vt:lpstr>
      <vt:lpstr>Presentazione standard di PowerPoint</vt:lpstr>
      <vt:lpstr>Presentazione standard di PowerPoint</vt:lpstr>
      <vt:lpstr>Furto</vt:lpstr>
      <vt:lpstr>Presentazione standard di PowerPoint</vt:lpstr>
      <vt:lpstr>Presentazione standard di PowerPoint</vt:lpstr>
      <vt:lpstr>Furto in abitazione e furto con strappo   Art. 624 bis </vt:lpstr>
      <vt:lpstr>Furto in abitazione e furto con strappo </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Estorsione</vt:lpstr>
      <vt:lpstr>Presentazione standard di PowerPoint</vt:lpstr>
      <vt:lpstr>Estorsione</vt:lpstr>
      <vt:lpstr>Estorsione</vt:lpstr>
      <vt:lpstr>Estorsione</vt:lpstr>
      <vt:lpstr>Presentazione standard di PowerPoint</vt:lpstr>
      <vt:lpstr>Presentazione standard di PowerPoint</vt:lpstr>
      <vt:lpstr>Presentazione standard di PowerPoint</vt:lpstr>
      <vt:lpstr>Presentazione standard di PowerPoint</vt:lpstr>
      <vt:lpstr>Truffa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Insolvenza fraudolenta</vt:lpstr>
      <vt:lpstr>Presentazione standard di PowerPoint</vt:lpstr>
      <vt:lpstr>Circonvenzione di persone incapaci</vt:lpstr>
      <vt:lpstr>Circonvenzione di persone incapaci</vt:lpstr>
      <vt:lpstr>Presentazione standard di PowerPoint</vt:lpstr>
      <vt:lpstr>Circonvenzione di persone incapaci</vt:lpstr>
      <vt:lpstr>Presentazione standard di PowerPoint</vt:lpstr>
      <vt:lpstr>Presentazione standard di PowerPoint</vt:lpstr>
      <vt:lpstr>Appropriazione indebita</vt:lpstr>
      <vt:lpstr>Presentazione standard di PowerPoint</vt:lpstr>
      <vt:lpstr>Appropriazione indebita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Danneggiamento</vt:lpstr>
      <vt:lpstr>Presentazione standard di PowerPoint</vt:lpstr>
      <vt:lpstr>Presentazione standard di PowerPoint</vt:lpstr>
      <vt:lpstr>Presentazione standard di PowerPoint</vt:lpstr>
      <vt:lpstr>Presentazione standard di PowerPoint</vt:lpstr>
      <vt:lpstr>Presentazione standard di PowerPoint</vt:lpstr>
      <vt:lpstr>Usura</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Riciclaggio</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cp:lastModifiedBy>Aula</cp:lastModifiedBy>
  <cp:revision>65</cp:revision>
  <dcterms:modified xsi:type="dcterms:W3CDTF">2026-01-19T07:48:14Z</dcterms:modified>
</cp:coreProperties>
</file>