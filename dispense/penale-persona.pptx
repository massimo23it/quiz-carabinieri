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327"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8" r:id="rId74"/>
    <p:sldId id="329" r:id="rId75"/>
    <p:sldId id="330" r:id="rId76"/>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solidFill>
                <a:schemeClr val="accent6"/>
              </a:solidFill>
              <a:prstDash val="solid"/>
              <a:round/>
            </a:ln>
          </a:top>
          <a:bottom>
            <a:ln w="12700" cap="flat">
              <a:solidFill>
                <a:schemeClr val="accent6"/>
              </a:solidFill>
              <a:prstDash val="solid"/>
              <a:round/>
            </a:ln>
          </a:bottom>
          <a:insideH>
            <a:ln w="12700" cap="flat">
              <a:solidFill>
                <a:schemeClr val="accent6"/>
              </a:solidFill>
              <a:prstDash val="solid"/>
              <a:round/>
            </a:ln>
          </a:insideH>
          <a:insideV>
            <a:ln w="12700" cap="flat">
              <a:noFill/>
              <a:miter lim="400000"/>
            </a:ln>
          </a:insideV>
        </a:tcBdr>
        <a:fill>
          <a:solidFill>
            <a:srgbClr val="E7E7ED"/>
          </a:solidFill>
        </a:fill>
      </a:tcStyle>
    </a:wholeTbl>
    <a:band2H>
      <a:tcTxStyle/>
      <a:tcStyle>
        <a:tcBdr/>
        <a:fill>
          <a:solidFill>
            <a:schemeClr val="accent3">
              <a:lumOff val="44000"/>
            </a:schemeClr>
          </a:solidFill>
        </a:fill>
      </a:tcStyle>
    </a:band2H>
    <a:firstCol>
      <a:tcTxStyle b="on" i="off">
        <a:fontRef idx="minor">
          <a:srgbClr val="000000"/>
        </a:fontRef>
        <a:srgbClr val="000000"/>
      </a:tcTxStyle>
      <a:tcStyle>
        <a:tcBdr>
          <a:left>
            <a:ln w="12700" cap="flat">
              <a:solidFill>
                <a:schemeClr val="accent6"/>
              </a:solidFill>
              <a:prstDash val="solid"/>
              <a:round/>
            </a:ln>
          </a:left>
          <a:right>
            <a:ln w="12700" cap="flat">
              <a:noFill/>
              <a:miter lim="400000"/>
            </a:ln>
          </a:right>
          <a:top>
            <a:ln w="12700" cap="flat">
              <a:solidFill>
                <a:schemeClr val="accent6"/>
              </a:solidFill>
              <a:prstDash val="solid"/>
              <a:round/>
            </a:ln>
          </a:top>
          <a:bottom>
            <a:ln w="12700" cap="flat">
              <a:solidFill>
                <a:schemeClr val="accent6"/>
              </a:solidFill>
              <a:prstDash val="solid"/>
              <a:round/>
            </a:ln>
          </a:bottom>
          <a:insideH>
            <a:ln w="12700" cap="flat">
              <a:solidFill>
                <a:schemeClr val="accent6"/>
              </a:solidFill>
              <a:prstDash val="solid"/>
              <a:round/>
            </a:ln>
          </a:insideH>
          <a:insideV>
            <a:ln w="12700" cap="flat">
              <a:solidFill>
                <a:schemeClr val="accent6"/>
              </a:solidFill>
              <a:prstDash val="solid"/>
              <a:round/>
            </a:ln>
          </a:insideV>
        </a:tcBdr>
        <a:fill>
          <a:solidFill>
            <a:srgbClr val="E7E7ED"/>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12700" cap="flat">
              <a:solidFill>
                <a:schemeClr val="accent6"/>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ff">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12700" cap="flat">
              <a:solidFill>
                <a:schemeClr val="accent6"/>
              </a:solidFill>
              <a:prstDash val="solid"/>
              <a:round/>
            </a:ln>
          </a:top>
          <a:bottom>
            <a:ln w="12700" cap="flat">
              <a:solidFill>
                <a:schemeClr val="accent6"/>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7B018BB-80A7-4F77-B60F-C8B233D01FF8}" styleName="">
    <a:tblBg/>
    <a:wholeTbl>
      <a:tcTxStyle b="off" i="off">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Col>
    <a:la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lastRow>
    <a:fir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a:tcStyle>
        <a:tcBdr/>
        <a:fill>
          <a:solidFill>
            <a:schemeClr val="accent3">
              <a:lumOff val="44000"/>
            </a:schemeClr>
          </a:solidFill>
        </a:fill>
      </a:tcStyle>
    </a:band2H>
    <a:firstCol>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CF821DB8-F4EB-4A41-A1BA-3FCAFE7338EE}" styleName="">
    <a:tblBg/>
    <a:wholeTbl>
      <a:tcTxStyle b="off" i="off">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Col>
    <a:la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lastRow>
    <a:fir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lumOff val="44000"/>
            </a:schemeClr>
          </a:solidFill>
        </a:fill>
      </a:tcStyle>
    </a:band2H>
    <a:firstCol>
      <a:tcTxStyle b="on" i="off">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ff">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Col>
    <a:la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lastRow>
    <a:firstRow>
      <a:tcTxStyle b="on"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7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1143000" y="685800"/>
            <a:ext cx="4572000" cy="3429000"/>
          </a:xfrm>
          <a:prstGeom prst="rect">
            <a:avLst/>
          </a:prstGeom>
        </p:spPr>
        <p:txBody>
          <a:bodyPr/>
          <a:lstStyle/>
          <a:p>
            <a:endParaRPr/>
          </a:p>
        </p:txBody>
      </p:sp>
      <p:sp>
        <p:nvSpPr>
          <p:cNvPr id="368" name="Shape 36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iapositiva titolo">
    <p:spTree>
      <p:nvGrpSpPr>
        <p:cNvPr id="1" name=""/>
        <p:cNvGrpSpPr/>
        <p:nvPr/>
      </p:nvGrpSpPr>
      <p:grpSpPr>
        <a:xfrm>
          <a:off x="0" y="0"/>
          <a:ext cx="0" cy="0"/>
          <a:chOff x="0" y="0"/>
          <a:chExt cx="0" cy="0"/>
        </a:xfrm>
      </p:grpSpPr>
      <p:sp>
        <p:nvSpPr>
          <p:cNvPr id="12" name="Titolo Testo"/>
          <p:cNvSpPr txBox="1">
            <a:spLocks noGrp="1"/>
          </p:cNvSpPr>
          <p:nvPr>
            <p:ph type="title"/>
          </p:nvPr>
        </p:nvSpPr>
        <p:spPr>
          <a:xfrm>
            <a:off x="685800" y="3209925"/>
            <a:ext cx="7772400" cy="2019300"/>
          </a:xfrm>
          <a:prstGeom prst="rect">
            <a:avLst/>
          </a:prstGeom>
          <a:noFill/>
        </p:spPr>
        <p:txBody>
          <a:bodyPr anchor="t">
            <a:normAutofit/>
          </a:bodyPr>
          <a:lstStyle>
            <a:lvl1pPr>
              <a:defRPr sz="3200">
                <a:effectLst>
                  <a:outerShdw blurRad="38100" dist="38100" dir="2700000" rotWithShape="0">
                    <a:srgbClr val="C0C0C0"/>
                  </a:outerShdw>
                </a:effectLst>
              </a:defRPr>
            </a:lvl1pPr>
          </a:lstStyle>
          <a:p>
            <a:r>
              <a:t>Titolo Testo</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olo e contenuto">
    <p:spTree>
      <p:nvGrpSpPr>
        <p:cNvPr id="1" name=""/>
        <p:cNvGrpSpPr/>
        <p:nvPr/>
      </p:nvGrpSpPr>
      <p:grpSpPr>
        <a:xfrm>
          <a:off x="0" y="0"/>
          <a:ext cx="0" cy="0"/>
          <a:chOff x="0" y="0"/>
          <a:chExt cx="0" cy="0"/>
        </a:xfrm>
      </p:grpSpPr>
      <p:sp>
        <p:nvSpPr>
          <p:cNvPr id="20"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21" name="Corpo livello uno…"/>
          <p:cNvSpPr txBox="1">
            <a:spLocks noGrp="1"/>
          </p:cNvSpPr>
          <p:nvPr>
            <p:ph type="body" idx="1"/>
          </p:nvPr>
        </p:nvSpPr>
        <p:spPr>
          <a:xfrm>
            <a:off x="457200" y="1600200"/>
            <a:ext cx="8229600" cy="4525963"/>
          </a:xfrm>
          <a:prstGeom prst="rect">
            <a:avLst/>
          </a:prstGeom>
        </p:spPr>
        <p:txBody>
          <a:bodyP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22"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Intestazione sezione">
    <p:spTree>
      <p:nvGrpSpPr>
        <p:cNvPr id="1" name=""/>
        <p:cNvGrpSpPr/>
        <p:nvPr/>
      </p:nvGrpSpPr>
      <p:grpSpPr>
        <a:xfrm>
          <a:off x="0" y="0"/>
          <a:ext cx="0" cy="0"/>
          <a:chOff x="0" y="0"/>
          <a:chExt cx="0" cy="0"/>
        </a:xfrm>
      </p:grpSpPr>
      <p:sp>
        <p:nvSpPr>
          <p:cNvPr id="29" name="Titolo Testo"/>
          <p:cNvSpPr txBox="1">
            <a:spLocks noGrp="1"/>
          </p:cNvSpPr>
          <p:nvPr>
            <p:ph type="title"/>
          </p:nvPr>
        </p:nvSpPr>
        <p:spPr>
          <a:xfrm>
            <a:off x="722312" y="4406900"/>
            <a:ext cx="7772401" cy="1362075"/>
          </a:xfrm>
          <a:prstGeom prst="rect">
            <a:avLst/>
          </a:prstGeom>
        </p:spPr>
        <p:txBody>
          <a:bodyPr anchor="t">
            <a:normAutofit/>
          </a:bodyPr>
          <a:lstStyle>
            <a:lvl1pPr algn="l">
              <a:defRPr sz="4000" cap="all"/>
            </a:lvl1pPr>
          </a:lstStyle>
          <a:p>
            <a:r>
              <a:t>Titolo Testo</a:t>
            </a:r>
          </a:p>
        </p:txBody>
      </p:sp>
      <p:sp>
        <p:nvSpPr>
          <p:cNvPr id="30" name="Corpo livello uno…"/>
          <p:cNvSpPr txBox="1">
            <a:spLocks noGrp="1"/>
          </p:cNvSpPr>
          <p:nvPr>
            <p:ph type="body" sz="quarter" idx="1"/>
          </p:nvPr>
        </p:nvSpPr>
        <p:spPr>
          <a:xfrm>
            <a:off x="722312" y="2906713"/>
            <a:ext cx="7772401" cy="1500188"/>
          </a:xfrm>
          <a:prstGeom prst="rect">
            <a:avLst/>
          </a:prstGeom>
        </p:spPr>
        <p:txBody>
          <a:bodyPr anchor="b">
            <a:normAutofit/>
          </a:bodyPr>
          <a:lstStyle>
            <a:lvl1pPr marL="0" indent="0">
              <a:spcBef>
                <a:spcPts val="400"/>
              </a:spcBef>
              <a:buSzTx/>
              <a:buNone/>
              <a:defRPr sz="2000"/>
            </a:lvl1pPr>
            <a:lvl2pPr marL="0" indent="457200">
              <a:spcBef>
                <a:spcPts val="400"/>
              </a:spcBef>
              <a:buSzTx/>
              <a:buNone/>
              <a:defRPr sz="2000"/>
            </a:lvl2pPr>
            <a:lvl3pPr marL="0" indent="914400">
              <a:spcBef>
                <a:spcPts val="400"/>
              </a:spcBef>
              <a:buSzTx/>
              <a:buNone/>
              <a:defRPr sz="2000"/>
            </a:lvl3pPr>
            <a:lvl4pPr marL="0" indent="1371600">
              <a:spcBef>
                <a:spcPts val="400"/>
              </a:spcBef>
              <a:buSzTx/>
              <a:buNone/>
              <a:defRPr sz="2000"/>
            </a:lvl4pPr>
            <a:lvl5pPr marL="0" indent="1828800">
              <a:spcBef>
                <a:spcPts val="400"/>
              </a:spcBef>
              <a:buSzTx/>
              <a:buNone/>
              <a:defRPr sz="2000"/>
            </a:lvl5pPr>
          </a:lstStyle>
          <a:p>
            <a:r>
              <a:t>Corpo livello uno</a:t>
            </a:r>
          </a:p>
          <a:p>
            <a:pPr lvl="1"/>
            <a:r>
              <a:t>Corpo livello due</a:t>
            </a:r>
          </a:p>
          <a:p>
            <a:pPr lvl="2"/>
            <a:r>
              <a:t>Corpo livello tre</a:t>
            </a:r>
          </a:p>
          <a:p>
            <a:pPr lvl="3"/>
            <a:r>
              <a:t>Corpo livello quattro</a:t>
            </a:r>
          </a:p>
          <a:p>
            <a:pPr lvl="4"/>
            <a:r>
              <a:t>Corpo livello cinque</a:t>
            </a:r>
          </a:p>
        </p:txBody>
      </p:sp>
      <p:sp>
        <p:nvSpPr>
          <p:cNvPr id="31"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ue contenuti">
    <p:spTree>
      <p:nvGrpSpPr>
        <p:cNvPr id="1" name=""/>
        <p:cNvGrpSpPr/>
        <p:nvPr/>
      </p:nvGrpSpPr>
      <p:grpSpPr>
        <a:xfrm>
          <a:off x="0" y="0"/>
          <a:ext cx="0" cy="0"/>
          <a:chOff x="0" y="0"/>
          <a:chExt cx="0" cy="0"/>
        </a:xfrm>
      </p:grpSpPr>
      <p:sp>
        <p:nvSpPr>
          <p:cNvPr id="38"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39" name="Corpo livello uno…"/>
          <p:cNvSpPr txBox="1">
            <a:spLocks noGrp="1"/>
          </p:cNvSpPr>
          <p:nvPr>
            <p:ph type="body" sz="half" idx="1"/>
          </p:nvPr>
        </p:nvSpPr>
        <p:spPr>
          <a:xfrm>
            <a:off x="457200" y="1600200"/>
            <a:ext cx="4038600" cy="4525963"/>
          </a:xfrm>
          <a:prstGeom prst="rect">
            <a:avLst/>
          </a:prstGeom>
        </p:spPr>
        <p:txBody>
          <a:bodyPr>
            <a:normAutofit/>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Corpo livello uno</a:t>
            </a:r>
          </a:p>
          <a:p>
            <a:pPr lvl="1"/>
            <a:r>
              <a:t>Corpo livello due</a:t>
            </a:r>
          </a:p>
          <a:p>
            <a:pPr lvl="2"/>
            <a:r>
              <a:t>Corpo livello tre</a:t>
            </a:r>
          </a:p>
          <a:p>
            <a:pPr lvl="3"/>
            <a:r>
              <a:t>Corpo livello quattro</a:t>
            </a:r>
          </a:p>
          <a:p>
            <a:pPr lvl="4"/>
            <a:r>
              <a:t>Corpo livello cinque</a:t>
            </a:r>
          </a:p>
        </p:txBody>
      </p:sp>
      <p:sp>
        <p:nvSpPr>
          <p:cNvPr id="40"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nfronto">
    <p:spTree>
      <p:nvGrpSpPr>
        <p:cNvPr id="1" name=""/>
        <p:cNvGrpSpPr/>
        <p:nvPr/>
      </p:nvGrpSpPr>
      <p:grpSpPr>
        <a:xfrm>
          <a:off x="0" y="0"/>
          <a:ext cx="0" cy="0"/>
          <a:chOff x="0" y="0"/>
          <a:chExt cx="0" cy="0"/>
        </a:xfrm>
      </p:grpSpPr>
      <p:sp>
        <p:nvSpPr>
          <p:cNvPr id="47" name="Titolo Testo"/>
          <p:cNvSpPr txBox="1">
            <a:spLocks noGrp="1"/>
          </p:cNvSpPr>
          <p:nvPr>
            <p:ph type="title"/>
          </p:nvPr>
        </p:nvSpPr>
        <p:spPr>
          <a:xfrm>
            <a:off x="457200" y="274638"/>
            <a:ext cx="8229600" cy="1143001"/>
          </a:xfrm>
          <a:prstGeom prst="rect">
            <a:avLst/>
          </a:prstGeom>
        </p:spPr>
        <p:txBody>
          <a:bodyPr>
            <a:normAutofit/>
          </a:bodyPr>
          <a:lstStyle/>
          <a:p>
            <a:r>
              <a:t>Titolo Testo</a:t>
            </a:r>
          </a:p>
        </p:txBody>
      </p:sp>
      <p:sp>
        <p:nvSpPr>
          <p:cNvPr id="48" name="Corpo livello uno…"/>
          <p:cNvSpPr txBox="1">
            <a:spLocks noGrp="1"/>
          </p:cNvSpPr>
          <p:nvPr>
            <p:ph type="body" sz="quarter" idx="1"/>
          </p:nvPr>
        </p:nvSpPr>
        <p:spPr>
          <a:xfrm>
            <a:off x="457200" y="1535112"/>
            <a:ext cx="4040188" cy="639763"/>
          </a:xfrm>
          <a:prstGeom prst="rect">
            <a:avLst/>
          </a:prstGeom>
        </p:spPr>
        <p:txBody>
          <a:bodyPr anchor="b">
            <a:normAutofit/>
          </a:bodyPr>
          <a:lstStyle>
            <a:lvl1pPr marL="0" indent="0">
              <a:spcBef>
                <a:spcPts val="500"/>
              </a:spcBef>
              <a:buSzTx/>
              <a:buNone/>
              <a:defRPr sz="2400" b="1"/>
            </a:lvl1pPr>
            <a:lvl2pPr marL="0" indent="457200">
              <a:spcBef>
                <a:spcPts val="500"/>
              </a:spcBef>
              <a:buSzTx/>
              <a:buNone/>
              <a:defRPr sz="2400" b="1"/>
            </a:lvl2pPr>
            <a:lvl3pPr marL="0" indent="914400">
              <a:spcBef>
                <a:spcPts val="500"/>
              </a:spcBef>
              <a:buSzTx/>
              <a:buNone/>
              <a:defRPr sz="2400" b="1"/>
            </a:lvl3pPr>
            <a:lvl4pPr marL="0" indent="1371600">
              <a:spcBef>
                <a:spcPts val="500"/>
              </a:spcBef>
              <a:buSzTx/>
              <a:buNone/>
              <a:defRPr sz="2400" b="1"/>
            </a:lvl4pPr>
            <a:lvl5pPr marL="0" indent="1828800">
              <a:spcBef>
                <a:spcPts val="500"/>
              </a:spcBef>
              <a:buSzTx/>
              <a:buNone/>
              <a:defRPr sz="2400" b="1"/>
            </a:lvl5pPr>
          </a:lstStyle>
          <a:p>
            <a:r>
              <a:t>Corpo livello uno</a:t>
            </a:r>
          </a:p>
          <a:p>
            <a:pPr lvl="1"/>
            <a:r>
              <a:t>Corpo livello due</a:t>
            </a:r>
          </a:p>
          <a:p>
            <a:pPr lvl="2"/>
            <a:r>
              <a:t>Corpo livello tre</a:t>
            </a:r>
          </a:p>
          <a:p>
            <a:pPr lvl="3"/>
            <a:r>
              <a:t>Corpo livello quattro</a:t>
            </a:r>
          </a:p>
          <a:p>
            <a:pPr lvl="4"/>
            <a:r>
              <a:t>Corpo livello cinque</a:t>
            </a:r>
          </a:p>
        </p:txBody>
      </p:sp>
      <p:sp>
        <p:nvSpPr>
          <p:cNvPr id="49" name="Segnaposto testo 4"/>
          <p:cNvSpPr>
            <a:spLocks noGrp="1"/>
          </p:cNvSpPr>
          <p:nvPr>
            <p:ph type="body" sz="quarter" idx="21"/>
          </p:nvPr>
        </p:nvSpPr>
        <p:spPr>
          <a:xfrm>
            <a:off x="4645025" y="1535112"/>
            <a:ext cx="4041775" cy="639763"/>
          </a:xfrm>
          <a:prstGeom prst="rect">
            <a:avLst/>
          </a:prstGeom>
        </p:spPr>
        <p:txBody>
          <a:bodyPr anchor="b">
            <a:normAutofit/>
          </a:bodyPr>
          <a:lstStyle/>
          <a:p>
            <a:pPr marL="0" indent="0">
              <a:spcBef>
                <a:spcPts val="500"/>
              </a:spcBef>
              <a:buSzTx/>
              <a:buNone/>
              <a:defRPr sz="2400" b="1"/>
            </a:pPr>
            <a:endParaRPr/>
          </a:p>
        </p:txBody>
      </p:sp>
      <p:sp>
        <p:nvSpPr>
          <p:cNvPr id="50"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olo titolo">
    <p:spTree>
      <p:nvGrpSpPr>
        <p:cNvPr id="1" name=""/>
        <p:cNvGrpSpPr/>
        <p:nvPr/>
      </p:nvGrpSpPr>
      <p:grpSpPr>
        <a:xfrm>
          <a:off x="0" y="0"/>
          <a:ext cx="0" cy="0"/>
          <a:chOff x="0" y="0"/>
          <a:chExt cx="0" cy="0"/>
        </a:xfrm>
      </p:grpSpPr>
      <p:sp>
        <p:nvSpPr>
          <p:cNvPr id="57"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58"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Vuota">
    <p:spTree>
      <p:nvGrpSpPr>
        <p:cNvPr id="1" name=""/>
        <p:cNvGrpSpPr/>
        <p:nvPr/>
      </p:nvGrpSpPr>
      <p:grpSpPr>
        <a:xfrm>
          <a:off x="0" y="0"/>
          <a:ext cx="0" cy="0"/>
          <a:chOff x="0" y="0"/>
          <a:chExt cx="0" cy="0"/>
        </a:xfrm>
      </p:grpSpPr>
      <p:sp>
        <p:nvSpPr>
          <p:cNvPr id="6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uto con didascalia">
    <p:spTree>
      <p:nvGrpSpPr>
        <p:cNvPr id="1" name=""/>
        <p:cNvGrpSpPr/>
        <p:nvPr/>
      </p:nvGrpSpPr>
      <p:grpSpPr>
        <a:xfrm>
          <a:off x="0" y="0"/>
          <a:ext cx="0" cy="0"/>
          <a:chOff x="0" y="0"/>
          <a:chExt cx="0" cy="0"/>
        </a:xfrm>
      </p:grpSpPr>
      <p:sp>
        <p:nvSpPr>
          <p:cNvPr id="72" name="Titolo Testo"/>
          <p:cNvSpPr txBox="1">
            <a:spLocks noGrp="1"/>
          </p:cNvSpPr>
          <p:nvPr>
            <p:ph type="title"/>
          </p:nvPr>
        </p:nvSpPr>
        <p:spPr>
          <a:xfrm>
            <a:off x="457200" y="273050"/>
            <a:ext cx="3008314" cy="1162050"/>
          </a:xfrm>
          <a:prstGeom prst="rect">
            <a:avLst/>
          </a:prstGeom>
        </p:spPr>
        <p:txBody>
          <a:bodyPr anchor="b">
            <a:normAutofit/>
          </a:bodyPr>
          <a:lstStyle>
            <a:lvl1pPr algn="l">
              <a:defRPr sz="2000"/>
            </a:lvl1pPr>
          </a:lstStyle>
          <a:p>
            <a:r>
              <a:t>Titolo Testo</a:t>
            </a:r>
          </a:p>
        </p:txBody>
      </p:sp>
      <p:sp>
        <p:nvSpPr>
          <p:cNvPr id="73" name="Corpo livello uno…"/>
          <p:cNvSpPr txBox="1">
            <a:spLocks noGrp="1"/>
          </p:cNvSpPr>
          <p:nvPr>
            <p:ph type="body" idx="1"/>
          </p:nvPr>
        </p:nvSpPr>
        <p:spPr>
          <a:xfrm>
            <a:off x="3575050" y="273050"/>
            <a:ext cx="5111750" cy="5853113"/>
          </a:xfrm>
          <a:prstGeom prst="rect">
            <a:avLst/>
          </a:prstGeom>
        </p:spPr>
        <p:txBody>
          <a:bodyP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74" name="Segnaposto testo 3"/>
          <p:cNvSpPr>
            <a:spLocks noGrp="1"/>
          </p:cNvSpPr>
          <p:nvPr>
            <p:ph type="body" sz="half" idx="21"/>
          </p:nvPr>
        </p:nvSpPr>
        <p:spPr>
          <a:xfrm>
            <a:off x="457199" y="1435100"/>
            <a:ext cx="3008315" cy="4691063"/>
          </a:xfrm>
          <a:prstGeom prst="rect">
            <a:avLst/>
          </a:prstGeom>
        </p:spPr>
        <p:txBody>
          <a:bodyPr>
            <a:normAutofit/>
          </a:bodyPr>
          <a:lstStyle/>
          <a:p>
            <a:pPr marL="0" indent="0">
              <a:spcBef>
                <a:spcPts val="300"/>
              </a:spcBef>
              <a:buSzTx/>
              <a:buNone/>
              <a:defRPr sz="1400"/>
            </a:pPr>
            <a:endParaRPr/>
          </a:p>
        </p:txBody>
      </p:sp>
      <p:sp>
        <p:nvSpPr>
          <p:cNvPr id="7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Immagine con didascalia">
    <p:spTree>
      <p:nvGrpSpPr>
        <p:cNvPr id="1" name=""/>
        <p:cNvGrpSpPr/>
        <p:nvPr/>
      </p:nvGrpSpPr>
      <p:grpSpPr>
        <a:xfrm>
          <a:off x="0" y="0"/>
          <a:ext cx="0" cy="0"/>
          <a:chOff x="0" y="0"/>
          <a:chExt cx="0" cy="0"/>
        </a:xfrm>
      </p:grpSpPr>
      <p:sp>
        <p:nvSpPr>
          <p:cNvPr id="82" name="Titolo Testo"/>
          <p:cNvSpPr txBox="1">
            <a:spLocks noGrp="1"/>
          </p:cNvSpPr>
          <p:nvPr>
            <p:ph type="title"/>
          </p:nvPr>
        </p:nvSpPr>
        <p:spPr>
          <a:xfrm>
            <a:off x="1792288" y="4800600"/>
            <a:ext cx="5486401" cy="566738"/>
          </a:xfrm>
          <a:prstGeom prst="rect">
            <a:avLst/>
          </a:prstGeom>
        </p:spPr>
        <p:txBody>
          <a:bodyPr anchor="b">
            <a:normAutofit/>
          </a:bodyPr>
          <a:lstStyle>
            <a:lvl1pPr algn="l">
              <a:defRPr sz="2000"/>
            </a:lvl1pPr>
          </a:lstStyle>
          <a:p>
            <a:r>
              <a:t>Titolo Testo</a:t>
            </a:r>
          </a:p>
        </p:txBody>
      </p:sp>
      <p:sp>
        <p:nvSpPr>
          <p:cNvPr id="83" name="Segnaposto immagine 2"/>
          <p:cNvSpPr>
            <a:spLocks noGrp="1"/>
          </p:cNvSpPr>
          <p:nvPr>
            <p:ph type="pic" sz="half" idx="21"/>
          </p:nvPr>
        </p:nvSpPr>
        <p:spPr>
          <a:xfrm>
            <a:off x="1792288" y="612775"/>
            <a:ext cx="5486401" cy="4114800"/>
          </a:xfrm>
          <a:prstGeom prst="rect">
            <a:avLst/>
          </a:prstGeom>
        </p:spPr>
        <p:txBody>
          <a:bodyPr lIns="91439" rIns="91439"/>
          <a:lstStyle/>
          <a:p>
            <a:endParaRPr/>
          </a:p>
        </p:txBody>
      </p:sp>
      <p:sp>
        <p:nvSpPr>
          <p:cNvPr id="84" name="Corpo livello uno…"/>
          <p:cNvSpPr txBox="1">
            <a:spLocks noGrp="1"/>
          </p:cNvSpPr>
          <p:nvPr>
            <p:ph type="body" sz="quarter" idx="1"/>
          </p:nvPr>
        </p:nvSpPr>
        <p:spPr>
          <a:xfrm>
            <a:off x="1792288" y="5367337"/>
            <a:ext cx="5486401" cy="804863"/>
          </a:xfrm>
          <a:prstGeom prst="rect">
            <a:avLst/>
          </a:prstGeom>
        </p:spPr>
        <p:txBody>
          <a:bodyPr>
            <a:normAutofit/>
          </a:bodyPr>
          <a:lstStyle>
            <a:lvl1pPr marL="0" indent="0">
              <a:spcBef>
                <a:spcPts val="300"/>
              </a:spcBef>
              <a:buSzTx/>
              <a:buNone/>
              <a:defRPr sz="1400"/>
            </a:lvl1pPr>
            <a:lvl2pPr marL="0" indent="457200">
              <a:spcBef>
                <a:spcPts val="300"/>
              </a:spcBef>
              <a:buSzTx/>
              <a:buNone/>
              <a:defRPr sz="1400"/>
            </a:lvl2pPr>
            <a:lvl3pPr marL="0" indent="914400">
              <a:spcBef>
                <a:spcPts val="300"/>
              </a:spcBef>
              <a:buSzTx/>
              <a:buNone/>
              <a:defRPr sz="1400"/>
            </a:lvl3pPr>
            <a:lvl4pPr marL="0" indent="1371600">
              <a:spcBef>
                <a:spcPts val="300"/>
              </a:spcBef>
              <a:buSzTx/>
              <a:buNone/>
              <a:defRPr sz="1400"/>
            </a:lvl4pPr>
            <a:lvl5pPr marL="0" indent="1828800">
              <a:spcBef>
                <a:spcPts val="300"/>
              </a:spcBef>
              <a:buSzTx/>
              <a:buNone/>
              <a:defRPr sz="1400"/>
            </a:lvl5pPr>
          </a:lstStyle>
          <a:p>
            <a:r>
              <a:t>Corpo livello uno</a:t>
            </a:r>
          </a:p>
          <a:p>
            <a:pPr lvl="1"/>
            <a:r>
              <a:t>Corpo livello due</a:t>
            </a:r>
          </a:p>
          <a:p>
            <a:pPr lvl="2"/>
            <a:r>
              <a:t>Corpo livello tre</a:t>
            </a:r>
          </a:p>
          <a:p>
            <a:pPr lvl="3"/>
            <a:r>
              <a:t>Corpo livello quattro</a:t>
            </a:r>
          </a:p>
          <a:p>
            <a:pPr lvl="4"/>
            <a:r>
              <a:t>Corpo livello cinque</a:t>
            </a:r>
          </a:p>
        </p:txBody>
      </p:sp>
      <p:sp>
        <p:nvSpPr>
          <p:cNvPr id="8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olo, diagramma o organigramma">
    <p:spTree>
      <p:nvGrpSpPr>
        <p:cNvPr id="1" name=""/>
        <p:cNvGrpSpPr/>
        <p:nvPr/>
      </p:nvGrpSpPr>
      <p:grpSpPr>
        <a:xfrm>
          <a:off x="0" y="0"/>
          <a:ext cx="0" cy="0"/>
          <a:chOff x="0" y="0"/>
          <a:chExt cx="0" cy="0"/>
        </a:xfrm>
      </p:grpSpPr>
      <p:sp>
        <p:nvSpPr>
          <p:cNvPr id="92"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93"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olo e tabella">
    <p:spTree>
      <p:nvGrpSpPr>
        <p:cNvPr id="1" name=""/>
        <p:cNvGrpSpPr/>
        <p:nvPr/>
      </p:nvGrpSpPr>
      <p:grpSpPr>
        <a:xfrm>
          <a:off x="0" y="0"/>
          <a:ext cx="0" cy="0"/>
          <a:chOff x="0" y="0"/>
          <a:chExt cx="0" cy="0"/>
        </a:xfrm>
      </p:grpSpPr>
      <p:sp>
        <p:nvSpPr>
          <p:cNvPr id="100"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101"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olo, contenuto e contenuto 2">
    <p:spTree>
      <p:nvGrpSpPr>
        <p:cNvPr id="1" name=""/>
        <p:cNvGrpSpPr/>
        <p:nvPr/>
      </p:nvGrpSpPr>
      <p:grpSpPr>
        <a:xfrm>
          <a:off x="0" y="0"/>
          <a:ext cx="0" cy="0"/>
          <a:chOff x="0" y="0"/>
          <a:chExt cx="0" cy="0"/>
        </a:xfrm>
      </p:grpSpPr>
      <p:sp>
        <p:nvSpPr>
          <p:cNvPr id="108"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109" name="Corpo livello uno…"/>
          <p:cNvSpPr txBox="1">
            <a:spLocks noGrp="1"/>
          </p:cNvSpPr>
          <p:nvPr>
            <p:ph type="body" sz="half" idx="1"/>
          </p:nvPr>
        </p:nvSpPr>
        <p:spPr>
          <a:xfrm>
            <a:off x="457200" y="1600200"/>
            <a:ext cx="4038600" cy="4525963"/>
          </a:xfrm>
          <a:prstGeom prst="rect">
            <a:avLst/>
          </a:prstGeom>
        </p:spPr>
        <p:txBody>
          <a:bodyP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110"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olo e  contenuto 4">
    <p:spTree>
      <p:nvGrpSpPr>
        <p:cNvPr id="1" name=""/>
        <p:cNvGrpSpPr/>
        <p:nvPr/>
      </p:nvGrpSpPr>
      <p:grpSpPr>
        <a:xfrm>
          <a:off x="0" y="0"/>
          <a:ext cx="0" cy="0"/>
          <a:chOff x="0" y="0"/>
          <a:chExt cx="0" cy="0"/>
        </a:xfrm>
      </p:grpSpPr>
      <p:sp>
        <p:nvSpPr>
          <p:cNvPr id="117"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118" name="Corpo livello uno…"/>
          <p:cNvSpPr txBox="1">
            <a:spLocks noGrp="1"/>
          </p:cNvSpPr>
          <p:nvPr>
            <p:ph type="body" sz="quarter" idx="1"/>
          </p:nvPr>
        </p:nvSpPr>
        <p:spPr>
          <a:xfrm>
            <a:off x="457200" y="1600200"/>
            <a:ext cx="4038600" cy="2185989"/>
          </a:xfrm>
          <a:prstGeom prst="rect">
            <a:avLst/>
          </a:prstGeom>
        </p:spPr>
        <p:txBody>
          <a:bodyP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119"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Diapositiva titol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6" name="Titolo Testo"/>
          <p:cNvSpPr txBox="1">
            <a:spLocks noGrp="1"/>
          </p:cNvSpPr>
          <p:nvPr>
            <p:ph type="title"/>
          </p:nvPr>
        </p:nvSpPr>
        <p:spPr>
          <a:xfrm>
            <a:off x="685800" y="1122362"/>
            <a:ext cx="7772400" cy="2387601"/>
          </a:xfrm>
          <a:prstGeom prst="rect">
            <a:avLst/>
          </a:prstGeom>
          <a:noFill/>
        </p:spPr>
        <p:txBody>
          <a:bodyPr anchor="b">
            <a:normAutofit/>
          </a:bodyPr>
          <a:lstStyle>
            <a:lvl1pPr>
              <a:lnSpc>
                <a:spcPct val="90000"/>
              </a:lnSpc>
              <a:defRPr sz="6000" b="0">
                <a:solidFill>
                  <a:srgbClr val="000000"/>
                </a:solidFill>
                <a:latin typeface="Calibri Light"/>
                <a:ea typeface="Calibri Light"/>
                <a:cs typeface="Calibri Light"/>
                <a:sym typeface="Calibri Light"/>
              </a:defRPr>
            </a:lvl1pPr>
          </a:lstStyle>
          <a:p>
            <a:pPr>
              <a:defRPr>
                <a:effectLst/>
              </a:defRPr>
            </a:pPr>
            <a:r>
              <a:t>Titolo Testo</a:t>
            </a:r>
          </a:p>
        </p:txBody>
      </p:sp>
      <p:sp>
        <p:nvSpPr>
          <p:cNvPr id="127" name="Corpo livello uno…"/>
          <p:cNvSpPr txBox="1">
            <a:spLocks noGrp="1"/>
          </p:cNvSpPr>
          <p:nvPr>
            <p:ph type="body" sz="quarter" idx="1"/>
          </p:nvPr>
        </p:nvSpPr>
        <p:spPr>
          <a:xfrm>
            <a:off x="1143000" y="3602037"/>
            <a:ext cx="6858000" cy="1655763"/>
          </a:xfrm>
          <a:prstGeom prst="rect">
            <a:avLst/>
          </a:prstGeom>
        </p:spPr>
        <p:txBody>
          <a:bodyPr>
            <a:normAutofit/>
          </a:bodyPr>
          <a:lstStyle>
            <a:lvl1pPr marL="0" indent="0" algn="ctr">
              <a:lnSpc>
                <a:spcPct val="90000"/>
              </a:lnSpc>
              <a:spcBef>
                <a:spcPts val="1000"/>
              </a:spcBef>
              <a:buSzTx/>
              <a:buNone/>
              <a:defRPr sz="2400">
                <a:latin typeface="Calibri"/>
                <a:ea typeface="Calibri"/>
                <a:cs typeface="Calibri"/>
                <a:sym typeface="Calibri"/>
              </a:defRPr>
            </a:lvl1pPr>
            <a:lvl2pPr marL="0" indent="457200" algn="ctr">
              <a:lnSpc>
                <a:spcPct val="90000"/>
              </a:lnSpc>
              <a:spcBef>
                <a:spcPts val="1000"/>
              </a:spcBef>
              <a:buSzTx/>
              <a:buNone/>
              <a:defRPr sz="2400">
                <a:latin typeface="Calibri"/>
                <a:ea typeface="Calibri"/>
                <a:cs typeface="Calibri"/>
                <a:sym typeface="Calibri"/>
              </a:defRPr>
            </a:lvl2pPr>
            <a:lvl3pPr marL="0" indent="914400" algn="ctr">
              <a:lnSpc>
                <a:spcPct val="90000"/>
              </a:lnSpc>
              <a:spcBef>
                <a:spcPts val="1000"/>
              </a:spcBef>
              <a:buSzTx/>
              <a:buNone/>
              <a:defRPr sz="2400">
                <a:latin typeface="Calibri"/>
                <a:ea typeface="Calibri"/>
                <a:cs typeface="Calibri"/>
                <a:sym typeface="Calibri"/>
              </a:defRPr>
            </a:lvl3pPr>
            <a:lvl4pPr marL="0" indent="1371600" algn="ctr">
              <a:lnSpc>
                <a:spcPct val="90000"/>
              </a:lnSpc>
              <a:spcBef>
                <a:spcPts val="1000"/>
              </a:spcBef>
              <a:buSzTx/>
              <a:buNone/>
              <a:defRPr sz="2400">
                <a:latin typeface="Calibri"/>
                <a:ea typeface="Calibri"/>
                <a:cs typeface="Calibri"/>
                <a:sym typeface="Calibri"/>
              </a:defRPr>
            </a:lvl4pPr>
            <a:lvl5pPr marL="0" indent="1828800" algn="ctr">
              <a:lnSpc>
                <a:spcPct val="90000"/>
              </a:lnSpc>
              <a:spcBef>
                <a:spcPts val="1000"/>
              </a:spcBef>
              <a:buSzTx/>
              <a:buNone/>
              <a:defRPr sz="2400">
                <a:latin typeface="Calibri"/>
                <a:ea typeface="Calibri"/>
                <a:cs typeface="Calibri"/>
                <a:sym typeface="Calibri"/>
              </a:defRPr>
            </a:lvl5pPr>
          </a:lstStyle>
          <a:p>
            <a:r>
              <a:t>Corpo livello uno</a:t>
            </a:r>
          </a:p>
          <a:p>
            <a:pPr lvl="1"/>
            <a:r>
              <a:t>Corpo livello due</a:t>
            </a:r>
          </a:p>
          <a:p>
            <a:pPr lvl="2"/>
            <a:r>
              <a:t>Corpo livello tre</a:t>
            </a:r>
          </a:p>
          <a:p>
            <a:pPr lvl="3"/>
            <a:r>
              <a:t>Corpo livello quattro</a:t>
            </a:r>
          </a:p>
          <a:p>
            <a:pPr lvl="4"/>
            <a:r>
              <a:t>Corpo livello cinque</a:t>
            </a:r>
          </a:p>
        </p:txBody>
      </p:sp>
      <p:sp>
        <p:nvSpPr>
          <p:cNvPr id="128"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Titolo e contenu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35" name="Corpo livello uno…"/>
          <p:cNvSpPr txBox="1">
            <a:spLocks noGrp="1"/>
          </p:cNvSpPr>
          <p:nvPr>
            <p:ph type="body" idx="1"/>
          </p:nvPr>
        </p:nvSpPr>
        <p:spPr>
          <a:xfrm>
            <a:off x="628650" y="1825625"/>
            <a:ext cx="7886700" cy="4351338"/>
          </a:xfrm>
          <a:prstGeom prst="rect">
            <a:avLst/>
          </a:prstGeom>
        </p:spPr>
        <p:txBody>
          <a:bodyPr>
            <a:normAutofit/>
          </a:bodyPr>
          <a:lstStyle>
            <a:lvl1pPr marL="228600" indent="-228600">
              <a:lnSpc>
                <a:spcPct val="90000"/>
              </a:lnSpc>
              <a:spcBef>
                <a:spcPts val="1000"/>
              </a:spcBef>
              <a:buFont typeface="Arial"/>
              <a:defRPr sz="2800">
                <a:latin typeface="Calibri"/>
                <a:ea typeface="Calibri"/>
                <a:cs typeface="Calibri"/>
                <a:sym typeface="Calibri"/>
              </a:defRPr>
            </a:lvl1pPr>
            <a:lvl2pPr marL="723900" indent="-266700">
              <a:lnSpc>
                <a:spcPct val="90000"/>
              </a:lnSpc>
              <a:spcBef>
                <a:spcPts val="1000"/>
              </a:spcBef>
              <a:buFont typeface="Arial"/>
              <a:buChar char="•"/>
              <a:defRPr sz="2800">
                <a:latin typeface="Calibri"/>
                <a:ea typeface="Calibri"/>
                <a:cs typeface="Calibri"/>
                <a:sym typeface="Calibri"/>
              </a:defRPr>
            </a:lvl2pPr>
            <a:lvl3pPr marL="1234439" indent="-320039">
              <a:lnSpc>
                <a:spcPct val="90000"/>
              </a:lnSpc>
              <a:spcBef>
                <a:spcPts val="1000"/>
              </a:spcBef>
              <a:buFont typeface="Arial"/>
              <a:defRPr sz="2800">
                <a:latin typeface="Calibri"/>
                <a:ea typeface="Calibri"/>
                <a:cs typeface="Calibri"/>
                <a:sym typeface="Calibri"/>
              </a:defRPr>
            </a:lvl3pPr>
            <a:lvl4pPr marL="1727200" indent="-355600">
              <a:lnSpc>
                <a:spcPct val="90000"/>
              </a:lnSpc>
              <a:spcBef>
                <a:spcPts val="1000"/>
              </a:spcBef>
              <a:buFont typeface="Arial"/>
              <a:buChar char="•"/>
              <a:defRPr sz="2800">
                <a:latin typeface="Calibri"/>
                <a:ea typeface="Calibri"/>
                <a:cs typeface="Calibri"/>
                <a:sym typeface="Calibri"/>
              </a:defRPr>
            </a:lvl4pPr>
            <a:lvl5pPr marL="2184400" indent="-355600">
              <a:lnSpc>
                <a:spcPct val="90000"/>
              </a:lnSpc>
              <a:spcBef>
                <a:spcPts val="1000"/>
              </a:spcBef>
              <a:buFont typeface="Arial"/>
              <a:buChar char="•"/>
              <a:defRPr sz="2800">
                <a:latin typeface="Calibri"/>
                <a:ea typeface="Calibri"/>
                <a:cs typeface="Calibri"/>
                <a:sym typeface="Calibri"/>
              </a:defRPr>
            </a:lvl5pPr>
          </a:lstStyle>
          <a:p>
            <a:r>
              <a:t>Corpo livello uno</a:t>
            </a:r>
          </a:p>
          <a:p>
            <a:pPr lvl="1"/>
            <a:r>
              <a:t>Corpo livello due</a:t>
            </a:r>
          </a:p>
          <a:p>
            <a:pPr lvl="2"/>
            <a:r>
              <a:t>Corpo livello tre</a:t>
            </a:r>
          </a:p>
          <a:p>
            <a:pPr lvl="3"/>
            <a:r>
              <a:t>Corpo livello quattro</a:t>
            </a:r>
          </a:p>
          <a:p>
            <a:pPr lvl="4"/>
            <a:r>
              <a:t>Corpo livello cinque</a:t>
            </a:r>
          </a:p>
        </p:txBody>
      </p:sp>
      <p:sp>
        <p:nvSpPr>
          <p:cNvPr id="136"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
        <p:nvSpPr>
          <p:cNvPr id="137" name="Titolo Testo"/>
          <p:cNvSpPr txBox="1">
            <a:spLocks noGrp="1"/>
          </p:cNvSpPr>
          <p:nvPr>
            <p:ph type="title"/>
          </p:nvPr>
        </p:nvSpPr>
        <p:spPr>
          <a:xfrm>
            <a:off x="628650" y="365125"/>
            <a:ext cx="7886700" cy="1325564"/>
          </a:xfrm>
          <a:prstGeom prst="rect">
            <a:avLst/>
          </a:prstGeom>
          <a:noFill/>
        </p:spPr>
        <p:txBody>
          <a:bodyPr>
            <a:normAutofit/>
          </a:bodyPr>
          <a:lstStyle>
            <a:lvl1pPr algn="l">
              <a:lnSpc>
                <a:spcPct val="90000"/>
              </a:lnSpc>
              <a:defRPr sz="4400" b="0">
                <a:solidFill>
                  <a:srgbClr val="000000"/>
                </a:solidFill>
                <a:latin typeface="Calibri Light"/>
                <a:ea typeface="Calibri Light"/>
                <a:cs typeface="Calibri Light"/>
                <a:sym typeface="Calibri Light"/>
              </a:defRPr>
            </a:lvl1pPr>
          </a:lstStyle>
          <a:p>
            <a:pPr>
              <a:defRPr>
                <a:effectLst/>
              </a:defRPr>
            </a:pPr>
            <a:r>
              <a:t>Titolo Testo</a:t>
            </a: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Intestazione sezion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4" name="Titolo Testo"/>
          <p:cNvSpPr txBox="1">
            <a:spLocks noGrp="1"/>
          </p:cNvSpPr>
          <p:nvPr>
            <p:ph type="title"/>
          </p:nvPr>
        </p:nvSpPr>
        <p:spPr>
          <a:xfrm>
            <a:off x="623887" y="1709739"/>
            <a:ext cx="7886701" cy="2852737"/>
          </a:xfrm>
          <a:prstGeom prst="rect">
            <a:avLst/>
          </a:prstGeom>
          <a:noFill/>
        </p:spPr>
        <p:txBody>
          <a:bodyPr anchor="b">
            <a:normAutofit/>
          </a:bodyPr>
          <a:lstStyle>
            <a:lvl1pPr algn="l">
              <a:lnSpc>
                <a:spcPct val="90000"/>
              </a:lnSpc>
              <a:defRPr sz="6000" b="0">
                <a:solidFill>
                  <a:srgbClr val="000000"/>
                </a:solidFill>
                <a:latin typeface="Calibri Light"/>
                <a:ea typeface="Calibri Light"/>
                <a:cs typeface="Calibri Light"/>
                <a:sym typeface="Calibri Light"/>
              </a:defRPr>
            </a:lvl1pPr>
          </a:lstStyle>
          <a:p>
            <a:pPr>
              <a:defRPr>
                <a:effectLst/>
              </a:defRPr>
            </a:pPr>
            <a:r>
              <a:t>Titolo Testo</a:t>
            </a:r>
          </a:p>
        </p:txBody>
      </p:sp>
      <p:sp>
        <p:nvSpPr>
          <p:cNvPr id="145" name="Corpo livello uno…"/>
          <p:cNvSpPr txBox="1">
            <a:spLocks noGrp="1"/>
          </p:cNvSpPr>
          <p:nvPr>
            <p:ph type="body" sz="quarter" idx="1"/>
          </p:nvPr>
        </p:nvSpPr>
        <p:spPr>
          <a:xfrm>
            <a:off x="623887" y="4589464"/>
            <a:ext cx="7886701" cy="1500188"/>
          </a:xfrm>
          <a:prstGeom prst="rect">
            <a:avLst/>
          </a:prstGeom>
        </p:spPr>
        <p:txBody>
          <a:bodyPr>
            <a:normAutofit/>
          </a:bodyPr>
          <a:lstStyle>
            <a:lvl1pPr marL="0" indent="0">
              <a:lnSpc>
                <a:spcPct val="90000"/>
              </a:lnSpc>
              <a:spcBef>
                <a:spcPts val="1000"/>
              </a:spcBef>
              <a:buSzTx/>
              <a:buNone/>
              <a:defRPr sz="2400">
                <a:latin typeface="Calibri"/>
                <a:ea typeface="Calibri"/>
                <a:cs typeface="Calibri"/>
                <a:sym typeface="Calibri"/>
              </a:defRPr>
            </a:lvl1pPr>
            <a:lvl2pPr marL="0" indent="457200">
              <a:lnSpc>
                <a:spcPct val="90000"/>
              </a:lnSpc>
              <a:spcBef>
                <a:spcPts val="1000"/>
              </a:spcBef>
              <a:buSzTx/>
              <a:buNone/>
              <a:defRPr sz="2400">
                <a:latin typeface="Calibri"/>
                <a:ea typeface="Calibri"/>
                <a:cs typeface="Calibri"/>
                <a:sym typeface="Calibri"/>
              </a:defRPr>
            </a:lvl2pPr>
            <a:lvl3pPr marL="0" indent="914400">
              <a:lnSpc>
                <a:spcPct val="90000"/>
              </a:lnSpc>
              <a:spcBef>
                <a:spcPts val="1000"/>
              </a:spcBef>
              <a:buSzTx/>
              <a:buNone/>
              <a:defRPr sz="2400">
                <a:latin typeface="Calibri"/>
                <a:ea typeface="Calibri"/>
                <a:cs typeface="Calibri"/>
                <a:sym typeface="Calibri"/>
              </a:defRPr>
            </a:lvl3pPr>
            <a:lvl4pPr marL="0" indent="1371600">
              <a:lnSpc>
                <a:spcPct val="90000"/>
              </a:lnSpc>
              <a:spcBef>
                <a:spcPts val="1000"/>
              </a:spcBef>
              <a:buSzTx/>
              <a:buNone/>
              <a:defRPr sz="2400">
                <a:latin typeface="Calibri"/>
                <a:ea typeface="Calibri"/>
                <a:cs typeface="Calibri"/>
                <a:sym typeface="Calibri"/>
              </a:defRPr>
            </a:lvl4pPr>
            <a:lvl5pPr marL="0" indent="1828800">
              <a:lnSpc>
                <a:spcPct val="90000"/>
              </a:lnSpc>
              <a:spcBef>
                <a:spcPts val="1000"/>
              </a:spcBef>
              <a:buSzTx/>
              <a:buNone/>
              <a:defRPr sz="2400">
                <a:latin typeface="Calibri"/>
                <a:ea typeface="Calibri"/>
                <a:cs typeface="Calibri"/>
                <a:sym typeface="Calibri"/>
              </a:defRPr>
            </a:lvl5pPr>
          </a:lstStyle>
          <a:p>
            <a:r>
              <a:t>Corpo livello uno</a:t>
            </a:r>
          </a:p>
          <a:p>
            <a:pPr lvl="1"/>
            <a:r>
              <a:t>Corpo livello due</a:t>
            </a:r>
          </a:p>
          <a:p>
            <a:pPr lvl="2"/>
            <a:r>
              <a:t>Corpo livello tre</a:t>
            </a:r>
          </a:p>
          <a:p>
            <a:pPr lvl="3"/>
            <a:r>
              <a:t>Corpo livello quattro</a:t>
            </a:r>
          </a:p>
          <a:p>
            <a:pPr lvl="4"/>
            <a:r>
              <a:t>Corpo livello cinque</a:t>
            </a:r>
          </a:p>
        </p:txBody>
      </p:sp>
      <p:sp>
        <p:nvSpPr>
          <p:cNvPr id="146"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ue contenuti">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53" name="Titolo Testo"/>
          <p:cNvSpPr txBox="1">
            <a:spLocks noGrp="1"/>
          </p:cNvSpPr>
          <p:nvPr>
            <p:ph type="title"/>
          </p:nvPr>
        </p:nvSpPr>
        <p:spPr>
          <a:xfrm>
            <a:off x="628650" y="365125"/>
            <a:ext cx="7886700" cy="1325564"/>
          </a:xfrm>
          <a:prstGeom prst="rect">
            <a:avLst/>
          </a:prstGeom>
          <a:noFill/>
        </p:spPr>
        <p:txBody>
          <a:bodyPr>
            <a:normAutofit/>
          </a:bodyPr>
          <a:lstStyle>
            <a:lvl1pPr algn="l">
              <a:lnSpc>
                <a:spcPct val="90000"/>
              </a:lnSpc>
              <a:defRPr sz="4400" b="0">
                <a:solidFill>
                  <a:srgbClr val="000000"/>
                </a:solidFill>
                <a:latin typeface="Calibri Light"/>
                <a:ea typeface="Calibri Light"/>
                <a:cs typeface="Calibri Light"/>
                <a:sym typeface="Calibri Light"/>
              </a:defRPr>
            </a:lvl1pPr>
          </a:lstStyle>
          <a:p>
            <a:pPr>
              <a:defRPr>
                <a:effectLst/>
              </a:defRPr>
            </a:pPr>
            <a:r>
              <a:t>Titolo Testo</a:t>
            </a:r>
          </a:p>
        </p:txBody>
      </p:sp>
      <p:sp>
        <p:nvSpPr>
          <p:cNvPr id="154" name="Corpo livello uno…"/>
          <p:cNvSpPr txBox="1">
            <a:spLocks noGrp="1"/>
          </p:cNvSpPr>
          <p:nvPr>
            <p:ph type="body" sz="half" idx="1"/>
          </p:nvPr>
        </p:nvSpPr>
        <p:spPr>
          <a:xfrm>
            <a:off x="628650" y="1825625"/>
            <a:ext cx="3886200" cy="4351338"/>
          </a:xfrm>
          <a:prstGeom prst="rect">
            <a:avLst/>
          </a:prstGeom>
        </p:spPr>
        <p:txBody>
          <a:bodyPr>
            <a:normAutofit/>
          </a:bodyPr>
          <a:lstStyle>
            <a:lvl1pPr marL="228600" indent="-228600">
              <a:lnSpc>
                <a:spcPct val="90000"/>
              </a:lnSpc>
              <a:spcBef>
                <a:spcPts val="1000"/>
              </a:spcBef>
              <a:buFont typeface="Arial"/>
              <a:defRPr sz="2800">
                <a:latin typeface="Calibri"/>
                <a:ea typeface="Calibri"/>
                <a:cs typeface="Calibri"/>
                <a:sym typeface="Calibri"/>
              </a:defRPr>
            </a:lvl1pPr>
            <a:lvl2pPr marL="723900" indent="-266700">
              <a:lnSpc>
                <a:spcPct val="90000"/>
              </a:lnSpc>
              <a:spcBef>
                <a:spcPts val="1000"/>
              </a:spcBef>
              <a:buFont typeface="Arial"/>
              <a:buChar char="•"/>
              <a:defRPr sz="2800">
                <a:latin typeface="Calibri"/>
                <a:ea typeface="Calibri"/>
                <a:cs typeface="Calibri"/>
                <a:sym typeface="Calibri"/>
              </a:defRPr>
            </a:lvl2pPr>
            <a:lvl3pPr marL="1234439" indent="-320039">
              <a:lnSpc>
                <a:spcPct val="90000"/>
              </a:lnSpc>
              <a:spcBef>
                <a:spcPts val="1000"/>
              </a:spcBef>
              <a:buFont typeface="Arial"/>
              <a:defRPr sz="2800">
                <a:latin typeface="Calibri"/>
                <a:ea typeface="Calibri"/>
                <a:cs typeface="Calibri"/>
                <a:sym typeface="Calibri"/>
              </a:defRPr>
            </a:lvl3pPr>
            <a:lvl4pPr marL="1727200" indent="-355600">
              <a:lnSpc>
                <a:spcPct val="90000"/>
              </a:lnSpc>
              <a:spcBef>
                <a:spcPts val="1000"/>
              </a:spcBef>
              <a:buFont typeface="Arial"/>
              <a:buChar char="•"/>
              <a:defRPr sz="2800">
                <a:latin typeface="Calibri"/>
                <a:ea typeface="Calibri"/>
                <a:cs typeface="Calibri"/>
                <a:sym typeface="Calibri"/>
              </a:defRPr>
            </a:lvl4pPr>
            <a:lvl5pPr marL="2184400" indent="-355600">
              <a:lnSpc>
                <a:spcPct val="90000"/>
              </a:lnSpc>
              <a:spcBef>
                <a:spcPts val="1000"/>
              </a:spcBef>
              <a:buFont typeface="Arial"/>
              <a:buChar char="•"/>
              <a:defRPr sz="2800">
                <a:latin typeface="Calibri"/>
                <a:ea typeface="Calibri"/>
                <a:cs typeface="Calibri"/>
                <a:sym typeface="Calibri"/>
              </a:defRPr>
            </a:lvl5pPr>
          </a:lstStyle>
          <a:p>
            <a:r>
              <a:t>Corpo livello uno</a:t>
            </a:r>
          </a:p>
          <a:p>
            <a:pPr lvl="1"/>
            <a:r>
              <a:t>Corpo livello due</a:t>
            </a:r>
          </a:p>
          <a:p>
            <a:pPr lvl="2"/>
            <a:r>
              <a:t>Corpo livello tre</a:t>
            </a:r>
          </a:p>
          <a:p>
            <a:pPr lvl="3"/>
            <a:r>
              <a:t>Corpo livello quattro</a:t>
            </a:r>
          </a:p>
          <a:p>
            <a:pPr lvl="4"/>
            <a:r>
              <a:t>Corpo livello cinque</a:t>
            </a:r>
          </a:p>
        </p:txBody>
      </p:sp>
      <p:sp>
        <p:nvSpPr>
          <p:cNvPr id="155"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Confron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62" name="Titolo Testo"/>
          <p:cNvSpPr txBox="1">
            <a:spLocks noGrp="1"/>
          </p:cNvSpPr>
          <p:nvPr>
            <p:ph type="title"/>
          </p:nvPr>
        </p:nvSpPr>
        <p:spPr>
          <a:xfrm>
            <a:off x="629841" y="365125"/>
            <a:ext cx="7886701" cy="1325564"/>
          </a:xfrm>
          <a:prstGeom prst="rect">
            <a:avLst/>
          </a:prstGeom>
          <a:noFill/>
        </p:spPr>
        <p:txBody>
          <a:bodyPr>
            <a:normAutofit/>
          </a:bodyPr>
          <a:lstStyle>
            <a:lvl1pPr algn="l">
              <a:lnSpc>
                <a:spcPct val="90000"/>
              </a:lnSpc>
              <a:defRPr sz="4400" b="0">
                <a:solidFill>
                  <a:srgbClr val="000000"/>
                </a:solidFill>
                <a:latin typeface="Calibri Light"/>
                <a:ea typeface="Calibri Light"/>
                <a:cs typeface="Calibri Light"/>
                <a:sym typeface="Calibri Light"/>
              </a:defRPr>
            </a:lvl1pPr>
          </a:lstStyle>
          <a:p>
            <a:pPr>
              <a:defRPr>
                <a:effectLst/>
              </a:defRPr>
            </a:pPr>
            <a:r>
              <a:t>Titolo Testo</a:t>
            </a:r>
          </a:p>
        </p:txBody>
      </p:sp>
      <p:sp>
        <p:nvSpPr>
          <p:cNvPr id="163" name="Corpo livello uno…"/>
          <p:cNvSpPr txBox="1">
            <a:spLocks noGrp="1"/>
          </p:cNvSpPr>
          <p:nvPr>
            <p:ph type="body" sz="quarter" idx="1"/>
          </p:nvPr>
        </p:nvSpPr>
        <p:spPr>
          <a:xfrm>
            <a:off x="629841" y="1681163"/>
            <a:ext cx="3868341" cy="823913"/>
          </a:xfrm>
          <a:prstGeom prst="rect">
            <a:avLst/>
          </a:prstGeom>
        </p:spPr>
        <p:txBody>
          <a:bodyPr anchor="b">
            <a:normAutofit/>
          </a:bodyPr>
          <a:lstStyle>
            <a:lvl1pPr marL="0" indent="0">
              <a:lnSpc>
                <a:spcPct val="90000"/>
              </a:lnSpc>
              <a:spcBef>
                <a:spcPts val="1000"/>
              </a:spcBef>
              <a:buSzTx/>
              <a:buNone/>
              <a:defRPr sz="2400" b="1">
                <a:latin typeface="Calibri"/>
                <a:ea typeface="Calibri"/>
                <a:cs typeface="Calibri"/>
                <a:sym typeface="Calibri"/>
              </a:defRPr>
            </a:lvl1pPr>
            <a:lvl2pPr marL="0" indent="457200">
              <a:lnSpc>
                <a:spcPct val="90000"/>
              </a:lnSpc>
              <a:spcBef>
                <a:spcPts val="1000"/>
              </a:spcBef>
              <a:buSzTx/>
              <a:buNone/>
              <a:defRPr sz="2400" b="1">
                <a:latin typeface="Calibri"/>
                <a:ea typeface="Calibri"/>
                <a:cs typeface="Calibri"/>
                <a:sym typeface="Calibri"/>
              </a:defRPr>
            </a:lvl2pPr>
            <a:lvl3pPr marL="0" indent="914400">
              <a:lnSpc>
                <a:spcPct val="90000"/>
              </a:lnSpc>
              <a:spcBef>
                <a:spcPts val="1000"/>
              </a:spcBef>
              <a:buSzTx/>
              <a:buNone/>
              <a:defRPr sz="2400" b="1">
                <a:latin typeface="Calibri"/>
                <a:ea typeface="Calibri"/>
                <a:cs typeface="Calibri"/>
                <a:sym typeface="Calibri"/>
              </a:defRPr>
            </a:lvl3pPr>
            <a:lvl4pPr marL="0" indent="1371600">
              <a:lnSpc>
                <a:spcPct val="90000"/>
              </a:lnSpc>
              <a:spcBef>
                <a:spcPts val="1000"/>
              </a:spcBef>
              <a:buSzTx/>
              <a:buNone/>
              <a:defRPr sz="2400" b="1">
                <a:latin typeface="Calibri"/>
                <a:ea typeface="Calibri"/>
                <a:cs typeface="Calibri"/>
                <a:sym typeface="Calibri"/>
              </a:defRPr>
            </a:lvl4pPr>
            <a:lvl5pPr marL="0" indent="1828800">
              <a:lnSpc>
                <a:spcPct val="90000"/>
              </a:lnSpc>
              <a:spcBef>
                <a:spcPts val="1000"/>
              </a:spcBef>
              <a:buSzTx/>
              <a:buNone/>
              <a:defRPr sz="2400" b="1">
                <a:latin typeface="Calibri"/>
                <a:ea typeface="Calibri"/>
                <a:cs typeface="Calibri"/>
                <a:sym typeface="Calibri"/>
              </a:defRPr>
            </a:lvl5pPr>
          </a:lstStyle>
          <a:p>
            <a:r>
              <a:t>Corpo livello uno</a:t>
            </a:r>
          </a:p>
          <a:p>
            <a:pPr lvl="1"/>
            <a:r>
              <a:t>Corpo livello due</a:t>
            </a:r>
          </a:p>
          <a:p>
            <a:pPr lvl="2"/>
            <a:r>
              <a:t>Corpo livello tre</a:t>
            </a:r>
          </a:p>
          <a:p>
            <a:pPr lvl="3"/>
            <a:r>
              <a:t>Corpo livello quattro</a:t>
            </a:r>
          </a:p>
          <a:p>
            <a:pPr lvl="4"/>
            <a:r>
              <a:t>Corpo livello cinque</a:t>
            </a:r>
          </a:p>
        </p:txBody>
      </p:sp>
      <p:sp>
        <p:nvSpPr>
          <p:cNvPr id="164" name="Text Placeholder 4"/>
          <p:cNvSpPr>
            <a:spLocks noGrp="1"/>
          </p:cNvSpPr>
          <p:nvPr>
            <p:ph type="body" sz="quarter" idx="21"/>
          </p:nvPr>
        </p:nvSpPr>
        <p:spPr>
          <a:xfrm>
            <a:off x="4629150" y="1681163"/>
            <a:ext cx="3887392" cy="823913"/>
          </a:xfrm>
          <a:prstGeom prst="rect">
            <a:avLst/>
          </a:prstGeom>
        </p:spPr>
        <p:txBody>
          <a:bodyPr anchor="b">
            <a:normAutofit/>
          </a:bodyPr>
          <a:lstStyle/>
          <a:p>
            <a:pPr marL="0" indent="0">
              <a:lnSpc>
                <a:spcPct val="90000"/>
              </a:lnSpc>
              <a:spcBef>
                <a:spcPts val="1000"/>
              </a:spcBef>
              <a:buSzTx/>
              <a:buNone/>
              <a:defRPr sz="2400" b="1">
                <a:latin typeface="Calibri"/>
                <a:ea typeface="Calibri"/>
                <a:cs typeface="Calibri"/>
                <a:sym typeface="Calibri"/>
              </a:defRPr>
            </a:pPr>
            <a:endParaRPr/>
          </a:p>
        </p:txBody>
      </p:sp>
      <p:sp>
        <p:nvSpPr>
          <p:cNvPr id="165"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Solo titol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72" name="Titolo Testo"/>
          <p:cNvSpPr txBox="1">
            <a:spLocks noGrp="1"/>
          </p:cNvSpPr>
          <p:nvPr>
            <p:ph type="title"/>
          </p:nvPr>
        </p:nvSpPr>
        <p:spPr>
          <a:xfrm>
            <a:off x="628650" y="365125"/>
            <a:ext cx="7886700" cy="1325564"/>
          </a:xfrm>
          <a:prstGeom prst="rect">
            <a:avLst/>
          </a:prstGeom>
          <a:noFill/>
        </p:spPr>
        <p:txBody>
          <a:bodyPr>
            <a:normAutofit/>
          </a:bodyPr>
          <a:lstStyle>
            <a:lvl1pPr algn="l">
              <a:lnSpc>
                <a:spcPct val="90000"/>
              </a:lnSpc>
              <a:defRPr sz="4400" b="0">
                <a:solidFill>
                  <a:srgbClr val="000000"/>
                </a:solidFill>
                <a:latin typeface="Calibri Light"/>
                <a:ea typeface="Calibri Light"/>
                <a:cs typeface="Calibri Light"/>
                <a:sym typeface="Calibri Light"/>
              </a:defRPr>
            </a:lvl1pPr>
          </a:lstStyle>
          <a:p>
            <a:pPr>
              <a:defRPr>
                <a:effectLst/>
              </a:defRPr>
            </a:pPr>
            <a:r>
              <a:t>Titolo Testo</a:t>
            </a:r>
          </a:p>
        </p:txBody>
      </p:sp>
      <p:sp>
        <p:nvSpPr>
          <p:cNvPr id="173"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Vuot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80"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Contenuto con didascali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87" name="Titolo Testo"/>
          <p:cNvSpPr txBox="1">
            <a:spLocks noGrp="1"/>
          </p:cNvSpPr>
          <p:nvPr>
            <p:ph type="title"/>
          </p:nvPr>
        </p:nvSpPr>
        <p:spPr>
          <a:xfrm>
            <a:off x="629841" y="457200"/>
            <a:ext cx="2949178" cy="1600200"/>
          </a:xfrm>
          <a:prstGeom prst="rect">
            <a:avLst/>
          </a:prstGeom>
          <a:noFill/>
        </p:spPr>
        <p:txBody>
          <a:bodyPr anchor="b">
            <a:normAutofit/>
          </a:bodyPr>
          <a:lstStyle>
            <a:lvl1pPr algn="l">
              <a:lnSpc>
                <a:spcPct val="90000"/>
              </a:lnSpc>
              <a:defRPr sz="3200" b="0">
                <a:solidFill>
                  <a:srgbClr val="000000"/>
                </a:solidFill>
                <a:latin typeface="Calibri Light"/>
                <a:ea typeface="Calibri Light"/>
                <a:cs typeface="Calibri Light"/>
                <a:sym typeface="Calibri Light"/>
              </a:defRPr>
            </a:lvl1pPr>
          </a:lstStyle>
          <a:p>
            <a:pPr>
              <a:defRPr>
                <a:effectLst/>
              </a:defRPr>
            </a:pPr>
            <a:r>
              <a:t>Titolo Testo</a:t>
            </a:r>
          </a:p>
        </p:txBody>
      </p:sp>
      <p:sp>
        <p:nvSpPr>
          <p:cNvPr id="188" name="Corpo livello uno…"/>
          <p:cNvSpPr txBox="1">
            <a:spLocks noGrp="1"/>
          </p:cNvSpPr>
          <p:nvPr>
            <p:ph type="body" sz="half" idx="1"/>
          </p:nvPr>
        </p:nvSpPr>
        <p:spPr>
          <a:xfrm>
            <a:off x="3887391" y="987425"/>
            <a:ext cx="4629151" cy="4873626"/>
          </a:xfrm>
          <a:prstGeom prst="rect">
            <a:avLst/>
          </a:prstGeom>
        </p:spPr>
        <p:txBody>
          <a:bodyPr>
            <a:normAutofit/>
          </a:bodyPr>
          <a:lstStyle>
            <a:lvl1pPr marL="228600" indent="-228600">
              <a:lnSpc>
                <a:spcPct val="90000"/>
              </a:lnSpc>
              <a:spcBef>
                <a:spcPts val="1000"/>
              </a:spcBef>
              <a:buFont typeface="Arial"/>
              <a:defRPr>
                <a:latin typeface="Calibri"/>
                <a:ea typeface="Calibri"/>
                <a:cs typeface="Calibri"/>
                <a:sym typeface="Calibri"/>
              </a:defRPr>
            </a:lvl1pPr>
            <a:lvl2pPr marL="718457" indent="-261257">
              <a:lnSpc>
                <a:spcPct val="90000"/>
              </a:lnSpc>
              <a:spcBef>
                <a:spcPts val="1000"/>
              </a:spcBef>
              <a:buFont typeface="Arial"/>
              <a:buChar char="•"/>
              <a:defRPr>
                <a:latin typeface="Calibri"/>
                <a:ea typeface="Calibri"/>
                <a:cs typeface="Calibri"/>
                <a:sym typeface="Calibri"/>
              </a:defRPr>
            </a:lvl2pPr>
            <a:lvl3pPr>
              <a:lnSpc>
                <a:spcPct val="90000"/>
              </a:lnSpc>
              <a:spcBef>
                <a:spcPts val="1000"/>
              </a:spcBef>
              <a:buFont typeface="Arial"/>
              <a:defRPr>
                <a:latin typeface="Calibri"/>
                <a:ea typeface="Calibri"/>
                <a:cs typeface="Calibri"/>
                <a:sym typeface="Calibri"/>
              </a:defRPr>
            </a:lvl3pPr>
            <a:lvl4pPr>
              <a:lnSpc>
                <a:spcPct val="90000"/>
              </a:lnSpc>
              <a:spcBef>
                <a:spcPts val="1000"/>
              </a:spcBef>
              <a:buFont typeface="Arial"/>
              <a:buChar char="•"/>
              <a:defRPr>
                <a:latin typeface="Calibri"/>
                <a:ea typeface="Calibri"/>
                <a:cs typeface="Calibri"/>
                <a:sym typeface="Calibri"/>
              </a:defRPr>
            </a:lvl4pPr>
            <a:lvl5pPr>
              <a:lnSpc>
                <a:spcPct val="90000"/>
              </a:lnSpc>
              <a:spcBef>
                <a:spcPts val="1000"/>
              </a:spcBef>
              <a:buFont typeface="Arial"/>
              <a:buChar char="•"/>
              <a:defRPr>
                <a:latin typeface="Calibri"/>
                <a:ea typeface="Calibri"/>
                <a:cs typeface="Calibri"/>
                <a:sym typeface="Calibri"/>
              </a:defRPr>
            </a:lvl5pPr>
          </a:lstStyle>
          <a:p>
            <a:r>
              <a:t>Corpo livello uno</a:t>
            </a:r>
          </a:p>
          <a:p>
            <a:pPr lvl="1"/>
            <a:r>
              <a:t>Corpo livello due</a:t>
            </a:r>
          </a:p>
          <a:p>
            <a:pPr lvl="2"/>
            <a:r>
              <a:t>Corpo livello tre</a:t>
            </a:r>
          </a:p>
          <a:p>
            <a:pPr lvl="3"/>
            <a:r>
              <a:t>Corpo livello quattro</a:t>
            </a:r>
          </a:p>
          <a:p>
            <a:pPr lvl="4"/>
            <a:r>
              <a:t>Corpo livello cinque</a:t>
            </a:r>
          </a:p>
        </p:txBody>
      </p:sp>
      <p:sp>
        <p:nvSpPr>
          <p:cNvPr id="189" name="Text Placeholder 3"/>
          <p:cNvSpPr>
            <a:spLocks noGrp="1"/>
          </p:cNvSpPr>
          <p:nvPr>
            <p:ph type="body" sz="quarter" idx="21"/>
          </p:nvPr>
        </p:nvSpPr>
        <p:spPr>
          <a:xfrm>
            <a:off x="629840" y="2057400"/>
            <a:ext cx="2949180" cy="3811588"/>
          </a:xfrm>
          <a:prstGeom prst="rect">
            <a:avLst/>
          </a:prstGeom>
        </p:spPr>
        <p:txBody>
          <a:bodyPr>
            <a:normAutofit/>
          </a:bodyPr>
          <a:lstStyle/>
          <a:p>
            <a:pPr marL="0" indent="0">
              <a:lnSpc>
                <a:spcPct val="90000"/>
              </a:lnSpc>
              <a:spcBef>
                <a:spcPts val="1000"/>
              </a:spcBef>
              <a:buSzTx/>
              <a:buNone/>
              <a:defRPr sz="1600">
                <a:latin typeface="Calibri"/>
                <a:ea typeface="Calibri"/>
                <a:cs typeface="Calibri"/>
                <a:sym typeface="Calibri"/>
              </a:defRPr>
            </a:pPr>
            <a:endParaRPr/>
          </a:p>
        </p:txBody>
      </p:sp>
      <p:sp>
        <p:nvSpPr>
          <p:cNvPr id="190"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Immagine con didascali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97" name="Titolo Testo"/>
          <p:cNvSpPr txBox="1">
            <a:spLocks noGrp="1"/>
          </p:cNvSpPr>
          <p:nvPr>
            <p:ph type="title"/>
          </p:nvPr>
        </p:nvSpPr>
        <p:spPr>
          <a:xfrm>
            <a:off x="629841" y="457200"/>
            <a:ext cx="2949178" cy="1600200"/>
          </a:xfrm>
          <a:prstGeom prst="rect">
            <a:avLst/>
          </a:prstGeom>
          <a:noFill/>
        </p:spPr>
        <p:txBody>
          <a:bodyPr anchor="b">
            <a:normAutofit/>
          </a:bodyPr>
          <a:lstStyle>
            <a:lvl1pPr algn="l">
              <a:lnSpc>
                <a:spcPct val="90000"/>
              </a:lnSpc>
              <a:defRPr sz="3200" b="0">
                <a:solidFill>
                  <a:srgbClr val="000000"/>
                </a:solidFill>
                <a:latin typeface="Calibri Light"/>
                <a:ea typeface="Calibri Light"/>
                <a:cs typeface="Calibri Light"/>
                <a:sym typeface="Calibri Light"/>
              </a:defRPr>
            </a:lvl1pPr>
          </a:lstStyle>
          <a:p>
            <a:pPr>
              <a:defRPr>
                <a:effectLst/>
              </a:defRPr>
            </a:pPr>
            <a:r>
              <a:t>Titolo Testo</a:t>
            </a:r>
          </a:p>
        </p:txBody>
      </p:sp>
      <p:sp>
        <p:nvSpPr>
          <p:cNvPr id="198" name="Picture Placeholder 2"/>
          <p:cNvSpPr>
            <a:spLocks noGrp="1"/>
          </p:cNvSpPr>
          <p:nvPr>
            <p:ph type="pic" sz="half" idx="21"/>
          </p:nvPr>
        </p:nvSpPr>
        <p:spPr>
          <a:xfrm>
            <a:off x="3887391" y="987425"/>
            <a:ext cx="4629151" cy="4873626"/>
          </a:xfrm>
          <a:prstGeom prst="rect">
            <a:avLst/>
          </a:prstGeom>
        </p:spPr>
        <p:txBody>
          <a:bodyPr lIns="91439" rIns="91439"/>
          <a:lstStyle/>
          <a:p>
            <a:endParaRPr/>
          </a:p>
        </p:txBody>
      </p:sp>
      <p:sp>
        <p:nvSpPr>
          <p:cNvPr id="199" name="Corpo livello uno…"/>
          <p:cNvSpPr txBox="1">
            <a:spLocks noGrp="1"/>
          </p:cNvSpPr>
          <p:nvPr>
            <p:ph type="body" sz="quarter" idx="1"/>
          </p:nvPr>
        </p:nvSpPr>
        <p:spPr>
          <a:xfrm>
            <a:off x="629841" y="2057400"/>
            <a:ext cx="2949178" cy="3811588"/>
          </a:xfrm>
          <a:prstGeom prst="rect">
            <a:avLst/>
          </a:prstGeom>
        </p:spPr>
        <p:txBody>
          <a:bodyPr>
            <a:normAutofit/>
          </a:bodyPr>
          <a:lstStyle>
            <a:lvl1pPr marL="0" indent="0">
              <a:lnSpc>
                <a:spcPct val="90000"/>
              </a:lnSpc>
              <a:spcBef>
                <a:spcPts val="1000"/>
              </a:spcBef>
              <a:buSzTx/>
              <a:buNone/>
              <a:defRPr sz="1600">
                <a:latin typeface="Calibri"/>
                <a:ea typeface="Calibri"/>
                <a:cs typeface="Calibri"/>
                <a:sym typeface="Calibri"/>
              </a:defRPr>
            </a:lvl1pPr>
            <a:lvl2pPr marL="0" indent="457200">
              <a:lnSpc>
                <a:spcPct val="90000"/>
              </a:lnSpc>
              <a:spcBef>
                <a:spcPts val="1000"/>
              </a:spcBef>
              <a:buSzTx/>
              <a:buNone/>
              <a:defRPr sz="1600">
                <a:latin typeface="Calibri"/>
                <a:ea typeface="Calibri"/>
                <a:cs typeface="Calibri"/>
                <a:sym typeface="Calibri"/>
              </a:defRPr>
            </a:lvl2pPr>
            <a:lvl3pPr marL="0" indent="914400">
              <a:lnSpc>
                <a:spcPct val="90000"/>
              </a:lnSpc>
              <a:spcBef>
                <a:spcPts val="1000"/>
              </a:spcBef>
              <a:buSzTx/>
              <a:buNone/>
              <a:defRPr sz="1600">
                <a:latin typeface="Calibri"/>
                <a:ea typeface="Calibri"/>
                <a:cs typeface="Calibri"/>
                <a:sym typeface="Calibri"/>
              </a:defRPr>
            </a:lvl3pPr>
            <a:lvl4pPr marL="0" indent="1371600">
              <a:lnSpc>
                <a:spcPct val="90000"/>
              </a:lnSpc>
              <a:spcBef>
                <a:spcPts val="1000"/>
              </a:spcBef>
              <a:buSzTx/>
              <a:buNone/>
              <a:defRPr sz="1600">
                <a:latin typeface="Calibri"/>
                <a:ea typeface="Calibri"/>
                <a:cs typeface="Calibri"/>
                <a:sym typeface="Calibri"/>
              </a:defRPr>
            </a:lvl4pPr>
            <a:lvl5pPr marL="0" indent="1828800">
              <a:lnSpc>
                <a:spcPct val="90000"/>
              </a:lnSpc>
              <a:spcBef>
                <a:spcPts val="1000"/>
              </a:spcBef>
              <a:buSzTx/>
              <a:buNone/>
              <a:defRPr sz="1600">
                <a:latin typeface="Calibri"/>
                <a:ea typeface="Calibri"/>
                <a:cs typeface="Calibri"/>
                <a:sym typeface="Calibri"/>
              </a:defRPr>
            </a:lvl5pPr>
          </a:lstStyle>
          <a:p>
            <a:r>
              <a:t>Corpo livello uno</a:t>
            </a:r>
          </a:p>
          <a:p>
            <a:pPr lvl="1"/>
            <a:r>
              <a:t>Corpo livello due</a:t>
            </a:r>
          </a:p>
          <a:p>
            <a:pPr lvl="2"/>
            <a:r>
              <a:t>Corpo livello tre</a:t>
            </a:r>
          </a:p>
          <a:p>
            <a:pPr lvl="3"/>
            <a:r>
              <a:t>Corpo livello quattro</a:t>
            </a:r>
          </a:p>
          <a:p>
            <a:pPr lvl="4"/>
            <a:r>
              <a:t>Corpo livello cinque</a:t>
            </a:r>
          </a:p>
        </p:txBody>
      </p:sp>
      <p:sp>
        <p:nvSpPr>
          <p:cNvPr id="200" name="Numero diapositiva"/>
          <p:cNvSpPr txBox="1">
            <a:spLocks noGrp="1"/>
          </p:cNvSpPr>
          <p:nvPr>
            <p:ph type="sldNum" sz="quarter" idx="2"/>
          </p:nvPr>
        </p:nvSpPr>
        <p:spPr>
          <a:xfrm>
            <a:off x="8258810" y="6401181"/>
            <a:ext cx="256541" cy="275467"/>
          </a:xfrm>
          <a:prstGeom prst="rect">
            <a:avLst/>
          </a:prstGeom>
        </p:spPr>
        <p:txBody>
          <a:bodyPr anchor="ctr"/>
          <a:lstStyle>
            <a:lvl1pPr>
              <a:defRPr sz="1200" b="1">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Diapositiva titolo">
    <p:bg>
      <p:bgPr>
        <a:solidFill>
          <a:schemeClr val="accent3">
            <a:lumOff val="44000"/>
          </a:schemeClr>
        </a:solidFill>
        <a:effectLst/>
      </p:bgPr>
    </p:bg>
    <p:spTree>
      <p:nvGrpSpPr>
        <p:cNvPr id="1" name=""/>
        <p:cNvGrpSpPr/>
        <p:nvPr/>
      </p:nvGrpSpPr>
      <p:grpSpPr>
        <a:xfrm>
          <a:off x="0" y="0"/>
          <a:ext cx="0" cy="0"/>
          <a:chOff x="0" y="0"/>
          <a:chExt cx="0" cy="0"/>
        </a:xfrm>
      </p:grpSpPr>
      <p:sp>
        <p:nvSpPr>
          <p:cNvPr id="207" name="Titolo Testo"/>
          <p:cNvSpPr txBox="1">
            <a:spLocks noGrp="1"/>
          </p:cNvSpPr>
          <p:nvPr>
            <p:ph type="title"/>
          </p:nvPr>
        </p:nvSpPr>
        <p:spPr>
          <a:xfrm>
            <a:off x="685800" y="3209925"/>
            <a:ext cx="7772400" cy="2019300"/>
          </a:xfrm>
          <a:prstGeom prst="rect">
            <a:avLst/>
          </a:prstGeom>
          <a:noFill/>
        </p:spPr>
        <p:txBody>
          <a:bodyPr anchor="t">
            <a:normAutofit/>
          </a:bodyPr>
          <a:lstStyle>
            <a:lvl1pPr>
              <a:defRPr sz="3200">
                <a:effectLst>
                  <a:outerShdw blurRad="38100" dist="38100" dir="2700000" rotWithShape="0">
                    <a:srgbClr val="C0C0C0"/>
                  </a:outerShdw>
                </a:effectLst>
              </a:defRPr>
            </a:lvl1pPr>
          </a:lstStyle>
          <a:p>
            <a:r>
              <a:t>Titolo Testo</a:t>
            </a:r>
          </a:p>
        </p:txBody>
      </p:sp>
      <p:sp>
        <p:nvSpPr>
          <p:cNvPr id="208"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Titolo e contenuto">
    <p:bg>
      <p:bgPr>
        <a:solidFill>
          <a:schemeClr val="accent3">
            <a:lumOff val="44000"/>
          </a:schemeClr>
        </a:solidFill>
        <a:effectLst/>
      </p:bgPr>
    </p:bg>
    <p:spTree>
      <p:nvGrpSpPr>
        <p:cNvPr id="1" name=""/>
        <p:cNvGrpSpPr/>
        <p:nvPr/>
      </p:nvGrpSpPr>
      <p:grpSpPr>
        <a:xfrm>
          <a:off x="0" y="0"/>
          <a:ext cx="0" cy="0"/>
          <a:chOff x="0" y="0"/>
          <a:chExt cx="0" cy="0"/>
        </a:xfrm>
      </p:grpSpPr>
      <p:sp>
        <p:nvSpPr>
          <p:cNvPr id="215"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216" name="Corpo livello uno…"/>
          <p:cNvSpPr txBox="1">
            <a:spLocks noGrp="1"/>
          </p:cNvSpPr>
          <p:nvPr>
            <p:ph type="body" idx="1"/>
          </p:nvPr>
        </p:nvSpPr>
        <p:spPr>
          <a:xfrm>
            <a:off x="457200" y="1600200"/>
            <a:ext cx="8229600" cy="4525963"/>
          </a:xfrm>
          <a:prstGeom prst="rect">
            <a:avLst/>
          </a:prstGeom>
        </p:spPr>
        <p:txBody>
          <a:bodyP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217"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Intestazione sezione">
    <p:bg>
      <p:bgPr>
        <a:solidFill>
          <a:schemeClr val="accent3">
            <a:lumOff val="44000"/>
          </a:schemeClr>
        </a:solidFill>
        <a:effectLst/>
      </p:bgPr>
    </p:bg>
    <p:spTree>
      <p:nvGrpSpPr>
        <p:cNvPr id="1" name=""/>
        <p:cNvGrpSpPr/>
        <p:nvPr/>
      </p:nvGrpSpPr>
      <p:grpSpPr>
        <a:xfrm>
          <a:off x="0" y="0"/>
          <a:ext cx="0" cy="0"/>
          <a:chOff x="0" y="0"/>
          <a:chExt cx="0" cy="0"/>
        </a:xfrm>
      </p:grpSpPr>
      <p:sp>
        <p:nvSpPr>
          <p:cNvPr id="224" name="Titolo Testo"/>
          <p:cNvSpPr txBox="1">
            <a:spLocks noGrp="1"/>
          </p:cNvSpPr>
          <p:nvPr>
            <p:ph type="title"/>
          </p:nvPr>
        </p:nvSpPr>
        <p:spPr>
          <a:xfrm>
            <a:off x="722312" y="4406900"/>
            <a:ext cx="7772401" cy="1362075"/>
          </a:xfrm>
          <a:prstGeom prst="rect">
            <a:avLst/>
          </a:prstGeom>
        </p:spPr>
        <p:txBody>
          <a:bodyPr anchor="t">
            <a:normAutofit/>
          </a:bodyPr>
          <a:lstStyle>
            <a:lvl1pPr algn="l">
              <a:defRPr sz="4000" cap="all"/>
            </a:lvl1pPr>
          </a:lstStyle>
          <a:p>
            <a:r>
              <a:t>Titolo Testo</a:t>
            </a:r>
          </a:p>
        </p:txBody>
      </p:sp>
      <p:sp>
        <p:nvSpPr>
          <p:cNvPr id="225" name="Corpo livello uno…"/>
          <p:cNvSpPr txBox="1">
            <a:spLocks noGrp="1"/>
          </p:cNvSpPr>
          <p:nvPr>
            <p:ph type="body" sz="quarter" idx="1"/>
          </p:nvPr>
        </p:nvSpPr>
        <p:spPr>
          <a:xfrm>
            <a:off x="722312" y="2906713"/>
            <a:ext cx="7772401" cy="1500188"/>
          </a:xfrm>
          <a:prstGeom prst="rect">
            <a:avLst/>
          </a:prstGeom>
        </p:spPr>
        <p:txBody>
          <a:bodyPr anchor="b">
            <a:normAutofit/>
          </a:bodyPr>
          <a:lstStyle>
            <a:lvl1pPr marL="0" indent="0">
              <a:spcBef>
                <a:spcPts val="400"/>
              </a:spcBef>
              <a:buSzTx/>
              <a:buNone/>
              <a:defRPr sz="2000"/>
            </a:lvl1pPr>
            <a:lvl2pPr marL="0" indent="457200">
              <a:spcBef>
                <a:spcPts val="400"/>
              </a:spcBef>
              <a:buSzTx/>
              <a:buNone/>
              <a:defRPr sz="2000"/>
            </a:lvl2pPr>
            <a:lvl3pPr marL="0" indent="914400">
              <a:spcBef>
                <a:spcPts val="400"/>
              </a:spcBef>
              <a:buSzTx/>
              <a:buNone/>
              <a:defRPr sz="2000"/>
            </a:lvl3pPr>
            <a:lvl4pPr marL="0" indent="1371600">
              <a:spcBef>
                <a:spcPts val="400"/>
              </a:spcBef>
              <a:buSzTx/>
              <a:buNone/>
              <a:defRPr sz="2000"/>
            </a:lvl4pPr>
            <a:lvl5pPr marL="0" indent="1828800">
              <a:spcBef>
                <a:spcPts val="400"/>
              </a:spcBef>
              <a:buSzTx/>
              <a:buNone/>
              <a:defRPr sz="2000"/>
            </a:lvl5pPr>
          </a:lstStyle>
          <a:p>
            <a:r>
              <a:t>Corpo livello uno</a:t>
            </a:r>
          </a:p>
          <a:p>
            <a:pPr lvl="1"/>
            <a:r>
              <a:t>Corpo livello due</a:t>
            </a:r>
          </a:p>
          <a:p>
            <a:pPr lvl="2"/>
            <a:r>
              <a:t>Corpo livello tre</a:t>
            </a:r>
          </a:p>
          <a:p>
            <a:pPr lvl="3"/>
            <a:r>
              <a:t>Corpo livello quattro</a:t>
            </a:r>
          </a:p>
          <a:p>
            <a:pPr lvl="4"/>
            <a:r>
              <a:t>Corpo livello cinque</a:t>
            </a:r>
          </a:p>
        </p:txBody>
      </p:sp>
      <p:sp>
        <p:nvSpPr>
          <p:cNvPr id="226"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Due contenuti">
    <p:bg>
      <p:bgPr>
        <a:solidFill>
          <a:schemeClr val="accent3">
            <a:lumOff val="44000"/>
          </a:schemeClr>
        </a:solidFill>
        <a:effectLst/>
      </p:bgPr>
    </p:bg>
    <p:spTree>
      <p:nvGrpSpPr>
        <p:cNvPr id="1" name=""/>
        <p:cNvGrpSpPr/>
        <p:nvPr/>
      </p:nvGrpSpPr>
      <p:grpSpPr>
        <a:xfrm>
          <a:off x="0" y="0"/>
          <a:ext cx="0" cy="0"/>
          <a:chOff x="0" y="0"/>
          <a:chExt cx="0" cy="0"/>
        </a:xfrm>
      </p:grpSpPr>
      <p:sp>
        <p:nvSpPr>
          <p:cNvPr id="233"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234" name="Corpo livello uno…"/>
          <p:cNvSpPr txBox="1">
            <a:spLocks noGrp="1"/>
          </p:cNvSpPr>
          <p:nvPr>
            <p:ph type="body" sz="half" idx="1"/>
          </p:nvPr>
        </p:nvSpPr>
        <p:spPr>
          <a:xfrm>
            <a:off x="457200" y="1600200"/>
            <a:ext cx="4038600" cy="4525963"/>
          </a:xfrm>
          <a:prstGeom prst="rect">
            <a:avLst/>
          </a:prstGeom>
        </p:spPr>
        <p:txBody>
          <a:bodyPr>
            <a:normAutofit/>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Corpo livello uno</a:t>
            </a:r>
          </a:p>
          <a:p>
            <a:pPr lvl="1"/>
            <a:r>
              <a:t>Corpo livello due</a:t>
            </a:r>
          </a:p>
          <a:p>
            <a:pPr lvl="2"/>
            <a:r>
              <a:t>Corpo livello tre</a:t>
            </a:r>
          </a:p>
          <a:p>
            <a:pPr lvl="3"/>
            <a:r>
              <a:t>Corpo livello quattro</a:t>
            </a:r>
          </a:p>
          <a:p>
            <a:pPr lvl="4"/>
            <a:r>
              <a:t>Corpo livello cinque</a:t>
            </a:r>
          </a:p>
        </p:txBody>
      </p:sp>
      <p:sp>
        <p:nvSpPr>
          <p:cNvPr id="23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Confronto">
    <p:bg>
      <p:bgPr>
        <a:solidFill>
          <a:schemeClr val="accent3">
            <a:lumOff val="44000"/>
          </a:schemeClr>
        </a:solidFill>
        <a:effectLst/>
      </p:bgPr>
    </p:bg>
    <p:spTree>
      <p:nvGrpSpPr>
        <p:cNvPr id="1" name=""/>
        <p:cNvGrpSpPr/>
        <p:nvPr/>
      </p:nvGrpSpPr>
      <p:grpSpPr>
        <a:xfrm>
          <a:off x="0" y="0"/>
          <a:ext cx="0" cy="0"/>
          <a:chOff x="0" y="0"/>
          <a:chExt cx="0" cy="0"/>
        </a:xfrm>
      </p:grpSpPr>
      <p:sp>
        <p:nvSpPr>
          <p:cNvPr id="242" name="Titolo Testo"/>
          <p:cNvSpPr txBox="1">
            <a:spLocks noGrp="1"/>
          </p:cNvSpPr>
          <p:nvPr>
            <p:ph type="title"/>
          </p:nvPr>
        </p:nvSpPr>
        <p:spPr>
          <a:xfrm>
            <a:off x="457200" y="274638"/>
            <a:ext cx="8229600" cy="1143001"/>
          </a:xfrm>
          <a:prstGeom prst="rect">
            <a:avLst/>
          </a:prstGeom>
        </p:spPr>
        <p:txBody>
          <a:bodyPr>
            <a:normAutofit/>
          </a:bodyPr>
          <a:lstStyle/>
          <a:p>
            <a:r>
              <a:t>Titolo Testo</a:t>
            </a:r>
          </a:p>
        </p:txBody>
      </p:sp>
      <p:sp>
        <p:nvSpPr>
          <p:cNvPr id="243" name="Corpo livello uno…"/>
          <p:cNvSpPr txBox="1">
            <a:spLocks noGrp="1"/>
          </p:cNvSpPr>
          <p:nvPr>
            <p:ph type="body" sz="quarter" idx="1"/>
          </p:nvPr>
        </p:nvSpPr>
        <p:spPr>
          <a:xfrm>
            <a:off x="457200" y="1535112"/>
            <a:ext cx="4040188" cy="639763"/>
          </a:xfrm>
          <a:prstGeom prst="rect">
            <a:avLst/>
          </a:prstGeom>
        </p:spPr>
        <p:txBody>
          <a:bodyPr anchor="b">
            <a:normAutofit/>
          </a:bodyPr>
          <a:lstStyle>
            <a:lvl1pPr marL="0" indent="0">
              <a:spcBef>
                <a:spcPts val="500"/>
              </a:spcBef>
              <a:buSzTx/>
              <a:buNone/>
              <a:defRPr sz="2400" b="1"/>
            </a:lvl1pPr>
            <a:lvl2pPr marL="0" indent="457200">
              <a:spcBef>
                <a:spcPts val="500"/>
              </a:spcBef>
              <a:buSzTx/>
              <a:buNone/>
              <a:defRPr sz="2400" b="1"/>
            </a:lvl2pPr>
            <a:lvl3pPr marL="0" indent="914400">
              <a:spcBef>
                <a:spcPts val="500"/>
              </a:spcBef>
              <a:buSzTx/>
              <a:buNone/>
              <a:defRPr sz="2400" b="1"/>
            </a:lvl3pPr>
            <a:lvl4pPr marL="0" indent="1371600">
              <a:spcBef>
                <a:spcPts val="500"/>
              </a:spcBef>
              <a:buSzTx/>
              <a:buNone/>
              <a:defRPr sz="2400" b="1"/>
            </a:lvl4pPr>
            <a:lvl5pPr marL="0" indent="1828800">
              <a:spcBef>
                <a:spcPts val="500"/>
              </a:spcBef>
              <a:buSzTx/>
              <a:buNone/>
              <a:defRPr sz="2400" b="1"/>
            </a:lvl5pPr>
          </a:lstStyle>
          <a:p>
            <a:r>
              <a:t>Corpo livello uno</a:t>
            </a:r>
          </a:p>
          <a:p>
            <a:pPr lvl="1"/>
            <a:r>
              <a:t>Corpo livello due</a:t>
            </a:r>
          </a:p>
          <a:p>
            <a:pPr lvl="2"/>
            <a:r>
              <a:t>Corpo livello tre</a:t>
            </a:r>
          </a:p>
          <a:p>
            <a:pPr lvl="3"/>
            <a:r>
              <a:t>Corpo livello quattro</a:t>
            </a:r>
          </a:p>
          <a:p>
            <a:pPr lvl="4"/>
            <a:r>
              <a:t>Corpo livello cinque</a:t>
            </a:r>
          </a:p>
        </p:txBody>
      </p:sp>
      <p:sp>
        <p:nvSpPr>
          <p:cNvPr id="244" name="Segnaposto testo 4"/>
          <p:cNvSpPr>
            <a:spLocks noGrp="1"/>
          </p:cNvSpPr>
          <p:nvPr>
            <p:ph type="body" sz="quarter" idx="21"/>
          </p:nvPr>
        </p:nvSpPr>
        <p:spPr>
          <a:xfrm>
            <a:off x="4645025" y="1535112"/>
            <a:ext cx="4041775" cy="639763"/>
          </a:xfrm>
          <a:prstGeom prst="rect">
            <a:avLst/>
          </a:prstGeom>
        </p:spPr>
        <p:txBody>
          <a:bodyPr anchor="b">
            <a:normAutofit/>
          </a:bodyPr>
          <a:lstStyle/>
          <a:p>
            <a:pPr marL="0" indent="0">
              <a:spcBef>
                <a:spcPts val="500"/>
              </a:spcBef>
              <a:buSzTx/>
              <a:buNone/>
              <a:defRPr sz="2400" b="1"/>
            </a:pPr>
            <a:endParaRPr/>
          </a:p>
        </p:txBody>
      </p:sp>
      <p:sp>
        <p:nvSpPr>
          <p:cNvPr id="24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Solo titolo">
    <p:bg>
      <p:bgPr>
        <a:solidFill>
          <a:schemeClr val="accent3">
            <a:lumOff val="44000"/>
          </a:schemeClr>
        </a:solidFill>
        <a:effectLst/>
      </p:bgPr>
    </p:bg>
    <p:spTree>
      <p:nvGrpSpPr>
        <p:cNvPr id="1" name=""/>
        <p:cNvGrpSpPr/>
        <p:nvPr/>
      </p:nvGrpSpPr>
      <p:grpSpPr>
        <a:xfrm>
          <a:off x="0" y="0"/>
          <a:ext cx="0" cy="0"/>
          <a:chOff x="0" y="0"/>
          <a:chExt cx="0" cy="0"/>
        </a:xfrm>
      </p:grpSpPr>
      <p:sp>
        <p:nvSpPr>
          <p:cNvPr id="252"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253"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cSld name="Vuota">
    <p:bg>
      <p:bgPr>
        <a:solidFill>
          <a:schemeClr val="accent3">
            <a:lumOff val="44000"/>
          </a:schemeClr>
        </a:solidFill>
        <a:effectLst/>
      </p:bgPr>
    </p:bg>
    <p:spTree>
      <p:nvGrpSpPr>
        <p:cNvPr id="1" name=""/>
        <p:cNvGrpSpPr/>
        <p:nvPr/>
      </p:nvGrpSpPr>
      <p:grpSpPr>
        <a:xfrm>
          <a:off x="0" y="0"/>
          <a:ext cx="0" cy="0"/>
          <a:chOff x="0" y="0"/>
          <a:chExt cx="0" cy="0"/>
        </a:xfrm>
      </p:grpSpPr>
      <p:sp>
        <p:nvSpPr>
          <p:cNvPr id="260"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x">
  <p:cSld name="Contenuto con didascalia">
    <p:bg>
      <p:bgPr>
        <a:solidFill>
          <a:schemeClr val="accent3">
            <a:lumOff val="44000"/>
          </a:schemeClr>
        </a:solidFill>
        <a:effectLst/>
      </p:bgPr>
    </p:bg>
    <p:spTree>
      <p:nvGrpSpPr>
        <p:cNvPr id="1" name=""/>
        <p:cNvGrpSpPr/>
        <p:nvPr/>
      </p:nvGrpSpPr>
      <p:grpSpPr>
        <a:xfrm>
          <a:off x="0" y="0"/>
          <a:ext cx="0" cy="0"/>
          <a:chOff x="0" y="0"/>
          <a:chExt cx="0" cy="0"/>
        </a:xfrm>
      </p:grpSpPr>
      <p:sp>
        <p:nvSpPr>
          <p:cNvPr id="267" name="Titolo Testo"/>
          <p:cNvSpPr txBox="1">
            <a:spLocks noGrp="1"/>
          </p:cNvSpPr>
          <p:nvPr>
            <p:ph type="title"/>
          </p:nvPr>
        </p:nvSpPr>
        <p:spPr>
          <a:xfrm>
            <a:off x="457200" y="273050"/>
            <a:ext cx="3008314" cy="1162050"/>
          </a:xfrm>
          <a:prstGeom prst="rect">
            <a:avLst/>
          </a:prstGeom>
        </p:spPr>
        <p:txBody>
          <a:bodyPr anchor="b">
            <a:normAutofit/>
          </a:bodyPr>
          <a:lstStyle>
            <a:lvl1pPr algn="l">
              <a:defRPr sz="2000"/>
            </a:lvl1pPr>
          </a:lstStyle>
          <a:p>
            <a:r>
              <a:t>Titolo Testo</a:t>
            </a:r>
          </a:p>
        </p:txBody>
      </p:sp>
      <p:sp>
        <p:nvSpPr>
          <p:cNvPr id="268" name="Corpo livello uno…"/>
          <p:cNvSpPr txBox="1">
            <a:spLocks noGrp="1"/>
          </p:cNvSpPr>
          <p:nvPr>
            <p:ph type="body" idx="1"/>
          </p:nvPr>
        </p:nvSpPr>
        <p:spPr>
          <a:xfrm>
            <a:off x="3575050" y="273050"/>
            <a:ext cx="5111750" cy="5853113"/>
          </a:xfrm>
          <a:prstGeom prst="rect">
            <a:avLst/>
          </a:prstGeom>
        </p:spPr>
        <p:txBody>
          <a:bodyP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269" name="Segnaposto testo 3"/>
          <p:cNvSpPr>
            <a:spLocks noGrp="1"/>
          </p:cNvSpPr>
          <p:nvPr>
            <p:ph type="body" sz="half" idx="21"/>
          </p:nvPr>
        </p:nvSpPr>
        <p:spPr>
          <a:xfrm>
            <a:off x="457199" y="1435100"/>
            <a:ext cx="3008315" cy="4691063"/>
          </a:xfrm>
          <a:prstGeom prst="rect">
            <a:avLst/>
          </a:prstGeom>
        </p:spPr>
        <p:txBody>
          <a:bodyPr>
            <a:normAutofit/>
          </a:bodyPr>
          <a:lstStyle/>
          <a:p>
            <a:pPr marL="0" indent="0">
              <a:spcBef>
                <a:spcPts val="300"/>
              </a:spcBef>
              <a:buSzTx/>
              <a:buNone/>
              <a:defRPr sz="1400"/>
            </a:pPr>
            <a:endParaRPr/>
          </a:p>
        </p:txBody>
      </p:sp>
      <p:sp>
        <p:nvSpPr>
          <p:cNvPr id="270"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cSld name="Immagine con didascalia">
    <p:bg>
      <p:bgPr>
        <a:solidFill>
          <a:schemeClr val="accent3">
            <a:lumOff val="44000"/>
          </a:schemeClr>
        </a:solidFill>
        <a:effectLst/>
      </p:bgPr>
    </p:bg>
    <p:spTree>
      <p:nvGrpSpPr>
        <p:cNvPr id="1" name=""/>
        <p:cNvGrpSpPr/>
        <p:nvPr/>
      </p:nvGrpSpPr>
      <p:grpSpPr>
        <a:xfrm>
          <a:off x="0" y="0"/>
          <a:ext cx="0" cy="0"/>
          <a:chOff x="0" y="0"/>
          <a:chExt cx="0" cy="0"/>
        </a:xfrm>
      </p:grpSpPr>
      <p:sp>
        <p:nvSpPr>
          <p:cNvPr id="277" name="Titolo Testo"/>
          <p:cNvSpPr txBox="1">
            <a:spLocks noGrp="1"/>
          </p:cNvSpPr>
          <p:nvPr>
            <p:ph type="title"/>
          </p:nvPr>
        </p:nvSpPr>
        <p:spPr>
          <a:xfrm>
            <a:off x="1792288" y="4800600"/>
            <a:ext cx="5486401" cy="566738"/>
          </a:xfrm>
          <a:prstGeom prst="rect">
            <a:avLst/>
          </a:prstGeom>
        </p:spPr>
        <p:txBody>
          <a:bodyPr anchor="b">
            <a:normAutofit/>
          </a:bodyPr>
          <a:lstStyle>
            <a:lvl1pPr algn="l">
              <a:defRPr sz="2000"/>
            </a:lvl1pPr>
          </a:lstStyle>
          <a:p>
            <a:r>
              <a:t>Titolo Testo</a:t>
            </a:r>
          </a:p>
        </p:txBody>
      </p:sp>
      <p:sp>
        <p:nvSpPr>
          <p:cNvPr id="278" name="Segnaposto immagine 2"/>
          <p:cNvSpPr>
            <a:spLocks noGrp="1"/>
          </p:cNvSpPr>
          <p:nvPr>
            <p:ph type="pic" sz="half" idx="21"/>
          </p:nvPr>
        </p:nvSpPr>
        <p:spPr>
          <a:xfrm>
            <a:off x="1792288" y="612775"/>
            <a:ext cx="5486401" cy="4114800"/>
          </a:xfrm>
          <a:prstGeom prst="rect">
            <a:avLst/>
          </a:prstGeom>
        </p:spPr>
        <p:txBody>
          <a:bodyPr lIns="91439" rIns="91439"/>
          <a:lstStyle/>
          <a:p>
            <a:endParaRPr/>
          </a:p>
        </p:txBody>
      </p:sp>
      <p:sp>
        <p:nvSpPr>
          <p:cNvPr id="279" name="Corpo livello uno…"/>
          <p:cNvSpPr txBox="1">
            <a:spLocks noGrp="1"/>
          </p:cNvSpPr>
          <p:nvPr>
            <p:ph type="body" sz="quarter" idx="1"/>
          </p:nvPr>
        </p:nvSpPr>
        <p:spPr>
          <a:xfrm>
            <a:off x="1792288" y="5367337"/>
            <a:ext cx="5486401" cy="804863"/>
          </a:xfrm>
          <a:prstGeom prst="rect">
            <a:avLst/>
          </a:prstGeom>
        </p:spPr>
        <p:txBody>
          <a:bodyPr>
            <a:normAutofit/>
          </a:bodyPr>
          <a:lstStyle>
            <a:lvl1pPr marL="0" indent="0">
              <a:spcBef>
                <a:spcPts val="300"/>
              </a:spcBef>
              <a:buSzTx/>
              <a:buNone/>
              <a:defRPr sz="1400"/>
            </a:lvl1pPr>
            <a:lvl2pPr marL="0" indent="457200">
              <a:spcBef>
                <a:spcPts val="300"/>
              </a:spcBef>
              <a:buSzTx/>
              <a:buNone/>
              <a:defRPr sz="1400"/>
            </a:lvl2pPr>
            <a:lvl3pPr marL="0" indent="914400">
              <a:spcBef>
                <a:spcPts val="300"/>
              </a:spcBef>
              <a:buSzTx/>
              <a:buNone/>
              <a:defRPr sz="1400"/>
            </a:lvl3pPr>
            <a:lvl4pPr marL="0" indent="1371600">
              <a:spcBef>
                <a:spcPts val="300"/>
              </a:spcBef>
              <a:buSzTx/>
              <a:buNone/>
              <a:defRPr sz="1400"/>
            </a:lvl4pPr>
            <a:lvl5pPr marL="0" indent="1828800">
              <a:spcBef>
                <a:spcPts val="300"/>
              </a:spcBef>
              <a:buSzTx/>
              <a:buNone/>
              <a:defRPr sz="1400"/>
            </a:lvl5pPr>
          </a:lstStyle>
          <a:p>
            <a:r>
              <a:t>Corpo livello uno</a:t>
            </a:r>
          </a:p>
          <a:p>
            <a:pPr lvl="1"/>
            <a:r>
              <a:t>Corpo livello due</a:t>
            </a:r>
          </a:p>
          <a:p>
            <a:pPr lvl="2"/>
            <a:r>
              <a:t>Corpo livello tre</a:t>
            </a:r>
          </a:p>
          <a:p>
            <a:pPr lvl="3"/>
            <a:r>
              <a:t>Corpo livello quattro</a:t>
            </a:r>
          </a:p>
          <a:p>
            <a:pPr lvl="4"/>
            <a:r>
              <a:t>Corpo livello cinque</a:t>
            </a:r>
          </a:p>
        </p:txBody>
      </p:sp>
      <p:sp>
        <p:nvSpPr>
          <p:cNvPr id="280"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x">
  <p:cSld name="Titolo, diagramma o organigramma">
    <p:bg>
      <p:bgPr>
        <a:solidFill>
          <a:schemeClr val="accent3">
            <a:lumOff val="44000"/>
          </a:schemeClr>
        </a:solidFill>
        <a:effectLst/>
      </p:bgPr>
    </p:bg>
    <p:spTree>
      <p:nvGrpSpPr>
        <p:cNvPr id="1" name=""/>
        <p:cNvGrpSpPr/>
        <p:nvPr/>
      </p:nvGrpSpPr>
      <p:grpSpPr>
        <a:xfrm>
          <a:off x="0" y="0"/>
          <a:ext cx="0" cy="0"/>
          <a:chOff x="0" y="0"/>
          <a:chExt cx="0" cy="0"/>
        </a:xfrm>
      </p:grpSpPr>
      <p:sp>
        <p:nvSpPr>
          <p:cNvPr id="287"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288"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x">
  <p:cSld name="Titolo e tabella">
    <p:bg>
      <p:bgPr>
        <a:solidFill>
          <a:schemeClr val="accent3">
            <a:lumOff val="44000"/>
          </a:schemeClr>
        </a:solidFill>
        <a:effectLst/>
      </p:bgPr>
    </p:bg>
    <p:spTree>
      <p:nvGrpSpPr>
        <p:cNvPr id="1" name=""/>
        <p:cNvGrpSpPr/>
        <p:nvPr/>
      </p:nvGrpSpPr>
      <p:grpSpPr>
        <a:xfrm>
          <a:off x="0" y="0"/>
          <a:ext cx="0" cy="0"/>
          <a:chOff x="0" y="0"/>
          <a:chExt cx="0" cy="0"/>
        </a:xfrm>
      </p:grpSpPr>
      <p:sp>
        <p:nvSpPr>
          <p:cNvPr id="295"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296"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
  <p:cSld name="Titolo, contenuto e contenuto 2">
    <p:bg>
      <p:bgPr>
        <a:solidFill>
          <a:schemeClr val="accent3">
            <a:lumOff val="44000"/>
          </a:schemeClr>
        </a:solidFill>
        <a:effectLst/>
      </p:bgPr>
    </p:bg>
    <p:spTree>
      <p:nvGrpSpPr>
        <p:cNvPr id="1" name=""/>
        <p:cNvGrpSpPr/>
        <p:nvPr/>
      </p:nvGrpSpPr>
      <p:grpSpPr>
        <a:xfrm>
          <a:off x="0" y="0"/>
          <a:ext cx="0" cy="0"/>
          <a:chOff x="0" y="0"/>
          <a:chExt cx="0" cy="0"/>
        </a:xfrm>
      </p:grpSpPr>
      <p:sp>
        <p:nvSpPr>
          <p:cNvPr id="303"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304" name="Corpo livello uno…"/>
          <p:cNvSpPr txBox="1">
            <a:spLocks noGrp="1"/>
          </p:cNvSpPr>
          <p:nvPr>
            <p:ph type="body" sz="half" idx="1"/>
          </p:nvPr>
        </p:nvSpPr>
        <p:spPr>
          <a:xfrm>
            <a:off x="457200" y="1600200"/>
            <a:ext cx="4038600" cy="4525963"/>
          </a:xfrm>
          <a:prstGeom prst="rect">
            <a:avLst/>
          </a:prstGeom>
        </p:spPr>
        <p:txBody>
          <a:bodyP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30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x">
  <p:cSld name="Titolo e  contenuto 4">
    <p:bg>
      <p:bgPr>
        <a:solidFill>
          <a:schemeClr val="accent3">
            <a:lumOff val="44000"/>
          </a:schemeClr>
        </a:solidFill>
        <a:effectLst/>
      </p:bgPr>
    </p:bg>
    <p:spTree>
      <p:nvGrpSpPr>
        <p:cNvPr id="1" name=""/>
        <p:cNvGrpSpPr/>
        <p:nvPr/>
      </p:nvGrpSpPr>
      <p:grpSpPr>
        <a:xfrm>
          <a:off x="0" y="0"/>
          <a:ext cx="0" cy="0"/>
          <a:chOff x="0" y="0"/>
          <a:chExt cx="0" cy="0"/>
        </a:xfrm>
      </p:grpSpPr>
      <p:sp>
        <p:nvSpPr>
          <p:cNvPr id="312" name="Titolo Testo"/>
          <p:cNvSpPr txBox="1">
            <a:spLocks noGrp="1"/>
          </p:cNvSpPr>
          <p:nvPr>
            <p:ph type="title"/>
          </p:nvPr>
        </p:nvSpPr>
        <p:spPr>
          <a:xfrm>
            <a:off x="0" y="0"/>
            <a:ext cx="9144000" cy="836613"/>
          </a:xfrm>
          <a:prstGeom prst="rect">
            <a:avLst/>
          </a:prstGeom>
        </p:spPr>
        <p:txBody>
          <a:bodyPr>
            <a:normAutofit/>
          </a:bodyPr>
          <a:lstStyle/>
          <a:p>
            <a:r>
              <a:t>Titolo Testo</a:t>
            </a:r>
          </a:p>
        </p:txBody>
      </p:sp>
      <p:sp>
        <p:nvSpPr>
          <p:cNvPr id="313" name="Corpo livello uno…"/>
          <p:cNvSpPr txBox="1">
            <a:spLocks noGrp="1"/>
          </p:cNvSpPr>
          <p:nvPr>
            <p:ph type="body" sz="quarter" idx="1"/>
          </p:nvPr>
        </p:nvSpPr>
        <p:spPr>
          <a:xfrm>
            <a:off x="457200" y="1600200"/>
            <a:ext cx="4038600" cy="2185989"/>
          </a:xfrm>
          <a:prstGeom prst="rect">
            <a:avLst/>
          </a:prstGeom>
        </p:spPr>
        <p:txBody>
          <a:bodyP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31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x">
  <p:cSld name="1_Diapositiva titolo">
    <p:bg>
      <p:bgPr>
        <a:solidFill>
          <a:schemeClr val="accent3">
            <a:lumOff val="44000"/>
          </a:schemeClr>
        </a:solidFill>
        <a:effectLst/>
      </p:bgPr>
    </p:bg>
    <p:spTree>
      <p:nvGrpSpPr>
        <p:cNvPr id="1" name=""/>
        <p:cNvGrpSpPr/>
        <p:nvPr/>
      </p:nvGrpSpPr>
      <p:grpSpPr>
        <a:xfrm>
          <a:off x="0" y="0"/>
          <a:ext cx="0" cy="0"/>
          <a:chOff x="0" y="0"/>
          <a:chExt cx="0" cy="0"/>
        </a:xfrm>
      </p:grpSpPr>
      <p:sp>
        <p:nvSpPr>
          <p:cNvPr id="321" name="Titolo Testo"/>
          <p:cNvSpPr txBox="1">
            <a:spLocks noGrp="1"/>
          </p:cNvSpPr>
          <p:nvPr>
            <p:ph type="title"/>
          </p:nvPr>
        </p:nvSpPr>
        <p:spPr>
          <a:xfrm>
            <a:off x="685800" y="2130431"/>
            <a:ext cx="7772400" cy="1470026"/>
          </a:xfrm>
          <a:prstGeom prst="rect">
            <a:avLst/>
          </a:prstGeom>
        </p:spPr>
        <p:txBody>
          <a:bodyPr>
            <a:normAutofit/>
          </a:bodyPr>
          <a:lstStyle/>
          <a:p>
            <a:r>
              <a:t>Titolo Testo</a:t>
            </a:r>
          </a:p>
        </p:txBody>
      </p:sp>
      <p:sp>
        <p:nvSpPr>
          <p:cNvPr id="322" name="Corpo livello uno…"/>
          <p:cNvSpPr txBox="1">
            <a:spLocks noGrp="1"/>
          </p:cNvSpPr>
          <p:nvPr>
            <p:ph type="body" sz="quarter" idx="1"/>
          </p:nvPr>
        </p:nvSpPr>
        <p:spPr>
          <a:xfrm>
            <a:off x="1371600" y="3886200"/>
            <a:ext cx="6400800" cy="1752600"/>
          </a:xfrm>
          <a:prstGeom prst="rect">
            <a:avLst/>
          </a:prstGeom>
        </p:spPr>
        <p:txBody>
          <a:bodyPr>
            <a:normAutofit/>
          </a:bodyPr>
          <a:lstStyle>
            <a:lvl1pPr marL="0" indent="0" algn="ctr">
              <a:buSzTx/>
              <a:buNone/>
            </a:lvl1pPr>
            <a:lvl2pPr marL="0" indent="457200" algn="ctr">
              <a:buSzTx/>
              <a:buNone/>
            </a:lvl2pPr>
            <a:lvl3pPr marL="0" indent="914400" algn="ctr">
              <a:buSzTx/>
              <a:buNone/>
            </a:lvl3pPr>
            <a:lvl4pPr marL="0" indent="1371600" algn="ctr">
              <a:buSzTx/>
              <a:buNone/>
            </a:lvl4pPr>
            <a:lvl5pPr marL="0" indent="1828800" algn="ctr">
              <a:buSzTx/>
              <a:buNone/>
            </a:lvl5pPr>
          </a:lstStyle>
          <a:p>
            <a:r>
              <a:t>Corpo livello uno</a:t>
            </a:r>
          </a:p>
          <a:p>
            <a:pPr lvl="1"/>
            <a:r>
              <a:t>Corpo livello due</a:t>
            </a:r>
          </a:p>
          <a:p>
            <a:pPr lvl="2"/>
            <a:r>
              <a:t>Corpo livello tre</a:t>
            </a:r>
          </a:p>
          <a:p>
            <a:pPr lvl="3"/>
            <a:r>
              <a:t>Corpo livello quattro</a:t>
            </a:r>
          </a:p>
          <a:p>
            <a:pPr lvl="4"/>
            <a:r>
              <a:t>Corpo livello cinque</a:t>
            </a:r>
          </a:p>
        </p:txBody>
      </p:sp>
      <p:sp>
        <p:nvSpPr>
          <p:cNvPr id="323"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x">
  <p:cSld name="1_Vuota">
    <p:bg>
      <p:bgPr>
        <a:solidFill>
          <a:schemeClr val="accent3">
            <a:lumOff val="44000"/>
          </a:schemeClr>
        </a:solidFill>
        <a:effectLst/>
      </p:bgPr>
    </p:bg>
    <p:spTree>
      <p:nvGrpSpPr>
        <p:cNvPr id="1" name=""/>
        <p:cNvGrpSpPr/>
        <p:nvPr/>
      </p:nvGrpSpPr>
      <p:grpSpPr>
        <a:xfrm>
          <a:off x="0" y="0"/>
          <a:ext cx="0" cy="0"/>
          <a:chOff x="0" y="0"/>
          <a:chExt cx="0" cy="0"/>
        </a:xfrm>
      </p:grpSpPr>
      <p:sp>
        <p:nvSpPr>
          <p:cNvPr id="330" name="Numero diapositiva"/>
          <p:cNvSpPr txBox="1">
            <a:spLocks noGrp="1"/>
          </p:cNvSpPr>
          <p:nvPr>
            <p:ph type="sldNum" sz="quarter" idx="2"/>
          </p:nvPr>
        </p:nvSpPr>
        <p:spPr>
          <a:xfrm>
            <a:off x="8476332" y="6245225"/>
            <a:ext cx="210469" cy="197384"/>
          </a:xfrm>
          <a:prstGeom prst="rect">
            <a:avLst/>
          </a:prstGeom>
        </p:spPr>
        <p:txBody>
          <a:bodyPr lIns="0" tIns="0" rIns="0" bIns="0"/>
          <a:lstStyle>
            <a:lvl1pPr>
              <a:defRPr>
                <a:solidFill>
                  <a:srgbClr val="888888"/>
                </a:solidFill>
              </a:defRPr>
            </a:lvl1pPr>
          </a:lstStyle>
          <a:p>
            <a:fld id="{86CB4B4D-7CA3-9044-876B-883B54F8677D}" type="slidenum">
              <a:t>‹N›</a:t>
            </a:fld>
            <a:endParaRPr/>
          </a:p>
        </p:txBody>
      </p:sp>
    </p:spTree>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x">
  <p:cSld name="1_Solo titolo">
    <p:bg>
      <p:bgPr>
        <a:solidFill>
          <a:schemeClr val="accent3">
            <a:lumOff val="44000"/>
          </a:schemeClr>
        </a:solidFill>
        <a:effectLst/>
      </p:bgPr>
    </p:bg>
    <p:spTree>
      <p:nvGrpSpPr>
        <p:cNvPr id="1" name=""/>
        <p:cNvGrpSpPr/>
        <p:nvPr/>
      </p:nvGrpSpPr>
      <p:grpSpPr>
        <a:xfrm>
          <a:off x="0" y="0"/>
          <a:ext cx="0" cy="0"/>
          <a:chOff x="0" y="0"/>
          <a:chExt cx="0" cy="0"/>
        </a:xfrm>
      </p:grpSpPr>
      <p:sp>
        <p:nvSpPr>
          <p:cNvPr id="337" name="Titolo Testo"/>
          <p:cNvSpPr txBox="1">
            <a:spLocks noGrp="1"/>
          </p:cNvSpPr>
          <p:nvPr>
            <p:ph type="title"/>
          </p:nvPr>
        </p:nvSpPr>
        <p:spPr>
          <a:xfrm>
            <a:off x="0" y="0"/>
            <a:ext cx="9144000" cy="836613"/>
          </a:xfrm>
          <a:prstGeom prst="rect">
            <a:avLst/>
          </a:prstGeom>
        </p:spPr>
        <p:txBody>
          <a:bodyPr lIns="0" tIns="0" rIns="0" bIns="0">
            <a:normAutofit/>
          </a:bodyPr>
          <a:lstStyle>
            <a:lvl1pPr>
              <a:defRPr b="0" i="1">
                <a:latin typeface="Times New Roman"/>
                <a:ea typeface="Times New Roman"/>
                <a:cs typeface="Times New Roman"/>
                <a:sym typeface="Times New Roman"/>
              </a:defRPr>
            </a:lvl1pPr>
          </a:lstStyle>
          <a:p>
            <a:r>
              <a:t>Titolo Testo</a:t>
            </a:r>
          </a:p>
        </p:txBody>
      </p:sp>
      <p:sp>
        <p:nvSpPr>
          <p:cNvPr id="338" name="Numero diapositiva"/>
          <p:cNvSpPr txBox="1">
            <a:spLocks noGrp="1"/>
          </p:cNvSpPr>
          <p:nvPr>
            <p:ph type="sldNum" sz="quarter" idx="2"/>
          </p:nvPr>
        </p:nvSpPr>
        <p:spPr>
          <a:xfrm>
            <a:off x="8476332" y="6245225"/>
            <a:ext cx="210469" cy="197384"/>
          </a:xfrm>
          <a:prstGeom prst="rect">
            <a:avLst/>
          </a:prstGeom>
        </p:spPr>
        <p:txBody>
          <a:bodyPr lIns="0" tIns="0" rIns="0" bIns="0"/>
          <a:lstStyle>
            <a:lvl1pPr>
              <a:defRPr>
                <a:solidFill>
                  <a:srgbClr val="888888"/>
                </a:solidFill>
              </a:defRPr>
            </a:lvl1pPr>
          </a:lstStyle>
          <a:p>
            <a:fld id="{86CB4B4D-7CA3-9044-876B-883B54F8677D}" type="slidenum">
              <a:t>‹N›</a:t>
            </a:fld>
            <a:endParaRPr/>
          </a:p>
        </p:txBody>
      </p:sp>
    </p:spTree>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x">
  <p:cSld name="2_Diapositiva titolo">
    <p:bg>
      <p:bgPr>
        <a:solidFill>
          <a:schemeClr val="accent3">
            <a:lumOff val="44000"/>
          </a:schemeClr>
        </a:solidFill>
        <a:effectLst/>
      </p:bgPr>
    </p:bg>
    <p:spTree>
      <p:nvGrpSpPr>
        <p:cNvPr id="1" name=""/>
        <p:cNvGrpSpPr/>
        <p:nvPr/>
      </p:nvGrpSpPr>
      <p:grpSpPr>
        <a:xfrm>
          <a:off x="0" y="0"/>
          <a:ext cx="0" cy="0"/>
          <a:chOff x="0" y="0"/>
          <a:chExt cx="0" cy="0"/>
        </a:xfrm>
      </p:grpSpPr>
      <p:sp>
        <p:nvSpPr>
          <p:cNvPr id="345" name="Corpo livello uno…"/>
          <p:cNvSpPr txBox="1">
            <a:spLocks noGrp="1"/>
          </p:cNvSpPr>
          <p:nvPr>
            <p:ph type="body" sz="quarter" idx="1"/>
          </p:nvPr>
        </p:nvSpPr>
        <p:spPr>
          <a:xfrm>
            <a:off x="1371600" y="3886200"/>
            <a:ext cx="6400800" cy="1752600"/>
          </a:xfrm>
          <a:prstGeom prst="rect">
            <a:avLst/>
          </a:prstGeom>
        </p:spPr>
        <p:txBody>
          <a:bodyPr>
            <a:normAutofit/>
          </a:bodyPr>
          <a:lstStyle>
            <a:lvl1pPr marL="0" indent="0" algn="ctr">
              <a:buSzTx/>
              <a:buNone/>
              <a:defRPr>
                <a:solidFill>
                  <a:srgbClr val="888888"/>
                </a:solidFill>
              </a:defRPr>
            </a:lvl1pPr>
            <a:lvl2pPr marL="0" indent="457200" algn="ctr">
              <a:buSzTx/>
              <a:buNone/>
              <a:defRPr>
                <a:solidFill>
                  <a:srgbClr val="888888"/>
                </a:solidFill>
              </a:defRPr>
            </a:lvl2pPr>
            <a:lvl3pPr marL="0" indent="914400" algn="ctr">
              <a:buSzTx/>
              <a:buNone/>
              <a:defRPr>
                <a:solidFill>
                  <a:srgbClr val="888888"/>
                </a:solidFill>
              </a:defRPr>
            </a:lvl3pPr>
            <a:lvl4pPr marL="0" indent="1371600" algn="ctr">
              <a:buSzTx/>
              <a:buNone/>
              <a:defRPr>
                <a:solidFill>
                  <a:srgbClr val="888888"/>
                </a:solidFill>
              </a:defRPr>
            </a:lvl4pPr>
            <a:lvl5pPr marL="0" indent="1828800" algn="ctr">
              <a:buSzTx/>
              <a:buNone/>
              <a:defRPr>
                <a:solidFill>
                  <a:srgbClr val="888888"/>
                </a:solidFill>
              </a:defRPr>
            </a:lvl5pPr>
          </a:lstStyle>
          <a:p>
            <a:r>
              <a:t>Corpo livello uno</a:t>
            </a:r>
          </a:p>
          <a:p>
            <a:pPr lvl="1"/>
            <a:r>
              <a:t>Corpo livello due</a:t>
            </a:r>
          </a:p>
          <a:p>
            <a:pPr lvl="2"/>
            <a:r>
              <a:t>Corpo livello tre</a:t>
            </a:r>
          </a:p>
          <a:p>
            <a:pPr lvl="3"/>
            <a:r>
              <a:t>Corpo livello quattro</a:t>
            </a:r>
          </a:p>
          <a:p>
            <a:pPr lvl="4"/>
            <a:r>
              <a:t>Corpo livello cinque</a:t>
            </a:r>
          </a:p>
        </p:txBody>
      </p:sp>
      <p:sp>
        <p:nvSpPr>
          <p:cNvPr id="346" name="Numero diapositiva"/>
          <p:cNvSpPr txBox="1">
            <a:spLocks noGrp="1"/>
          </p:cNvSpPr>
          <p:nvPr>
            <p:ph type="sldNum" sz="quarter" idx="2"/>
          </p:nvPr>
        </p:nvSpPr>
        <p:spPr>
          <a:xfrm>
            <a:off x="8384892" y="6356351"/>
            <a:ext cx="301909" cy="288825"/>
          </a:xfrm>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x">
  <p:cSld name="2_Vuota">
    <p:bg>
      <p:bgPr>
        <a:solidFill>
          <a:schemeClr val="accent3">
            <a:lumOff val="44000"/>
          </a:schemeClr>
        </a:solidFill>
        <a:effectLst/>
      </p:bgPr>
    </p:bg>
    <p:spTree>
      <p:nvGrpSpPr>
        <p:cNvPr id="1" name=""/>
        <p:cNvGrpSpPr/>
        <p:nvPr/>
      </p:nvGrpSpPr>
      <p:grpSpPr>
        <a:xfrm>
          <a:off x="0" y="0"/>
          <a:ext cx="0" cy="0"/>
          <a:chOff x="0" y="0"/>
          <a:chExt cx="0" cy="0"/>
        </a:xfrm>
      </p:grpSpPr>
      <p:sp>
        <p:nvSpPr>
          <p:cNvPr id="353" name="Numero diapositiva"/>
          <p:cNvSpPr txBox="1">
            <a:spLocks noGrp="1"/>
          </p:cNvSpPr>
          <p:nvPr>
            <p:ph type="sldNum" sz="quarter" idx="2"/>
          </p:nvPr>
        </p:nvSpPr>
        <p:spPr>
          <a:xfrm>
            <a:off x="8384892" y="6356351"/>
            <a:ext cx="301909" cy="288825"/>
          </a:xfrm>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x">
  <p:cSld name="3_Diapositiva titolo">
    <p:bg>
      <p:bgPr>
        <a:solidFill>
          <a:schemeClr val="accent3">
            <a:lumOff val="44000"/>
          </a:schemeClr>
        </a:solidFill>
        <a:effectLst/>
      </p:bgPr>
    </p:bg>
    <p:spTree>
      <p:nvGrpSpPr>
        <p:cNvPr id="1" name=""/>
        <p:cNvGrpSpPr/>
        <p:nvPr/>
      </p:nvGrpSpPr>
      <p:grpSpPr>
        <a:xfrm>
          <a:off x="0" y="0"/>
          <a:ext cx="0" cy="0"/>
          <a:chOff x="0" y="0"/>
          <a:chExt cx="0" cy="0"/>
        </a:xfrm>
      </p:grpSpPr>
      <p:sp>
        <p:nvSpPr>
          <p:cNvPr id="360" name="Titolo Testo"/>
          <p:cNvSpPr txBox="1">
            <a:spLocks noGrp="1"/>
          </p:cNvSpPr>
          <p:nvPr>
            <p:ph type="title"/>
          </p:nvPr>
        </p:nvSpPr>
        <p:spPr>
          <a:xfrm>
            <a:off x="685800" y="3209925"/>
            <a:ext cx="7772400" cy="2019300"/>
          </a:xfrm>
          <a:prstGeom prst="rect">
            <a:avLst/>
          </a:prstGeom>
          <a:noFill/>
        </p:spPr>
        <p:txBody>
          <a:bodyPr anchor="t">
            <a:normAutofit/>
          </a:bodyPr>
          <a:lstStyle>
            <a:lvl1pPr>
              <a:defRPr sz="3200">
                <a:effectLst>
                  <a:outerShdw blurRad="38100" dist="38100" dir="2700000" rotWithShape="0">
                    <a:srgbClr val="C0C0C0"/>
                  </a:outerShdw>
                </a:effectLst>
              </a:defRPr>
            </a:lvl1pPr>
          </a:lstStyle>
          <a:p>
            <a:r>
              <a:t>Titolo Testo</a:t>
            </a:r>
          </a:p>
        </p:txBody>
      </p:sp>
      <p:sp>
        <p:nvSpPr>
          <p:cNvPr id="361"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jpe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3"/>
          <a:srcRect/>
          <a:stretch>
            <a:fillRect/>
          </a:stretch>
        </a:blipFill>
        <a:effectLst/>
      </p:bgPr>
    </p:bg>
    <p:spTree>
      <p:nvGrpSpPr>
        <p:cNvPr id="1" name=""/>
        <p:cNvGrpSpPr/>
        <p:nvPr/>
      </p:nvGrpSpPr>
      <p:grpSpPr>
        <a:xfrm>
          <a:off x="0" y="0"/>
          <a:ext cx="0" cy="0"/>
          <a:chOff x="0" y="0"/>
          <a:chExt cx="0" cy="0"/>
        </a:xfrm>
      </p:grpSpPr>
      <p:sp>
        <p:nvSpPr>
          <p:cNvPr id="2" name="Rectangle 9"/>
          <p:cNvSpPr/>
          <p:nvPr/>
        </p:nvSpPr>
        <p:spPr>
          <a:xfrm>
            <a:off x="0" y="836612"/>
            <a:ext cx="9144000" cy="71438"/>
          </a:xfrm>
          <a:prstGeom prst="rect">
            <a:avLst/>
          </a:prstGeom>
          <a:gradFill>
            <a:gsLst>
              <a:gs pos="0">
                <a:schemeClr val="accent2">
                  <a:alpha val="79999"/>
                </a:schemeClr>
              </a:gs>
              <a:gs pos="100000">
                <a:srgbClr val="181847"/>
              </a:gs>
            </a:gsLst>
            <a:lin ang="5400000"/>
          </a:gradFill>
          <a:ln w="12700">
            <a:miter lim="400000"/>
          </a:ln>
        </p:spPr>
        <p:txBody>
          <a:bodyPr lIns="45719" rIns="45719" anchor="ctr"/>
          <a:lstStyle/>
          <a:p>
            <a:pPr>
              <a:defRPr>
                <a:latin typeface="Times New Roman"/>
                <a:ea typeface="Times New Roman"/>
                <a:cs typeface="Times New Roman"/>
                <a:sym typeface="Times New Roman"/>
              </a:defRPr>
            </a:pPr>
            <a:endParaRPr/>
          </a:p>
        </p:txBody>
      </p:sp>
      <p:sp>
        <p:nvSpPr>
          <p:cNvPr id="3" name="Numero diapositiva"/>
          <p:cNvSpPr txBox="1">
            <a:spLocks noGrp="1"/>
          </p:cNvSpPr>
          <p:nvPr>
            <p:ph type="sldNum" sz="quarter" idx="2"/>
          </p:nvPr>
        </p:nvSpPr>
        <p:spPr>
          <a:xfrm>
            <a:off x="8384892" y="6245225"/>
            <a:ext cx="301909" cy="288824"/>
          </a:xfrm>
          <a:prstGeom prst="rect">
            <a:avLst/>
          </a:prstGeom>
          <a:ln w="12700">
            <a:miter lim="400000"/>
          </a:ln>
        </p:spPr>
        <p:txBody>
          <a:bodyPr wrap="none" lIns="45719" rIns="45719">
            <a:spAutoFit/>
          </a:bodyPr>
          <a:lstStyle>
            <a:lvl1pPr algn="r">
              <a:defRPr sz="1400" b="0"/>
            </a:lvl1pPr>
          </a:lstStyle>
          <a:p>
            <a:fld id="{86CB4B4D-7CA3-9044-876B-883B54F8677D}" type="slidenum">
              <a:t>‹N›</a:t>
            </a:fld>
            <a:endParaRPr/>
          </a:p>
        </p:txBody>
      </p:sp>
      <p:sp>
        <p:nvSpPr>
          <p:cNvPr id="4" name="Titolo Testo"/>
          <p:cNvSpPr txBox="1">
            <a:spLocks noGrp="1"/>
          </p:cNvSpPr>
          <p:nvPr>
            <p:ph type="title"/>
          </p:nvPr>
        </p:nvSpPr>
        <p:spPr>
          <a:xfrm>
            <a:off x="457200" y="274637"/>
            <a:ext cx="8229600" cy="1143001"/>
          </a:xfrm>
          <a:prstGeom prst="rect">
            <a:avLst/>
          </a:prstGeom>
          <a:solidFill>
            <a:schemeClr val="accent2">
              <a:alpha val="6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Titolo Testo</a:t>
            </a:r>
          </a:p>
        </p:txBody>
      </p:sp>
      <p:sp>
        <p:nvSpPr>
          <p:cNvPr id="5" name="Corpo livello uno…"/>
          <p:cNvSpPr txBox="1">
            <a:spLocks noGrp="1"/>
          </p:cNvSpPr>
          <p:nvPr>
            <p:ph type="body" idx="1"/>
          </p:nvPr>
        </p:nvSpPr>
        <p:spPr>
          <a:xfrm>
            <a:off x="457200" y="1600200"/>
            <a:ext cx="82296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Corpo livello uno</a:t>
            </a:r>
          </a:p>
          <a:p>
            <a:pPr lvl="1"/>
            <a:r>
              <a:t>Corpo livello due</a:t>
            </a:r>
          </a:p>
          <a:p>
            <a:pPr lvl="2"/>
            <a:r>
              <a:t>Corpo livello tre</a:t>
            </a:r>
          </a:p>
          <a:p>
            <a:pPr lvl="3"/>
            <a:r>
              <a:t>Corpo livello quattro</a:t>
            </a:r>
          </a:p>
          <a:p>
            <a:pPr lvl="4"/>
            <a:r>
              <a:t>Corpo livello cinque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Lst>
  <p:transition spd="med"/>
  <p:txStyles>
    <p:titleStyle>
      <a:lvl1pPr marL="0" marR="0" indent="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400" b="1" i="0" u="none" strike="noStrike" cap="none" spc="0" baseline="0">
          <a:solidFill>
            <a:schemeClr val="accent3">
              <a:lumOff val="44000"/>
            </a:schemeClr>
          </a:solidFill>
          <a:effectLst>
            <a:outerShdw blurRad="38100" dist="38100" dir="2700000" rotWithShape="0">
              <a:srgbClr val="000000"/>
            </a:outerShdw>
          </a:effectLst>
          <a:uFillTx/>
          <a:latin typeface="+mn-lt"/>
          <a:ea typeface="+mn-ea"/>
          <a:cs typeface="+mn-cs"/>
          <a:sym typeface="Arial"/>
        </a:defRPr>
      </a:lvl9pPr>
    </p:titleStyle>
    <p:bodyStyle>
      <a:lvl1pPr marL="342900" marR="0" indent="-34290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0" name="Immagine 1" descr="Immagine 1"/>
          <p:cNvPicPr>
            <a:picLocks noChangeAspect="1"/>
          </p:cNvPicPr>
          <p:nvPr/>
        </p:nvPicPr>
        <p:blipFill>
          <a:blip r:embed="rId2">
            <a:extLst/>
          </a:blip>
          <a:stretch>
            <a:fillRect/>
          </a:stretch>
        </p:blipFill>
        <p:spPr>
          <a:xfrm>
            <a:off x="136850" y="67098"/>
            <a:ext cx="435671" cy="753166"/>
          </a:xfrm>
          <a:prstGeom prst="rect">
            <a:avLst/>
          </a:prstGeom>
          <a:ln w="12700">
            <a:miter lim="400000"/>
          </a:ln>
        </p:spPr>
      </p:pic>
      <p:sp>
        <p:nvSpPr>
          <p:cNvPr id="371" name="Text Box 4"/>
          <p:cNvSpPr txBox="1"/>
          <p:nvPr/>
        </p:nvSpPr>
        <p:spPr>
          <a:xfrm>
            <a:off x="45719" y="1723587"/>
            <a:ext cx="9052561" cy="1183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lnSpc>
                <a:spcPct val="85000"/>
              </a:lnSpc>
              <a:spcBef>
                <a:spcPts val="4300"/>
              </a:spcBef>
              <a:defRPr sz="7200" i="1">
                <a:solidFill>
                  <a:srgbClr val="C00000"/>
                </a:solidFill>
                <a:latin typeface="Book Antiqua"/>
                <a:ea typeface="Book Antiqua"/>
                <a:cs typeface="Book Antiqua"/>
                <a:sym typeface="Book Antiqua"/>
              </a:defRPr>
            </a:lvl1pPr>
          </a:lstStyle>
          <a:p>
            <a:r>
              <a:t>Diritto Penale</a:t>
            </a:r>
          </a:p>
        </p:txBody>
      </p:sp>
      <p:sp>
        <p:nvSpPr>
          <p:cNvPr id="372" name="Text Box 4"/>
          <p:cNvSpPr txBox="1"/>
          <p:nvPr/>
        </p:nvSpPr>
        <p:spPr>
          <a:xfrm>
            <a:off x="174876" y="6303648"/>
            <a:ext cx="4783452"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85000"/>
              </a:lnSpc>
              <a:spcBef>
                <a:spcPts val="1000"/>
              </a:spcBef>
              <a:defRPr sz="1800" b="0">
                <a:latin typeface="Book Antiqua"/>
                <a:ea typeface="Book Antiqua"/>
                <a:cs typeface="Book Antiqua"/>
                <a:sym typeface="Book Antiqua"/>
              </a:defRPr>
            </a:lvl1pPr>
          </a:lstStyle>
          <a:p>
            <a:r>
              <a:rPr dirty="0"/>
              <a:t>143°Corso </a:t>
            </a:r>
            <a:r>
              <a:rPr dirty="0" err="1"/>
              <a:t>Formativo</a:t>
            </a:r>
            <a:r>
              <a:rPr dirty="0"/>
              <a:t> per </a:t>
            </a:r>
            <a:r>
              <a:rPr dirty="0" err="1"/>
              <a:t>Allievi</a:t>
            </a:r>
            <a:r>
              <a:rPr dirty="0"/>
              <a:t> Carabinieri</a:t>
            </a:r>
          </a:p>
        </p:txBody>
      </p:sp>
      <p:sp>
        <p:nvSpPr>
          <p:cNvPr id="373" name="Text Box 4"/>
          <p:cNvSpPr txBox="1"/>
          <p:nvPr/>
        </p:nvSpPr>
        <p:spPr>
          <a:xfrm>
            <a:off x="45719" y="53164"/>
            <a:ext cx="9052561" cy="6324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lnSpc>
                <a:spcPct val="85000"/>
              </a:lnSpc>
              <a:spcBef>
                <a:spcPts val="1900"/>
              </a:spcBef>
              <a:defRPr sz="3000" cap="small">
                <a:solidFill>
                  <a:schemeClr val="accent3">
                    <a:lumOff val="44000"/>
                  </a:schemeClr>
                </a:solidFill>
                <a:latin typeface="Book Antiqua"/>
                <a:ea typeface="Book Antiqua"/>
                <a:cs typeface="Book Antiqua"/>
                <a:sym typeface="Book Antiqua"/>
              </a:defRPr>
            </a:pPr>
            <a:r>
              <a:t>Scuola Allievi Carabinieri </a:t>
            </a:r>
            <a:r>
              <a:rPr sz="1000">
                <a:solidFill>
                  <a:srgbClr val="002F8E"/>
                </a:solidFill>
              </a:rPr>
              <a:t> </a:t>
            </a:r>
            <a:br>
              <a:rPr sz="1000">
                <a:solidFill>
                  <a:srgbClr val="002F8E"/>
                </a:solidFill>
              </a:rPr>
            </a:br>
            <a:endParaRPr sz="1000">
              <a:solidFill>
                <a:srgbClr val="002F8E"/>
              </a:solidFill>
            </a:endParaRPr>
          </a:p>
        </p:txBody>
      </p:sp>
      <p:sp>
        <p:nvSpPr>
          <p:cNvPr id="374" name="Text Box 4"/>
          <p:cNvSpPr txBox="1"/>
          <p:nvPr/>
        </p:nvSpPr>
        <p:spPr>
          <a:xfrm>
            <a:off x="45719" y="2918692"/>
            <a:ext cx="9052561" cy="1841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lnSpc>
                <a:spcPct val="85000"/>
              </a:lnSpc>
              <a:spcBef>
                <a:spcPts val="2400"/>
              </a:spcBef>
              <a:defRPr sz="4000" cap="small">
                <a:solidFill>
                  <a:srgbClr val="002F8E"/>
                </a:solidFill>
                <a:latin typeface="Book Antiqua"/>
                <a:ea typeface="Book Antiqua"/>
                <a:cs typeface="Book Antiqua"/>
                <a:sym typeface="Book Antiqua"/>
              </a:defRPr>
            </a:pPr>
            <a:r>
              <a:t>VIII Tesi</a:t>
            </a:r>
            <a:endParaRPr>
              <a:latin typeface="Times New Roman"/>
              <a:ea typeface="Times New Roman"/>
              <a:cs typeface="Times New Roman"/>
              <a:sym typeface="Times New Roman"/>
            </a:endParaRPr>
          </a:p>
          <a:p>
            <a:pPr algn="ctr">
              <a:lnSpc>
                <a:spcPct val="85000"/>
              </a:lnSpc>
              <a:spcBef>
                <a:spcPts val="2800"/>
              </a:spcBef>
              <a:defRPr sz="1000" cap="small">
                <a:solidFill>
                  <a:srgbClr val="002F8E"/>
                </a:solidFill>
                <a:latin typeface="Book Antiqua"/>
                <a:ea typeface="Book Antiqua"/>
                <a:cs typeface="Book Antiqua"/>
                <a:sym typeface="Book Antiqua"/>
              </a:defRPr>
            </a:pPr>
            <a:r>
              <a:t> </a:t>
            </a:r>
            <a:br/>
            <a:r>
              <a:rPr sz="4800" i="1" cap="none"/>
              <a:t>I delitti contro la persona</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CasellaDiTesto 9"/>
          <p:cNvSpPr txBox="1"/>
          <p:nvPr/>
        </p:nvSpPr>
        <p:spPr>
          <a:xfrm>
            <a:off x="3609607" y="995210"/>
            <a:ext cx="1924786" cy="548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3000" i="1">
                <a:solidFill>
                  <a:srgbClr val="002F8E"/>
                </a:solidFill>
                <a:latin typeface="Book Antiqua"/>
                <a:ea typeface="Book Antiqua"/>
                <a:cs typeface="Book Antiqua"/>
                <a:sym typeface="Book Antiqua"/>
              </a:defRPr>
            </a:lvl1pPr>
          </a:lstStyle>
          <a:p>
            <a:r>
              <a:t>Indice</a:t>
            </a:r>
          </a:p>
        </p:txBody>
      </p:sp>
      <p:sp>
        <p:nvSpPr>
          <p:cNvPr id="377" name="Text Box 5"/>
          <p:cNvSpPr txBox="1"/>
          <p:nvPr/>
        </p:nvSpPr>
        <p:spPr>
          <a:xfrm>
            <a:off x="825746" y="98863"/>
            <a:ext cx="8273685"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TESI VIII – I delitti contro la persona</a:t>
            </a:r>
          </a:p>
        </p:txBody>
      </p:sp>
      <p:pic>
        <p:nvPicPr>
          <p:cNvPr id="378" name="Immagine 5" descr="Immagine 5"/>
          <p:cNvPicPr>
            <a:picLocks noChangeAspect="1"/>
          </p:cNvPicPr>
          <p:nvPr/>
        </p:nvPicPr>
        <p:blipFill>
          <a:blip r:embed="rId2">
            <a:extLst/>
          </a:blip>
          <a:stretch>
            <a:fillRect/>
          </a:stretch>
        </p:blipFill>
        <p:spPr>
          <a:xfrm>
            <a:off x="136850" y="67098"/>
            <a:ext cx="435671" cy="753166"/>
          </a:xfrm>
          <a:prstGeom prst="rect">
            <a:avLst/>
          </a:prstGeom>
          <a:ln w="12700">
            <a:miter lim="400000"/>
          </a:ln>
        </p:spPr>
      </p:pic>
      <p:sp>
        <p:nvSpPr>
          <p:cNvPr id="379" name="Segnaposto contenuto 2"/>
          <p:cNvSpPr txBox="1">
            <a:spLocks noGrp="1"/>
          </p:cNvSpPr>
          <p:nvPr>
            <p:ph type="body" idx="1"/>
          </p:nvPr>
        </p:nvSpPr>
        <p:spPr>
          <a:xfrm>
            <a:off x="630019" y="1700808"/>
            <a:ext cx="7886701" cy="4771727"/>
          </a:xfrm>
          <a:prstGeom prst="rect">
            <a:avLst/>
          </a:prstGeom>
        </p:spPr>
        <p:txBody>
          <a:bodyPr/>
          <a:lstStyle/>
          <a:p>
            <a:pPr marL="0" indent="0" algn="ctr" defTabSz="730250">
              <a:lnSpc>
                <a:spcPct val="72000"/>
              </a:lnSpc>
              <a:buSzTx/>
              <a:buNone/>
              <a:defRPr sz="1700">
                <a:latin typeface="Book Antiqua"/>
                <a:ea typeface="Book Antiqua"/>
                <a:cs typeface="Book Antiqua"/>
                <a:sym typeface="Book Antiqua"/>
              </a:defRPr>
            </a:pPr>
            <a:r>
              <a:t>Generalità</a:t>
            </a:r>
            <a:endParaRPr sz="2500"/>
          </a:p>
          <a:p>
            <a:pPr marL="0" indent="0" algn="ctr" defTabSz="730250">
              <a:lnSpc>
                <a:spcPct val="72000"/>
              </a:lnSpc>
              <a:buSzTx/>
              <a:buNone/>
              <a:defRPr sz="1700">
                <a:latin typeface="Book Antiqua"/>
                <a:ea typeface="Book Antiqua"/>
                <a:cs typeface="Book Antiqua"/>
                <a:sym typeface="Book Antiqua"/>
              </a:defRPr>
            </a:pPr>
            <a:r>
              <a:t>Omicidio (575)</a:t>
            </a:r>
            <a:endParaRPr sz="2500"/>
          </a:p>
          <a:p>
            <a:pPr marL="0" indent="0" algn="ctr" defTabSz="730250">
              <a:lnSpc>
                <a:spcPct val="72000"/>
              </a:lnSpc>
              <a:buSzTx/>
              <a:buNone/>
              <a:defRPr sz="1700">
                <a:latin typeface="Book Antiqua"/>
                <a:ea typeface="Book Antiqua"/>
                <a:cs typeface="Book Antiqua"/>
                <a:sym typeface="Book Antiqua"/>
              </a:defRPr>
            </a:pPr>
            <a:r>
              <a:t>Percosse (581)</a:t>
            </a:r>
            <a:endParaRPr sz="2500"/>
          </a:p>
          <a:p>
            <a:pPr marL="0" indent="0" algn="ctr" defTabSz="730250">
              <a:lnSpc>
                <a:spcPct val="72000"/>
              </a:lnSpc>
              <a:buSzTx/>
              <a:buNone/>
              <a:defRPr sz="1700">
                <a:latin typeface="Book Antiqua"/>
                <a:ea typeface="Book Antiqua"/>
                <a:cs typeface="Book Antiqua"/>
                <a:sym typeface="Book Antiqua"/>
              </a:defRPr>
            </a:pPr>
            <a:r>
              <a:t>Lesione personale (582)</a:t>
            </a:r>
            <a:endParaRPr sz="2500"/>
          </a:p>
          <a:p>
            <a:pPr marL="0" indent="0" algn="ctr" defTabSz="730250">
              <a:lnSpc>
                <a:spcPct val="72000"/>
              </a:lnSpc>
              <a:buSzTx/>
              <a:buNone/>
              <a:defRPr sz="1700">
                <a:latin typeface="Book Antiqua"/>
                <a:ea typeface="Book Antiqua"/>
                <a:cs typeface="Book Antiqua"/>
                <a:sym typeface="Book Antiqua"/>
              </a:defRPr>
            </a:pPr>
            <a:r>
              <a:t>Rissa (588)</a:t>
            </a:r>
            <a:endParaRPr sz="1900" b="1" u="sng"/>
          </a:p>
          <a:p>
            <a:pPr marL="0" indent="0" algn="ctr" defTabSz="730250">
              <a:lnSpc>
                <a:spcPct val="72000"/>
              </a:lnSpc>
              <a:buSzTx/>
              <a:buNone/>
              <a:defRPr sz="1700">
                <a:latin typeface="Book Antiqua"/>
                <a:ea typeface="Book Antiqua"/>
                <a:cs typeface="Book Antiqua"/>
                <a:sym typeface="Book Antiqua"/>
              </a:defRPr>
            </a:pPr>
            <a:r>
              <a:t>Omicidio Stradale (589 bis)</a:t>
            </a:r>
            <a:endParaRPr sz="2500"/>
          </a:p>
          <a:p>
            <a:pPr marL="0" indent="0" algn="ctr" defTabSz="730250">
              <a:lnSpc>
                <a:spcPct val="72000"/>
              </a:lnSpc>
              <a:buSzTx/>
              <a:buNone/>
              <a:defRPr sz="1700">
                <a:latin typeface="Book Antiqua"/>
                <a:ea typeface="Book Antiqua"/>
                <a:cs typeface="Book Antiqua"/>
                <a:sym typeface="Book Antiqua"/>
              </a:defRPr>
            </a:pPr>
            <a:r>
              <a:t>Lesioni personali stradali (590 bis)</a:t>
            </a:r>
            <a:endParaRPr sz="2500"/>
          </a:p>
          <a:p>
            <a:pPr marL="0" indent="0" algn="ctr" defTabSz="730250">
              <a:lnSpc>
                <a:spcPct val="72000"/>
              </a:lnSpc>
              <a:buSzTx/>
              <a:buNone/>
              <a:defRPr sz="1700">
                <a:latin typeface="Book Antiqua"/>
                <a:ea typeface="Book Antiqua"/>
                <a:cs typeface="Book Antiqua"/>
                <a:sym typeface="Book Antiqua"/>
              </a:defRPr>
            </a:pPr>
            <a:r>
              <a:t>Omissione di soccorso (593)</a:t>
            </a:r>
            <a:endParaRPr sz="2500"/>
          </a:p>
          <a:p>
            <a:pPr marL="0" indent="0" algn="ctr" defTabSz="730250">
              <a:lnSpc>
                <a:spcPct val="72000"/>
              </a:lnSpc>
              <a:buSzTx/>
              <a:buNone/>
              <a:defRPr sz="1700">
                <a:latin typeface="Book Antiqua"/>
                <a:ea typeface="Book Antiqua"/>
                <a:cs typeface="Book Antiqua"/>
                <a:sym typeface="Book Antiqua"/>
              </a:defRPr>
            </a:pPr>
            <a:r>
              <a:t>Ingiuria (594)</a:t>
            </a:r>
            <a:endParaRPr sz="2500"/>
          </a:p>
          <a:p>
            <a:pPr marL="0" indent="0" algn="ctr" defTabSz="730250">
              <a:lnSpc>
                <a:spcPct val="72000"/>
              </a:lnSpc>
              <a:buSzTx/>
              <a:buNone/>
              <a:defRPr sz="1700">
                <a:latin typeface="Book Antiqua"/>
                <a:ea typeface="Book Antiqua"/>
                <a:cs typeface="Book Antiqua"/>
                <a:sym typeface="Book Antiqua"/>
              </a:defRPr>
            </a:pPr>
            <a:r>
              <a:t>Diffamazione (595)</a:t>
            </a:r>
            <a:endParaRPr sz="2500"/>
          </a:p>
          <a:p>
            <a:pPr marL="0" indent="0" algn="ctr" defTabSz="730250">
              <a:lnSpc>
                <a:spcPct val="72000"/>
              </a:lnSpc>
              <a:buSzTx/>
              <a:buNone/>
              <a:defRPr sz="1700">
                <a:latin typeface="Book Antiqua"/>
                <a:ea typeface="Book Antiqua"/>
                <a:cs typeface="Book Antiqua"/>
                <a:sym typeface="Book Antiqua"/>
              </a:defRPr>
            </a:pPr>
            <a:r>
              <a:t>Sequestro di persona (605)</a:t>
            </a:r>
            <a:endParaRPr sz="1900" b="1" u="sng"/>
          </a:p>
          <a:p>
            <a:pPr marL="0" indent="0" algn="ctr" defTabSz="730250">
              <a:lnSpc>
                <a:spcPct val="72000"/>
              </a:lnSpc>
              <a:buSzTx/>
              <a:buNone/>
              <a:defRPr sz="1700">
                <a:latin typeface="Book Antiqua"/>
                <a:ea typeface="Book Antiqua"/>
                <a:cs typeface="Book Antiqua"/>
                <a:sym typeface="Book Antiqua"/>
              </a:defRPr>
            </a:pPr>
            <a:r>
              <a:t>Violenza privata (610)</a:t>
            </a:r>
            <a:endParaRPr sz="2500"/>
          </a:p>
          <a:p>
            <a:pPr marL="0" indent="0" algn="ctr" defTabSz="730250">
              <a:lnSpc>
                <a:spcPct val="72000"/>
              </a:lnSpc>
              <a:buSzTx/>
              <a:buNone/>
              <a:defRPr sz="1700">
                <a:latin typeface="Book Antiqua"/>
                <a:ea typeface="Book Antiqua"/>
                <a:cs typeface="Book Antiqua"/>
                <a:sym typeface="Book Antiqua"/>
              </a:defRPr>
            </a:pPr>
            <a:r>
              <a:t>Minaccia (612)</a:t>
            </a:r>
            <a:endParaRPr sz="2500"/>
          </a:p>
          <a:p>
            <a:pPr marL="0" indent="0" algn="ctr" defTabSz="730250">
              <a:lnSpc>
                <a:spcPct val="72000"/>
              </a:lnSpc>
              <a:buSzTx/>
              <a:buNone/>
              <a:defRPr sz="1700">
                <a:latin typeface="Book Antiqua"/>
                <a:ea typeface="Book Antiqua"/>
                <a:cs typeface="Book Antiqua"/>
                <a:sym typeface="Book Antiqua"/>
              </a:defRPr>
            </a:pPr>
            <a:r>
              <a:t>Violazione di domicilio (614)</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Rectangle 6"/>
          <p:cNvSpPr txBox="1">
            <a:spLocks noGrp="1"/>
          </p:cNvSpPr>
          <p:nvPr>
            <p:ph type="sldNum" sz="quarter" idx="2"/>
          </p:nvPr>
        </p:nvSpPr>
        <p:spPr>
          <a:xfrm>
            <a:off x="8335009" y="6401181"/>
            <a:ext cx="1803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a:t>
            </a:fld>
            <a:endParaRPr/>
          </a:p>
        </p:txBody>
      </p:sp>
      <p:sp>
        <p:nvSpPr>
          <p:cNvPr id="382" name="CasellaDiTesto 5"/>
          <p:cNvSpPr txBox="1"/>
          <p:nvPr/>
        </p:nvSpPr>
        <p:spPr>
          <a:xfrm>
            <a:off x="297239" y="1268759"/>
            <a:ext cx="8549521" cy="41551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400" b="0">
                <a:latin typeface="Times New Roman"/>
                <a:ea typeface="Times New Roman"/>
                <a:cs typeface="Times New Roman"/>
                <a:sym typeface="Times New Roman"/>
              </a:defRPr>
            </a:pPr>
            <a:r>
              <a:t>I </a:t>
            </a:r>
            <a:r>
              <a:rPr b="1" i="1">
                <a:solidFill>
                  <a:srgbClr val="002F8E"/>
                </a:solidFill>
              </a:rPr>
              <a:t>delitti contro la persona</a:t>
            </a:r>
            <a:r>
              <a:t> sono contemplati al Libro II, Titolo XII del codice penale.</a:t>
            </a:r>
          </a:p>
          <a:p>
            <a:pPr algn="just">
              <a:defRPr sz="2400" b="0">
                <a:solidFill>
                  <a:srgbClr val="FF0000"/>
                </a:solidFill>
                <a:latin typeface="Times New Roman"/>
                <a:ea typeface="Times New Roman"/>
                <a:cs typeface="Times New Roman"/>
                <a:sym typeface="Times New Roman"/>
              </a:defRPr>
            </a:pPr>
            <a:r>
              <a:t>Tale collocazione non rispecchia l’importanza attribuita a tali fattispecie: è dovuta al fatto che il codice Rocco è stato concepito in epoca fascista dove al centro di tutto vi era lo Stato.</a:t>
            </a:r>
          </a:p>
          <a:p>
            <a:pPr algn="just">
              <a:defRPr sz="2400" b="0">
                <a:solidFill>
                  <a:srgbClr val="FF0000"/>
                </a:solidFill>
                <a:latin typeface="Times New Roman"/>
                <a:ea typeface="Times New Roman"/>
                <a:cs typeface="Times New Roman"/>
                <a:sym typeface="Times New Roman"/>
              </a:defRPr>
            </a:pPr>
            <a:endParaRPr/>
          </a:p>
          <a:p>
            <a:pPr algn="just">
              <a:spcBef>
                <a:spcPts val="600"/>
              </a:spcBef>
              <a:defRPr sz="2400" b="0">
                <a:latin typeface="Times New Roman"/>
                <a:ea typeface="Times New Roman"/>
                <a:cs typeface="Times New Roman"/>
                <a:sym typeface="Times New Roman"/>
              </a:defRPr>
            </a:pPr>
            <a:r>
              <a:t>Il Titolo XII è a sua volta suddiviso in 4 capi:</a:t>
            </a:r>
          </a:p>
          <a:p>
            <a:pPr marL="457200" indent="-457200" algn="just">
              <a:spcBef>
                <a:spcPts val="600"/>
              </a:spcBef>
              <a:buSzPct val="100000"/>
              <a:buAutoNum type="arabicPeriod"/>
              <a:defRPr sz="2400" b="0">
                <a:latin typeface="Times New Roman"/>
                <a:ea typeface="Times New Roman"/>
                <a:cs typeface="Times New Roman"/>
                <a:sym typeface="Times New Roman"/>
              </a:defRPr>
            </a:pPr>
            <a:r>
              <a:t>Delitti contro la vita e l’incolumità personale;</a:t>
            </a:r>
          </a:p>
          <a:p>
            <a:pPr marL="457200" indent="-457200" algn="just">
              <a:spcBef>
                <a:spcPts val="600"/>
              </a:spcBef>
              <a:buSzPct val="100000"/>
              <a:buAutoNum type="arabicPeriod"/>
              <a:defRPr sz="2400" b="0">
                <a:latin typeface="Times New Roman"/>
                <a:ea typeface="Times New Roman"/>
                <a:cs typeface="Times New Roman"/>
                <a:sym typeface="Times New Roman"/>
              </a:defRPr>
            </a:pPr>
            <a:r>
              <a:t>Delitti contro la maternità;</a:t>
            </a:r>
          </a:p>
          <a:p>
            <a:pPr marL="457200" indent="-457200" algn="just">
              <a:spcBef>
                <a:spcPts val="600"/>
              </a:spcBef>
              <a:buSzPct val="100000"/>
              <a:buAutoNum type="arabicPeriod"/>
              <a:defRPr sz="2400" b="0">
                <a:latin typeface="Times New Roman"/>
                <a:ea typeface="Times New Roman"/>
                <a:cs typeface="Times New Roman"/>
                <a:sym typeface="Times New Roman"/>
              </a:defRPr>
            </a:pPr>
            <a:r>
              <a:t>Delitti contro l’onore;</a:t>
            </a:r>
          </a:p>
          <a:p>
            <a:pPr marL="457200" indent="-457200" algn="just">
              <a:buSzPct val="100000"/>
              <a:buAutoNum type="arabicPeriod"/>
              <a:defRPr sz="2400" b="0">
                <a:latin typeface="Times New Roman"/>
                <a:ea typeface="Times New Roman"/>
                <a:cs typeface="Times New Roman"/>
                <a:sym typeface="Times New Roman"/>
              </a:defRPr>
            </a:pPr>
            <a:r>
              <a:t>Delitti contro la libertà individuale.</a:t>
            </a:r>
          </a:p>
        </p:txBody>
      </p:sp>
      <p:sp>
        <p:nvSpPr>
          <p:cNvPr id="383"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Generalità</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Rectangle 6"/>
          <p:cNvSpPr txBox="1">
            <a:spLocks noGrp="1"/>
          </p:cNvSpPr>
          <p:nvPr>
            <p:ph type="sldNum" sz="quarter" idx="2"/>
          </p:nvPr>
        </p:nvSpPr>
        <p:spPr>
          <a:xfrm>
            <a:off x="8335009" y="6401181"/>
            <a:ext cx="1803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a:t>
            </a:fld>
            <a:endParaRPr/>
          </a:p>
        </p:txBody>
      </p:sp>
      <p:sp>
        <p:nvSpPr>
          <p:cNvPr id="386" name="CasellaDiTesto 5"/>
          <p:cNvSpPr txBox="1"/>
          <p:nvPr/>
        </p:nvSpPr>
        <p:spPr>
          <a:xfrm>
            <a:off x="297239" y="1268759"/>
            <a:ext cx="8549521" cy="41551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400" b="0">
                <a:latin typeface="Times New Roman"/>
                <a:ea typeface="Times New Roman"/>
                <a:cs typeface="Times New Roman"/>
                <a:sym typeface="Times New Roman"/>
              </a:defRPr>
            </a:pPr>
            <a:r>
              <a:t>I </a:t>
            </a:r>
            <a:r>
              <a:rPr b="1" i="1">
                <a:solidFill>
                  <a:srgbClr val="002F8E"/>
                </a:solidFill>
              </a:rPr>
              <a:t>delitti contro la persona</a:t>
            </a:r>
            <a:r>
              <a:t> racchiudono tutti quei fatti-reato che ledono o mettono in pericolo i </a:t>
            </a:r>
            <a:r>
              <a:rPr b="1">
                <a:solidFill>
                  <a:srgbClr val="C00000"/>
                </a:solidFill>
              </a:rPr>
              <a:t>beni fondamentali dell’individuo </a:t>
            </a:r>
            <a:r>
              <a:t>e cioè la </a:t>
            </a:r>
            <a:r>
              <a:rPr b="1">
                <a:solidFill>
                  <a:srgbClr val="C00000"/>
                </a:solidFill>
              </a:rPr>
              <a:t>vita</a:t>
            </a:r>
            <a:r>
              <a:t>, l’</a:t>
            </a:r>
            <a:r>
              <a:rPr b="1">
                <a:solidFill>
                  <a:srgbClr val="C00000"/>
                </a:solidFill>
              </a:rPr>
              <a:t>integrità fisica</a:t>
            </a:r>
            <a:r>
              <a:t>, l’</a:t>
            </a:r>
            <a:r>
              <a:rPr b="1">
                <a:solidFill>
                  <a:srgbClr val="C00000"/>
                </a:solidFill>
              </a:rPr>
              <a:t>onore</a:t>
            </a:r>
            <a:r>
              <a:t> e la </a:t>
            </a:r>
            <a:r>
              <a:rPr b="1">
                <a:solidFill>
                  <a:srgbClr val="C00000"/>
                </a:solidFill>
              </a:rPr>
              <a:t>libertà</a:t>
            </a:r>
            <a:r>
              <a:t> (morale e personale). </a:t>
            </a:r>
          </a:p>
          <a:p>
            <a:pPr algn="just">
              <a:defRPr sz="2400" b="0">
                <a:latin typeface="Times New Roman"/>
                <a:ea typeface="Times New Roman"/>
                <a:cs typeface="Times New Roman"/>
                <a:sym typeface="Times New Roman"/>
              </a:defRPr>
            </a:pPr>
            <a:endParaRPr/>
          </a:p>
          <a:p>
            <a:pPr algn="just">
              <a:spcBef>
                <a:spcPts val="600"/>
              </a:spcBef>
              <a:defRPr sz="2400" b="0">
                <a:latin typeface="Times New Roman"/>
                <a:ea typeface="Times New Roman"/>
                <a:cs typeface="Times New Roman"/>
                <a:sym typeface="Times New Roman"/>
              </a:defRPr>
            </a:pPr>
            <a:r>
              <a:t>I beni tutelati da queste norme sono:</a:t>
            </a:r>
          </a:p>
          <a:p>
            <a:pPr marL="342900" indent="-342900" algn="just">
              <a:spcBef>
                <a:spcPts val="600"/>
              </a:spcBef>
              <a:buSzPct val="100000"/>
              <a:buChar char="❖"/>
              <a:defRPr sz="2400" b="0">
                <a:latin typeface="Times New Roman"/>
                <a:ea typeface="Times New Roman"/>
                <a:cs typeface="Times New Roman"/>
                <a:sym typeface="Times New Roman"/>
              </a:defRPr>
            </a:pPr>
            <a:r>
              <a:t>la vita e l’incolumità individuale;</a:t>
            </a:r>
          </a:p>
          <a:p>
            <a:pPr marL="342900" indent="-342900" algn="just">
              <a:spcBef>
                <a:spcPts val="600"/>
              </a:spcBef>
              <a:buSzPct val="100000"/>
              <a:buChar char="❖"/>
              <a:defRPr sz="2400" b="0">
                <a:latin typeface="Times New Roman"/>
                <a:ea typeface="Times New Roman"/>
                <a:cs typeface="Times New Roman"/>
                <a:sym typeface="Times New Roman"/>
              </a:defRPr>
            </a:pPr>
            <a:r>
              <a:t>l’onore, che riguarda la tutela del decoro e della reputazione;</a:t>
            </a:r>
          </a:p>
          <a:p>
            <a:pPr marL="342900" indent="-342900" algn="just">
              <a:spcBef>
                <a:spcPts val="600"/>
              </a:spcBef>
              <a:buSzPct val="100000"/>
              <a:buChar char="❖"/>
              <a:defRPr sz="2400" b="0">
                <a:latin typeface="Times New Roman"/>
                <a:ea typeface="Times New Roman"/>
                <a:cs typeface="Times New Roman"/>
                <a:sym typeface="Times New Roman"/>
              </a:defRPr>
            </a:pPr>
            <a:r>
              <a:t>la personalità individuale, intesa come libertà morale e la libertà individuale;</a:t>
            </a:r>
          </a:p>
          <a:p>
            <a:pPr marL="342900" indent="-342900" algn="just">
              <a:buSzPct val="100000"/>
              <a:buChar char="❖"/>
              <a:defRPr sz="2400" b="0">
                <a:latin typeface="Times New Roman"/>
                <a:ea typeface="Times New Roman"/>
                <a:cs typeface="Times New Roman"/>
                <a:sym typeface="Times New Roman"/>
              </a:defRPr>
            </a:pPr>
            <a:r>
              <a:t>l’inviolabilità del domicilio e del segreto.</a:t>
            </a:r>
          </a:p>
        </p:txBody>
      </p:sp>
      <p:sp>
        <p:nvSpPr>
          <p:cNvPr id="387"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Generalità</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Rectangle 6"/>
          <p:cNvSpPr txBox="1">
            <a:spLocks noGrp="1"/>
          </p:cNvSpPr>
          <p:nvPr>
            <p:ph type="sldNum" sz="quarter" idx="2"/>
          </p:nvPr>
        </p:nvSpPr>
        <p:spPr>
          <a:xfrm>
            <a:off x="8563610" y="6426579"/>
            <a:ext cx="180340"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sp>
        <p:nvSpPr>
          <p:cNvPr id="390" name="CasellaDiTesto 13"/>
          <p:cNvSpPr txBox="1"/>
          <p:nvPr/>
        </p:nvSpPr>
        <p:spPr>
          <a:xfrm>
            <a:off x="45719" y="1196751"/>
            <a:ext cx="9052561" cy="30783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50000"/>
              </a:lnSpc>
              <a:defRPr sz="2400" b="0">
                <a:latin typeface="Times New Roman"/>
                <a:ea typeface="Times New Roman"/>
                <a:cs typeface="Times New Roman"/>
                <a:sym typeface="Times New Roman"/>
              </a:defRPr>
            </a:pPr>
            <a:r>
              <a:t>Esistono diverse tipologie di omicidio:</a:t>
            </a:r>
          </a:p>
          <a:p>
            <a:pPr marL="342900" indent="-342900" algn="just">
              <a:lnSpc>
                <a:spcPct val="150000"/>
              </a:lnSpc>
              <a:buSzPct val="100000"/>
              <a:buFont typeface="Courier New"/>
              <a:buChar char="o"/>
              <a:defRPr sz="2800">
                <a:solidFill>
                  <a:srgbClr val="FF6600"/>
                </a:solidFill>
                <a:latin typeface="Times New Roman"/>
                <a:ea typeface="Times New Roman"/>
                <a:cs typeface="Times New Roman"/>
                <a:sym typeface="Times New Roman"/>
              </a:defRPr>
            </a:pPr>
            <a:r>
              <a:t>Omicidio doloso ex art. 575 cp</a:t>
            </a:r>
          </a:p>
          <a:p>
            <a:pPr marL="342900" indent="-342900" algn="just">
              <a:lnSpc>
                <a:spcPct val="150000"/>
              </a:lnSpc>
              <a:buSzPct val="100000"/>
              <a:buFont typeface="Courier New"/>
              <a:buChar char="o"/>
              <a:defRPr sz="2800">
                <a:solidFill>
                  <a:srgbClr val="CC0099"/>
                </a:solidFill>
                <a:latin typeface="Times New Roman"/>
                <a:ea typeface="Times New Roman"/>
                <a:cs typeface="Times New Roman"/>
                <a:sym typeface="Times New Roman"/>
              </a:defRPr>
            </a:pPr>
            <a:r>
              <a:t>Omicidio colposo ex art. 589 cp</a:t>
            </a:r>
          </a:p>
          <a:p>
            <a:pPr marL="342900" indent="-342900" algn="just">
              <a:lnSpc>
                <a:spcPct val="150000"/>
              </a:lnSpc>
              <a:buSzPct val="100000"/>
              <a:buFont typeface="Courier New"/>
              <a:buChar char="o"/>
              <a:defRPr sz="2800">
                <a:solidFill>
                  <a:srgbClr val="336600"/>
                </a:solidFill>
                <a:latin typeface="Times New Roman"/>
                <a:ea typeface="Times New Roman"/>
                <a:cs typeface="Times New Roman"/>
                <a:sym typeface="Times New Roman"/>
              </a:defRPr>
            </a:pPr>
            <a:r>
              <a:t>Omicidio preterintenzionale ex art. 584 cp</a:t>
            </a:r>
            <a:endParaRPr b="0">
              <a:solidFill>
                <a:srgbClr val="FF0000"/>
              </a:solidFill>
            </a:endParaRPr>
          </a:p>
          <a:p>
            <a:pPr algn="just">
              <a:defRPr sz="2400" b="0">
                <a:solidFill>
                  <a:srgbClr val="FF0000"/>
                </a:solidFill>
                <a:latin typeface="Times New Roman"/>
                <a:ea typeface="Times New Roman"/>
                <a:cs typeface="Times New Roman"/>
                <a:sym typeface="Times New Roman"/>
              </a:defRPr>
            </a:pPr>
            <a:endParaRPr b="0">
              <a:solidFill>
                <a:srgbClr val="FF0000"/>
              </a:solidFill>
            </a:endParaRPr>
          </a:p>
        </p:txBody>
      </p:sp>
      <p:sp>
        <p:nvSpPr>
          <p:cNvPr id="391"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Rectangle 6"/>
          <p:cNvSpPr txBox="1">
            <a:spLocks noGrp="1"/>
          </p:cNvSpPr>
          <p:nvPr>
            <p:ph type="sldNum" sz="quarter" idx="2"/>
          </p:nvPr>
        </p:nvSpPr>
        <p:spPr>
          <a:xfrm>
            <a:off x="8563610" y="6426579"/>
            <a:ext cx="180340"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sp>
        <p:nvSpPr>
          <p:cNvPr id="394" name="CasellaDiTesto 13"/>
          <p:cNvSpPr txBox="1"/>
          <p:nvPr/>
        </p:nvSpPr>
        <p:spPr>
          <a:xfrm>
            <a:off x="153223" y="1071546"/>
            <a:ext cx="8765545" cy="1452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FF6600"/>
                </a:solidFill>
                <a:latin typeface="Times New Roman"/>
                <a:ea typeface="Times New Roman"/>
                <a:cs typeface="Times New Roman"/>
                <a:sym typeface="Times New Roman"/>
              </a:defRPr>
            </a:pPr>
            <a:r>
              <a:t>Art. 575 c.p. Omicidio doloso</a:t>
            </a:r>
          </a:p>
          <a:p>
            <a:pPr algn="just">
              <a:defRPr sz="2200" b="0">
                <a:latin typeface="Times New Roman"/>
                <a:ea typeface="Times New Roman"/>
                <a:cs typeface="Times New Roman"/>
                <a:sym typeface="Times New Roman"/>
              </a:defRPr>
            </a:pPr>
            <a:r>
              <a:t>«</a:t>
            </a:r>
            <a:r>
              <a:rPr i="1"/>
              <a:t>Chiunque </a:t>
            </a:r>
            <a:r>
              <a:rPr b="1" i="1">
                <a:solidFill>
                  <a:srgbClr val="FF6600"/>
                </a:solidFill>
              </a:rPr>
              <a:t>cagiona la morte di un uomo </a:t>
            </a:r>
            <a:r>
              <a:rPr i="1"/>
              <a:t>è punito con la reclusione non inferiore ad anni ventuno</a:t>
            </a:r>
            <a:r>
              <a:t>.»</a:t>
            </a:r>
          </a:p>
        </p:txBody>
      </p:sp>
      <p:sp>
        <p:nvSpPr>
          <p:cNvPr id="395" name="CasellaDiTesto 1"/>
          <p:cNvSpPr txBox="1"/>
          <p:nvPr/>
        </p:nvSpPr>
        <p:spPr>
          <a:xfrm>
            <a:off x="153223" y="2636911"/>
            <a:ext cx="8837553" cy="20607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b="0">
                <a:latin typeface="Times New Roman"/>
                <a:ea typeface="Times New Roman"/>
                <a:cs typeface="Times New Roman"/>
                <a:sym typeface="Times New Roman"/>
              </a:defRPr>
            </a:pPr>
            <a:r>
              <a:t>Il bene giuridico tutelato è la </a:t>
            </a:r>
            <a:r>
              <a:rPr b="1">
                <a:solidFill>
                  <a:srgbClr val="FF6600"/>
                </a:solidFill>
              </a:rPr>
              <a:t>vita umana</a:t>
            </a:r>
            <a:r>
              <a:t>, sia come diritto individuale del singolo, sia come interesse della collettività              </a:t>
            </a:r>
            <a:r>
              <a:rPr b="1">
                <a:solidFill>
                  <a:srgbClr val="FF0000"/>
                </a:solidFill>
              </a:rPr>
              <a:t>diritto indisponibile</a:t>
            </a:r>
          </a:p>
          <a:p>
            <a:pPr algn="just">
              <a:defRPr sz="2200" b="0">
                <a:latin typeface="Times New Roman"/>
                <a:ea typeface="Times New Roman"/>
                <a:cs typeface="Times New Roman"/>
                <a:sym typeface="Times New Roman"/>
              </a:defRPr>
            </a:pPr>
            <a:endParaRPr b="1">
              <a:solidFill>
                <a:srgbClr val="FF0000"/>
              </a:solidFill>
            </a:endParaRPr>
          </a:p>
          <a:p>
            <a:pPr algn="just">
              <a:defRPr sz="2200" b="0">
                <a:latin typeface="Times New Roman"/>
                <a:ea typeface="Times New Roman"/>
                <a:cs typeface="Times New Roman"/>
                <a:sym typeface="Times New Roman"/>
              </a:defRPr>
            </a:pPr>
            <a:r>
              <a:t>Una persona si considera vivente dal momento del distacco dall’utero materno, motivo per cui il </a:t>
            </a:r>
            <a:r>
              <a:rPr b="1" i="1"/>
              <a:t>procurato aborto </a:t>
            </a:r>
            <a:r>
              <a:t>non è da intendersi come tipologia di omicidio.</a:t>
            </a:r>
          </a:p>
        </p:txBody>
      </p:sp>
      <p:sp>
        <p:nvSpPr>
          <p:cNvPr id="396" name="Freccia in giù 3"/>
          <p:cNvSpPr/>
          <p:nvPr/>
        </p:nvSpPr>
        <p:spPr>
          <a:xfrm>
            <a:off x="4286248" y="2143116"/>
            <a:ext cx="323876" cy="519739"/>
          </a:xfrm>
          <a:custGeom>
            <a:avLst/>
            <a:gdLst/>
            <a:ahLst/>
            <a:cxnLst>
              <a:cxn ang="0">
                <a:pos x="wd2" y="hd2"/>
              </a:cxn>
              <a:cxn ang="5400000">
                <a:pos x="wd2" y="hd2"/>
              </a:cxn>
              <a:cxn ang="10800000">
                <a:pos x="wd2" y="hd2"/>
              </a:cxn>
              <a:cxn ang="16200000">
                <a:pos x="wd2" y="hd2"/>
              </a:cxn>
            </a:cxnLst>
            <a:rect l="0" t="0" r="r" b="b"/>
            <a:pathLst>
              <a:path w="21600" h="21600" extrusionOk="0">
                <a:moveTo>
                  <a:pt x="0" y="14870"/>
                </a:moveTo>
                <a:lnTo>
                  <a:pt x="5400" y="14870"/>
                </a:lnTo>
                <a:lnTo>
                  <a:pt x="5400" y="0"/>
                </a:lnTo>
                <a:lnTo>
                  <a:pt x="16200" y="0"/>
                </a:lnTo>
                <a:lnTo>
                  <a:pt x="16200" y="14870"/>
                </a:lnTo>
                <a:lnTo>
                  <a:pt x="21600" y="14870"/>
                </a:lnTo>
                <a:lnTo>
                  <a:pt x="10800" y="21600"/>
                </a:lnTo>
                <a:close/>
              </a:path>
            </a:pathLst>
          </a:custGeom>
          <a:solidFill>
            <a:srgbClr val="FF0000"/>
          </a:solidFill>
          <a:ln w="12700">
            <a:miter lim="400000"/>
          </a:ln>
        </p:spPr>
        <p:txBody>
          <a:bodyPr lIns="45719" rIns="45719"/>
          <a:lstStyle/>
          <a:p>
            <a:pPr algn="ctr">
              <a:defRPr>
                <a:latin typeface="Times New Roman"/>
                <a:ea typeface="Times New Roman"/>
                <a:cs typeface="Times New Roman"/>
                <a:sym typeface="Times New Roman"/>
              </a:defRPr>
            </a:pPr>
            <a:endParaRPr/>
          </a:p>
        </p:txBody>
      </p:sp>
      <p:sp>
        <p:nvSpPr>
          <p:cNvPr id="397" name="Freccia in giù 8"/>
          <p:cNvSpPr/>
          <p:nvPr/>
        </p:nvSpPr>
        <p:spPr>
          <a:xfrm rot="16200000">
            <a:off x="5441226" y="2919813"/>
            <a:ext cx="277773" cy="576066"/>
          </a:xfrm>
          <a:custGeom>
            <a:avLst/>
            <a:gdLst/>
            <a:ahLst/>
            <a:cxnLst>
              <a:cxn ang="0">
                <a:pos x="wd2" y="hd2"/>
              </a:cxn>
              <a:cxn ang="5400000">
                <a:pos x="wd2" y="hd2"/>
              </a:cxn>
              <a:cxn ang="10800000">
                <a:pos x="wd2" y="hd2"/>
              </a:cxn>
              <a:cxn ang="16200000">
                <a:pos x="wd2" y="hd2"/>
              </a:cxn>
            </a:cxnLst>
            <a:rect l="0" t="0" r="r" b="b"/>
            <a:pathLst>
              <a:path w="21600" h="21600" extrusionOk="0">
                <a:moveTo>
                  <a:pt x="0" y="16392"/>
                </a:moveTo>
                <a:lnTo>
                  <a:pt x="5400" y="16392"/>
                </a:lnTo>
                <a:lnTo>
                  <a:pt x="5400" y="0"/>
                </a:lnTo>
                <a:lnTo>
                  <a:pt x="16200" y="0"/>
                </a:lnTo>
                <a:lnTo>
                  <a:pt x="16200" y="16392"/>
                </a:lnTo>
                <a:lnTo>
                  <a:pt x="21600" y="16392"/>
                </a:lnTo>
                <a:lnTo>
                  <a:pt x="10800" y="21600"/>
                </a:lnTo>
                <a:close/>
              </a:path>
            </a:pathLst>
          </a:custGeom>
          <a:solidFill>
            <a:srgbClr val="FF0000"/>
          </a:solidFill>
          <a:ln w="12700">
            <a:miter lim="400000"/>
          </a:ln>
        </p:spPr>
        <p:txBody>
          <a:bodyPr lIns="45719" rIns="45719"/>
          <a:lstStyle/>
          <a:p>
            <a:pPr algn="ctr">
              <a:defRPr>
                <a:latin typeface="Times New Roman"/>
                <a:ea typeface="Times New Roman"/>
                <a:cs typeface="Times New Roman"/>
                <a:sym typeface="Times New Roman"/>
              </a:defRPr>
            </a:pPr>
            <a:endParaRPr/>
          </a:p>
        </p:txBody>
      </p:sp>
      <p:sp>
        <p:nvSpPr>
          <p:cNvPr id="398"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doloso</a:t>
            </a:r>
          </a:p>
        </p:txBody>
      </p:sp>
      <p:sp>
        <p:nvSpPr>
          <p:cNvPr id="399" name="Rettangolo 9"/>
          <p:cNvSpPr/>
          <p:nvPr/>
        </p:nvSpPr>
        <p:spPr>
          <a:xfrm>
            <a:off x="3667257" y="4896873"/>
            <a:ext cx="4700721" cy="1708210"/>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14000"/>
              </a:lnSpc>
              <a:defRPr sz="20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Competenza Corte d’Assise</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Arresto obbligatorio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Fermo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Procedibilità d’ufficio</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Rectangle 6"/>
          <p:cNvSpPr txBox="1">
            <a:spLocks noGrp="1"/>
          </p:cNvSpPr>
          <p:nvPr>
            <p:ph type="sldNum" sz="quarter" idx="2"/>
          </p:nvPr>
        </p:nvSpPr>
        <p:spPr>
          <a:xfrm>
            <a:off x="8563610" y="6426579"/>
            <a:ext cx="180340"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sp>
        <p:nvSpPr>
          <p:cNvPr id="402" name="CasellaDiTesto 13"/>
          <p:cNvSpPr txBox="1"/>
          <p:nvPr/>
        </p:nvSpPr>
        <p:spPr>
          <a:xfrm>
            <a:off x="153223" y="1071546"/>
            <a:ext cx="8765545" cy="11590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FF6600"/>
                </a:solidFill>
                <a:latin typeface="Times New Roman"/>
                <a:ea typeface="Times New Roman"/>
                <a:cs typeface="Times New Roman"/>
                <a:sym typeface="Times New Roman"/>
              </a:defRPr>
            </a:pPr>
            <a:r>
              <a:t>Art. 575 c.p. Omicidio doloso</a:t>
            </a:r>
          </a:p>
          <a:p>
            <a:pPr algn="just">
              <a:defRPr sz="2200" b="0">
                <a:latin typeface="Times New Roman"/>
                <a:ea typeface="Times New Roman"/>
                <a:cs typeface="Times New Roman"/>
                <a:sym typeface="Times New Roman"/>
              </a:defRPr>
            </a:pPr>
            <a:r>
              <a:t>«</a:t>
            </a:r>
            <a:r>
              <a:rPr i="1"/>
              <a:t>Chiunque </a:t>
            </a:r>
            <a:r>
              <a:rPr b="1" i="1">
                <a:solidFill>
                  <a:srgbClr val="FF6600"/>
                </a:solidFill>
              </a:rPr>
              <a:t>cagiona la morte di un uomo </a:t>
            </a:r>
            <a:r>
              <a:rPr i="1"/>
              <a:t>è punito con la reclusione non inferiore ad anni ventuno</a:t>
            </a:r>
            <a:r>
              <a:t>.»</a:t>
            </a:r>
          </a:p>
        </p:txBody>
      </p:sp>
      <p:sp>
        <p:nvSpPr>
          <p:cNvPr id="403" name="CasellaDiTesto 1"/>
          <p:cNvSpPr txBox="1"/>
          <p:nvPr/>
        </p:nvSpPr>
        <p:spPr>
          <a:xfrm>
            <a:off x="153223" y="2420888"/>
            <a:ext cx="8837553" cy="3673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a:solidFill>
                  <a:srgbClr val="FF6600"/>
                </a:solidFill>
                <a:latin typeface="Times New Roman"/>
                <a:ea typeface="Times New Roman"/>
                <a:cs typeface="Times New Roman"/>
                <a:sym typeface="Times New Roman"/>
              </a:defRPr>
            </a:pPr>
            <a:r>
              <a:t>REATO COMUNE</a:t>
            </a:r>
            <a:r>
              <a:rPr>
                <a:solidFill>
                  <a:srgbClr val="000000"/>
                </a:solidFill>
              </a:rPr>
              <a:t>: </a:t>
            </a:r>
            <a:r>
              <a:rPr i="1">
                <a:solidFill>
                  <a:srgbClr val="000000"/>
                </a:solidFill>
              </a:rPr>
              <a:t>chiunque</a:t>
            </a:r>
            <a:r>
              <a:rPr b="0">
                <a:solidFill>
                  <a:srgbClr val="000000"/>
                </a:solidFill>
              </a:rPr>
              <a:t> può essere il soggetto attivo</a:t>
            </a:r>
          </a:p>
          <a:p>
            <a:pPr algn="just">
              <a:defRPr sz="2000" b="0">
                <a:latin typeface="Times New Roman"/>
                <a:ea typeface="Times New Roman"/>
                <a:cs typeface="Times New Roman"/>
                <a:sym typeface="Times New Roman"/>
              </a:defRPr>
            </a:pPr>
            <a:endParaRPr b="0">
              <a:solidFill>
                <a:srgbClr val="000000"/>
              </a:solidFill>
            </a:endParaRPr>
          </a:p>
          <a:p>
            <a:pPr algn="just">
              <a:spcBef>
                <a:spcPts val="600"/>
              </a:spcBef>
              <a:defRPr sz="2200" u="sng">
                <a:solidFill>
                  <a:srgbClr val="FF6600"/>
                </a:solidFill>
                <a:latin typeface="Times New Roman"/>
                <a:ea typeface="Times New Roman"/>
                <a:cs typeface="Times New Roman"/>
                <a:sym typeface="Times New Roman"/>
              </a:defRPr>
            </a:pPr>
            <a:r>
              <a:t>ELEMENTO OGGETTIVO</a:t>
            </a:r>
            <a:r>
              <a:rPr u="none">
                <a:solidFill>
                  <a:srgbClr val="000000"/>
                </a:solidFill>
              </a:rPr>
              <a:t>:</a:t>
            </a:r>
          </a:p>
          <a:p>
            <a:pPr marL="174625" indent="-174625" algn="just">
              <a:spcBef>
                <a:spcPts val="600"/>
              </a:spcBef>
              <a:buSzPct val="100000"/>
              <a:buChar char="-"/>
              <a:defRPr sz="2200" b="0" cap="small">
                <a:latin typeface="Times New Roman"/>
                <a:ea typeface="Times New Roman"/>
                <a:cs typeface="Times New Roman"/>
                <a:sym typeface="Times New Roman"/>
              </a:defRPr>
            </a:pPr>
            <a:r>
              <a:t>condotta</a:t>
            </a:r>
            <a:r>
              <a:rPr cap="none"/>
              <a:t>: </a:t>
            </a:r>
            <a:r>
              <a:rPr b="1" cap="none"/>
              <a:t>cagionare</a:t>
            </a:r>
            <a:r>
              <a:rPr cap="none"/>
              <a:t> la morte di un uomo -con un’azione od omissione</a:t>
            </a:r>
          </a:p>
          <a:p>
            <a:pPr marL="174625" indent="-174625" algn="just">
              <a:spcBef>
                <a:spcPts val="600"/>
              </a:spcBef>
              <a:buSzPct val="100000"/>
              <a:buChar char="-"/>
              <a:defRPr sz="2200" b="0" cap="small">
                <a:latin typeface="Times New Roman"/>
                <a:ea typeface="Times New Roman"/>
                <a:cs typeface="Times New Roman"/>
                <a:sym typeface="Times New Roman"/>
              </a:defRPr>
            </a:pPr>
            <a:r>
              <a:t>evento</a:t>
            </a:r>
            <a:r>
              <a:rPr cap="none"/>
              <a:t>: la </a:t>
            </a:r>
            <a:r>
              <a:rPr b="1" cap="none"/>
              <a:t>morte</a:t>
            </a:r>
            <a:r>
              <a:rPr cap="none"/>
              <a:t> di un uomo ovvero la </a:t>
            </a:r>
            <a:r>
              <a:rPr b="1" cap="none"/>
              <a:t>cessazione irreversibile di tutte le funzioni dell’encefalo</a:t>
            </a:r>
            <a:r>
              <a:rPr cap="none"/>
              <a:t>.</a:t>
            </a:r>
          </a:p>
          <a:p>
            <a:pPr marL="174625" indent="-174625" algn="just">
              <a:buSzPct val="100000"/>
              <a:buChar char="-"/>
              <a:defRPr sz="2200" b="0" cap="small">
                <a:latin typeface="Times New Roman"/>
                <a:ea typeface="Times New Roman"/>
                <a:cs typeface="Times New Roman"/>
                <a:sym typeface="Times New Roman"/>
              </a:defRPr>
            </a:pPr>
            <a:r>
              <a:t>nesso di causalità</a:t>
            </a:r>
            <a:r>
              <a:rPr cap="none"/>
              <a:t>: è necessario un </a:t>
            </a:r>
            <a:r>
              <a:rPr b="1" cap="none"/>
              <a:t>rapporto causale </a:t>
            </a:r>
            <a:r>
              <a:rPr cap="none"/>
              <a:t>tra condotta e l’evento morte</a:t>
            </a:r>
          </a:p>
          <a:p>
            <a:pPr algn="just">
              <a:defRPr sz="1000" b="0">
                <a:latin typeface="Times New Roman"/>
                <a:ea typeface="Times New Roman"/>
                <a:cs typeface="Times New Roman"/>
                <a:sym typeface="Times New Roman"/>
              </a:defRPr>
            </a:pPr>
            <a:endParaRPr cap="none"/>
          </a:p>
          <a:p>
            <a:pPr algn="just">
              <a:defRPr sz="2000" b="0">
                <a:latin typeface="Times New Roman"/>
                <a:ea typeface="Times New Roman"/>
                <a:cs typeface="Times New Roman"/>
                <a:sym typeface="Times New Roman"/>
              </a:defRPr>
            </a:pPr>
            <a:endParaRPr cap="none"/>
          </a:p>
          <a:p>
            <a:pPr algn="just">
              <a:defRPr sz="2200">
                <a:solidFill>
                  <a:srgbClr val="FF6600"/>
                </a:solidFill>
                <a:latin typeface="Times New Roman"/>
                <a:ea typeface="Times New Roman"/>
                <a:cs typeface="Times New Roman"/>
                <a:sym typeface="Times New Roman"/>
              </a:defRPr>
            </a:pPr>
            <a:r>
              <a:t>REATO DI DANNO, DI EVENTO, A FORMA LIBERA.</a:t>
            </a:r>
          </a:p>
        </p:txBody>
      </p:sp>
      <p:sp>
        <p:nvSpPr>
          <p:cNvPr id="404"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doloso</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Rectangle 6"/>
          <p:cNvSpPr txBox="1">
            <a:spLocks noGrp="1"/>
          </p:cNvSpPr>
          <p:nvPr>
            <p:ph type="sldNum" sz="quarter" idx="2"/>
          </p:nvPr>
        </p:nvSpPr>
        <p:spPr>
          <a:xfrm>
            <a:off x="8563610" y="6426579"/>
            <a:ext cx="180340"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8</a:t>
            </a:fld>
            <a:endParaRPr/>
          </a:p>
        </p:txBody>
      </p:sp>
      <p:sp>
        <p:nvSpPr>
          <p:cNvPr id="407" name="CasellaDiTesto 13"/>
          <p:cNvSpPr txBox="1"/>
          <p:nvPr/>
        </p:nvSpPr>
        <p:spPr>
          <a:xfrm>
            <a:off x="225231" y="1071546"/>
            <a:ext cx="8693537" cy="4372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u="sng">
                <a:solidFill>
                  <a:srgbClr val="FF6600"/>
                </a:solidFill>
                <a:latin typeface="Times New Roman"/>
                <a:ea typeface="Times New Roman"/>
                <a:cs typeface="Times New Roman"/>
                <a:sym typeface="Times New Roman"/>
              </a:defRPr>
            </a:pPr>
            <a:r>
              <a:rPr dirty="0"/>
              <a:t>ELEMENTO SOGGETTIVO</a:t>
            </a:r>
            <a:r>
              <a:rPr b="0" u="none" dirty="0">
                <a:solidFill>
                  <a:srgbClr val="000000"/>
                </a:solidFill>
              </a:rPr>
              <a:t>: </a:t>
            </a:r>
            <a:r>
              <a:rPr b="0" u="none" dirty="0" err="1">
                <a:solidFill>
                  <a:srgbClr val="000000"/>
                </a:solidFill>
              </a:rPr>
              <a:t>occorre</a:t>
            </a:r>
            <a:r>
              <a:rPr b="0" u="none" dirty="0">
                <a:solidFill>
                  <a:srgbClr val="000000"/>
                </a:solidFill>
              </a:rPr>
              <a:t> </a:t>
            </a:r>
            <a:r>
              <a:rPr b="0" u="none" dirty="0" err="1">
                <a:solidFill>
                  <a:srgbClr val="000000"/>
                </a:solidFill>
              </a:rPr>
              <a:t>il</a:t>
            </a:r>
            <a:r>
              <a:rPr b="0" u="none" dirty="0"/>
              <a:t> </a:t>
            </a:r>
            <a:r>
              <a:rPr u="none" dirty="0"/>
              <a:t>DOLO GENERICO</a:t>
            </a:r>
            <a:r>
              <a:rPr b="0" u="none" dirty="0">
                <a:solidFill>
                  <a:srgbClr val="000000"/>
                </a:solidFill>
              </a:rPr>
              <a:t>, </a:t>
            </a:r>
            <a:r>
              <a:rPr b="0" u="none" dirty="0" err="1">
                <a:solidFill>
                  <a:srgbClr val="000000"/>
                </a:solidFill>
              </a:rPr>
              <a:t>consistente</a:t>
            </a:r>
            <a:r>
              <a:rPr b="0" u="none" dirty="0">
                <a:solidFill>
                  <a:srgbClr val="000000"/>
                </a:solidFill>
              </a:rPr>
              <a:t> </a:t>
            </a:r>
            <a:r>
              <a:rPr b="0" u="none" dirty="0" err="1">
                <a:solidFill>
                  <a:srgbClr val="000000"/>
                </a:solidFill>
              </a:rPr>
              <a:t>nella</a:t>
            </a:r>
            <a:r>
              <a:rPr b="0" u="none" dirty="0">
                <a:solidFill>
                  <a:srgbClr val="000000"/>
                </a:solidFill>
              </a:rPr>
              <a:t> </a:t>
            </a:r>
            <a:r>
              <a:rPr b="0" u="none" dirty="0" err="1">
                <a:solidFill>
                  <a:srgbClr val="000000"/>
                </a:solidFill>
              </a:rPr>
              <a:t>coscienza</a:t>
            </a:r>
            <a:r>
              <a:rPr b="0" u="none" dirty="0">
                <a:solidFill>
                  <a:srgbClr val="000000"/>
                </a:solidFill>
              </a:rPr>
              <a:t> e </a:t>
            </a:r>
            <a:r>
              <a:rPr b="0" u="none" dirty="0" err="1">
                <a:solidFill>
                  <a:srgbClr val="000000"/>
                </a:solidFill>
              </a:rPr>
              <a:t>volontà</a:t>
            </a:r>
            <a:r>
              <a:rPr b="0" u="none" dirty="0">
                <a:solidFill>
                  <a:srgbClr val="000000"/>
                </a:solidFill>
              </a:rPr>
              <a:t> di </a:t>
            </a:r>
            <a:r>
              <a:rPr b="0" u="none" dirty="0" err="1">
                <a:solidFill>
                  <a:srgbClr val="000000"/>
                </a:solidFill>
              </a:rPr>
              <a:t>causare</a:t>
            </a:r>
            <a:r>
              <a:rPr b="0" u="none" dirty="0">
                <a:solidFill>
                  <a:srgbClr val="000000"/>
                </a:solidFill>
              </a:rPr>
              <a:t> </a:t>
            </a:r>
            <a:r>
              <a:rPr b="0" u="none" dirty="0" err="1">
                <a:solidFill>
                  <a:srgbClr val="000000"/>
                </a:solidFill>
              </a:rPr>
              <a:t>l’evento</a:t>
            </a:r>
            <a:r>
              <a:rPr b="0" u="none" dirty="0">
                <a:solidFill>
                  <a:srgbClr val="000000"/>
                </a:solidFill>
              </a:rPr>
              <a:t> </a:t>
            </a:r>
            <a:r>
              <a:rPr b="0" u="none" dirty="0" err="1">
                <a:solidFill>
                  <a:srgbClr val="000000"/>
                </a:solidFill>
              </a:rPr>
              <a:t>morte</a:t>
            </a:r>
            <a:r>
              <a:rPr b="0" u="none" dirty="0">
                <a:solidFill>
                  <a:srgbClr val="000000"/>
                </a:solidFill>
              </a:rPr>
              <a:t>, </a:t>
            </a:r>
            <a:r>
              <a:rPr b="0" u="none" dirty="0" err="1">
                <a:solidFill>
                  <a:srgbClr val="000000"/>
                </a:solidFill>
              </a:rPr>
              <a:t>ricomprendendo</a:t>
            </a:r>
            <a:r>
              <a:rPr b="0" u="none" dirty="0">
                <a:solidFill>
                  <a:srgbClr val="000000"/>
                </a:solidFill>
              </a:rPr>
              <a:t> le </a:t>
            </a:r>
            <a:r>
              <a:rPr b="0" u="none" dirty="0" err="1">
                <a:solidFill>
                  <a:srgbClr val="000000"/>
                </a:solidFill>
              </a:rPr>
              <a:t>ipotesi</a:t>
            </a:r>
            <a:r>
              <a:rPr b="0" u="none" dirty="0">
                <a:solidFill>
                  <a:srgbClr val="000000"/>
                </a:solidFill>
              </a:rPr>
              <a:t> di </a:t>
            </a:r>
            <a:r>
              <a:rPr b="0" u="none" dirty="0" err="1">
                <a:solidFill>
                  <a:srgbClr val="000000"/>
                </a:solidFill>
              </a:rPr>
              <a:t>dolo</a:t>
            </a:r>
            <a:r>
              <a:rPr b="0" u="none" dirty="0">
                <a:solidFill>
                  <a:srgbClr val="000000"/>
                </a:solidFill>
              </a:rPr>
              <a:t> </a:t>
            </a:r>
            <a:r>
              <a:rPr b="0" u="none" dirty="0" err="1">
                <a:solidFill>
                  <a:srgbClr val="000000"/>
                </a:solidFill>
              </a:rPr>
              <a:t>intenzionale</a:t>
            </a:r>
            <a:r>
              <a:rPr b="0" u="none" dirty="0">
                <a:solidFill>
                  <a:srgbClr val="000000"/>
                </a:solidFill>
              </a:rPr>
              <a:t>, </a:t>
            </a:r>
            <a:r>
              <a:rPr b="0" u="none" dirty="0" err="1">
                <a:solidFill>
                  <a:srgbClr val="000000"/>
                </a:solidFill>
              </a:rPr>
              <a:t>diretto</a:t>
            </a:r>
            <a:r>
              <a:rPr b="0" u="none" dirty="0">
                <a:solidFill>
                  <a:srgbClr val="000000"/>
                </a:solidFill>
              </a:rPr>
              <a:t> ed </a:t>
            </a:r>
            <a:r>
              <a:rPr b="0" u="none" dirty="0" err="1">
                <a:solidFill>
                  <a:srgbClr val="000000"/>
                </a:solidFill>
              </a:rPr>
              <a:t>eventuale</a:t>
            </a:r>
            <a:r>
              <a:rPr b="0" u="none" dirty="0">
                <a:solidFill>
                  <a:srgbClr val="000000"/>
                </a:solidFill>
              </a:rPr>
              <a:t>.</a:t>
            </a:r>
          </a:p>
          <a:p>
            <a:pPr algn="just">
              <a:defRPr sz="2200" u="sng">
                <a:solidFill>
                  <a:srgbClr val="FF6600"/>
                </a:solidFill>
                <a:latin typeface="Times New Roman"/>
                <a:ea typeface="Times New Roman"/>
                <a:cs typeface="Times New Roman"/>
                <a:sym typeface="Times New Roman"/>
              </a:defRPr>
            </a:pPr>
            <a:endParaRPr b="0" u="none" dirty="0">
              <a:solidFill>
                <a:srgbClr val="000000"/>
              </a:solidFill>
            </a:endParaRPr>
          </a:p>
          <a:p>
            <a:pPr algn="just">
              <a:defRPr sz="2200" u="sng">
                <a:solidFill>
                  <a:srgbClr val="FF6600"/>
                </a:solidFill>
                <a:latin typeface="Times New Roman"/>
                <a:ea typeface="Times New Roman"/>
                <a:cs typeface="Times New Roman"/>
                <a:sym typeface="Times New Roman"/>
              </a:defRPr>
            </a:pPr>
            <a:endParaRPr b="0" u="none" dirty="0">
              <a:solidFill>
                <a:srgbClr val="000000"/>
              </a:solidFill>
            </a:endParaRPr>
          </a:p>
          <a:p>
            <a:pPr marL="220578" indent="-220578" algn="just">
              <a:buSzPct val="100000"/>
              <a:buChar char="-"/>
              <a:defRPr sz="2200" u="sng">
                <a:solidFill>
                  <a:srgbClr val="FF6600"/>
                </a:solidFill>
                <a:latin typeface="Times New Roman"/>
                <a:ea typeface="Times New Roman"/>
                <a:cs typeface="Times New Roman"/>
                <a:sym typeface="Times New Roman"/>
              </a:defRPr>
            </a:pPr>
            <a:r>
              <a:rPr u="none" dirty="0" err="1">
                <a:solidFill>
                  <a:srgbClr val="000000"/>
                </a:solidFill>
              </a:rPr>
              <a:t>Dolo</a:t>
            </a:r>
            <a:r>
              <a:rPr b="0" u="none" dirty="0">
                <a:solidFill>
                  <a:srgbClr val="000000"/>
                </a:solidFill>
              </a:rPr>
              <a:t> </a:t>
            </a:r>
            <a:r>
              <a:rPr u="none" dirty="0" err="1">
                <a:solidFill>
                  <a:srgbClr val="000000"/>
                </a:solidFill>
              </a:rPr>
              <a:t>intenzionale</a:t>
            </a:r>
            <a:r>
              <a:rPr b="0" u="none" dirty="0">
                <a:solidFill>
                  <a:srgbClr val="000000"/>
                </a:solidFill>
              </a:rPr>
              <a:t>: </a:t>
            </a:r>
            <a:r>
              <a:rPr b="0" u="none" dirty="0" err="1">
                <a:solidFill>
                  <a:srgbClr val="000000"/>
                </a:solidFill>
              </a:rPr>
              <a:t>l’evento</a:t>
            </a:r>
            <a:r>
              <a:rPr b="0" u="none" dirty="0">
                <a:solidFill>
                  <a:srgbClr val="000000"/>
                </a:solidFill>
              </a:rPr>
              <a:t>=</a:t>
            </a:r>
            <a:r>
              <a:rPr b="0" u="none" dirty="0" err="1">
                <a:solidFill>
                  <a:srgbClr val="000000"/>
                </a:solidFill>
              </a:rPr>
              <a:t>Morte</a:t>
            </a:r>
            <a:r>
              <a:rPr b="0" u="none" dirty="0">
                <a:solidFill>
                  <a:srgbClr val="000000"/>
                </a:solidFill>
              </a:rPr>
              <a:t>  - è lo </a:t>
            </a:r>
            <a:r>
              <a:rPr b="0" u="none" dirty="0" err="1">
                <a:solidFill>
                  <a:srgbClr val="000000"/>
                </a:solidFill>
              </a:rPr>
              <a:t>scopo</a:t>
            </a:r>
            <a:r>
              <a:rPr b="0" u="none" dirty="0">
                <a:solidFill>
                  <a:srgbClr val="000000"/>
                </a:solidFill>
              </a:rPr>
              <a:t> finale </a:t>
            </a:r>
            <a:r>
              <a:rPr b="0" u="none" dirty="0" err="1">
                <a:solidFill>
                  <a:srgbClr val="000000"/>
                </a:solidFill>
              </a:rPr>
              <a:t>della</a:t>
            </a:r>
            <a:r>
              <a:rPr b="0" u="none" dirty="0">
                <a:solidFill>
                  <a:srgbClr val="000000"/>
                </a:solidFill>
              </a:rPr>
              <a:t> </a:t>
            </a:r>
            <a:r>
              <a:rPr b="0" u="none" dirty="0" err="1">
                <a:solidFill>
                  <a:srgbClr val="000000"/>
                </a:solidFill>
              </a:rPr>
              <a:t>condotta</a:t>
            </a:r>
            <a:r>
              <a:rPr b="0" u="none" dirty="0">
                <a:solidFill>
                  <a:srgbClr val="000000"/>
                </a:solidFill>
              </a:rPr>
              <a:t>/ mezzo </a:t>
            </a:r>
            <a:r>
              <a:rPr b="0" u="none" dirty="0" err="1">
                <a:solidFill>
                  <a:srgbClr val="000000"/>
                </a:solidFill>
              </a:rPr>
              <a:t>necessario</a:t>
            </a:r>
            <a:r>
              <a:rPr b="0" u="none" dirty="0">
                <a:solidFill>
                  <a:srgbClr val="000000"/>
                </a:solidFill>
              </a:rPr>
              <a:t> per </a:t>
            </a:r>
            <a:r>
              <a:rPr b="0" u="none" dirty="0" err="1">
                <a:solidFill>
                  <a:srgbClr val="000000"/>
                </a:solidFill>
              </a:rPr>
              <a:t>ottenere</a:t>
            </a:r>
            <a:r>
              <a:rPr b="0" u="none" dirty="0">
                <a:solidFill>
                  <a:srgbClr val="000000"/>
                </a:solidFill>
              </a:rPr>
              <a:t> un </a:t>
            </a:r>
            <a:r>
              <a:rPr b="0" u="none" dirty="0" err="1">
                <a:solidFill>
                  <a:srgbClr val="000000"/>
                </a:solidFill>
              </a:rPr>
              <a:t>risultato</a:t>
            </a:r>
            <a:r>
              <a:rPr b="0" u="none" dirty="0">
                <a:solidFill>
                  <a:srgbClr val="000000"/>
                </a:solidFill>
              </a:rPr>
              <a:t> </a:t>
            </a:r>
            <a:r>
              <a:rPr b="0" u="none" dirty="0" err="1">
                <a:solidFill>
                  <a:srgbClr val="000000"/>
                </a:solidFill>
              </a:rPr>
              <a:t>ulteriore</a:t>
            </a:r>
            <a:r>
              <a:rPr b="0" u="none" dirty="0">
                <a:solidFill>
                  <a:srgbClr val="000000"/>
                </a:solidFill>
              </a:rPr>
              <a:t>;</a:t>
            </a:r>
          </a:p>
          <a:p>
            <a:pPr algn="just">
              <a:defRPr sz="2200" u="sng">
                <a:solidFill>
                  <a:srgbClr val="FF6600"/>
                </a:solidFill>
                <a:latin typeface="Times New Roman"/>
                <a:ea typeface="Times New Roman"/>
                <a:cs typeface="Times New Roman"/>
                <a:sym typeface="Times New Roman"/>
              </a:defRPr>
            </a:pPr>
            <a:endParaRPr b="0" u="none" dirty="0">
              <a:solidFill>
                <a:srgbClr val="000000"/>
              </a:solidFill>
            </a:endParaRPr>
          </a:p>
          <a:p>
            <a:pPr marL="220578" indent="-220578" algn="just">
              <a:buSzPct val="100000"/>
              <a:buChar char="-"/>
              <a:defRPr sz="2200" u="sng">
                <a:solidFill>
                  <a:srgbClr val="FF6600"/>
                </a:solidFill>
                <a:latin typeface="Times New Roman"/>
                <a:ea typeface="Times New Roman"/>
                <a:cs typeface="Times New Roman"/>
                <a:sym typeface="Times New Roman"/>
              </a:defRPr>
            </a:pPr>
            <a:r>
              <a:rPr u="none" dirty="0" err="1">
                <a:solidFill>
                  <a:srgbClr val="000000"/>
                </a:solidFill>
              </a:rPr>
              <a:t>Dolo</a:t>
            </a:r>
            <a:r>
              <a:rPr u="none" dirty="0">
                <a:solidFill>
                  <a:srgbClr val="000000"/>
                </a:solidFill>
              </a:rPr>
              <a:t> </a:t>
            </a:r>
            <a:r>
              <a:rPr u="none" dirty="0" err="1">
                <a:solidFill>
                  <a:srgbClr val="000000"/>
                </a:solidFill>
              </a:rPr>
              <a:t>diretto</a:t>
            </a:r>
            <a:r>
              <a:rPr u="none" dirty="0">
                <a:solidFill>
                  <a:srgbClr val="000000"/>
                </a:solidFill>
              </a:rPr>
              <a:t>:</a:t>
            </a:r>
            <a:r>
              <a:rPr b="0" u="none" dirty="0">
                <a:solidFill>
                  <a:srgbClr val="000000"/>
                </a:solidFill>
              </a:rPr>
              <a:t> </a:t>
            </a:r>
            <a:r>
              <a:rPr b="0" u="none" dirty="0" err="1">
                <a:solidFill>
                  <a:srgbClr val="000000"/>
                </a:solidFill>
              </a:rPr>
              <a:t>l’evento</a:t>
            </a:r>
            <a:r>
              <a:rPr b="0" u="none" dirty="0">
                <a:solidFill>
                  <a:srgbClr val="000000"/>
                </a:solidFill>
              </a:rPr>
              <a:t> non </a:t>
            </a:r>
            <a:r>
              <a:rPr b="0" u="none" dirty="0" err="1">
                <a:solidFill>
                  <a:srgbClr val="000000"/>
                </a:solidFill>
              </a:rPr>
              <a:t>costituisce</a:t>
            </a:r>
            <a:r>
              <a:rPr b="0" u="none" dirty="0">
                <a:solidFill>
                  <a:srgbClr val="000000"/>
                </a:solidFill>
              </a:rPr>
              <a:t> </a:t>
            </a:r>
            <a:r>
              <a:rPr b="0" u="none" dirty="0" err="1">
                <a:solidFill>
                  <a:srgbClr val="000000"/>
                </a:solidFill>
              </a:rPr>
              <a:t>l’obiettivo</a:t>
            </a:r>
            <a:r>
              <a:rPr b="0" u="none" dirty="0">
                <a:solidFill>
                  <a:srgbClr val="000000"/>
                </a:solidFill>
              </a:rPr>
              <a:t> </a:t>
            </a:r>
            <a:r>
              <a:rPr b="0" u="none" dirty="0" err="1">
                <a:solidFill>
                  <a:srgbClr val="000000"/>
                </a:solidFill>
              </a:rPr>
              <a:t>della</a:t>
            </a:r>
            <a:r>
              <a:rPr b="0" u="none" dirty="0">
                <a:solidFill>
                  <a:srgbClr val="000000"/>
                </a:solidFill>
              </a:rPr>
              <a:t> </a:t>
            </a:r>
            <a:r>
              <a:rPr b="0" u="none" dirty="0" err="1">
                <a:solidFill>
                  <a:srgbClr val="000000"/>
                </a:solidFill>
              </a:rPr>
              <a:t>condotta</a:t>
            </a:r>
            <a:r>
              <a:rPr b="0" u="none" dirty="0">
                <a:solidFill>
                  <a:srgbClr val="000000"/>
                </a:solidFill>
              </a:rPr>
              <a:t>, ma </a:t>
            </a:r>
            <a:r>
              <a:rPr b="0" u="none" dirty="0" err="1">
                <a:solidFill>
                  <a:srgbClr val="000000"/>
                </a:solidFill>
              </a:rPr>
              <a:t>l’agente</a:t>
            </a:r>
            <a:r>
              <a:rPr b="0" u="none" dirty="0">
                <a:solidFill>
                  <a:srgbClr val="000000"/>
                </a:solidFill>
              </a:rPr>
              <a:t> lo </a:t>
            </a:r>
            <a:r>
              <a:rPr b="0" u="none" dirty="0" err="1">
                <a:solidFill>
                  <a:srgbClr val="000000"/>
                </a:solidFill>
              </a:rPr>
              <a:t>prevede</a:t>
            </a:r>
            <a:r>
              <a:rPr b="0" u="none" dirty="0">
                <a:solidFill>
                  <a:srgbClr val="000000"/>
                </a:solidFill>
              </a:rPr>
              <a:t> e lo </a:t>
            </a:r>
            <a:r>
              <a:rPr b="0" u="none" dirty="0" err="1">
                <a:solidFill>
                  <a:srgbClr val="000000"/>
                </a:solidFill>
              </a:rPr>
              <a:t>accetta</a:t>
            </a:r>
            <a:r>
              <a:rPr b="0" u="none" dirty="0">
                <a:solidFill>
                  <a:srgbClr val="000000"/>
                </a:solidFill>
              </a:rPr>
              <a:t> come </a:t>
            </a:r>
            <a:r>
              <a:rPr b="0" u="none" dirty="0" err="1">
                <a:solidFill>
                  <a:srgbClr val="000000"/>
                </a:solidFill>
              </a:rPr>
              <a:t>risultato</a:t>
            </a:r>
            <a:r>
              <a:rPr b="0" u="none" dirty="0">
                <a:solidFill>
                  <a:srgbClr val="000000"/>
                </a:solidFill>
              </a:rPr>
              <a:t> </a:t>
            </a:r>
            <a:r>
              <a:rPr b="0" u="none" dirty="0" err="1">
                <a:solidFill>
                  <a:srgbClr val="000000"/>
                </a:solidFill>
              </a:rPr>
              <a:t>certo</a:t>
            </a:r>
            <a:r>
              <a:rPr b="0" u="none" dirty="0">
                <a:solidFill>
                  <a:srgbClr val="000000"/>
                </a:solidFill>
              </a:rPr>
              <a:t> o </a:t>
            </a:r>
            <a:r>
              <a:rPr b="0" u="none" dirty="0" err="1">
                <a:solidFill>
                  <a:srgbClr val="000000"/>
                </a:solidFill>
              </a:rPr>
              <a:t>altamente</a:t>
            </a:r>
            <a:r>
              <a:rPr b="0" u="none" dirty="0">
                <a:solidFill>
                  <a:srgbClr val="000000"/>
                </a:solidFill>
              </a:rPr>
              <a:t> </a:t>
            </a:r>
            <a:r>
              <a:rPr b="0" u="none" dirty="0" err="1">
                <a:solidFill>
                  <a:srgbClr val="000000"/>
                </a:solidFill>
              </a:rPr>
              <a:t>probabile</a:t>
            </a:r>
            <a:r>
              <a:rPr b="0" u="none" dirty="0">
                <a:solidFill>
                  <a:srgbClr val="000000"/>
                </a:solidFill>
              </a:rPr>
              <a:t>;</a:t>
            </a:r>
          </a:p>
          <a:p>
            <a:pPr algn="just">
              <a:defRPr sz="2200" u="sng">
                <a:solidFill>
                  <a:srgbClr val="FF6600"/>
                </a:solidFill>
                <a:latin typeface="Times New Roman"/>
                <a:ea typeface="Times New Roman"/>
                <a:cs typeface="Times New Roman"/>
                <a:sym typeface="Times New Roman"/>
              </a:defRPr>
            </a:pPr>
            <a:endParaRPr b="0" u="none" dirty="0">
              <a:solidFill>
                <a:srgbClr val="000000"/>
              </a:solidFill>
            </a:endParaRPr>
          </a:p>
          <a:p>
            <a:pPr marL="220578" indent="-220578" algn="just">
              <a:buSzPct val="100000"/>
              <a:buChar char="-"/>
              <a:defRPr sz="2200" u="sng">
                <a:solidFill>
                  <a:srgbClr val="FF6600"/>
                </a:solidFill>
                <a:latin typeface="Times New Roman"/>
                <a:ea typeface="Times New Roman"/>
                <a:cs typeface="Times New Roman"/>
                <a:sym typeface="Times New Roman"/>
              </a:defRPr>
            </a:pPr>
            <a:r>
              <a:rPr u="none" dirty="0" err="1">
                <a:solidFill>
                  <a:srgbClr val="000000"/>
                </a:solidFill>
              </a:rPr>
              <a:t>Dolo</a:t>
            </a:r>
            <a:r>
              <a:rPr u="none" dirty="0">
                <a:solidFill>
                  <a:srgbClr val="000000"/>
                </a:solidFill>
              </a:rPr>
              <a:t> </a:t>
            </a:r>
            <a:r>
              <a:rPr u="none" dirty="0" err="1">
                <a:solidFill>
                  <a:srgbClr val="000000"/>
                </a:solidFill>
              </a:rPr>
              <a:t>eventuale</a:t>
            </a:r>
            <a:r>
              <a:rPr u="none" dirty="0">
                <a:solidFill>
                  <a:srgbClr val="000000"/>
                </a:solidFill>
              </a:rPr>
              <a:t>:</a:t>
            </a:r>
            <a:r>
              <a:rPr b="0" u="none" dirty="0">
                <a:solidFill>
                  <a:srgbClr val="000000"/>
                </a:solidFill>
              </a:rPr>
              <a:t> </a:t>
            </a:r>
            <a:r>
              <a:rPr b="0" dirty="0" err="1">
                <a:solidFill>
                  <a:srgbClr val="000000"/>
                </a:solidFill>
              </a:rPr>
              <a:t>accettazione</a:t>
            </a:r>
            <a:r>
              <a:rPr b="0" dirty="0">
                <a:solidFill>
                  <a:srgbClr val="000000"/>
                </a:solidFill>
              </a:rPr>
              <a:t> del </a:t>
            </a:r>
            <a:r>
              <a:rPr b="0" dirty="0" err="1">
                <a:solidFill>
                  <a:srgbClr val="000000"/>
                </a:solidFill>
              </a:rPr>
              <a:t>rischio</a:t>
            </a:r>
            <a:r>
              <a:rPr b="0" dirty="0">
                <a:solidFill>
                  <a:srgbClr val="000000"/>
                </a:solidFill>
              </a:rPr>
              <a:t>,</a:t>
            </a:r>
            <a:r>
              <a:rPr b="0" u="none" dirty="0">
                <a:solidFill>
                  <a:srgbClr val="000000"/>
                </a:solidFill>
              </a:rPr>
              <a:t> </a:t>
            </a:r>
            <a:r>
              <a:rPr b="0" u="none" dirty="0" err="1">
                <a:solidFill>
                  <a:srgbClr val="000000"/>
                </a:solidFill>
              </a:rPr>
              <a:t>l’evento</a:t>
            </a:r>
            <a:r>
              <a:rPr b="0" u="none" dirty="0">
                <a:solidFill>
                  <a:srgbClr val="000000"/>
                </a:solidFill>
              </a:rPr>
              <a:t> </a:t>
            </a:r>
            <a:r>
              <a:rPr b="0" u="none" dirty="0" err="1">
                <a:solidFill>
                  <a:srgbClr val="000000"/>
                </a:solidFill>
              </a:rPr>
              <a:t>viene</a:t>
            </a:r>
            <a:r>
              <a:rPr b="0" u="none" dirty="0">
                <a:solidFill>
                  <a:srgbClr val="000000"/>
                </a:solidFill>
              </a:rPr>
              <a:t> </a:t>
            </a:r>
            <a:r>
              <a:rPr b="0" u="none" dirty="0" err="1">
                <a:solidFill>
                  <a:srgbClr val="000000"/>
                </a:solidFill>
              </a:rPr>
              <a:t>preveduto</a:t>
            </a:r>
            <a:r>
              <a:rPr b="0" u="none" dirty="0">
                <a:solidFill>
                  <a:srgbClr val="000000"/>
                </a:solidFill>
              </a:rPr>
              <a:t> come una </a:t>
            </a:r>
            <a:r>
              <a:rPr b="0" u="none" dirty="0" err="1">
                <a:solidFill>
                  <a:srgbClr val="000000"/>
                </a:solidFill>
              </a:rPr>
              <a:t>delle</a:t>
            </a:r>
            <a:r>
              <a:rPr b="0" u="none" dirty="0">
                <a:solidFill>
                  <a:srgbClr val="000000"/>
                </a:solidFill>
              </a:rPr>
              <a:t> sue </a:t>
            </a:r>
            <a:r>
              <a:rPr b="0" u="none" dirty="0" err="1">
                <a:solidFill>
                  <a:srgbClr val="000000"/>
                </a:solidFill>
              </a:rPr>
              <a:t>possibili</a:t>
            </a:r>
            <a:r>
              <a:rPr b="0" u="none" dirty="0">
                <a:solidFill>
                  <a:srgbClr val="000000"/>
                </a:solidFill>
              </a:rPr>
              <a:t> </a:t>
            </a:r>
            <a:r>
              <a:rPr b="0" u="none" dirty="0" err="1">
                <a:solidFill>
                  <a:srgbClr val="000000"/>
                </a:solidFill>
              </a:rPr>
              <a:t>conseguenze</a:t>
            </a:r>
            <a:r>
              <a:rPr b="0" u="none" dirty="0">
                <a:solidFill>
                  <a:srgbClr val="000000"/>
                </a:solidFill>
              </a:rPr>
              <a:t>.</a:t>
            </a:r>
          </a:p>
        </p:txBody>
      </p:sp>
      <p:sp>
        <p:nvSpPr>
          <p:cNvPr id="408"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doloso</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La DESISTENZA VOLONTARIA può aver luogo solo nella fase del tentativo incompiuto e non è configurabile una volta che siano posti in essere gli atti da cui si origina il meccanismo causale capace di produrre l’evento.…"/>
          <p:cNvSpPr txBox="1">
            <a:spLocks noGrp="1"/>
          </p:cNvSpPr>
          <p:nvPr>
            <p:ph type="body" idx="1"/>
          </p:nvPr>
        </p:nvSpPr>
        <p:spPr>
          <a:prstGeom prst="rect">
            <a:avLst/>
          </a:prstGeom>
        </p:spPr>
        <p:txBody>
          <a:bodyPr/>
          <a:lstStyle/>
          <a:p>
            <a:pPr marL="0" indent="0" algn="just">
              <a:lnSpc>
                <a:spcPct val="100000"/>
              </a:lnSpc>
              <a:spcBef>
                <a:spcPts val="0"/>
              </a:spcBef>
              <a:buSzTx/>
              <a:buFontTx/>
              <a:buNone/>
              <a:defRPr sz="2200">
                <a:latin typeface="Times New Roman"/>
                <a:ea typeface="Times New Roman"/>
                <a:cs typeface="Times New Roman"/>
                <a:sym typeface="Times New Roman"/>
              </a:defRPr>
            </a:pPr>
            <a:endParaRPr/>
          </a:p>
          <a:p>
            <a:pPr marL="0" indent="0" algn="just">
              <a:lnSpc>
                <a:spcPct val="100000"/>
              </a:lnSpc>
              <a:spcBef>
                <a:spcPts val="0"/>
              </a:spcBef>
              <a:buSzTx/>
              <a:buFontTx/>
              <a:buNone/>
              <a:defRPr sz="2200">
                <a:latin typeface="Times New Roman"/>
                <a:ea typeface="Times New Roman"/>
                <a:cs typeface="Times New Roman"/>
                <a:sym typeface="Times New Roman"/>
              </a:defRPr>
            </a:pPr>
            <a:r>
              <a:t>La </a:t>
            </a:r>
            <a:r>
              <a:rPr b="1">
                <a:solidFill>
                  <a:srgbClr val="FF6600"/>
                </a:solidFill>
              </a:rPr>
              <a:t>DESISTENZA VOLONTARIA</a:t>
            </a:r>
            <a:r>
              <a:t> può aver luogo solo nella fase del </a:t>
            </a:r>
            <a:r>
              <a:rPr b="1"/>
              <a:t>tentativo incompiuto</a:t>
            </a:r>
            <a:r>
              <a:t> e </a:t>
            </a:r>
            <a:r>
              <a:rPr b="1" u="sng"/>
              <a:t>non è configurabile </a:t>
            </a:r>
            <a:r>
              <a:t>una volta che siano posti in essere gli atti da cui si origina il meccanismo causale capace di produrre l’evento.</a:t>
            </a:r>
          </a:p>
          <a:p>
            <a:pPr marL="0" indent="0" algn="just">
              <a:lnSpc>
                <a:spcPct val="100000"/>
              </a:lnSpc>
              <a:spcBef>
                <a:spcPts val="0"/>
              </a:spcBef>
              <a:buSzTx/>
              <a:buFontTx/>
              <a:buNone/>
              <a:defRPr sz="2200">
                <a:latin typeface="Times New Roman"/>
                <a:ea typeface="Times New Roman"/>
                <a:cs typeface="Times New Roman"/>
                <a:sym typeface="Times New Roman"/>
              </a:defRPr>
            </a:pPr>
            <a:endParaRPr/>
          </a:p>
          <a:p>
            <a:pPr marL="0" indent="0" algn="just">
              <a:lnSpc>
                <a:spcPct val="100000"/>
              </a:lnSpc>
              <a:spcBef>
                <a:spcPts val="0"/>
              </a:spcBef>
              <a:buSzTx/>
              <a:buFontTx/>
              <a:buNone/>
              <a:defRPr sz="2200">
                <a:latin typeface="Times New Roman"/>
                <a:ea typeface="Times New Roman"/>
                <a:cs typeface="Times New Roman"/>
                <a:sym typeface="Times New Roman"/>
              </a:defRPr>
            </a:pPr>
            <a:endParaRPr/>
          </a:p>
          <a:p>
            <a:pPr marL="0" indent="0" algn="just">
              <a:lnSpc>
                <a:spcPct val="100000"/>
              </a:lnSpc>
              <a:spcBef>
                <a:spcPts val="0"/>
              </a:spcBef>
              <a:buSzTx/>
              <a:buFontTx/>
              <a:buNone/>
              <a:defRPr sz="2200">
                <a:latin typeface="Times New Roman"/>
                <a:ea typeface="Times New Roman"/>
                <a:cs typeface="Times New Roman"/>
                <a:sym typeface="Times New Roman"/>
              </a:defRPr>
            </a:pPr>
            <a:r>
              <a:t>Il </a:t>
            </a:r>
            <a:r>
              <a:rPr b="1">
                <a:solidFill>
                  <a:srgbClr val="FF6600"/>
                </a:solidFill>
              </a:rPr>
              <a:t>RECESSO ATTIVO </a:t>
            </a:r>
            <a:r>
              <a:rPr b="1" u="sng"/>
              <a:t>può operare </a:t>
            </a:r>
            <a:r>
              <a:t>qualora il soggetto tenga una condotta attiva che valga a scongiurare l’evento.</a:t>
            </a:r>
          </a:p>
        </p:txBody>
      </p:sp>
      <p:sp>
        <p:nvSpPr>
          <p:cNvPr id="411" name="Numero diapositiva"/>
          <p:cNvSpPr txBox="1">
            <a:spLocks noGrp="1"/>
          </p:cNvSpPr>
          <p:nvPr>
            <p:ph type="sldNum" sz="quarter" idx="2"/>
          </p:nvPr>
        </p:nvSpPr>
        <p:spPr>
          <a:xfrm>
            <a:off x="8335009" y="6401181"/>
            <a:ext cx="1803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sp>
        <p:nvSpPr>
          <p:cNvPr id="412" name="Omicidio doloso"/>
          <p:cNvSpPr txBox="1">
            <a:spLocks noGrp="1"/>
          </p:cNvSpPr>
          <p:nvPr>
            <p:ph type="title"/>
          </p:nvPr>
        </p:nvSpPr>
        <p:spPr>
          <a:xfrm>
            <a:off x="756772" y="94232"/>
            <a:ext cx="7758578" cy="698455"/>
          </a:xfrm>
          <a:prstGeom prst="rect">
            <a:avLst/>
          </a:prstGeom>
        </p:spPr>
        <p:txBody>
          <a:bodyPr/>
          <a:lstStyle>
            <a:lvl1pPr>
              <a:lnSpc>
                <a:spcPct val="100000"/>
              </a:lnSpc>
              <a:defRPr sz="3200">
                <a:solidFill>
                  <a:schemeClr val="accent3">
                    <a:lumOff val="44000"/>
                  </a:schemeClr>
                </a:solidFill>
                <a:latin typeface="Book Antiqua"/>
                <a:ea typeface="Book Antiqua"/>
                <a:cs typeface="Book Antiqua"/>
                <a:sym typeface="Book Antiqua"/>
              </a:defRPr>
            </a:lvl1pPr>
          </a:lstStyle>
          <a:p>
            <a:pPr>
              <a:defRPr>
                <a:effectLst/>
              </a:defRPr>
            </a:pPr>
            <a:r>
              <a:t>Omicidio doloso</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Rectangle 6"/>
          <p:cNvSpPr txBox="1">
            <a:spLocks noGrp="1"/>
          </p:cNvSpPr>
          <p:nvPr>
            <p:ph type="sldNum" sz="quarter" idx="2"/>
          </p:nvPr>
        </p:nvSpPr>
        <p:spPr>
          <a:xfrm>
            <a:off x="8487409"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10</a:t>
            </a:fld>
            <a:endParaRPr/>
          </a:p>
        </p:txBody>
      </p:sp>
      <p:sp>
        <p:nvSpPr>
          <p:cNvPr id="415" name="CasellaDiTesto 13"/>
          <p:cNvSpPr txBox="1"/>
          <p:nvPr/>
        </p:nvSpPr>
        <p:spPr>
          <a:xfrm>
            <a:off x="225231" y="1071545"/>
            <a:ext cx="8693537" cy="36863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a:solidFill>
                  <a:srgbClr val="FF6600"/>
                </a:solidFill>
                <a:latin typeface="Times New Roman"/>
                <a:ea typeface="Times New Roman"/>
                <a:cs typeface="Times New Roman"/>
                <a:sym typeface="Times New Roman"/>
              </a:defRPr>
            </a:pPr>
            <a:r>
              <a:t>CIRCOSTANZE AGGRAVANTI SPECIALI</a:t>
            </a:r>
            <a:r>
              <a:rPr b="0"/>
              <a:t> </a:t>
            </a:r>
            <a:r>
              <a:rPr b="0">
                <a:solidFill>
                  <a:srgbClr val="000000"/>
                </a:solidFill>
              </a:rPr>
              <a:t>sono previste nei due articoli successivi 576 e 577 c.p. e sono </a:t>
            </a:r>
            <a:r>
              <a:t>AD EFFETTO SPECIALE </a:t>
            </a:r>
            <a:r>
              <a:rPr b="0">
                <a:solidFill>
                  <a:srgbClr val="000000"/>
                </a:solidFill>
              </a:rPr>
              <a:t>(prevedono un aumento della pena di oltre 1/3 della pena base).</a:t>
            </a:r>
          </a:p>
          <a:p>
            <a:pPr algn="just">
              <a:spcBef>
                <a:spcPts val="600"/>
              </a:spcBef>
              <a:defRPr sz="2200" b="0">
                <a:latin typeface="Times New Roman"/>
                <a:ea typeface="Times New Roman"/>
                <a:cs typeface="Times New Roman"/>
                <a:sym typeface="Times New Roman"/>
              </a:defRPr>
            </a:pPr>
            <a:endParaRPr b="0">
              <a:solidFill>
                <a:srgbClr val="000000"/>
              </a:solidFill>
            </a:endParaRPr>
          </a:p>
          <a:p>
            <a:pPr algn="just">
              <a:spcBef>
                <a:spcPts val="600"/>
              </a:spcBef>
              <a:defRPr sz="2200" b="0">
                <a:latin typeface="Times New Roman"/>
                <a:ea typeface="Times New Roman"/>
                <a:cs typeface="Times New Roman"/>
                <a:sym typeface="Times New Roman"/>
              </a:defRPr>
            </a:pPr>
            <a:r>
              <a:t>Vi sono due articoli nel codice che le disciplinano in quanto in origine </a:t>
            </a:r>
            <a:br/>
            <a:r>
              <a:t>l’art. 576 prevedeva le circostanze legate alla pena di morte (poi abolita); mentre il 577 quelle dedicate all’ergastolo.</a:t>
            </a:r>
          </a:p>
          <a:p>
            <a:pPr algn="just">
              <a:spcBef>
                <a:spcPts val="600"/>
              </a:spcBef>
              <a:defRPr sz="2200" b="0">
                <a:latin typeface="Times New Roman"/>
                <a:ea typeface="Times New Roman"/>
                <a:cs typeface="Times New Roman"/>
                <a:sym typeface="Times New Roman"/>
              </a:defRPr>
            </a:pPr>
            <a:endParaRPr/>
          </a:p>
          <a:p>
            <a:pPr algn="just">
              <a:spcBef>
                <a:spcPts val="600"/>
              </a:spcBef>
              <a:defRPr sz="2200" b="0">
                <a:latin typeface="Times New Roman"/>
                <a:ea typeface="Times New Roman"/>
                <a:cs typeface="Times New Roman"/>
                <a:sym typeface="Times New Roman"/>
              </a:defRPr>
            </a:pPr>
            <a:r>
              <a:t>Inoltre, sono state oggetto di modifica con la L. 69 del 19 luglio 2019 </a:t>
            </a:r>
            <a:br/>
            <a:r>
              <a:t>(cd. Codice Rosso).</a:t>
            </a:r>
          </a:p>
        </p:txBody>
      </p:sp>
      <p:sp>
        <p:nvSpPr>
          <p:cNvPr id="416"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doloso</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Rectangle 6"/>
          <p:cNvSpPr txBox="1">
            <a:spLocks noGrp="1"/>
          </p:cNvSpPr>
          <p:nvPr>
            <p:ph type="sldNum" sz="quarter" idx="2"/>
          </p:nvPr>
        </p:nvSpPr>
        <p:spPr>
          <a:xfrm>
            <a:off x="8495818" y="6426579"/>
            <a:ext cx="248133"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sp>
        <p:nvSpPr>
          <p:cNvPr id="419" name="CasellaDiTesto 13"/>
          <p:cNvSpPr txBox="1"/>
          <p:nvPr/>
        </p:nvSpPr>
        <p:spPr>
          <a:xfrm>
            <a:off x="225231" y="764703"/>
            <a:ext cx="8693537" cy="60016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a:solidFill>
                  <a:srgbClr val="FF6600"/>
                </a:solidFill>
                <a:latin typeface="Times New Roman"/>
                <a:ea typeface="Times New Roman"/>
                <a:cs typeface="Times New Roman"/>
                <a:sym typeface="Times New Roman"/>
              </a:defRPr>
            </a:pPr>
            <a:r>
              <a:rPr dirty="0"/>
              <a:t>Art. 577 </a:t>
            </a:r>
            <a:r>
              <a:rPr dirty="0" err="1"/>
              <a:t>c.p.</a:t>
            </a:r>
            <a:r>
              <a:rPr dirty="0"/>
              <a:t> – </a:t>
            </a:r>
            <a:r>
              <a:rPr dirty="0" err="1"/>
              <a:t>Circostanze</a:t>
            </a:r>
            <a:r>
              <a:rPr dirty="0"/>
              <a:t> </a:t>
            </a:r>
            <a:r>
              <a:rPr dirty="0" err="1"/>
              <a:t>aggravanti</a:t>
            </a:r>
            <a:endParaRPr dirty="0"/>
          </a:p>
          <a:p>
            <a:pPr algn="just">
              <a:defRPr sz="2000" b="0">
                <a:latin typeface="Times New Roman"/>
                <a:ea typeface="Times New Roman"/>
                <a:cs typeface="Times New Roman"/>
                <a:sym typeface="Times New Roman"/>
              </a:defRPr>
            </a:pPr>
            <a:r>
              <a:rPr sz="1900" dirty="0"/>
              <a:t>“</a:t>
            </a:r>
            <a:r>
              <a:rPr sz="1900" i="1" dirty="0"/>
              <a:t>Si </a:t>
            </a:r>
            <a:r>
              <a:rPr sz="1900" i="1" dirty="0" err="1"/>
              <a:t>applica</a:t>
            </a:r>
            <a:r>
              <a:rPr sz="1900" i="1" dirty="0"/>
              <a:t> la </a:t>
            </a:r>
            <a:r>
              <a:rPr sz="1900" i="1" dirty="0" err="1"/>
              <a:t>pena</a:t>
            </a:r>
            <a:r>
              <a:rPr sz="1900" i="1" dirty="0"/>
              <a:t> </a:t>
            </a:r>
            <a:r>
              <a:rPr sz="1900" i="1" dirty="0" err="1"/>
              <a:t>dell'ergastolo</a:t>
            </a:r>
            <a:r>
              <a:rPr sz="1900" i="1" dirty="0"/>
              <a:t> se </a:t>
            </a:r>
            <a:r>
              <a:rPr sz="1900" i="1" dirty="0" err="1"/>
              <a:t>il</a:t>
            </a:r>
            <a:r>
              <a:rPr sz="1900" i="1" dirty="0"/>
              <a:t> </a:t>
            </a:r>
            <a:r>
              <a:rPr sz="1900" i="1" dirty="0" err="1"/>
              <a:t>fatto</a:t>
            </a:r>
            <a:r>
              <a:rPr sz="1900" i="1" dirty="0"/>
              <a:t> </a:t>
            </a:r>
            <a:r>
              <a:rPr sz="1900" i="1" dirty="0" err="1"/>
              <a:t>preveduto</a:t>
            </a:r>
            <a:r>
              <a:rPr sz="1900" i="1" dirty="0"/>
              <a:t> </a:t>
            </a:r>
            <a:r>
              <a:rPr sz="1900" i="1" dirty="0" err="1"/>
              <a:t>dall'articolo</a:t>
            </a:r>
            <a:r>
              <a:rPr sz="1900" i="1" dirty="0"/>
              <a:t> 575 è </a:t>
            </a:r>
            <a:r>
              <a:rPr sz="1900" i="1" dirty="0" err="1"/>
              <a:t>commesso</a:t>
            </a:r>
            <a:r>
              <a:rPr sz="1900" i="1" dirty="0"/>
              <a:t>: </a:t>
            </a:r>
          </a:p>
          <a:p>
            <a:pPr algn="just">
              <a:defRPr sz="2000" b="0" i="1">
                <a:latin typeface="Times New Roman"/>
                <a:ea typeface="Times New Roman"/>
                <a:cs typeface="Times New Roman"/>
                <a:sym typeface="Times New Roman"/>
              </a:defRPr>
            </a:pPr>
            <a:r>
              <a:rPr sz="1900" dirty="0"/>
              <a:t>1. </a:t>
            </a:r>
            <a:r>
              <a:rPr sz="1900" dirty="0" err="1"/>
              <a:t>contro</a:t>
            </a:r>
            <a:r>
              <a:rPr sz="1900" dirty="0"/>
              <a:t> </a:t>
            </a:r>
            <a:r>
              <a:rPr sz="1900" dirty="0" err="1"/>
              <a:t>l'ascendente</a:t>
            </a:r>
            <a:r>
              <a:rPr sz="1900" dirty="0"/>
              <a:t> o </a:t>
            </a:r>
            <a:r>
              <a:rPr sz="1900" dirty="0" err="1"/>
              <a:t>il</a:t>
            </a:r>
            <a:r>
              <a:rPr sz="1900" dirty="0"/>
              <a:t> </a:t>
            </a:r>
            <a:r>
              <a:rPr sz="1900" dirty="0" err="1"/>
              <a:t>discendente</a:t>
            </a:r>
            <a:r>
              <a:rPr sz="1900" dirty="0"/>
              <a:t> </a:t>
            </a:r>
            <a:r>
              <a:rPr sz="1900" dirty="0" err="1">
                <a:solidFill>
                  <a:srgbClr val="FF0000"/>
                </a:solidFill>
              </a:rPr>
              <a:t>anche</a:t>
            </a:r>
            <a:r>
              <a:rPr sz="1900" dirty="0">
                <a:solidFill>
                  <a:srgbClr val="FF0000"/>
                </a:solidFill>
              </a:rPr>
              <a:t> per </a:t>
            </a:r>
            <a:r>
              <a:rPr sz="1900" dirty="0" err="1">
                <a:solidFill>
                  <a:srgbClr val="FF0000"/>
                </a:solidFill>
              </a:rPr>
              <a:t>effetto</a:t>
            </a:r>
            <a:r>
              <a:rPr sz="1900" dirty="0">
                <a:solidFill>
                  <a:srgbClr val="FF0000"/>
                </a:solidFill>
              </a:rPr>
              <a:t> di </a:t>
            </a:r>
            <a:r>
              <a:rPr sz="1900" dirty="0" err="1">
                <a:solidFill>
                  <a:srgbClr val="FF0000"/>
                </a:solidFill>
              </a:rPr>
              <a:t>adozione</a:t>
            </a:r>
            <a:r>
              <a:rPr sz="1900" dirty="0">
                <a:solidFill>
                  <a:srgbClr val="FF0000"/>
                </a:solidFill>
              </a:rPr>
              <a:t> di </a:t>
            </a:r>
            <a:r>
              <a:rPr sz="1900" dirty="0" err="1">
                <a:solidFill>
                  <a:srgbClr val="FF0000"/>
                </a:solidFill>
              </a:rPr>
              <a:t>minorenne</a:t>
            </a:r>
            <a:r>
              <a:rPr sz="1900" dirty="0">
                <a:solidFill>
                  <a:srgbClr val="FF0000"/>
                </a:solidFill>
              </a:rPr>
              <a:t>*</a:t>
            </a:r>
            <a:r>
              <a:rPr sz="1900" dirty="0"/>
              <a:t> o </a:t>
            </a:r>
            <a:r>
              <a:rPr sz="1900" dirty="0" err="1"/>
              <a:t>contro</a:t>
            </a:r>
            <a:r>
              <a:rPr sz="1900" dirty="0"/>
              <a:t> </a:t>
            </a:r>
            <a:r>
              <a:rPr sz="1900" dirty="0" err="1"/>
              <a:t>il</a:t>
            </a:r>
            <a:r>
              <a:rPr sz="1900" dirty="0"/>
              <a:t> </a:t>
            </a:r>
            <a:r>
              <a:rPr sz="1900" dirty="0" err="1"/>
              <a:t>coniuge</a:t>
            </a:r>
            <a:r>
              <a:rPr sz="1900" dirty="0"/>
              <a:t>, </a:t>
            </a:r>
            <a:r>
              <a:rPr sz="1900" dirty="0" err="1"/>
              <a:t>anche</a:t>
            </a:r>
            <a:r>
              <a:rPr sz="1900" dirty="0"/>
              <a:t> </a:t>
            </a:r>
            <a:r>
              <a:rPr sz="1900" dirty="0" err="1"/>
              <a:t>legalmente</a:t>
            </a:r>
            <a:r>
              <a:rPr sz="1900" dirty="0"/>
              <a:t> </a:t>
            </a:r>
            <a:r>
              <a:rPr sz="1900" dirty="0" err="1"/>
              <a:t>separato</a:t>
            </a:r>
            <a:r>
              <a:rPr sz="1900" dirty="0"/>
              <a:t>, </a:t>
            </a:r>
            <a:r>
              <a:rPr sz="1900" dirty="0" err="1"/>
              <a:t>contro</a:t>
            </a:r>
            <a:r>
              <a:rPr sz="1900" dirty="0"/>
              <a:t> </a:t>
            </a:r>
            <a:r>
              <a:rPr sz="1900" dirty="0" err="1"/>
              <a:t>l'altra</a:t>
            </a:r>
            <a:r>
              <a:rPr sz="1900" dirty="0"/>
              <a:t> </a:t>
            </a:r>
            <a:r>
              <a:rPr sz="1900" dirty="0" err="1"/>
              <a:t>parte</a:t>
            </a:r>
            <a:r>
              <a:rPr sz="1900" dirty="0"/>
              <a:t> </a:t>
            </a:r>
            <a:r>
              <a:rPr sz="1900" dirty="0" err="1"/>
              <a:t>dell'unione</a:t>
            </a:r>
            <a:r>
              <a:rPr sz="1900" dirty="0"/>
              <a:t> </a:t>
            </a:r>
            <a:r>
              <a:rPr sz="1900" dirty="0" err="1"/>
              <a:t>civile</a:t>
            </a:r>
            <a:r>
              <a:rPr sz="1900" dirty="0"/>
              <a:t> o </a:t>
            </a:r>
            <a:r>
              <a:rPr sz="1900" dirty="0" err="1"/>
              <a:t>contro</a:t>
            </a:r>
            <a:r>
              <a:rPr sz="1900" dirty="0"/>
              <a:t> la </a:t>
            </a:r>
            <a:r>
              <a:rPr sz="1900" dirty="0">
                <a:solidFill>
                  <a:srgbClr val="FF0000"/>
                </a:solidFill>
              </a:rPr>
              <a:t>persona </a:t>
            </a:r>
            <a:r>
              <a:rPr sz="1900" dirty="0" err="1">
                <a:solidFill>
                  <a:srgbClr val="FF0000"/>
                </a:solidFill>
              </a:rPr>
              <a:t>stabilmente</a:t>
            </a:r>
            <a:r>
              <a:rPr sz="1900" dirty="0">
                <a:solidFill>
                  <a:srgbClr val="FF0000"/>
                </a:solidFill>
              </a:rPr>
              <a:t> </a:t>
            </a:r>
            <a:r>
              <a:rPr sz="1900" dirty="0" err="1">
                <a:solidFill>
                  <a:srgbClr val="FF0000"/>
                </a:solidFill>
              </a:rPr>
              <a:t>convivente</a:t>
            </a:r>
            <a:r>
              <a:rPr sz="1900" dirty="0">
                <a:solidFill>
                  <a:srgbClr val="FF0000"/>
                </a:solidFill>
              </a:rPr>
              <a:t> con </a:t>
            </a:r>
            <a:r>
              <a:rPr sz="1900" dirty="0" err="1">
                <a:solidFill>
                  <a:srgbClr val="FF0000"/>
                </a:solidFill>
              </a:rPr>
              <a:t>il</a:t>
            </a:r>
            <a:r>
              <a:rPr sz="1900" dirty="0">
                <a:solidFill>
                  <a:srgbClr val="FF0000"/>
                </a:solidFill>
              </a:rPr>
              <a:t> </a:t>
            </a:r>
            <a:r>
              <a:rPr sz="1900" dirty="0" err="1">
                <a:solidFill>
                  <a:srgbClr val="FF0000"/>
                </a:solidFill>
              </a:rPr>
              <a:t>colpevole</a:t>
            </a:r>
            <a:r>
              <a:rPr sz="1900" dirty="0">
                <a:solidFill>
                  <a:srgbClr val="FF0000"/>
                </a:solidFill>
              </a:rPr>
              <a:t> o ad </a:t>
            </a:r>
            <a:r>
              <a:rPr sz="1900" dirty="0" err="1">
                <a:solidFill>
                  <a:srgbClr val="FF0000"/>
                </a:solidFill>
              </a:rPr>
              <a:t>esso</a:t>
            </a:r>
            <a:r>
              <a:rPr sz="1900" dirty="0">
                <a:solidFill>
                  <a:srgbClr val="FF0000"/>
                </a:solidFill>
              </a:rPr>
              <a:t> </a:t>
            </a:r>
            <a:r>
              <a:rPr sz="1900" dirty="0" err="1">
                <a:solidFill>
                  <a:srgbClr val="FF0000"/>
                </a:solidFill>
              </a:rPr>
              <a:t>legata</a:t>
            </a:r>
            <a:r>
              <a:rPr sz="1900" dirty="0">
                <a:solidFill>
                  <a:srgbClr val="FF0000"/>
                </a:solidFill>
              </a:rPr>
              <a:t> da </a:t>
            </a:r>
            <a:r>
              <a:rPr sz="1900" dirty="0" err="1">
                <a:solidFill>
                  <a:srgbClr val="FF0000"/>
                </a:solidFill>
              </a:rPr>
              <a:t>relazione</a:t>
            </a:r>
            <a:r>
              <a:rPr sz="1900" dirty="0">
                <a:solidFill>
                  <a:srgbClr val="FF0000"/>
                </a:solidFill>
              </a:rPr>
              <a:t> </a:t>
            </a:r>
            <a:r>
              <a:rPr sz="1900" dirty="0" err="1">
                <a:solidFill>
                  <a:srgbClr val="FF0000"/>
                </a:solidFill>
              </a:rPr>
              <a:t>affettiva</a:t>
            </a:r>
            <a:r>
              <a:rPr sz="1900" dirty="0">
                <a:solidFill>
                  <a:srgbClr val="FF0000"/>
                </a:solidFill>
              </a:rPr>
              <a:t>*</a:t>
            </a:r>
            <a:r>
              <a:rPr sz="1900" dirty="0"/>
              <a:t>; </a:t>
            </a:r>
          </a:p>
          <a:p>
            <a:pPr algn="just">
              <a:defRPr sz="2000" b="0" i="1">
                <a:latin typeface="Times New Roman"/>
                <a:ea typeface="Times New Roman"/>
                <a:cs typeface="Times New Roman"/>
                <a:sym typeface="Times New Roman"/>
              </a:defRPr>
            </a:pPr>
            <a:r>
              <a:rPr sz="1900" dirty="0"/>
              <a:t>2. col mezzo di </a:t>
            </a:r>
            <a:r>
              <a:rPr sz="1900" dirty="0" err="1"/>
              <a:t>sostanze</a:t>
            </a:r>
            <a:r>
              <a:rPr sz="1900" dirty="0"/>
              <a:t> </a:t>
            </a:r>
            <a:r>
              <a:rPr sz="1900" dirty="0" err="1"/>
              <a:t>venefiche</a:t>
            </a:r>
            <a:r>
              <a:rPr sz="1900" dirty="0"/>
              <a:t>, </a:t>
            </a:r>
            <a:r>
              <a:rPr sz="1900" dirty="0" err="1"/>
              <a:t>ovvero</a:t>
            </a:r>
            <a:r>
              <a:rPr sz="1900" dirty="0"/>
              <a:t> con un </a:t>
            </a:r>
            <a:r>
              <a:rPr sz="1900" dirty="0" err="1"/>
              <a:t>altro</a:t>
            </a:r>
            <a:r>
              <a:rPr sz="1900" dirty="0"/>
              <a:t> mezzo </a:t>
            </a:r>
            <a:r>
              <a:rPr sz="1900" dirty="0" err="1"/>
              <a:t>insidioso</a:t>
            </a:r>
            <a:r>
              <a:rPr sz="1900" dirty="0"/>
              <a:t>; </a:t>
            </a:r>
          </a:p>
          <a:p>
            <a:pPr algn="just">
              <a:defRPr sz="2000" b="0" i="1">
                <a:latin typeface="Times New Roman"/>
                <a:ea typeface="Times New Roman"/>
                <a:cs typeface="Times New Roman"/>
                <a:sym typeface="Times New Roman"/>
              </a:defRPr>
            </a:pPr>
            <a:r>
              <a:rPr sz="1900" dirty="0"/>
              <a:t>3. con </a:t>
            </a:r>
            <a:r>
              <a:rPr sz="1900" dirty="0" err="1"/>
              <a:t>premeditazione</a:t>
            </a:r>
            <a:r>
              <a:rPr sz="1900" dirty="0"/>
              <a:t>; </a:t>
            </a:r>
          </a:p>
          <a:p>
            <a:pPr algn="just">
              <a:spcBef>
                <a:spcPts val="600"/>
              </a:spcBef>
              <a:defRPr sz="2000" b="0" i="1">
                <a:latin typeface="Times New Roman"/>
                <a:ea typeface="Times New Roman"/>
                <a:cs typeface="Times New Roman"/>
                <a:sym typeface="Times New Roman"/>
              </a:defRPr>
            </a:pPr>
            <a:r>
              <a:rPr sz="1900" dirty="0"/>
              <a:t>4. col </a:t>
            </a:r>
            <a:r>
              <a:rPr sz="1900" dirty="0" err="1"/>
              <a:t>concorso</a:t>
            </a:r>
            <a:r>
              <a:rPr sz="1900" dirty="0"/>
              <a:t> di </a:t>
            </a:r>
            <a:r>
              <a:rPr sz="1900" dirty="0" err="1"/>
              <a:t>taluna</a:t>
            </a:r>
            <a:r>
              <a:rPr sz="1900" dirty="0"/>
              <a:t> </a:t>
            </a:r>
            <a:r>
              <a:rPr sz="1900" dirty="0" err="1"/>
              <a:t>delle</a:t>
            </a:r>
            <a:r>
              <a:rPr sz="1900" dirty="0"/>
              <a:t> </a:t>
            </a:r>
            <a:r>
              <a:rPr sz="1900" dirty="0" err="1"/>
              <a:t>circostanze</a:t>
            </a:r>
            <a:r>
              <a:rPr sz="1900" dirty="0"/>
              <a:t> indicate </a:t>
            </a:r>
            <a:r>
              <a:rPr sz="1900" dirty="0" err="1"/>
              <a:t>nei</a:t>
            </a:r>
            <a:r>
              <a:rPr sz="1900" dirty="0"/>
              <a:t> numeri 1 e 4 </a:t>
            </a:r>
            <a:r>
              <a:rPr sz="1900" dirty="0" err="1"/>
              <a:t>dell'articolo</a:t>
            </a:r>
            <a:r>
              <a:rPr sz="1900" dirty="0"/>
              <a:t> 61. </a:t>
            </a:r>
          </a:p>
          <a:p>
            <a:pPr algn="just">
              <a:spcBef>
                <a:spcPts val="600"/>
              </a:spcBef>
              <a:defRPr sz="2000" b="0" i="1">
                <a:latin typeface="Times New Roman"/>
                <a:ea typeface="Times New Roman"/>
                <a:cs typeface="Times New Roman"/>
                <a:sym typeface="Times New Roman"/>
              </a:defRPr>
            </a:pPr>
            <a:r>
              <a:rPr sz="1900" dirty="0"/>
              <a:t>La </a:t>
            </a:r>
            <a:r>
              <a:rPr sz="1900" dirty="0" err="1"/>
              <a:t>pena</a:t>
            </a:r>
            <a:r>
              <a:rPr sz="1900" dirty="0"/>
              <a:t> è </a:t>
            </a:r>
            <a:r>
              <a:rPr sz="1900" dirty="0" err="1"/>
              <a:t>della</a:t>
            </a:r>
            <a:r>
              <a:rPr sz="1900" dirty="0"/>
              <a:t> </a:t>
            </a:r>
            <a:r>
              <a:rPr sz="1900" dirty="0" err="1"/>
              <a:t>reclusione</a:t>
            </a:r>
            <a:r>
              <a:rPr sz="1900" dirty="0"/>
              <a:t> da </a:t>
            </a:r>
            <a:r>
              <a:rPr sz="1900" dirty="0" err="1"/>
              <a:t>ventiquattro</a:t>
            </a:r>
            <a:r>
              <a:rPr sz="1900" dirty="0"/>
              <a:t> a </a:t>
            </a:r>
            <a:r>
              <a:rPr sz="1900" dirty="0" err="1"/>
              <a:t>trenta</a:t>
            </a:r>
            <a:r>
              <a:rPr sz="1900" dirty="0"/>
              <a:t> </a:t>
            </a:r>
            <a:r>
              <a:rPr sz="1900" dirty="0" err="1"/>
              <a:t>anni</a:t>
            </a:r>
            <a:r>
              <a:rPr sz="1900" dirty="0"/>
              <a:t>, se </a:t>
            </a:r>
            <a:r>
              <a:rPr sz="1900" dirty="0" err="1"/>
              <a:t>il</a:t>
            </a:r>
            <a:r>
              <a:rPr sz="1900" dirty="0"/>
              <a:t> </a:t>
            </a:r>
            <a:r>
              <a:rPr sz="1900" dirty="0" err="1"/>
              <a:t>fatto</a:t>
            </a:r>
            <a:r>
              <a:rPr sz="1900" dirty="0"/>
              <a:t> è </a:t>
            </a:r>
            <a:r>
              <a:rPr sz="1900" dirty="0" err="1"/>
              <a:t>commesso</a:t>
            </a:r>
            <a:r>
              <a:rPr sz="1900" dirty="0"/>
              <a:t> </a:t>
            </a:r>
            <a:r>
              <a:rPr sz="1900" dirty="0" err="1"/>
              <a:t>contro</a:t>
            </a:r>
            <a:r>
              <a:rPr sz="1900" dirty="0"/>
              <a:t> </a:t>
            </a:r>
            <a:r>
              <a:rPr sz="1900" dirty="0" err="1"/>
              <a:t>il</a:t>
            </a:r>
            <a:r>
              <a:rPr sz="1900" dirty="0"/>
              <a:t> </a:t>
            </a:r>
            <a:r>
              <a:rPr sz="1900" dirty="0" err="1"/>
              <a:t>coniuge</a:t>
            </a:r>
            <a:r>
              <a:rPr sz="1900" dirty="0"/>
              <a:t> </a:t>
            </a:r>
            <a:r>
              <a:rPr sz="1900" dirty="0" err="1"/>
              <a:t>divorziato</a:t>
            </a:r>
            <a:r>
              <a:rPr sz="1900" dirty="0"/>
              <a:t>, </a:t>
            </a:r>
            <a:r>
              <a:rPr sz="1900" dirty="0" err="1"/>
              <a:t>l'altra</a:t>
            </a:r>
            <a:r>
              <a:rPr sz="1900" dirty="0"/>
              <a:t> </a:t>
            </a:r>
            <a:r>
              <a:rPr sz="1900" dirty="0" err="1"/>
              <a:t>parte</a:t>
            </a:r>
            <a:r>
              <a:rPr sz="1900" dirty="0"/>
              <a:t> </a:t>
            </a:r>
            <a:r>
              <a:rPr sz="1900" dirty="0" err="1"/>
              <a:t>dell'unione</a:t>
            </a:r>
            <a:r>
              <a:rPr sz="1900" dirty="0"/>
              <a:t> </a:t>
            </a:r>
            <a:r>
              <a:rPr sz="1900" dirty="0" err="1"/>
              <a:t>civile</a:t>
            </a:r>
            <a:r>
              <a:rPr sz="1900" dirty="0"/>
              <a:t>, </a:t>
            </a:r>
            <a:r>
              <a:rPr sz="1900" dirty="0" err="1"/>
              <a:t>ove</a:t>
            </a:r>
            <a:r>
              <a:rPr sz="1900" dirty="0"/>
              <a:t> </a:t>
            </a:r>
            <a:r>
              <a:rPr sz="1900" dirty="0" err="1"/>
              <a:t>cessata</a:t>
            </a:r>
            <a:r>
              <a:rPr sz="1900" dirty="0"/>
              <a:t>, </a:t>
            </a:r>
            <a:r>
              <a:rPr sz="1900" dirty="0">
                <a:solidFill>
                  <a:srgbClr val="FF0000"/>
                </a:solidFill>
              </a:rPr>
              <a:t>la persona </a:t>
            </a:r>
            <a:r>
              <a:rPr sz="1900" dirty="0" err="1">
                <a:solidFill>
                  <a:srgbClr val="FF0000"/>
                </a:solidFill>
              </a:rPr>
              <a:t>legata</a:t>
            </a:r>
            <a:r>
              <a:rPr sz="1900" dirty="0">
                <a:solidFill>
                  <a:srgbClr val="FF0000"/>
                </a:solidFill>
              </a:rPr>
              <a:t> al </a:t>
            </a:r>
            <a:r>
              <a:rPr sz="1900" dirty="0" err="1">
                <a:solidFill>
                  <a:srgbClr val="FF0000"/>
                </a:solidFill>
              </a:rPr>
              <a:t>colpevole</a:t>
            </a:r>
            <a:r>
              <a:rPr sz="1900" dirty="0">
                <a:solidFill>
                  <a:srgbClr val="FF0000"/>
                </a:solidFill>
              </a:rPr>
              <a:t> da stabile  </a:t>
            </a:r>
            <a:r>
              <a:rPr sz="1900" dirty="0" err="1">
                <a:solidFill>
                  <a:srgbClr val="FF0000"/>
                </a:solidFill>
              </a:rPr>
              <a:t>convivenza</a:t>
            </a:r>
            <a:r>
              <a:rPr sz="1900" dirty="0">
                <a:solidFill>
                  <a:srgbClr val="FF0000"/>
                </a:solidFill>
              </a:rPr>
              <a:t> o </a:t>
            </a:r>
            <a:r>
              <a:rPr sz="1900" dirty="0" err="1">
                <a:solidFill>
                  <a:srgbClr val="FF0000"/>
                </a:solidFill>
              </a:rPr>
              <a:t>relazione</a:t>
            </a:r>
            <a:r>
              <a:rPr sz="1900" dirty="0">
                <a:solidFill>
                  <a:srgbClr val="FF0000"/>
                </a:solidFill>
              </a:rPr>
              <a:t> </a:t>
            </a:r>
            <a:r>
              <a:rPr sz="1900" dirty="0" err="1">
                <a:solidFill>
                  <a:srgbClr val="FF0000"/>
                </a:solidFill>
              </a:rPr>
              <a:t>affettiva</a:t>
            </a:r>
            <a:r>
              <a:rPr sz="1900" dirty="0">
                <a:solidFill>
                  <a:srgbClr val="FF0000"/>
                </a:solidFill>
              </a:rPr>
              <a:t>, </a:t>
            </a:r>
            <a:r>
              <a:rPr sz="1900" dirty="0" err="1">
                <a:solidFill>
                  <a:srgbClr val="FF0000"/>
                </a:solidFill>
              </a:rPr>
              <a:t>ove</a:t>
            </a:r>
            <a:r>
              <a:rPr sz="1900" dirty="0">
                <a:solidFill>
                  <a:srgbClr val="FF0000"/>
                </a:solidFill>
              </a:rPr>
              <a:t> </a:t>
            </a:r>
            <a:r>
              <a:rPr sz="1900" dirty="0" err="1">
                <a:solidFill>
                  <a:srgbClr val="FF0000"/>
                </a:solidFill>
              </a:rPr>
              <a:t>cessate</a:t>
            </a:r>
            <a:r>
              <a:rPr sz="1900" dirty="0">
                <a:solidFill>
                  <a:srgbClr val="FF0000"/>
                </a:solidFill>
              </a:rPr>
              <a:t>*</a:t>
            </a:r>
            <a:r>
              <a:rPr sz="1900" dirty="0"/>
              <a:t>, </a:t>
            </a:r>
            <a:r>
              <a:rPr sz="1900" dirty="0" err="1"/>
              <a:t>il</a:t>
            </a:r>
            <a:r>
              <a:rPr sz="1900" dirty="0"/>
              <a:t> </a:t>
            </a:r>
            <a:r>
              <a:rPr sz="1900" dirty="0" err="1"/>
              <a:t>fratello</a:t>
            </a:r>
            <a:r>
              <a:rPr sz="1900" dirty="0"/>
              <a:t> o la </a:t>
            </a:r>
            <a:r>
              <a:rPr sz="1900" dirty="0" err="1"/>
              <a:t>sorella</a:t>
            </a:r>
            <a:r>
              <a:rPr sz="1900" dirty="0"/>
              <a:t>, </a:t>
            </a:r>
            <a:r>
              <a:rPr sz="1900" dirty="0" err="1">
                <a:solidFill>
                  <a:srgbClr val="FF0000"/>
                </a:solidFill>
              </a:rPr>
              <a:t>l'adottante</a:t>
            </a:r>
            <a:r>
              <a:rPr sz="1900" dirty="0">
                <a:solidFill>
                  <a:srgbClr val="FF0000"/>
                </a:solidFill>
              </a:rPr>
              <a:t> o </a:t>
            </a:r>
            <a:r>
              <a:rPr sz="1900" dirty="0" err="1">
                <a:solidFill>
                  <a:srgbClr val="FF0000"/>
                </a:solidFill>
              </a:rPr>
              <a:t>l'adottato</a:t>
            </a:r>
            <a:r>
              <a:rPr sz="1900" dirty="0">
                <a:solidFill>
                  <a:srgbClr val="FF0000"/>
                </a:solidFill>
              </a:rPr>
              <a:t> </a:t>
            </a:r>
            <a:r>
              <a:rPr sz="1900" dirty="0" err="1">
                <a:solidFill>
                  <a:srgbClr val="FF0000"/>
                </a:solidFill>
              </a:rPr>
              <a:t>nei</a:t>
            </a:r>
            <a:r>
              <a:rPr sz="1900" dirty="0">
                <a:solidFill>
                  <a:srgbClr val="FF0000"/>
                </a:solidFill>
              </a:rPr>
              <a:t> </a:t>
            </a:r>
            <a:r>
              <a:rPr sz="1900" dirty="0" err="1">
                <a:solidFill>
                  <a:srgbClr val="FF0000"/>
                </a:solidFill>
              </a:rPr>
              <a:t>casi</a:t>
            </a:r>
            <a:r>
              <a:rPr sz="1900" dirty="0">
                <a:solidFill>
                  <a:srgbClr val="FF0000"/>
                </a:solidFill>
              </a:rPr>
              <a:t> </a:t>
            </a:r>
            <a:r>
              <a:rPr sz="1900" dirty="0" err="1">
                <a:solidFill>
                  <a:srgbClr val="FF0000"/>
                </a:solidFill>
              </a:rPr>
              <a:t>regolati</a:t>
            </a:r>
            <a:r>
              <a:rPr sz="1900" dirty="0">
                <a:solidFill>
                  <a:srgbClr val="FF0000"/>
                </a:solidFill>
              </a:rPr>
              <a:t> dal </a:t>
            </a:r>
            <a:r>
              <a:rPr sz="1900" dirty="0" err="1">
                <a:solidFill>
                  <a:srgbClr val="FF0000"/>
                </a:solidFill>
              </a:rPr>
              <a:t>Titolo</a:t>
            </a:r>
            <a:r>
              <a:rPr sz="1900" dirty="0">
                <a:solidFill>
                  <a:srgbClr val="FF0000"/>
                </a:solidFill>
              </a:rPr>
              <a:t> VIII del Libro Primo del </a:t>
            </a:r>
            <a:r>
              <a:rPr sz="1900" dirty="0" err="1">
                <a:solidFill>
                  <a:srgbClr val="FF0000"/>
                </a:solidFill>
              </a:rPr>
              <a:t>codice</a:t>
            </a:r>
            <a:r>
              <a:rPr sz="1900" dirty="0">
                <a:solidFill>
                  <a:srgbClr val="FF0000"/>
                </a:solidFill>
              </a:rPr>
              <a:t> </a:t>
            </a:r>
            <a:r>
              <a:rPr sz="1900" dirty="0" err="1">
                <a:solidFill>
                  <a:srgbClr val="FF0000"/>
                </a:solidFill>
              </a:rPr>
              <a:t>civile</a:t>
            </a:r>
            <a:r>
              <a:rPr sz="1900" dirty="0">
                <a:solidFill>
                  <a:srgbClr val="FF0000"/>
                </a:solidFill>
              </a:rPr>
              <a:t>*</a:t>
            </a:r>
            <a:r>
              <a:rPr sz="1900" dirty="0"/>
              <a:t>, </a:t>
            </a:r>
            <a:r>
              <a:rPr sz="1900" dirty="0" err="1"/>
              <a:t>il</a:t>
            </a:r>
            <a:r>
              <a:rPr sz="1900" dirty="0"/>
              <a:t> padre o la </a:t>
            </a:r>
            <a:r>
              <a:rPr sz="1900" dirty="0" err="1"/>
              <a:t>madre</a:t>
            </a:r>
            <a:r>
              <a:rPr sz="1900" dirty="0"/>
              <a:t> </a:t>
            </a:r>
            <a:r>
              <a:rPr sz="1900" dirty="0" err="1"/>
              <a:t>adottivi</a:t>
            </a:r>
            <a:r>
              <a:rPr sz="1900" dirty="0"/>
              <a:t>, o </a:t>
            </a:r>
            <a:r>
              <a:rPr sz="1900" dirty="0" err="1"/>
              <a:t>il</a:t>
            </a:r>
            <a:r>
              <a:rPr sz="1900" dirty="0"/>
              <a:t> </a:t>
            </a:r>
            <a:r>
              <a:rPr sz="1900" dirty="0" err="1"/>
              <a:t>figlio</a:t>
            </a:r>
            <a:r>
              <a:rPr sz="1900" dirty="0"/>
              <a:t> </a:t>
            </a:r>
            <a:r>
              <a:rPr sz="1900" dirty="0" err="1"/>
              <a:t>adottivo</a:t>
            </a:r>
            <a:r>
              <a:rPr sz="1900" dirty="0"/>
              <a:t>, o </a:t>
            </a:r>
            <a:r>
              <a:rPr sz="1900" dirty="0" err="1"/>
              <a:t>contro</a:t>
            </a:r>
            <a:r>
              <a:rPr sz="1900" dirty="0"/>
              <a:t> un affine in </a:t>
            </a:r>
            <a:r>
              <a:rPr sz="1900" dirty="0" err="1"/>
              <a:t>linea</a:t>
            </a:r>
            <a:r>
              <a:rPr sz="1900" dirty="0"/>
              <a:t> </a:t>
            </a:r>
            <a:r>
              <a:rPr sz="1900" dirty="0" err="1"/>
              <a:t>retta</a:t>
            </a:r>
            <a:r>
              <a:rPr sz="1900" dirty="0"/>
              <a:t>. </a:t>
            </a:r>
          </a:p>
          <a:p>
            <a:pPr algn="just">
              <a:spcBef>
                <a:spcPts val="600"/>
              </a:spcBef>
              <a:defRPr sz="2000" b="0" i="1">
                <a:solidFill>
                  <a:srgbClr val="FF0000"/>
                </a:solidFill>
                <a:latin typeface="Times New Roman"/>
                <a:ea typeface="Times New Roman"/>
                <a:cs typeface="Times New Roman"/>
                <a:sym typeface="Times New Roman"/>
              </a:defRPr>
            </a:pPr>
            <a:r>
              <a:rPr sz="1900" dirty="0"/>
              <a:t>Le </a:t>
            </a:r>
            <a:r>
              <a:rPr sz="1900" dirty="0" err="1"/>
              <a:t>circostanze</a:t>
            </a:r>
            <a:r>
              <a:rPr sz="1900" dirty="0"/>
              <a:t> </a:t>
            </a:r>
            <a:r>
              <a:rPr sz="1900" dirty="0" err="1"/>
              <a:t>attenuanti</a:t>
            </a:r>
            <a:r>
              <a:rPr sz="1900" dirty="0"/>
              <a:t>, diverse da quelle </a:t>
            </a:r>
            <a:r>
              <a:rPr sz="1900" dirty="0" err="1"/>
              <a:t>previste</a:t>
            </a:r>
            <a:r>
              <a:rPr sz="1900" dirty="0"/>
              <a:t> </a:t>
            </a:r>
            <a:r>
              <a:rPr sz="1900" dirty="0" err="1"/>
              <a:t>dagli</a:t>
            </a:r>
            <a:r>
              <a:rPr sz="1900" dirty="0"/>
              <a:t> </a:t>
            </a:r>
            <a:r>
              <a:rPr sz="1900" dirty="0" err="1"/>
              <a:t>articoli</a:t>
            </a:r>
            <a:r>
              <a:rPr sz="1900" dirty="0"/>
              <a:t> 62, </a:t>
            </a:r>
            <a:r>
              <a:rPr sz="1900" dirty="0" err="1"/>
              <a:t>numero</a:t>
            </a:r>
            <a:r>
              <a:rPr sz="1900" dirty="0"/>
              <a:t> 1), 89, 98 e 114, </a:t>
            </a:r>
            <a:r>
              <a:rPr sz="1900" dirty="0" err="1"/>
              <a:t>concorrenti</a:t>
            </a:r>
            <a:r>
              <a:rPr sz="1900" dirty="0"/>
              <a:t> con le </a:t>
            </a:r>
            <a:r>
              <a:rPr sz="1900" dirty="0" err="1"/>
              <a:t>circostanze</a:t>
            </a:r>
            <a:r>
              <a:rPr sz="1900" dirty="0"/>
              <a:t> </a:t>
            </a:r>
            <a:r>
              <a:rPr sz="1900" dirty="0" err="1"/>
              <a:t>aggravanti</a:t>
            </a:r>
            <a:r>
              <a:rPr sz="1900" dirty="0"/>
              <a:t> di cui al primo comma, n. 1 e al secondo comma, non </a:t>
            </a:r>
            <a:r>
              <a:rPr sz="1900" dirty="0" err="1"/>
              <a:t>possono</a:t>
            </a:r>
            <a:r>
              <a:rPr sz="1900" dirty="0"/>
              <a:t> </a:t>
            </a:r>
            <a:r>
              <a:rPr sz="1900" dirty="0" err="1"/>
              <a:t>essere</a:t>
            </a:r>
            <a:r>
              <a:rPr sz="1900" dirty="0"/>
              <a:t> </a:t>
            </a:r>
            <a:r>
              <a:rPr sz="1900" dirty="0" err="1"/>
              <a:t>ritenute</a:t>
            </a:r>
            <a:r>
              <a:rPr sz="1900" dirty="0"/>
              <a:t> </a:t>
            </a:r>
            <a:r>
              <a:rPr sz="1900" dirty="0" err="1"/>
              <a:t>prevalenti</a:t>
            </a:r>
            <a:r>
              <a:rPr sz="1900" dirty="0"/>
              <a:t> rispetto a </a:t>
            </a:r>
            <a:r>
              <a:rPr sz="1900" dirty="0" err="1"/>
              <a:t>queste</a:t>
            </a:r>
            <a:r>
              <a:rPr sz="1900" i="0" dirty="0"/>
              <a:t>*</a:t>
            </a:r>
            <a:r>
              <a:rPr sz="1900" b="1" i="0" dirty="0"/>
              <a:t>.</a:t>
            </a:r>
            <a:r>
              <a:rPr sz="1900" b="1" i="0" dirty="0">
                <a:solidFill>
                  <a:srgbClr val="000000"/>
                </a:solidFill>
              </a:rPr>
              <a:t>”</a:t>
            </a:r>
          </a:p>
          <a:p>
            <a:pPr algn="just">
              <a:spcBef>
                <a:spcPts val="600"/>
              </a:spcBef>
              <a:defRPr sz="2000">
                <a:solidFill>
                  <a:srgbClr val="FF0000"/>
                </a:solidFill>
                <a:latin typeface="Times New Roman"/>
                <a:ea typeface="Times New Roman"/>
                <a:cs typeface="Times New Roman"/>
                <a:sym typeface="Times New Roman"/>
              </a:defRPr>
            </a:pPr>
            <a:r>
              <a:rPr sz="1900" dirty="0"/>
              <a:t>*</a:t>
            </a:r>
            <a:r>
              <a:rPr sz="1900" dirty="0" err="1"/>
              <a:t>Parti</a:t>
            </a:r>
            <a:r>
              <a:rPr sz="1900" dirty="0"/>
              <a:t> </a:t>
            </a:r>
            <a:r>
              <a:rPr sz="1900" dirty="0" err="1"/>
              <a:t>aggiunte</a:t>
            </a:r>
            <a:r>
              <a:rPr sz="1900" dirty="0"/>
              <a:t> con la </a:t>
            </a:r>
            <a:r>
              <a:rPr sz="1900" dirty="0" err="1"/>
              <a:t>nuova</a:t>
            </a:r>
            <a:r>
              <a:rPr sz="1900" dirty="0"/>
              <a:t> </a:t>
            </a:r>
            <a:r>
              <a:rPr sz="1900" dirty="0" err="1"/>
              <a:t>Legge</a:t>
            </a:r>
            <a:endParaRPr sz="1900" dirty="0"/>
          </a:p>
        </p:txBody>
      </p:sp>
      <p:sp>
        <p:nvSpPr>
          <p:cNvPr id="420"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doloso</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Rectangle 6"/>
          <p:cNvSpPr txBox="1">
            <a:spLocks noGrp="1"/>
          </p:cNvSpPr>
          <p:nvPr>
            <p:ph type="sldNum" sz="quarter" idx="2"/>
          </p:nvPr>
        </p:nvSpPr>
        <p:spPr>
          <a:xfrm>
            <a:off x="8487409"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sp>
        <p:nvSpPr>
          <p:cNvPr id="423" name="CasellaDiTesto 13"/>
          <p:cNvSpPr txBox="1"/>
          <p:nvPr/>
        </p:nvSpPr>
        <p:spPr>
          <a:xfrm>
            <a:off x="153223" y="1071546"/>
            <a:ext cx="8765545" cy="4728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CC0099"/>
                </a:solidFill>
                <a:latin typeface="Times New Roman"/>
                <a:ea typeface="Times New Roman"/>
                <a:cs typeface="Times New Roman"/>
                <a:sym typeface="Times New Roman"/>
              </a:defRPr>
            </a:pPr>
            <a:r>
              <a:t>Art. 589 c.p. Omicidio colposo</a:t>
            </a:r>
          </a:p>
          <a:p>
            <a:pPr algn="just">
              <a:spcBef>
                <a:spcPts val="600"/>
              </a:spcBef>
              <a:defRPr sz="2200" b="0">
                <a:latin typeface="Times New Roman"/>
                <a:ea typeface="Times New Roman"/>
                <a:cs typeface="Times New Roman"/>
                <a:sym typeface="Times New Roman"/>
              </a:defRPr>
            </a:pPr>
            <a:r>
              <a:t>«</a:t>
            </a:r>
            <a:r>
              <a:rPr i="1"/>
              <a:t>Chiunque </a:t>
            </a:r>
            <a:r>
              <a:rPr b="1" i="1">
                <a:solidFill>
                  <a:srgbClr val="CC0099"/>
                </a:solidFill>
              </a:rPr>
              <a:t>cagiona per colpa la morte </a:t>
            </a:r>
            <a:r>
              <a:rPr i="1"/>
              <a:t>di una persona è punito con la reclusione da sei mesi a cinque anni. </a:t>
            </a:r>
          </a:p>
          <a:p>
            <a:pPr algn="just">
              <a:spcBef>
                <a:spcPts val="600"/>
              </a:spcBef>
              <a:defRPr sz="2200" b="0" i="1">
                <a:latin typeface="Times New Roman"/>
                <a:ea typeface="Times New Roman"/>
                <a:cs typeface="Times New Roman"/>
                <a:sym typeface="Times New Roman"/>
              </a:defRPr>
            </a:pPr>
            <a:r>
              <a:t>Se il fatto è commesso </a:t>
            </a:r>
            <a:r>
              <a:rPr b="1">
                <a:solidFill>
                  <a:srgbClr val="CC0099"/>
                </a:solidFill>
              </a:rPr>
              <a:t>con violazione delle norme </a:t>
            </a:r>
            <a:r>
              <a:t>per la </a:t>
            </a:r>
            <a:r>
              <a:rPr b="1">
                <a:solidFill>
                  <a:srgbClr val="CC0099"/>
                </a:solidFill>
              </a:rPr>
              <a:t>prevenzione degli infortuni sul lavoro</a:t>
            </a:r>
            <a:r>
              <a:t> la pena è della reclusione da due a sette anni. </a:t>
            </a:r>
          </a:p>
          <a:p>
            <a:pPr algn="just">
              <a:spcBef>
                <a:spcPts val="600"/>
              </a:spcBef>
              <a:defRPr sz="2200" b="0" i="1">
                <a:latin typeface="Times New Roman"/>
                <a:ea typeface="Times New Roman"/>
                <a:cs typeface="Times New Roman"/>
                <a:sym typeface="Times New Roman"/>
              </a:defRPr>
            </a:pPr>
            <a:r>
              <a:t>Se il fatto è commesso </a:t>
            </a:r>
            <a:r>
              <a:rPr b="1">
                <a:solidFill>
                  <a:srgbClr val="CC0099"/>
                </a:solidFill>
              </a:rPr>
              <a:t>nell'esercizio abusivo di una professione </a:t>
            </a:r>
            <a:r>
              <a:t>per la quale è richiesta una </a:t>
            </a:r>
            <a:r>
              <a:rPr b="1">
                <a:solidFill>
                  <a:srgbClr val="CC0099"/>
                </a:solidFill>
              </a:rPr>
              <a:t>speciale abilitazione dello Stato o di un'arte sanitaria</a:t>
            </a:r>
            <a:r>
              <a:t>, la pena è della reclusione da tre a dieci anni.</a:t>
            </a:r>
          </a:p>
          <a:p>
            <a:pPr algn="just">
              <a:spcBef>
                <a:spcPts val="600"/>
              </a:spcBef>
              <a:defRPr sz="2200" b="0" i="1">
                <a:latin typeface="Times New Roman"/>
                <a:ea typeface="Times New Roman"/>
                <a:cs typeface="Times New Roman"/>
                <a:sym typeface="Times New Roman"/>
              </a:defRPr>
            </a:pPr>
            <a:r>
              <a:t>Nel caso di morte di più persone, ovvero di morte di una o più persone e di lesioni di una o più persone, si applica la pena che dovrebbe infliggersi per la più grave delle violazioni commesse aumentata fino al triplo, ma la pena non può superare gli anni quindici»</a:t>
            </a:r>
          </a:p>
        </p:txBody>
      </p:sp>
      <p:sp>
        <p:nvSpPr>
          <p:cNvPr id="424"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colposo</a:t>
            </a:r>
          </a:p>
        </p:txBody>
      </p:sp>
      <p:sp>
        <p:nvSpPr>
          <p:cNvPr id="425" name="Rettangolo 9"/>
          <p:cNvSpPr txBox="1"/>
          <p:nvPr/>
        </p:nvSpPr>
        <p:spPr>
          <a:xfrm>
            <a:off x="4863069" y="5157192"/>
            <a:ext cx="3650217" cy="16819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1800" b="0" u="sng">
                <a:solidFill>
                  <a:srgbClr val="FF3300"/>
                </a:solidFill>
                <a:latin typeface="Times New Roman"/>
                <a:ea typeface="Times New Roman"/>
                <a:cs typeface="Times New Roman"/>
                <a:sym typeface="Times New Roman"/>
              </a:defRPr>
            </a:pPr>
            <a:r>
              <a:t>Note</a:t>
            </a:r>
            <a:r>
              <a:rPr u="none"/>
              <a:t>:</a:t>
            </a:r>
          </a:p>
          <a:p>
            <a:pPr marL="171450" indent="-171450" algn="just">
              <a:buSzPct val="100000"/>
              <a:buFont typeface="Arial"/>
              <a:buChar char="•"/>
              <a:defRPr sz="1800" b="0">
                <a:solidFill>
                  <a:srgbClr val="FF3300"/>
                </a:solidFill>
                <a:latin typeface="Times New Roman"/>
                <a:ea typeface="Times New Roman"/>
                <a:cs typeface="Times New Roman"/>
                <a:sym typeface="Times New Roman"/>
              </a:defRPr>
            </a:pPr>
            <a:r>
              <a:t>Competenza Tribunale monocratico</a:t>
            </a:r>
          </a:p>
          <a:p>
            <a:pPr marL="171450" indent="-171450" algn="just">
              <a:buSzPct val="100000"/>
              <a:buFont typeface="Arial"/>
              <a:buChar char="•"/>
              <a:defRPr sz="1800" b="0">
                <a:solidFill>
                  <a:srgbClr val="FF3300"/>
                </a:solidFill>
                <a:latin typeface="Times New Roman"/>
                <a:ea typeface="Times New Roman"/>
                <a:cs typeface="Times New Roman"/>
                <a:sym typeface="Times New Roman"/>
              </a:defRPr>
            </a:pPr>
            <a:r>
              <a:t>Arresto facoltativo</a:t>
            </a:r>
          </a:p>
          <a:p>
            <a:pPr marL="171450" indent="-171450" algn="just">
              <a:buSzPct val="100000"/>
              <a:buFont typeface="Arial"/>
              <a:buChar char="•"/>
              <a:defRPr sz="1800" b="0">
                <a:solidFill>
                  <a:srgbClr val="FF3300"/>
                </a:solidFill>
                <a:latin typeface="Times New Roman"/>
                <a:ea typeface="Times New Roman"/>
                <a:cs typeface="Times New Roman"/>
                <a:sym typeface="Times New Roman"/>
              </a:defRPr>
            </a:pPr>
            <a:r>
              <a:t>Fermo: per c.1 non consentito; </a:t>
            </a:r>
          </a:p>
          <a:p>
            <a:pPr indent="892175" algn="just">
              <a:defRPr sz="1800" b="0">
                <a:solidFill>
                  <a:srgbClr val="FF3300"/>
                </a:solidFill>
                <a:latin typeface="Times New Roman"/>
                <a:ea typeface="Times New Roman"/>
                <a:cs typeface="Times New Roman"/>
                <a:sym typeface="Times New Roman"/>
              </a:defRPr>
            </a:pPr>
            <a:r>
              <a:t>per c.2-3 consentito</a:t>
            </a:r>
          </a:p>
          <a:p>
            <a:pPr marL="171450" indent="-171450" algn="just">
              <a:buSzPct val="100000"/>
              <a:buFont typeface="Arial"/>
              <a:buChar char="•"/>
              <a:defRPr sz="1800" b="0">
                <a:solidFill>
                  <a:srgbClr val="FF3300"/>
                </a:solidFill>
                <a:latin typeface="Times New Roman"/>
                <a:ea typeface="Times New Roman"/>
                <a:cs typeface="Times New Roman"/>
                <a:sym typeface="Times New Roman"/>
              </a:defRPr>
            </a:pPr>
            <a:r>
              <a:t>Procedibilità d’ufficio</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Rectangle 6"/>
          <p:cNvSpPr txBox="1">
            <a:spLocks noGrp="1"/>
          </p:cNvSpPr>
          <p:nvPr>
            <p:ph type="sldNum" sz="quarter" idx="2"/>
          </p:nvPr>
        </p:nvSpPr>
        <p:spPr>
          <a:xfrm>
            <a:off x="8487409"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sp>
        <p:nvSpPr>
          <p:cNvPr id="428" name="CasellaDiTesto 13"/>
          <p:cNvSpPr txBox="1"/>
          <p:nvPr/>
        </p:nvSpPr>
        <p:spPr>
          <a:xfrm>
            <a:off x="153223" y="1071545"/>
            <a:ext cx="8765545" cy="53627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u="sng">
                <a:solidFill>
                  <a:srgbClr val="CC0099"/>
                </a:solidFill>
                <a:latin typeface="Times New Roman"/>
                <a:ea typeface="Times New Roman"/>
                <a:cs typeface="Times New Roman"/>
                <a:sym typeface="Times New Roman"/>
              </a:defRPr>
            </a:pPr>
            <a:r>
              <a:t>ELEMENTO OGGETTIVO</a:t>
            </a:r>
            <a:r>
              <a:rPr b="0" u="none">
                <a:solidFill>
                  <a:srgbClr val="000000"/>
                </a:solidFill>
              </a:rPr>
              <a:t>: si punisce la </a:t>
            </a:r>
            <a:r>
              <a:rPr u="none">
                <a:solidFill>
                  <a:srgbClr val="000000"/>
                </a:solidFill>
              </a:rPr>
              <a:t>condotta</a:t>
            </a:r>
            <a:r>
              <a:rPr b="0" u="none">
                <a:solidFill>
                  <a:srgbClr val="000000"/>
                </a:solidFill>
              </a:rPr>
              <a:t> che si sostanzia nel </a:t>
            </a:r>
            <a:r>
              <a:rPr u="none"/>
              <a:t>cagionare la morte di taluno a causa di un comportamento colposo</a:t>
            </a:r>
            <a:r>
              <a:rPr b="0" u="none">
                <a:solidFill>
                  <a:srgbClr val="000000"/>
                </a:solidFill>
              </a:rPr>
              <a:t>, vale a dire contrario alle regole cautelari imposte dall'ordinamento giuridico.</a:t>
            </a:r>
          </a:p>
          <a:p>
            <a:pPr algn="just">
              <a:defRPr sz="2200" b="0">
                <a:latin typeface="Times New Roman"/>
                <a:ea typeface="Times New Roman"/>
                <a:cs typeface="Times New Roman"/>
                <a:sym typeface="Times New Roman"/>
              </a:defRPr>
            </a:pPr>
            <a:endParaRPr b="0" u="none">
              <a:solidFill>
                <a:srgbClr val="000000"/>
              </a:solidFill>
            </a:endParaRPr>
          </a:p>
          <a:p>
            <a:pPr algn="just">
              <a:defRPr sz="2200" u="sng">
                <a:solidFill>
                  <a:srgbClr val="CC0099"/>
                </a:solidFill>
                <a:latin typeface="Times New Roman"/>
                <a:ea typeface="Times New Roman"/>
                <a:cs typeface="Times New Roman"/>
                <a:sym typeface="Times New Roman"/>
              </a:defRPr>
            </a:pPr>
            <a:r>
              <a:t>ELEMENTO SOGGETTIVO</a:t>
            </a:r>
            <a:r>
              <a:rPr b="0" u="none">
                <a:solidFill>
                  <a:srgbClr val="000000"/>
                </a:solidFill>
              </a:rPr>
              <a:t>: l’agente non solo </a:t>
            </a:r>
            <a:r>
              <a:rPr>
                <a:solidFill>
                  <a:srgbClr val="000000"/>
                </a:solidFill>
              </a:rPr>
              <a:t>non vuole la morte</a:t>
            </a:r>
            <a:r>
              <a:rPr u="none">
                <a:solidFill>
                  <a:srgbClr val="000000"/>
                </a:solidFill>
              </a:rPr>
              <a:t> </a:t>
            </a:r>
            <a:r>
              <a:rPr b="0" u="none">
                <a:solidFill>
                  <a:srgbClr val="000000"/>
                </a:solidFill>
              </a:rPr>
              <a:t>della vittima, ma </a:t>
            </a:r>
            <a:r>
              <a:rPr>
                <a:solidFill>
                  <a:srgbClr val="000000"/>
                </a:solidFill>
              </a:rPr>
              <a:t>neppure l’elemento lesivo</a:t>
            </a:r>
            <a:r>
              <a:rPr u="none">
                <a:solidFill>
                  <a:srgbClr val="000000"/>
                </a:solidFill>
              </a:rPr>
              <a:t> </a:t>
            </a:r>
            <a:r>
              <a:rPr b="0" u="none">
                <a:solidFill>
                  <a:srgbClr val="000000"/>
                </a:solidFill>
              </a:rPr>
              <a:t>da cui deriva la morte. Si ha omicidio colposo tutte le volte in cui l’agente compia </a:t>
            </a:r>
            <a:r>
              <a:rPr u="none"/>
              <a:t>per negligenza, imprudenza o imperizia o </a:t>
            </a:r>
            <a:r>
              <a:t>violazione di norme di legge o regolamentari</a:t>
            </a:r>
            <a:r>
              <a:rPr u="none"/>
              <a:t> </a:t>
            </a:r>
            <a:r>
              <a:rPr b="0" u="none">
                <a:solidFill>
                  <a:srgbClr val="000000"/>
                </a:solidFill>
              </a:rPr>
              <a:t>un atto da cui deriva la morte di una persona.</a:t>
            </a:r>
          </a:p>
          <a:p>
            <a:pPr algn="just">
              <a:defRPr sz="2200" b="0">
                <a:latin typeface="Times New Roman"/>
                <a:ea typeface="Times New Roman"/>
                <a:cs typeface="Times New Roman"/>
                <a:sym typeface="Times New Roman"/>
              </a:defRPr>
            </a:pPr>
            <a:endParaRPr b="0" u="none">
              <a:solidFill>
                <a:srgbClr val="000000"/>
              </a:solidFill>
            </a:endParaRPr>
          </a:p>
          <a:p>
            <a:pPr algn="just">
              <a:defRPr sz="2200" b="0">
                <a:latin typeface="Times New Roman"/>
                <a:ea typeface="Times New Roman"/>
                <a:cs typeface="Times New Roman"/>
                <a:sym typeface="Times New Roman"/>
              </a:defRPr>
            </a:pPr>
            <a:r>
              <a:t>REATO </a:t>
            </a:r>
            <a:r>
              <a:rPr b="1">
                <a:solidFill>
                  <a:srgbClr val="CC0099"/>
                </a:solidFill>
              </a:rPr>
              <a:t>COMUNE</a:t>
            </a:r>
            <a:r>
              <a:t> perché può essere commesso da chiunque; </a:t>
            </a:r>
          </a:p>
          <a:p>
            <a:pPr algn="just">
              <a:defRPr sz="2200" b="0">
                <a:latin typeface="Times New Roman"/>
                <a:ea typeface="Times New Roman"/>
                <a:cs typeface="Times New Roman"/>
                <a:sym typeface="Times New Roman"/>
              </a:defRPr>
            </a:pPr>
            <a:r>
              <a:t>REATO </a:t>
            </a:r>
            <a:r>
              <a:rPr b="1">
                <a:solidFill>
                  <a:srgbClr val="CC0099"/>
                </a:solidFill>
              </a:rPr>
              <a:t>DI DANNO </a:t>
            </a:r>
            <a:r>
              <a:t>perché richiede l'offesa del bene protetto; </a:t>
            </a:r>
          </a:p>
          <a:p>
            <a:pPr algn="just">
              <a:defRPr sz="2200" b="0">
                <a:latin typeface="Times New Roman"/>
                <a:ea typeface="Times New Roman"/>
                <a:cs typeface="Times New Roman"/>
                <a:sym typeface="Times New Roman"/>
              </a:defRPr>
            </a:pPr>
            <a:r>
              <a:t>REATO </a:t>
            </a:r>
            <a:r>
              <a:rPr b="1">
                <a:solidFill>
                  <a:srgbClr val="CC0099"/>
                </a:solidFill>
              </a:rPr>
              <a:t>DI EVENTO </a:t>
            </a:r>
            <a:r>
              <a:t>perché si perfeziona con la verificazione dell'evento dannoso; </a:t>
            </a:r>
          </a:p>
          <a:p>
            <a:pPr algn="just">
              <a:defRPr sz="2200" b="0">
                <a:latin typeface="Times New Roman"/>
                <a:ea typeface="Times New Roman"/>
                <a:cs typeface="Times New Roman"/>
                <a:sym typeface="Times New Roman"/>
              </a:defRPr>
            </a:pPr>
            <a:r>
              <a:t>REATO </a:t>
            </a:r>
            <a:r>
              <a:rPr b="1">
                <a:solidFill>
                  <a:srgbClr val="CC0099"/>
                </a:solidFill>
              </a:rPr>
              <a:t>A FORMA LIBERA </a:t>
            </a:r>
            <a:r>
              <a:t>perché la condotta non è tipizzata dal legislatore.</a:t>
            </a:r>
          </a:p>
        </p:txBody>
      </p:sp>
      <p:sp>
        <p:nvSpPr>
          <p:cNvPr id="429"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colposo</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Rectangle 6"/>
          <p:cNvSpPr txBox="1">
            <a:spLocks noGrp="1"/>
          </p:cNvSpPr>
          <p:nvPr>
            <p:ph type="sldNum" sz="quarter" idx="2"/>
          </p:nvPr>
        </p:nvSpPr>
        <p:spPr>
          <a:xfrm>
            <a:off x="8487409"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sp>
        <p:nvSpPr>
          <p:cNvPr id="432" name="CasellaDiTesto 13"/>
          <p:cNvSpPr txBox="1"/>
          <p:nvPr/>
        </p:nvSpPr>
        <p:spPr>
          <a:xfrm>
            <a:off x="153223" y="1071545"/>
            <a:ext cx="8765545" cy="50071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b="0">
                <a:latin typeface="Times New Roman"/>
                <a:ea typeface="Times New Roman"/>
                <a:cs typeface="Times New Roman"/>
                <a:sym typeface="Times New Roman"/>
              </a:defRPr>
            </a:pPr>
            <a:r>
              <a:t>Nel comma 2 e comma 3 si delineano delle </a:t>
            </a:r>
            <a:r>
              <a:rPr b="1">
                <a:solidFill>
                  <a:srgbClr val="CC0099"/>
                </a:solidFill>
              </a:rPr>
              <a:t>CIRCOSTANZE AGGRAVANTI SPECIALI</a:t>
            </a:r>
            <a:r>
              <a:t>: </a:t>
            </a:r>
          </a:p>
          <a:p>
            <a:pPr marL="342900" indent="-342900" algn="just">
              <a:spcBef>
                <a:spcPts val="600"/>
              </a:spcBef>
              <a:buSzPct val="100000"/>
              <a:buFont typeface="Arial"/>
              <a:buChar char="•"/>
              <a:defRPr sz="2200" b="0" strike="sngStrike">
                <a:latin typeface="Times New Roman"/>
                <a:ea typeface="Times New Roman"/>
                <a:cs typeface="Times New Roman"/>
                <a:sym typeface="Times New Roman"/>
              </a:defRPr>
            </a:pPr>
            <a:r>
              <a:t>L’aver violato le norme sulla disciplina della circolazione stradale </a:t>
            </a:r>
            <a:r>
              <a:rPr strike="noStrike"/>
              <a:t>(ora fattispecie autonoma ex art. 589-bis introdotto con l’art. 1 della nuova legge 23 marzo 2016, n. 41)</a:t>
            </a:r>
          </a:p>
          <a:p>
            <a:pPr marL="342900" indent="-342900" algn="just">
              <a:spcBef>
                <a:spcPts val="600"/>
              </a:spcBef>
              <a:buSzPct val="100000"/>
              <a:buFont typeface="Arial"/>
              <a:buChar char="•"/>
              <a:defRPr sz="2200" b="0">
                <a:latin typeface="Times New Roman"/>
                <a:ea typeface="Times New Roman"/>
                <a:cs typeface="Times New Roman"/>
                <a:sym typeface="Times New Roman"/>
              </a:defRPr>
            </a:pPr>
            <a:r>
              <a:t>L'aver violato le norme sulla </a:t>
            </a:r>
            <a:r>
              <a:rPr b="1">
                <a:solidFill>
                  <a:srgbClr val="CC0099"/>
                </a:solidFill>
              </a:rPr>
              <a:t>prevenzione degli infortuni sul lavoro</a:t>
            </a:r>
            <a:r>
              <a:t>;</a:t>
            </a:r>
          </a:p>
          <a:p>
            <a:pPr marL="342900" indent="-342900" algn="just">
              <a:spcBef>
                <a:spcPts val="600"/>
              </a:spcBef>
              <a:buSzPct val="100000"/>
              <a:buFont typeface="Arial"/>
              <a:buChar char="•"/>
              <a:defRPr sz="2200" b="0">
                <a:latin typeface="Times New Roman"/>
                <a:ea typeface="Times New Roman"/>
                <a:cs typeface="Times New Roman"/>
                <a:sym typeface="Times New Roman"/>
              </a:defRPr>
            </a:pPr>
            <a:r>
              <a:t>Se il fatto è commesso </a:t>
            </a:r>
            <a:r>
              <a:rPr b="1">
                <a:solidFill>
                  <a:srgbClr val="CC0099"/>
                </a:solidFill>
              </a:rPr>
              <a:t>nell’esercizio abusivo di una professione </a:t>
            </a:r>
            <a:r>
              <a:t>per la quale è richiesta una </a:t>
            </a:r>
            <a:r>
              <a:rPr b="1"/>
              <a:t>speciale abilitazione dello Stato o di un’arte sanitaria </a:t>
            </a:r>
            <a:r>
              <a:t>(art. 12, L. 11 gennaio 2018, n. 3).</a:t>
            </a:r>
          </a:p>
          <a:p>
            <a:pPr algn="just">
              <a:defRPr sz="22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Al comma 4 la fattispecie definisce anche </a:t>
            </a:r>
            <a:r>
              <a:rPr b="1">
                <a:solidFill>
                  <a:srgbClr val="CC0099"/>
                </a:solidFill>
              </a:rPr>
              <a:t>L’OMICIDIO COLPOSO PLURIMO</a:t>
            </a:r>
            <a:r>
              <a:t>.</a:t>
            </a:r>
          </a:p>
          <a:p>
            <a:pPr algn="just">
              <a:defRPr sz="22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Il </a:t>
            </a:r>
            <a:r>
              <a:rPr b="1">
                <a:solidFill>
                  <a:srgbClr val="CC0099"/>
                </a:solidFill>
              </a:rPr>
              <a:t>TENTATIVO</a:t>
            </a:r>
            <a:r>
              <a:t> </a:t>
            </a:r>
            <a:r>
              <a:rPr b="1" u="sng"/>
              <a:t>non</a:t>
            </a:r>
            <a:r>
              <a:t> è configurabile trattandosi di delitto colposo.</a:t>
            </a:r>
          </a:p>
        </p:txBody>
      </p:sp>
      <p:sp>
        <p:nvSpPr>
          <p:cNvPr id="433"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colposo</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Rectangle 6"/>
          <p:cNvSpPr txBox="1">
            <a:spLocks noGrp="1"/>
          </p:cNvSpPr>
          <p:nvPr>
            <p:ph type="sldNum" sz="quarter" idx="2"/>
          </p:nvPr>
        </p:nvSpPr>
        <p:spPr>
          <a:xfrm>
            <a:off x="8487409"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
        <p:nvSpPr>
          <p:cNvPr id="436" name="CasellaDiTesto 13"/>
          <p:cNvSpPr txBox="1"/>
          <p:nvPr/>
        </p:nvSpPr>
        <p:spPr>
          <a:xfrm>
            <a:off x="153223" y="1071546"/>
            <a:ext cx="8765545" cy="347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336600"/>
                </a:solidFill>
                <a:latin typeface="Times New Roman"/>
                <a:ea typeface="Times New Roman"/>
                <a:cs typeface="Times New Roman"/>
                <a:sym typeface="Times New Roman"/>
              </a:defRPr>
            </a:pPr>
            <a:r>
              <a:t>Art. 584 c.p. Omicidio preterintenzionale</a:t>
            </a:r>
          </a:p>
          <a:p>
            <a:pPr algn="just">
              <a:defRPr sz="2200" b="0">
                <a:latin typeface="Times New Roman"/>
                <a:ea typeface="Times New Roman"/>
                <a:cs typeface="Times New Roman"/>
                <a:sym typeface="Times New Roman"/>
              </a:defRPr>
            </a:pPr>
            <a:r>
              <a:t>«</a:t>
            </a:r>
            <a:r>
              <a:rPr i="1"/>
              <a:t>Chiunque, con </a:t>
            </a:r>
            <a:r>
              <a:rPr b="1" i="1">
                <a:solidFill>
                  <a:srgbClr val="336600"/>
                </a:solidFill>
              </a:rPr>
              <a:t>atti diretti a commettere</a:t>
            </a:r>
            <a:r>
              <a:rPr i="1"/>
              <a:t> uno dei delitti preveduti dagli articoli 581 </a:t>
            </a:r>
            <a:r>
              <a:t>(</a:t>
            </a:r>
            <a:r>
              <a:rPr b="1">
                <a:solidFill>
                  <a:srgbClr val="336600"/>
                </a:solidFill>
              </a:rPr>
              <a:t>percosse</a:t>
            </a:r>
            <a:r>
              <a:t>)</a:t>
            </a:r>
            <a:r>
              <a:rPr i="1"/>
              <a:t> e 582 </a:t>
            </a:r>
            <a:r>
              <a:t>(</a:t>
            </a:r>
            <a:r>
              <a:rPr b="1">
                <a:solidFill>
                  <a:srgbClr val="336600"/>
                </a:solidFill>
              </a:rPr>
              <a:t>lesioni personali</a:t>
            </a:r>
            <a:r>
              <a:t>)</a:t>
            </a:r>
            <a:r>
              <a:rPr i="1"/>
              <a:t>, </a:t>
            </a:r>
            <a:r>
              <a:rPr b="1" i="1">
                <a:solidFill>
                  <a:srgbClr val="336600"/>
                </a:solidFill>
              </a:rPr>
              <a:t>cagiona la morte </a:t>
            </a:r>
            <a:r>
              <a:rPr i="1"/>
              <a:t>di un uomo, è punito con la reclusione da dieci a diciotto anni.»</a:t>
            </a:r>
          </a:p>
          <a:p>
            <a:pPr algn="just">
              <a:defRPr sz="2200" b="0">
                <a:latin typeface="Times New Roman"/>
                <a:ea typeface="Times New Roman"/>
                <a:cs typeface="Times New Roman"/>
                <a:sym typeface="Times New Roman"/>
              </a:defRPr>
            </a:pPr>
            <a:endParaRPr i="1"/>
          </a:p>
          <a:p>
            <a:pPr algn="just">
              <a:defRPr sz="2200">
                <a:solidFill>
                  <a:srgbClr val="336600"/>
                </a:solidFill>
                <a:latin typeface="Times New Roman"/>
                <a:ea typeface="Times New Roman"/>
                <a:cs typeface="Times New Roman"/>
                <a:sym typeface="Times New Roman"/>
              </a:defRPr>
            </a:pPr>
            <a:r>
              <a:t>REATO COMUNE, DI DANNO, DI EVENTO, A FORMA LIBERA</a:t>
            </a:r>
          </a:p>
          <a:p>
            <a:pPr algn="just">
              <a:defRPr sz="22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Si consuma nel momento e nel luogo in cui viene cagionata la morte e, pertanto, il </a:t>
            </a:r>
            <a:r>
              <a:rPr b="1">
                <a:solidFill>
                  <a:srgbClr val="336600"/>
                </a:solidFill>
              </a:rPr>
              <a:t>TENTATIVO non è ammissibile </a:t>
            </a:r>
            <a:r>
              <a:t>(se non si verifica l’evento si rientra nel 581 o 582 c.p..</a:t>
            </a:r>
          </a:p>
        </p:txBody>
      </p:sp>
      <p:sp>
        <p:nvSpPr>
          <p:cNvPr id="437"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preterintenzionale</a:t>
            </a:r>
          </a:p>
        </p:txBody>
      </p:sp>
      <p:sp>
        <p:nvSpPr>
          <p:cNvPr id="438" name="Rettangolo 9"/>
          <p:cNvSpPr/>
          <p:nvPr/>
        </p:nvSpPr>
        <p:spPr>
          <a:xfrm>
            <a:off x="4860032" y="4745287"/>
            <a:ext cx="3384375" cy="1708210"/>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14000"/>
              </a:lnSpc>
              <a:defRPr sz="20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Competenza Corte d’Assise</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Arresto facoltativo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Fermo: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Procedibilità d’ufficio</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Rectangle 6"/>
          <p:cNvSpPr txBox="1">
            <a:spLocks noGrp="1"/>
          </p:cNvSpPr>
          <p:nvPr>
            <p:ph type="sldNum" sz="quarter" idx="2"/>
          </p:nvPr>
        </p:nvSpPr>
        <p:spPr>
          <a:xfrm>
            <a:off x="8487409"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sp>
        <p:nvSpPr>
          <p:cNvPr id="441" name="CasellaDiTesto 13"/>
          <p:cNvSpPr txBox="1"/>
          <p:nvPr/>
        </p:nvSpPr>
        <p:spPr>
          <a:xfrm>
            <a:off x="153223" y="1071545"/>
            <a:ext cx="8765545" cy="55278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u="sng">
                <a:solidFill>
                  <a:srgbClr val="336600"/>
                </a:solidFill>
                <a:latin typeface="Times New Roman"/>
                <a:ea typeface="Times New Roman"/>
                <a:cs typeface="Times New Roman"/>
                <a:sym typeface="Times New Roman"/>
              </a:defRPr>
            </a:pPr>
            <a:r>
              <a:t>ELEMENTO OGGETTIVO</a:t>
            </a:r>
            <a:r>
              <a:rPr b="0" u="none">
                <a:solidFill>
                  <a:srgbClr val="000000"/>
                </a:solidFill>
              </a:rPr>
              <a:t>: la </a:t>
            </a:r>
            <a:r>
              <a:rPr u="none">
                <a:solidFill>
                  <a:srgbClr val="000000"/>
                </a:solidFill>
              </a:rPr>
              <a:t>condotta</a:t>
            </a:r>
            <a:r>
              <a:rPr b="0" u="none">
                <a:solidFill>
                  <a:srgbClr val="000000"/>
                </a:solidFill>
              </a:rPr>
              <a:t> si identifica con quella dei reati di </a:t>
            </a:r>
            <a:r>
              <a:rPr u="none" cap="small"/>
              <a:t>percosse e lesioni</a:t>
            </a:r>
            <a:r>
              <a:rPr b="0" u="none">
                <a:solidFill>
                  <a:srgbClr val="000000"/>
                </a:solidFill>
              </a:rPr>
              <a:t>, ma è richiesto l’</a:t>
            </a:r>
            <a:r>
              <a:rPr u="none">
                <a:solidFill>
                  <a:srgbClr val="000000"/>
                </a:solidFill>
              </a:rPr>
              <a:t>evento</a:t>
            </a:r>
            <a:r>
              <a:rPr b="0" u="none">
                <a:solidFill>
                  <a:srgbClr val="000000"/>
                </a:solidFill>
              </a:rPr>
              <a:t> della </a:t>
            </a:r>
            <a:r>
              <a:rPr u="none" cap="small"/>
              <a:t>morte</a:t>
            </a:r>
            <a:r>
              <a:rPr b="0" u="none">
                <a:solidFill>
                  <a:srgbClr val="000000"/>
                </a:solidFill>
              </a:rPr>
              <a:t> di un uomo. </a:t>
            </a:r>
          </a:p>
          <a:p>
            <a:pPr algn="just">
              <a:spcBef>
                <a:spcPts val="600"/>
              </a:spcBef>
              <a:defRPr sz="2200" b="0">
                <a:latin typeface="Times New Roman"/>
                <a:ea typeface="Times New Roman"/>
                <a:cs typeface="Times New Roman"/>
                <a:sym typeface="Times New Roman"/>
              </a:defRPr>
            </a:pPr>
            <a:r>
              <a:t>L’espressione </a:t>
            </a:r>
            <a:r>
              <a:rPr b="1" i="1"/>
              <a:t>atti diretti </a:t>
            </a:r>
            <a:r>
              <a:t>a commettere non deve ritenersi legata al presupposto del tentativo: nell’omicidio preterintenzionale non è trasfusa la formulazione </a:t>
            </a:r>
            <a:r>
              <a:rPr i="1"/>
              <a:t>ex</a:t>
            </a:r>
            <a:r>
              <a:t> art. 56 di “</a:t>
            </a:r>
            <a:r>
              <a:rPr i="1"/>
              <a:t>atti idonei</a:t>
            </a:r>
            <a:r>
              <a:t>”, ma è prevista la sola formula “</a:t>
            </a:r>
            <a:r>
              <a:rPr b="1" i="1">
                <a:solidFill>
                  <a:srgbClr val="336600"/>
                </a:solidFill>
              </a:rPr>
              <a:t>atti diretti a</a:t>
            </a:r>
            <a:r>
              <a:t>” (…).</a:t>
            </a:r>
          </a:p>
          <a:p>
            <a:pPr algn="just">
              <a:spcBef>
                <a:spcPts val="600"/>
              </a:spcBef>
              <a:defRPr sz="2200" b="0">
                <a:latin typeface="Times New Roman"/>
                <a:ea typeface="Times New Roman"/>
                <a:cs typeface="Times New Roman"/>
                <a:sym typeface="Times New Roman"/>
              </a:defRPr>
            </a:pPr>
            <a:r>
              <a:t>Anche un semplice comportamento minaccioso ed aggressivo può assumere rilevanza, sempre che sia diretto a percuotere o a ledere. </a:t>
            </a:r>
          </a:p>
          <a:p>
            <a:pPr algn="just">
              <a:spcBef>
                <a:spcPts val="600"/>
              </a:spcBef>
              <a:defRPr sz="2200" b="0">
                <a:latin typeface="Times New Roman"/>
                <a:ea typeface="Times New Roman"/>
                <a:cs typeface="Times New Roman"/>
                <a:sym typeface="Times New Roman"/>
              </a:defRPr>
            </a:pPr>
            <a:r>
              <a:t>È sufficiente che sussista un </a:t>
            </a:r>
            <a:r>
              <a:rPr b="1"/>
              <a:t>rapporto di causa ed effetto </a:t>
            </a:r>
            <a:r>
              <a:t>tra gli atti diretti a percuotere o a ledere e l’evento letale.</a:t>
            </a:r>
          </a:p>
          <a:p>
            <a:pPr algn="just">
              <a:spcBef>
                <a:spcPts val="600"/>
              </a:spcBef>
              <a:defRPr sz="800" b="0">
                <a:latin typeface="Times New Roman"/>
                <a:ea typeface="Times New Roman"/>
                <a:cs typeface="Times New Roman"/>
                <a:sym typeface="Times New Roman"/>
              </a:defRPr>
            </a:pPr>
            <a:endParaRPr/>
          </a:p>
          <a:p>
            <a:pPr algn="just">
              <a:spcBef>
                <a:spcPts val="600"/>
              </a:spcBef>
              <a:defRPr sz="2200" u="sng">
                <a:solidFill>
                  <a:srgbClr val="336600"/>
                </a:solidFill>
                <a:latin typeface="Times New Roman"/>
                <a:ea typeface="Times New Roman"/>
                <a:cs typeface="Times New Roman"/>
                <a:sym typeface="Times New Roman"/>
              </a:defRPr>
            </a:pPr>
            <a:r>
              <a:t>ELEMENTO SOGGETTIVO</a:t>
            </a:r>
            <a:r>
              <a:rPr u="none">
                <a:solidFill>
                  <a:srgbClr val="000000"/>
                </a:solidFill>
              </a:rPr>
              <a:t> </a:t>
            </a:r>
            <a:r>
              <a:rPr b="0" u="none">
                <a:solidFill>
                  <a:srgbClr val="000000"/>
                </a:solidFill>
              </a:rPr>
              <a:t>è la </a:t>
            </a:r>
            <a:r>
              <a:rPr u="none"/>
              <a:t>PRETERINTENZIONE</a:t>
            </a:r>
            <a:r>
              <a:rPr b="0" u="none">
                <a:solidFill>
                  <a:srgbClr val="000000"/>
                </a:solidFill>
              </a:rPr>
              <a:t>, che consiste nella </a:t>
            </a:r>
            <a:r>
              <a:rPr u="none">
                <a:solidFill>
                  <a:srgbClr val="000000"/>
                </a:solidFill>
              </a:rPr>
              <a:t>volontarietà delle percosse e delle lesioni (DOLO) </a:t>
            </a:r>
            <a:r>
              <a:rPr b="0" u="none">
                <a:solidFill>
                  <a:srgbClr val="000000"/>
                </a:solidFill>
              </a:rPr>
              <a:t>alle quali </a:t>
            </a:r>
            <a:r>
              <a:rPr u="none">
                <a:solidFill>
                  <a:srgbClr val="000000"/>
                </a:solidFill>
              </a:rPr>
              <a:t>consegue la morte dell'aggredito</a:t>
            </a:r>
            <a:r>
              <a:rPr b="0" u="none">
                <a:solidFill>
                  <a:srgbClr val="000000"/>
                </a:solidFill>
              </a:rPr>
              <a:t>, come evento non voluto neppure nella forma eventuale e indiretta della previsione del rischio </a:t>
            </a:r>
            <a:r>
              <a:rPr u="none">
                <a:solidFill>
                  <a:srgbClr val="000000"/>
                </a:solidFill>
              </a:rPr>
              <a:t>(RESPONSABILITÀ OGGETTIVA)</a:t>
            </a:r>
            <a:r>
              <a:rPr b="0" u="none">
                <a:solidFill>
                  <a:srgbClr val="000000"/>
                </a:solidFill>
              </a:rPr>
              <a:t>.</a:t>
            </a:r>
          </a:p>
        </p:txBody>
      </p:sp>
      <p:sp>
        <p:nvSpPr>
          <p:cNvPr id="442"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preterintenzionale</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Rectangle 6"/>
          <p:cNvSpPr txBox="1">
            <a:spLocks noGrp="1"/>
          </p:cNvSpPr>
          <p:nvPr>
            <p:ph type="sldNum" sz="quarter" idx="2"/>
          </p:nvPr>
        </p:nvSpPr>
        <p:spPr>
          <a:xfrm>
            <a:off x="8487409"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sp>
        <p:nvSpPr>
          <p:cNvPr id="445" name="CasellaDiTesto 13"/>
          <p:cNvSpPr txBox="1"/>
          <p:nvPr/>
        </p:nvSpPr>
        <p:spPr>
          <a:xfrm>
            <a:off x="153223" y="1071545"/>
            <a:ext cx="8765545" cy="43467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a:solidFill>
                  <a:srgbClr val="336600"/>
                </a:solidFill>
                <a:latin typeface="Times New Roman"/>
                <a:ea typeface="Times New Roman"/>
                <a:cs typeface="Times New Roman"/>
                <a:sym typeface="Times New Roman"/>
              </a:defRPr>
            </a:pPr>
            <a:r>
              <a:t>L’AGGRAVANTE DELLA PREMEDITAZIONE</a:t>
            </a:r>
          </a:p>
          <a:p>
            <a:pPr algn="just">
              <a:spcBef>
                <a:spcPts val="600"/>
              </a:spcBef>
              <a:defRPr sz="2200">
                <a:latin typeface="Times New Roman"/>
                <a:ea typeface="Times New Roman"/>
                <a:cs typeface="Times New Roman"/>
                <a:sym typeface="Times New Roman"/>
              </a:defRPr>
            </a:pPr>
            <a:r>
              <a:t>L’aggravante della premeditazione</a:t>
            </a:r>
            <a:r>
              <a:rPr b="0"/>
              <a:t>, di cui al numero 3 del primo comma dell’articolo 577 del codice penale e da </a:t>
            </a:r>
            <a:r>
              <a:rPr u="sng">
                <a:solidFill>
                  <a:srgbClr val="336600"/>
                </a:solidFill>
              </a:rPr>
              <a:t>NON</a:t>
            </a:r>
            <a:r>
              <a:rPr b="0"/>
              <a:t> </a:t>
            </a:r>
            <a:r>
              <a:rPr u="sng">
                <a:solidFill>
                  <a:srgbClr val="336600"/>
                </a:solidFill>
              </a:rPr>
              <a:t>confondere</a:t>
            </a:r>
            <a:r>
              <a:rPr b="0"/>
              <a:t> con la </a:t>
            </a:r>
            <a:r>
              <a:rPr u="sng">
                <a:solidFill>
                  <a:srgbClr val="336600"/>
                </a:solidFill>
              </a:rPr>
              <a:t>PRETERINTENZIONE</a:t>
            </a:r>
            <a:r>
              <a:rPr b="0"/>
              <a:t>, </a:t>
            </a:r>
            <a:r>
              <a:t>postula il radicamento e la persistenza costante, per un apprezzabile lasso di tempo, nella psiche del reo del proposito omicida</a:t>
            </a:r>
            <a:r>
              <a:rPr b="0"/>
              <a:t>, in relazione al quale costituiscono indici sintomatici il previo studio delle occasioni ed opportunità per l’attuazione, un’adeguata organizzazione di mezzi e la predisposizione delle modalità esecutive.</a:t>
            </a:r>
          </a:p>
          <a:p>
            <a:pPr algn="just">
              <a:spcBef>
                <a:spcPts val="600"/>
              </a:spcBef>
              <a:defRPr sz="2200" b="0">
                <a:latin typeface="Times New Roman"/>
                <a:ea typeface="Times New Roman"/>
                <a:cs typeface="Times New Roman"/>
                <a:sym typeface="Times New Roman"/>
              </a:defRPr>
            </a:pPr>
            <a:r>
              <a:t>Dunque gli elementi necessari caratterizzanti la </a:t>
            </a:r>
            <a:r>
              <a:rPr b="1" u="sng">
                <a:solidFill>
                  <a:srgbClr val="336600"/>
                </a:solidFill>
              </a:rPr>
              <a:t>PREMEDITAZIONE</a:t>
            </a:r>
            <a:r>
              <a:t> sono:</a:t>
            </a:r>
          </a:p>
          <a:p>
            <a:pPr marL="342900" indent="-342900" algn="just">
              <a:spcBef>
                <a:spcPts val="600"/>
              </a:spcBef>
              <a:buSzPct val="100000"/>
              <a:buChar char="➢"/>
              <a:defRPr sz="2200">
                <a:solidFill>
                  <a:srgbClr val="336600"/>
                </a:solidFill>
                <a:latin typeface="Times New Roman"/>
                <a:ea typeface="Times New Roman"/>
                <a:cs typeface="Times New Roman"/>
                <a:sym typeface="Times New Roman"/>
              </a:defRPr>
            </a:pPr>
            <a:r>
              <a:t>apprezzabile lasso di tempo </a:t>
            </a:r>
            <a:r>
              <a:rPr b="0">
                <a:solidFill>
                  <a:srgbClr val="000000"/>
                </a:solidFill>
              </a:rPr>
              <a:t>tra il sorgere del proposito criminoso e la sua attuazione;</a:t>
            </a:r>
          </a:p>
          <a:p>
            <a:pPr marL="342900" indent="-342900" algn="just">
              <a:spcBef>
                <a:spcPts val="600"/>
              </a:spcBef>
              <a:buSzPct val="100000"/>
              <a:buChar char="➢"/>
              <a:defRPr sz="2200">
                <a:solidFill>
                  <a:srgbClr val="336600"/>
                </a:solidFill>
                <a:latin typeface="Times New Roman"/>
                <a:ea typeface="Times New Roman"/>
                <a:cs typeface="Times New Roman"/>
                <a:sym typeface="Times New Roman"/>
              </a:defRPr>
            </a:pPr>
            <a:r>
              <a:t>persistenza della risoluzione criminosa</a:t>
            </a:r>
            <a:r>
              <a:rPr b="0">
                <a:solidFill>
                  <a:srgbClr val="000000"/>
                </a:solidFill>
              </a:rPr>
              <a:t>, ferma e irrevocabile.</a:t>
            </a:r>
          </a:p>
        </p:txBody>
      </p:sp>
      <p:sp>
        <p:nvSpPr>
          <p:cNvPr id="446"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preterintenzionale</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Rectangle 6"/>
          <p:cNvSpPr txBox="1">
            <a:spLocks noGrp="1"/>
          </p:cNvSpPr>
          <p:nvPr>
            <p:ph type="sldNum" sz="quarter" idx="2"/>
          </p:nvPr>
        </p:nvSpPr>
        <p:spPr>
          <a:xfrm>
            <a:off x="860174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sp>
        <p:nvSpPr>
          <p:cNvPr id="449" name="CasellaDiTesto 13"/>
          <p:cNvSpPr txBox="1"/>
          <p:nvPr/>
        </p:nvSpPr>
        <p:spPr>
          <a:xfrm>
            <a:off x="369247" y="1124743"/>
            <a:ext cx="8405505" cy="45764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C00000"/>
                </a:solidFill>
                <a:latin typeface="Times New Roman"/>
                <a:ea typeface="Times New Roman"/>
                <a:cs typeface="Times New Roman"/>
                <a:sym typeface="Times New Roman"/>
              </a:defRPr>
            </a:pPr>
            <a:r>
              <a:t>Art. 581 c.p. Percosse</a:t>
            </a:r>
          </a:p>
          <a:p>
            <a:pPr algn="just">
              <a:defRPr sz="2200" b="0" i="1">
                <a:latin typeface="Times New Roman"/>
                <a:ea typeface="Times New Roman"/>
                <a:cs typeface="Times New Roman"/>
                <a:sym typeface="Times New Roman"/>
              </a:defRPr>
            </a:pPr>
            <a:r>
              <a:t>«Chiunque </a:t>
            </a:r>
            <a:r>
              <a:rPr b="1">
                <a:solidFill>
                  <a:srgbClr val="C00000"/>
                </a:solidFill>
              </a:rPr>
              <a:t>percuote</a:t>
            </a:r>
            <a:r>
              <a:t> </a:t>
            </a:r>
            <a:r>
              <a:rPr b="1">
                <a:solidFill>
                  <a:srgbClr val="C00000"/>
                </a:solidFill>
              </a:rPr>
              <a:t>taluno</a:t>
            </a:r>
            <a:r>
              <a:t>, se dal fatto </a:t>
            </a:r>
            <a:r>
              <a:rPr b="1">
                <a:solidFill>
                  <a:srgbClr val="C00000"/>
                </a:solidFill>
              </a:rPr>
              <a:t>non deriva una malattia </a:t>
            </a:r>
            <a:r>
              <a:t>nel corpo o nella mente, è punito, a querela della persona offesa, salvo che ricorra la circostanza aggravante prevista dall’articolo 61, numero 11-octies) </a:t>
            </a:r>
            <a:r>
              <a:rPr>
                <a:solidFill>
                  <a:srgbClr val="FF0000"/>
                </a:solidFill>
              </a:rPr>
              <a:t>(l’avere agito, nei delitti commessi con violenza o minaccia, in danno degli esercenti le professioni sanitarie e socio-sanitarie ecc..)</a:t>
            </a:r>
            <a:r>
              <a:t>, con la reclusione fino a sei mesi o con la multa fino a euro 309.</a:t>
            </a:r>
          </a:p>
          <a:p>
            <a:pPr algn="just">
              <a:defRPr sz="2200" b="0" i="1">
                <a:latin typeface="Times New Roman"/>
                <a:ea typeface="Times New Roman"/>
                <a:cs typeface="Times New Roman"/>
                <a:sym typeface="Times New Roman"/>
              </a:defRPr>
            </a:pPr>
            <a:r>
              <a:t>Tale disposizione non si applica quando la legge considera la violenza come elemento costitutivo o come circostanza aggravante di un altro reato.»</a:t>
            </a:r>
          </a:p>
          <a:p>
            <a:pPr algn="just">
              <a:defRPr sz="2000" b="0">
                <a:latin typeface="Times New Roman"/>
                <a:ea typeface="Times New Roman"/>
                <a:cs typeface="Times New Roman"/>
                <a:sym typeface="Times New Roman"/>
              </a:defRPr>
            </a:pPr>
            <a:endParaRPr/>
          </a:p>
          <a:p>
            <a:pPr algn="just">
              <a:defRPr sz="1600" b="0">
                <a:latin typeface="Times New Roman"/>
                <a:ea typeface="Times New Roman"/>
                <a:cs typeface="Times New Roman"/>
                <a:sym typeface="Times New Roman"/>
              </a:defRPr>
            </a:pPr>
            <a:r>
              <a:t>L'interesse tutelato è </a:t>
            </a:r>
            <a:r>
              <a:rPr b="1">
                <a:solidFill>
                  <a:srgbClr val="C00000"/>
                </a:solidFill>
              </a:rPr>
              <a:t>l'integrità fisica dell'individuo.</a:t>
            </a:r>
          </a:p>
          <a:p>
            <a:pPr algn="just">
              <a:defRPr sz="2000" b="0">
                <a:latin typeface="Times New Roman"/>
                <a:ea typeface="Times New Roman"/>
                <a:cs typeface="Times New Roman"/>
                <a:sym typeface="Times New Roman"/>
              </a:defRPr>
            </a:pPr>
            <a:endParaRPr b="1">
              <a:solidFill>
                <a:srgbClr val="C00000"/>
              </a:solidFill>
            </a:endParaRPr>
          </a:p>
        </p:txBody>
      </p:sp>
      <p:sp>
        <p:nvSpPr>
          <p:cNvPr id="450"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Percosse</a:t>
            </a:r>
          </a:p>
        </p:txBody>
      </p:sp>
      <p:sp>
        <p:nvSpPr>
          <p:cNvPr id="451" name="Rettangolo 9"/>
          <p:cNvSpPr/>
          <p:nvPr/>
        </p:nvSpPr>
        <p:spPr>
          <a:xfrm>
            <a:off x="4932040" y="4921501"/>
            <a:ext cx="3926241" cy="1708209"/>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14000"/>
              </a:lnSpc>
              <a:defRPr sz="20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Competenza del Giudice di Pace</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Arresto non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Fermo non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Procedibilità a querela di parte</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Rectangle 6"/>
          <p:cNvSpPr txBox="1">
            <a:spLocks noGrp="1"/>
          </p:cNvSpPr>
          <p:nvPr>
            <p:ph type="sldNum" sz="quarter" idx="2"/>
          </p:nvPr>
        </p:nvSpPr>
        <p:spPr>
          <a:xfrm>
            <a:off x="860174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sp>
        <p:nvSpPr>
          <p:cNvPr id="454" name="CasellaDiTesto 13"/>
          <p:cNvSpPr txBox="1"/>
          <p:nvPr/>
        </p:nvSpPr>
        <p:spPr>
          <a:xfrm>
            <a:off x="153223" y="1124744"/>
            <a:ext cx="8837553" cy="46521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u="sng">
                <a:solidFill>
                  <a:srgbClr val="C00000"/>
                </a:solidFill>
                <a:latin typeface="Times New Roman"/>
                <a:ea typeface="Times New Roman"/>
                <a:cs typeface="Times New Roman"/>
                <a:sym typeface="Times New Roman"/>
              </a:defRPr>
            </a:pPr>
            <a:r>
              <a:t>ELEMENTO OGGETTIVO</a:t>
            </a:r>
            <a:r>
              <a:rPr u="none"/>
              <a:t>: </a:t>
            </a:r>
            <a:r>
              <a:rPr b="0" u="none">
                <a:solidFill>
                  <a:srgbClr val="000000"/>
                </a:solidFill>
              </a:rPr>
              <a:t>si punisce chi </a:t>
            </a:r>
            <a:r>
              <a:rPr u="none"/>
              <a:t>percuote</a:t>
            </a:r>
            <a:r>
              <a:rPr b="0" u="none">
                <a:solidFill>
                  <a:srgbClr val="000000"/>
                </a:solidFill>
              </a:rPr>
              <a:t> taluno, senza malattia nel corpo e nella mente.</a:t>
            </a:r>
          </a:p>
          <a:p>
            <a:pPr algn="just">
              <a:defRPr sz="2200" b="0">
                <a:latin typeface="Times New Roman"/>
                <a:ea typeface="Times New Roman"/>
                <a:cs typeface="Times New Roman"/>
                <a:sym typeface="Times New Roman"/>
              </a:defRPr>
            </a:pPr>
            <a:endParaRPr b="0" u="none">
              <a:solidFill>
                <a:srgbClr val="000000"/>
              </a:solidFill>
            </a:endParaRPr>
          </a:p>
          <a:p>
            <a:pPr algn="just">
              <a:defRPr sz="2200" b="0">
                <a:latin typeface="Times New Roman"/>
                <a:ea typeface="Times New Roman"/>
                <a:cs typeface="Times New Roman"/>
                <a:sym typeface="Times New Roman"/>
              </a:defRPr>
            </a:pPr>
            <a:endParaRPr b="0" u="none">
              <a:solidFill>
                <a:srgbClr val="000000"/>
              </a:solidFill>
            </a:endParaRPr>
          </a:p>
          <a:p>
            <a:pPr algn="just">
              <a:defRPr sz="800" b="0">
                <a:latin typeface="Times New Roman"/>
                <a:ea typeface="Times New Roman"/>
                <a:cs typeface="Times New Roman"/>
                <a:sym typeface="Times New Roman"/>
              </a:defRPr>
            </a:pPr>
            <a:endParaRPr b="0" u="none">
              <a:solidFill>
                <a:srgbClr val="000000"/>
              </a:solidFill>
            </a:endParaRPr>
          </a:p>
          <a:p>
            <a:pPr algn="just">
              <a:defRPr sz="2200">
                <a:solidFill>
                  <a:srgbClr val="C00000"/>
                </a:solidFill>
                <a:latin typeface="Times New Roman"/>
                <a:ea typeface="Times New Roman"/>
                <a:cs typeface="Times New Roman"/>
                <a:sym typeface="Times New Roman"/>
              </a:defRPr>
            </a:pPr>
            <a:r>
              <a:t>PERCOSSE</a:t>
            </a:r>
            <a:r>
              <a:rPr b="0">
                <a:solidFill>
                  <a:srgbClr val="000000"/>
                </a:solidFill>
              </a:rPr>
              <a:t>: è una qualsiasi manomissione violenta dell’altrui persona fisica che </a:t>
            </a:r>
            <a:r>
              <a:rPr u="sng">
                <a:solidFill>
                  <a:srgbClr val="000000"/>
                </a:solidFill>
              </a:rPr>
              <a:t>procuri una sensazione fisica di dolore</a:t>
            </a:r>
            <a:r>
              <a:rPr b="0">
                <a:solidFill>
                  <a:srgbClr val="000000"/>
                </a:solidFill>
              </a:rPr>
              <a:t>, senza che ne derivi una malattia (es. schiaffo, spinta, torsione di un’articolazione)</a:t>
            </a:r>
            <a:r>
              <a:rPr sz="2000" b="0">
                <a:solidFill>
                  <a:srgbClr val="000000"/>
                </a:solidFill>
              </a:rPr>
              <a:t>.</a:t>
            </a:r>
          </a:p>
          <a:p>
            <a:pPr algn="just">
              <a:defRPr sz="2000" b="0" i="1">
                <a:latin typeface="Times New Roman"/>
                <a:ea typeface="Times New Roman"/>
                <a:cs typeface="Times New Roman"/>
                <a:sym typeface="Times New Roman"/>
              </a:defRPr>
            </a:pPr>
            <a:endParaRPr sz="2000" b="0">
              <a:solidFill>
                <a:srgbClr val="000000"/>
              </a:solidFill>
            </a:endParaRPr>
          </a:p>
          <a:p>
            <a:pPr algn="just">
              <a:defRPr sz="2000" b="0" i="1">
                <a:latin typeface="Times New Roman"/>
                <a:ea typeface="Times New Roman"/>
                <a:cs typeface="Times New Roman"/>
                <a:sym typeface="Times New Roman"/>
              </a:defRPr>
            </a:pPr>
            <a:r>
              <a:t>(si precisa che alterazioni fisiche da cui non derivano conseguenze funzionali non configurano una malattia, </a:t>
            </a:r>
            <a:r>
              <a:rPr u="sng">
                <a:solidFill>
                  <a:srgbClr val="FF0000"/>
                </a:solidFill>
              </a:rPr>
              <a:t>come ad es. le ecchimosi</a:t>
            </a:r>
            <a:r>
              <a:t>)</a:t>
            </a:r>
          </a:p>
          <a:p>
            <a:pPr algn="just">
              <a:defRPr sz="2100" b="0" i="1">
                <a:latin typeface="Times New Roman"/>
                <a:ea typeface="Times New Roman"/>
                <a:cs typeface="Times New Roman"/>
                <a:sym typeface="Times New Roman"/>
              </a:defRPr>
            </a:pPr>
            <a:endParaRPr/>
          </a:p>
          <a:p>
            <a:pPr algn="just">
              <a:defRPr sz="2100" b="0">
                <a:latin typeface="Times New Roman"/>
                <a:ea typeface="Times New Roman"/>
                <a:cs typeface="Times New Roman"/>
                <a:sym typeface="Times New Roman"/>
              </a:defRPr>
            </a:pPr>
            <a:r>
              <a:t>Con il termine percuotere si intende </a:t>
            </a:r>
            <a:r>
              <a:rPr b="1" u="sng"/>
              <a:t>la condotta </a:t>
            </a:r>
            <a:r>
              <a:t>di </a:t>
            </a:r>
            <a:r>
              <a:rPr>
                <a:solidFill>
                  <a:srgbClr val="4472C4"/>
                </a:solidFill>
              </a:rPr>
              <a:t>battere</a:t>
            </a:r>
            <a:r>
              <a:t>, </a:t>
            </a:r>
            <a:r>
              <a:rPr>
                <a:solidFill>
                  <a:srgbClr val="4472C4"/>
                </a:solidFill>
              </a:rPr>
              <a:t>colpire,</a:t>
            </a:r>
            <a:r>
              <a:t> </a:t>
            </a:r>
            <a:r>
              <a:rPr u="sng">
                <a:solidFill>
                  <a:srgbClr val="4472C4"/>
                </a:solidFill>
              </a:rPr>
              <a:t>picchiare,</a:t>
            </a:r>
            <a:r>
              <a:t> ma anche ogni azione di violenza realizzata mediante l’uso di un oggetto contundente.</a:t>
            </a:r>
          </a:p>
        </p:txBody>
      </p:sp>
      <p:sp>
        <p:nvSpPr>
          <p:cNvPr id="455"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Percosse</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Segnaposto contenuto 1"/>
          <p:cNvSpPr txBox="1">
            <a:spLocks noGrp="1"/>
          </p:cNvSpPr>
          <p:nvPr>
            <p:ph type="body" idx="1"/>
          </p:nvPr>
        </p:nvSpPr>
        <p:spPr>
          <a:xfrm>
            <a:off x="628650" y="1124743"/>
            <a:ext cx="7886700" cy="5052221"/>
          </a:xfrm>
          <a:prstGeom prst="rect">
            <a:avLst/>
          </a:prstGeom>
        </p:spPr>
        <p:txBody>
          <a:bodyPr/>
          <a:lstStyle/>
          <a:p>
            <a:pPr marL="0" indent="0" algn="just">
              <a:spcBef>
                <a:spcPts val="0"/>
              </a:spcBef>
              <a:buSzTx/>
              <a:buNone/>
              <a:defRPr sz="2000" b="1" u="sng">
                <a:solidFill>
                  <a:srgbClr val="C00000"/>
                </a:solidFill>
                <a:latin typeface="Times New Roman"/>
                <a:ea typeface="Times New Roman"/>
                <a:cs typeface="Times New Roman"/>
                <a:sym typeface="Times New Roman"/>
              </a:defRPr>
            </a:pPr>
            <a:r>
              <a:t>ELEMENTO SOGGETTIVO</a:t>
            </a:r>
            <a:r>
              <a:rPr b="0" u="none">
                <a:solidFill>
                  <a:srgbClr val="000000"/>
                </a:solidFill>
              </a:rPr>
              <a:t>: </a:t>
            </a:r>
            <a:r>
              <a:rPr u="none">
                <a:solidFill>
                  <a:srgbClr val="000000"/>
                </a:solidFill>
              </a:rPr>
              <a:t>DOLO GENERICO</a:t>
            </a:r>
            <a:r>
              <a:rPr b="0" u="none">
                <a:solidFill>
                  <a:srgbClr val="000000"/>
                </a:solidFill>
                <a:latin typeface="Calibri"/>
                <a:ea typeface="Calibri"/>
                <a:cs typeface="Calibri"/>
                <a:sym typeface="Calibri"/>
              </a:rPr>
              <a:t>, </a:t>
            </a:r>
            <a:r>
              <a:rPr b="0" u="none">
                <a:solidFill>
                  <a:srgbClr val="000000"/>
                </a:solidFill>
              </a:rPr>
              <a:t>consistente nella coscienza e volontà di colpire un soggetto con violenza, così da poter cagionare una sensazione fisica di dolore. Si specifica che l’eventuale movente è irrilevante ai fini della fattispecie.</a:t>
            </a:r>
          </a:p>
          <a:p>
            <a:pPr marL="0" indent="0" algn="just">
              <a:spcBef>
                <a:spcPts val="0"/>
              </a:spcBef>
              <a:buSzTx/>
              <a:buNone/>
              <a:defRPr sz="2000" b="1">
                <a:latin typeface="Times New Roman"/>
                <a:ea typeface="Times New Roman"/>
                <a:cs typeface="Times New Roman"/>
                <a:sym typeface="Times New Roman"/>
              </a:defRPr>
            </a:pPr>
            <a:endParaRPr b="0" u="none">
              <a:solidFill>
                <a:srgbClr val="000000"/>
              </a:solidFill>
            </a:endParaRPr>
          </a:p>
          <a:p>
            <a:pPr marL="0" indent="0" algn="just">
              <a:spcBef>
                <a:spcPts val="0"/>
              </a:spcBef>
              <a:buSzTx/>
              <a:buNone/>
              <a:defRPr sz="800">
                <a:latin typeface="Times New Roman"/>
                <a:ea typeface="Times New Roman"/>
                <a:cs typeface="Times New Roman"/>
                <a:sym typeface="Times New Roman"/>
              </a:defRPr>
            </a:pPr>
            <a:endParaRPr b="0" u="none">
              <a:solidFill>
                <a:srgbClr val="000000"/>
              </a:solidFill>
            </a:endParaRPr>
          </a:p>
          <a:p>
            <a:pPr marL="0" indent="0" algn="just">
              <a:spcBef>
                <a:spcPts val="0"/>
              </a:spcBef>
              <a:buSzTx/>
              <a:buNone/>
              <a:defRPr sz="2200">
                <a:latin typeface="Times New Roman"/>
                <a:ea typeface="Times New Roman"/>
                <a:cs typeface="Times New Roman"/>
                <a:sym typeface="Times New Roman"/>
              </a:defRPr>
            </a:pPr>
            <a:r>
              <a:t>È un </a:t>
            </a:r>
            <a:r>
              <a:rPr b="1">
                <a:solidFill>
                  <a:srgbClr val="C00000"/>
                </a:solidFill>
              </a:rPr>
              <a:t>reato istantaneo </a:t>
            </a:r>
            <a:r>
              <a:t>e si consuma nel momento e nel luogo della percossa.</a:t>
            </a:r>
          </a:p>
          <a:p>
            <a:pPr marL="0" indent="0" algn="just">
              <a:spcBef>
                <a:spcPts val="0"/>
              </a:spcBef>
              <a:buSzTx/>
              <a:buNone/>
              <a:defRPr sz="2200">
                <a:latin typeface="Times New Roman"/>
                <a:ea typeface="Times New Roman"/>
                <a:cs typeface="Times New Roman"/>
                <a:sym typeface="Times New Roman"/>
              </a:defRPr>
            </a:pPr>
            <a:endParaRPr/>
          </a:p>
          <a:p>
            <a:pPr marL="0" indent="0" algn="just">
              <a:spcBef>
                <a:spcPts val="0"/>
              </a:spcBef>
              <a:buSzTx/>
              <a:buNone/>
              <a:defRPr sz="700">
                <a:latin typeface="Times New Roman"/>
                <a:ea typeface="Times New Roman"/>
                <a:cs typeface="Times New Roman"/>
                <a:sym typeface="Times New Roman"/>
              </a:defRPr>
            </a:pPr>
            <a:endParaRPr/>
          </a:p>
          <a:p>
            <a:pPr marL="0" indent="0" algn="just">
              <a:spcBef>
                <a:spcPts val="0"/>
              </a:spcBef>
              <a:buSzTx/>
              <a:buNone/>
              <a:defRPr sz="2000" b="1">
                <a:solidFill>
                  <a:srgbClr val="C00000"/>
                </a:solidFill>
                <a:latin typeface="Times New Roman"/>
                <a:ea typeface="Times New Roman"/>
                <a:cs typeface="Times New Roman"/>
                <a:sym typeface="Times New Roman"/>
              </a:defRPr>
            </a:pPr>
            <a:r>
              <a:t>REATO COMUNE, DI DANNO, DI MERA CONDOTTA </a:t>
            </a:r>
            <a:r>
              <a:rPr b="0">
                <a:solidFill>
                  <a:srgbClr val="000000"/>
                </a:solidFill>
              </a:rPr>
              <a:t>(no evento altrimenti lesione).</a:t>
            </a:r>
          </a:p>
          <a:p>
            <a:pPr marL="0" indent="0" algn="just">
              <a:spcBef>
                <a:spcPts val="0"/>
              </a:spcBef>
              <a:buSzTx/>
              <a:buNone/>
              <a:defRPr sz="800">
                <a:latin typeface="Times New Roman"/>
                <a:ea typeface="Times New Roman"/>
                <a:cs typeface="Times New Roman"/>
                <a:sym typeface="Times New Roman"/>
              </a:defRPr>
            </a:pPr>
            <a:endParaRPr b="0">
              <a:solidFill>
                <a:srgbClr val="000000"/>
              </a:solidFill>
            </a:endParaRPr>
          </a:p>
          <a:p>
            <a:pPr marL="0" indent="0" algn="just">
              <a:spcBef>
                <a:spcPts val="0"/>
              </a:spcBef>
              <a:buSzTx/>
              <a:buNone/>
              <a:defRPr sz="2100">
                <a:latin typeface="Times New Roman"/>
                <a:ea typeface="Times New Roman"/>
                <a:cs typeface="Times New Roman"/>
                <a:sym typeface="Times New Roman"/>
              </a:defRPr>
            </a:pPr>
            <a:r>
              <a:t>Questo reato </a:t>
            </a:r>
            <a:r>
              <a:rPr b="1" u="sng"/>
              <a:t>non si applica </a:t>
            </a:r>
            <a:r>
              <a:t>quando la legge considera la violenza come elemento costitutivo o come circostanza aggravante di un altro reato, in questo caso viene rubricato solo l’altro reato perché quello di percosse resta assorbito (violenza e resistenza a pubblico ufficiale, violenza sessuale, violenza privata, rapina, estorsione, eccetera).</a:t>
            </a:r>
          </a:p>
        </p:txBody>
      </p:sp>
      <p:sp>
        <p:nvSpPr>
          <p:cNvPr id="458"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sp>
        <p:nvSpPr>
          <p:cNvPr id="459" name="Titolo 3"/>
          <p:cNvSpPr txBox="1">
            <a:spLocks noGrp="1"/>
          </p:cNvSpPr>
          <p:nvPr>
            <p:ph type="title"/>
          </p:nvPr>
        </p:nvSpPr>
        <p:spPr>
          <a:xfrm>
            <a:off x="829419" y="196287"/>
            <a:ext cx="5544617" cy="535400"/>
          </a:xfrm>
          <a:prstGeom prst="rect">
            <a:avLst/>
          </a:prstGeom>
        </p:spPr>
        <p:txBody>
          <a:bodyPr/>
          <a:lstStyle>
            <a:lvl1pPr defTabSz="694944">
              <a:defRPr sz="2964">
                <a:solidFill>
                  <a:schemeClr val="accent3">
                    <a:lumOff val="44000"/>
                  </a:schemeClr>
                </a:solidFill>
                <a:latin typeface="Book Antiqua"/>
                <a:ea typeface="Book Antiqua"/>
                <a:cs typeface="Book Antiqua"/>
                <a:sym typeface="Book Antiqua"/>
              </a:defRPr>
            </a:lvl1pPr>
          </a:lstStyle>
          <a:p>
            <a:pPr>
              <a:defRPr>
                <a:effectLst/>
              </a:defRPr>
            </a:pPr>
            <a:r>
              <a:t>Percosse</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Segnaposto contenuto 1"/>
          <p:cNvSpPr txBox="1">
            <a:spLocks noGrp="1"/>
          </p:cNvSpPr>
          <p:nvPr>
            <p:ph type="body" idx="1"/>
          </p:nvPr>
        </p:nvSpPr>
        <p:spPr>
          <a:xfrm>
            <a:off x="628650" y="1052735"/>
            <a:ext cx="7886700" cy="5544618"/>
          </a:xfrm>
          <a:prstGeom prst="rect">
            <a:avLst/>
          </a:prstGeom>
        </p:spPr>
        <p:txBody>
          <a:bodyPr/>
          <a:lstStyle/>
          <a:p>
            <a:pPr marL="0" indent="0" algn="just">
              <a:lnSpc>
                <a:spcPct val="72000"/>
              </a:lnSpc>
              <a:buSzTx/>
              <a:buNone/>
              <a:defRPr sz="1900">
                <a:latin typeface="Times New Roman"/>
                <a:ea typeface="Times New Roman"/>
                <a:cs typeface="Times New Roman"/>
                <a:sym typeface="Times New Roman"/>
              </a:defRPr>
            </a:pPr>
            <a:r>
              <a:t>La l. n. 159 del 2023 (</a:t>
            </a:r>
            <a:r>
              <a:rPr b="1" u="sng">
                <a:solidFill>
                  <a:srgbClr val="FF0000"/>
                </a:solidFill>
              </a:rPr>
              <a:t>cd. decreto Caivano</a:t>
            </a:r>
            <a:r>
              <a:t>), rubricato:</a:t>
            </a:r>
          </a:p>
          <a:p>
            <a:pPr marL="0" indent="0" algn="just">
              <a:lnSpc>
                <a:spcPct val="72000"/>
              </a:lnSpc>
              <a:buSzTx/>
              <a:buNone/>
              <a:defRPr sz="1900">
                <a:latin typeface="Times New Roman"/>
                <a:ea typeface="Times New Roman"/>
                <a:cs typeface="Times New Roman"/>
                <a:sym typeface="Times New Roman"/>
              </a:defRPr>
            </a:pPr>
            <a:r>
              <a:t> “Misure urgenti di contrasto al disagio giovanile, alla povertà educativa e alla criminalità minorile, nonché per la sicurezza dei minori in ambito digitale”</a:t>
            </a:r>
          </a:p>
          <a:p>
            <a:pPr marL="0" indent="0" algn="just">
              <a:lnSpc>
                <a:spcPct val="72000"/>
              </a:lnSpc>
              <a:buSzTx/>
              <a:buNone/>
              <a:defRPr sz="1900" i="1">
                <a:latin typeface="Times New Roman"/>
                <a:ea typeface="Times New Roman"/>
                <a:cs typeface="Times New Roman"/>
                <a:sym typeface="Times New Roman"/>
              </a:defRPr>
            </a:pPr>
            <a:endParaRPr/>
          </a:p>
          <a:p>
            <a:pPr marL="0" indent="0" algn="just">
              <a:lnSpc>
                <a:spcPct val="72000"/>
              </a:lnSpc>
              <a:buSzTx/>
              <a:buNone/>
              <a:defRPr sz="1900" b="1">
                <a:latin typeface="Times New Roman"/>
                <a:ea typeface="Times New Roman"/>
                <a:cs typeface="Times New Roman"/>
                <a:sym typeface="Times New Roman"/>
              </a:defRPr>
            </a:pPr>
            <a:r>
              <a:t>all’art. 5, comma 2</a:t>
            </a:r>
            <a:r>
              <a:rPr b="0"/>
              <a:t>, prevede che: </a:t>
            </a:r>
            <a:r>
              <a:rPr b="0" i="1"/>
              <a:t>“Fino a quando non è proposta querela o non è presentata denuncia per taluno dei reati di cui agli articoli 581 (Percosse), 582 (Lesioni personale), 610 (Violenza Privata), 612 (Minaccia) e 635 (Danneggiamento) del codice penale, commessi da minorenni di età superiore agli anni quattordici nei confronti di altro minorenne, è applicabile </a:t>
            </a:r>
            <a:r>
              <a:rPr i="1" u="sng">
                <a:solidFill>
                  <a:srgbClr val="FF0000"/>
                </a:solidFill>
              </a:rPr>
              <a:t>la procedura di ammonimento</a:t>
            </a:r>
            <a:r>
              <a:rPr b="0" i="1">
                <a:solidFill>
                  <a:srgbClr val="FF0000"/>
                </a:solidFill>
              </a:rPr>
              <a:t> </a:t>
            </a:r>
            <a:r>
              <a:rPr b="0" i="1"/>
              <a:t>di cui all’articolo 8, commi 1 e 2, dalla legge 23 aprile 2009, n.38”. </a:t>
            </a:r>
          </a:p>
          <a:p>
            <a:pPr marL="0" indent="0" algn="just">
              <a:lnSpc>
                <a:spcPct val="72000"/>
              </a:lnSpc>
              <a:buSzTx/>
              <a:buNone/>
              <a:defRPr sz="1900"/>
            </a:pPr>
            <a:r>
              <a:t> </a:t>
            </a:r>
            <a:r>
              <a:rPr>
                <a:latin typeface="Times New Roman"/>
                <a:ea typeface="Times New Roman"/>
                <a:cs typeface="Times New Roman"/>
                <a:sym typeface="Times New Roman"/>
              </a:rPr>
              <a:t>la persona offesa può esporre i fatti all'autorità di pubblica sicurezza avanzando richiesta al questore di ammonimento nei confronti dell'autore della condotta. </a:t>
            </a:r>
          </a:p>
          <a:p>
            <a:pPr marL="0" indent="0" algn="just">
              <a:lnSpc>
                <a:spcPct val="72000"/>
              </a:lnSpc>
              <a:buSzTx/>
              <a:buNone/>
              <a:defRPr sz="1900">
                <a:latin typeface="Times New Roman"/>
                <a:ea typeface="Times New Roman"/>
                <a:cs typeface="Times New Roman"/>
                <a:sym typeface="Times New Roman"/>
              </a:defRPr>
            </a:pPr>
            <a:r>
              <a:t>Il questore, assunte se necessario informazioni dagli organi investigativi e sentite le persone informate dei fatti, ove ritenga fondata l'istanza, ammonisce oralmente il soggetto nei cui confronti è stato richiesto il provvedimento, </a:t>
            </a:r>
            <a:r>
              <a:rPr u="sng">
                <a:solidFill>
                  <a:srgbClr val="00B0F0"/>
                </a:solidFill>
              </a:rPr>
              <a:t>invitandolo a tenere una condotta conforme alla legge e redigendo processo verbale.</a:t>
            </a:r>
          </a:p>
        </p:txBody>
      </p:sp>
      <p:sp>
        <p:nvSpPr>
          <p:cNvPr id="462"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sp>
        <p:nvSpPr>
          <p:cNvPr id="463" name="Titolo 3"/>
          <p:cNvSpPr txBox="1">
            <a:spLocks noGrp="1"/>
          </p:cNvSpPr>
          <p:nvPr>
            <p:ph type="title"/>
          </p:nvPr>
        </p:nvSpPr>
        <p:spPr>
          <a:xfrm>
            <a:off x="755576" y="105271"/>
            <a:ext cx="7759773" cy="575766"/>
          </a:xfrm>
          <a:prstGeom prst="rect">
            <a:avLst/>
          </a:prstGeom>
        </p:spPr>
        <p:txBody>
          <a:bodyPr/>
          <a:lstStyle>
            <a:lvl1pPr defTabSz="740663">
              <a:defRPr sz="3159">
                <a:solidFill>
                  <a:schemeClr val="accent3">
                    <a:lumOff val="44000"/>
                  </a:schemeClr>
                </a:solidFill>
                <a:latin typeface="Book Antiqua"/>
                <a:ea typeface="Book Antiqua"/>
                <a:cs typeface="Book Antiqua"/>
                <a:sym typeface="Book Antiqua"/>
              </a:defRPr>
            </a:lvl1pPr>
          </a:lstStyle>
          <a:p>
            <a:pPr>
              <a:defRPr>
                <a:effectLst/>
              </a:defRPr>
            </a:pPr>
            <a:r>
              <a:t>Percosse</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Rectangle 6"/>
          <p:cNvSpPr txBox="1">
            <a:spLocks noGrp="1"/>
          </p:cNvSpPr>
          <p:nvPr>
            <p:ph type="sldNum" sz="quarter" idx="2"/>
          </p:nvPr>
        </p:nvSpPr>
        <p:spPr>
          <a:xfrm>
            <a:off x="860174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22</a:t>
            </a:fld>
            <a:endParaRPr/>
          </a:p>
        </p:txBody>
      </p:sp>
      <p:sp>
        <p:nvSpPr>
          <p:cNvPr id="466" name="CasellaDiTesto 13"/>
          <p:cNvSpPr txBox="1"/>
          <p:nvPr/>
        </p:nvSpPr>
        <p:spPr>
          <a:xfrm>
            <a:off x="369247" y="980728"/>
            <a:ext cx="8405505" cy="34577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C55A11"/>
                </a:solidFill>
                <a:latin typeface="Times New Roman"/>
                <a:ea typeface="Times New Roman"/>
                <a:cs typeface="Times New Roman"/>
                <a:sym typeface="Times New Roman"/>
              </a:defRPr>
            </a:pPr>
            <a:r>
              <a:rPr dirty="0"/>
              <a:t>Art. 582 </a:t>
            </a:r>
            <a:r>
              <a:rPr dirty="0" err="1"/>
              <a:t>c.p.</a:t>
            </a:r>
            <a:r>
              <a:rPr dirty="0"/>
              <a:t> </a:t>
            </a:r>
            <a:r>
              <a:rPr dirty="0" err="1"/>
              <a:t>Lesione</a:t>
            </a:r>
            <a:r>
              <a:rPr dirty="0"/>
              <a:t> </a:t>
            </a:r>
            <a:r>
              <a:rPr dirty="0" err="1"/>
              <a:t>personale</a:t>
            </a:r>
            <a:endParaRPr dirty="0"/>
          </a:p>
          <a:p>
            <a:pPr algn="just">
              <a:defRPr sz="2200" b="0" i="1">
                <a:latin typeface="Times New Roman"/>
                <a:ea typeface="Times New Roman"/>
                <a:cs typeface="Times New Roman"/>
                <a:sym typeface="Times New Roman"/>
              </a:defRPr>
            </a:pPr>
            <a:r>
              <a:rPr dirty="0"/>
              <a:t>«</a:t>
            </a:r>
            <a:r>
              <a:rPr dirty="0" err="1"/>
              <a:t>Chiunque</a:t>
            </a:r>
            <a:r>
              <a:rPr dirty="0"/>
              <a:t> </a:t>
            </a:r>
            <a:r>
              <a:rPr dirty="0" err="1"/>
              <a:t>cagiona</a:t>
            </a:r>
            <a:r>
              <a:rPr dirty="0"/>
              <a:t> ad </a:t>
            </a:r>
            <a:r>
              <a:rPr dirty="0" err="1"/>
              <a:t>alcuno</a:t>
            </a:r>
            <a:r>
              <a:rPr dirty="0"/>
              <a:t> una </a:t>
            </a:r>
            <a:r>
              <a:rPr dirty="0" err="1"/>
              <a:t>lesione</a:t>
            </a:r>
            <a:r>
              <a:rPr dirty="0"/>
              <a:t> </a:t>
            </a:r>
            <a:r>
              <a:rPr dirty="0" err="1"/>
              <a:t>personale</a:t>
            </a:r>
            <a:r>
              <a:rPr dirty="0"/>
              <a:t>, </a:t>
            </a:r>
            <a:r>
              <a:rPr dirty="0" err="1"/>
              <a:t>dalla</a:t>
            </a:r>
            <a:r>
              <a:rPr dirty="0"/>
              <a:t> quale </a:t>
            </a:r>
            <a:r>
              <a:rPr b="1" dirty="0" err="1">
                <a:solidFill>
                  <a:srgbClr val="C55A11"/>
                </a:solidFill>
              </a:rPr>
              <a:t>deriva</a:t>
            </a:r>
            <a:r>
              <a:rPr b="1" dirty="0">
                <a:solidFill>
                  <a:srgbClr val="C55A11"/>
                </a:solidFill>
              </a:rPr>
              <a:t> una </a:t>
            </a:r>
            <a:r>
              <a:rPr b="1" dirty="0" err="1">
                <a:solidFill>
                  <a:srgbClr val="C55A11"/>
                </a:solidFill>
              </a:rPr>
              <a:t>malattia</a:t>
            </a:r>
            <a:r>
              <a:rPr b="1" dirty="0">
                <a:solidFill>
                  <a:srgbClr val="C55A11"/>
                </a:solidFill>
              </a:rPr>
              <a:t> </a:t>
            </a:r>
            <a:r>
              <a:rPr b="1" dirty="0" err="1">
                <a:solidFill>
                  <a:srgbClr val="C55A11"/>
                </a:solidFill>
              </a:rPr>
              <a:t>nel</a:t>
            </a:r>
            <a:r>
              <a:rPr b="1" dirty="0">
                <a:solidFill>
                  <a:srgbClr val="C55A11"/>
                </a:solidFill>
              </a:rPr>
              <a:t> </a:t>
            </a:r>
            <a:r>
              <a:rPr b="1" dirty="0" err="1">
                <a:solidFill>
                  <a:srgbClr val="C55A11"/>
                </a:solidFill>
              </a:rPr>
              <a:t>corpo</a:t>
            </a:r>
            <a:r>
              <a:rPr b="1" dirty="0">
                <a:solidFill>
                  <a:srgbClr val="C55A11"/>
                </a:solidFill>
              </a:rPr>
              <a:t> o </a:t>
            </a:r>
            <a:r>
              <a:rPr b="1" dirty="0" err="1">
                <a:solidFill>
                  <a:srgbClr val="C55A11"/>
                </a:solidFill>
              </a:rPr>
              <a:t>nella</a:t>
            </a:r>
            <a:r>
              <a:rPr b="1" dirty="0">
                <a:solidFill>
                  <a:srgbClr val="C55A11"/>
                </a:solidFill>
              </a:rPr>
              <a:t> </a:t>
            </a:r>
            <a:r>
              <a:rPr b="1" dirty="0" err="1">
                <a:solidFill>
                  <a:srgbClr val="C55A11"/>
                </a:solidFill>
              </a:rPr>
              <a:t>mente</a:t>
            </a:r>
            <a:r>
              <a:rPr dirty="0"/>
              <a:t>, è </a:t>
            </a:r>
            <a:r>
              <a:rPr dirty="0" err="1"/>
              <a:t>punito</a:t>
            </a:r>
            <a:r>
              <a:rPr sz="2000" dirty="0"/>
              <a:t>, a querela </a:t>
            </a:r>
            <a:r>
              <a:rPr sz="2000" dirty="0" err="1"/>
              <a:t>della</a:t>
            </a:r>
            <a:r>
              <a:rPr sz="2000" dirty="0"/>
              <a:t> persona </a:t>
            </a:r>
            <a:r>
              <a:rPr sz="2000" dirty="0" err="1"/>
              <a:t>offesa</a:t>
            </a:r>
            <a:r>
              <a:rPr sz="2000" dirty="0"/>
              <a:t>, </a:t>
            </a:r>
            <a:r>
              <a:rPr dirty="0"/>
              <a:t>con la </a:t>
            </a:r>
            <a:r>
              <a:rPr dirty="0" err="1"/>
              <a:t>reclusione</a:t>
            </a:r>
            <a:r>
              <a:rPr dirty="0"/>
              <a:t> da sei </a:t>
            </a:r>
            <a:r>
              <a:rPr dirty="0" err="1"/>
              <a:t>mesi</a:t>
            </a:r>
            <a:r>
              <a:rPr dirty="0"/>
              <a:t> a </a:t>
            </a:r>
            <a:r>
              <a:rPr dirty="0" err="1"/>
              <a:t>tre</a:t>
            </a:r>
            <a:r>
              <a:rPr dirty="0"/>
              <a:t> </a:t>
            </a:r>
            <a:r>
              <a:rPr dirty="0" err="1"/>
              <a:t>anni</a:t>
            </a:r>
            <a:r>
              <a:rPr dirty="0"/>
              <a:t>.</a:t>
            </a:r>
          </a:p>
          <a:p>
            <a:pPr algn="just">
              <a:defRPr sz="2000" b="0" i="1">
                <a:latin typeface="Times New Roman"/>
                <a:ea typeface="Times New Roman"/>
                <a:cs typeface="Times New Roman"/>
                <a:sym typeface="Times New Roman"/>
              </a:defRPr>
            </a:pPr>
            <a:r>
              <a:rPr dirty="0"/>
              <a:t>Si </a:t>
            </a:r>
            <a:r>
              <a:rPr dirty="0" err="1"/>
              <a:t>procede</a:t>
            </a:r>
            <a:r>
              <a:rPr dirty="0"/>
              <a:t> </a:t>
            </a:r>
            <a:r>
              <a:rPr dirty="0" err="1"/>
              <a:t>tuttavia</a:t>
            </a:r>
            <a:r>
              <a:rPr dirty="0"/>
              <a:t> </a:t>
            </a:r>
            <a:r>
              <a:rPr dirty="0" err="1"/>
              <a:t>d'ufficio</a:t>
            </a:r>
            <a:r>
              <a:rPr dirty="0"/>
              <a:t> se </a:t>
            </a:r>
            <a:r>
              <a:rPr dirty="0" err="1"/>
              <a:t>ricorre</a:t>
            </a:r>
            <a:r>
              <a:rPr dirty="0"/>
              <a:t> </a:t>
            </a:r>
            <a:r>
              <a:rPr dirty="0" err="1"/>
              <a:t>taluna</a:t>
            </a:r>
            <a:r>
              <a:rPr dirty="0"/>
              <a:t> </a:t>
            </a:r>
            <a:r>
              <a:rPr dirty="0" err="1"/>
              <a:t>delle</a:t>
            </a:r>
            <a:r>
              <a:rPr dirty="0"/>
              <a:t> </a:t>
            </a:r>
            <a:r>
              <a:rPr dirty="0" err="1"/>
              <a:t>circostanze</a:t>
            </a:r>
            <a:r>
              <a:rPr dirty="0"/>
              <a:t> </a:t>
            </a:r>
            <a:r>
              <a:rPr dirty="0" err="1"/>
              <a:t>aggravanti</a:t>
            </a:r>
            <a:r>
              <a:rPr dirty="0"/>
              <a:t> </a:t>
            </a:r>
            <a:r>
              <a:rPr dirty="0" err="1"/>
              <a:t>previste</a:t>
            </a:r>
            <a:r>
              <a:rPr dirty="0"/>
              <a:t> </a:t>
            </a:r>
            <a:r>
              <a:rPr dirty="0" err="1"/>
              <a:t>negli</a:t>
            </a:r>
            <a:r>
              <a:rPr dirty="0"/>
              <a:t>  </a:t>
            </a:r>
            <a:r>
              <a:rPr dirty="0" err="1"/>
              <a:t>articoli</a:t>
            </a:r>
            <a:r>
              <a:rPr dirty="0"/>
              <a:t> 61, </a:t>
            </a:r>
            <a:r>
              <a:rPr dirty="0" err="1"/>
              <a:t>numero</a:t>
            </a:r>
            <a:r>
              <a:rPr dirty="0"/>
              <a:t> 11-octies), 583 e 585, ad </a:t>
            </a:r>
            <a:r>
              <a:rPr dirty="0" err="1"/>
              <a:t>eccezione</a:t>
            </a:r>
            <a:r>
              <a:rPr dirty="0"/>
              <a:t> di quelle indicate </a:t>
            </a:r>
            <a:r>
              <a:rPr dirty="0" err="1"/>
              <a:t>nel</a:t>
            </a:r>
            <a:r>
              <a:rPr dirty="0"/>
              <a:t> primo comma, </a:t>
            </a:r>
            <a:r>
              <a:rPr dirty="0" err="1"/>
              <a:t>numero</a:t>
            </a:r>
            <a:r>
              <a:rPr dirty="0"/>
              <a:t> 1), e </a:t>
            </a:r>
            <a:r>
              <a:rPr dirty="0" err="1"/>
              <a:t>nel</a:t>
            </a:r>
            <a:r>
              <a:rPr dirty="0"/>
              <a:t> secondo comma </a:t>
            </a:r>
            <a:r>
              <a:rPr dirty="0" err="1"/>
              <a:t>dell’articolo</a:t>
            </a:r>
            <a:r>
              <a:rPr dirty="0"/>
              <a:t> 577. </a:t>
            </a:r>
          </a:p>
          <a:p>
            <a:pPr algn="just">
              <a:defRPr sz="2000" b="0" i="1">
                <a:latin typeface="Times New Roman"/>
                <a:ea typeface="Times New Roman"/>
                <a:cs typeface="Times New Roman"/>
                <a:sym typeface="Times New Roman"/>
              </a:defRPr>
            </a:pPr>
            <a:r>
              <a:rPr dirty="0"/>
              <a:t>Si </a:t>
            </a:r>
            <a:r>
              <a:rPr dirty="0" err="1"/>
              <a:t>procede</a:t>
            </a:r>
            <a:r>
              <a:rPr dirty="0"/>
              <a:t> </a:t>
            </a:r>
            <a:r>
              <a:rPr dirty="0" err="1"/>
              <a:t>altresì</a:t>
            </a:r>
            <a:r>
              <a:rPr dirty="0"/>
              <a:t> </a:t>
            </a:r>
            <a:r>
              <a:rPr dirty="0" err="1"/>
              <a:t>d'ufficio</a:t>
            </a:r>
            <a:r>
              <a:rPr dirty="0"/>
              <a:t> se la </a:t>
            </a:r>
            <a:r>
              <a:rPr dirty="0" err="1"/>
              <a:t>malattia</a:t>
            </a:r>
            <a:r>
              <a:rPr dirty="0"/>
              <a:t> ha una </a:t>
            </a:r>
            <a:r>
              <a:rPr dirty="0" err="1"/>
              <a:t>durata</a:t>
            </a:r>
            <a:r>
              <a:rPr dirty="0"/>
              <a:t> </a:t>
            </a:r>
            <a:r>
              <a:rPr dirty="0" err="1"/>
              <a:t>superiore</a:t>
            </a:r>
            <a:r>
              <a:rPr dirty="0"/>
              <a:t> a venti </a:t>
            </a:r>
            <a:r>
              <a:rPr dirty="0" err="1"/>
              <a:t>giorni</a:t>
            </a:r>
            <a:r>
              <a:rPr dirty="0"/>
              <a:t> </a:t>
            </a:r>
            <a:r>
              <a:rPr dirty="0" err="1"/>
              <a:t>quando</a:t>
            </a:r>
            <a:r>
              <a:rPr dirty="0"/>
              <a:t> </a:t>
            </a:r>
            <a:r>
              <a:rPr dirty="0" err="1"/>
              <a:t>il</a:t>
            </a:r>
            <a:r>
              <a:rPr dirty="0"/>
              <a:t> </a:t>
            </a:r>
            <a:r>
              <a:rPr dirty="0" err="1"/>
              <a:t>fatto</a:t>
            </a:r>
            <a:r>
              <a:rPr dirty="0"/>
              <a:t> è </a:t>
            </a:r>
            <a:r>
              <a:rPr dirty="0" err="1"/>
              <a:t>commesso</a:t>
            </a:r>
            <a:r>
              <a:rPr dirty="0"/>
              <a:t> </a:t>
            </a:r>
            <a:r>
              <a:rPr dirty="0" err="1"/>
              <a:t>contro</a:t>
            </a:r>
            <a:r>
              <a:rPr dirty="0"/>
              <a:t> persona </a:t>
            </a:r>
            <a:r>
              <a:rPr dirty="0" err="1"/>
              <a:t>incapace</a:t>
            </a:r>
            <a:r>
              <a:rPr dirty="0"/>
              <a:t>, per </a:t>
            </a:r>
            <a:r>
              <a:rPr dirty="0" err="1"/>
              <a:t>età</a:t>
            </a:r>
            <a:r>
              <a:rPr dirty="0"/>
              <a:t> o per </a:t>
            </a:r>
            <a:r>
              <a:rPr dirty="0" err="1"/>
              <a:t>infermità</a:t>
            </a:r>
            <a:r>
              <a:rPr dirty="0"/>
              <a:t>.</a:t>
            </a:r>
            <a:r>
              <a:rPr sz="2200" dirty="0"/>
              <a:t>»</a:t>
            </a:r>
          </a:p>
          <a:p>
            <a:pPr algn="just">
              <a:defRPr sz="1000" b="0">
                <a:latin typeface="Times New Roman"/>
                <a:ea typeface="Times New Roman"/>
                <a:cs typeface="Times New Roman"/>
                <a:sym typeface="Times New Roman"/>
              </a:defRPr>
            </a:pPr>
            <a:endParaRPr sz="2200" dirty="0"/>
          </a:p>
          <a:p>
            <a:pPr algn="just">
              <a:defRPr sz="2200" b="0">
                <a:latin typeface="Times New Roman"/>
                <a:ea typeface="Times New Roman"/>
                <a:cs typeface="Times New Roman"/>
                <a:sym typeface="Times New Roman"/>
              </a:defRPr>
            </a:pPr>
            <a:r>
              <a:rPr dirty="0" err="1"/>
              <a:t>L'interesse</a:t>
            </a:r>
            <a:r>
              <a:rPr dirty="0"/>
              <a:t> </a:t>
            </a:r>
            <a:r>
              <a:rPr dirty="0" err="1"/>
              <a:t>tutelato</a:t>
            </a:r>
            <a:r>
              <a:rPr dirty="0"/>
              <a:t> è </a:t>
            </a:r>
            <a:r>
              <a:rPr dirty="0" err="1"/>
              <a:t>l'integrità</a:t>
            </a:r>
            <a:r>
              <a:rPr dirty="0"/>
              <a:t> </a:t>
            </a:r>
            <a:r>
              <a:rPr dirty="0" err="1"/>
              <a:t>fisica</a:t>
            </a:r>
            <a:r>
              <a:rPr dirty="0"/>
              <a:t> </a:t>
            </a:r>
            <a:r>
              <a:rPr dirty="0" err="1"/>
              <a:t>dell'individuo</a:t>
            </a:r>
            <a:r>
              <a:rPr dirty="0"/>
              <a:t>.</a:t>
            </a:r>
          </a:p>
        </p:txBody>
      </p:sp>
      <p:sp>
        <p:nvSpPr>
          <p:cNvPr id="467"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Lesioni personali dolose</a:t>
            </a:r>
          </a:p>
        </p:txBody>
      </p:sp>
      <p:sp>
        <p:nvSpPr>
          <p:cNvPr id="468" name="Rettangolo 9"/>
          <p:cNvSpPr/>
          <p:nvPr/>
        </p:nvSpPr>
        <p:spPr>
          <a:xfrm>
            <a:off x="3052654" y="4857911"/>
            <a:ext cx="5328594" cy="1568668"/>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14000"/>
              </a:lnSpc>
              <a:defRPr sz="1800" b="0" u="sng">
                <a:latin typeface="Times New Roman"/>
                <a:ea typeface="Times New Roman"/>
                <a:cs typeface="Times New Roman"/>
                <a:sym typeface="Times New Roman"/>
              </a:defRPr>
            </a:pPr>
            <a:r>
              <a:rPr dirty="0"/>
              <a:t>Note</a:t>
            </a:r>
            <a:r>
              <a:rPr u="none" dirty="0"/>
              <a:t>:</a:t>
            </a:r>
          </a:p>
          <a:p>
            <a:pPr marL="171450" indent="-171450" algn="just">
              <a:lnSpc>
                <a:spcPct val="114000"/>
              </a:lnSpc>
              <a:buSzPct val="100000"/>
              <a:buFont typeface="Arial"/>
              <a:buChar char="•"/>
              <a:defRPr sz="1800" b="0">
                <a:latin typeface="Times New Roman"/>
                <a:ea typeface="Times New Roman"/>
                <a:cs typeface="Times New Roman"/>
                <a:sym typeface="Times New Roman"/>
              </a:defRPr>
            </a:pPr>
            <a:r>
              <a:rPr dirty="0" err="1"/>
              <a:t>Competenza</a:t>
            </a:r>
            <a:r>
              <a:rPr dirty="0"/>
              <a:t>: comma 1 </a:t>
            </a:r>
            <a:r>
              <a:rPr dirty="0" err="1"/>
              <a:t>Tribunale</a:t>
            </a:r>
            <a:r>
              <a:rPr dirty="0"/>
              <a:t> </a:t>
            </a:r>
            <a:r>
              <a:rPr dirty="0" err="1"/>
              <a:t>Monocratico</a:t>
            </a:r>
            <a:r>
              <a:rPr dirty="0"/>
              <a:t>; </a:t>
            </a:r>
          </a:p>
          <a:p>
            <a:pPr indent="1435100" algn="just">
              <a:lnSpc>
                <a:spcPct val="114000"/>
              </a:lnSpc>
              <a:defRPr sz="1800" b="0">
                <a:latin typeface="Times New Roman"/>
                <a:ea typeface="Times New Roman"/>
                <a:cs typeface="Times New Roman"/>
                <a:sym typeface="Times New Roman"/>
              </a:defRPr>
            </a:pPr>
            <a:r>
              <a:rPr dirty="0"/>
              <a:t>comma 2 Giudice di Pace</a:t>
            </a:r>
          </a:p>
          <a:p>
            <a:pPr marL="171450" indent="-171450" algn="just">
              <a:lnSpc>
                <a:spcPct val="114000"/>
              </a:lnSpc>
              <a:buSzPct val="100000"/>
              <a:buFont typeface="Arial"/>
              <a:buChar char="•"/>
              <a:defRPr sz="1800" b="0">
                <a:latin typeface="Times New Roman"/>
                <a:ea typeface="Times New Roman"/>
                <a:cs typeface="Times New Roman"/>
                <a:sym typeface="Times New Roman"/>
              </a:defRPr>
            </a:pPr>
            <a:r>
              <a:rPr dirty="0" err="1"/>
              <a:t>Arresto</a:t>
            </a:r>
            <a:r>
              <a:rPr dirty="0"/>
              <a:t> </a:t>
            </a:r>
            <a:r>
              <a:rPr dirty="0" err="1"/>
              <a:t>facoltativo</a:t>
            </a:r>
            <a:r>
              <a:rPr dirty="0"/>
              <a:t> in </a:t>
            </a:r>
            <a:r>
              <a:rPr dirty="0" err="1"/>
              <a:t>flagranza</a:t>
            </a:r>
            <a:endParaRPr dirty="0"/>
          </a:p>
          <a:p>
            <a:pPr marL="171450" indent="-171450" algn="just">
              <a:lnSpc>
                <a:spcPct val="114000"/>
              </a:lnSpc>
              <a:buSzPct val="100000"/>
              <a:buFont typeface="Arial"/>
              <a:buChar char="•"/>
              <a:defRPr sz="1800" b="0">
                <a:latin typeface="Times New Roman"/>
                <a:ea typeface="Times New Roman"/>
                <a:cs typeface="Times New Roman"/>
                <a:sym typeface="Times New Roman"/>
              </a:defRPr>
            </a:pPr>
            <a:r>
              <a:rPr dirty="0" err="1"/>
              <a:t>Fermo</a:t>
            </a:r>
            <a:r>
              <a:rPr dirty="0"/>
              <a:t> non </a:t>
            </a:r>
            <a:r>
              <a:rPr dirty="0" err="1"/>
              <a:t>consentito</a:t>
            </a:r>
            <a:endParaRPr dirty="0"/>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Rectangle 6"/>
          <p:cNvSpPr txBox="1">
            <a:spLocks noGrp="1"/>
          </p:cNvSpPr>
          <p:nvPr>
            <p:ph type="sldNum" sz="quarter" idx="2"/>
          </p:nvPr>
        </p:nvSpPr>
        <p:spPr>
          <a:xfrm>
            <a:off x="860174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a:p>
        </p:txBody>
      </p:sp>
      <p:sp>
        <p:nvSpPr>
          <p:cNvPr id="471" name="CasellaDiTesto 13"/>
          <p:cNvSpPr txBox="1"/>
          <p:nvPr/>
        </p:nvSpPr>
        <p:spPr>
          <a:xfrm>
            <a:off x="331439" y="980727"/>
            <a:ext cx="8405505" cy="57818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u="sng">
                <a:solidFill>
                  <a:srgbClr val="C55A11"/>
                </a:solidFill>
                <a:latin typeface="Times New Roman"/>
                <a:ea typeface="Times New Roman"/>
                <a:cs typeface="Times New Roman"/>
                <a:sym typeface="Times New Roman"/>
              </a:defRPr>
            </a:pPr>
            <a:r>
              <a:t>ELEMENTO OGGETTIVO</a:t>
            </a:r>
            <a:r>
              <a:rPr b="0" u="none">
                <a:solidFill>
                  <a:srgbClr val="000000"/>
                </a:solidFill>
              </a:rPr>
              <a:t>: si sanziona il cagionare una </a:t>
            </a:r>
            <a:r>
              <a:rPr u="none"/>
              <a:t>lesione</a:t>
            </a:r>
            <a:r>
              <a:rPr b="0" u="none">
                <a:solidFill>
                  <a:srgbClr val="000000"/>
                </a:solidFill>
              </a:rPr>
              <a:t> </a:t>
            </a:r>
            <a:r>
              <a:rPr u="none"/>
              <a:t>personale</a:t>
            </a:r>
            <a:r>
              <a:rPr b="0" u="none">
                <a:solidFill>
                  <a:srgbClr val="000000"/>
                </a:solidFill>
              </a:rPr>
              <a:t> (condotta) dalla quale derivi una </a:t>
            </a:r>
            <a:r>
              <a:rPr u="none"/>
              <a:t>malattia</a:t>
            </a:r>
            <a:r>
              <a:rPr b="0" u="none">
                <a:solidFill>
                  <a:srgbClr val="000000"/>
                </a:solidFill>
              </a:rPr>
              <a:t> nel corpo o nella mente (evento).</a:t>
            </a:r>
          </a:p>
          <a:p>
            <a:pPr algn="just">
              <a:defRPr sz="1000" b="0">
                <a:latin typeface="Times New Roman"/>
                <a:ea typeface="Times New Roman"/>
                <a:cs typeface="Times New Roman"/>
                <a:sym typeface="Times New Roman"/>
              </a:defRPr>
            </a:pPr>
            <a:endParaRPr b="0" u="none">
              <a:solidFill>
                <a:srgbClr val="000000"/>
              </a:solidFill>
            </a:endParaRPr>
          </a:p>
          <a:p>
            <a:pPr algn="just">
              <a:defRPr sz="1000" b="0">
                <a:latin typeface="Times New Roman"/>
                <a:ea typeface="Times New Roman"/>
                <a:cs typeface="Times New Roman"/>
                <a:sym typeface="Times New Roman"/>
              </a:defRPr>
            </a:pPr>
            <a:endParaRPr b="0" u="none">
              <a:solidFill>
                <a:srgbClr val="000000"/>
              </a:solidFill>
            </a:endParaRPr>
          </a:p>
          <a:p>
            <a:pPr algn="just">
              <a:defRPr sz="1000" b="0">
                <a:latin typeface="Times New Roman"/>
                <a:ea typeface="Times New Roman"/>
                <a:cs typeface="Times New Roman"/>
                <a:sym typeface="Times New Roman"/>
              </a:defRPr>
            </a:pPr>
            <a:endParaRPr b="0" u="none">
              <a:solidFill>
                <a:srgbClr val="000000"/>
              </a:solidFill>
            </a:endParaRPr>
          </a:p>
          <a:p>
            <a:pPr algn="just">
              <a:defRPr sz="2200" b="0">
                <a:latin typeface="Times New Roman"/>
                <a:ea typeface="Times New Roman"/>
                <a:cs typeface="Times New Roman"/>
                <a:sym typeface="Times New Roman"/>
              </a:defRPr>
            </a:pPr>
            <a:r>
              <a:t>Per</a:t>
            </a:r>
            <a:r>
              <a:rPr b="1">
                <a:solidFill>
                  <a:srgbClr val="C55A11"/>
                </a:solidFill>
              </a:rPr>
              <a:t> Malattia- </a:t>
            </a:r>
            <a:r>
              <a:t>si intende tutte quelle </a:t>
            </a:r>
            <a:r>
              <a:rPr u="sng"/>
              <a:t>alterazioni di natura anatomica </a:t>
            </a:r>
            <a:r>
              <a:t>da cui deriva una limitazione funzionale o un significativo processo patologico, oppure l’aggravamento di esso o una compromissione delle funzioni dell’organismo, anche non definitiva </a:t>
            </a:r>
          </a:p>
          <a:p>
            <a:pPr algn="just">
              <a:defRPr sz="2200" b="0" i="1">
                <a:latin typeface="Times New Roman"/>
                <a:ea typeface="Times New Roman"/>
                <a:cs typeface="Times New Roman"/>
                <a:sym typeface="Times New Roman"/>
              </a:defRPr>
            </a:pPr>
            <a:r>
              <a:t>(ad es. la </a:t>
            </a:r>
            <a:r>
              <a:rPr b="1"/>
              <a:t>contusione</a:t>
            </a:r>
            <a:r>
              <a:t>, guaribile in tre giorni, costituisce malattia poiché considerata alterazione anatomica funzionale dell’organismo). </a:t>
            </a:r>
          </a:p>
          <a:p>
            <a:pPr algn="just">
              <a:defRPr sz="22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Per </a:t>
            </a:r>
            <a:r>
              <a:rPr b="1" u="sng">
                <a:solidFill>
                  <a:srgbClr val="C55A11"/>
                </a:solidFill>
              </a:rPr>
              <a:t>malattia nella mente </a:t>
            </a:r>
            <a:r>
              <a:t>la giurisprudenza ha richiamato ogni alterazione della funzionalità psichica (come ad es. l’alterazione psicopatica prodotta da un’aggressione).</a:t>
            </a:r>
          </a:p>
          <a:p>
            <a:pPr algn="just">
              <a:defRPr sz="2200" b="0">
                <a:latin typeface="Times New Roman"/>
                <a:ea typeface="Times New Roman"/>
                <a:cs typeface="Times New Roman"/>
                <a:sym typeface="Times New Roman"/>
              </a:defRPr>
            </a:pPr>
            <a:endParaRPr/>
          </a:p>
        </p:txBody>
      </p:sp>
      <p:sp>
        <p:nvSpPr>
          <p:cNvPr id="472"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Lesioni personali dolose</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Segnaposto contenuto 1"/>
          <p:cNvSpPr txBox="1">
            <a:spLocks noGrp="1"/>
          </p:cNvSpPr>
          <p:nvPr>
            <p:ph type="body" idx="1"/>
          </p:nvPr>
        </p:nvSpPr>
        <p:spPr>
          <a:xfrm>
            <a:off x="625821" y="1196752"/>
            <a:ext cx="7886701" cy="4351338"/>
          </a:xfrm>
          <a:prstGeom prst="rect">
            <a:avLst/>
          </a:prstGeom>
        </p:spPr>
        <p:txBody>
          <a:bodyPr/>
          <a:lstStyle/>
          <a:p>
            <a:pPr marL="0" indent="0" algn="just">
              <a:buSzTx/>
              <a:buNone/>
              <a:defRPr sz="2500" u="sng">
                <a:solidFill>
                  <a:srgbClr val="C55A11"/>
                </a:solidFill>
                <a:latin typeface="Times New Roman"/>
                <a:ea typeface="Times New Roman"/>
                <a:cs typeface="Times New Roman"/>
                <a:sym typeface="Times New Roman"/>
              </a:defRPr>
            </a:pPr>
            <a:r>
              <a:t>ELEMENTO SOGGETTIVO</a:t>
            </a:r>
            <a:r>
              <a:rPr u="none">
                <a:solidFill>
                  <a:srgbClr val="000000"/>
                </a:solidFill>
              </a:rPr>
              <a:t>: è il DOLO GENERICO</a:t>
            </a:r>
          </a:p>
          <a:p>
            <a:pPr algn="just">
              <a:defRPr sz="1000">
                <a:latin typeface="Times New Roman"/>
                <a:ea typeface="Times New Roman"/>
                <a:cs typeface="Times New Roman"/>
                <a:sym typeface="Times New Roman"/>
              </a:defRPr>
            </a:pPr>
            <a:endParaRPr u="none">
              <a:solidFill>
                <a:srgbClr val="000000"/>
              </a:solidFill>
            </a:endParaRPr>
          </a:p>
          <a:p>
            <a:pPr algn="just">
              <a:defRPr sz="2500">
                <a:latin typeface="Times New Roman"/>
                <a:ea typeface="Times New Roman"/>
                <a:cs typeface="Times New Roman"/>
                <a:sym typeface="Times New Roman"/>
              </a:defRPr>
            </a:pPr>
            <a:r>
              <a:t>Il reato si consuma nel momento in cui si verifica la </a:t>
            </a:r>
            <a:r>
              <a:rPr u="sng"/>
              <a:t>malattia</a:t>
            </a:r>
            <a:r>
              <a:t>. </a:t>
            </a:r>
          </a:p>
          <a:p>
            <a:pPr algn="just">
              <a:defRPr sz="2500">
                <a:latin typeface="Times New Roman"/>
                <a:ea typeface="Times New Roman"/>
                <a:cs typeface="Times New Roman"/>
                <a:sym typeface="Times New Roman"/>
              </a:defRPr>
            </a:pPr>
            <a:r>
              <a:t>Il tentativo è configurabile.</a:t>
            </a:r>
          </a:p>
          <a:p>
            <a:pPr algn="just">
              <a:defRPr sz="1000">
                <a:latin typeface="Times New Roman"/>
                <a:ea typeface="Times New Roman"/>
                <a:cs typeface="Times New Roman"/>
                <a:sym typeface="Times New Roman"/>
              </a:defRPr>
            </a:pPr>
            <a:endParaRPr/>
          </a:p>
          <a:p>
            <a:pPr marL="0" indent="0" algn="just">
              <a:buSzTx/>
              <a:buNone/>
              <a:defRPr sz="2500">
                <a:solidFill>
                  <a:srgbClr val="C55A11"/>
                </a:solidFill>
                <a:latin typeface="Times New Roman"/>
                <a:ea typeface="Times New Roman"/>
                <a:cs typeface="Times New Roman"/>
                <a:sym typeface="Times New Roman"/>
              </a:defRPr>
            </a:pPr>
            <a:r>
              <a:t>REATO COMUNE, DI DANNO, A FORMA LIBERA.</a:t>
            </a:r>
          </a:p>
          <a:p>
            <a:pPr marL="0" indent="0" algn="just">
              <a:buSzTx/>
              <a:buNone/>
              <a:defRPr sz="2500">
                <a:solidFill>
                  <a:srgbClr val="C55A11"/>
                </a:solidFill>
                <a:latin typeface="Times New Roman"/>
                <a:ea typeface="Times New Roman"/>
                <a:cs typeface="Times New Roman"/>
                <a:sym typeface="Times New Roman"/>
              </a:defRPr>
            </a:pPr>
            <a:r>
              <a:t>REATO DI EVENTO</a:t>
            </a:r>
            <a:r>
              <a:rPr>
                <a:solidFill>
                  <a:srgbClr val="000000"/>
                </a:solidFill>
              </a:rPr>
              <a:t>: è richiesto che alla lesione personale consegua la malattia fisica e mentale. Questa è la distinzione fondamentale tra lesione che percosse.</a:t>
            </a:r>
          </a:p>
        </p:txBody>
      </p:sp>
      <p:sp>
        <p:nvSpPr>
          <p:cNvPr id="475"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sp>
        <p:nvSpPr>
          <p:cNvPr id="476" name="Titolo 3"/>
          <p:cNvSpPr txBox="1">
            <a:spLocks noGrp="1"/>
          </p:cNvSpPr>
          <p:nvPr>
            <p:ph type="title"/>
          </p:nvPr>
        </p:nvSpPr>
        <p:spPr>
          <a:xfrm>
            <a:off x="800124" y="202869"/>
            <a:ext cx="5788101" cy="720759"/>
          </a:xfrm>
          <a:prstGeom prst="rect">
            <a:avLst/>
          </a:prstGeom>
        </p:spPr>
        <p:txBody>
          <a:bodyPr/>
          <a:lstStyle/>
          <a:p>
            <a:pPr defTabSz="512063">
              <a:defRPr sz="2184">
                <a:solidFill>
                  <a:schemeClr val="accent3">
                    <a:lumOff val="44000"/>
                  </a:schemeClr>
                </a:solidFill>
                <a:effectLst/>
                <a:latin typeface="Book Antiqua"/>
                <a:ea typeface="Book Antiqua"/>
                <a:cs typeface="Book Antiqua"/>
                <a:sym typeface="Book Antiqua"/>
              </a:defRPr>
            </a:pPr>
            <a:r>
              <a:t>Lesioni personali dolose</a:t>
            </a:r>
            <a:br/>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Rectangle 6"/>
          <p:cNvSpPr txBox="1">
            <a:spLocks noGrp="1"/>
          </p:cNvSpPr>
          <p:nvPr>
            <p:ph type="sldNum" sz="quarter" idx="2"/>
          </p:nvPr>
        </p:nvSpPr>
        <p:spPr>
          <a:xfrm>
            <a:off x="860174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a:p>
        </p:txBody>
      </p:sp>
      <p:sp>
        <p:nvSpPr>
          <p:cNvPr id="479" name="CasellaDiTesto 13"/>
          <p:cNvSpPr txBox="1"/>
          <p:nvPr/>
        </p:nvSpPr>
        <p:spPr>
          <a:xfrm>
            <a:off x="225231" y="980728"/>
            <a:ext cx="8693537" cy="41805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400" b="0">
                <a:latin typeface="Times New Roman"/>
                <a:ea typeface="Times New Roman"/>
                <a:cs typeface="Times New Roman"/>
                <a:sym typeface="Times New Roman"/>
              </a:defRPr>
            </a:pPr>
            <a:r>
              <a:t>Esistono 4 tipologie di lesione:</a:t>
            </a:r>
          </a:p>
          <a:p>
            <a:pPr algn="just">
              <a:defRPr sz="2400" b="0">
                <a:solidFill>
                  <a:srgbClr val="FF0000"/>
                </a:solidFill>
                <a:latin typeface="Times New Roman"/>
                <a:ea typeface="Times New Roman"/>
                <a:cs typeface="Times New Roman"/>
                <a:sym typeface="Times New Roman"/>
              </a:defRPr>
            </a:pPr>
            <a:endParaRPr/>
          </a:p>
          <a:p>
            <a:pPr marL="457200" indent="-457200" algn="just">
              <a:buSzPct val="100000"/>
              <a:buAutoNum type="arabicPeriod"/>
              <a:defRPr sz="2400">
                <a:solidFill>
                  <a:srgbClr val="C55A11"/>
                </a:solidFill>
                <a:latin typeface="Times New Roman"/>
                <a:ea typeface="Times New Roman"/>
                <a:cs typeface="Times New Roman"/>
                <a:sym typeface="Times New Roman"/>
              </a:defRPr>
            </a:pPr>
            <a:r>
              <a:t>Lievissime: </a:t>
            </a:r>
            <a:r>
              <a:rPr b="0">
                <a:solidFill>
                  <a:srgbClr val="000000"/>
                </a:solidFill>
              </a:rPr>
              <a:t>la malattia ha una durata non superiore a 20 giorni </a:t>
            </a:r>
            <a:r>
              <a:rPr sz="2000" b="0">
                <a:solidFill>
                  <a:srgbClr val="000000"/>
                </a:solidFill>
              </a:rPr>
              <a:t>e, salvo le ipotesi aggravate, è procedibile a querela di parte;</a:t>
            </a:r>
            <a:endParaRPr sz="6600" b="0"/>
          </a:p>
          <a:p>
            <a:pPr algn="just">
              <a:defRPr sz="900" b="0">
                <a:latin typeface="Times New Roman"/>
                <a:ea typeface="Times New Roman"/>
                <a:cs typeface="Times New Roman"/>
                <a:sym typeface="Times New Roman"/>
              </a:defRPr>
            </a:pPr>
            <a:r>
              <a:t>	</a:t>
            </a:r>
          </a:p>
          <a:p>
            <a:pPr marL="457200" indent="-457200" algn="just">
              <a:buSzPct val="100000"/>
              <a:buAutoNum type="arabicPeriod"/>
              <a:defRPr sz="2400" b="0">
                <a:latin typeface="Times New Roman"/>
                <a:ea typeface="Times New Roman"/>
                <a:cs typeface="Times New Roman"/>
                <a:sym typeface="Times New Roman"/>
              </a:defRPr>
            </a:pPr>
            <a:endParaRPr/>
          </a:p>
          <a:p>
            <a:pPr marL="457200" indent="-457200" algn="just">
              <a:buSzPct val="100000"/>
              <a:buAutoNum type="arabicPeriod" startAt="2"/>
              <a:defRPr sz="2400">
                <a:solidFill>
                  <a:srgbClr val="C55A11"/>
                </a:solidFill>
                <a:latin typeface="Times New Roman"/>
                <a:ea typeface="Times New Roman"/>
                <a:cs typeface="Times New Roman"/>
                <a:sym typeface="Times New Roman"/>
              </a:defRPr>
            </a:pPr>
            <a:r>
              <a:t>Lieve: </a:t>
            </a:r>
            <a:r>
              <a:rPr b="0">
                <a:solidFill>
                  <a:srgbClr val="000000"/>
                </a:solidFill>
              </a:rPr>
              <a:t>la malattia ha una durata compresa tra 21 e 40 giorni</a:t>
            </a:r>
          </a:p>
          <a:p>
            <a:pPr algn="just">
              <a:defRPr sz="1600" b="0">
                <a:latin typeface="Times New Roman"/>
                <a:ea typeface="Times New Roman"/>
                <a:cs typeface="Times New Roman"/>
                <a:sym typeface="Times New Roman"/>
              </a:defRPr>
            </a:pPr>
            <a:r>
              <a:t>                       </a:t>
            </a:r>
            <a:r>
              <a:rPr sz="1700"/>
              <a:t>  ed è perseguibile d’ufficio se cagionata a persona incapace o per età o per infermità;</a:t>
            </a:r>
          </a:p>
          <a:p>
            <a:pPr marL="457200" indent="-457200" algn="just">
              <a:buSzPct val="100000"/>
              <a:buAutoNum type="arabicPeriod" startAt="2"/>
              <a:defRPr sz="2400" b="0">
                <a:latin typeface="Times New Roman"/>
                <a:ea typeface="Times New Roman"/>
                <a:cs typeface="Times New Roman"/>
                <a:sym typeface="Times New Roman"/>
              </a:defRPr>
            </a:pPr>
            <a:endParaRPr sz="1700"/>
          </a:p>
          <a:p>
            <a:pPr marL="457200" indent="-457200" algn="just">
              <a:buSzPct val="100000"/>
              <a:buAutoNum type="arabicPeriod" startAt="2"/>
              <a:defRPr sz="2400">
                <a:solidFill>
                  <a:srgbClr val="C55A11"/>
                </a:solidFill>
                <a:latin typeface="Times New Roman"/>
                <a:ea typeface="Times New Roman"/>
                <a:cs typeface="Times New Roman"/>
                <a:sym typeface="Times New Roman"/>
              </a:defRPr>
            </a:pPr>
            <a:r>
              <a:t>Grave:</a:t>
            </a:r>
          </a:p>
          <a:p>
            <a:pPr lvl="6" algn="just">
              <a:defRPr sz="2400" b="0">
                <a:latin typeface="Times New Roman"/>
                <a:ea typeface="Times New Roman"/>
                <a:cs typeface="Times New Roman"/>
                <a:sym typeface="Times New Roman"/>
              </a:defRPr>
            </a:pPr>
            <a:r>
              <a:t>	Nei casi previsti ex art. 583 c. 1 e c. 2</a:t>
            </a:r>
          </a:p>
          <a:p>
            <a:pPr marL="457200" indent="-457200" algn="just">
              <a:buSzPct val="100000"/>
              <a:buAutoNum type="arabicPeriod" startAt="2"/>
              <a:defRPr sz="2400">
                <a:solidFill>
                  <a:srgbClr val="C55A11"/>
                </a:solidFill>
                <a:latin typeface="Times New Roman"/>
                <a:ea typeface="Times New Roman"/>
                <a:cs typeface="Times New Roman"/>
                <a:sym typeface="Times New Roman"/>
              </a:defRPr>
            </a:pPr>
            <a:r>
              <a:t>Gravissima:                            </a:t>
            </a:r>
            <a:r>
              <a:rPr sz="800">
                <a:solidFill>
                  <a:srgbClr val="000000"/>
                </a:solidFill>
              </a:rPr>
              <a:t> </a:t>
            </a:r>
            <a:r>
              <a:rPr sz="1700" b="0">
                <a:solidFill>
                  <a:srgbClr val="000000"/>
                </a:solidFill>
              </a:rPr>
              <a:t>e sono entrambe procedibili d’ufficio.</a:t>
            </a:r>
            <a:endParaRPr sz="1700" b="0"/>
          </a:p>
          <a:p>
            <a:pPr algn="just">
              <a:defRPr sz="2400" b="0">
                <a:latin typeface="Times New Roman"/>
                <a:ea typeface="Times New Roman"/>
                <a:cs typeface="Times New Roman"/>
                <a:sym typeface="Times New Roman"/>
              </a:defRPr>
            </a:pPr>
            <a:r>
              <a:t>	</a:t>
            </a:r>
          </a:p>
        </p:txBody>
      </p:sp>
      <p:sp>
        <p:nvSpPr>
          <p:cNvPr id="480" name="Callout con freccia a destra 4"/>
          <p:cNvSpPr/>
          <p:nvPr/>
        </p:nvSpPr>
        <p:spPr>
          <a:xfrm>
            <a:off x="2483767" y="3861048"/>
            <a:ext cx="1368153" cy="129614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3030" y="0"/>
                </a:lnTo>
                <a:lnTo>
                  <a:pt x="3030" y="8828"/>
                </a:lnTo>
                <a:lnTo>
                  <a:pt x="16484" y="8828"/>
                </a:lnTo>
                <a:lnTo>
                  <a:pt x="16484" y="5400"/>
                </a:lnTo>
                <a:lnTo>
                  <a:pt x="21600" y="10800"/>
                </a:lnTo>
                <a:lnTo>
                  <a:pt x="16484" y="16200"/>
                </a:lnTo>
                <a:lnTo>
                  <a:pt x="16484" y="12772"/>
                </a:lnTo>
                <a:lnTo>
                  <a:pt x="3030" y="12772"/>
                </a:lnTo>
                <a:lnTo>
                  <a:pt x="3030" y="21600"/>
                </a:lnTo>
                <a:lnTo>
                  <a:pt x="0" y="21600"/>
                </a:lnTo>
                <a:close/>
              </a:path>
            </a:pathLst>
          </a:custGeom>
          <a:gradFill>
            <a:gsLst>
              <a:gs pos="0">
                <a:srgbClr val="F7BCA2"/>
              </a:gs>
              <a:gs pos="50000">
                <a:srgbClr val="F5B093"/>
              </a:gs>
              <a:gs pos="100000">
                <a:srgbClr val="F8A47F"/>
              </a:gs>
            </a:gsLst>
            <a:lin ang="5400000"/>
          </a:gradFill>
          <a:ln w="6350">
            <a:solidFill>
              <a:srgbClr val="ED7D31"/>
            </a:solidFill>
            <a:miter/>
          </a:ln>
        </p:spPr>
        <p:txBody>
          <a:bodyPr lIns="45719" rIns="45719"/>
          <a:lstStyle/>
          <a:p>
            <a:pPr algn="ctr">
              <a:defRPr>
                <a:latin typeface="Times New Roman"/>
                <a:ea typeface="Times New Roman"/>
                <a:cs typeface="Times New Roman"/>
                <a:sym typeface="Times New Roman"/>
              </a:defRPr>
            </a:pPr>
            <a:endParaRPr/>
          </a:p>
        </p:txBody>
      </p:sp>
      <p:sp>
        <p:nvSpPr>
          <p:cNvPr id="481"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Lesioni personali dolose</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26</a:t>
            </a:fld>
            <a:endParaRPr/>
          </a:p>
        </p:txBody>
      </p:sp>
      <p:sp>
        <p:nvSpPr>
          <p:cNvPr id="484" name="CasellaDiTesto 13"/>
          <p:cNvSpPr txBox="1"/>
          <p:nvPr/>
        </p:nvSpPr>
        <p:spPr>
          <a:xfrm>
            <a:off x="153224" y="836711"/>
            <a:ext cx="8945056" cy="57332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000">
                <a:solidFill>
                  <a:srgbClr val="C55A11"/>
                </a:solidFill>
                <a:latin typeface="Times New Roman"/>
                <a:ea typeface="Times New Roman"/>
                <a:cs typeface="Times New Roman"/>
                <a:sym typeface="Times New Roman"/>
              </a:defRPr>
            </a:pPr>
            <a:r>
              <a:t>Art. 583 c.p. Circostanze aggravanti</a:t>
            </a:r>
          </a:p>
          <a:p>
            <a:pPr algn="just">
              <a:defRPr sz="2000" b="0">
                <a:latin typeface="Times New Roman"/>
                <a:ea typeface="Times New Roman"/>
                <a:cs typeface="Times New Roman"/>
                <a:sym typeface="Times New Roman"/>
              </a:defRPr>
            </a:pPr>
            <a:r>
              <a:t>«</a:t>
            </a:r>
            <a:r>
              <a:rPr i="1"/>
              <a:t>La </a:t>
            </a:r>
            <a:r>
              <a:rPr sz="2400" b="1" i="1" u="sng">
                <a:solidFill>
                  <a:srgbClr val="FF0000"/>
                </a:solidFill>
              </a:rPr>
              <a:t>lesione personale è grave</a:t>
            </a:r>
            <a:r>
              <a:rPr b="1" i="1" u="sng">
                <a:solidFill>
                  <a:srgbClr val="FF0000"/>
                </a:solidFill>
              </a:rPr>
              <a:t> </a:t>
            </a:r>
            <a:r>
              <a:rPr i="1"/>
              <a:t>e si applica la reclusione </a:t>
            </a:r>
            <a:r>
              <a:rPr i="1" u="sng">
                <a:solidFill>
                  <a:srgbClr val="C55A11"/>
                </a:solidFill>
              </a:rPr>
              <a:t>da tre a sette anni</a:t>
            </a:r>
            <a:r>
              <a:rPr i="1"/>
              <a:t>: </a:t>
            </a:r>
          </a:p>
          <a:p>
            <a:pPr algn="just">
              <a:defRPr sz="2000" b="0" i="1">
                <a:latin typeface="Times New Roman"/>
                <a:ea typeface="Times New Roman"/>
                <a:cs typeface="Times New Roman"/>
                <a:sym typeface="Times New Roman"/>
              </a:defRPr>
            </a:pPr>
            <a:r>
              <a:t>1. se dal fatto deriva una </a:t>
            </a:r>
            <a:r>
              <a:rPr u="sng">
                <a:solidFill>
                  <a:srgbClr val="CC00CC"/>
                </a:solidFill>
              </a:rPr>
              <a:t>malattia che metta in pericolo la vita </a:t>
            </a:r>
            <a:r>
              <a:t>della persona offesa, ovvero una malattia o un'incapacità di attendere alle ordinarie occupazioni per un tempo superiore ai quaranta giorni; </a:t>
            </a:r>
          </a:p>
          <a:p>
            <a:pPr algn="just">
              <a:defRPr sz="2000" b="0" i="1">
                <a:latin typeface="Times New Roman"/>
                <a:ea typeface="Times New Roman"/>
                <a:cs typeface="Times New Roman"/>
                <a:sym typeface="Times New Roman"/>
              </a:defRPr>
            </a:pPr>
            <a:r>
              <a:t>2. se il fatto produce </a:t>
            </a:r>
            <a:r>
              <a:rPr u="sng">
                <a:solidFill>
                  <a:srgbClr val="CC00CC"/>
                </a:solidFill>
              </a:rPr>
              <a:t>l'indebolimento permanente di un senso o di un organo</a:t>
            </a:r>
            <a:r>
              <a:t>; </a:t>
            </a:r>
          </a:p>
          <a:p>
            <a:pPr algn="just">
              <a:defRPr sz="600" b="0" i="1">
                <a:latin typeface="Times New Roman"/>
                <a:ea typeface="Times New Roman"/>
                <a:cs typeface="Times New Roman"/>
                <a:sym typeface="Times New Roman"/>
              </a:defRPr>
            </a:pPr>
            <a:endParaRPr/>
          </a:p>
          <a:p>
            <a:pPr algn="just">
              <a:defRPr sz="2000" b="0" i="1">
                <a:latin typeface="Times New Roman"/>
                <a:ea typeface="Times New Roman"/>
                <a:cs typeface="Times New Roman"/>
                <a:sym typeface="Times New Roman"/>
              </a:defRPr>
            </a:pPr>
            <a:endParaRPr/>
          </a:p>
          <a:p>
            <a:pPr algn="just">
              <a:defRPr sz="2000" b="0" i="1">
                <a:latin typeface="Times New Roman"/>
                <a:ea typeface="Times New Roman"/>
                <a:cs typeface="Times New Roman"/>
                <a:sym typeface="Times New Roman"/>
              </a:defRPr>
            </a:pPr>
            <a:r>
              <a:t>La </a:t>
            </a:r>
            <a:r>
              <a:rPr sz="2400" b="1" u="sng">
                <a:solidFill>
                  <a:srgbClr val="00B0F0"/>
                </a:solidFill>
              </a:rPr>
              <a:t>lesione personale è gravissima</a:t>
            </a:r>
            <a:r>
              <a:t>, e si applica la reclusione </a:t>
            </a:r>
            <a:r>
              <a:rPr u="sng">
                <a:solidFill>
                  <a:srgbClr val="C55A11"/>
                </a:solidFill>
              </a:rPr>
              <a:t>da sei a dodici anni</a:t>
            </a:r>
            <a:r>
              <a:t>, se dal fatto deriva: </a:t>
            </a:r>
          </a:p>
          <a:p>
            <a:pPr algn="just">
              <a:defRPr sz="1900" b="0" i="1">
                <a:latin typeface="Times New Roman"/>
                <a:ea typeface="Times New Roman"/>
                <a:cs typeface="Times New Roman"/>
                <a:sym typeface="Times New Roman"/>
              </a:defRPr>
            </a:pPr>
            <a:r>
              <a:t>1</a:t>
            </a:r>
            <a:r>
              <a:rPr u="sng"/>
              <a:t>. una malattia certamente o probabilmente insanabile</a:t>
            </a:r>
            <a:r>
              <a:t>; </a:t>
            </a:r>
          </a:p>
          <a:p>
            <a:pPr algn="just">
              <a:defRPr sz="1900" b="0" i="1">
                <a:latin typeface="Times New Roman"/>
                <a:ea typeface="Times New Roman"/>
                <a:cs typeface="Times New Roman"/>
                <a:sym typeface="Times New Roman"/>
              </a:defRPr>
            </a:pPr>
            <a:r>
              <a:t>2. </a:t>
            </a:r>
            <a:r>
              <a:rPr u="sng"/>
              <a:t>la perdita di un senso</a:t>
            </a:r>
            <a:r>
              <a:t>; </a:t>
            </a:r>
          </a:p>
          <a:p>
            <a:pPr algn="just">
              <a:defRPr sz="1900" b="0" i="1">
                <a:latin typeface="Times New Roman"/>
                <a:ea typeface="Times New Roman"/>
                <a:cs typeface="Times New Roman"/>
                <a:sym typeface="Times New Roman"/>
              </a:defRPr>
            </a:pPr>
            <a:r>
              <a:t>3. </a:t>
            </a:r>
            <a:r>
              <a:rPr u="sng"/>
              <a:t>la perdita di un arto, o una mutilazione che renda l'arto inservibile, ovvero la perdita dell'uso di un organo o della capacità di procreare, ovvero una permanente e grave difficoltà della favella; </a:t>
            </a:r>
          </a:p>
          <a:p>
            <a:pPr algn="just">
              <a:defRPr sz="1900" b="0" i="1" strike="sngStrike">
                <a:latin typeface="Times New Roman"/>
                <a:ea typeface="Times New Roman"/>
                <a:cs typeface="Times New Roman"/>
                <a:sym typeface="Times New Roman"/>
              </a:defRPr>
            </a:pPr>
            <a:r>
              <a:t>4. la deformazione, ovvero lo sfregio permanente del viso.</a:t>
            </a:r>
            <a:r>
              <a:rPr i="0" strike="noStrike"/>
              <a:t>» </a:t>
            </a:r>
            <a:r>
              <a:rPr i="0" strike="noStrike">
                <a:solidFill>
                  <a:srgbClr val="FF0000"/>
                </a:solidFill>
              </a:rPr>
              <a:t>[abrogato]</a:t>
            </a:r>
          </a:p>
          <a:p>
            <a:pPr algn="just">
              <a:defRPr b="0">
                <a:latin typeface="Times New Roman"/>
                <a:ea typeface="Times New Roman"/>
                <a:cs typeface="Times New Roman"/>
                <a:sym typeface="Times New Roman"/>
              </a:defRPr>
            </a:pPr>
            <a:endParaRPr i="0" strike="noStrike">
              <a:solidFill>
                <a:srgbClr val="FF0000"/>
              </a:solidFill>
            </a:endParaRPr>
          </a:p>
          <a:p>
            <a:pPr algn="just">
              <a:defRPr sz="1800" b="0">
                <a:latin typeface="Times New Roman"/>
                <a:ea typeface="Times New Roman"/>
                <a:cs typeface="Times New Roman"/>
                <a:sym typeface="Times New Roman"/>
              </a:defRPr>
            </a:pPr>
            <a:r>
              <a:t>Con riferimento al punto 4 abrogato, la </a:t>
            </a:r>
            <a:r>
              <a:rPr i="1" u="sng">
                <a:solidFill>
                  <a:srgbClr val="FF6600"/>
                </a:solidFill>
              </a:rPr>
              <a:t>L. n. 69 del 19 luglio 2019</a:t>
            </a:r>
            <a:r>
              <a:rPr>
                <a:solidFill>
                  <a:srgbClr val="FF6600"/>
                </a:solidFill>
              </a:rPr>
              <a:t> </a:t>
            </a:r>
            <a:r>
              <a:t>ha introdotto una</a:t>
            </a:r>
            <a:r>
              <a:rPr b="1" u="sng">
                <a:solidFill>
                  <a:srgbClr val="C55A11"/>
                </a:solidFill>
              </a:rPr>
              <a:t> </a:t>
            </a:r>
            <a:r>
              <a:rPr b="1" u="sng">
                <a:solidFill>
                  <a:srgbClr val="FF6600"/>
                </a:solidFill>
              </a:rPr>
              <a:t>NUOVA FATTISPECIE DI REATO AUTONOMA</a:t>
            </a:r>
            <a:r>
              <a:rPr>
                <a:solidFill>
                  <a:srgbClr val="FF6600"/>
                </a:solidFill>
              </a:rPr>
              <a:t> </a:t>
            </a:r>
            <a:r>
              <a:t>con il nuovo art. </a:t>
            </a:r>
            <a:r>
              <a:rPr b="1" i="1"/>
              <a:t>583-quinques:</a:t>
            </a:r>
            <a:endParaRPr u="sng">
              <a:solidFill>
                <a:srgbClr val="C55A11"/>
              </a:solidFill>
            </a:endParaRPr>
          </a:p>
          <a:p>
            <a:pPr algn="just">
              <a:defRPr sz="1800" b="0">
                <a:latin typeface="Times New Roman"/>
                <a:ea typeface="Times New Roman"/>
                <a:cs typeface="Times New Roman"/>
                <a:sym typeface="Times New Roman"/>
              </a:defRPr>
            </a:pPr>
            <a:r>
              <a:t>«</a:t>
            </a:r>
            <a:r>
              <a:rPr i="1"/>
              <a:t>Chiunque cagiona ad alcuno lesione personale dalla quale derivano la </a:t>
            </a:r>
            <a:r>
              <a:rPr b="1" i="1">
                <a:solidFill>
                  <a:srgbClr val="FF6600"/>
                </a:solidFill>
              </a:rPr>
              <a:t>deformazione</a:t>
            </a:r>
            <a:r>
              <a:rPr i="1">
                <a:solidFill>
                  <a:srgbClr val="FF6600"/>
                </a:solidFill>
              </a:rPr>
              <a:t> </a:t>
            </a:r>
            <a:r>
              <a:rPr i="1"/>
              <a:t>o lo </a:t>
            </a:r>
            <a:r>
              <a:rPr b="1" i="1">
                <a:solidFill>
                  <a:srgbClr val="FF6600"/>
                </a:solidFill>
              </a:rPr>
              <a:t>sfregio permanente del viso </a:t>
            </a:r>
            <a:r>
              <a:rPr i="1"/>
              <a:t>è punito con la reclusione da otto a quattordici anni. (…) </a:t>
            </a:r>
            <a:r>
              <a:t>»</a:t>
            </a:r>
          </a:p>
        </p:txBody>
      </p:sp>
      <p:sp>
        <p:nvSpPr>
          <p:cNvPr id="485"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Lesioni personali dolose</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sp>
        <p:nvSpPr>
          <p:cNvPr id="488" name="CasellaDiTesto 13"/>
          <p:cNvSpPr txBox="1"/>
          <p:nvPr/>
        </p:nvSpPr>
        <p:spPr>
          <a:xfrm>
            <a:off x="153223" y="846604"/>
            <a:ext cx="8837553" cy="58475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FF0000"/>
                </a:solidFill>
                <a:latin typeface="Times New Roman"/>
                <a:ea typeface="Times New Roman"/>
                <a:cs typeface="Times New Roman"/>
                <a:sym typeface="Times New Roman"/>
              </a:defRPr>
            </a:pPr>
            <a:r>
              <a:t>Art. 590 c.p. Lesioni personali colpose</a:t>
            </a:r>
          </a:p>
          <a:p>
            <a:pPr algn="just">
              <a:defRPr sz="1900" b="0">
                <a:latin typeface="Times New Roman"/>
                <a:ea typeface="Times New Roman"/>
                <a:cs typeface="Times New Roman"/>
                <a:sym typeface="Times New Roman"/>
              </a:defRPr>
            </a:pPr>
            <a:r>
              <a:t>«</a:t>
            </a:r>
            <a:r>
              <a:rPr sz="1800" i="1"/>
              <a:t>Chiunque cagiona ad altri </a:t>
            </a:r>
            <a:r>
              <a:rPr sz="1800" b="1" i="1">
                <a:solidFill>
                  <a:srgbClr val="FF0000"/>
                </a:solidFill>
              </a:rPr>
              <a:t>per colpa </a:t>
            </a:r>
            <a:r>
              <a:rPr sz="1800" i="1"/>
              <a:t>una </a:t>
            </a:r>
            <a:r>
              <a:rPr sz="1800" b="1" i="1">
                <a:solidFill>
                  <a:srgbClr val="FF0000"/>
                </a:solidFill>
              </a:rPr>
              <a:t>lesione personale </a:t>
            </a:r>
            <a:r>
              <a:rPr sz="1800" i="1"/>
              <a:t>è punito con la reclusione fino a tre mesi o con la multa fino a euro 309.</a:t>
            </a:r>
          </a:p>
          <a:p>
            <a:pPr algn="just">
              <a:defRPr sz="1800" i="1" u="sng">
                <a:solidFill>
                  <a:srgbClr val="FF0000"/>
                </a:solidFill>
                <a:latin typeface="Times New Roman"/>
                <a:ea typeface="Times New Roman"/>
                <a:cs typeface="Times New Roman"/>
                <a:sym typeface="Times New Roman"/>
              </a:defRPr>
            </a:pPr>
            <a:r>
              <a:t>Se la lesione è grave </a:t>
            </a:r>
            <a:r>
              <a:rPr b="0" u="none">
                <a:solidFill>
                  <a:srgbClr val="000000"/>
                </a:solidFill>
              </a:rPr>
              <a:t>la pena è della reclusione da uno a sei mesi o della multa da euro 123 a euro 619, </a:t>
            </a:r>
            <a:r>
              <a:t>se è gravissima</a:t>
            </a:r>
            <a:r>
              <a:rPr b="0" u="none">
                <a:solidFill>
                  <a:srgbClr val="000000"/>
                </a:solidFill>
              </a:rPr>
              <a:t>, della reclusione da tre mesi a due anni o della multa da euro 309 a euro 1.239. </a:t>
            </a:r>
          </a:p>
          <a:p>
            <a:pPr algn="just">
              <a:defRPr sz="1800" b="0" i="1">
                <a:latin typeface="Times New Roman"/>
                <a:ea typeface="Times New Roman"/>
                <a:cs typeface="Times New Roman"/>
                <a:sym typeface="Times New Roman"/>
              </a:defRPr>
            </a:pPr>
            <a:r>
              <a:t>Se i fatti di cui al secondo comma sono commessi con violazione delle norme per la </a:t>
            </a:r>
            <a:r>
              <a:rPr b="1" u="sng"/>
              <a:t>prevenzione degli infortuni sul lavoro </a:t>
            </a:r>
            <a:r>
              <a:t>la pena per le lesioni gravi è della reclusione da tre mesi a un anno o della multa da euro 500 a euro 2.000 e la pena per le lesioni gravissime è della reclusione da uno a tre anni.  </a:t>
            </a:r>
          </a:p>
          <a:p>
            <a:pPr algn="just">
              <a:defRPr sz="1800" b="0" i="1">
                <a:latin typeface="Times New Roman"/>
                <a:ea typeface="Times New Roman"/>
                <a:cs typeface="Times New Roman"/>
                <a:sym typeface="Times New Roman"/>
              </a:defRPr>
            </a:pPr>
            <a:r>
              <a:t>Se i fatti di cui al secondo comma sono commessi </a:t>
            </a:r>
            <a:r>
              <a:rPr b="1" u="sng"/>
              <a:t>nell'esercizio abusivo di una professione per la quale è richiesta una speciale abilitazione dello Stato o di un'arte sanitaria</a:t>
            </a:r>
            <a:r>
              <a:t>, la pena per lesioni gravi è della reclusione da sei mesi a due anni e la pena per lesioni gravissime è della reclusione da un anno e sei mesi a quattro anni.</a:t>
            </a:r>
          </a:p>
          <a:p>
            <a:pPr algn="just">
              <a:defRPr sz="1800" b="0" i="1">
                <a:latin typeface="Times New Roman"/>
                <a:ea typeface="Times New Roman"/>
                <a:cs typeface="Times New Roman"/>
                <a:sym typeface="Times New Roman"/>
              </a:defRPr>
            </a:pPr>
            <a:r>
              <a:t>Nel caso di lesioni di più persone si applica la pena che dovrebbe infliggersi per la più grave delle violazioni commesse, aumentata fino al triplo; ma la pena della reclusione non può superare gli anni cinque.</a:t>
            </a:r>
          </a:p>
          <a:p>
            <a:pPr algn="just">
              <a:defRPr sz="1800" b="0" i="1">
                <a:latin typeface="Times New Roman"/>
                <a:ea typeface="Times New Roman"/>
                <a:cs typeface="Times New Roman"/>
                <a:sym typeface="Times New Roman"/>
              </a:defRPr>
            </a:pPr>
            <a:r>
              <a:t>Il delitto è punibile </a:t>
            </a:r>
            <a:r>
              <a:rPr b="1">
                <a:solidFill>
                  <a:srgbClr val="FF0000"/>
                </a:solidFill>
              </a:rPr>
              <a:t>a querela della persona offesa</a:t>
            </a:r>
            <a:r>
              <a:t>, salvo nei casi previsti nel primo e secondo capoverso, limitatamente ai fatti commessi con violazione delle norme per la prevenzione degli infortuni sul lavoro o relative all'igiene del lavoro o che abbiano determinato una malattia professionale.»</a:t>
            </a:r>
          </a:p>
        </p:txBody>
      </p:sp>
      <p:sp>
        <p:nvSpPr>
          <p:cNvPr id="489"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Lesioni personali colpose</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28</a:t>
            </a:fld>
            <a:endParaRPr/>
          </a:p>
        </p:txBody>
      </p:sp>
      <p:sp>
        <p:nvSpPr>
          <p:cNvPr id="492" name="CasellaDiTesto 13"/>
          <p:cNvSpPr txBox="1"/>
          <p:nvPr/>
        </p:nvSpPr>
        <p:spPr>
          <a:xfrm>
            <a:off x="153223" y="1063565"/>
            <a:ext cx="8837553" cy="41562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u="sng">
                <a:solidFill>
                  <a:srgbClr val="FF0000"/>
                </a:solidFill>
                <a:latin typeface="Times New Roman"/>
                <a:ea typeface="Times New Roman"/>
                <a:cs typeface="Times New Roman"/>
                <a:sym typeface="Times New Roman"/>
              </a:defRPr>
            </a:pPr>
            <a:r>
              <a:t>ELEMENTO OGGETTIVO</a:t>
            </a:r>
            <a:r>
              <a:rPr b="0" u="none">
                <a:solidFill>
                  <a:srgbClr val="000000"/>
                </a:solidFill>
              </a:rPr>
              <a:t>: si sanziona il cagionare una lesione personale (condotta) dalla quale derivi una malattia nel corpo o nella mente (evento).</a:t>
            </a:r>
          </a:p>
          <a:p>
            <a:pPr algn="just">
              <a:defRPr sz="2200" b="0">
                <a:latin typeface="Times New Roman"/>
                <a:ea typeface="Times New Roman"/>
                <a:cs typeface="Times New Roman"/>
                <a:sym typeface="Times New Roman"/>
              </a:defRPr>
            </a:pPr>
            <a:endParaRPr b="0" u="none">
              <a:solidFill>
                <a:srgbClr val="000000"/>
              </a:solidFill>
            </a:endParaRPr>
          </a:p>
          <a:p>
            <a:pPr algn="just">
              <a:defRPr sz="2200" u="sng">
                <a:solidFill>
                  <a:srgbClr val="FF0000"/>
                </a:solidFill>
                <a:latin typeface="Times New Roman"/>
                <a:ea typeface="Times New Roman"/>
                <a:cs typeface="Times New Roman"/>
                <a:sym typeface="Times New Roman"/>
              </a:defRPr>
            </a:pPr>
            <a:r>
              <a:t>ELEMENTO SOGGETTIVO</a:t>
            </a:r>
            <a:r>
              <a:rPr b="0" u="none">
                <a:solidFill>
                  <a:srgbClr val="000000"/>
                </a:solidFill>
              </a:rPr>
              <a:t>: COLPA</a:t>
            </a:r>
          </a:p>
          <a:p>
            <a:pPr algn="just">
              <a:defRPr sz="2200" b="0">
                <a:latin typeface="Times New Roman"/>
                <a:ea typeface="Times New Roman"/>
                <a:cs typeface="Times New Roman"/>
                <a:sym typeface="Times New Roman"/>
              </a:defRPr>
            </a:pPr>
            <a:endParaRPr b="0" u="none">
              <a:solidFill>
                <a:srgbClr val="000000"/>
              </a:solidFill>
            </a:endParaRPr>
          </a:p>
          <a:p>
            <a:pPr algn="just">
              <a:defRPr sz="2200" b="0">
                <a:latin typeface="Times New Roman"/>
                <a:ea typeface="Times New Roman"/>
                <a:cs typeface="Times New Roman"/>
                <a:sym typeface="Times New Roman"/>
              </a:defRPr>
            </a:pPr>
            <a:r>
              <a:t>Quando si parla di </a:t>
            </a:r>
            <a:r>
              <a:rPr b="1">
                <a:solidFill>
                  <a:srgbClr val="FF0000"/>
                </a:solidFill>
              </a:rPr>
              <a:t>infortunio sul lavoro </a:t>
            </a:r>
            <a:r>
              <a:t>si intende quell’evento traumatico dovuto ad una causa violenta che si verifica sul luogo di lavoro (o nello svolgimento dell’attività lavorativa), dal quale derivi l’impossibilità a svolgere la propria mansione per </a:t>
            </a:r>
            <a:r>
              <a:rPr u="sng"/>
              <a:t>una durata superiore a tre giorni</a:t>
            </a:r>
            <a:r>
              <a:t>.</a:t>
            </a:r>
          </a:p>
          <a:p>
            <a:pPr algn="just">
              <a:defRPr sz="8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Le lesioni colpose, nel caso del datore di lavoro o degli addetti alla sicurezza sul posto di lavoro, vengono determinate dalla </a:t>
            </a:r>
            <a:r>
              <a:rPr b="1">
                <a:solidFill>
                  <a:srgbClr val="FF0000"/>
                </a:solidFill>
              </a:rPr>
              <a:t>mancata adozione di misure di sicurezza idonee per tutelare la salute sul luogo di lavoro</a:t>
            </a:r>
            <a:r>
              <a:t>.</a:t>
            </a:r>
          </a:p>
        </p:txBody>
      </p:sp>
      <p:sp>
        <p:nvSpPr>
          <p:cNvPr id="493"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Lesioni personali colpose</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29</a:t>
            </a:fld>
            <a:endParaRPr/>
          </a:p>
        </p:txBody>
      </p:sp>
      <p:sp>
        <p:nvSpPr>
          <p:cNvPr id="496" name="CasellaDiTesto 13"/>
          <p:cNvSpPr txBox="1"/>
          <p:nvPr/>
        </p:nvSpPr>
        <p:spPr>
          <a:xfrm>
            <a:off x="153223" y="1268759"/>
            <a:ext cx="8837553" cy="22958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EFAC03"/>
                </a:solidFill>
                <a:latin typeface="Times New Roman"/>
                <a:ea typeface="Times New Roman"/>
                <a:cs typeface="Times New Roman"/>
                <a:sym typeface="Times New Roman"/>
              </a:defRPr>
            </a:pPr>
            <a:r>
              <a:t>Art. 588 c.p. Rissa</a:t>
            </a:r>
          </a:p>
          <a:p>
            <a:pPr algn="just">
              <a:defRPr sz="2200" b="0">
                <a:latin typeface="Times New Roman"/>
                <a:ea typeface="Times New Roman"/>
                <a:cs typeface="Times New Roman"/>
                <a:sym typeface="Times New Roman"/>
              </a:defRPr>
            </a:pPr>
            <a:r>
              <a:t>«</a:t>
            </a:r>
            <a:r>
              <a:rPr i="1"/>
              <a:t>Chiunque </a:t>
            </a:r>
            <a:r>
              <a:rPr b="1" i="1">
                <a:solidFill>
                  <a:srgbClr val="EFAC03"/>
                </a:solidFill>
              </a:rPr>
              <a:t>partecipa</a:t>
            </a:r>
            <a:r>
              <a:rPr i="1"/>
              <a:t> a una rissa è punito con la multa fino a € 2000.</a:t>
            </a:r>
          </a:p>
          <a:p>
            <a:pPr algn="just">
              <a:defRPr sz="2200" b="0" i="1">
                <a:latin typeface="Times New Roman"/>
                <a:ea typeface="Times New Roman"/>
                <a:cs typeface="Times New Roman"/>
                <a:sym typeface="Times New Roman"/>
              </a:defRPr>
            </a:pPr>
            <a:r>
              <a:t>Se nella rissa taluno rimane </a:t>
            </a:r>
            <a:r>
              <a:rPr b="1"/>
              <a:t>ucciso</a:t>
            </a:r>
            <a:r>
              <a:t>, o riporta </a:t>
            </a:r>
            <a:r>
              <a:rPr b="1"/>
              <a:t>lesione personale</a:t>
            </a:r>
            <a:r>
              <a:t>, la pena, </a:t>
            </a:r>
            <a:r>
              <a:rPr b="1">
                <a:solidFill>
                  <a:srgbClr val="EFAC03"/>
                </a:solidFill>
              </a:rPr>
              <a:t>per il solo fatto della partecipazione alla rissa</a:t>
            </a:r>
            <a:r>
              <a:t>, è della reclusione da 6 mesi a 6 anni. La stessa pena si applica se la uccisione, o la lesione personale, avviene </a:t>
            </a:r>
            <a:r>
              <a:rPr b="1"/>
              <a:t>immediatamente dopo </a:t>
            </a:r>
            <a:r>
              <a:t>la rissa e </a:t>
            </a:r>
            <a:r>
              <a:rPr b="1"/>
              <a:t>in conseguenza </a:t>
            </a:r>
            <a:r>
              <a:t>di essa</a:t>
            </a:r>
            <a:r>
              <a:rPr i="0"/>
              <a:t>.»</a:t>
            </a:r>
          </a:p>
        </p:txBody>
      </p:sp>
      <p:sp>
        <p:nvSpPr>
          <p:cNvPr id="497"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Rissa</a:t>
            </a:r>
          </a:p>
        </p:txBody>
      </p:sp>
      <p:sp>
        <p:nvSpPr>
          <p:cNvPr id="498" name="Rettangolo 8"/>
          <p:cNvSpPr/>
          <p:nvPr/>
        </p:nvSpPr>
        <p:spPr>
          <a:xfrm>
            <a:off x="3203848" y="4581128"/>
            <a:ext cx="4302224" cy="2039693"/>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14000"/>
              </a:lnSpc>
              <a:defRPr sz="20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Competenza: Tribunale Monocratico; </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Arresto: comma 1 non consentito</a:t>
            </a:r>
          </a:p>
          <a:p>
            <a:pPr indent="1076325" algn="just">
              <a:lnSpc>
                <a:spcPct val="114000"/>
              </a:lnSpc>
              <a:defRPr sz="2000" b="0">
                <a:latin typeface="Times New Roman"/>
                <a:ea typeface="Times New Roman"/>
                <a:cs typeface="Times New Roman"/>
                <a:sym typeface="Times New Roman"/>
              </a:defRPr>
            </a:pPr>
            <a:r>
              <a:t>comma 2 facoltativo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Fermo non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Procedibilità d’ufficio</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Segnaposto contenuto 1"/>
          <p:cNvSpPr txBox="1">
            <a:spLocks noGrp="1"/>
          </p:cNvSpPr>
          <p:nvPr>
            <p:ph type="body" idx="1"/>
          </p:nvPr>
        </p:nvSpPr>
        <p:spPr>
          <a:xfrm>
            <a:off x="628650" y="1268759"/>
            <a:ext cx="7886700" cy="4908204"/>
          </a:xfrm>
          <a:prstGeom prst="rect">
            <a:avLst/>
          </a:prstGeom>
        </p:spPr>
        <p:txBody>
          <a:bodyPr/>
          <a:lstStyle/>
          <a:p>
            <a:pPr algn="just">
              <a:defRPr>
                <a:latin typeface="Times New Roman"/>
                <a:ea typeface="Times New Roman"/>
                <a:cs typeface="Times New Roman"/>
                <a:sym typeface="Times New Roman"/>
              </a:defRPr>
            </a:pPr>
            <a:r>
              <a:rPr dirty="0"/>
              <a:t>La ratio </a:t>
            </a:r>
            <a:r>
              <a:rPr dirty="0" err="1"/>
              <a:t>della</a:t>
            </a:r>
            <a:r>
              <a:rPr dirty="0"/>
              <a:t> </a:t>
            </a:r>
            <a:r>
              <a:rPr dirty="0" err="1"/>
              <a:t>fattispecie</a:t>
            </a:r>
            <a:r>
              <a:rPr dirty="0"/>
              <a:t> è </a:t>
            </a:r>
            <a:r>
              <a:rPr dirty="0" err="1"/>
              <a:t>quella</a:t>
            </a:r>
            <a:r>
              <a:rPr dirty="0"/>
              <a:t> di </a:t>
            </a:r>
            <a:r>
              <a:rPr dirty="0" err="1"/>
              <a:t>tutelare</a:t>
            </a:r>
            <a:r>
              <a:rPr dirty="0"/>
              <a:t> in forma </a:t>
            </a:r>
            <a:r>
              <a:rPr dirty="0" err="1"/>
              <a:t>anticipata</a:t>
            </a:r>
            <a:r>
              <a:rPr dirty="0"/>
              <a:t> </a:t>
            </a:r>
            <a:r>
              <a:rPr dirty="0" err="1"/>
              <a:t>i</a:t>
            </a:r>
            <a:r>
              <a:rPr dirty="0"/>
              <a:t> </a:t>
            </a:r>
            <a:r>
              <a:rPr b="1" u="sng" dirty="0" err="1"/>
              <a:t>beni</a:t>
            </a:r>
            <a:r>
              <a:rPr b="1" u="sng" dirty="0"/>
              <a:t> </a:t>
            </a:r>
            <a:r>
              <a:rPr b="1" u="sng" dirty="0" err="1"/>
              <a:t>della</a:t>
            </a:r>
            <a:r>
              <a:rPr b="1" u="sng" dirty="0"/>
              <a:t> vita </a:t>
            </a:r>
            <a:r>
              <a:rPr dirty="0"/>
              <a:t>e </a:t>
            </a:r>
            <a:r>
              <a:rPr b="1" u="sng" dirty="0" err="1"/>
              <a:t>dell’incolumità</a:t>
            </a:r>
            <a:r>
              <a:rPr b="1" u="sng" dirty="0"/>
              <a:t> </a:t>
            </a:r>
            <a:r>
              <a:rPr b="1" u="sng" dirty="0" err="1"/>
              <a:t>personale</a:t>
            </a:r>
            <a:r>
              <a:rPr dirty="0"/>
              <a:t> </a:t>
            </a:r>
            <a:r>
              <a:rPr dirty="0" err="1"/>
              <a:t>che</a:t>
            </a:r>
            <a:r>
              <a:rPr dirty="0"/>
              <a:t> la </a:t>
            </a:r>
            <a:r>
              <a:rPr dirty="0" err="1"/>
              <a:t>rissa</a:t>
            </a:r>
            <a:r>
              <a:rPr dirty="0"/>
              <a:t> </a:t>
            </a:r>
            <a:r>
              <a:rPr dirty="0" err="1"/>
              <a:t>potrebbe</a:t>
            </a:r>
            <a:r>
              <a:rPr dirty="0"/>
              <a:t> </a:t>
            </a:r>
            <a:r>
              <a:rPr dirty="0" err="1"/>
              <a:t>mettere</a:t>
            </a:r>
            <a:r>
              <a:rPr dirty="0"/>
              <a:t> in </a:t>
            </a:r>
            <a:r>
              <a:rPr dirty="0" err="1"/>
              <a:t>pericolo</a:t>
            </a:r>
            <a:r>
              <a:rPr dirty="0">
                <a:latin typeface="Calibri"/>
                <a:ea typeface="Calibri"/>
                <a:cs typeface="Calibri"/>
                <a:sym typeface="Calibri"/>
              </a:rPr>
              <a:t> e, </a:t>
            </a:r>
            <a:r>
              <a:rPr dirty="0" err="1">
                <a:latin typeface="Calibri"/>
                <a:ea typeface="Calibri"/>
                <a:cs typeface="Calibri"/>
                <a:sym typeface="Calibri"/>
              </a:rPr>
              <a:t>indirettamente</a:t>
            </a:r>
            <a:r>
              <a:rPr dirty="0">
                <a:latin typeface="Calibri"/>
                <a:ea typeface="Calibri"/>
                <a:cs typeface="Calibri"/>
                <a:sym typeface="Calibri"/>
              </a:rPr>
              <a:t>, </a:t>
            </a:r>
            <a:r>
              <a:rPr b="1" u="sng" dirty="0" err="1">
                <a:latin typeface="Calibri"/>
                <a:ea typeface="Calibri"/>
                <a:cs typeface="Calibri"/>
                <a:sym typeface="Calibri"/>
              </a:rPr>
              <a:t>l'ordine</a:t>
            </a:r>
            <a:r>
              <a:rPr b="1" u="sng" dirty="0">
                <a:latin typeface="Calibri"/>
                <a:ea typeface="Calibri"/>
                <a:cs typeface="Calibri"/>
                <a:sym typeface="Calibri"/>
              </a:rPr>
              <a:t> </a:t>
            </a:r>
            <a:r>
              <a:rPr b="1" u="sng" dirty="0" err="1">
                <a:latin typeface="Calibri"/>
                <a:ea typeface="Calibri"/>
                <a:cs typeface="Calibri"/>
                <a:sym typeface="Calibri"/>
              </a:rPr>
              <a:t>pubblico</a:t>
            </a:r>
            <a:r>
              <a:rPr b="1" u="sng" dirty="0">
                <a:latin typeface="Calibri"/>
                <a:ea typeface="Calibri"/>
                <a:cs typeface="Calibri"/>
                <a:sym typeface="Calibri"/>
              </a:rPr>
              <a:t> </a:t>
            </a:r>
            <a:r>
              <a:rPr dirty="0">
                <a:latin typeface="Calibri"/>
                <a:ea typeface="Calibri"/>
                <a:cs typeface="Calibri"/>
                <a:sym typeface="Calibri"/>
              </a:rPr>
              <a:t>(</a:t>
            </a:r>
            <a:r>
              <a:rPr dirty="0">
                <a:solidFill>
                  <a:srgbClr val="EFAC03"/>
                </a:solidFill>
                <a:latin typeface="Calibri"/>
                <a:ea typeface="Calibri"/>
                <a:cs typeface="Calibri"/>
                <a:sym typeface="Calibri"/>
              </a:rPr>
              <a:t>REATO PLURIOFFENSIVO</a:t>
            </a:r>
            <a:r>
              <a:rPr dirty="0">
                <a:latin typeface="Calibri"/>
                <a:ea typeface="Calibri"/>
                <a:cs typeface="Calibri"/>
                <a:sym typeface="Calibri"/>
              </a:rPr>
              <a:t>)</a:t>
            </a:r>
          </a:p>
          <a:p>
            <a:pPr algn="just">
              <a:defRPr>
                <a:latin typeface="Times New Roman"/>
                <a:ea typeface="Times New Roman"/>
                <a:cs typeface="Times New Roman"/>
                <a:sym typeface="Times New Roman"/>
              </a:defRPr>
            </a:pPr>
            <a:endParaRPr dirty="0">
              <a:latin typeface="Calibri"/>
              <a:ea typeface="Calibri"/>
              <a:cs typeface="Calibri"/>
              <a:sym typeface="Calibri"/>
            </a:endParaRPr>
          </a:p>
          <a:p>
            <a:pPr marL="0" indent="0" algn="just">
              <a:buSzTx/>
              <a:buNone/>
              <a:defRPr>
                <a:latin typeface="Times New Roman"/>
                <a:ea typeface="Times New Roman"/>
                <a:cs typeface="Times New Roman"/>
                <a:sym typeface="Times New Roman"/>
              </a:defRPr>
            </a:pPr>
            <a:r>
              <a:rPr dirty="0"/>
              <a:t>La </a:t>
            </a:r>
            <a:r>
              <a:rPr dirty="0" err="1"/>
              <a:t>partecipazione</a:t>
            </a:r>
            <a:r>
              <a:rPr dirty="0"/>
              <a:t> </a:t>
            </a:r>
            <a:r>
              <a:rPr dirty="0" err="1"/>
              <a:t>alla</a:t>
            </a:r>
            <a:r>
              <a:rPr dirty="0"/>
              <a:t> </a:t>
            </a:r>
            <a:r>
              <a:rPr dirty="0" err="1"/>
              <a:t>rissa</a:t>
            </a:r>
            <a:r>
              <a:rPr dirty="0"/>
              <a:t> </a:t>
            </a:r>
            <a:r>
              <a:rPr dirty="0" err="1"/>
              <a:t>viene</a:t>
            </a:r>
            <a:r>
              <a:rPr dirty="0"/>
              <a:t>, per </a:t>
            </a:r>
            <a:r>
              <a:rPr dirty="0" err="1"/>
              <a:t>questo</a:t>
            </a:r>
            <a:r>
              <a:rPr dirty="0"/>
              <a:t>, </a:t>
            </a:r>
            <a:r>
              <a:rPr dirty="0" err="1"/>
              <a:t>incriminata</a:t>
            </a:r>
            <a:r>
              <a:rPr dirty="0"/>
              <a:t> </a:t>
            </a:r>
            <a:r>
              <a:rPr dirty="0" err="1"/>
              <a:t>indipendentemente</a:t>
            </a:r>
            <a:r>
              <a:rPr dirty="0"/>
              <a:t> dal </a:t>
            </a:r>
            <a:r>
              <a:rPr dirty="0" err="1"/>
              <a:t>verificarsi</a:t>
            </a:r>
            <a:r>
              <a:rPr dirty="0"/>
              <a:t> </a:t>
            </a:r>
            <a:r>
              <a:rPr dirty="0" err="1"/>
              <a:t>dell’offesa</a:t>
            </a:r>
            <a:r>
              <a:rPr dirty="0"/>
              <a:t> </a:t>
            </a:r>
            <a:r>
              <a:rPr dirty="0" err="1"/>
              <a:t>all’incolumità</a:t>
            </a:r>
            <a:r>
              <a:rPr dirty="0"/>
              <a:t> </a:t>
            </a:r>
            <a:r>
              <a:rPr dirty="0" err="1"/>
              <a:t>altrui</a:t>
            </a:r>
            <a:r>
              <a:rPr dirty="0"/>
              <a:t>. </a:t>
            </a:r>
          </a:p>
        </p:txBody>
      </p:sp>
      <p:sp>
        <p:nvSpPr>
          <p:cNvPr id="501"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30</a:t>
            </a:fld>
            <a:endParaRPr/>
          </a:p>
        </p:txBody>
      </p:sp>
      <p:sp>
        <p:nvSpPr>
          <p:cNvPr id="502" name="Titolo 3"/>
          <p:cNvSpPr txBox="1">
            <a:spLocks noGrp="1"/>
          </p:cNvSpPr>
          <p:nvPr>
            <p:ph type="title"/>
          </p:nvPr>
        </p:nvSpPr>
        <p:spPr>
          <a:xfrm>
            <a:off x="711200" y="79022"/>
            <a:ext cx="7804151" cy="602015"/>
          </a:xfrm>
          <a:prstGeom prst="rect">
            <a:avLst/>
          </a:prstGeom>
        </p:spPr>
        <p:txBody>
          <a:bodyPr>
            <a:normAutofit/>
          </a:bodyPr>
          <a:lstStyle>
            <a:lvl1pPr defTabSz="365760">
              <a:defRPr sz="1560">
                <a:solidFill>
                  <a:schemeClr val="accent3">
                    <a:lumOff val="44000"/>
                  </a:schemeClr>
                </a:solidFill>
                <a:latin typeface="Book Antiqua"/>
                <a:ea typeface="Book Antiqua"/>
                <a:cs typeface="Book Antiqua"/>
                <a:sym typeface="Book Antiqua"/>
              </a:defRPr>
            </a:lvl1pPr>
          </a:lstStyle>
          <a:p>
            <a:pPr>
              <a:defRPr>
                <a:effectLst/>
              </a:defRPr>
            </a:pPr>
            <a:r>
              <a:rPr sz="2800" dirty="0"/>
              <a:t>Rissa</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Segnaposto contenuto 1"/>
          <p:cNvSpPr txBox="1">
            <a:spLocks noGrp="1"/>
          </p:cNvSpPr>
          <p:nvPr>
            <p:ph type="body" idx="1"/>
          </p:nvPr>
        </p:nvSpPr>
        <p:spPr>
          <a:xfrm>
            <a:off x="628650" y="1340767"/>
            <a:ext cx="7886700" cy="4836196"/>
          </a:xfrm>
          <a:prstGeom prst="rect">
            <a:avLst/>
          </a:prstGeom>
        </p:spPr>
        <p:txBody>
          <a:bodyPr/>
          <a:lstStyle/>
          <a:p>
            <a:pPr marL="0" indent="0" algn="just">
              <a:buSzTx/>
              <a:buNone/>
              <a:defRPr>
                <a:latin typeface="Times New Roman"/>
                <a:ea typeface="Times New Roman"/>
                <a:cs typeface="Times New Roman"/>
                <a:sym typeface="Times New Roman"/>
              </a:defRPr>
            </a:pPr>
            <a:r>
              <a:t>Si tratta di un </a:t>
            </a:r>
            <a:r>
              <a:rPr b="1" u="sng">
                <a:solidFill>
                  <a:srgbClr val="4472C4"/>
                </a:solidFill>
              </a:rPr>
              <a:t>reato a concorso necessario</a:t>
            </a:r>
            <a:r>
              <a:t>, plurisoggettivo proprio, in cui sono puniti tutti i partecipi. </a:t>
            </a:r>
          </a:p>
          <a:p>
            <a:pPr marL="0" indent="0" algn="just">
              <a:buSzTx/>
              <a:buNone/>
              <a:defRPr>
                <a:latin typeface="Times New Roman"/>
                <a:ea typeface="Times New Roman"/>
                <a:cs typeface="Times New Roman"/>
                <a:sym typeface="Times New Roman"/>
              </a:defRPr>
            </a:pPr>
            <a:endParaRPr/>
          </a:p>
          <a:p>
            <a:pPr marL="0" indent="0" algn="just">
              <a:buSzTx/>
              <a:buNone/>
              <a:defRPr>
                <a:latin typeface="Times New Roman"/>
                <a:ea typeface="Times New Roman"/>
                <a:cs typeface="Times New Roman"/>
                <a:sym typeface="Times New Roman"/>
              </a:defRPr>
            </a:pPr>
            <a:r>
              <a:t>La norma </a:t>
            </a:r>
            <a:r>
              <a:rPr u="sng"/>
              <a:t>non indica il numero minimo </a:t>
            </a:r>
            <a:r>
              <a:t>di corrissanti, ma dottrina e giurisprudenza sono concordi a ritenere che la contesa violenta debba avvenire </a:t>
            </a:r>
            <a:r>
              <a:rPr b="1" u="sng"/>
              <a:t>tra tre o più persone.</a:t>
            </a:r>
          </a:p>
        </p:txBody>
      </p:sp>
      <p:sp>
        <p:nvSpPr>
          <p:cNvPr id="505"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31</a:t>
            </a:fld>
            <a:endParaRPr/>
          </a:p>
        </p:txBody>
      </p:sp>
      <p:sp>
        <p:nvSpPr>
          <p:cNvPr id="506" name="Titolo 3"/>
          <p:cNvSpPr txBox="1">
            <a:spLocks noGrp="1"/>
          </p:cNvSpPr>
          <p:nvPr>
            <p:ph type="title"/>
          </p:nvPr>
        </p:nvSpPr>
        <p:spPr>
          <a:xfrm>
            <a:off x="628650" y="181352"/>
            <a:ext cx="8515350" cy="499685"/>
          </a:xfrm>
          <a:prstGeom prst="rect">
            <a:avLst/>
          </a:prstGeom>
        </p:spPr>
        <p:txBody>
          <a:bodyPr>
            <a:normAutofit fontScale="90000"/>
          </a:bodyPr>
          <a:lstStyle>
            <a:lvl1pPr defTabSz="365760">
              <a:defRPr sz="1560">
                <a:solidFill>
                  <a:schemeClr val="accent3">
                    <a:lumOff val="44000"/>
                  </a:schemeClr>
                </a:solidFill>
                <a:latin typeface="Book Antiqua"/>
                <a:ea typeface="Book Antiqua"/>
                <a:cs typeface="Book Antiqua"/>
                <a:sym typeface="Book Antiqua"/>
              </a:defRPr>
            </a:lvl1pPr>
          </a:lstStyle>
          <a:p>
            <a:pPr>
              <a:defRPr>
                <a:effectLst/>
              </a:defRPr>
            </a:pPr>
            <a:r>
              <a:rPr sz="3200" dirty="0"/>
              <a:t>Rissa</a:t>
            </a:r>
            <a:endParaRPr dirty="0"/>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32</a:t>
            </a:fld>
            <a:endParaRPr/>
          </a:p>
        </p:txBody>
      </p:sp>
      <p:sp>
        <p:nvSpPr>
          <p:cNvPr id="509" name="CasellaDiTesto 13"/>
          <p:cNvSpPr txBox="1"/>
          <p:nvPr/>
        </p:nvSpPr>
        <p:spPr>
          <a:xfrm>
            <a:off x="153223" y="1133737"/>
            <a:ext cx="8837553" cy="39149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u="sng">
                <a:solidFill>
                  <a:srgbClr val="EFAC03"/>
                </a:solidFill>
                <a:latin typeface="Times New Roman"/>
                <a:ea typeface="Times New Roman"/>
                <a:cs typeface="Times New Roman"/>
                <a:sym typeface="Times New Roman"/>
              </a:defRPr>
            </a:pPr>
            <a:r>
              <a:t>ELEMENTO OGGETTIVO</a:t>
            </a:r>
            <a:r>
              <a:rPr b="0" u="none">
                <a:solidFill>
                  <a:srgbClr val="000000"/>
                </a:solidFill>
              </a:rPr>
              <a:t>: la </a:t>
            </a:r>
            <a:r>
              <a:rPr u="none"/>
              <a:t>mera partecipazione </a:t>
            </a:r>
            <a:r>
              <a:rPr b="0" u="none">
                <a:solidFill>
                  <a:srgbClr val="000000"/>
                </a:solidFill>
              </a:rPr>
              <a:t>ad una contesa che abbia i caratteri della rissa, ovvero di una </a:t>
            </a:r>
            <a:r>
              <a:rPr u="none">
                <a:solidFill>
                  <a:srgbClr val="000000"/>
                </a:solidFill>
              </a:rPr>
              <a:t>mischia violenta </a:t>
            </a:r>
            <a:r>
              <a:rPr b="0" u="none">
                <a:solidFill>
                  <a:srgbClr val="000000"/>
                </a:solidFill>
              </a:rPr>
              <a:t>nella quale </a:t>
            </a:r>
            <a:r>
              <a:rPr u="none">
                <a:solidFill>
                  <a:srgbClr val="000000"/>
                </a:solidFill>
              </a:rPr>
              <a:t>3 o più persone</a:t>
            </a:r>
            <a:r>
              <a:rPr b="0" u="none">
                <a:solidFill>
                  <a:srgbClr val="000000"/>
                </a:solidFill>
              </a:rPr>
              <a:t> intervengono per arrecare offesa (ingiurie, percosse, lesioni) agli avversari e di difendersi dalla violenza di costoro.</a:t>
            </a:r>
          </a:p>
          <a:p>
            <a:pPr algn="just">
              <a:defRPr sz="2200" b="0">
                <a:latin typeface="Times New Roman"/>
                <a:ea typeface="Times New Roman"/>
                <a:cs typeface="Times New Roman"/>
                <a:sym typeface="Times New Roman"/>
              </a:defRPr>
            </a:pPr>
            <a:r>
              <a:t>Elementi della rissa sono:</a:t>
            </a:r>
          </a:p>
          <a:p>
            <a:pPr marL="342900" indent="-342900" algn="just">
              <a:buSzPct val="100000"/>
              <a:buChar char="-"/>
              <a:defRPr sz="2200">
                <a:latin typeface="Times New Roman"/>
                <a:ea typeface="Times New Roman"/>
                <a:cs typeface="Times New Roman"/>
                <a:sym typeface="Times New Roman"/>
              </a:defRPr>
            </a:pPr>
            <a:r>
              <a:t>uso della violenza</a:t>
            </a:r>
          </a:p>
          <a:p>
            <a:pPr marL="342900" indent="-342900" algn="just">
              <a:buSzPct val="100000"/>
              <a:buChar char="-"/>
              <a:defRPr sz="2200">
                <a:latin typeface="Times New Roman"/>
                <a:ea typeface="Times New Roman"/>
                <a:cs typeface="Times New Roman"/>
                <a:sym typeface="Times New Roman"/>
              </a:defRPr>
            </a:pPr>
            <a:r>
              <a:t>reciproca aggressione</a:t>
            </a:r>
          </a:p>
          <a:p>
            <a:pPr algn="just">
              <a:defRPr sz="9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endParaRPr/>
          </a:p>
          <a:p>
            <a:pPr algn="just">
              <a:defRPr sz="2200">
                <a:latin typeface="Times New Roman"/>
                <a:ea typeface="Times New Roman"/>
                <a:cs typeface="Times New Roman"/>
                <a:sym typeface="Times New Roman"/>
              </a:defRPr>
            </a:pPr>
            <a:r>
              <a:t>Per la configurabilità </a:t>
            </a:r>
            <a:r>
              <a:rPr b="0"/>
              <a:t>del reato occorre una violenta contesa </a:t>
            </a:r>
            <a:r>
              <a:rPr u="sng">
                <a:solidFill>
                  <a:srgbClr val="4472C4"/>
                </a:solidFill>
              </a:rPr>
              <a:t>(reciproci atti di violenza)</a:t>
            </a:r>
            <a:r>
              <a:rPr b="0"/>
              <a:t>, i cui partecipanti hanno il comune proposito di ledersi reciprocamente.</a:t>
            </a:r>
          </a:p>
        </p:txBody>
      </p:sp>
      <p:sp>
        <p:nvSpPr>
          <p:cNvPr id="510"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Rissa</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egnaposto contenuto 1"/>
          <p:cNvSpPr txBox="1">
            <a:spLocks noGrp="1"/>
          </p:cNvSpPr>
          <p:nvPr>
            <p:ph type="body" idx="1"/>
          </p:nvPr>
        </p:nvSpPr>
        <p:spPr>
          <a:xfrm>
            <a:off x="628650" y="1268759"/>
            <a:ext cx="7886700" cy="4908204"/>
          </a:xfrm>
          <a:prstGeom prst="rect">
            <a:avLst/>
          </a:prstGeom>
        </p:spPr>
        <p:txBody>
          <a:bodyPr/>
          <a:lstStyle/>
          <a:p>
            <a:pPr marL="0" indent="0" algn="just">
              <a:buSzTx/>
              <a:buNone/>
              <a:defRPr b="1" u="sng">
                <a:latin typeface="Times New Roman"/>
                <a:ea typeface="Times New Roman"/>
                <a:cs typeface="Times New Roman"/>
                <a:sym typeface="Times New Roman"/>
              </a:defRPr>
            </a:pPr>
            <a:r>
              <a:rPr dirty="0"/>
              <a:t>Non </a:t>
            </a:r>
            <a:r>
              <a:rPr dirty="0" err="1"/>
              <a:t>si</a:t>
            </a:r>
            <a:r>
              <a:rPr dirty="0"/>
              <a:t> integra </a:t>
            </a:r>
            <a:r>
              <a:rPr dirty="0" err="1"/>
              <a:t>il</a:t>
            </a:r>
            <a:r>
              <a:rPr dirty="0"/>
              <a:t> </a:t>
            </a:r>
            <a:r>
              <a:rPr dirty="0" err="1"/>
              <a:t>delitto</a:t>
            </a:r>
            <a:r>
              <a:rPr b="0" u="none" dirty="0"/>
              <a:t> </a:t>
            </a:r>
            <a:r>
              <a:rPr b="0" u="none" dirty="0" err="1"/>
              <a:t>quando</a:t>
            </a:r>
            <a:r>
              <a:rPr b="0" u="none" dirty="0"/>
              <a:t> una persona o un </a:t>
            </a:r>
            <a:r>
              <a:rPr b="0" u="none" dirty="0" err="1"/>
              <a:t>gruppo</a:t>
            </a:r>
            <a:r>
              <a:rPr b="0" u="none" dirty="0"/>
              <a:t> ne </a:t>
            </a:r>
            <a:r>
              <a:rPr b="0" u="none" dirty="0" err="1"/>
              <a:t>assale</a:t>
            </a:r>
            <a:r>
              <a:rPr b="0" u="none" dirty="0"/>
              <a:t> </a:t>
            </a:r>
            <a:r>
              <a:rPr b="0" u="none" dirty="0" err="1"/>
              <a:t>altre</a:t>
            </a:r>
            <a:r>
              <a:rPr b="0" u="none" dirty="0"/>
              <a:t> e </a:t>
            </a:r>
            <a:r>
              <a:rPr b="0" u="none" dirty="0" err="1"/>
              <a:t>queste</a:t>
            </a:r>
            <a:r>
              <a:rPr b="0" u="none" dirty="0"/>
              <a:t> </a:t>
            </a:r>
            <a:r>
              <a:rPr b="0" dirty="0" err="1"/>
              <a:t>si</a:t>
            </a:r>
            <a:r>
              <a:rPr b="0" dirty="0"/>
              <a:t> </a:t>
            </a:r>
            <a:r>
              <a:rPr b="0" dirty="0" err="1"/>
              <a:t>difendono</a:t>
            </a:r>
            <a:r>
              <a:rPr b="0" u="none" dirty="0"/>
              <a:t>, </a:t>
            </a:r>
            <a:r>
              <a:rPr b="0" u="none" dirty="0" err="1"/>
              <a:t>ovvero</a:t>
            </a:r>
            <a:r>
              <a:rPr b="0" u="none" dirty="0"/>
              <a:t> </a:t>
            </a:r>
            <a:r>
              <a:rPr b="0" u="none" dirty="0" err="1"/>
              <a:t>nel</a:t>
            </a:r>
            <a:r>
              <a:rPr b="0" u="none" dirty="0"/>
              <a:t> </a:t>
            </a:r>
            <a:r>
              <a:rPr b="0" u="none" dirty="0" err="1"/>
              <a:t>caso</a:t>
            </a:r>
            <a:r>
              <a:rPr b="0" u="none" dirty="0"/>
              <a:t> in cui un </a:t>
            </a:r>
            <a:r>
              <a:rPr b="0" u="none" dirty="0" err="1"/>
              <a:t>gruppo</a:t>
            </a:r>
            <a:r>
              <a:rPr b="0" u="none" dirty="0"/>
              <a:t> di </a:t>
            </a:r>
            <a:r>
              <a:rPr b="0" u="none" dirty="0" err="1"/>
              <a:t>persone</a:t>
            </a:r>
            <a:r>
              <a:rPr b="0" u="none" dirty="0"/>
              <a:t> </a:t>
            </a:r>
            <a:r>
              <a:rPr b="0" u="none" dirty="0" err="1"/>
              <a:t>assalga</a:t>
            </a:r>
            <a:r>
              <a:rPr b="0" u="none" dirty="0"/>
              <a:t> </a:t>
            </a:r>
            <a:r>
              <a:rPr b="0" u="none" dirty="0" err="1"/>
              <a:t>altri</a:t>
            </a:r>
            <a:r>
              <a:rPr b="0" u="none" dirty="0"/>
              <a:t> </a:t>
            </a:r>
            <a:r>
              <a:rPr b="0" u="none" dirty="0" err="1"/>
              <a:t>soggetti</a:t>
            </a:r>
            <a:r>
              <a:rPr b="0" u="none" dirty="0"/>
              <a:t> </a:t>
            </a:r>
            <a:r>
              <a:rPr b="0" u="none" dirty="0" err="1"/>
              <a:t>che</a:t>
            </a:r>
            <a:r>
              <a:rPr b="0" u="none" dirty="0"/>
              <a:t> </a:t>
            </a:r>
            <a:r>
              <a:rPr b="0" u="none" dirty="0" err="1"/>
              <a:t>fuggono</a:t>
            </a:r>
            <a:r>
              <a:rPr b="0" u="none" dirty="0"/>
              <a:t>. </a:t>
            </a:r>
          </a:p>
          <a:p>
            <a:pPr marL="0" indent="0" algn="just">
              <a:buSzTx/>
              <a:buNone/>
              <a:defRPr b="1" u="sng">
                <a:latin typeface="Times New Roman"/>
                <a:ea typeface="Times New Roman"/>
                <a:cs typeface="Times New Roman"/>
                <a:sym typeface="Times New Roman"/>
              </a:defRPr>
            </a:pPr>
            <a:endParaRPr lang="it-IT" dirty="0"/>
          </a:p>
          <a:p>
            <a:pPr marL="0" indent="0" algn="just">
              <a:buSzTx/>
              <a:buNone/>
              <a:defRPr b="1" u="sng">
                <a:latin typeface="Times New Roman"/>
                <a:ea typeface="Times New Roman"/>
                <a:cs typeface="Times New Roman"/>
                <a:sym typeface="Times New Roman"/>
              </a:defRPr>
            </a:pPr>
            <a:r>
              <a:rPr dirty="0"/>
              <a:t>Non integra, </a:t>
            </a:r>
            <a:r>
              <a:rPr dirty="0" err="1"/>
              <a:t>dunque</a:t>
            </a:r>
            <a:r>
              <a:rPr dirty="0"/>
              <a:t>, </a:t>
            </a:r>
            <a:r>
              <a:rPr dirty="0" err="1"/>
              <a:t>il</a:t>
            </a:r>
            <a:r>
              <a:rPr dirty="0"/>
              <a:t> </a:t>
            </a:r>
            <a:r>
              <a:rPr dirty="0" err="1"/>
              <a:t>reato</a:t>
            </a:r>
            <a:r>
              <a:rPr dirty="0"/>
              <a:t> </a:t>
            </a:r>
            <a:r>
              <a:rPr b="0" u="none" dirty="0"/>
              <a:t>la </a:t>
            </a:r>
            <a:r>
              <a:rPr b="0" u="none" dirty="0" err="1"/>
              <a:t>condotta</a:t>
            </a:r>
            <a:r>
              <a:rPr b="0" u="none" dirty="0"/>
              <a:t> di </a:t>
            </a:r>
            <a:r>
              <a:rPr b="0" u="none" dirty="0" err="1"/>
              <a:t>colui</a:t>
            </a:r>
            <a:r>
              <a:rPr b="0" u="none" dirty="0"/>
              <a:t> </a:t>
            </a:r>
            <a:r>
              <a:rPr b="0" u="none" dirty="0" err="1"/>
              <a:t>che</a:t>
            </a:r>
            <a:r>
              <a:rPr b="0" u="none" dirty="0"/>
              <a:t> </a:t>
            </a:r>
            <a:r>
              <a:rPr b="0" u="none" dirty="0" err="1"/>
              <a:t>aggredito</a:t>
            </a:r>
            <a:r>
              <a:rPr b="0" u="none" dirty="0"/>
              <a:t> da </a:t>
            </a:r>
            <a:r>
              <a:rPr b="0" u="none" dirty="0" err="1"/>
              <a:t>altre</a:t>
            </a:r>
            <a:r>
              <a:rPr b="0" u="none" dirty="0"/>
              <a:t> </a:t>
            </a:r>
            <a:r>
              <a:rPr b="0" u="none" dirty="0" err="1"/>
              <a:t>persone</a:t>
            </a:r>
            <a:r>
              <a:rPr b="0" u="none" dirty="0"/>
              <a:t> </a:t>
            </a:r>
            <a:r>
              <a:rPr b="0" u="none" dirty="0" err="1"/>
              <a:t>reagisce</a:t>
            </a:r>
            <a:r>
              <a:rPr b="0" u="none" dirty="0"/>
              <a:t> </a:t>
            </a:r>
            <a:r>
              <a:rPr b="0" dirty="0" err="1"/>
              <a:t>difendendosi</a:t>
            </a:r>
            <a:r>
              <a:rPr b="0" u="none" dirty="0"/>
              <a:t> </a:t>
            </a:r>
          </a:p>
          <a:p>
            <a:pPr marL="0" indent="0" algn="just">
              <a:buSzTx/>
              <a:buNone/>
              <a:defRPr sz="2000" i="1">
                <a:latin typeface="Times New Roman"/>
                <a:ea typeface="Times New Roman"/>
                <a:cs typeface="Times New Roman"/>
                <a:sym typeface="Times New Roman"/>
              </a:defRPr>
            </a:pPr>
            <a:r>
              <a:rPr dirty="0"/>
              <a:t>(in </a:t>
            </a:r>
            <a:r>
              <a:rPr dirty="0" err="1"/>
              <a:t>questo</a:t>
            </a:r>
            <a:r>
              <a:rPr dirty="0"/>
              <a:t> </a:t>
            </a:r>
            <a:r>
              <a:rPr dirty="0" err="1"/>
              <a:t>caso</a:t>
            </a:r>
            <a:r>
              <a:rPr dirty="0"/>
              <a:t> </a:t>
            </a:r>
            <a:r>
              <a:rPr dirty="0" err="1"/>
              <a:t>l’aggredito</a:t>
            </a:r>
            <a:r>
              <a:rPr dirty="0"/>
              <a:t> non è </a:t>
            </a:r>
            <a:r>
              <a:rPr dirty="0" err="1"/>
              <a:t>punibile</a:t>
            </a:r>
            <a:r>
              <a:rPr dirty="0"/>
              <a:t> ex art. 52 </a:t>
            </a:r>
            <a:r>
              <a:rPr dirty="0" err="1"/>
              <a:t>c.p.</a:t>
            </a:r>
            <a:r>
              <a:rPr dirty="0"/>
              <a:t> </a:t>
            </a:r>
            <a:r>
              <a:rPr dirty="0" err="1"/>
              <a:t>mentre</a:t>
            </a:r>
            <a:r>
              <a:rPr dirty="0"/>
              <a:t> </a:t>
            </a:r>
            <a:r>
              <a:rPr dirty="0" err="1"/>
              <a:t>gli</a:t>
            </a:r>
            <a:r>
              <a:rPr dirty="0"/>
              <a:t> </a:t>
            </a:r>
            <a:r>
              <a:rPr dirty="0" err="1"/>
              <a:t>aggressori</a:t>
            </a:r>
            <a:r>
              <a:rPr dirty="0"/>
              <a:t>, non </a:t>
            </a:r>
            <a:r>
              <a:rPr dirty="0" err="1"/>
              <a:t>avendo</a:t>
            </a:r>
            <a:r>
              <a:rPr dirty="0"/>
              <a:t> di </a:t>
            </a:r>
            <a:r>
              <a:rPr dirty="0" err="1"/>
              <a:t>fronte</a:t>
            </a:r>
            <a:r>
              <a:rPr dirty="0"/>
              <a:t> a </a:t>
            </a:r>
            <a:r>
              <a:rPr dirty="0" err="1"/>
              <a:t>loro</a:t>
            </a:r>
            <a:r>
              <a:rPr dirty="0"/>
              <a:t> un </a:t>
            </a:r>
            <a:r>
              <a:rPr dirty="0" err="1"/>
              <a:t>corrissante</a:t>
            </a:r>
            <a:r>
              <a:rPr dirty="0"/>
              <a:t>, non </a:t>
            </a:r>
            <a:r>
              <a:rPr dirty="0" err="1"/>
              <a:t>risponderanno</a:t>
            </a:r>
            <a:r>
              <a:rPr dirty="0"/>
              <a:t> di </a:t>
            </a:r>
            <a:r>
              <a:rPr dirty="0" err="1"/>
              <a:t>rissa</a:t>
            </a:r>
            <a:r>
              <a:rPr dirty="0"/>
              <a:t> ma </a:t>
            </a:r>
            <a:r>
              <a:rPr dirty="0" err="1"/>
              <a:t>delle</a:t>
            </a:r>
            <a:r>
              <a:rPr dirty="0"/>
              <a:t> </a:t>
            </a:r>
            <a:r>
              <a:rPr dirty="0" err="1"/>
              <a:t>conseguenze</a:t>
            </a:r>
            <a:r>
              <a:rPr dirty="0"/>
              <a:t> </a:t>
            </a:r>
            <a:r>
              <a:rPr dirty="0" err="1"/>
              <a:t>penali</a:t>
            </a:r>
            <a:r>
              <a:rPr dirty="0"/>
              <a:t> </a:t>
            </a:r>
            <a:r>
              <a:rPr dirty="0" err="1"/>
              <a:t>derivanti</a:t>
            </a:r>
            <a:r>
              <a:rPr dirty="0"/>
              <a:t> </a:t>
            </a:r>
            <a:r>
              <a:rPr dirty="0" err="1"/>
              <a:t>dagli</a:t>
            </a:r>
            <a:r>
              <a:rPr dirty="0"/>
              <a:t> </a:t>
            </a:r>
            <a:r>
              <a:rPr dirty="0" err="1"/>
              <a:t>atti</a:t>
            </a:r>
            <a:r>
              <a:rPr dirty="0"/>
              <a:t> di </a:t>
            </a:r>
            <a:r>
              <a:rPr dirty="0" err="1"/>
              <a:t>violenza</a:t>
            </a:r>
            <a:r>
              <a:rPr dirty="0"/>
              <a:t> </a:t>
            </a:r>
            <a:r>
              <a:rPr dirty="0" err="1"/>
              <a:t>realizzati</a:t>
            </a:r>
            <a:r>
              <a:rPr dirty="0"/>
              <a:t>).</a:t>
            </a:r>
          </a:p>
        </p:txBody>
      </p:sp>
      <p:sp>
        <p:nvSpPr>
          <p:cNvPr id="513"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33</a:t>
            </a:fld>
            <a:endParaRPr/>
          </a:p>
        </p:txBody>
      </p:sp>
      <p:sp>
        <p:nvSpPr>
          <p:cNvPr id="514" name="Titolo 3"/>
          <p:cNvSpPr txBox="1">
            <a:spLocks noGrp="1"/>
          </p:cNvSpPr>
          <p:nvPr>
            <p:ph type="title"/>
          </p:nvPr>
        </p:nvSpPr>
        <p:spPr>
          <a:xfrm>
            <a:off x="835378" y="79022"/>
            <a:ext cx="7472494" cy="857577"/>
          </a:xfrm>
          <a:prstGeom prst="rect">
            <a:avLst/>
          </a:prstGeom>
        </p:spPr>
        <p:txBody>
          <a:bodyPr/>
          <a:lstStyle/>
          <a:p>
            <a:pPr defTabSz="365760">
              <a:defRPr sz="1560">
                <a:solidFill>
                  <a:schemeClr val="accent3">
                    <a:lumOff val="44000"/>
                  </a:schemeClr>
                </a:solidFill>
                <a:effectLst/>
                <a:latin typeface="Book Antiqua"/>
                <a:ea typeface="Book Antiqua"/>
                <a:cs typeface="Book Antiqua"/>
                <a:sym typeface="Book Antiqua"/>
              </a:defRPr>
            </a:pPr>
            <a:r>
              <a:rPr sz="3200" dirty="0"/>
              <a:t>Rissa</a:t>
            </a:r>
            <a:br>
              <a:rPr dirty="0"/>
            </a:br>
            <a:endParaRPr dirty="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30DC1344-29A6-4EBA-8964-C794A5E1764B}"/>
              </a:ext>
            </a:extLst>
          </p:cNvPr>
          <p:cNvSpPr>
            <a:spLocks noGrp="1"/>
          </p:cNvSpPr>
          <p:nvPr>
            <p:ph type="body" idx="1"/>
          </p:nvPr>
        </p:nvSpPr>
        <p:spPr>
          <a:xfrm>
            <a:off x="628650" y="891822"/>
            <a:ext cx="7886700" cy="5723467"/>
          </a:xfrm>
        </p:spPr>
        <p:txBody>
          <a:bodyPr>
            <a:normAutofit fontScale="85000" lnSpcReduction="20000"/>
          </a:bodyPr>
          <a:lstStyle/>
          <a:p>
            <a:pPr algn="just"/>
            <a:endParaRPr lang="it-IT" dirty="0"/>
          </a:p>
          <a:p>
            <a:pPr algn="just"/>
            <a:r>
              <a:rPr lang="it-IT" b="1" dirty="0">
                <a:solidFill>
                  <a:srgbClr val="FFC000"/>
                </a:solidFill>
                <a:latin typeface="Times New Roman" panose="02020603050405020304" pitchFamily="18" charset="0"/>
                <a:cs typeface="Times New Roman" panose="02020603050405020304" pitchFamily="18" charset="0"/>
              </a:rPr>
              <a:t>CIRCOSTANZE</a:t>
            </a:r>
            <a:r>
              <a:rPr lang="it-IT" b="1" dirty="0">
                <a:solidFill>
                  <a:srgbClr val="FFC000"/>
                </a:solidFill>
              </a:rPr>
              <a:t>: </a:t>
            </a:r>
            <a:r>
              <a:rPr lang="it-IT" dirty="0"/>
              <a:t>al secondo comma viene stabilita la circostanza aggravante se, immediatamente dopo o in conseguenza della rissa, ne </a:t>
            </a:r>
            <a:r>
              <a:rPr lang="it-IT" dirty="0">
                <a:solidFill>
                  <a:srgbClr val="FF0000"/>
                </a:solidFill>
              </a:rPr>
              <a:t>deriva la morte </a:t>
            </a:r>
            <a:r>
              <a:rPr lang="it-IT" dirty="0"/>
              <a:t>di taluno, sempre che vi sia il nesso di causalità ex art. 40 c.p.</a:t>
            </a:r>
          </a:p>
          <a:p>
            <a:pPr algn="just"/>
            <a:endParaRPr lang="it-IT" dirty="0"/>
          </a:p>
          <a:p>
            <a:pPr marL="0" indent="0" algn="just">
              <a:buNone/>
            </a:pPr>
            <a:r>
              <a:rPr lang="it-IT" dirty="0"/>
              <a:t>I </a:t>
            </a:r>
            <a:r>
              <a:rPr lang="it-IT" b="1" dirty="0"/>
              <a:t>reati di </a:t>
            </a:r>
            <a:r>
              <a:rPr lang="it-IT" b="1" u="sng" dirty="0"/>
              <a:t>lesioni</a:t>
            </a:r>
            <a:r>
              <a:rPr lang="it-IT" b="1" dirty="0"/>
              <a:t> e di </a:t>
            </a:r>
            <a:r>
              <a:rPr lang="it-IT" b="1" u="sng" dirty="0"/>
              <a:t>omicidio</a:t>
            </a:r>
            <a:r>
              <a:rPr lang="it-IT" dirty="0"/>
              <a:t> concorrono con il reato di rissa aggravata ex art. 588, co.2. </a:t>
            </a:r>
          </a:p>
          <a:p>
            <a:pPr marL="0" indent="0" algn="just">
              <a:buNone/>
            </a:pPr>
            <a:endParaRPr lang="it-IT" dirty="0"/>
          </a:p>
          <a:p>
            <a:pPr marL="0" indent="0" algn="just">
              <a:buNone/>
            </a:pPr>
            <a:r>
              <a:rPr lang="it-IT" dirty="0"/>
              <a:t>La rissa può infatti concorrere con qualsiasi delitto, purché la violenza non sia elemento costitutivo o circostanza aggravante. </a:t>
            </a:r>
          </a:p>
          <a:p>
            <a:pPr marL="0" indent="0" algn="just">
              <a:buNone/>
            </a:pPr>
            <a:r>
              <a:rPr lang="it-IT" dirty="0"/>
              <a:t>Possono, ad esempio, concorrere quei delitti commessi in occasione della colluttazione, come il porto abusivo di armi, </a:t>
            </a:r>
            <a:r>
              <a:rPr lang="it-IT" u="sng" dirty="0"/>
              <a:t>minacce, lesioni, violenza o resistenza </a:t>
            </a:r>
            <a:r>
              <a:rPr lang="it-IT" b="1" u="sng" dirty="0"/>
              <a:t>all’autorità</a:t>
            </a:r>
            <a:r>
              <a:rPr lang="it-IT" dirty="0"/>
              <a:t>, omicidio doloso o preterintenzionale ecc. </a:t>
            </a:r>
          </a:p>
          <a:p>
            <a:pPr marL="0" indent="0" algn="just">
              <a:buNone/>
            </a:pPr>
            <a:r>
              <a:rPr lang="it-IT" dirty="0"/>
              <a:t>Non può invece concorrere con le percosse o le minacce poiché la violenza è un elemento </a:t>
            </a:r>
            <a:r>
              <a:rPr lang="it-IT" dirty="0">
                <a:solidFill>
                  <a:srgbClr val="FF0000"/>
                </a:solidFill>
              </a:rPr>
              <a:t>costitutivo</a:t>
            </a:r>
            <a:r>
              <a:rPr lang="it-IT" dirty="0"/>
              <a:t> della fattispecie. </a:t>
            </a:r>
          </a:p>
        </p:txBody>
      </p:sp>
      <p:sp>
        <p:nvSpPr>
          <p:cNvPr id="4" name="Titolo 3">
            <a:extLst>
              <a:ext uri="{FF2B5EF4-FFF2-40B4-BE49-F238E27FC236}">
                <a16:creationId xmlns:a16="http://schemas.microsoft.com/office/drawing/2014/main" id="{503AFD36-C898-4A2F-BC1B-A151423BB477}"/>
              </a:ext>
            </a:extLst>
          </p:cNvPr>
          <p:cNvSpPr txBox="1">
            <a:spLocks noGrp="1"/>
          </p:cNvSpPr>
          <p:nvPr>
            <p:ph type="title"/>
          </p:nvPr>
        </p:nvSpPr>
        <p:spPr>
          <a:xfrm>
            <a:off x="778933" y="112889"/>
            <a:ext cx="7736417" cy="914400"/>
          </a:xfrm>
          <a:prstGeom prst="rect">
            <a:avLst/>
          </a:prstGeom>
        </p:spPr>
        <p:txBody>
          <a:bodyPr>
            <a:normAutofit/>
          </a:bodyPr>
          <a:lstStyle/>
          <a:p>
            <a:pPr defTabSz="365760">
              <a:defRPr sz="1560">
                <a:solidFill>
                  <a:schemeClr val="accent3">
                    <a:lumOff val="44000"/>
                  </a:schemeClr>
                </a:solidFill>
                <a:effectLst/>
                <a:latin typeface="Book Antiqua"/>
                <a:ea typeface="Book Antiqua"/>
                <a:cs typeface="Book Antiqua"/>
                <a:sym typeface="Book Antiqua"/>
              </a:defRPr>
            </a:pPr>
            <a:r>
              <a:rPr sz="3600" dirty="0"/>
              <a:t>Rissa</a:t>
            </a:r>
            <a:br>
              <a:rPr dirty="0"/>
            </a:br>
            <a:endParaRPr dirty="0"/>
          </a:p>
        </p:txBody>
      </p:sp>
    </p:spTree>
    <p:extLst>
      <p:ext uri="{BB962C8B-B14F-4D97-AF65-F5344CB8AC3E}">
        <p14:creationId xmlns:p14="http://schemas.microsoft.com/office/powerpoint/2010/main" val="388616210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35</a:t>
            </a:fld>
            <a:endParaRPr/>
          </a:p>
        </p:txBody>
      </p:sp>
      <p:sp>
        <p:nvSpPr>
          <p:cNvPr id="517" name="CasellaDiTesto 13"/>
          <p:cNvSpPr txBox="1"/>
          <p:nvPr/>
        </p:nvSpPr>
        <p:spPr>
          <a:xfrm>
            <a:off x="153223" y="1133737"/>
            <a:ext cx="8837553" cy="43550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u="sng">
                <a:solidFill>
                  <a:srgbClr val="EFAC03"/>
                </a:solidFill>
                <a:latin typeface="Times New Roman"/>
                <a:ea typeface="Times New Roman"/>
                <a:cs typeface="Times New Roman"/>
                <a:sym typeface="Times New Roman"/>
              </a:defRPr>
            </a:pPr>
            <a:r>
              <a:rPr dirty="0"/>
              <a:t>ELEMENTO SOGGETTIVO</a:t>
            </a:r>
            <a:r>
              <a:rPr b="0" u="none" dirty="0">
                <a:solidFill>
                  <a:srgbClr val="000000"/>
                </a:solidFill>
              </a:rPr>
              <a:t> è </a:t>
            </a:r>
            <a:r>
              <a:rPr b="0" u="none" dirty="0" err="1">
                <a:solidFill>
                  <a:srgbClr val="000000"/>
                </a:solidFill>
              </a:rPr>
              <a:t>il</a:t>
            </a:r>
            <a:r>
              <a:rPr b="0" u="none" dirty="0">
                <a:solidFill>
                  <a:srgbClr val="000000"/>
                </a:solidFill>
              </a:rPr>
              <a:t> </a:t>
            </a:r>
            <a:r>
              <a:rPr u="none" dirty="0"/>
              <a:t>DOLO GENERICO</a:t>
            </a:r>
            <a:r>
              <a:rPr b="0" u="none" dirty="0">
                <a:solidFill>
                  <a:srgbClr val="000000"/>
                </a:solidFill>
              </a:rPr>
              <a:t>, </a:t>
            </a:r>
            <a:r>
              <a:rPr b="0" u="none" dirty="0" err="1">
                <a:solidFill>
                  <a:srgbClr val="000000"/>
                </a:solidFill>
              </a:rPr>
              <a:t>inteso</a:t>
            </a:r>
            <a:r>
              <a:rPr b="0" u="none" dirty="0">
                <a:solidFill>
                  <a:srgbClr val="000000"/>
                </a:solidFill>
              </a:rPr>
              <a:t> come </a:t>
            </a:r>
            <a:r>
              <a:rPr b="0" u="none" dirty="0" err="1">
                <a:solidFill>
                  <a:srgbClr val="000000"/>
                </a:solidFill>
              </a:rPr>
              <a:t>coscienza</a:t>
            </a:r>
            <a:r>
              <a:rPr b="0" u="none" dirty="0">
                <a:solidFill>
                  <a:srgbClr val="000000"/>
                </a:solidFill>
              </a:rPr>
              <a:t> e </a:t>
            </a:r>
            <a:r>
              <a:rPr b="0" u="none" dirty="0" err="1">
                <a:solidFill>
                  <a:srgbClr val="000000"/>
                </a:solidFill>
              </a:rPr>
              <a:t>volontà</a:t>
            </a:r>
            <a:r>
              <a:rPr b="0" u="none" dirty="0">
                <a:solidFill>
                  <a:srgbClr val="000000"/>
                </a:solidFill>
              </a:rPr>
              <a:t> di </a:t>
            </a:r>
            <a:r>
              <a:rPr b="0" u="none" dirty="0" err="1">
                <a:solidFill>
                  <a:srgbClr val="000000"/>
                </a:solidFill>
              </a:rPr>
              <a:t>partecipare</a:t>
            </a:r>
            <a:r>
              <a:rPr b="0" u="none" dirty="0">
                <a:solidFill>
                  <a:srgbClr val="000000"/>
                </a:solidFill>
              </a:rPr>
              <a:t> ad una </a:t>
            </a:r>
            <a:r>
              <a:rPr b="0" u="none" dirty="0" err="1">
                <a:solidFill>
                  <a:srgbClr val="000000"/>
                </a:solidFill>
              </a:rPr>
              <a:t>rissa</a:t>
            </a:r>
            <a:r>
              <a:rPr b="0" u="none" dirty="0">
                <a:solidFill>
                  <a:srgbClr val="000000"/>
                </a:solidFill>
              </a:rPr>
              <a:t>.</a:t>
            </a:r>
          </a:p>
          <a:p>
            <a:pPr algn="just">
              <a:spcBef>
                <a:spcPts val="600"/>
              </a:spcBef>
              <a:defRPr sz="2200" u="sng">
                <a:solidFill>
                  <a:srgbClr val="EFAC03"/>
                </a:solidFill>
                <a:latin typeface="Times New Roman"/>
                <a:ea typeface="Times New Roman"/>
                <a:cs typeface="Times New Roman"/>
                <a:sym typeface="Times New Roman"/>
              </a:defRPr>
            </a:pPr>
            <a:endParaRPr b="0" u="none" dirty="0">
              <a:solidFill>
                <a:srgbClr val="000000"/>
              </a:solidFill>
            </a:endParaRPr>
          </a:p>
          <a:p>
            <a:pPr algn="just">
              <a:spcBef>
                <a:spcPts val="600"/>
              </a:spcBef>
              <a:defRPr sz="2200" b="0">
                <a:latin typeface="Times New Roman"/>
                <a:ea typeface="Times New Roman"/>
                <a:cs typeface="Times New Roman"/>
                <a:sym typeface="Times New Roman"/>
              </a:defRPr>
            </a:pPr>
            <a:endParaRPr lang="it-IT" b="0" u="none" dirty="0">
              <a:solidFill>
                <a:srgbClr val="000000"/>
              </a:solidFill>
            </a:endParaRPr>
          </a:p>
          <a:p>
            <a:pPr algn="just">
              <a:spcBef>
                <a:spcPts val="600"/>
              </a:spcBef>
              <a:defRPr sz="2200" b="0">
                <a:latin typeface="Times New Roman"/>
                <a:ea typeface="Times New Roman"/>
                <a:cs typeface="Times New Roman"/>
                <a:sym typeface="Times New Roman"/>
              </a:defRPr>
            </a:pPr>
            <a:endParaRPr lang="it-IT" b="0" dirty="0"/>
          </a:p>
          <a:p>
            <a:pPr algn="just">
              <a:spcBef>
                <a:spcPts val="600"/>
              </a:spcBef>
              <a:defRPr sz="2200" b="0">
                <a:latin typeface="Times New Roman"/>
                <a:ea typeface="Times New Roman"/>
                <a:cs typeface="Times New Roman"/>
                <a:sym typeface="Times New Roman"/>
              </a:defRPr>
            </a:pPr>
            <a:endParaRPr b="0" u="none" dirty="0">
              <a:solidFill>
                <a:srgbClr val="000000"/>
              </a:solidFill>
            </a:endParaRPr>
          </a:p>
          <a:p>
            <a:pPr algn="just">
              <a:spcBef>
                <a:spcPts val="600"/>
              </a:spcBef>
              <a:defRPr sz="2200">
                <a:solidFill>
                  <a:srgbClr val="EFAC03"/>
                </a:solidFill>
                <a:latin typeface="Times New Roman"/>
                <a:ea typeface="Times New Roman"/>
                <a:cs typeface="Times New Roman"/>
                <a:sym typeface="Times New Roman"/>
              </a:defRPr>
            </a:pPr>
            <a:r>
              <a:rPr dirty="0"/>
              <a:t>REATO COMUNE E PLURISOGGETTIVO</a:t>
            </a:r>
            <a:r>
              <a:rPr b="0" dirty="0">
                <a:solidFill>
                  <a:srgbClr val="000000"/>
                </a:solidFill>
              </a:rPr>
              <a:t>.</a:t>
            </a:r>
          </a:p>
          <a:p>
            <a:pPr algn="just">
              <a:spcBef>
                <a:spcPts val="600"/>
              </a:spcBef>
              <a:defRPr sz="2200">
                <a:solidFill>
                  <a:srgbClr val="EFAC03"/>
                </a:solidFill>
                <a:latin typeface="Times New Roman"/>
                <a:ea typeface="Times New Roman"/>
                <a:cs typeface="Times New Roman"/>
                <a:sym typeface="Times New Roman"/>
              </a:defRPr>
            </a:pPr>
            <a:r>
              <a:rPr dirty="0"/>
              <a:t>REATO DI PERICOLO</a:t>
            </a:r>
            <a:r>
              <a:rPr b="0" dirty="0">
                <a:solidFill>
                  <a:srgbClr val="000000"/>
                </a:solidFill>
              </a:rPr>
              <a:t>, </a:t>
            </a:r>
            <a:r>
              <a:rPr b="0" dirty="0" err="1">
                <a:solidFill>
                  <a:srgbClr val="000000"/>
                </a:solidFill>
              </a:rPr>
              <a:t>perché</a:t>
            </a:r>
            <a:r>
              <a:rPr b="0" dirty="0">
                <a:solidFill>
                  <a:srgbClr val="000000"/>
                </a:solidFill>
              </a:rPr>
              <a:t> </a:t>
            </a:r>
            <a:r>
              <a:rPr b="0" dirty="0" err="1">
                <a:solidFill>
                  <a:srgbClr val="000000"/>
                </a:solidFill>
              </a:rPr>
              <a:t>richiede</a:t>
            </a:r>
            <a:r>
              <a:rPr b="0" dirty="0">
                <a:solidFill>
                  <a:srgbClr val="000000"/>
                </a:solidFill>
              </a:rPr>
              <a:t> </a:t>
            </a:r>
            <a:r>
              <a:rPr b="0" dirty="0" err="1">
                <a:solidFill>
                  <a:srgbClr val="000000"/>
                </a:solidFill>
              </a:rPr>
              <a:t>l’offesa</a:t>
            </a:r>
            <a:r>
              <a:rPr b="0" dirty="0">
                <a:solidFill>
                  <a:srgbClr val="000000"/>
                </a:solidFill>
              </a:rPr>
              <a:t> in </a:t>
            </a:r>
            <a:r>
              <a:rPr b="0" dirty="0" err="1">
                <a:solidFill>
                  <a:srgbClr val="000000"/>
                </a:solidFill>
              </a:rPr>
              <a:t>senso</a:t>
            </a:r>
            <a:r>
              <a:rPr b="0" dirty="0">
                <a:solidFill>
                  <a:srgbClr val="000000"/>
                </a:solidFill>
              </a:rPr>
              <a:t> </a:t>
            </a:r>
            <a:r>
              <a:rPr b="0" dirty="0" err="1">
                <a:solidFill>
                  <a:srgbClr val="000000"/>
                </a:solidFill>
              </a:rPr>
              <a:t>giuridico</a:t>
            </a:r>
            <a:r>
              <a:rPr b="0" dirty="0">
                <a:solidFill>
                  <a:srgbClr val="000000"/>
                </a:solidFill>
              </a:rPr>
              <a:t> del bene </a:t>
            </a:r>
            <a:r>
              <a:rPr b="0" dirty="0" err="1">
                <a:solidFill>
                  <a:srgbClr val="000000"/>
                </a:solidFill>
              </a:rPr>
              <a:t>protetto</a:t>
            </a:r>
            <a:r>
              <a:rPr b="0" dirty="0">
                <a:solidFill>
                  <a:srgbClr val="000000"/>
                </a:solidFill>
              </a:rPr>
              <a:t> ed </a:t>
            </a:r>
            <a:r>
              <a:rPr b="0" dirty="0" err="1">
                <a:solidFill>
                  <a:srgbClr val="000000"/>
                </a:solidFill>
              </a:rPr>
              <a:t>inoltre</a:t>
            </a:r>
            <a:r>
              <a:rPr b="0" dirty="0">
                <a:solidFill>
                  <a:srgbClr val="000000"/>
                </a:solidFill>
              </a:rPr>
              <a:t> </a:t>
            </a:r>
            <a:r>
              <a:rPr b="0" dirty="0" err="1">
                <a:solidFill>
                  <a:srgbClr val="000000"/>
                </a:solidFill>
              </a:rPr>
              <a:t>viene</a:t>
            </a:r>
            <a:r>
              <a:rPr b="0" dirty="0">
                <a:solidFill>
                  <a:srgbClr val="000000"/>
                </a:solidFill>
              </a:rPr>
              <a:t> </a:t>
            </a:r>
            <a:r>
              <a:rPr b="0" dirty="0" err="1">
                <a:solidFill>
                  <a:srgbClr val="000000"/>
                </a:solidFill>
              </a:rPr>
              <a:t>punita</a:t>
            </a:r>
            <a:r>
              <a:rPr b="0" dirty="0">
                <a:solidFill>
                  <a:srgbClr val="000000"/>
                </a:solidFill>
              </a:rPr>
              <a:t> la </a:t>
            </a:r>
            <a:r>
              <a:rPr b="0" dirty="0" err="1">
                <a:solidFill>
                  <a:srgbClr val="000000"/>
                </a:solidFill>
              </a:rPr>
              <a:t>mera</a:t>
            </a:r>
            <a:r>
              <a:rPr b="0" dirty="0">
                <a:solidFill>
                  <a:srgbClr val="000000"/>
                </a:solidFill>
              </a:rPr>
              <a:t> </a:t>
            </a:r>
            <a:r>
              <a:rPr b="0" dirty="0" err="1">
                <a:solidFill>
                  <a:srgbClr val="000000"/>
                </a:solidFill>
              </a:rPr>
              <a:t>partecipazione</a:t>
            </a:r>
            <a:r>
              <a:rPr b="0" dirty="0">
                <a:solidFill>
                  <a:srgbClr val="000000"/>
                </a:solidFill>
              </a:rPr>
              <a:t>.</a:t>
            </a:r>
          </a:p>
          <a:p>
            <a:pPr algn="just">
              <a:spcBef>
                <a:spcPts val="600"/>
              </a:spcBef>
              <a:defRPr sz="2200">
                <a:solidFill>
                  <a:srgbClr val="EFAC03"/>
                </a:solidFill>
                <a:latin typeface="Times New Roman"/>
                <a:ea typeface="Times New Roman"/>
                <a:cs typeface="Times New Roman"/>
                <a:sym typeface="Times New Roman"/>
              </a:defRPr>
            </a:pPr>
            <a:r>
              <a:rPr dirty="0"/>
              <a:t>REATO A FORMA LIBERA</a:t>
            </a:r>
            <a:r>
              <a:rPr b="0" dirty="0">
                <a:solidFill>
                  <a:srgbClr val="000000"/>
                </a:solidFill>
              </a:rPr>
              <a:t>, </a:t>
            </a:r>
            <a:r>
              <a:rPr b="0" dirty="0" err="1">
                <a:solidFill>
                  <a:srgbClr val="000000"/>
                </a:solidFill>
              </a:rPr>
              <a:t>perché</a:t>
            </a:r>
            <a:r>
              <a:rPr b="0" dirty="0">
                <a:solidFill>
                  <a:srgbClr val="000000"/>
                </a:solidFill>
              </a:rPr>
              <a:t> la </a:t>
            </a:r>
            <a:r>
              <a:rPr b="0" dirty="0" err="1">
                <a:solidFill>
                  <a:srgbClr val="000000"/>
                </a:solidFill>
              </a:rPr>
              <a:t>condotta</a:t>
            </a:r>
            <a:r>
              <a:rPr b="0" dirty="0">
                <a:solidFill>
                  <a:srgbClr val="000000"/>
                </a:solidFill>
              </a:rPr>
              <a:t> </a:t>
            </a:r>
            <a:r>
              <a:rPr b="0" dirty="0" err="1">
                <a:solidFill>
                  <a:srgbClr val="000000"/>
                </a:solidFill>
              </a:rPr>
              <a:t>tipica</a:t>
            </a:r>
            <a:r>
              <a:rPr b="0" dirty="0">
                <a:solidFill>
                  <a:srgbClr val="000000"/>
                </a:solidFill>
              </a:rPr>
              <a:t> non è </a:t>
            </a:r>
            <a:r>
              <a:rPr b="0" dirty="0" err="1">
                <a:solidFill>
                  <a:srgbClr val="000000"/>
                </a:solidFill>
              </a:rPr>
              <a:t>tipizzata</a:t>
            </a:r>
            <a:r>
              <a:rPr b="0" dirty="0">
                <a:solidFill>
                  <a:srgbClr val="000000"/>
                </a:solidFill>
              </a:rPr>
              <a:t> dal </a:t>
            </a:r>
            <a:r>
              <a:rPr b="0" dirty="0" err="1">
                <a:solidFill>
                  <a:srgbClr val="000000"/>
                </a:solidFill>
              </a:rPr>
              <a:t>legislatore</a:t>
            </a:r>
            <a:r>
              <a:rPr b="0" dirty="0">
                <a:solidFill>
                  <a:srgbClr val="000000"/>
                </a:solidFill>
              </a:rPr>
              <a:t>.</a:t>
            </a:r>
          </a:p>
        </p:txBody>
      </p:sp>
      <p:sp>
        <p:nvSpPr>
          <p:cNvPr id="518"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Rissa</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36</a:t>
            </a:fld>
            <a:endParaRPr/>
          </a:p>
        </p:txBody>
      </p:sp>
      <p:sp>
        <p:nvSpPr>
          <p:cNvPr id="521" name="CasellaDiTesto 8"/>
          <p:cNvSpPr txBox="1"/>
          <p:nvPr/>
        </p:nvSpPr>
        <p:spPr>
          <a:xfrm>
            <a:off x="153223" y="844251"/>
            <a:ext cx="8837553" cy="54041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CC0099"/>
                </a:solidFill>
                <a:latin typeface="Times New Roman"/>
                <a:ea typeface="Times New Roman"/>
                <a:cs typeface="Times New Roman"/>
                <a:sym typeface="Times New Roman"/>
              </a:defRPr>
            </a:pPr>
            <a:r>
              <a:t>Art. 589-bis c.p. Omicidio stradale ( o nautico)</a:t>
            </a:r>
          </a:p>
          <a:p>
            <a:pPr algn="just">
              <a:spcBef>
                <a:spcPts val="600"/>
              </a:spcBef>
              <a:defRPr sz="2000" b="0" i="1">
                <a:latin typeface="Times New Roman"/>
                <a:ea typeface="Times New Roman"/>
                <a:cs typeface="Times New Roman"/>
                <a:sym typeface="Times New Roman"/>
              </a:defRPr>
            </a:pPr>
            <a:r>
              <a:t>«1.</a:t>
            </a:r>
            <a:r>
              <a:rPr sz="1800"/>
              <a:t>Chiunque </a:t>
            </a:r>
            <a:r>
              <a:rPr sz="1800" b="1" u="sng"/>
              <a:t>cagioni per colpa la morte di una persona </a:t>
            </a:r>
            <a:r>
              <a:rPr sz="1800" b="1">
                <a:solidFill>
                  <a:srgbClr val="CC0099"/>
                </a:solidFill>
              </a:rPr>
              <a:t>con violazione delle norme sulla disciplina della circolazione stradale </a:t>
            </a:r>
            <a:r>
              <a:rPr sz="1800"/>
              <a:t>o della navigazione marittima o interna</a:t>
            </a:r>
            <a:r>
              <a:rPr sz="1800">
                <a:solidFill>
                  <a:srgbClr val="CC0099"/>
                </a:solidFill>
              </a:rPr>
              <a:t> </a:t>
            </a:r>
            <a:r>
              <a:rPr sz="1800"/>
              <a:t>è punito con la reclusione da </a:t>
            </a:r>
            <a:r>
              <a:rPr sz="1800" b="1"/>
              <a:t>due a sette anni.</a:t>
            </a:r>
          </a:p>
          <a:p>
            <a:pPr algn="just">
              <a:spcBef>
                <a:spcPts val="600"/>
              </a:spcBef>
              <a:defRPr sz="1600" b="0" i="1">
                <a:latin typeface="Times New Roman"/>
                <a:ea typeface="Times New Roman"/>
                <a:cs typeface="Times New Roman"/>
                <a:sym typeface="Times New Roman"/>
              </a:defRPr>
            </a:pPr>
            <a:r>
              <a:t>2.</a:t>
            </a:r>
            <a:r>
              <a:rPr b="1" i="0"/>
              <a:t> </a:t>
            </a:r>
            <a:r>
              <a:t>Chiunque, ponendosi alla </a:t>
            </a:r>
            <a:r>
              <a:rPr b="1">
                <a:solidFill>
                  <a:srgbClr val="CC00CC"/>
                </a:solidFill>
              </a:rPr>
              <a:t>guida di un veicolo a motore </a:t>
            </a:r>
            <a:r>
              <a:t>o di una delle unità da diporto di cui all'articolo 3 del codice della nautica da diporto, di cui al decreto legislativo 18 luglio 2005, n. 171, </a:t>
            </a:r>
            <a:r>
              <a:rPr b="1" u="sng">
                <a:solidFill>
                  <a:srgbClr val="FF0000"/>
                </a:solidFill>
              </a:rPr>
              <a:t>in stato di ebbrezza alcolica o di alterazione psicofisica conseguente all'assunzione di sostanze stupefacenti o psicotrope </a:t>
            </a:r>
            <a:r>
              <a:t>ai sensi rispettivamente degli articoli 186, comma 2, lettera c) </a:t>
            </a:r>
            <a:r>
              <a:rPr b="1" i="0">
                <a:solidFill>
                  <a:srgbClr val="4472C4"/>
                </a:solidFill>
              </a:rPr>
              <a:t>(</a:t>
            </a:r>
            <a:r>
              <a:rPr b="1" i="0" u="sng">
                <a:solidFill>
                  <a:srgbClr val="4472C4"/>
                </a:solidFill>
              </a:rPr>
              <a:t>tasso alcolemico superiore a 1,5 grammi per litro)</a:t>
            </a:r>
            <a:r>
              <a:t>, e 187 del codice della strada </a:t>
            </a:r>
            <a:r>
              <a:rPr b="1" i="0" u="sng">
                <a:solidFill>
                  <a:srgbClr val="4472C4"/>
                </a:solidFill>
              </a:rPr>
              <a:t>(Guida in stato di alterazione psico-fisica per uso di sostanze stupefacenti)</a:t>
            </a:r>
            <a:r>
              <a:t>, di cui al decreto legislativo 30 aprile 1992, n. 285, nonché degli articoli 53 bis, comma 2, lettera c), e 53 quater del codice della nautica da diporto, di cui al decreto legislativo 18 luglio 2005, n. 171, </a:t>
            </a:r>
            <a:r>
              <a:rPr b="1"/>
              <a:t>cagioni per </a:t>
            </a:r>
            <a:r>
              <a:rPr b="1" u="sng"/>
              <a:t>colpa</a:t>
            </a:r>
            <a:r>
              <a:rPr b="1"/>
              <a:t> la morte di una persona</a:t>
            </a:r>
            <a:r>
              <a:t>, è punito con la reclusione da </a:t>
            </a:r>
            <a:r>
              <a:rPr b="1"/>
              <a:t>otto a dodici anni</a:t>
            </a:r>
            <a:r>
              <a:t>. </a:t>
            </a:r>
          </a:p>
          <a:p>
            <a:pPr algn="just">
              <a:spcBef>
                <a:spcPts val="600"/>
              </a:spcBef>
              <a:defRPr sz="1800" b="0" i="1">
                <a:latin typeface="Times New Roman"/>
                <a:ea typeface="Times New Roman"/>
                <a:cs typeface="Times New Roman"/>
                <a:sym typeface="Times New Roman"/>
              </a:defRPr>
            </a:pPr>
            <a:r>
              <a:t>3. </a:t>
            </a:r>
            <a:r>
              <a:rPr sz="1600"/>
              <a:t>La </a:t>
            </a:r>
            <a:r>
              <a:rPr sz="1600" b="1"/>
              <a:t>stessa pena </a:t>
            </a:r>
            <a:r>
              <a:rPr sz="1600"/>
              <a:t>si applica al conducente di un veicolo a motore di cui </a:t>
            </a:r>
            <a:r>
              <a:rPr sz="1600" b="1"/>
              <a:t>all'articolo 186 bis</a:t>
            </a:r>
            <a:r>
              <a:rPr sz="1600"/>
              <a:t>, comma 1, lettere </a:t>
            </a:r>
            <a:r>
              <a:rPr sz="1600" b="1"/>
              <a:t>b</a:t>
            </a:r>
            <a:r>
              <a:rPr sz="1600"/>
              <a:t>)</a:t>
            </a:r>
            <a:r>
              <a:rPr sz="600" i="0"/>
              <a:t> </a:t>
            </a:r>
            <a:r>
              <a:rPr sz="1600" b="1" i="0">
                <a:solidFill>
                  <a:srgbClr val="4472C4"/>
                </a:solidFill>
              </a:rPr>
              <a:t>i conducenti che esercitano l'attività di </a:t>
            </a:r>
            <a:r>
              <a:rPr sz="1600" b="1" i="0" u="sng">
                <a:solidFill>
                  <a:srgbClr val="4472C4"/>
                </a:solidFill>
              </a:rPr>
              <a:t>trasporto di persone</a:t>
            </a:r>
            <a:r>
              <a:rPr sz="1600" i="0" u="sng">
                <a:solidFill>
                  <a:srgbClr val="4472C4"/>
                </a:solidFill>
              </a:rPr>
              <a:t> </a:t>
            </a:r>
            <a:r>
              <a:rPr sz="1600" b="1"/>
              <a:t>c</a:t>
            </a:r>
            <a:r>
              <a:rPr sz="1600"/>
              <a:t>)</a:t>
            </a:r>
            <a:r>
              <a:rPr sz="600" i="0"/>
              <a:t> </a:t>
            </a:r>
            <a:r>
              <a:rPr sz="1600" b="1" i="0">
                <a:solidFill>
                  <a:srgbClr val="4472C4"/>
                </a:solidFill>
              </a:rPr>
              <a:t>i conducenti che esercitano l'attività di </a:t>
            </a:r>
            <a:r>
              <a:rPr sz="1600" b="1" i="0" u="sng">
                <a:solidFill>
                  <a:srgbClr val="4472C4"/>
                </a:solidFill>
              </a:rPr>
              <a:t>trasporto di cose</a:t>
            </a:r>
            <a:r>
              <a:rPr sz="1600" b="1" u="sng">
                <a:solidFill>
                  <a:srgbClr val="4472C4"/>
                </a:solidFill>
              </a:rPr>
              <a:t> </a:t>
            </a:r>
            <a:r>
              <a:rPr sz="1600"/>
              <a:t>e </a:t>
            </a:r>
            <a:r>
              <a:rPr sz="1600" b="1"/>
              <a:t>d</a:t>
            </a:r>
            <a:r>
              <a:rPr sz="1600"/>
              <a:t>)</a:t>
            </a:r>
            <a:r>
              <a:rPr sz="600" i="0"/>
              <a:t> </a:t>
            </a:r>
            <a:r>
              <a:rPr sz="1600" b="1" i="0">
                <a:solidFill>
                  <a:srgbClr val="4472C4"/>
                </a:solidFill>
              </a:rPr>
              <a:t>i conducenti di autoveicoli di massa complessiva a pieno carico superiore a 3,5 t ecc…</a:t>
            </a:r>
            <a:r>
              <a:rPr sz="1600" b="1">
                <a:solidFill>
                  <a:srgbClr val="4472C4"/>
                </a:solidFill>
              </a:rPr>
              <a:t>, </a:t>
            </a:r>
            <a:r>
              <a:rPr sz="1600"/>
              <a:t>del decreto legislativo 30 aprile 1992, n. 285, o di un'unità da diporto di cui all'articolo 53 ter, comma 1, lettera b), del decreto legislativo 18 luglio 2005, n. 171, il quale, </a:t>
            </a:r>
            <a:r>
              <a:rPr sz="1600" b="1" u="sng">
                <a:solidFill>
                  <a:srgbClr val="FF0000"/>
                </a:solidFill>
              </a:rPr>
              <a:t>in stato di ebbrezza alcolica </a:t>
            </a:r>
            <a:r>
              <a:rPr sz="1600"/>
              <a:t>ai sensi rispettivamente degli </a:t>
            </a:r>
            <a:r>
              <a:rPr sz="1600" b="1"/>
              <a:t>articoli 186, comma 2, lettera b),</a:t>
            </a:r>
            <a:r>
              <a:rPr sz="1600" b="1" i="0"/>
              <a:t> </a:t>
            </a:r>
            <a:r>
              <a:rPr sz="1600" b="1" i="0" u="sng">
                <a:solidFill>
                  <a:srgbClr val="4472C4"/>
                </a:solidFill>
              </a:rPr>
              <a:t>(tasso alcolemico superiore a 0,8 e non superiore a 1,5 grammi per litro</a:t>
            </a:r>
            <a:r>
              <a:rPr sz="1600" b="1" u="sng">
                <a:solidFill>
                  <a:srgbClr val="4472C4"/>
                </a:solidFill>
              </a:rPr>
              <a:t>,..) </a:t>
            </a:r>
            <a:r>
              <a:rPr sz="1600" b="1"/>
              <a:t> </a:t>
            </a:r>
            <a:r>
              <a:rPr sz="1600"/>
              <a:t>del decreto legislativo 30 aprile 1992, n. 285, e 53-bis, comma 2, lettera b), del decreto legislativo 18 luglio 2005, n. 171, cagioni per </a:t>
            </a:r>
            <a:r>
              <a:rPr sz="1600" u="sng"/>
              <a:t>colpa</a:t>
            </a:r>
            <a:r>
              <a:rPr sz="1600"/>
              <a:t> la morte di una persona. </a:t>
            </a:r>
          </a:p>
        </p:txBody>
      </p:sp>
      <p:sp>
        <p:nvSpPr>
          <p:cNvPr id="522"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stradale</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Segnaposto contenuto 1"/>
          <p:cNvSpPr txBox="1">
            <a:spLocks noGrp="1"/>
          </p:cNvSpPr>
          <p:nvPr>
            <p:ph type="body" idx="1"/>
          </p:nvPr>
        </p:nvSpPr>
        <p:spPr>
          <a:xfrm>
            <a:off x="0" y="836712"/>
            <a:ext cx="9144000" cy="5976666"/>
          </a:xfrm>
          <a:prstGeom prst="rect">
            <a:avLst/>
          </a:prstGeom>
        </p:spPr>
        <p:txBody>
          <a:bodyPr/>
          <a:lstStyle/>
          <a:p>
            <a:pPr marL="0" indent="0" algn="just">
              <a:buSzTx/>
              <a:buNone/>
              <a:defRPr sz="1700" i="1">
                <a:latin typeface="Times New Roman"/>
                <a:ea typeface="Times New Roman"/>
                <a:cs typeface="Times New Roman"/>
                <a:sym typeface="Times New Roman"/>
              </a:defRPr>
            </a:pPr>
            <a:r>
              <a:t>4.</a:t>
            </a:r>
            <a:r>
              <a:rPr i="0"/>
              <a:t> </a:t>
            </a:r>
            <a:r>
              <a:rPr b="1" u="sng"/>
              <a:t>Salvo quanto previsto dal terzo comma</a:t>
            </a:r>
            <a:r>
              <a:t>, chiunque, ponendosi alla guida di un veicolo a motore o di una delle unità da diporto di cui all'articolo 3 del decreto legislativo 18 luglio 2005, n. 171, </a:t>
            </a:r>
            <a:r>
              <a:rPr b="1"/>
              <a:t>in stato di ebbrezza alcolica</a:t>
            </a:r>
            <a:r>
              <a:t> ai sensi rispettivamente degli </a:t>
            </a:r>
            <a:r>
              <a:rPr b="1"/>
              <a:t>articoli 186, comma 2, lettera b) ..</a:t>
            </a:r>
            <a:r>
              <a:rPr i="0"/>
              <a:t> </a:t>
            </a:r>
            <a:r>
              <a:rPr i="0" u="sng">
                <a:solidFill>
                  <a:srgbClr val="4472C4"/>
                </a:solidFill>
              </a:rPr>
              <a:t>(</a:t>
            </a:r>
            <a:r>
              <a:rPr b="1" i="0" u="sng">
                <a:solidFill>
                  <a:srgbClr val="4472C4"/>
                </a:solidFill>
              </a:rPr>
              <a:t>tasso alcolemico superiore a 0,8 e non superiore a 1,5 grammi per litro</a:t>
            </a:r>
            <a:r>
              <a:rPr b="1" u="sng">
                <a:solidFill>
                  <a:srgbClr val="4472C4"/>
                </a:solidFill>
              </a:rPr>
              <a:t>,..) </a:t>
            </a:r>
            <a:r>
              <a:t>del decreto legislativo 30 aprile 1992, n. 285, e 53-bis, comma 2, lettera b), del decreto legislativo 18 luglio 2005, n. 171, cagioni per </a:t>
            </a:r>
            <a:r>
              <a:rPr u="sng"/>
              <a:t>colpa</a:t>
            </a:r>
            <a:r>
              <a:t> la morte di una persona, è punito con la reclusione da </a:t>
            </a:r>
            <a:r>
              <a:rPr b="1"/>
              <a:t>cinque a dieci anni.</a:t>
            </a:r>
          </a:p>
          <a:p>
            <a:pPr marL="0" indent="0" algn="just">
              <a:buSzTx/>
              <a:buNone/>
              <a:defRPr sz="1700" i="1">
                <a:latin typeface="Times New Roman"/>
                <a:ea typeface="Times New Roman"/>
                <a:cs typeface="Times New Roman"/>
                <a:sym typeface="Times New Roman"/>
              </a:defRPr>
            </a:pPr>
            <a:r>
              <a:t>5</a:t>
            </a:r>
            <a:r>
              <a:rPr sz="1600"/>
              <a:t>. La pena di cui al quarto comma si applica altresì: </a:t>
            </a:r>
          </a:p>
          <a:p>
            <a:pPr marL="0" indent="0" algn="just">
              <a:buSzTx/>
              <a:buNone/>
              <a:defRPr sz="1600" i="1">
                <a:latin typeface="Times New Roman"/>
                <a:ea typeface="Times New Roman"/>
                <a:cs typeface="Times New Roman"/>
                <a:sym typeface="Times New Roman"/>
              </a:defRPr>
            </a:pPr>
            <a:r>
              <a:t>1) al conducente di un veicolo a motore che, procedendo in un </a:t>
            </a:r>
            <a:r>
              <a:rPr b="1" u="sng"/>
              <a:t>centro urbano </a:t>
            </a:r>
            <a:r>
              <a:t>ad una velocità pari o superiore al doppio di quella consentita e comunque non inferiore a 70 km/h, ovvero su strade extraurbane ad una velocità superiore di almeno 50 km/h rispetto a quella massima consentita, cagioni per colpa la morte di una persona; </a:t>
            </a:r>
          </a:p>
          <a:p>
            <a:pPr marL="0" indent="0" algn="just">
              <a:buSzTx/>
              <a:buNone/>
              <a:defRPr sz="1600" i="1">
                <a:latin typeface="Times New Roman"/>
                <a:ea typeface="Times New Roman"/>
                <a:cs typeface="Times New Roman"/>
                <a:sym typeface="Times New Roman"/>
              </a:defRPr>
            </a:pPr>
            <a:r>
              <a:t>2) al conducente di un veicolo a motore che, attraversando un'intersezione con il </a:t>
            </a:r>
            <a:r>
              <a:rPr b="1" u="sng"/>
              <a:t>semaforo d</a:t>
            </a:r>
            <a:r>
              <a:t>isposto al rosso ovvero circolando contromano, cagioni per colpa la morte di una persona;</a:t>
            </a:r>
          </a:p>
          <a:p>
            <a:pPr marL="0" indent="0" algn="just">
              <a:buSzTx/>
              <a:buNone/>
              <a:defRPr sz="1700" i="1">
                <a:latin typeface="Times New Roman"/>
                <a:ea typeface="Times New Roman"/>
                <a:cs typeface="Times New Roman"/>
                <a:sym typeface="Times New Roman"/>
              </a:defRPr>
            </a:pPr>
            <a:r>
              <a:t> 3) </a:t>
            </a:r>
            <a:r>
              <a:rPr sz="1600"/>
              <a:t>al conducente di un veicolo a motore che, a seguito di manovra di </a:t>
            </a:r>
            <a:r>
              <a:rPr sz="1600" b="1" u="sng"/>
              <a:t>inversione del senso di marcia </a:t>
            </a:r>
            <a:r>
              <a:rPr sz="1600"/>
              <a:t>in prossimità o in corrispondenza di intersezioni, curve o dossi o a seguito di sorpasso di un altro mezzo in corrispondenza di un attraversamento pedonale o di linea continua, cagioni per colpa la morte di una persona.</a:t>
            </a:r>
          </a:p>
          <a:p>
            <a:pPr marL="0" indent="0" algn="just">
              <a:buSzTx/>
              <a:buNone/>
              <a:defRPr sz="1700" i="1">
                <a:latin typeface="Times New Roman"/>
                <a:ea typeface="Times New Roman"/>
                <a:cs typeface="Times New Roman"/>
                <a:sym typeface="Times New Roman"/>
              </a:defRPr>
            </a:pPr>
            <a:r>
              <a:t>6. </a:t>
            </a:r>
            <a:r>
              <a:rPr sz="1600"/>
              <a:t>Nelle ipotesi di cui ai commi precedenti la </a:t>
            </a:r>
            <a:r>
              <a:rPr sz="1600" b="1" u="sng">
                <a:solidFill>
                  <a:srgbClr val="FF0000"/>
                </a:solidFill>
              </a:rPr>
              <a:t>pena è aumentata </a:t>
            </a:r>
            <a:r>
              <a:rPr sz="1600"/>
              <a:t>se il fatto è commesso da persona</a:t>
            </a:r>
            <a:r>
              <a:rPr sz="1600">
                <a:solidFill>
                  <a:srgbClr val="CC00CC"/>
                </a:solidFill>
              </a:rPr>
              <a:t> </a:t>
            </a:r>
            <a:r>
              <a:rPr sz="1600" b="1">
                <a:solidFill>
                  <a:srgbClr val="CC00CC"/>
                </a:solidFill>
              </a:rPr>
              <a:t>non munita di patente di guida o, ad eccezione delle ipotesi di cui al quinto comma, di patente nautica, ove prescritta, o con patente sospesa o revocata,</a:t>
            </a:r>
            <a:r>
              <a:rPr sz="1600" b="1"/>
              <a:t> </a:t>
            </a:r>
            <a:r>
              <a:rPr sz="1600"/>
              <a:t>ovvero nel caso in cui il veicolo a motore o l'unità da diporto sia di proprietà dell'autore del fatto e tale veicolo o unità da diporto sia </a:t>
            </a:r>
            <a:r>
              <a:rPr sz="1600" b="1">
                <a:solidFill>
                  <a:srgbClr val="CC00CC"/>
                </a:solidFill>
              </a:rPr>
              <a:t>sprovvisto di assicurazione obbligatoria.</a:t>
            </a:r>
          </a:p>
        </p:txBody>
      </p:sp>
      <p:sp>
        <p:nvSpPr>
          <p:cNvPr id="525"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37</a:t>
            </a:fld>
            <a:endParaRPr/>
          </a:p>
        </p:txBody>
      </p:sp>
      <p:sp>
        <p:nvSpPr>
          <p:cNvPr id="526" name="Titolo 3"/>
          <p:cNvSpPr txBox="1">
            <a:spLocks noGrp="1"/>
          </p:cNvSpPr>
          <p:nvPr>
            <p:ph type="title"/>
          </p:nvPr>
        </p:nvSpPr>
        <p:spPr>
          <a:xfrm>
            <a:off x="827583" y="681037"/>
            <a:ext cx="4392490" cy="255563"/>
          </a:xfrm>
          <a:prstGeom prst="rect">
            <a:avLst/>
          </a:prstGeom>
        </p:spPr>
        <p:txBody>
          <a:bodyPr>
            <a:normAutofit fontScale="90000"/>
          </a:bodyPr>
          <a:lstStyle/>
          <a:p>
            <a:pPr defTabSz="365760">
              <a:defRPr sz="1280">
                <a:solidFill>
                  <a:schemeClr val="accent3">
                    <a:lumOff val="44000"/>
                  </a:schemeClr>
                </a:solidFill>
                <a:effectLst/>
                <a:latin typeface="Book Antiqua"/>
                <a:ea typeface="Book Antiqua"/>
                <a:cs typeface="Book Antiqua"/>
                <a:sym typeface="Book Antiqua"/>
              </a:defRPr>
            </a:pPr>
            <a:r>
              <a:t>Omicidio stradale</a:t>
            </a:r>
            <a:br/>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38</a:t>
            </a:fld>
            <a:endParaRPr/>
          </a:p>
        </p:txBody>
      </p:sp>
      <p:sp>
        <p:nvSpPr>
          <p:cNvPr id="529" name="CasellaDiTesto 8"/>
          <p:cNvSpPr txBox="1"/>
          <p:nvPr/>
        </p:nvSpPr>
        <p:spPr>
          <a:xfrm>
            <a:off x="153223" y="844251"/>
            <a:ext cx="8837553" cy="26206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CC0099"/>
                </a:solidFill>
                <a:latin typeface="Times New Roman"/>
                <a:ea typeface="Times New Roman"/>
                <a:cs typeface="Times New Roman"/>
                <a:sym typeface="Times New Roman"/>
              </a:defRPr>
            </a:pPr>
            <a:r>
              <a:t>Art. 589-bis c.p. Omicidio stradale</a:t>
            </a:r>
          </a:p>
          <a:p>
            <a:pPr algn="just">
              <a:spcBef>
                <a:spcPts val="600"/>
              </a:spcBef>
              <a:defRPr sz="2000" b="0" i="1">
                <a:latin typeface="Times New Roman"/>
                <a:ea typeface="Times New Roman"/>
                <a:cs typeface="Times New Roman"/>
                <a:sym typeface="Times New Roman"/>
              </a:defRPr>
            </a:pPr>
            <a:r>
              <a:t>«7.Nelle ipotesi di cui ai commi precedenti, qualora l'evento non sia esclusiva conseguenza dell'azione o dell'omissione del colpevole, la </a:t>
            </a:r>
            <a:r>
              <a:rPr b="1" u="sng">
                <a:solidFill>
                  <a:srgbClr val="FF0000"/>
                </a:solidFill>
              </a:rPr>
              <a:t>pena è diminuita </a:t>
            </a:r>
            <a:r>
              <a:t>fino alla metà.</a:t>
            </a:r>
          </a:p>
          <a:p>
            <a:pPr algn="just">
              <a:spcBef>
                <a:spcPts val="600"/>
              </a:spcBef>
              <a:defRPr sz="2000" b="0" i="1">
                <a:latin typeface="Times New Roman"/>
                <a:ea typeface="Times New Roman"/>
                <a:cs typeface="Times New Roman"/>
                <a:sym typeface="Times New Roman"/>
              </a:defRPr>
            </a:pPr>
            <a:r>
              <a:t>8.Nelle ipotesi di cui ai commi precedenti, qualora </a:t>
            </a:r>
            <a:r>
              <a:rPr b="1">
                <a:solidFill>
                  <a:srgbClr val="CC0099"/>
                </a:solidFill>
              </a:rPr>
              <a:t>il conducente cagioni la morte di più persone, ovvero la morte di una o più persone e lesioni a una o più persone</a:t>
            </a:r>
            <a:r>
              <a:t>, si applica la pena che dovrebbe infliggersi per la più grave delle violazioni commesse aumentata fino al triplo, ma la pena non può superare gli anni diciotto»</a:t>
            </a:r>
            <a:r>
              <a:rPr i="0"/>
              <a:t>.</a:t>
            </a:r>
          </a:p>
        </p:txBody>
      </p:sp>
      <p:sp>
        <p:nvSpPr>
          <p:cNvPr id="530"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stradale</a:t>
            </a:r>
          </a:p>
        </p:txBody>
      </p:sp>
      <p:sp>
        <p:nvSpPr>
          <p:cNvPr id="531" name="Rettangolo 7"/>
          <p:cNvSpPr/>
          <p:nvPr/>
        </p:nvSpPr>
        <p:spPr>
          <a:xfrm>
            <a:off x="4426125" y="4539882"/>
            <a:ext cx="4608513" cy="1358516"/>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14000"/>
              </a:lnSpc>
              <a:defRPr sz="16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1600" b="0">
                <a:latin typeface="Times New Roman"/>
                <a:ea typeface="Times New Roman"/>
                <a:cs typeface="Times New Roman"/>
                <a:sym typeface="Times New Roman"/>
              </a:defRPr>
            </a:pPr>
            <a:r>
              <a:t>Competenza: Tribunale Monocratico;</a:t>
            </a:r>
          </a:p>
          <a:p>
            <a:pPr marL="171450" indent="-171450" algn="just">
              <a:lnSpc>
                <a:spcPct val="114000"/>
              </a:lnSpc>
              <a:buSzPct val="100000"/>
              <a:buFont typeface="Arial"/>
              <a:buChar char="•"/>
              <a:defRPr sz="1600" b="0">
                <a:latin typeface="Times New Roman"/>
                <a:ea typeface="Times New Roman"/>
                <a:cs typeface="Times New Roman"/>
                <a:sym typeface="Times New Roman"/>
              </a:defRPr>
            </a:pPr>
            <a:r>
              <a:t>Arresto facoltativo (obbligatorio per i commi 2 e 3)</a:t>
            </a:r>
          </a:p>
          <a:p>
            <a:pPr marL="171450" indent="-171450" algn="just">
              <a:lnSpc>
                <a:spcPct val="114000"/>
              </a:lnSpc>
              <a:buSzPct val="100000"/>
              <a:buFont typeface="Arial"/>
              <a:buChar char="•"/>
              <a:defRPr sz="1600" b="0">
                <a:latin typeface="Times New Roman"/>
                <a:ea typeface="Times New Roman"/>
                <a:cs typeface="Times New Roman"/>
                <a:sym typeface="Times New Roman"/>
              </a:defRPr>
            </a:pPr>
            <a:r>
              <a:t>Fermo consentito</a:t>
            </a:r>
          </a:p>
          <a:p>
            <a:pPr marL="171450" indent="-171450" algn="just">
              <a:lnSpc>
                <a:spcPct val="114000"/>
              </a:lnSpc>
              <a:buSzPct val="100000"/>
              <a:buFont typeface="Arial"/>
              <a:buChar char="•"/>
              <a:defRPr sz="1600" b="0">
                <a:latin typeface="Times New Roman"/>
                <a:ea typeface="Times New Roman"/>
                <a:cs typeface="Times New Roman"/>
                <a:sym typeface="Times New Roman"/>
              </a:defRPr>
            </a:pPr>
            <a:r>
              <a:t>Procedibilità d’ufficio</a:t>
            </a:r>
          </a:p>
        </p:txBody>
      </p:sp>
      <p:sp>
        <p:nvSpPr>
          <p:cNvPr id="532" name="CasellaDiTesto 1"/>
          <p:cNvSpPr txBox="1"/>
          <p:nvPr/>
        </p:nvSpPr>
        <p:spPr>
          <a:xfrm>
            <a:off x="184341" y="4179044"/>
            <a:ext cx="3796993" cy="22915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1800" b="0">
                <a:latin typeface="Times New Roman"/>
                <a:ea typeface="Times New Roman"/>
                <a:cs typeface="Times New Roman"/>
                <a:sym typeface="Times New Roman"/>
              </a:defRPr>
            </a:pPr>
            <a:r>
              <a:t>Prima del 2016 era circostanza aggravante dell’omicidio colposo </a:t>
            </a:r>
            <a:r>
              <a:rPr i="1"/>
              <a:t>ex</a:t>
            </a:r>
            <a:r>
              <a:t> art. 589 c.p.; con la L. </a:t>
            </a:r>
            <a:r>
              <a:rPr b="1"/>
              <a:t>41/2016</a:t>
            </a:r>
            <a:r>
              <a:t> è stato previsto come fattispecie autonoma di reato.</a:t>
            </a:r>
            <a:r>
              <a:rPr sz="700" b="1"/>
              <a:t> </a:t>
            </a:r>
          </a:p>
          <a:p>
            <a:pPr algn="just">
              <a:spcBef>
                <a:spcPts val="600"/>
              </a:spcBef>
              <a:defRPr sz="1800" i="1">
                <a:latin typeface="Times New Roman"/>
                <a:ea typeface="Times New Roman"/>
                <a:cs typeface="Times New Roman"/>
                <a:sym typeface="Times New Roman"/>
              </a:defRPr>
            </a:pPr>
            <a:r>
              <a:t>Con legge n.138 del 2023</a:t>
            </a:r>
            <a:r>
              <a:rPr b="0" i="0"/>
              <a:t>, il legislatore ha inserito all’interno della fattispecie il reato di </a:t>
            </a:r>
            <a:r>
              <a:rPr i="0" u="sng"/>
              <a:t>omicidio nautico</a:t>
            </a:r>
            <a:r>
              <a:rPr i="0"/>
              <a:t>,</a:t>
            </a:r>
            <a:r>
              <a:rPr b="0" i="0"/>
              <a:t> </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39</a:t>
            </a:fld>
            <a:endParaRPr/>
          </a:p>
        </p:txBody>
      </p:sp>
      <p:sp>
        <p:nvSpPr>
          <p:cNvPr id="535" name="CasellaDiTesto 8"/>
          <p:cNvSpPr txBox="1"/>
          <p:nvPr/>
        </p:nvSpPr>
        <p:spPr>
          <a:xfrm>
            <a:off x="45719" y="980728"/>
            <a:ext cx="9052561" cy="4893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1800" b="0">
                <a:latin typeface="Times New Roman"/>
                <a:ea typeface="Times New Roman"/>
                <a:cs typeface="Times New Roman"/>
                <a:sym typeface="Times New Roman"/>
              </a:defRPr>
            </a:pPr>
            <a:endParaRPr/>
          </a:p>
          <a:p>
            <a:pPr algn="just">
              <a:spcBef>
                <a:spcPts val="600"/>
              </a:spcBef>
              <a:defRPr sz="2000" u="sng">
                <a:solidFill>
                  <a:srgbClr val="CC0099"/>
                </a:solidFill>
                <a:latin typeface="Times New Roman"/>
                <a:ea typeface="Times New Roman"/>
                <a:cs typeface="Times New Roman"/>
                <a:sym typeface="Times New Roman"/>
              </a:defRPr>
            </a:pPr>
            <a:r>
              <a:t>ELEMENTO OGGETTIVO</a:t>
            </a:r>
            <a:r>
              <a:rPr b="0" u="none">
                <a:solidFill>
                  <a:srgbClr val="000000"/>
                </a:solidFill>
              </a:rPr>
              <a:t>:</a:t>
            </a:r>
          </a:p>
          <a:p>
            <a:pPr marL="179388" indent="-179388" algn="just">
              <a:spcBef>
                <a:spcPts val="600"/>
              </a:spcBef>
              <a:buSzPct val="100000"/>
              <a:buChar char="-"/>
              <a:defRPr sz="2000" b="0">
                <a:latin typeface="Times New Roman"/>
                <a:ea typeface="Times New Roman"/>
                <a:cs typeface="Times New Roman"/>
                <a:sym typeface="Times New Roman"/>
              </a:defRPr>
            </a:pPr>
            <a:r>
              <a:t>c.1 si punisce il cagionare la morte in conseguenza di una condotta che viola la disciplina stradale -&gt; </a:t>
            </a:r>
            <a:r>
              <a:rPr>
                <a:solidFill>
                  <a:srgbClr val="FF0000"/>
                </a:solidFill>
              </a:rPr>
              <a:t>da 2 a 7 anni</a:t>
            </a:r>
          </a:p>
          <a:p>
            <a:pPr marL="179388" indent="-179388" algn="just">
              <a:spcBef>
                <a:spcPts val="600"/>
              </a:spcBef>
              <a:buSzPct val="100000"/>
              <a:buChar char="-"/>
              <a:defRPr sz="2000" b="0">
                <a:latin typeface="Times New Roman"/>
                <a:ea typeface="Times New Roman"/>
                <a:cs typeface="Times New Roman"/>
                <a:sym typeface="Times New Roman"/>
              </a:defRPr>
            </a:pPr>
            <a:r>
              <a:t>c.2 sanziona in maniera più rigida l’aver cagionato la morte per guida in stato di grave ubriachezza (tasso alcolemico &gt; 1,5 gr/l) o alterazione per l’assunzione di stupefacenti -&gt; </a:t>
            </a:r>
            <a:r>
              <a:rPr>
                <a:solidFill>
                  <a:srgbClr val="FF0000"/>
                </a:solidFill>
              </a:rPr>
              <a:t>da 8 a 12 anni</a:t>
            </a:r>
          </a:p>
          <a:p>
            <a:pPr marL="179388" indent="-179388" algn="just">
              <a:spcBef>
                <a:spcPts val="600"/>
              </a:spcBef>
              <a:buSzPct val="100000"/>
              <a:buChar char="-"/>
              <a:defRPr sz="2000" b="0">
                <a:latin typeface="Times New Roman"/>
                <a:ea typeface="Times New Roman"/>
                <a:cs typeface="Times New Roman"/>
                <a:sym typeface="Times New Roman"/>
              </a:defRPr>
            </a:pPr>
            <a:r>
              <a:t>c.3 stessa condotta commessa da conducenti professionisti per il trasporto di persone o cose per un tasso alcolemico da 0,8 a 1,5 gr/l) -&gt; </a:t>
            </a:r>
            <a:r>
              <a:rPr>
                <a:solidFill>
                  <a:srgbClr val="FF0000"/>
                </a:solidFill>
              </a:rPr>
              <a:t>da 8 a 12 anni</a:t>
            </a:r>
          </a:p>
          <a:p>
            <a:pPr marL="179388" indent="-179388" algn="just">
              <a:spcBef>
                <a:spcPts val="600"/>
              </a:spcBef>
              <a:buSzPct val="100000"/>
              <a:buChar char="-"/>
              <a:defRPr sz="2000" b="0">
                <a:latin typeface="Times New Roman"/>
                <a:ea typeface="Times New Roman"/>
                <a:cs typeface="Times New Roman"/>
                <a:sym typeface="Times New Roman"/>
              </a:defRPr>
            </a:pPr>
            <a:r>
              <a:t>c.4 stessa condotta commessa per guida in stato di ebrezza con tasso alcolemico da 0,8 a 1,5 gr/l. -&gt; </a:t>
            </a:r>
            <a:r>
              <a:rPr>
                <a:solidFill>
                  <a:srgbClr val="FF0000"/>
                </a:solidFill>
              </a:rPr>
              <a:t>da 5 a 10 anni </a:t>
            </a:r>
          </a:p>
          <a:p>
            <a:pPr marL="179388" indent="-179388" algn="just">
              <a:spcBef>
                <a:spcPts val="600"/>
              </a:spcBef>
              <a:buSzPct val="100000"/>
              <a:buChar char="-"/>
              <a:defRPr sz="2000" b="0">
                <a:latin typeface="Times New Roman"/>
                <a:ea typeface="Times New Roman"/>
                <a:cs typeface="Times New Roman"/>
                <a:sym typeface="Times New Roman"/>
              </a:defRPr>
            </a:pPr>
            <a:r>
              <a:t>c.5 sanziona penalmente l’omicidio colposo realizzato in occasione di talune gravissime condotte stradali, come: l’eccesso di velocità, attraversamento con il semaforo rosso, circolazione contromano, inversione di marcia in prossimità di incroci curve o dossi, sorpasso con linea continua -&gt; </a:t>
            </a:r>
            <a:r>
              <a:rPr>
                <a:solidFill>
                  <a:srgbClr val="FF0000"/>
                </a:solidFill>
              </a:rPr>
              <a:t>da 5 a 10 anni</a:t>
            </a:r>
          </a:p>
        </p:txBody>
      </p:sp>
      <p:sp>
        <p:nvSpPr>
          <p:cNvPr id="536"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stradale</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40</a:t>
            </a:fld>
            <a:endParaRPr/>
          </a:p>
        </p:txBody>
      </p:sp>
      <p:sp>
        <p:nvSpPr>
          <p:cNvPr id="539" name="CasellaDiTesto 8"/>
          <p:cNvSpPr txBox="1"/>
          <p:nvPr/>
        </p:nvSpPr>
        <p:spPr>
          <a:xfrm>
            <a:off x="45719" y="1228397"/>
            <a:ext cx="9052561" cy="42832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u="sng">
                <a:solidFill>
                  <a:srgbClr val="CC0099"/>
                </a:solidFill>
                <a:latin typeface="Times New Roman"/>
                <a:ea typeface="Times New Roman"/>
                <a:cs typeface="Times New Roman"/>
                <a:sym typeface="Times New Roman"/>
              </a:defRPr>
            </a:pPr>
            <a:r>
              <a:t>ELEMENTO OGGETTIVO</a:t>
            </a:r>
            <a:r>
              <a:rPr b="0" u="none">
                <a:solidFill>
                  <a:srgbClr val="000000"/>
                </a:solidFill>
              </a:rPr>
              <a:t>:</a:t>
            </a:r>
          </a:p>
          <a:p>
            <a:pPr marL="179387" indent="-179387" algn="just">
              <a:spcBef>
                <a:spcPts val="600"/>
              </a:spcBef>
              <a:buSzPct val="100000"/>
              <a:buChar char="-"/>
              <a:defRPr sz="2200" b="0">
                <a:latin typeface="Times New Roman"/>
                <a:ea typeface="Times New Roman"/>
                <a:cs typeface="Times New Roman"/>
                <a:sym typeface="Times New Roman"/>
              </a:defRPr>
            </a:pPr>
            <a:r>
              <a:t>c.6 aumento di pena se non si ha la patente di guida o è sospesa o revocata, ovvero veicolo sprovvisto di assicurazione obbligatoria</a:t>
            </a:r>
          </a:p>
          <a:p>
            <a:pPr marL="179387" indent="-179387" algn="just">
              <a:spcBef>
                <a:spcPts val="600"/>
              </a:spcBef>
              <a:buSzPct val="100000"/>
              <a:buChar char="-"/>
              <a:defRPr sz="2200" b="0">
                <a:latin typeface="Times New Roman"/>
                <a:ea typeface="Times New Roman"/>
                <a:cs typeface="Times New Roman"/>
                <a:sym typeface="Times New Roman"/>
              </a:defRPr>
            </a:pPr>
            <a:r>
              <a:t>c.7 diminuzione della pena qualora l'evento non sia esclusiva conseguenza dell'azione o dell'omissione del colpevole</a:t>
            </a:r>
          </a:p>
          <a:p>
            <a:pPr marL="179387" indent="-179387" algn="just">
              <a:buSzPct val="100000"/>
              <a:buChar char="-"/>
              <a:defRPr sz="2200" b="0">
                <a:latin typeface="Times New Roman"/>
                <a:ea typeface="Times New Roman"/>
                <a:cs typeface="Times New Roman"/>
                <a:sym typeface="Times New Roman"/>
              </a:defRPr>
            </a:pPr>
            <a:r>
              <a:t>c.8 aumento della pena se, sussistendo le ipotesi dei commi precedenti, si provoca morte o lesioni di più persone.</a:t>
            </a:r>
          </a:p>
          <a:p>
            <a:pPr algn="just">
              <a:defRPr sz="1800" b="0">
                <a:latin typeface="Times New Roman"/>
                <a:ea typeface="Times New Roman"/>
                <a:cs typeface="Times New Roman"/>
                <a:sym typeface="Times New Roman"/>
              </a:defRPr>
            </a:pPr>
            <a:endParaRPr/>
          </a:p>
          <a:p>
            <a:pPr algn="just">
              <a:spcBef>
                <a:spcPts val="600"/>
              </a:spcBef>
              <a:defRPr sz="2200">
                <a:solidFill>
                  <a:srgbClr val="CC00CC"/>
                </a:solidFill>
                <a:latin typeface="Times New Roman"/>
                <a:ea typeface="Times New Roman"/>
                <a:cs typeface="Times New Roman"/>
                <a:sym typeface="Times New Roman"/>
              </a:defRPr>
            </a:pPr>
            <a:r>
              <a:t>Art. 589-ter c.p. Fuga del conducente in caso di omicidio stradale</a:t>
            </a:r>
          </a:p>
          <a:p>
            <a:pPr algn="just">
              <a:spcBef>
                <a:spcPts val="600"/>
              </a:spcBef>
              <a:defRPr sz="2200" b="0" i="1">
                <a:latin typeface="Times New Roman"/>
                <a:ea typeface="Times New Roman"/>
                <a:cs typeface="Times New Roman"/>
                <a:sym typeface="Times New Roman"/>
              </a:defRPr>
            </a:pPr>
            <a:r>
              <a:t>«Nel caso di cui all’articolo 589-bis, se il </a:t>
            </a:r>
            <a:r>
              <a:rPr b="1">
                <a:solidFill>
                  <a:srgbClr val="CC0099"/>
                </a:solidFill>
              </a:rPr>
              <a:t>conducente si dà alla fuga</a:t>
            </a:r>
            <a:r>
              <a:t>, </a:t>
            </a:r>
            <a:r>
              <a:rPr b="1" u="sng"/>
              <a:t>la pena è aumentata da un terzo a due terzi </a:t>
            </a:r>
            <a:r>
              <a:t>e comunque non può essere inferiore a cinque anni.»</a:t>
            </a:r>
          </a:p>
        </p:txBody>
      </p:sp>
      <p:sp>
        <p:nvSpPr>
          <p:cNvPr id="540"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stradale</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41</a:t>
            </a:fld>
            <a:endParaRPr/>
          </a:p>
        </p:txBody>
      </p:sp>
      <p:sp>
        <p:nvSpPr>
          <p:cNvPr id="543" name="CasellaDiTesto 8"/>
          <p:cNvSpPr txBox="1"/>
          <p:nvPr/>
        </p:nvSpPr>
        <p:spPr>
          <a:xfrm>
            <a:off x="45719" y="1559256"/>
            <a:ext cx="9052561" cy="38387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800" b="0">
                <a:latin typeface="Times New Roman"/>
                <a:ea typeface="Times New Roman"/>
                <a:cs typeface="Times New Roman"/>
                <a:sym typeface="Times New Roman"/>
              </a:defRPr>
            </a:pPr>
            <a:endParaRPr/>
          </a:p>
          <a:p>
            <a:pPr algn="just">
              <a:defRPr sz="2200" u="sng">
                <a:solidFill>
                  <a:srgbClr val="CC0099"/>
                </a:solidFill>
                <a:latin typeface="Times New Roman"/>
                <a:ea typeface="Times New Roman"/>
                <a:cs typeface="Times New Roman"/>
                <a:sym typeface="Times New Roman"/>
              </a:defRPr>
            </a:pPr>
            <a:r>
              <a:t>ELEMENTO SOGGETTIVO</a:t>
            </a:r>
            <a:r>
              <a:rPr b="0" u="none">
                <a:solidFill>
                  <a:srgbClr val="000000"/>
                </a:solidFill>
              </a:rPr>
              <a:t>: la </a:t>
            </a:r>
            <a:r>
              <a:rPr u="none"/>
              <a:t>COLPA</a:t>
            </a:r>
          </a:p>
          <a:p>
            <a:pPr algn="just">
              <a:defRPr sz="2200">
                <a:solidFill>
                  <a:srgbClr val="CC0099"/>
                </a:solidFill>
                <a:latin typeface="Times New Roman"/>
                <a:ea typeface="Times New Roman"/>
                <a:cs typeface="Times New Roman"/>
                <a:sym typeface="Times New Roman"/>
              </a:defRPr>
            </a:pPr>
            <a:endParaRPr u="none"/>
          </a:p>
          <a:p>
            <a:pPr algn="just">
              <a:defRPr sz="800" b="0">
                <a:solidFill>
                  <a:srgbClr val="CC0099"/>
                </a:solidFill>
                <a:latin typeface="Times New Roman"/>
                <a:ea typeface="Times New Roman"/>
                <a:cs typeface="Times New Roman"/>
                <a:sym typeface="Times New Roman"/>
              </a:defRPr>
            </a:pPr>
            <a:endParaRPr u="none"/>
          </a:p>
          <a:p>
            <a:pPr algn="just">
              <a:defRPr sz="2200">
                <a:solidFill>
                  <a:srgbClr val="CC0099"/>
                </a:solidFill>
                <a:latin typeface="Times New Roman"/>
                <a:ea typeface="Times New Roman"/>
                <a:cs typeface="Times New Roman"/>
                <a:sym typeface="Times New Roman"/>
              </a:defRPr>
            </a:pPr>
            <a:r>
              <a:t>REATO COMUNE</a:t>
            </a:r>
            <a:r>
              <a:rPr b="0">
                <a:solidFill>
                  <a:srgbClr val="000000"/>
                </a:solidFill>
              </a:rPr>
              <a:t>,</a:t>
            </a:r>
            <a:r>
              <a:rPr b="0"/>
              <a:t> </a:t>
            </a:r>
            <a:r>
              <a:t>DI DANNO</a:t>
            </a:r>
            <a:r>
              <a:rPr b="0">
                <a:solidFill>
                  <a:srgbClr val="000000"/>
                </a:solidFill>
              </a:rPr>
              <a:t>; </a:t>
            </a:r>
            <a:r>
              <a:t>DI EVENTO</a:t>
            </a:r>
            <a:endParaRPr b="0"/>
          </a:p>
          <a:p>
            <a:pPr algn="just">
              <a:spcBef>
                <a:spcPts val="600"/>
              </a:spcBef>
              <a:defRPr sz="2200">
                <a:solidFill>
                  <a:srgbClr val="CC0099"/>
                </a:solidFill>
                <a:latin typeface="Times New Roman"/>
                <a:ea typeface="Times New Roman"/>
                <a:cs typeface="Times New Roman"/>
                <a:sym typeface="Times New Roman"/>
              </a:defRPr>
            </a:pPr>
            <a:r>
              <a:t>A FORMA LIBERA </a:t>
            </a:r>
            <a:r>
              <a:rPr b="0">
                <a:solidFill>
                  <a:srgbClr val="000000"/>
                </a:solidFill>
              </a:rPr>
              <a:t>(c.1) perché la condotta non è tipizzata dal legislatore; </a:t>
            </a:r>
            <a:br>
              <a:rPr b="0">
                <a:solidFill>
                  <a:srgbClr val="000000"/>
                </a:solidFill>
              </a:rPr>
            </a:br>
            <a:r>
              <a:t>A FORMA VINCOLATA </a:t>
            </a:r>
            <a:r>
              <a:rPr b="0">
                <a:solidFill>
                  <a:srgbClr val="000000"/>
                </a:solidFill>
              </a:rPr>
              <a:t>(altri commi) in quanto le modalità di esecuzione della condotta sono tipizzate dal legislatore.</a:t>
            </a:r>
          </a:p>
          <a:p>
            <a:pPr algn="just">
              <a:spcBef>
                <a:spcPts val="600"/>
              </a:spcBef>
              <a:defRPr sz="2200">
                <a:solidFill>
                  <a:srgbClr val="CC0099"/>
                </a:solidFill>
                <a:latin typeface="Times New Roman"/>
                <a:ea typeface="Times New Roman"/>
                <a:cs typeface="Times New Roman"/>
                <a:sym typeface="Times New Roman"/>
              </a:defRPr>
            </a:pPr>
            <a:r>
              <a:t>REATO ISTANTANEO</a:t>
            </a:r>
            <a:r>
              <a:rPr b="0">
                <a:solidFill>
                  <a:srgbClr val="000000"/>
                </a:solidFill>
              </a:rPr>
              <a:t>, si consuma nel momento in cui si verifica la morte e il tentativo non è ammissibile.</a:t>
            </a:r>
          </a:p>
          <a:p>
            <a:pPr algn="just">
              <a:spcBef>
                <a:spcPts val="600"/>
              </a:spcBef>
              <a:defRPr sz="2200" b="0">
                <a:latin typeface="Times New Roman"/>
                <a:ea typeface="Times New Roman"/>
                <a:cs typeface="Times New Roman"/>
                <a:sym typeface="Times New Roman"/>
              </a:defRPr>
            </a:pPr>
            <a:endParaRPr b="0">
              <a:solidFill>
                <a:srgbClr val="000000"/>
              </a:solidFill>
            </a:endParaRPr>
          </a:p>
        </p:txBody>
      </p:sp>
      <p:sp>
        <p:nvSpPr>
          <p:cNvPr id="544"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Omicidio stradale</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42</a:t>
            </a:fld>
            <a:endParaRPr/>
          </a:p>
        </p:txBody>
      </p:sp>
      <p:sp>
        <p:nvSpPr>
          <p:cNvPr id="547" name="CasellaDiTesto 8"/>
          <p:cNvSpPr txBox="1"/>
          <p:nvPr/>
        </p:nvSpPr>
        <p:spPr>
          <a:xfrm>
            <a:off x="45719" y="794165"/>
            <a:ext cx="9052561" cy="58237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300"/>
              </a:spcBef>
              <a:defRPr sz="2000">
                <a:solidFill>
                  <a:srgbClr val="9966FF"/>
                </a:solidFill>
                <a:latin typeface="Times New Roman"/>
                <a:ea typeface="Times New Roman"/>
                <a:cs typeface="Times New Roman"/>
                <a:sym typeface="Times New Roman"/>
              </a:defRPr>
            </a:pPr>
            <a:r>
              <a:t>Art. 590-bis c.p. Lesioni personali stradali (o nautiche gravi o gravissime)</a:t>
            </a:r>
          </a:p>
          <a:p>
            <a:pPr algn="just">
              <a:defRPr sz="1800" b="0" i="1">
                <a:latin typeface="Times New Roman"/>
                <a:ea typeface="Times New Roman"/>
                <a:cs typeface="Times New Roman"/>
                <a:sym typeface="Times New Roman"/>
              </a:defRPr>
            </a:pPr>
            <a:r>
              <a:t>«Chiunque cagioni per colpa ad altri </a:t>
            </a:r>
            <a:r>
              <a:rPr b="1">
                <a:solidFill>
                  <a:srgbClr val="9966FF"/>
                </a:solidFill>
              </a:rPr>
              <a:t>una lesione personale con violazione delle norme sulla disciplina della circolazione stradale </a:t>
            </a:r>
            <a:r>
              <a:rPr b="1"/>
              <a:t>è punito con la reclusione da 3 mesi a 1 anno per le lesioni gravi e da 1 a 3 anni per le lesioni gravissime.</a:t>
            </a:r>
          </a:p>
          <a:p>
            <a:pPr algn="just">
              <a:defRPr sz="1500" b="0" i="1">
                <a:latin typeface="Times New Roman"/>
                <a:ea typeface="Times New Roman"/>
                <a:cs typeface="Times New Roman"/>
                <a:sym typeface="Times New Roman"/>
              </a:defRPr>
            </a:pPr>
            <a:r>
              <a:t>Chiunque, ponendosi alla guida di un veicolo a motore in stato di ebbrezza alcolica o di alterazione psico-fisica conseguente all'assunzione di sostanze stupefacenti o psicotrope ai sensi rispettivamente degli articoli 186, comma 2, lettera c), e 187 del D.Lgs. 285/1992, cagioni per colpa a taluno una lesione personale, è punito con la reclusione da tre a cinque anni per le lesioni gravi e da quattro a sette anni per le lesioni gravissime.</a:t>
            </a:r>
          </a:p>
          <a:p>
            <a:pPr algn="just">
              <a:defRPr sz="1500" b="0" i="1">
                <a:latin typeface="Times New Roman"/>
                <a:ea typeface="Times New Roman"/>
                <a:cs typeface="Times New Roman"/>
                <a:sym typeface="Times New Roman"/>
              </a:defRPr>
            </a:pPr>
            <a:r>
              <a:t>Le pene di cui al comma precedente si applicano altresì al conducente di un veicolo a motore di cui all'articolo 186 bis, comma 1, lettere b), c) e d), del decreto legislativo 30 aprile 1992, n. 285, il quale, in stato di ebbrezza alcolica ai sensi dell'articolo 186, comma 2, lettera b), del medesimo decreto legislativo n. 285 del 1992, cagioni per colpa a taluno lesioni personali gravi o gravissime.</a:t>
            </a:r>
          </a:p>
          <a:p>
            <a:pPr algn="just">
              <a:defRPr sz="1500" b="0" i="1">
                <a:latin typeface="Times New Roman"/>
                <a:ea typeface="Times New Roman"/>
                <a:cs typeface="Times New Roman"/>
                <a:sym typeface="Times New Roman"/>
              </a:defRPr>
            </a:pPr>
            <a:r>
              <a:t>Salvo quanto previsto dal terzo comma, chiunque, ponendosi alla guida di un veicolo a motore in stato di ebbrezza alcolica ai sensi dell'articolo 186, comma 2, lettera b), del decreto legislativo 30 aprile 1992, n. 285, cagioni per colpa a taluno lesioni personali, è punito con la reclusione da un anno e sei mesi a tre anni per le lesioni gravi e da due a quattro anni per le lesioni gravissime […]</a:t>
            </a:r>
          </a:p>
          <a:p>
            <a:pPr algn="just">
              <a:defRPr sz="1500" b="0" i="1">
                <a:latin typeface="Times New Roman"/>
                <a:ea typeface="Times New Roman"/>
                <a:cs typeface="Times New Roman"/>
                <a:sym typeface="Times New Roman"/>
              </a:defRPr>
            </a:pPr>
            <a:r>
              <a:t>Nelle ipotesi di cui ai commi precedenti la pena è aumentata se il fatto è commesso da persona non munita di patente di guida o con patente sospesa o revocata, ovvero nel caso in cui il veicolo a motore sia di proprietà dell'autore del fatto e tale veicolo sia sprovvisto di assicurazione obbligatoria.</a:t>
            </a:r>
          </a:p>
          <a:p>
            <a:pPr algn="just">
              <a:defRPr sz="1500" b="0" i="1">
                <a:latin typeface="Times New Roman"/>
                <a:ea typeface="Times New Roman"/>
                <a:cs typeface="Times New Roman"/>
                <a:sym typeface="Times New Roman"/>
              </a:defRPr>
            </a:pPr>
            <a:r>
              <a:t>Nelle ipotesi di cui ai commi precedenti, qualora l'evento non sia esclusiva conseguenza dell'azione o dell'omissione del colpevole, la pena è diminuita fino alla metà.</a:t>
            </a:r>
          </a:p>
          <a:p>
            <a:pPr algn="just">
              <a:spcBef>
                <a:spcPts val="600"/>
              </a:spcBef>
              <a:defRPr sz="1500" b="0" i="1">
                <a:latin typeface="Times New Roman"/>
                <a:ea typeface="Times New Roman"/>
                <a:cs typeface="Times New Roman"/>
                <a:sym typeface="Times New Roman"/>
              </a:defRPr>
            </a:pPr>
            <a:r>
              <a:t>Nelle ipotesi di cui ai commi precedenti, qualora il conducente cagioni lesioni a più persone, si applica la pena che dovrebbe infliggersi per la più grave delle violazioni commesse aumentata fino al triplo, ma la pena non può superare gli anni sette. </a:t>
            </a:r>
          </a:p>
        </p:txBody>
      </p:sp>
      <p:sp>
        <p:nvSpPr>
          <p:cNvPr id="548"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Lesioni personali stradali gravi o gravissime</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43</a:t>
            </a:fld>
            <a:endParaRPr/>
          </a:p>
        </p:txBody>
      </p:sp>
      <p:sp>
        <p:nvSpPr>
          <p:cNvPr id="551" name="CasellaDiTesto 8"/>
          <p:cNvSpPr txBox="1"/>
          <p:nvPr/>
        </p:nvSpPr>
        <p:spPr>
          <a:xfrm>
            <a:off x="153223" y="836711"/>
            <a:ext cx="8837553" cy="47404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000" b="0">
                <a:solidFill>
                  <a:srgbClr val="FF3300"/>
                </a:solidFill>
                <a:latin typeface="Times New Roman"/>
                <a:ea typeface="Times New Roman"/>
                <a:cs typeface="Times New Roman"/>
                <a:sym typeface="Times New Roman"/>
              </a:defRPr>
            </a:pPr>
            <a:r>
              <a:t>Il delitto è punibile a QUERELA della persona offesa se non ricorre alcuna delle  circostanze aggravanti previste dal presente articolo. -&gt; CARTABIA</a:t>
            </a:r>
          </a:p>
          <a:p>
            <a:pPr algn="just">
              <a:spcBef>
                <a:spcPts val="600"/>
              </a:spcBef>
              <a:defRPr sz="2000" b="0">
                <a:latin typeface="Times New Roman"/>
                <a:ea typeface="Times New Roman"/>
                <a:cs typeface="Times New Roman"/>
                <a:sym typeface="Times New Roman"/>
              </a:defRPr>
            </a:pPr>
            <a:r>
              <a:t>Le diverse fattispecie del reato di cui all’art. 590-bis appaiono quasi del tutto speculari a quelle dell’omicidio stradale, (art. 589-bis).</a:t>
            </a:r>
          </a:p>
          <a:p>
            <a:pPr algn="just">
              <a:spcBef>
                <a:spcPts val="600"/>
              </a:spcBef>
              <a:defRPr sz="2000" b="0">
                <a:latin typeface="Times New Roman"/>
                <a:ea typeface="Times New Roman"/>
                <a:cs typeface="Times New Roman"/>
                <a:sym typeface="Times New Roman"/>
              </a:defRPr>
            </a:pPr>
            <a:r>
              <a:t>L'entità delle pene detentive per le lesioni personali stradali rimane invariata (da 3 mesi a un anno per le lesioni gravi; da uno a 3 anni per quelle gravissime</a:t>
            </a:r>
          </a:p>
          <a:p>
            <a:pPr algn="just">
              <a:spcBef>
                <a:spcPts val="600"/>
              </a:spcBef>
              <a:defRPr sz="2000" b="0">
                <a:latin typeface="Times New Roman"/>
                <a:ea typeface="Times New Roman"/>
                <a:cs typeface="Times New Roman"/>
                <a:sym typeface="Times New Roman"/>
              </a:defRPr>
            </a:pPr>
            <a:endParaRPr/>
          </a:p>
          <a:p>
            <a:pPr algn="just">
              <a:spcBef>
                <a:spcPts val="600"/>
              </a:spcBef>
              <a:defRPr sz="2000">
                <a:solidFill>
                  <a:srgbClr val="9966FF"/>
                </a:solidFill>
                <a:latin typeface="Times New Roman"/>
                <a:ea typeface="Times New Roman"/>
                <a:cs typeface="Times New Roman"/>
                <a:sym typeface="Times New Roman"/>
              </a:defRPr>
            </a:pPr>
            <a:r>
              <a:t>REATO COMUNE, DI DANNO, DI EVENTO</a:t>
            </a:r>
            <a:endParaRPr b="0">
              <a:solidFill>
                <a:srgbClr val="CC0099"/>
              </a:solidFill>
            </a:endParaRPr>
          </a:p>
          <a:p>
            <a:pPr algn="just">
              <a:spcBef>
                <a:spcPts val="600"/>
              </a:spcBef>
              <a:defRPr sz="2000">
                <a:solidFill>
                  <a:srgbClr val="9966FF"/>
                </a:solidFill>
                <a:latin typeface="Times New Roman"/>
                <a:ea typeface="Times New Roman"/>
                <a:cs typeface="Times New Roman"/>
                <a:sym typeface="Times New Roman"/>
              </a:defRPr>
            </a:pPr>
            <a:r>
              <a:t>A FORMA LIBERA </a:t>
            </a:r>
            <a:r>
              <a:rPr b="0">
                <a:solidFill>
                  <a:srgbClr val="000000"/>
                </a:solidFill>
              </a:rPr>
              <a:t>(c.1) perché la condotta tipica non prestabilita dal legislatore; </a:t>
            </a:r>
            <a:br>
              <a:rPr b="0">
                <a:solidFill>
                  <a:srgbClr val="000000"/>
                </a:solidFill>
              </a:rPr>
            </a:br>
            <a:r>
              <a:t>A FORMA VINCOLATA </a:t>
            </a:r>
            <a:r>
              <a:rPr b="0">
                <a:solidFill>
                  <a:srgbClr val="000000"/>
                </a:solidFill>
              </a:rPr>
              <a:t>nelle ipotesi di lesioni personali stradali gravi o gravissime aggravate di cui ai commi 2 e ss. </a:t>
            </a:r>
          </a:p>
          <a:p>
            <a:pPr algn="just">
              <a:spcBef>
                <a:spcPts val="600"/>
              </a:spcBef>
              <a:defRPr sz="2000">
                <a:solidFill>
                  <a:srgbClr val="9966FF"/>
                </a:solidFill>
                <a:latin typeface="Times New Roman"/>
                <a:ea typeface="Times New Roman"/>
                <a:cs typeface="Times New Roman"/>
                <a:sym typeface="Times New Roman"/>
              </a:defRPr>
            </a:pPr>
            <a:r>
              <a:t>REATO ISTANTANEO</a:t>
            </a:r>
            <a:r>
              <a:rPr b="0">
                <a:solidFill>
                  <a:srgbClr val="000000"/>
                </a:solidFill>
              </a:rPr>
              <a:t>, si consuma nel momento in cui si realizza la lesione personale, tentativo non è ipotizzabile.</a:t>
            </a:r>
          </a:p>
        </p:txBody>
      </p:sp>
      <p:sp>
        <p:nvSpPr>
          <p:cNvPr id="552"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Lesioni personali stradali gravi o gravissime</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44</a:t>
            </a:fld>
            <a:endParaRPr/>
          </a:p>
        </p:txBody>
      </p:sp>
      <p:sp>
        <p:nvSpPr>
          <p:cNvPr id="555" name="CasellaDiTesto 8"/>
          <p:cNvSpPr txBox="1"/>
          <p:nvPr/>
        </p:nvSpPr>
        <p:spPr>
          <a:xfrm>
            <a:off x="153223" y="844251"/>
            <a:ext cx="8837553" cy="43224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7030A0"/>
                </a:solidFill>
                <a:latin typeface="Times New Roman"/>
                <a:ea typeface="Times New Roman"/>
                <a:cs typeface="Times New Roman"/>
                <a:sym typeface="Times New Roman"/>
              </a:defRPr>
            </a:pPr>
            <a:r>
              <a:t>Art. 593 c.p. Omissione di soccorso</a:t>
            </a:r>
          </a:p>
          <a:p>
            <a:pPr algn="just">
              <a:spcBef>
                <a:spcPts val="600"/>
              </a:spcBef>
              <a:defRPr sz="2200" b="0" i="1">
                <a:latin typeface="Times New Roman"/>
                <a:ea typeface="Times New Roman"/>
                <a:cs typeface="Times New Roman"/>
                <a:sym typeface="Times New Roman"/>
              </a:defRPr>
            </a:pPr>
            <a:r>
              <a:t>«Chiunque, </a:t>
            </a:r>
            <a:r>
              <a:rPr b="1"/>
              <a:t>trovando abbandonato o smarrito </a:t>
            </a:r>
            <a:r>
              <a:t>un fanciullo minore degli anni dieci, o un'altra persona incapace di provvedere a se stessa, per malattia di mente o di corpo, per vecchiaia o per altra causa, </a:t>
            </a:r>
            <a:r>
              <a:rPr b="1">
                <a:solidFill>
                  <a:srgbClr val="7030A0"/>
                </a:solidFill>
              </a:rPr>
              <a:t>omette di darne immediato avviso all'Autorità</a:t>
            </a:r>
            <a:r>
              <a:t>, è punito con la reclusione fino a un anno o con la multa fino a 2.500 euro.</a:t>
            </a:r>
          </a:p>
          <a:p>
            <a:pPr algn="just">
              <a:spcBef>
                <a:spcPts val="600"/>
              </a:spcBef>
              <a:defRPr sz="2200" b="0" i="1">
                <a:latin typeface="Times New Roman"/>
                <a:ea typeface="Times New Roman"/>
                <a:cs typeface="Times New Roman"/>
                <a:sym typeface="Times New Roman"/>
              </a:defRPr>
            </a:pPr>
            <a:r>
              <a:t>Alla stessa pena soggiace chi, trovando un </a:t>
            </a:r>
            <a:r>
              <a:rPr b="1"/>
              <a:t>corpo umano </a:t>
            </a:r>
            <a:r>
              <a:t>che sia o sembri inanimato, ovvero una </a:t>
            </a:r>
            <a:r>
              <a:rPr b="1"/>
              <a:t>persona ferita o altrimenti in pericolo</a:t>
            </a:r>
            <a:r>
              <a:t>, </a:t>
            </a:r>
            <a:r>
              <a:rPr b="1">
                <a:solidFill>
                  <a:srgbClr val="7030A0"/>
                </a:solidFill>
              </a:rPr>
              <a:t>omette di prestare l'assistenza occorrente o di darne immediato avviso all'Autorità</a:t>
            </a:r>
            <a:r>
              <a:t>.</a:t>
            </a:r>
          </a:p>
          <a:p>
            <a:pPr algn="just">
              <a:spcBef>
                <a:spcPts val="600"/>
              </a:spcBef>
              <a:defRPr sz="2200" b="0" i="1">
                <a:latin typeface="Times New Roman"/>
                <a:ea typeface="Times New Roman"/>
                <a:cs typeface="Times New Roman"/>
                <a:sym typeface="Times New Roman"/>
              </a:defRPr>
            </a:pPr>
            <a:r>
              <a:t>Se da siffatta condotta del colpevole deriva una lesione personale, la pena è aumentata; se ne deriva la morte, la pena è raddoppiata.»</a:t>
            </a:r>
          </a:p>
        </p:txBody>
      </p:sp>
      <p:sp>
        <p:nvSpPr>
          <p:cNvPr id="556"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Omissione di soccorso</a:t>
            </a:r>
          </a:p>
        </p:txBody>
      </p:sp>
      <p:sp>
        <p:nvSpPr>
          <p:cNvPr id="557" name="Rettangolo 6"/>
          <p:cNvSpPr/>
          <p:nvPr/>
        </p:nvSpPr>
        <p:spPr>
          <a:xfrm>
            <a:off x="3635895" y="5038976"/>
            <a:ext cx="4249084" cy="1708209"/>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nSpc>
                <a:spcPct val="114000"/>
              </a:lnSpc>
              <a:defRPr sz="20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Competenza: Tribunale Monocratico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Arresto non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Fermo non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Procedibilità d’ufficio</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45</a:t>
            </a:fld>
            <a:endParaRPr/>
          </a:p>
        </p:txBody>
      </p:sp>
      <p:sp>
        <p:nvSpPr>
          <p:cNvPr id="560" name="CasellaDiTesto 8"/>
          <p:cNvSpPr txBox="1"/>
          <p:nvPr/>
        </p:nvSpPr>
        <p:spPr>
          <a:xfrm>
            <a:off x="45719" y="980727"/>
            <a:ext cx="9052561" cy="57083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b="0">
                <a:latin typeface="Times New Roman"/>
                <a:ea typeface="Times New Roman"/>
                <a:cs typeface="Times New Roman"/>
                <a:sym typeface="Times New Roman"/>
              </a:defRPr>
            </a:pPr>
            <a:r>
              <a:t>L'interesse tutelato è la </a:t>
            </a:r>
            <a:r>
              <a:rPr b="1">
                <a:solidFill>
                  <a:srgbClr val="7030A0"/>
                </a:solidFill>
              </a:rPr>
              <a:t>vita</a:t>
            </a:r>
            <a:r>
              <a:t> e </a:t>
            </a:r>
            <a:r>
              <a:rPr b="1">
                <a:solidFill>
                  <a:srgbClr val="7030A0"/>
                </a:solidFill>
              </a:rPr>
              <a:t>l'incolumità fisica</a:t>
            </a:r>
            <a:r>
              <a:t>.</a:t>
            </a:r>
          </a:p>
          <a:p>
            <a:pPr algn="just">
              <a:spcBef>
                <a:spcPts val="600"/>
              </a:spcBef>
              <a:defRPr sz="2200" b="0">
                <a:latin typeface="Times New Roman"/>
                <a:ea typeface="Times New Roman"/>
                <a:cs typeface="Times New Roman"/>
                <a:sym typeface="Times New Roman"/>
              </a:defRPr>
            </a:pPr>
            <a:r>
              <a:t>L’art. 593 sancisce un </a:t>
            </a:r>
            <a:r>
              <a:rPr b="1"/>
              <a:t>dovere generale di prestare soccorso </a:t>
            </a:r>
            <a:r>
              <a:t>in capo a tutti i soggetti. </a:t>
            </a:r>
          </a:p>
          <a:p>
            <a:pPr algn="just">
              <a:spcBef>
                <a:spcPts val="600"/>
              </a:spcBef>
              <a:defRPr sz="2200" b="0">
                <a:latin typeface="Times New Roman"/>
                <a:ea typeface="Times New Roman"/>
                <a:cs typeface="Times New Roman"/>
                <a:sym typeface="Times New Roman"/>
              </a:defRPr>
            </a:pPr>
            <a:r>
              <a:t>La mancata ottemperanza all’obbligo indicato integra il reato di Omissione di soccorso, sicché esso è qualificabile come </a:t>
            </a:r>
            <a:r>
              <a:rPr b="1">
                <a:solidFill>
                  <a:srgbClr val="7030A0"/>
                </a:solidFill>
              </a:rPr>
              <a:t>reato omissivo proprio</a:t>
            </a:r>
            <a:r>
              <a:t>.</a:t>
            </a:r>
          </a:p>
          <a:p>
            <a:pPr>
              <a:defRPr sz="1700">
                <a:latin typeface="Times New Roman"/>
                <a:ea typeface="Times New Roman"/>
                <a:cs typeface="Times New Roman"/>
                <a:sym typeface="Times New Roman"/>
              </a:defRPr>
            </a:pPr>
            <a:endParaRPr/>
          </a:p>
          <a:p>
            <a:pPr algn="just">
              <a:defRPr sz="2000" u="sng">
                <a:solidFill>
                  <a:srgbClr val="FF0000"/>
                </a:solidFill>
                <a:latin typeface="Times New Roman"/>
                <a:ea typeface="Times New Roman"/>
                <a:cs typeface="Times New Roman"/>
                <a:sym typeface="Times New Roman"/>
              </a:defRPr>
            </a:pPr>
            <a:r>
              <a:t>Reato omissivo proprio</a:t>
            </a:r>
            <a:r>
              <a:rPr b="0"/>
              <a:t>: </a:t>
            </a:r>
            <a:r>
              <a:rPr b="0" u="none">
                <a:solidFill>
                  <a:srgbClr val="000000"/>
                </a:solidFill>
              </a:rPr>
              <a:t>È un reato di pura condotta, consistente nel mancato compimento di un’azione imposta dal precetto normativo </a:t>
            </a:r>
          </a:p>
          <a:p>
            <a:pPr algn="just">
              <a:defRPr sz="2000" b="0">
                <a:latin typeface="Times New Roman"/>
                <a:ea typeface="Times New Roman"/>
                <a:cs typeface="Times New Roman"/>
                <a:sym typeface="Times New Roman"/>
              </a:defRPr>
            </a:pPr>
            <a:r>
              <a:t>(es. l’omissione di soccorso </a:t>
            </a:r>
            <a:r>
              <a:rPr sz="1700"/>
              <a:t>nella quale affinché si possa parlare di reato è sufficiente che si sia penalmente responsabili di una violazione della legge) </a:t>
            </a:r>
          </a:p>
          <a:p>
            <a:pPr algn="just">
              <a:defRPr sz="1700" b="0">
                <a:latin typeface="Times New Roman"/>
                <a:ea typeface="Times New Roman"/>
                <a:cs typeface="Times New Roman"/>
                <a:sym typeface="Times New Roman"/>
              </a:defRPr>
            </a:pPr>
            <a:endParaRPr sz="1700"/>
          </a:p>
          <a:p>
            <a:pPr algn="just">
              <a:defRPr sz="2000" u="sng">
                <a:solidFill>
                  <a:srgbClr val="FF0000"/>
                </a:solidFill>
                <a:latin typeface="Times New Roman"/>
                <a:ea typeface="Times New Roman"/>
                <a:cs typeface="Times New Roman"/>
                <a:sym typeface="Times New Roman"/>
              </a:defRPr>
            </a:pPr>
            <a:r>
              <a:t>Reato omissivo improprio</a:t>
            </a:r>
            <a:r>
              <a:rPr b="0" u="none">
                <a:solidFill>
                  <a:srgbClr val="000000"/>
                </a:solidFill>
              </a:rPr>
              <a:t>: Consiste nel mancato impedimento di un evento dannoso che si aveva l’obbligo giuridico di impedire. </a:t>
            </a:r>
          </a:p>
          <a:p>
            <a:pPr algn="just">
              <a:defRPr b="0">
                <a:latin typeface="Times New Roman"/>
                <a:ea typeface="Times New Roman"/>
                <a:cs typeface="Times New Roman"/>
                <a:sym typeface="Times New Roman"/>
              </a:defRPr>
            </a:pPr>
            <a:r>
              <a:t> </a:t>
            </a:r>
            <a:r>
              <a:rPr sz="1700"/>
              <a:t>( es. l'art. 57 CP (</a:t>
            </a:r>
            <a:r>
              <a:rPr sz="1700" i="1"/>
              <a:t>Reati commessi col mezzo della stampa periodica</a:t>
            </a:r>
            <a:r>
              <a:rPr sz="1700"/>
              <a:t>) con il quale il legislatore con le seguenti parole intende sottolineare il comportamento omissivo del direttore (o vicedirettore) responsabile che omette di esercitare il controllo del periodico diretto.) nel </a:t>
            </a:r>
            <a:r>
              <a:rPr sz="1700" b="1"/>
              <a:t>reato omissivo improprio oltre all’omissione da parte del responsabile, </a:t>
            </a:r>
            <a:r>
              <a:rPr sz="1700" b="1" u="sng"/>
              <a:t>deve verificarsi un evento</a:t>
            </a:r>
            <a:r>
              <a:rPr sz="1700"/>
              <a:t> che la legge cerca di contrastare, come per esempio la morte di una persona. </a:t>
            </a:r>
          </a:p>
        </p:txBody>
      </p:sp>
      <p:sp>
        <p:nvSpPr>
          <p:cNvPr id="561"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Omissione di soccorso</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46</a:t>
            </a:fld>
            <a:endParaRPr/>
          </a:p>
        </p:txBody>
      </p:sp>
      <p:sp>
        <p:nvSpPr>
          <p:cNvPr id="564" name="CasellaDiTesto 8"/>
          <p:cNvSpPr txBox="1"/>
          <p:nvPr/>
        </p:nvSpPr>
        <p:spPr>
          <a:xfrm>
            <a:off x="45719" y="836711"/>
            <a:ext cx="9052561" cy="65565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000" u="sng">
                <a:solidFill>
                  <a:srgbClr val="FF0000"/>
                </a:solidFill>
                <a:latin typeface="Times New Roman"/>
                <a:ea typeface="Times New Roman"/>
                <a:cs typeface="Times New Roman"/>
                <a:sym typeface="Times New Roman"/>
              </a:defRPr>
            </a:pPr>
            <a:r>
              <a:t>ELEMENTO OGGETTIVO</a:t>
            </a:r>
            <a:r>
              <a:rPr b="0" u="none"/>
              <a:t>: </a:t>
            </a:r>
            <a:r>
              <a:rPr b="0" u="none">
                <a:solidFill>
                  <a:srgbClr val="000000"/>
                </a:solidFill>
              </a:rPr>
              <a:t>consiste in una condotta che si sostanzia nel:</a:t>
            </a:r>
          </a:p>
          <a:p>
            <a:pPr marL="180975" indent="-180975" algn="just">
              <a:spcBef>
                <a:spcPts val="600"/>
              </a:spcBef>
              <a:buSzPct val="100000"/>
              <a:buChar char="-"/>
              <a:defRPr sz="2000">
                <a:solidFill>
                  <a:srgbClr val="7030A0"/>
                </a:solidFill>
                <a:latin typeface="Times New Roman"/>
                <a:ea typeface="Times New Roman"/>
                <a:cs typeface="Times New Roman"/>
                <a:sym typeface="Times New Roman"/>
              </a:defRPr>
            </a:pPr>
            <a:r>
              <a:t>omettere di dare avviso all'Autorità competente </a:t>
            </a:r>
            <a:r>
              <a:rPr b="0">
                <a:solidFill>
                  <a:srgbClr val="000000"/>
                </a:solidFill>
              </a:rPr>
              <a:t>(obbligo di assistenza indiretta);</a:t>
            </a:r>
          </a:p>
          <a:p>
            <a:pPr marL="180975" indent="-180975" algn="just">
              <a:spcBef>
                <a:spcPts val="600"/>
              </a:spcBef>
              <a:buSzPct val="100000"/>
              <a:buChar char="-"/>
              <a:defRPr sz="2000">
                <a:solidFill>
                  <a:srgbClr val="7030A0"/>
                </a:solidFill>
                <a:latin typeface="Times New Roman"/>
                <a:ea typeface="Times New Roman"/>
                <a:cs typeface="Times New Roman"/>
                <a:sym typeface="Times New Roman"/>
              </a:defRPr>
            </a:pPr>
            <a:r>
              <a:t>omettere di prestare l'assistenza occorrente </a:t>
            </a:r>
            <a:r>
              <a:rPr b="0">
                <a:solidFill>
                  <a:srgbClr val="000000"/>
                </a:solidFill>
              </a:rPr>
              <a:t>(obbligo di assistenza diretta).</a:t>
            </a:r>
          </a:p>
          <a:p>
            <a:pPr algn="just">
              <a:spcBef>
                <a:spcPts val="600"/>
              </a:spcBef>
              <a:defRPr sz="900" b="0">
                <a:latin typeface="Times New Roman"/>
                <a:ea typeface="Times New Roman"/>
                <a:cs typeface="Times New Roman"/>
                <a:sym typeface="Times New Roman"/>
              </a:defRPr>
            </a:pPr>
            <a:endParaRPr b="0">
              <a:solidFill>
                <a:srgbClr val="000000"/>
              </a:solidFill>
            </a:endParaRPr>
          </a:p>
          <a:p>
            <a:pPr algn="just">
              <a:spcBef>
                <a:spcPts val="600"/>
              </a:spcBef>
              <a:defRPr sz="2000" b="0">
                <a:latin typeface="Times New Roman"/>
                <a:ea typeface="Times New Roman"/>
                <a:cs typeface="Times New Roman"/>
                <a:sym typeface="Times New Roman"/>
              </a:defRPr>
            </a:pPr>
            <a:r>
              <a:t>Presupposto della condotta criminosa è il </a:t>
            </a:r>
            <a:r>
              <a:rPr b="1"/>
              <a:t>trovare in una situazione di pericolo per la vita o l’incolumità individuale</a:t>
            </a:r>
            <a:r>
              <a:t> del soggetto bisognoso di soccorso, ma è necessario che la ferita o le altre condizioni soggettive siano tali da privare il soggetto della capacità di provvedere a sé stesso.</a:t>
            </a:r>
          </a:p>
          <a:p>
            <a:pPr algn="just">
              <a:spcBef>
                <a:spcPts val="600"/>
              </a:spcBef>
              <a:defRPr sz="2000" u="sng">
                <a:solidFill>
                  <a:srgbClr val="7030A0"/>
                </a:solidFill>
                <a:latin typeface="Times New Roman"/>
                <a:ea typeface="Times New Roman"/>
                <a:cs typeface="Times New Roman"/>
                <a:sym typeface="Times New Roman"/>
              </a:defRPr>
            </a:pPr>
            <a:endParaRPr/>
          </a:p>
          <a:p>
            <a:pPr algn="just">
              <a:spcBef>
                <a:spcPts val="600"/>
              </a:spcBef>
              <a:defRPr sz="2000" u="sng">
                <a:solidFill>
                  <a:srgbClr val="FF0000"/>
                </a:solidFill>
                <a:latin typeface="Times New Roman"/>
                <a:ea typeface="Times New Roman"/>
                <a:cs typeface="Times New Roman"/>
                <a:sym typeface="Times New Roman"/>
              </a:defRPr>
            </a:pPr>
            <a:r>
              <a:t>ELEMENTO SOGGETTIVO</a:t>
            </a:r>
            <a:r>
              <a:rPr b="0" u="none">
                <a:solidFill>
                  <a:srgbClr val="000000"/>
                </a:solidFill>
              </a:rPr>
              <a:t>: è il </a:t>
            </a:r>
            <a:r>
              <a:rPr u="none">
                <a:solidFill>
                  <a:srgbClr val="7030A0"/>
                </a:solidFill>
              </a:rPr>
              <a:t>DOLO GENERICO</a:t>
            </a:r>
            <a:r>
              <a:rPr b="0" u="none">
                <a:solidFill>
                  <a:srgbClr val="000000"/>
                </a:solidFill>
              </a:rPr>
              <a:t>, inteso come coscienza e volontà del fatto tipico previsto dalla norma incriminatrice.</a:t>
            </a:r>
          </a:p>
          <a:p>
            <a:pPr algn="just">
              <a:spcBef>
                <a:spcPts val="600"/>
              </a:spcBef>
              <a:defRPr b="0">
                <a:latin typeface="Times New Roman"/>
                <a:ea typeface="Times New Roman"/>
                <a:cs typeface="Times New Roman"/>
                <a:sym typeface="Times New Roman"/>
              </a:defRPr>
            </a:pPr>
            <a:endParaRPr b="0" u="none">
              <a:solidFill>
                <a:srgbClr val="000000"/>
              </a:solidFill>
            </a:endParaRPr>
          </a:p>
          <a:p>
            <a:pPr algn="just">
              <a:spcBef>
                <a:spcPts val="600"/>
              </a:spcBef>
              <a:defRPr sz="2000" b="0">
                <a:latin typeface="Times New Roman"/>
                <a:ea typeface="Times New Roman"/>
                <a:cs typeface="Times New Roman"/>
                <a:sym typeface="Times New Roman"/>
              </a:defRPr>
            </a:pPr>
            <a:r>
              <a:t>Costituisce </a:t>
            </a:r>
            <a:r>
              <a:rPr b="1">
                <a:solidFill>
                  <a:srgbClr val="7030A0"/>
                </a:solidFill>
              </a:rPr>
              <a:t>circostanza aggravante</a:t>
            </a:r>
            <a:r>
              <a:t>:</a:t>
            </a:r>
          </a:p>
          <a:p>
            <a:pPr marL="342900" indent="-342900" algn="just">
              <a:spcBef>
                <a:spcPts val="600"/>
              </a:spcBef>
              <a:buSzPct val="100000"/>
              <a:buFont typeface="Arial"/>
              <a:buChar char="•"/>
              <a:defRPr sz="2000" b="0">
                <a:latin typeface="Times New Roman"/>
                <a:ea typeface="Times New Roman"/>
                <a:cs typeface="Times New Roman"/>
                <a:sym typeface="Times New Roman"/>
              </a:defRPr>
            </a:pPr>
            <a:r>
              <a:t>l'aver provocato una lesione personale;</a:t>
            </a:r>
          </a:p>
          <a:p>
            <a:pPr marL="342900" indent="-342900" algn="just">
              <a:spcBef>
                <a:spcPts val="600"/>
              </a:spcBef>
              <a:buSzPct val="100000"/>
              <a:buFont typeface="Arial"/>
              <a:buChar char="•"/>
              <a:defRPr sz="2000" b="0">
                <a:latin typeface="Times New Roman"/>
                <a:ea typeface="Times New Roman"/>
                <a:cs typeface="Times New Roman"/>
                <a:sym typeface="Times New Roman"/>
              </a:defRPr>
            </a:pPr>
            <a:r>
              <a:t>l'aver provocato la morte.</a:t>
            </a:r>
          </a:p>
          <a:p>
            <a:pPr algn="just">
              <a:spcBef>
                <a:spcPts val="600"/>
              </a:spcBef>
              <a:defRPr sz="800" b="0">
                <a:latin typeface="Times New Roman"/>
                <a:ea typeface="Times New Roman"/>
                <a:cs typeface="Times New Roman"/>
                <a:sym typeface="Times New Roman"/>
              </a:defRPr>
            </a:pPr>
            <a:endParaRPr/>
          </a:p>
          <a:p>
            <a:pPr algn="just">
              <a:spcBef>
                <a:spcPts val="600"/>
              </a:spcBef>
              <a:defRPr sz="1800">
                <a:solidFill>
                  <a:srgbClr val="7030A0"/>
                </a:solidFill>
                <a:latin typeface="Times New Roman"/>
                <a:ea typeface="Times New Roman"/>
                <a:cs typeface="Times New Roman"/>
                <a:sym typeface="Times New Roman"/>
              </a:defRPr>
            </a:pPr>
            <a:r>
              <a:t>REATO COMUNE</a:t>
            </a:r>
            <a:r>
              <a:rPr b="0">
                <a:solidFill>
                  <a:srgbClr val="000000"/>
                </a:solidFill>
              </a:rPr>
              <a:t>, </a:t>
            </a:r>
            <a:r>
              <a:t>DI PERICOLO</a:t>
            </a:r>
            <a:r>
              <a:rPr b="0">
                <a:solidFill>
                  <a:srgbClr val="000000"/>
                </a:solidFill>
              </a:rPr>
              <a:t>, </a:t>
            </a:r>
            <a:r>
              <a:t>DI MERA CONDOTTA</a:t>
            </a:r>
            <a:r>
              <a:rPr b="0">
                <a:solidFill>
                  <a:srgbClr val="000000"/>
                </a:solidFill>
              </a:rPr>
              <a:t>.</a:t>
            </a:r>
          </a:p>
          <a:p>
            <a:pPr algn="just">
              <a:spcBef>
                <a:spcPts val="600"/>
              </a:spcBef>
              <a:defRPr sz="1800" b="0">
                <a:latin typeface="Times New Roman"/>
                <a:ea typeface="Times New Roman"/>
                <a:cs typeface="Times New Roman"/>
                <a:sym typeface="Times New Roman"/>
              </a:defRPr>
            </a:pPr>
            <a:r>
              <a:t>Si consuma nel momento in cui l'omissione viene realizzata e il tentativo non è ammissibile.</a:t>
            </a:r>
          </a:p>
          <a:p>
            <a:pPr algn="just">
              <a:spcBef>
                <a:spcPts val="600"/>
              </a:spcBef>
              <a:defRPr sz="2200" b="0">
                <a:latin typeface="Times New Roman"/>
                <a:ea typeface="Times New Roman"/>
                <a:cs typeface="Times New Roman"/>
                <a:sym typeface="Times New Roman"/>
              </a:defRPr>
            </a:pPr>
            <a:endParaRPr/>
          </a:p>
        </p:txBody>
      </p:sp>
      <p:sp>
        <p:nvSpPr>
          <p:cNvPr id="565"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Omissione di soccorso</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47</a:t>
            </a:fld>
            <a:endParaRPr/>
          </a:p>
        </p:txBody>
      </p:sp>
      <p:sp>
        <p:nvSpPr>
          <p:cNvPr id="568" name="CasellaDiTesto 13"/>
          <p:cNvSpPr txBox="1"/>
          <p:nvPr/>
        </p:nvSpPr>
        <p:spPr>
          <a:xfrm>
            <a:off x="153223" y="987106"/>
            <a:ext cx="8765545" cy="5998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400">
                <a:solidFill>
                  <a:srgbClr val="336600"/>
                </a:solidFill>
                <a:latin typeface="Times New Roman"/>
                <a:ea typeface="Times New Roman"/>
                <a:cs typeface="Times New Roman"/>
                <a:sym typeface="Times New Roman"/>
              </a:defRPr>
            </a:pPr>
            <a:r>
              <a:t>Art. 594 c.p. Ingiuria (depenalizzato)</a:t>
            </a:r>
          </a:p>
          <a:p>
            <a:pPr algn="just">
              <a:defRPr sz="2000" b="0" i="1">
                <a:latin typeface="Times New Roman"/>
                <a:ea typeface="Times New Roman"/>
                <a:cs typeface="Times New Roman"/>
                <a:sym typeface="Times New Roman"/>
              </a:defRPr>
            </a:pPr>
            <a:r>
              <a:t>«</a:t>
            </a:r>
            <a:r>
              <a:rPr sz="2200"/>
              <a:t>Chiunque </a:t>
            </a:r>
            <a:r>
              <a:rPr sz="2200" b="1">
                <a:solidFill>
                  <a:srgbClr val="336600"/>
                </a:solidFill>
              </a:rPr>
              <a:t>offende l'onore o il decoro di una persona presente </a:t>
            </a:r>
            <a:r>
              <a:rPr sz="2200"/>
              <a:t>è punito con la reclusione fino a sei mesi o con la multa fino a € 516.</a:t>
            </a:r>
          </a:p>
          <a:p>
            <a:pPr algn="just">
              <a:defRPr sz="2200" b="0" i="1">
                <a:latin typeface="Times New Roman"/>
                <a:ea typeface="Times New Roman"/>
                <a:cs typeface="Times New Roman"/>
                <a:sym typeface="Times New Roman"/>
              </a:defRPr>
            </a:pPr>
            <a:r>
              <a:t>Alla stessa pena soggiace chi commette il fatto </a:t>
            </a:r>
            <a:r>
              <a:rPr b="1"/>
              <a:t>mediante comunicazione telegrafica o telefonica, o con scritti o disegni</a:t>
            </a:r>
            <a:r>
              <a:t>, diretti alla persona offesa.</a:t>
            </a:r>
          </a:p>
          <a:p>
            <a:pPr algn="just">
              <a:defRPr sz="2200" b="0" i="1">
                <a:latin typeface="Times New Roman"/>
                <a:ea typeface="Times New Roman"/>
                <a:cs typeface="Times New Roman"/>
                <a:sym typeface="Times New Roman"/>
              </a:defRPr>
            </a:pPr>
            <a:r>
              <a:t>La pena è della reclusione fino a un anno o della multa fino a € 1.032, se l'offesa consiste </a:t>
            </a:r>
            <a:r>
              <a:rPr b="1"/>
              <a:t>nell'attribuzione di un fatto determinato</a:t>
            </a:r>
            <a:r>
              <a:t>.</a:t>
            </a:r>
          </a:p>
          <a:p>
            <a:pPr algn="just">
              <a:defRPr sz="2200" b="0" i="1">
                <a:latin typeface="Times New Roman"/>
                <a:ea typeface="Times New Roman"/>
                <a:cs typeface="Times New Roman"/>
                <a:sym typeface="Times New Roman"/>
              </a:defRPr>
            </a:pPr>
            <a:r>
              <a:t>Le pene sono aumentate qualora l'offesa sia </a:t>
            </a:r>
            <a:r>
              <a:rPr b="1"/>
              <a:t>commessa in presenza di più persone</a:t>
            </a:r>
            <a:r>
              <a:rPr i="0"/>
              <a:t>.»</a:t>
            </a:r>
          </a:p>
          <a:p>
            <a:pPr algn="just">
              <a:defRPr sz="2200" b="0" i="1">
                <a:latin typeface="Times New Roman"/>
                <a:ea typeface="Times New Roman"/>
                <a:cs typeface="Times New Roman"/>
                <a:sym typeface="Times New Roman"/>
              </a:defRPr>
            </a:pPr>
            <a:endParaRPr i="0"/>
          </a:p>
          <a:p>
            <a:pPr algn="just">
              <a:defRPr sz="2200" i="1">
                <a:solidFill>
                  <a:srgbClr val="FF0000"/>
                </a:solidFill>
                <a:latin typeface="Times New Roman"/>
                <a:ea typeface="Times New Roman"/>
                <a:cs typeface="Times New Roman"/>
                <a:sym typeface="Times New Roman"/>
              </a:defRPr>
            </a:pPr>
            <a:r>
              <a:t>*Articolo abrogato dall'art. 1, D.Lgs. 15 gennaio 2016, n. 7. V., ora, art. 4, comma 1, lett. a), D.Lgs. 7/2016 cit. </a:t>
            </a:r>
            <a:r>
              <a:rPr b="0"/>
              <a:t>che per la medesima fattispecie prevede la </a:t>
            </a:r>
            <a:r>
              <a:rPr u="sng"/>
              <a:t>sanzione pecuniaria civile da euro cento a euro ottomila</a:t>
            </a:r>
            <a:r>
              <a:rPr b="0"/>
              <a:t>. Se le offese sono reciproche, il giudice può non applicare la sanzione pecuniaria civile ad uno o ad entrambi gli offensori (comma 2). Non è sanzionabile chi ha commesso il fatto nello stato d'ira determinato da un fatto ingiusto altrui, e subito dopo di esso (comma 3).</a:t>
            </a:r>
          </a:p>
        </p:txBody>
      </p:sp>
      <p:sp>
        <p:nvSpPr>
          <p:cNvPr id="569"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Ingiuria (depenalizzato)</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48</a:t>
            </a:fld>
            <a:endParaRPr/>
          </a:p>
        </p:txBody>
      </p:sp>
      <p:sp>
        <p:nvSpPr>
          <p:cNvPr id="572" name="CasellaDiTesto 13"/>
          <p:cNvSpPr txBox="1"/>
          <p:nvPr/>
        </p:nvSpPr>
        <p:spPr>
          <a:xfrm>
            <a:off x="153223" y="987106"/>
            <a:ext cx="8765545" cy="5274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000" b="0">
                <a:latin typeface="Times New Roman"/>
                <a:ea typeface="Times New Roman"/>
                <a:cs typeface="Times New Roman"/>
                <a:sym typeface="Times New Roman"/>
              </a:defRPr>
            </a:pPr>
            <a:r>
              <a:t>L’interesse giuridico tutelato è </a:t>
            </a:r>
            <a:r>
              <a:rPr b="1">
                <a:solidFill>
                  <a:srgbClr val="336600"/>
                </a:solidFill>
              </a:rPr>
              <a:t>l’onore</a:t>
            </a:r>
            <a:r>
              <a:t> e il </a:t>
            </a:r>
            <a:r>
              <a:rPr b="1">
                <a:solidFill>
                  <a:srgbClr val="336600"/>
                </a:solidFill>
              </a:rPr>
              <a:t>decoro</a:t>
            </a:r>
            <a:r>
              <a:t> di una persona.</a:t>
            </a:r>
          </a:p>
          <a:p>
            <a:pPr marL="342900" indent="-342900" algn="just">
              <a:buSzPct val="100000"/>
              <a:buChar char="-"/>
              <a:defRPr sz="1800" b="0">
                <a:latin typeface="Times New Roman"/>
                <a:ea typeface="Times New Roman"/>
                <a:cs typeface="Times New Roman"/>
                <a:sym typeface="Times New Roman"/>
              </a:defRPr>
            </a:pPr>
            <a:r>
              <a:t>per </a:t>
            </a:r>
            <a:r>
              <a:rPr b="1">
                <a:solidFill>
                  <a:srgbClr val="336600"/>
                </a:solidFill>
              </a:rPr>
              <a:t>ONORE</a:t>
            </a:r>
            <a:r>
              <a:t> deve intendersi il complesso delle condizioni da cui dipende il valore sociale della persona e quindi la </a:t>
            </a:r>
            <a:r>
              <a:rPr>
                <a:solidFill>
                  <a:srgbClr val="FF3300"/>
                </a:solidFill>
              </a:rPr>
              <a:t>sua reputazione agli occhi della collettività </a:t>
            </a:r>
            <a:r>
              <a:t>(</a:t>
            </a:r>
            <a:r>
              <a:rPr b="1"/>
              <a:t>riflesso oggettivo</a:t>
            </a:r>
            <a:r>
              <a:t>);</a:t>
            </a:r>
          </a:p>
          <a:p>
            <a:pPr marL="342900" indent="-342900" algn="just">
              <a:buSzPct val="100000"/>
              <a:buChar char="-"/>
              <a:defRPr sz="1800" b="0">
                <a:latin typeface="Times New Roman"/>
                <a:ea typeface="Times New Roman"/>
                <a:cs typeface="Times New Roman"/>
                <a:sym typeface="Times New Roman"/>
              </a:defRPr>
            </a:pPr>
            <a:r>
              <a:t>per </a:t>
            </a:r>
            <a:r>
              <a:rPr b="1">
                <a:solidFill>
                  <a:srgbClr val="336600"/>
                </a:solidFill>
              </a:rPr>
              <a:t>DECORO</a:t>
            </a:r>
            <a:r>
              <a:t> deve intendersi l’insieme delle doti fisiche, intellettuali e sociali che il soggetto si auto-riconosce e che determinano </a:t>
            </a:r>
            <a:r>
              <a:rPr>
                <a:solidFill>
                  <a:srgbClr val="FF3300"/>
                </a:solidFill>
              </a:rPr>
              <a:t>la sua concezione del proprio valore sociale </a:t>
            </a:r>
            <a:r>
              <a:t>(</a:t>
            </a:r>
            <a:r>
              <a:rPr b="1"/>
              <a:t>riflesso soggettivo</a:t>
            </a:r>
            <a:r>
              <a:t>).</a:t>
            </a:r>
          </a:p>
          <a:p>
            <a:pPr algn="just">
              <a:defRPr sz="800" b="0">
                <a:latin typeface="Times New Roman"/>
                <a:ea typeface="Times New Roman"/>
                <a:cs typeface="Times New Roman"/>
                <a:sym typeface="Times New Roman"/>
              </a:defRPr>
            </a:pPr>
            <a:endParaRPr/>
          </a:p>
          <a:p>
            <a:pPr algn="just">
              <a:defRPr sz="2000" u="sng">
                <a:solidFill>
                  <a:srgbClr val="336600"/>
                </a:solidFill>
                <a:latin typeface="Times New Roman"/>
                <a:ea typeface="Times New Roman"/>
                <a:cs typeface="Times New Roman"/>
                <a:sym typeface="Times New Roman"/>
              </a:defRPr>
            </a:pPr>
            <a:r>
              <a:t>ELEMENTO OGGETTIVO</a:t>
            </a:r>
            <a:r>
              <a:rPr b="0" u="none">
                <a:solidFill>
                  <a:srgbClr val="000000"/>
                </a:solidFill>
              </a:rPr>
              <a:t>: si sanziona</a:t>
            </a:r>
          </a:p>
          <a:p>
            <a:pPr marL="342900" indent="-342900" algn="just">
              <a:buSzPct val="100000"/>
              <a:buChar char="-"/>
              <a:defRPr sz="2000">
                <a:solidFill>
                  <a:srgbClr val="336600"/>
                </a:solidFill>
                <a:latin typeface="Times New Roman"/>
                <a:ea typeface="Times New Roman"/>
                <a:cs typeface="Times New Roman"/>
                <a:sym typeface="Times New Roman"/>
              </a:defRPr>
            </a:pPr>
            <a:r>
              <a:t>offesa all’onore e al decoro </a:t>
            </a:r>
            <a:r>
              <a:rPr b="0">
                <a:solidFill>
                  <a:srgbClr val="000000"/>
                </a:solidFill>
              </a:rPr>
              <a:t>di una persona presente (REATO A FORMA LIBERA);</a:t>
            </a:r>
          </a:p>
          <a:p>
            <a:pPr marL="342900" indent="-342900" algn="just">
              <a:buSzPct val="100000"/>
              <a:buChar char="-"/>
              <a:defRPr sz="2000" b="0">
                <a:solidFill>
                  <a:srgbClr val="FF3300"/>
                </a:solidFill>
                <a:latin typeface="Times New Roman"/>
                <a:ea typeface="Times New Roman"/>
                <a:cs typeface="Times New Roman"/>
                <a:sym typeface="Times New Roman"/>
              </a:defRPr>
            </a:pPr>
            <a:r>
              <a:t>presenza del soggetto passivo</a:t>
            </a:r>
            <a:r>
              <a:rPr>
                <a:solidFill>
                  <a:srgbClr val="000000"/>
                </a:solidFill>
              </a:rPr>
              <a:t>, che sussiste in caso di contiguità spaziale-materiale implicante la reciproca visione e audizione tra offeso e offensore.</a:t>
            </a:r>
          </a:p>
          <a:p>
            <a:pPr algn="just">
              <a:defRPr sz="800" b="0">
                <a:latin typeface="Times New Roman"/>
                <a:ea typeface="Times New Roman"/>
                <a:cs typeface="Times New Roman"/>
                <a:sym typeface="Times New Roman"/>
              </a:defRPr>
            </a:pPr>
            <a:endParaRPr>
              <a:solidFill>
                <a:srgbClr val="000000"/>
              </a:solidFill>
            </a:endParaRPr>
          </a:p>
          <a:p>
            <a:pPr algn="just">
              <a:defRPr sz="2000" b="0">
                <a:latin typeface="Times New Roman"/>
                <a:ea typeface="Times New Roman"/>
                <a:cs typeface="Times New Roman"/>
                <a:sym typeface="Times New Roman"/>
              </a:defRPr>
            </a:pPr>
            <a:r>
              <a:t>Ciò che importa è che la parte offesa abbia una </a:t>
            </a:r>
            <a:r>
              <a:rPr b="1">
                <a:solidFill>
                  <a:srgbClr val="CC00CC"/>
                </a:solidFill>
              </a:rPr>
              <a:t>percezione diretta del contenuto ingiurioso</a:t>
            </a:r>
            <a:r>
              <a:t>, perché presente o a lei direttamente rivolto. Proprio questo è il fondamentale elemento di discrimine rispetto al delitto di diffamazione, in relazione al quale, come vedremo, la parte lesa non è in condizione di rispondere prontamente alle offese rivoltele perché non presente o comunque ignara.</a:t>
            </a:r>
          </a:p>
          <a:p>
            <a:pPr algn="just">
              <a:defRPr sz="900" b="0">
                <a:latin typeface="Times New Roman"/>
                <a:ea typeface="Times New Roman"/>
                <a:cs typeface="Times New Roman"/>
                <a:sym typeface="Times New Roman"/>
              </a:defRPr>
            </a:pPr>
            <a:endParaRPr/>
          </a:p>
          <a:p>
            <a:pPr algn="just">
              <a:defRPr sz="2000" u="sng">
                <a:solidFill>
                  <a:srgbClr val="336600"/>
                </a:solidFill>
                <a:latin typeface="Times New Roman"/>
                <a:ea typeface="Times New Roman"/>
                <a:cs typeface="Times New Roman"/>
                <a:sym typeface="Times New Roman"/>
              </a:defRPr>
            </a:pPr>
            <a:r>
              <a:t>ELEMENTO SOGGETTIVO</a:t>
            </a:r>
            <a:r>
              <a:rPr u="none"/>
              <a:t>: DOLO GENERICO</a:t>
            </a:r>
          </a:p>
        </p:txBody>
      </p:sp>
      <p:sp>
        <p:nvSpPr>
          <p:cNvPr id="573"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Ingiuria (depenalizzato)</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49</a:t>
            </a:fld>
            <a:endParaRPr/>
          </a:p>
        </p:txBody>
      </p:sp>
      <p:sp>
        <p:nvSpPr>
          <p:cNvPr id="576" name="CasellaDiTesto 13"/>
          <p:cNvSpPr txBox="1"/>
          <p:nvPr/>
        </p:nvSpPr>
        <p:spPr>
          <a:xfrm>
            <a:off x="225231" y="890131"/>
            <a:ext cx="8693537" cy="4258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400">
                <a:solidFill>
                  <a:srgbClr val="009900"/>
                </a:solidFill>
                <a:latin typeface="Times New Roman"/>
                <a:ea typeface="Times New Roman"/>
                <a:cs typeface="Times New Roman"/>
                <a:sym typeface="Times New Roman"/>
              </a:defRPr>
            </a:pPr>
            <a:r>
              <a:t>Art. 595 c.p. Diffamazione</a:t>
            </a:r>
          </a:p>
          <a:p>
            <a:pPr algn="just">
              <a:defRPr sz="2100" b="0">
                <a:latin typeface="Times New Roman"/>
                <a:ea typeface="Times New Roman"/>
                <a:cs typeface="Times New Roman"/>
                <a:sym typeface="Times New Roman"/>
              </a:defRPr>
            </a:pPr>
            <a:r>
              <a:t>«</a:t>
            </a:r>
            <a:r>
              <a:rPr i="1"/>
              <a:t>Chiunque, fuori dei casi indicati nell'articolo precedente, </a:t>
            </a:r>
            <a:r>
              <a:rPr b="1" i="1">
                <a:solidFill>
                  <a:srgbClr val="009900"/>
                </a:solidFill>
              </a:rPr>
              <a:t>comunicando</a:t>
            </a:r>
            <a:r>
              <a:rPr b="1" i="1">
                <a:solidFill>
                  <a:srgbClr val="336600"/>
                </a:solidFill>
              </a:rPr>
              <a:t> </a:t>
            </a:r>
            <a:r>
              <a:rPr b="1" i="1">
                <a:solidFill>
                  <a:srgbClr val="009900"/>
                </a:solidFill>
              </a:rPr>
              <a:t>con più persone</a:t>
            </a:r>
            <a:r>
              <a:rPr i="1"/>
              <a:t>, </a:t>
            </a:r>
            <a:r>
              <a:rPr b="1" i="1"/>
              <a:t>offende l'altrui </a:t>
            </a:r>
            <a:r>
              <a:rPr b="1" i="1">
                <a:solidFill>
                  <a:srgbClr val="009900"/>
                </a:solidFill>
              </a:rPr>
              <a:t>reputazione</a:t>
            </a:r>
            <a:r>
              <a:rPr i="1"/>
              <a:t>, è punito con la reclusione fino a un anno o con la multa fino a euro 1.032.</a:t>
            </a:r>
          </a:p>
          <a:p>
            <a:pPr algn="just">
              <a:defRPr sz="800" b="0" i="1">
                <a:latin typeface="Times New Roman"/>
                <a:ea typeface="Times New Roman"/>
                <a:cs typeface="Times New Roman"/>
                <a:sym typeface="Times New Roman"/>
              </a:defRPr>
            </a:pPr>
            <a:endParaRPr i="1"/>
          </a:p>
          <a:p>
            <a:pPr algn="just">
              <a:defRPr sz="2100" b="0" i="1">
                <a:latin typeface="Times New Roman"/>
                <a:ea typeface="Times New Roman"/>
                <a:cs typeface="Times New Roman"/>
                <a:sym typeface="Times New Roman"/>
              </a:defRPr>
            </a:pPr>
            <a:r>
              <a:t>Se l'offesa consiste </a:t>
            </a:r>
            <a:r>
              <a:rPr b="1" u="sng">
                <a:solidFill>
                  <a:srgbClr val="CC00CC"/>
                </a:solidFill>
              </a:rPr>
              <a:t>nell'attribuzione di un fatto determinato</a:t>
            </a:r>
            <a:r>
              <a:t>, la pena è della reclusione fino a due anni, ovvero della multa fino a euro 2.065.</a:t>
            </a:r>
          </a:p>
          <a:p>
            <a:pPr algn="just">
              <a:defRPr sz="800" b="0" i="1">
                <a:latin typeface="Times New Roman"/>
                <a:ea typeface="Times New Roman"/>
                <a:cs typeface="Times New Roman"/>
                <a:sym typeface="Times New Roman"/>
              </a:defRPr>
            </a:pPr>
            <a:endParaRPr/>
          </a:p>
          <a:p>
            <a:pPr algn="just">
              <a:defRPr sz="2100" b="0" i="1">
                <a:latin typeface="Times New Roman"/>
                <a:ea typeface="Times New Roman"/>
                <a:cs typeface="Times New Roman"/>
                <a:sym typeface="Times New Roman"/>
              </a:defRPr>
            </a:pPr>
            <a:r>
              <a:t>Se l'offesa è recata </a:t>
            </a:r>
            <a:r>
              <a:rPr u="sng"/>
              <a:t>col </a:t>
            </a:r>
            <a:r>
              <a:rPr u="sng">
                <a:solidFill>
                  <a:srgbClr val="FF0000"/>
                </a:solidFill>
              </a:rPr>
              <a:t>mezzo della </a:t>
            </a:r>
            <a:r>
              <a:rPr b="1" u="sng">
                <a:solidFill>
                  <a:srgbClr val="FF0000"/>
                </a:solidFill>
              </a:rPr>
              <a:t>stampa</a:t>
            </a:r>
            <a:r>
              <a:rPr u="sng">
                <a:solidFill>
                  <a:srgbClr val="FF0000"/>
                </a:solidFill>
              </a:rPr>
              <a:t> </a:t>
            </a:r>
            <a:r>
              <a:t>o con qualsiasi altro mezzo di </a:t>
            </a:r>
            <a:r>
              <a:rPr b="1" u="sng">
                <a:solidFill>
                  <a:srgbClr val="FF0000"/>
                </a:solidFill>
              </a:rPr>
              <a:t>pubblicità</a:t>
            </a:r>
            <a:r>
              <a:t>, ovvero </a:t>
            </a:r>
            <a:r>
              <a:rPr u="sng">
                <a:solidFill>
                  <a:srgbClr val="FF0000"/>
                </a:solidFill>
              </a:rPr>
              <a:t>in </a:t>
            </a:r>
            <a:r>
              <a:rPr b="1" u="sng">
                <a:solidFill>
                  <a:srgbClr val="FF0000"/>
                </a:solidFill>
              </a:rPr>
              <a:t>atto pubblico</a:t>
            </a:r>
            <a:r>
              <a:t>, la pena è della reclusione da sei mesi a tre anni o della multa non inferiore a euro 516. </a:t>
            </a:r>
          </a:p>
          <a:p>
            <a:pPr algn="just">
              <a:defRPr sz="800" b="0" i="1">
                <a:latin typeface="Times New Roman"/>
                <a:ea typeface="Times New Roman"/>
                <a:cs typeface="Times New Roman"/>
                <a:sym typeface="Times New Roman"/>
              </a:defRPr>
            </a:pPr>
            <a:endParaRPr/>
          </a:p>
          <a:p>
            <a:pPr algn="just">
              <a:defRPr sz="2100" b="0" i="1">
                <a:latin typeface="Times New Roman"/>
                <a:ea typeface="Times New Roman"/>
                <a:cs typeface="Times New Roman"/>
                <a:sym typeface="Times New Roman"/>
              </a:defRPr>
            </a:pPr>
            <a:r>
              <a:t>Se l'offesa è recata a un </a:t>
            </a:r>
            <a:r>
              <a:rPr b="1" u="sng">
                <a:solidFill>
                  <a:srgbClr val="00B0F0"/>
                </a:solidFill>
              </a:rPr>
              <a:t>Corpo politico, amministrativo o giudiziario</a:t>
            </a:r>
            <a:r>
              <a:t>, </a:t>
            </a:r>
            <a:r>
              <a:rPr>
                <a:solidFill>
                  <a:srgbClr val="00B0F0"/>
                </a:solidFill>
              </a:rPr>
              <a:t>o ad una sua </a:t>
            </a:r>
            <a:r>
              <a:rPr b="1">
                <a:solidFill>
                  <a:srgbClr val="00B0F0"/>
                </a:solidFill>
              </a:rPr>
              <a:t>rappresentanza</a:t>
            </a:r>
            <a:r>
              <a:rPr>
                <a:solidFill>
                  <a:srgbClr val="00B0F0"/>
                </a:solidFill>
              </a:rPr>
              <a:t> o ad una </a:t>
            </a:r>
            <a:r>
              <a:rPr b="1">
                <a:solidFill>
                  <a:srgbClr val="00B0F0"/>
                </a:solidFill>
              </a:rPr>
              <a:t>autorità costituita in collegio</a:t>
            </a:r>
            <a:r>
              <a:t>, le pene sono aumentate</a:t>
            </a:r>
            <a:r>
              <a:rPr i="0"/>
              <a:t>.»</a:t>
            </a:r>
          </a:p>
        </p:txBody>
      </p:sp>
      <p:sp>
        <p:nvSpPr>
          <p:cNvPr id="577"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Diffamazione</a:t>
            </a:r>
          </a:p>
        </p:txBody>
      </p:sp>
      <p:sp>
        <p:nvSpPr>
          <p:cNvPr id="578" name="Rettangolo 6"/>
          <p:cNvSpPr/>
          <p:nvPr/>
        </p:nvSpPr>
        <p:spPr>
          <a:xfrm>
            <a:off x="3203849" y="4869160"/>
            <a:ext cx="5040561" cy="1871347"/>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14000"/>
              </a:lnSpc>
              <a:defRPr sz="18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1800" b="0">
                <a:latin typeface="Times New Roman"/>
                <a:ea typeface="Times New Roman"/>
                <a:cs typeface="Times New Roman"/>
                <a:sym typeface="Times New Roman"/>
              </a:defRPr>
            </a:pPr>
            <a:r>
              <a:t>Competenza: comma1 Giudice di Pace;</a:t>
            </a:r>
          </a:p>
          <a:p>
            <a:pPr indent="1435100" algn="just">
              <a:lnSpc>
                <a:spcPct val="114000"/>
              </a:lnSpc>
              <a:defRPr sz="1800" b="0">
                <a:latin typeface="Times New Roman"/>
                <a:ea typeface="Times New Roman"/>
                <a:cs typeface="Times New Roman"/>
                <a:sym typeface="Times New Roman"/>
              </a:defRPr>
            </a:pPr>
            <a:r>
              <a:t>comma 2 Tribunale Monocratico; </a:t>
            </a:r>
          </a:p>
          <a:p>
            <a:pPr marL="171450" indent="-171450" algn="just">
              <a:lnSpc>
                <a:spcPct val="114000"/>
              </a:lnSpc>
              <a:buSzPct val="100000"/>
              <a:buFont typeface="Arial"/>
              <a:buChar char="•"/>
              <a:defRPr sz="1800" b="0">
                <a:latin typeface="Times New Roman"/>
                <a:ea typeface="Times New Roman"/>
                <a:cs typeface="Times New Roman"/>
                <a:sym typeface="Times New Roman"/>
              </a:defRPr>
            </a:pPr>
            <a:r>
              <a:t>Arresto non consentito</a:t>
            </a:r>
          </a:p>
          <a:p>
            <a:pPr marL="171450" indent="-171450" algn="just">
              <a:lnSpc>
                <a:spcPct val="114000"/>
              </a:lnSpc>
              <a:buSzPct val="100000"/>
              <a:buFont typeface="Arial"/>
              <a:buChar char="•"/>
              <a:defRPr sz="1800" b="0">
                <a:latin typeface="Times New Roman"/>
                <a:ea typeface="Times New Roman"/>
                <a:cs typeface="Times New Roman"/>
                <a:sym typeface="Times New Roman"/>
              </a:defRPr>
            </a:pPr>
            <a:r>
              <a:t>Fermo non consentito</a:t>
            </a:r>
          </a:p>
          <a:p>
            <a:pPr marL="171450" indent="-171450" algn="just">
              <a:lnSpc>
                <a:spcPct val="114000"/>
              </a:lnSpc>
              <a:buSzPct val="100000"/>
              <a:buFont typeface="Arial"/>
              <a:buChar char="•"/>
              <a:defRPr sz="1800" b="0">
                <a:latin typeface="Times New Roman"/>
                <a:ea typeface="Times New Roman"/>
                <a:cs typeface="Times New Roman"/>
                <a:sym typeface="Times New Roman"/>
              </a:defRPr>
            </a:pPr>
            <a:r>
              <a:t>Procedibilità a querela</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50</a:t>
            </a:fld>
            <a:endParaRPr/>
          </a:p>
        </p:txBody>
      </p:sp>
      <p:sp>
        <p:nvSpPr>
          <p:cNvPr id="581" name="CasellaDiTesto 13"/>
          <p:cNvSpPr txBox="1"/>
          <p:nvPr/>
        </p:nvSpPr>
        <p:spPr>
          <a:xfrm>
            <a:off x="225231" y="1124744"/>
            <a:ext cx="8693537" cy="5375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b="0">
                <a:latin typeface="Times New Roman"/>
                <a:ea typeface="Times New Roman"/>
                <a:cs typeface="Times New Roman"/>
                <a:sym typeface="Times New Roman"/>
              </a:defRPr>
            </a:pPr>
            <a:r>
              <a:t>L'interesse tutelato è la </a:t>
            </a:r>
            <a:r>
              <a:rPr b="1">
                <a:solidFill>
                  <a:srgbClr val="009900"/>
                </a:solidFill>
              </a:rPr>
              <a:t>REPUTAZIONE</a:t>
            </a:r>
            <a:r>
              <a:t>, intesa come corollario dell'onore e come senso di dignità e rispetto che una persona suscita all'interno della comunità sociale.</a:t>
            </a:r>
          </a:p>
          <a:p>
            <a:pPr algn="just">
              <a:defRPr sz="800" b="0">
                <a:latin typeface="Times New Roman"/>
                <a:ea typeface="Times New Roman"/>
                <a:cs typeface="Times New Roman"/>
                <a:sym typeface="Times New Roman"/>
              </a:defRPr>
            </a:pPr>
            <a:endParaRPr/>
          </a:p>
          <a:p>
            <a:pPr algn="just">
              <a:defRPr sz="2200" u="sng">
                <a:solidFill>
                  <a:srgbClr val="009900"/>
                </a:solidFill>
                <a:latin typeface="Times New Roman"/>
                <a:ea typeface="Times New Roman"/>
                <a:cs typeface="Times New Roman"/>
                <a:sym typeface="Times New Roman"/>
              </a:defRPr>
            </a:pPr>
            <a:r>
              <a:t>ELEMENTO OGGETTIVO</a:t>
            </a:r>
            <a:r>
              <a:rPr b="0" u="none">
                <a:solidFill>
                  <a:srgbClr val="000000"/>
                </a:solidFill>
              </a:rPr>
              <a:t>: consiste in una condotta che si sostanzia nell'</a:t>
            </a:r>
            <a:r>
              <a:rPr u="none"/>
              <a:t>offendere </a:t>
            </a:r>
            <a:r>
              <a:rPr b="0" u="none">
                <a:solidFill>
                  <a:srgbClr val="000000"/>
                </a:solidFill>
              </a:rPr>
              <a:t>la reputazione altrui davanti ad almeno 2 persone ed </a:t>
            </a:r>
            <a:r>
              <a:rPr u="none"/>
              <a:t>in assenza del soggetto </a:t>
            </a:r>
            <a:r>
              <a:rPr b="0" u="none">
                <a:solidFill>
                  <a:srgbClr val="000000"/>
                </a:solidFill>
              </a:rPr>
              <a:t>nei confronti del quale viene pronunciata l'espressione diffamatoria.</a:t>
            </a:r>
          </a:p>
          <a:p>
            <a:pPr algn="just">
              <a:defRPr sz="800" b="0">
                <a:latin typeface="Times New Roman"/>
                <a:ea typeface="Times New Roman"/>
                <a:cs typeface="Times New Roman"/>
                <a:sym typeface="Times New Roman"/>
              </a:defRPr>
            </a:pPr>
            <a:endParaRPr b="0" u="none">
              <a:solidFill>
                <a:srgbClr val="000000"/>
              </a:solidFill>
            </a:endParaRPr>
          </a:p>
          <a:p>
            <a:pPr algn="just">
              <a:defRPr sz="2200" b="0">
                <a:latin typeface="Times New Roman"/>
                <a:ea typeface="Times New Roman"/>
                <a:cs typeface="Times New Roman"/>
                <a:sym typeface="Times New Roman"/>
              </a:defRPr>
            </a:pPr>
            <a:r>
              <a:t>Perché sia configurabile il reato in esame occorrono tre requisiti:</a:t>
            </a:r>
          </a:p>
          <a:p>
            <a:pPr marL="342900" indent="-342900" algn="just">
              <a:buSzPct val="100000"/>
              <a:buChar char="-"/>
              <a:defRPr sz="2200" b="0">
                <a:latin typeface="Times New Roman"/>
                <a:ea typeface="Times New Roman"/>
                <a:cs typeface="Times New Roman"/>
                <a:sym typeface="Times New Roman"/>
              </a:defRPr>
            </a:pPr>
            <a:r>
              <a:t>l’assenza dell’offeso;</a:t>
            </a:r>
          </a:p>
          <a:p>
            <a:pPr marL="342900" indent="-342900" algn="just">
              <a:buSzPct val="100000"/>
              <a:buChar char="-"/>
              <a:defRPr sz="2200" b="0">
                <a:latin typeface="Times New Roman"/>
                <a:ea typeface="Times New Roman"/>
                <a:cs typeface="Times New Roman"/>
                <a:sym typeface="Times New Roman"/>
              </a:defRPr>
            </a:pPr>
            <a:r>
              <a:t>l’offesa dell’altrui reputazione;</a:t>
            </a:r>
          </a:p>
          <a:p>
            <a:pPr marL="342900" indent="-342900" algn="just">
              <a:buSzPct val="100000"/>
              <a:buChar char="-"/>
              <a:defRPr sz="2200" b="0">
                <a:latin typeface="Times New Roman"/>
                <a:ea typeface="Times New Roman"/>
                <a:cs typeface="Times New Roman"/>
                <a:sym typeface="Times New Roman"/>
              </a:defRPr>
            </a:pPr>
            <a:r>
              <a:t>la comunicazione a più persone (almeno 2, anche non in contemporanea).</a:t>
            </a:r>
          </a:p>
          <a:p>
            <a:pPr algn="just">
              <a:defRPr sz="800" b="0">
                <a:latin typeface="Times New Roman"/>
                <a:ea typeface="Times New Roman"/>
                <a:cs typeface="Times New Roman"/>
                <a:sym typeface="Times New Roman"/>
              </a:defRPr>
            </a:pPr>
            <a:endParaRPr/>
          </a:p>
          <a:p>
            <a:pPr algn="just">
              <a:defRPr sz="2200" u="sng">
                <a:solidFill>
                  <a:srgbClr val="009900"/>
                </a:solidFill>
                <a:latin typeface="Times New Roman"/>
                <a:ea typeface="Times New Roman"/>
                <a:cs typeface="Times New Roman"/>
                <a:sym typeface="Times New Roman"/>
              </a:defRPr>
            </a:pPr>
            <a:r>
              <a:t>ELEMENTO SOGGETTIVO</a:t>
            </a:r>
            <a:r>
              <a:rPr b="0" u="none">
                <a:solidFill>
                  <a:srgbClr val="000000"/>
                </a:solidFill>
              </a:rPr>
              <a:t> è il </a:t>
            </a:r>
            <a:r>
              <a:rPr u="none"/>
              <a:t>DOLO GENERICO</a:t>
            </a:r>
            <a:r>
              <a:rPr b="0" u="none">
                <a:solidFill>
                  <a:srgbClr val="000000"/>
                </a:solidFill>
              </a:rPr>
              <a:t>, cioè la coscienza e la volontà dell'agente di adoperare espressioni offensive, con la consapevolezza del discredito che da tale condotta possa derivare per l'altrui reputazione.</a:t>
            </a:r>
          </a:p>
        </p:txBody>
      </p:sp>
      <p:sp>
        <p:nvSpPr>
          <p:cNvPr id="582"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Diffamazione</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51</a:t>
            </a:fld>
            <a:endParaRPr/>
          </a:p>
        </p:txBody>
      </p:sp>
      <p:sp>
        <p:nvSpPr>
          <p:cNvPr id="585" name="CasellaDiTesto 13"/>
          <p:cNvSpPr txBox="1"/>
          <p:nvPr/>
        </p:nvSpPr>
        <p:spPr>
          <a:xfrm>
            <a:off x="225231" y="1124744"/>
            <a:ext cx="8693537" cy="53119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b="0">
                <a:latin typeface="Times New Roman"/>
                <a:ea typeface="Times New Roman"/>
                <a:cs typeface="Times New Roman"/>
                <a:sym typeface="Times New Roman"/>
              </a:defRPr>
            </a:pPr>
            <a:r>
              <a:t>Costituisce </a:t>
            </a:r>
            <a:r>
              <a:rPr b="1">
                <a:solidFill>
                  <a:srgbClr val="009900"/>
                </a:solidFill>
              </a:rPr>
              <a:t>circostanza aggravante</a:t>
            </a:r>
            <a:r>
              <a:t>:</a:t>
            </a:r>
          </a:p>
          <a:p>
            <a:pPr marL="342900" indent="-342900" algn="just">
              <a:buSzPct val="100000"/>
              <a:buChar char="-"/>
              <a:defRPr sz="2200" b="0">
                <a:latin typeface="Times New Roman"/>
                <a:ea typeface="Times New Roman"/>
                <a:cs typeface="Times New Roman"/>
                <a:sym typeface="Times New Roman"/>
              </a:defRPr>
            </a:pPr>
            <a:r>
              <a:t>l'aver attribuito un fatto determinato;</a:t>
            </a:r>
          </a:p>
          <a:p>
            <a:pPr marL="342900" indent="-342900" algn="just">
              <a:buSzPct val="100000"/>
              <a:buChar char="-"/>
              <a:defRPr sz="2200" b="0">
                <a:latin typeface="Times New Roman"/>
                <a:ea typeface="Times New Roman"/>
                <a:cs typeface="Times New Roman"/>
                <a:sym typeface="Times New Roman"/>
              </a:defRPr>
            </a:pPr>
            <a:r>
              <a:t>l'aver commesso il reato col mezzo della stampa o con qualunque altro mezzo di pubblicità;</a:t>
            </a:r>
          </a:p>
          <a:p>
            <a:pPr marL="342900" indent="-342900" algn="just">
              <a:buSzPct val="100000"/>
              <a:buChar char="-"/>
              <a:defRPr sz="2200" b="0">
                <a:latin typeface="Times New Roman"/>
                <a:ea typeface="Times New Roman"/>
                <a:cs typeface="Times New Roman"/>
                <a:sym typeface="Times New Roman"/>
              </a:defRPr>
            </a:pPr>
            <a:r>
              <a:t>l'aver commesso il fatto in un atto pubblico.</a:t>
            </a:r>
          </a:p>
          <a:p>
            <a:pPr algn="just">
              <a:defRPr sz="10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È un </a:t>
            </a:r>
            <a:r>
              <a:rPr b="1">
                <a:solidFill>
                  <a:srgbClr val="009900"/>
                </a:solidFill>
              </a:rPr>
              <a:t>REATO COMUNE, DI MERA CONDOTTA</a:t>
            </a:r>
            <a:r>
              <a:t>, perché si perfeziona con la semplice esecuzione dell'azione illecita, </a:t>
            </a:r>
            <a:r>
              <a:rPr b="1">
                <a:solidFill>
                  <a:srgbClr val="009900"/>
                </a:solidFill>
              </a:rPr>
              <a:t>A FORMA LIBERA</a:t>
            </a:r>
            <a:r>
              <a:t>, perché può essere compiuto con qualunque condotta idonea al raggiungimento dello scopo.</a:t>
            </a:r>
          </a:p>
          <a:p>
            <a:pPr algn="just">
              <a:defRPr sz="10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Si consuma nel momento in cui l'offesa viene percepita da almeno due persone e, secondo l'orientamento prevalente:</a:t>
            </a:r>
          </a:p>
          <a:p>
            <a:pPr marL="342900" indent="-342900" algn="just">
              <a:buSzPct val="100000"/>
              <a:buChar char="-"/>
              <a:defRPr sz="2200" b="0">
                <a:latin typeface="Times New Roman"/>
                <a:ea typeface="Times New Roman"/>
                <a:cs typeface="Times New Roman"/>
                <a:sym typeface="Times New Roman"/>
              </a:defRPr>
            </a:pPr>
            <a:r>
              <a:t>il </a:t>
            </a:r>
            <a:r>
              <a:rPr b="1" u="sng"/>
              <a:t>tentativo non è ipotizzabile</a:t>
            </a:r>
            <a:r>
              <a:rPr b="1"/>
              <a:t> </a:t>
            </a:r>
            <a:r>
              <a:t>nelle ipotesi di diffamazione verbale;</a:t>
            </a:r>
          </a:p>
          <a:p>
            <a:pPr marL="342900" indent="-342900" algn="just">
              <a:buSzPct val="100000"/>
              <a:buChar char="-"/>
              <a:defRPr sz="2200" u="sng">
                <a:latin typeface="Times New Roman"/>
                <a:ea typeface="Times New Roman"/>
                <a:cs typeface="Times New Roman"/>
                <a:sym typeface="Times New Roman"/>
              </a:defRPr>
            </a:pPr>
            <a:r>
              <a:t>è ipotizzabile </a:t>
            </a:r>
            <a:r>
              <a:rPr b="0" u="none"/>
              <a:t>nel caso di tentativo di diffamazione in forma scritta o con condotta frazionata.</a:t>
            </a:r>
          </a:p>
          <a:p>
            <a:pPr marL="342900" indent="-342900" algn="just">
              <a:buSzPct val="100000"/>
              <a:buChar char="-"/>
              <a:defRPr sz="2200" b="0">
                <a:latin typeface="Times New Roman"/>
                <a:ea typeface="Times New Roman"/>
                <a:cs typeface="Times New Roman"/>
                <a:sym typeface="Times New Roman"/>
              </a:defRPr>
            </a:pPr>
            <a:r>
              <a:t>Anche via </a:t>
            </a:r>
            <a:r>
              <a:rPr b="1"/>
              <a:t>WEB</a:t>
            </a:r>
            <a:r>
              <a:t> o attraverso la </a:t>
            </a:r>
            <a:r>
              <a:rPr b="1"/>
              <a:t>stampa</a:t>
            </a:r>
            <a:r>
              <a:t>, ma attenzione al </a:t>
            </a:r>
            <a:r>
              <a:rPr u="sng"/>
              <a:t>momento</a:t>
            </a:r>
          </a:p>
        </p:txBody>
      </p:sp>
      <p:sp>
        <p:nvSpPr>
          <p:cNvPr id="586"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Diffamazione</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52</a:t>
            </a:fld>
            <a:endParaRPr/>
          </a:p>
        </p:txBody>
      </p:sp>
      <p:sp>
        <p:nvSpPr>
          <p:cNvPr id="589" name="CasellaDiTesto 8"/>
          <p:cNvSpPr txBox="1"/>
          <p:nvPr/>
        </p:nvSpPr>
        <p:spPr>
          <a:xfrm>
            <a:off x="153223" y="844252"/>
            <a:ext cx="8837553" cy="52484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339966"/>
                </a:solidFill>
                <a:latin typeface="Times New Roman"/>
                <a:ea typeface="Times New Roman"/>
                <a:cs typeface="Times New Roman"/>
                <a:sym typeface="Times New Roman"/>
              </a:defRPr>
            </a:pPr>
            <a:r>
              <a:t>Art. 605 c.p. Sequestro di persona</a:t>
            </a:r>
          </a:p>
          <a:p>
            <a:pPr algn="just">
              <a:spcBef>
                <a:spcPts val="600"/>
              </a:spcBef>
              <a:defRPr sz="2200" b="0">
                <a:latin typeface="Times New Roman"/>
                <a:ea typeface="Times New Roman"/>
                <a:cs typeface="Times New Roman"/>
                <a:sym typeface="Times New Roman"/>
              </a:defRPr>
            </a:pPr>
            <a:r>
              <a:t>«</a:t>
            </a:r>
            <a:r>
              <a:rPr i="1"/>
              <a:t>Chiunque </a:t>
            </a:r>
            <a:r>
              <a:rPr b="1" i="1">
                <a:solidFill>
                  <a:srgbClr val="339966"/>
                </a:solidFill>
              </a:rPr>
              <a:t>priva taluno della libertà personale </a:t>
            </a:r>
            <a:r>
              <a:rPr i="1"/>
              <a:t>è punito con la reclusione </a:t>
            </a:r>
            <a:r>
              <a:rPr b="1" i="1"/>
              <a:t>da sei mesi a otto anni</a:t>
            </a:r>
            <a:r>
              <a:rPr i="1"/>
              <a:t>.</a:t>
            </a:r>
          </a:p>
          <a:p>
            <a:pPr algn="just">
              <a:spcBef>
                <a:spcPts val="600"/>
              </a:spcBef>
              <a:defRPr sz="2200" b="0" i="1">
                <a:latin typeface="Times New Roman"/>
                <a:ea typeface="Times New Roman"/>
                <a:cs typeface="Times New Roman"/>
                <a:sym typeface="Times New Roman"/>
              </a:defRPr>
            </a:pPr>
            <a:r>
              <a:t>La pena è della reclusione </a:t>
            </a:r>
            <a:r>
              <a:rPr b="1"/>
              <a:t>da uno a dieci anni</a:t>
            </a:r>
            <a:r>
              <a:t>, se il fatto è commesso:</a:t>
            </a:r>
          </a:p>
          <a:p>
            <a:pPr algn="just">
              <a:spcBef>
                <a:spcPts val="600"/>
              </a:spcBef>
              <a:defRPr sz="2200" b="0" i="1">
                <a:latin typeface="Times New Roman"/>
                <a:ea typeface="Times New Roman"/>
                <a:cs typeface="Times New Roman"/>
                <a:sym typeface="Times New Roman"/>
              </a:defRPr>
            </a:pPr>
            <a:r>
              <a:t>1) in danno di un ascendente, di un discendente o del coniuge;</a:t>
            </a:r>
          </a:p>
          <a:p>
            <a:pPr algn="just">
              <a:spcBef>
                <a:spcPts val="600"/>
              </a:spcBef>
              <a:defRPr sz="2200" b="0" i="1">
                <a:latin typeface="Times New Roman"/>
                <a:ea typeface="Times New Roman"/>
                <a:cs typeface="Times New Roman"/>
                <a:sym typeface="Times New Roman"/>
              </a:defRPr>
            </a:pPr>
            <a:r>
              <a:t>2) da un pubblico ufficiale, con abuso dei poteri inerenti alle sue funzioni.</a:t>
            </a:r>
          </a:p>
          <a:p>
            <a:pPr algn="just">
              <a:spcBef>
                <a:spcPts val="600"/>
              </a:spcBef>
              <a:defRPr sz="2200" b="0" i="1">
                <a:latin typeface="Times New Roman"/>
                <a:ea typeface="Times New Roman"/>
                <a:cs typeface="Times New Roman"/>
                <a:sym typeface="Times New Roman"/>
              </a:defRPr>
            </a:pPr>
            <a:r>
              <a:t>Se il fatto di cui al primo comma è commesso in danno di un minore, si applica la pena della </a:t>
            </a:r>
            <a:r>
              <a:rPr b="1"/>
              <a:t>reclusione da tre a dodici anni</a:t>
            </a:r>
            <a:r>
              <a:t>. Se il fatto è commesso in presenza di taluna delle circostanze di cui al secondo comma, ovvero in danno di minore di anni quattordici o se il minore sequestrato è condotto o rattenuto all’estero, si applica la pena della </a:t>
            </a:r>
            <a:r>
              <a:rPr b="1"/>
              <a:t>reclusione da tre a quindici anni</a:t>
            </a:r>
            <a:r>
              <a:t>.</a:t>
            </a:r>
          </a:p>
          <a:p>
            <a:pPr algn="just">
              <a:spcBef>
                <a:spcPts val="600"/>
              </a:spcBef>
              <a:defRPr sz="2200" b="0" i="1">
                <a:latin typeface="Times New Roman"/>
                <a:ea typeface="Times New Roman"/>
                <a:cs typeface="Times New Roman"/>
                <a:sym typeface="Times New Roman"/>
              </a:defRPr>
            </a:pPr>
            <a:r>
              <a:t>Se il colpevole cagiona la morte del minore sequestrato si applica la pena</a:t>
            </a:r>
          </a:p>
          <a:p>
            <a:pPr algn="just">
              <a:spcBef>
                <a:spcPts val="600"/>
              </a:spcBef>
              <a:defRPr sz="2200" i="1">
                <a:latin typeface="Times New Roman"/>
                <a:ea typeface="Times New Roman"/>
                <a:cs typeface="Times New Roman"/>
                <a:sym typeface="Times New Roman"/>
              </a:defRPr>
            </a:pPr>
            <a:r>
              <a:t>dell’ergastolo</a:t>
            </a:r>
            <a:r>
              <a:rPr b="0"/>
              <a:t>. … </a:t>
            </a:r>
          </a:p>
        </p:txBody>
      </p:sp>
      <p:sp>
        <p:nvSpPr>
          <p:cNvPr id="590"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Sequestro di persona</a:t>
            </a:r>
          </a:p>
        </p:txBody>
      </p:sp>
      <p:sp>
        <p:nvSpPr>
          <p:cNvPr id="591" name="Freccia a destra 1"/>
          <p:cNvSpPr/>
          <p:nvPr/>
        </p:nvSpPr>
        <p:spPr>
          <a:xfrm>
            <a:off x="2339751" y="5905736"/>
            <a:ext cx="720081" cy="216025"/>
          </a:xfrm>
          <a:prstGeom prst="rightArrow">
            <a:avLst>
              <a:gd name="adj1" fmla="val 50000"/>
              <a:gd name="adj2" fmla="val 50000"/>
            </a:avLst>
          </a:prstGeom>
          <a:solidFill>
            <a:srgbClr val="339966"/>
          </a:solidFill>
          <a:ln w="12700">
            <a:solidFill>
              <a:srgbClr val="339966"/>
            </a:solidFill>
            <a:miter/>
          </a:ln>
        </p:spPr>
        <p:txBody>
          <a:bodyPr lIns="45719" rIns="45719" anchor="ctr"/>
          <a:lstStyle/>
          <a:p>
            <a:pPr algn="ctr">
              <a:defRPr>
                <a:solidFill>
                  <a:schemeClr val="accent3">
                    <a:lumOff val="44000"/>
                  </a:schemeClr>
                </a:solidFill>
                <a:latin typeface="Calibri"/>
                <a:ea typeface="Calibri"/>
                <a:cs typeface="Calibri"/>
                <a:sym typeface="Calibri"/>
              </a:defRPr>
            </a:pPr>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53</a:t>
            </a:fld>
            <a:endParaRPr/>
          </a:p>
        </p:txBody>
      </p:sp>
      <p:sp>
        <p:nvSpPr>
          <p:cNvPr id="594" name="CasellaDiTesto 8"/>
          <p:cNvSpPr txBox="1"/>
          <p:nvPr/>
        </p:nvSpPr>
        <p:spPr>
          <a:xfrm>
            <a:off x="153223" y="844251"/>
            <a:ext cx="8837553" cy="47288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339966"/>
                </a:solidFill>
                <a:latin typeface="Times New Roman"/>
                <a:ea typeface="Times New Roman"/>
                <a:cs typeface="Times New Roman"/>
                <a:sym typeface="Times New Roman"/>
              </a:defRPr>
            </a:pPr>
            <a:r>
              <a:t>Art. 605 c.p. Sequestro di persona</a:t>
            </a:r>
          </a:p>
          <a:p>
            <a:pPr algn="just">
              <a:spcBef>
                <a:spcPts val="600"/>
              </a:spcBef>
              <a:defRPr sz="2200" b="0">
                <a:latin typeface="Times New Roman"/>
                <a:ea typeface="Times New Roman"/>
                <a:cs typeface="Times New Roman"/>
                <a:sym typeface="Times New Roman"/>
              </a:defRPr>
            </a:pPr>
            <a:r>
              <a:t>               </a:t>
            </a:r>
            <a:r>
              <a:rPr i="1"/>
              <a:t>«… Le pene previste dal terzo comma sono altresì </a:t>
            </a:r>
            <a:r>
              <a:rPr b="1" i="1"/>
              <a:t>diminuite fino alla metà</a:t>
            </a:r>
            <a:r>
              <a:rPr i="1"/>
              <a:t> nei confronti dell’imputato che si adopera concretamente:</a:t>
            </a:r>
          </a:p>
          <a:p>
            <a:pPr algn="just">
              <a:spcBef>
                <a:spcPts val="600"/>
              </a:spcBef>
              <a:defRPr sz="2200" b="0" i="1">
                <a:latin typeface="Times New Roman"/>
                <a:ea typeface="Times New Roman"/>
                <a:cs typeface="Times New Roman"/>
                <a:sym typeface="Times New Roman"/>
              </a:defRPr>
            </a:pPr>
            <a:r>
              <a:t>1) affinché il </a:t>
            </a:r>
            <a:r>
              <a:rPr b="1">
                <a:solidFill>
                  <a:srgbClr val="339966"/>
                </a:solidFill>
              </a:rPr>
              <a:t>minore riacquisti la propria libertà</a:t>
            </a:r>
            <a:r>
              <a:t>;</a:t>
            </a:r>
          </a:p>
          <a:p>
            <a:pPr algn="just">
              <a:spcBef>
                <a:spcPts val="600"/>
              </a:spcBef>
              <a:defRPr sz="2200" b="0" i="1">
                <a:latin typeface="Times New Roman"/>
                <a:ea typeface="Times New Roman"/>
                <a:cs typeface="Times New Roman"/>
                <a:sym typeface="Times New Roman"/>
              </a:defRPr>
            </a:pPr>
            <a:r>
              <a:t>2) per evitare che </a:t>
            </a:r>
            <a:r>
              <a:rPr b="1">
                <a:solidFill>
                  <a:srgbClr val="339966"/>
                </a:solidFill>
              </a:rPr>
              <a:t>l’attività delittuosa sia portata a conseguenze ulteriori, </a:t>
            </a:r>
            <a:r>
              <a:t>aiutando concretamente l’autorità di polizia o l’autorità giudiziaria nella raccolta di elementi di prova decisivi per la ricostruzione dei fatti e per l’individuazione o la cattura di uno o più autori di reati;</a:t>
            </a:r>
          </a:p>
          <a:p>
            <a:pPr algn="just">
              <a:spcBef>
                <a:spcPts val="600"/>
              </a:spcBef>
              <a:defRPr sz="2200" b="0" i="1">
                <a:latin typeface="Times New Roman"/>
                <a:ea typeface="Times New Roman"/>
                <a:cs typeface="Times New Roman"/>
                <a:sym typeface="Times New Roman"/>
              </a:defRPr>
            </a:pPr>
            <a:r>
              <a:t>3) per </a:t>
            </a:r>
            <a:r>
              <a:rPr b="1">
                <a:solidFill>
                  <a:srgbClr val="339966"/>
                </a:solidFill>
              </a:rPr>
              <a:t>evitare la commissione di ulteriori fatti di sequestro di minore</a:t>
            </a:r>
            <a:r>
              <a:t>»</a:t>
            </a:r>
            <a:r>
              <a:rPr i="0"/>
              <a:t>.</a:t>
            </a:r>
          </a:p>
          <a:p>
            <a:pPr algn="just">
              <a:spcBef>
                <a:spcPts val="600"/>
              </a:spcBef>
              <a:defRPr sz="2200" b="0">
                <a:latin typeface="Times New Roman"/>
                <a:ea typeface="Times New Roman"/>
                <a:cs typeface="Times New Roman"/>
                <a:sym typeface="Times New Roman"/>
              </a:defRPr>
            </a:pPr>
            <a:endParaRPr i="0"/>
          </a:p>
          <a:p>
            <a:pPr algn="just">
              <a:spcBef>
                <a:spcPts val="600"/>
              </a:spcBef>
              <a:defRPr sz="2000" b="0" i="1">
                <a:latin typeface="Times New Roman"/>
                <a:ea typeface="Times New Roman"/>
                <a:cs typeface="Times New Roman"/>
                <a:sym typeface="Times New Roman"/>
              </a:defRPr>
            </a:pPr>
            <a:r>
              <a:t>Nell'ipotesi prevista dal primo comma, il delitto è </a:t>
            </a:r>
            <a:r>
              <a:rPr b="1" u="sng"/>
              <a:t>punibile a querela </a:t>
            </a:r>
            <a:r>
              <a:t>della persona offesa, salvo che il fatto sia commesso nei confronti di persona incapace, per età o per infermità”</a:t>
            </a:r>
          </a:p>
        </p:txBody>
      </p:sp>
      <p:sp>
        <p:nvSpPr>
          <p:cNvPr id="595"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Sequestro di persona</a:t>
            </a:r>
          </a:p>
        </p:txBody>
      </p:sp>
      <p:sp>
        <p:nvSpPr>
          <p:cNvPr id="596" name="Freccia a destra 6"/>
          <p:cNvSpPr/>
          <p:nvPr/>
        </p:nvSpPr>
        <p:spPr>
          <a:xfrm>
            <a:off x="395536" y="1412775"/>
            <a:ext cx="720080" cy="216025"/>
          </a:xfrm>
          <a:prstGeom prst="rightArrow">
            <a:avLst>
              <a:gd name="adj1" fmla="val 50000"/>
              <a:gd name="adj2" fmla="val 50000"/>
            </a:avLst>
          </a:prstGeom>
          <a:solidFill>
            <a:srgbClr val="339966"/>
          </a:solidFill>
          <a:ln w="12700">
            <a:solidFill>
              <a:srgbClr val="339966"/>
            </a:solidFill>
            <a:miter/>
          </a:ln>
        </p:spPr>
        <p:txBody>
          <a:bodyPr lIns="45719" rIns="45719" anchor="ctr"/>
          <a:lstStyle/>
          <a:p>
            <a:pPr algn="ctr">
              <a:defRPr>
                <a:solidFill>
                  <a:schemeClr val="accent3">
                    <a:lumOff val="44000"/>
                  </a:schemeClr>
                </a:solidFill>
                <a:latin typeface="Calibri"/>
                <a:ea typeface="Calibri"/>
                <a:cs typeface="Calibri"/>
                <a:sym typeface="Calibri"/>
              </a:defRPr>
            </a:pPr>
            <a:endParaRPr/>
          </a:p>
        </p:txBody>
      </p:sp>
      <p:sp>
        <p:nvSpPr>
          <p:cNvPr id="597" name="Rettangolo 7"/>
          <p:cNvSpPr/>
          <p:nvPr/>
        </p:nvSpPr>
        <p:spPr>
          <a:xfrm>
            <a:off x="4716016" y="5535000"/>
            <a:ext cx="4320481" cy="1366310"/>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lnSpc>
                <a:spcPct val="114000"/>
              </a:lnSpc>
              <a:defRPr sz="12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1200" b="0">
                <a:latin typeface="Times New Roman"/>
                <a:ea typeface="Times New Roman"/>
                <a:cs typeface="Times New Roman"/>
                <a:sym typeface="Times New Roman"/>
              </a:defRPr>
            </a:pPr>
            <a:r>
              <a:t>Competenza: comma 1 Tribunale Monocratico;</a:t>
            </a:r>
          </a:p>
          <a:p>
            <a:pPr indent="1608137" algn="just">
              <a:lnSpc>
                <a:spcPct val="114000"/>
              </a:lnSpc>
              <a:defRPr sz="1200" b="0">
                <a:latin typeface="Times New Roman"/>
                <a:ea typeface="Times New Roman"/>
                <a:cs typeface="Times New Roman"/>
                <a:sym typeface="Times New Roman"/>
              </a:defRPr>
            </a:pPr>
            <a:r>
              <a:t>comma 2,3,4 Tribunale collegiale</a:t>
            </a:r>
          </a:p>
          <a:p>
            <a:pPr marL="171450" indent="-171450" algn="just">
              <a:lnSpc>
                <a:spcPct val="114000"/>
              </a:lnSpc>
              <a:buSzPct val="100000"/>
              <a:buFont typeface="Arial"/>
              <a:buChar char="•"/>
              <a:defRPr sz="1200" b="0">
                <a:latin typeface="Times New Roman"/>
                <a:ea typeface="Times New Roman"/>
                <a:cs typeface="Times New Roman"/>
                <a:sym typeface="Times New Roman"/>
              </a:defRPr>
            </a:pPr>
            <a:r>
              <a:t>Arresto facoltativo</a:t>
            </a:r>
          </a:p>
          <a:p>
            <a:pPr marL="171450" indent="-171450" algn="just">
              <a:lnSpc>
                <a:spcPct val="114000"/>
              </a:lnSpc>
              <a:buSzPct val="100000"/>
              <a:buFont typeface="Arial"/>
              <a:buChar char="•"/>
              <a:defRPr sz="1200" b="0">
                <a:latin typeface="Times New Roman"/>
                <a:ea typeface="Times New Roman"/>
                <a:cs typeface="Times New Roman"/>
                <a:sym typeface="Times New Roman"/>
              </a:defRPr>
            </a:pPr>
            <a:r>
              <a:t>Fermo non consentito</a:t>
            </a:r>
          </a:p>
          <a:p>
            <a:pPr marL="171450" indent="-171450" algn="just">
              <a:lnSpc>
                <a:spcPct val="114000"/>
              </a:lnSpc>
              <a:buSzPct val="100000"/>
              <a:buFont typeface="Arial"/>
              <a:buChar char="•"/>
              <a:defRPr sz="1200" b="0">
                <a:latin typeface="Times New Roman"/>
                <a:ea typeface="Times New Roman"/>
                <a:cs typeface="Times New Roman"/>
                <a:sym typeface="Times New Roman"/>
              </a:defRPr>
            </a:pPr>
            <a:r>
              <a:t>Procedibilità d’ufficio</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54</a:t>
            </a:fld>
            <a:endParaRPr/>
          </a:p>
        </p:txBody>
      </p:sp>
      <p:sp>
        <p:nvSpPr>
          <p:cNvPr id="600" name="CasellaDiTesto 8"/>
          <p:cNvSpPr txBox="1"/>
          <p:nvPr/>
        </p:nvSpPr>
        <p:spPr>
          <a:xfrm>
            <a:off x="185351" y="1047407"/>
            <a:ext cx="8837553" cy="5802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b="0">
                <a:latin typeface="Times New Roman"/>
                <a:ea typeface="Times New Roman"/>
                <a:cs typeface="Times New Roman"/>
                <a:sym typeface="Times New Roman"/>
              </a:defRPr>
            </a:pPr>
            <a:r>
              <a:t>Il bene giuridico tutelato è la </a:t>
            </a:r>
            <a:r>
              <a:rPr b="1">
                <a:solidFill>
                  <a:srgbClr val="339966"/>
                </a:solidFill>
              </a:rPr>
              <a:t>libertà personale</a:t>
            </a:r>
            <a:r>
              <a:t>, in particolare la libertà di agire e la libertà di muoversi nello spazio.</a:t>
            </a:r>
          </a:p>
          <a:p>
            <a:pPr algn="just">
              <a:spcBef>
                <a:spcPts val="600"/>
              </a:spcBef>
              <a:defRPr sz="2000" b="0">
                <a:latin typeface="Times New Roman"/>
                <a:ea typeface="Times New Roman"/>
                <a:cs typeface="Times New Roman"/>
                <a:sym typeface="Times New Roman"/>
              </a:defRPr>
            </a:pPr>
            <a:r>
              <a:t>Il reato può essere commesso anche in danno di chi si trovi già in stato di privazione della libertà, come </a:t>
            </a:r>
            <a:r>
              <a:rPr b="1" u="sng"/>
              <a:t>il caso del detenuto, </a:t>
            </a:r>
            <a:r>
              <a:t>qualora gli venga limitata ulteriormente la sfera dei movimenti consentiti</a:t>
            </a:r>
          </a:p>
          <a:p>
            <a:pPr algn="just">
              <a:spcBef>
                <a:spcPts val="600"/>
              </a:spcBef>
              <a:defRPr sz="800" b="0">
                <a:latin typeface="Times New Roman"/>
                <a:ea typeface="Times New Roman"/>
                <a:cs typeface="Times New Roman"/>
                <a:sym typeface="Times New Roman"/>
              </a:defRPr>
            </a:pPr>
            <a:endParaRPr/>
          </a:p>
          <a:p>
            <a:pPr algn="just">
              <a:spcBef>
                <a:spcPts val="600"/>
              </a:spcBef>
              <a:defRPr sz="2200" u="sng">
                <a:solidFill>
                  <a:srgbClr val="339966"/>
                </a:solidFill>
                <a:latin typeface="Times New Roman"/>
                <a:ea typeface="Times New Roman"/>
                <a:cs typeface="Times New Roman"/>
                <a:sym typeface="Times New Roman"/>
              </a:defRPr>
            </a:pPr>
            <a:r>
              <a:t>ELEMENTO OGGETTIVO</a:t>
            </a:r>
            <a:r>
              <a:rPr b="0" u="none">
                <a:solidFill>
                  <a:srgbClr val="000000"/>
                </a:solidFill>
              </a:rPr>
              <a:t>: consiste nella </a:t>
            </a:r>
            <a:r>
              <a:rPr u="none"/>
              <a:t>limitazione della libertà fisica e di locomozione, di movimento e spostamento;</a:t>
            </a:r>
            <a:r>
              <a:rPr b="0" u="none">
                <a:solidFill>
                  <a:srgbClr val="000000"/>
                </a:solidFill>
              </a:rPr>
              <a:t> infatti si sanziona qualsiasi condotta che produca l’effetto di </a:t>
            </a:r>
            <a:r>
              <a:rPr u="none"/>
              <a:t>escludere</a:t>
            </a:r>
            <a:r>
              <a:rPr b="0" u="none">
                <a:solidFill>
                  <a:srgbClr val="000000"/>
                </a:solidFill>
              </a:rPr>
              <a:t> o </a:t>
            </a:r>
            <a:r>
              <a:rPr u="none"/>
              <a:t>limitare la libertà di movimento </a:t>
            </a:r>
            <a:r>
              <a:rPr b="0" u="none">
                <a:solidFill>
                  <a:srgbClr val="000000"/>
                </a:solidFill>
              </a:rPr>
              <a:t>della persona offesa, anche senza l’impiego di mezzi fisici.</a:t>
            </a:r>
          </a:p>
          <a:p>
            <a:pPr algn="just">
              <a:spcBef>
                <a:spcPts val="600"/>
              </a:spcBef>
              <a:defRPr sz="2200" b="0">
                <a:latin typeface="Times New Roman"/>
                <a:ea typeface="Times New Roman"/>
                <a:cs typeface="Times New Roman"/>
                <a:sym typeface="Times New Roman"/>
              </a:defRPr>
            </a:pPr>
            <a:r>
              <a:t>Costituisce lesione del bene tutelato qualsiasi limitazione della libertà che sia </a:t>
            </a:r>
            <a:r>
              <a:rPr b="1">
                <a:solidFill>
                  <a:srgbClr val="00B0F0"/>
                </a:solidFill>
              </a:rPr>
              <a:t>temporalmente apprezzabile</a:t>
            </a:r>
            <a:r>
              <a:t>: è irrilevante la maggior o minore durata della privazione.</a:t>
            </a:r>
          </a:p>
          <a:p>
            <a:pPr algn="just">
              <a:spcBef>
                <a:spcPts val="600"/>
              </a:spcBef>
              <a:defRPr sz="800" b="0">
                <a:latin typeface="Times New Roman"/>
                <a:ea typeface="Times New Roman"/>
                <a:cs typeface="Times New Roman"/>
                <a:sym typeface="Times New Roman"/>
              </a:defRPr>
            </a:pPr>
            <a:endParaRPr/>
          </a:p>
          <a:p>
            <a:pPr algn="just">
              <a:spcBef>
                <a:spcPts val="600"/>
              </a:spcBef>
              <a:defRPr sz="2200" u="sng">
                <a:solidFill>
                  <a:srgbClr val="339966"/>
                </a:solidFill>
                <a:latin typeface="Times New Roman"/>
                <a:ea typeface="Times New Roman"/>
                <a:cs typeface="Times New Roman"/>
                <a:sym typeface="Times New Roman"/>
              </a:defRPr>
            </a:pPr>
            <a:r>
              <a:t>ELEMENTO SOGGETTIVO</a:t>
            </a:r>
            <a:r>
              <a:rPr b="0" u="none">
                <a:solidFill>
                  <a:srgbClr val="000000"/>
                </a:solidFill>
              </a:rPr>
              <a:t>: il </a:t>
            </a:r>
            <a:r>
              <a:rPr u="none"/>
              <a:t>DOLO È GENERICO </a:t>
            </a:r>
            <a:r>
              <a:rPr b="0" u="none">
                <a:solidFill>
                  <a:srgbClr val="000000"/>
                </a:solidFill>
              </a:rPr>
              <a:t>e consiste nella coscienza e volontà di privare illegittimamente una persona della sua libertà di locomozione.</a:t>
            </a:r>
          </a:p>
        </p:txBody>
      </p:sp>
      <p:sp>
        <p:nvSpPr>
          <p:cNvPr id="601"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Sequestro di persona</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55</a:t>
            </a:fld>
            <a:endParaRPr/>
          </a:p>
        </p:txBody>
      </p:sp>
      <p:sp>
        <p:nvSpPr>
          <p:cNvPr id="604" name="CasellaDiTesto 8"/>
          <p:cNvSpPr txBox="1"/>
          <p:nvPr/>
        </p:nvSpPr>
        <p:spPr>
          <a:xfrm>
            <a:off x="153223" y="1219399"/>
            <a:ext cx="8837553" cy="55659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a:solidFill>
                  <a:srgbClr val="339966"/>
                </a:solidFill>
                <a:latin typeface="Times New Roman"/>
                <a:ea typeface="Times New Roman"/>
                <a:cs typeface="Times New Roman"/>
                <a:sym typeface="Times New Roman"/>
              </a:defRPr>
            </a:pPr>
            <a:r>
              <a:t>REATO COMUNE.</a:t>
            </a:r>
          </a:p>
          <a:p>
            <a:pPr algn="just">
              <a:spcBef>
                <a:spcPts val="600"/>
              </a:spcBef>
              <a:defRPr sz="2200">
                <a:solidFill>
                  <a:srgbClr val="339966"/>
                </a:solidFill>
                <a:latin typeface="Times New Roman"/>
                <a:ea typeface="Times New Roman"/>
                <a:cs typeface="Times New Roman"/>
                <a:sym typeface="Times New Roman"/>
              </a:defRPr>
            </a:pPr>
            <a:r>
              <a:t>REATO DI DANNO, DI MERA CONDOTTA, A FORMA LIBERA</a:t>
            </a:r>
            <a:r>
              <a:rPr b="0">
                <a:solidFill>
                  <a:srgbClr val="000000"/>
                </a:solidFill>
              </a:rPr>
              <a:t>.</a:t>
            </a:r>
          </a:p>
          <a:p>
            <a:pPr algn="just">
              <a:spcBef>
                <a:spcPts val="600"/>
              </a:spcBef>
              <a:defRPr sz="2200" b="0">
                <a:latin typeface="Times New Roman"/>
                <a:ea typeface="Times New Roman"/>
                <a:cs typeface="Times New Roman"/>
                <a:sym typeface="Times New Roman"/>
              </a:defRPr>
            </a:pPr>
            <a:r>
              <a:t>Il sequestro di persona è un </a:t>
            </a:r>
            <a:r>
              <a:rPr b="1">
                <a:solidFill>
                  <a:srgbClr val="339966"/>
                </a:solidFill>
              </a:rPr>
              <a:t>REATO PERMANENTE a consumazione anticipata</a:t>
            </a:r>
            <a:r>
              <a:t>; ai fini dell’integrazione del delitto è sufficiente l’impossibilità della vittima di recuperare la propria libertà di movimento anche relativa. </a:t>
            </a:r>
          </a:p>
          <a:p>
            <a:pPr algn="just">
              <a:spcBef>
                <a:spcPts val="600"/>
              </a:spcBef>
              <a:defRPr sz="2200" b="0">
                <a:latin typeface="Times New Roman"/>
                <a:ea typeface="Times New Roman"/>
                <a:cs typeface="Times New Roman"/>
                <a:sym typeface="Times New Roman"/>
              </a:defRPr>
            </a:pPr>
            <a:r>
              <a:t>Il reato si </a:t>
            </a:r>
            <a:r>
              <a:rPr b="1">
                <a:solidFill>
                  <a:srgbClr val="339966"/>
                </a:solidFill>
              </a:rPr>
              <a:t>consuma</a:t>
            </a:r>
            <a:r>
              <a:t> nel momento in cui la vittima viene privata della sua libertà e termina col cessare dello stato in cui è posta la vittima. </a:t>
            </a:r>
          </a:p>
          <a:p>
            <a:pPr algn="just">
              <a:spcBef>
                <a:spcPts val="600"/>
              </a:spcBef>
              <a:defRPr sz="2200" b="0">
                <a:latin typeface="Times New Roman"/>
                <a:ea typeface="Times New Roman"/>
                <a:cs typeface="Times New Roman"/>
                <a:sym typeface="Times New Roman"/>
              </a:defRPr>
            </a:pPr>
            <a:r>
              <a:t>È ammissibile il </a:t>
            </a:r>
            <a:r>
              <a:rPr b="1">
                <a:solidFill>
                  <a:srgbClr val="339966"/>
                </a:solidFill>
              </a:rPr>
              <a:t>tentativo</a:t>
            </a:r>
            <a:r>
              <a:t>.</a:t>
            </a:r>
          </a:p>
          <a:p>
            <a:pPr algn="just">
              <a:spcBef>
                <a:spcPts val="600"/>
              </a:spcBef>
              <a:defRPr sz="2200" b="0">
                <a:latin typeface="Times New Roman"/>
                <a:ea typeface="Times New Roman"/>
                <a:cs typeface="Times New Roman"/>
                <a:sym typeface="Times New Roman"/>
              </a:defRPr>
            </a:pPr>
            <a:endParaRPr/>
          </a:p>
          <a:p>
            <a:pPr algn="just">
              <a:spcBef>
                <a:spcPts val="600"/>
              </a:spcBef>
              <a:defRPr sz="2200" b="0">
                <a:latin typeface="Times New Roman"/>
                <a:ea typeface="Times New Roman"/>
                <a:cs typeface="Times New Roman"/>
                <a:sym typeface="Times New Roman"/>
              </a:defRPr>
            </a:pPr>
            <a:endParaRPr/>
          </a:p>
          <a:p>
            <a:pPr algn="just">
              <a:spcBef>
                <a:spcPts val="600"/>
              </a:spcBef>
              <a:defRPr sz="2200" b="0">
                <a:latin typeface="Times New Roman"/>
                <a:ea typeface="Times New Roman"/>
                <a:cs typeface="Times New Roman"/>
                <a:sym typeface="Times New Roman"/>
              </a:defRPr>
            </a:pPr>
            <a:r>
              <a:t>A </a:t>
            </a:r>
            <a:r>
              <a:rPr>
                <a:solidFill>
                  <a:srgbClr val="FF0000"/>
                </a:solidFill>
              </a:rPr>
              <a:t>seguito della c.d. Riforma Cartabia</a:t>
            </a:r>
            <a:r>
              <a:t>, D.lgs. n. 150 del 2022, si può affermare che la </a:t>
            </a:r>
            <a:r>
              <a:rPr b="1" u="sng">
                <a:solidFill>
                  <a:srgbClr val="9966FF"/>
                </a:solidFill>
              </a:rPr>
              <a:t>PROCEDIBILITÀ È D’UFFICIO</a:t>
            </a:r>
            <a:r>
              <a:t>, tranne che per i casi rientranti nel primo comma per i quali si procede a querela di parte, salvo che il fatto sia commesso nei confronti di persona incapace per età o per infermità.</a:t>
            </a:r>
          </a:p>
        </p:txBody>
      </p:sp>
      <p:sp>
        <p:nvSpPr>
          <p:cNvPr id="605"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Sequestro di persona</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56</a:t>
            </a:fld>
            <a:endParaRPr/>
          </a:p>
        </p:txBody>
      </p:sp>
      <p:sp>
        <p:nvSpPr>
          <p:cNvPr id="608" name="CasellaDiTesto 8"/>
          <p:cNvSpPr txBox="1"/>
          <p:nvPr/>
        </p:nvSpPr>
        <p:spPr>
          <a:xfrm>
            <a:off x="301831" y="1200808"/>
            <a:ext cx="8544929" cy="1642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400">
                <a:solidFill>
                  <a:srgbClr val="339966"/>
                </a:solidFill>
                <a:latin typeface="Times New Roman"/>
                <a:ea typeface="Times New Roman"/>
                <a:cs typeface="Times New Roman"/>
                <a:sym typeface="Times New Roman"/>
              </a:defRPr>
            </a:pPr>
            <a:r>
              <a:t>Differenze con il sequestro di persona a scopo di estorsione </a:t>
            </a:r>
            <a:br/>
            <a:r>
              <a:rPr i="1"/>
              <a:t>ex</a:t>
            </a:r>
            <a:r>
              <a:t> art. 630 c.p.</a:t>
            </a:r>
          </a:p>
          <a:p>
            <a:pPr algn="ctr">
              <a:defRPr sz="2000" b="0">
                <a:solidFill>
                  <a:srgbClr val="FF0000"/>
                </a:solidFill>
                <a:latin typeface="Times New Roman"/>
                <a:ea typeface="Times New Roman"/>
                <a:cs typeface="Times New Roman"/>
                <a:sym typeface="Times New Roman"/>
              </a:defRPr>
            </a:pPr>
            <a:endParaRPr/>
          </a:p>
          <a:p>
            <a:pPr algn="just">
              <a:defRPr sz="2000" b="0">
                <a:latin typeface="Times New Roman"/>
                <a:ea typeface="Times New Roman"/>
                <a:cs typeface="Times New Roman"/>
                <a:sym typeface="Times New Roman"/>
              </a:defRPr>
            </a:pPr>
            <a:endParaRPr/>
          </a:p>
        </p:txBody>
      </p:sp>
      <p:sp>
        <p:nvSpPr>
          <p:cNvPr id="609"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Sequestro di persona</a:t>
            </a:r>
          </a:p>
        </p:txBody>
      </p:sp>
      <p:graphicFrame>
        <p:nvGraphicFramePr>
          <p:cNvPr id="610" name="Tabella 1"/>
          <p:cNvGraphicFramePr/>
          <p:nvPr/>
        </p:nvGraphicFramePr>
        <p:xfrm>
          <a:off x="128056" y="2271074"/>
          <a:ext cx="8892480" cy="3718560"/>
        </p:xfrm>
        <a:graphic>
          <a:graphicData uri="http://schemas.openxmlformats.org/drawingml/2006/table">
            <a:tbl>
              <a:tblPr firstRow="1" bandRow="1">
                <a:tableStyleId>{4C3C2611-4C71-4FC5-86AE-919BDF0F9419}</a:tableStyleId>
              </a:tblPr>
              <a:tblGrid>
                <a:gridCol w="2355712">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3440424">
                  <a:extLst>
                    <a:ext uri="{9D8B030D-6E8A-4147-A177-3AD203B41FA5}">
                      <a16:colId xmlns:a16="http://schemas.microsoft.com/office/drawing/2014/main" val="20002"/>
                    </a:ext>
                  </a:extLst>
                </a:gridCol>
              </a:tblGrid>
              <a:tr h="370840">
                <a:tc>
                  <a:txBody>
                    <a:bodyPr/>
                    <a:lstStyle/>
                    <a:p>
                      <a:pPr algn="ctr">
                        <a:defRPr sz="1800" b="0">
                          <a:solidFill>
                            <a:srgbClr val="000000"/>
                          </a:solidFill>
                        </a:defRPr>
                      </a:pPr>
                      <a:r>
                        <a:rPr sz="2000" b="1">
                          <a:solidFill>
                            <a:schemeClr val="accent3">
                              <a:lumOff val="44000"/>
                            </a:schemeClr>
                          </a:solidFill>
                          <a:latin typeface="Times New Roman"/>
                          <a:ea typeface="Times New Roman"/>
                          <a:cs typeface="Times New Roman"/>
                          <a:sym typeface="Times New Roman"/>
                        </a:rPr>
                        <a:t>DIFFERENZE</a:t>
                      </a:r>
                    </a:p>
                  </a:txBody>
                  <a:tcPr marL="45720" marR="45720" anchor="ctr" horzOverflow="overflow">
                    <a:lnL w="12700">
                      <a:solidFill>
                        <a:srgbClr val="70AD47"/>
                      </a:solidFill>
                    </a:lnL>
                    <a:lnT w="12700">
                      <a:solidFill>
                        <a:srgbClr val="70AD47"/>
                      </a:solidFill>
                    </a:lnT>
                    <a:lnB w="12700">
                      <a:solidFill>
                        <a:srgbClr val="70AD47"/>
                      </a:solidFill>
                    </a:lnB>
                    <a:solidFill>
                      <a:srgbClr val="70AD47"/>
                    </a:solidFill>
                  </a:tcPr>
                </a:tc>
                <a:tc>
                  <a:txBody>
                    <a:bodyPr/>
                    <a:lstStyle/>
                    <a:p>
                      <a:pPr algn="ctr">
                        <a:defRPr sz="1800" b="0">
                          <a:solidFill>
                            <a:srgbClr val="000000"/>
                          </a:solidFill>
                        </a:defRPr>
                      </a:pPr>
                      <a:r>
                        <a:rPr sz="2000" b="1">
                          <a:solidFill>
                            <a:schemeClr val="accent3">
                              <a:lumOff val="44000"/>
                            </a:schemeClr>
                          </a:solidFill>
                          <a:latin typeface="Times New Roman"/>
                          <a:ea typeface="Times New Roman"/>
                          <a:cs typeface="Times New Roman"/>
                          <a:sym typeface="Times New Roman"/>
                        </a:rPr>
                        <a:t>SEQUESTRO DI PERSONA ex 605 c.p.</a:t>
                      </a:r>
                    </a:p>
                  </a:txBody>
                  <a:tcPr marL="45720" marR="45720" anchor="ctr" horzOverflow="overflow">
                    <a:lnT w="12700">
                      <a:solidFill>
                        <a:srgbClr val="70AD47"/>
                      </a:solidFill>
                    </a:lnT>
                    <a:lnB w="12700">
                      <a:solidFill>
                        <a:srgbClr val="70AD47"/>
                      </a:solidFill>
                    </a:lnB>
                    <a:solidFill>
                      <a:srgbClr val="70AD47"/>
                    </a:solidFill>
                  </a:tcPr>
                </a:tc>
                <a:tc>
                  <a:txBody>
                    <a:bodyPr/>
                    <a:lstStyle/>
                    <a:p>
                      <a:pPr algn="ctr">
                        <a:defRPr sz="1800" b="0">
                          <a:solidFill>
                            <a:srgbClr val="000000"/>
                          </a:solidFill>
                        </a:defRPr>
                      </a:pPr>
                      <a:r>
                        <a:rPr sz="2000" b="1">
                          <a:solidFill>
                            <a:schemeClr val="accent3">
                              <a:lumOff val="44000"/>
                            </a:schemeClr>
                          </a:solidFill>
                          <a:latin typeface="Times New Roman"/>
                          <a:ea typeface="Times New Roman"/>
                          <a:cs typeface="Times New Roman"/>
                          <a:sym typeface="Times New Roman"/>
                        </a:rPr>
                        <a:t>SEQUESTRO SDI PERSONA A SCOPO DI ESTORSIONE ex 630 c.p.</a:t>
                      </a:r>
                    </a:p>
                  </a:txBody>
                  <a:tcPr marL="45720" marR="45720" anchor="ctr" horzOverflow="overflow">
                    <a:lnR w="12700">
                      <a:solidFill>
                        <a:srgbClr val="70AD47"/>
                      </a:solidFill>
                    </a:lnR>
                    <a:lnT w="12700">
                      <a:solidFill>
                        <a:srgbClr val="70AD47"/>
                      </a:solidFill>
                    </a:lnT>
                    <a:lnB w="12700">
                      <a:solidFill>
                        <a:srgbClr val="70AD47"/>
                      </a:solidFill>
                    </a:lnB>
                    <a:solidFill>
                      <a:srgbClr val="70AD47"/>
                    </a:solidFill>
                  </a:tcPr>
                </a:tc>
                <a:extLst>
                  <a:ext uri="{0D108BD9-81ED-4DB2-BD59-A6C34878D82A}">
                    <a16:rowId xmlns:a16="http://schemas.microsoft.com/office/drawing/2014/main" val="10000"/>
                  </a:ext>
                </a:extLst>
              </a:tr>
              <a:tr h="370840">
                <a:tc>
                  <a:txBody>
                    <a:bodyPr/>
                    <a:lstStyle/>
                    <a:p>
                      <a:pPr algn="l">
                        <a:defRPr sz="1800"/>
                      </a:pPr>
                      <a:r>
                        <a:rPr sz="2000">
                          <a:latin typeface="Times New Roman"/>
                          <a:ea typeface="Times New Roman"/>
                          <a:cs typeface="Times New Roman"/>
                          <a:sym typeface="Times New Roman"/>
                        </a:rPr>
                        <a:t>BENE GIURIDICO TUTELATO</a:t>
                      </a:r>
                    </a:p>
                  </a:txBody>
                  <a:tcPr marL="45720" marR="45720" anchor="ctr" horzOverflow="overflow">
                    <a:lnL w="12700">
                      <a:solidFill>
                        <a:srgbClr val="70AD47"/>
                      </a:solidFill>
                    </a:lnL>
                    <a:lnT w="12700">
                      <a:solidFill>
                        <a:srgbClr val="70AD47"/>
                      </a:solidFill>
                    </a:lnT>
                    <a:lnB w="12700">
                      <a:solidFill>
                        <a:srgbClr val="70AD47"/>
                      </a:solidFill>
                    </a:lnB>
                    <a:solidFill>
                      <a:srgbClr val="EBF1E8"/>
                    </a:solidFill>
                  </a:tcPr>
                </a:tc>
                <a:tc>
                  <a:txBody>
                    <a:bodyPr/>
                    <a:lstStyle/>
                    <a:p>
                      <a:pPr algn="l">
                        <a:defRPr sz="1800"/>
                      </a:pPr>
                      <a:r>
                        <a:rPr sz="2000">
                          <a:latin typeface="Times New Roman"/>
                          <a:ea typeface="Times New Roman"/>
                          <a:cs typeface="Times New Roman"/>
                          <a:sym typeface="Times New Roman"/>
                        </a:rPr>
                        <a:t>LIBERTA’ PERSONALE (delitti contro la persona)</a:t>
                      </a:r>
                    </a:p>
                  </a:txBody>
                  <a:tcPr marL="45720" marR="45720" anchor="ctr" horzOverflow="overflow">
                    <a:lnT w="12700">
                      <a:solidFill>
                        <a:srgbClr val="70AD47"/>
                      </a:solidFill>
                    </a:lnT>
                    <a:lnB w="12700">
                      <a:solidFill>
                        <a:srgbClr val="70AD47"/>
                      </a:solidFill>
                    </a:lnB>
                    <a:solidFill>
                      <a:srgbClr val="EBF1E8"/>
                    </a:solidFill>
                  </a:tcPr>
                </a:tc>
                <a:tc>
                  <a:txBody>
                    <a:bodyPr/>
                    <a:lstStyle/>
                    <a:p>
                      <a:pPr indent="92075" algn="l">
                        <a:defRPr sz="2000">
                          <a:latin typeface="Times New Roman"/>
                          <a:ea typeface="Times New Roman"/>
                          <a:cs typeface="Times New Roman"/>
                          <a:sym typeface="Times New Roman"/>
                        </a:defRPr>
                      </a:pPr>
                      <a:r>
                        <a:t>Principalmente il PATRIMONIO, nonostante il delitto sia plurioffensivo</a:t>
                      </a:r>
                    </a:p>
                    <a:p>
                      <a:pPr indent="92075" algn="l">
                        <a:defRPr sz="2000">
                          <a:latin typeface="Times New Roman"/>
                          <a:ea typeface="Times New Roman"/>
                          <a:cs typeface="Times New Roman"/>
                          <a:sym typeface="Times New Roman"/>
                        </a:defRPr>
                      </a:pPr>
                      <a:r>
                        <a:t>(delitti contro il patrimonio)</a:t>
                      </a:r>
                    </a:p>
                  </a:txBody>
                  <a:tcPr marL="45720" marR="45720" anchor="ctr" horzOverflow="overflow">
                    <a:lnR w="12700">
                      <a:solidFill>
                        <a:srgbClr val="70AD47"/>
                      </a:solidFill>
                    </a:lnR>
                    <a:lnT w="12700">
                      <a:solidFill>
                        <a:srgbClr val="70AD47"/>
                      </a:solidFill>
                    </a:lnT>
                    <a:lnB w="12700">
                      <a:solidFill>
                        <a:srgbClr val="70AD47"/>
                      </a:solidFill>
                    </a:lnB>
                    <a:solidFill>
                      <a:srgbClr val="EBF1E8"/>
                    </a:solidFill>
                  </a:tcPr>
                </a:tc>
                <a:extLst>
                  <a:ext uri="{0D108BD9-81ED-4DB2-BD59-A6C34878D82A}">
                    <a16:rowId xmlns:a16="http://schemas.microsoft.com/office/drawing/2014/main" val="10001"/>
                  </a:ext>
                </a:extLst>
              </a:tr>
              <a:tr h="370840">
                <a:tc>
                  <a:txBody>
                    <a:bodyPr/>
                    <a:lstStyle/>
                    <a:p>
                      <a:pPr algn="l">
                        <a:defRPr sz="1800"/>
                      </a:pPr>
                      <a:r>
                        <a:rPr sz="2000">
                          <a:latin typeface="Times New Roman"/>
                          <a:ea typeface="Times New Roman"/>
                          <a:cs typeface="Times New Roman"/>
                          <a:sym typeface="Times New Roman"/>
                        </a:rPr>
                        <a:t>PENE</a:t>
                      </a:r>
                    </a:p>
                  </a:txBody>
                  <a:tcPr marL="45720" marR="45720" anchor="ctr" horzOverflow="overflow">
                    <a:lnL w="12700">
                      <a:solidFill>
                        <a:srgbClr val="70AD47"/>
                      </a:solidFill>
                    </a:lnL>
                    <a:lnT w="12700">
                      <a:solidFill>
                        <a:srgbClr val="70AD47"/>
                      </a:solidFill>
                    </a:lnT>
                    <a:lnB w="12700">
                      <a:solidFill>
                        <a:srgbClr val="70AD47"/>
                      </a:solidFill>
                    </a:lnB>
                  </a:tcPr>
                </a:tc>
                <a:tc>
                  <a:txBody>
                    <a:bodyPr/>
                    <a:lstStyle/>
                    <a:p>
                      <a:pPr algn="l">
                        <a:defRPr sz="1800"/>
                      </a:pPr>
                      <a:r>
                        <a:rPr sz="2000">
                          <a:latin typeface="Times New Roman"/>
                          <a:ea typeface="Times New Roman"/>
                          <a:cs typeface="Times New Roman"/>
                          <a:sym typeface="Times New Roman"/>
                        </a:rPr>
                        <a:t>reclusione 6 mesi-8 anni e fino a 10 anni se aggravato</a:t>
                      </a:r>
                    </a:p>
                  </a:txBody>
                  <a:tcPr marL="45720" marR="45720" anchor="ctr" horzOverflow="overflow">
                    <a:lnT w="12700">
                      <a:solidFill>
                        <a:srgbClr val="70AD47"/>
                      </a:solidFill>
                    </a:lnT>
                    <a:lnB w="12700">
                      <a:solidFill>
                        <a:srgbClr val="70AD47"/>
                      </a:solidFill>
                    </a:lnB>
                  </a:tcPr>
                </a:tc>
                <a:tc>
                  <a:txBody>
                    <a:bodyPr/>
                    <a:lstStyle/>
                    <a:p>
                      <a:pPr algn="l">
                        <a:defRPr sz="1800"/>
                      </a:pPr>
                      <a:r>
                        <a:rPr sz="2000">
                          <a:latin typeface="Times New Roman"/>
                          <a:ea typeface="Times New Roman"/>
                          <a:cs typeface="Times New Roman"/>
                          <a:sym typeface="Times New Roman"/>
                        </a:rPr>
                        <a:t>reclusione 25-30 anni e 30 anni se ne deriva la morte</a:t>
                      </a:r>
                    </a:p>
                  </a:txBody>
                  <a:tcPr marL="45720" marR="45720" anchor="ctr" horzOverflow="overflow">
                    <a:lnR w="12700">
                      <a:solidFill>
                        <a:srgbClr val="70AD47"/>
                      </a:solidFill>
                    </a:lnR>
                    <a:lnT w="12700">
                      <a:solidFill>
                        <a:srgbClr val="70AD47"/>
                      </a:solidFill>
                    </a:lnT>
                    <a:lnB w="12700">
                      <a:solidFill>
                        <a:srgbClr val="70AD47"/>
                      </a:solidFill>
                    </a:lnB>
                  </a:tcPr>
                </a:tc>
                <a:extLst>
                  <a:ext uri="{0D108BD9-81ED-4DB2-BD59-A6C34878D82A}">
                    <a16:rowId xmlns:a16="http://schemas.microsoft.com/office/drawing/2014/main" val="10002"/>
                  </a:ext>
                </a:extLst>
              </a:tr>
              <a:tr h="370840">
                <a:tc>
                  <a:txBody>
                    <a:bodyPr/>
                    <a:lstStyle/>
                    <a:p>
                      <a:pPr algn="l">
                        <a:defRPr sz="1800"/>
                      </a:pPr>
                      <a:r>
                        <a:rPr sz="2000">
                          <a:latin typeface="Times New Roman"/>
                          <a:ea typeface="Times New Roman"/>
                          <a:cs typeface="Times New Roman"/>
                          <a:sym typeface="Times New Roman"/>
                        </a:rPr>
                        <a:t>ELEMENTO SOGGETTIVO</a:t>
                      </a:r>
                    </a:p>
                  </a:txBody>
                  <a:tcPr marL="45720" marR="45720" anchor="ctr" horzOverflow="overflow">
                    <a:lnL w="12700">
                      <a:solidFill>
                        <a:srgbClr val="70AD47"/>
                      </a:solidFill>
                    </a:lnL>
                    <a:lnT w="12700">
                      <a:solidFill>
                        <a:srgbClr val="70AD47"/>
                      </a:solidFill>
                    </a:lnT>
                    <a:lnB w="12700">
                      <a:solidFill>
                        <a:srgbClr val="70AD47"/>
                      </a:solidFill>
                    </a:lnB>
                    <a:solidFill>
                      <a:srgbClr val="EBF1E8"/>
                    </a:solidFill>
                  </a:tcPr>
                </a:tc>
                <a:tc>
                  <a:txBody>
                    <a:bodyPr/>
                    <a:lstStyle/>
                    <a:p>
                      <a:pPr algn="l">
                        <a:defRPr sz="1800"/>
                      </a:pPr>
                      <a:r>
                        <a:rPr sz="2000">
                          <a:latin typeface="Times New Roman"/>
                          <a:ea typeface="Times New Roman"/>
                          <a:cs typeface="Times New Roman"/>
                          <a:sym typeface="Times New Roman"/>
                        </a:rPr>
                        <a:t>DOLO GENERICO</a:t>
                      </a:r>
                    </a:p>
                  </a:txBody>
                  <a:tcPr marL="45720" marR="45720" anchor="ctr" horzOverflow="overflow">
                    <a:lnT w="12700">
                      <a:solidFill>
                        <a:srgbClr val="70AD47"/>
                      </a:solidFill>
                    </a:lnT>
                    <a:lnB w="12700">
                      <a:solidFill>
                        <a:srgbClr val="70AD47"/>
                      </a:solidFill>
                    </a:lnB>
                    <a:solidFill>
                      <a:srgbClr val="EBF1E8"/>
                    </a:solidFill>
                  </a:tcPr>
                </a:tc>
                <a:tc>
                  <a:txBody>
                    <a:bodyPr/>
                    <a:lstStyle/>
                    <a:p>
                      <a:pPr algn="l">
                        <a:defRPr sz="1800"/>
                      </a:pPr>
                      <a:r>
                        <a:rPr sz="2000">
                          <a:latin typeface="Times New Roman"/>
                          <a:ea typeface="Times New Roman"/>
                          <a:cs typeface="Times New Roman"/>
                          <a:sym typeface="Times New Roman"/>
                        </a:rPr>
                        <a:t>DOLO SPECIFICO</a:t>
                      </a:r>
                    </a:p>
                  </a:txBody>
                  <a:tcPr marL="45720" marR="45720" anchor="ctr" horzOverflow="overflow">
                    <a:lnR w="12700">
                      <a:solidFill>
                        <a:srgbClr val="70AD47"/>
                      </a:solidFill>
                    </a:lnR>
                    <a:lnT w="12700">
                      <a:solidFill>
                        <a:srgbClr val="70AD47"/>
                      </a:solidFill>
                    </a:lnT>
                    <a:lnB w="12700">
                      <a:solidFill>
                        <a:srgbClr val="70AD47"/>
                      </a:solidFill>
                    </a:lnB>
                    <a:solidFill>
                      <a:srgbClr val="EBF1E8"/>
                    </a:solid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57</a:t>
            </a:fld>
            <a:endParaRPr/>
          </a:p>
        </p:txBody>
      </p:sp>
      <p:sp>
        <p:nvSpPr>
          <p:cNvPr id="613" name="CasellaDiTesto 8"/>
          <p:cNvSpPr txBox="1"/>
          <p:nvPr/>
        </p:nvSpPr>
        <p:spPr>
          <a:xfrm>
            <a:off x="153223" y="1030083"/>
            <a:ext cx="8837553" cy="40292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2E75B6"/>
                </a:solidFill>
                <a:latin typeface="Times New Roman"/>
                <a:ea typeface="Times New Roman"/>
                <a:cs typeface="Times New Roman"/>
                <a:sym typeface="Times New Roman"/>
              </a:defRPr>
            </a:pPr>
            <a:r>
              <a:t>Art. 610 c.p. Violenza privata</a:t>
            </a:r>
          </a:p>
          <a:p>
            <a:pPr algn="just">
              <a:spcBef>
                <a:spcPts val="600"/>
              </a:spcBef>
              <a:defRPr sz="2200" b="0" i="1">
                <a:latin typeface="Times New Roman"/>
                <a:ea typeface="Times New Roman"/>
                <a:cs typeface="Times New Roman"/>
                <a:sym typeface="Times New Roman"/>
              </a:defRPr>
            </a:pPr>
            <a:r>
              <a:t>«Chiunque, </a:t>
            </a:r>
            <a:r>
              <a:rPr b="1"/>
              <a:t>con violenza o minaccia</a:t>
            </a:r>
            <a:r>
              <a:t>, </a:t>
            </a:r>
            <a:r>
              <a:rPr b="1">
                <a:solidFill>
                  <a:srgbClr val="2E75B6"/>
                </a:solidFill>
              </a:rPr>
              <a:t>costringe altri a fare, tollerare od omettere qualche cosa </a:t>
            </a:r>
            <a:r>
              <a:t>è punito con la reclusione fino a quattro anni.</a:t>
            </a:r>
          </a:p>
          <a:p>
            <a:pPr algn="just">
              <a:spcBef>
                <a:spcPts val="600"/>
              </a:spcBef>
              <a:defRPr sz="2200" b="0" i="1">
                <a:latin typeface="Times New Roman"/>
                <a:ea typeface="Times New Roman"/>
                <a:cs typeface="Times New Roman"/>
                <a:sym typeface="Times New Roman"/>
              </a:defRPr>
            </a:pPr>
            <a:r>
              <a:t>La pena è aumentata se concorrono le condizioni prevedute </a:t>
            </a:r>
            <a:r>
              <a:rPr b="1"/>
              <a:t>dall'articolo 339</a:t>
            </a:r>
            <a:r>
              <a:t>.</a:t>
            </a:r>
          </a:p>
          <a:p>
            <a:pPr algn="just">
              <a:spcBef>
                <a:spcPts val="600"/>
              </a:spcBef>
              <a:defRPr sz="1800" b="0" i="1">
                <a:latin typeface="Times New Roman"/>
                <a:ea typeface="Times New Roman"/>
                <a:cs typeface="Times New Roman"/>
                <a:sym typeface="Times New Roman"/>
              </a:defRPr>
            </a:pPr>
            <a:r>
              <a:t>[…violenza o minaccia </a:t>
            </a:r>
            <a:r>
              <a:rPr sz="2000"/>
              <a:t>commessa nel corso di manifestazioni in luogo pubblico o aperto al pubblico ovvero con armi, da persona travisata ...]</a:t>
            </a:r>
          </a:p>
          <a:p>
            <a:pPr algn="just">
              <a:spcBef>
                <a:spcPts val="600"/>
              </a:spcBef>
              <a:defRPr sz="2200" b="0" i="1">
                <a:solidFill>
                  <a:srgbClr val="FF0000"/>
                </a:solidFill>
                <a:latin typeface="Times New Roman"/>
                <a:ea typeface="Times New Roman"/>
                <a:cs typeface="Times New Roman"/>
                <a:sym typeface="Times New Roman"/>
              </a:defRPr>
            </a:pPr>
            <a:r>
              <a:t>Il delitto è punibile a querela della persona offesa</a:t>
            </a:r>
            <a:r>
              <a:rPr>
                <a:solidFill>
                  <a:srgbClr val="000000"/>
                </a:solidFill>
              </a:rPr>
              <a:t>. Si procede tuttavia d’ufficio se il fatto è commesso nei confronti di persona incapace, per età o per infermità, ovvero se ricorre la circostanza di cui al secondo comma.»</a:t>
            </a:r>
          </a:p>
          <a:p>
            <a:pPr algn="just">
              <a:spcBef>
                <a:spcPts val="600"/>
              </a:spcBef>
              <a:defRPr sz="2200" b="0">
                <a:latin typeface="Times New Roman"/>
                <a:ea typeface="Times New Roman"/>
                <a:cs typeface="Times New Roman"/>
                <a:sym typeface="Times New Roman"/>
              </a:defRPr>
            </a:pPr>
            <a:r>
              <a:t>Il bene giuridico tutelato è la </a:t>
            </a:r>
            <a:r>
              <a:rPr b="1"/>
              <a:t>libertà morale</a:t>
            </a:r>
            <a:r>
              <a:t>, intesa come possibilità di determinarsi spontaneamente secondo motivi propri.</a:t>
            </a:r>
          </a:p>
        </p:txBody>
      </p:sp>
      <p:sp>
        <p:nvSpPr>
          <p:cNvPr id="614"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Violenza privata</a:t>
            </a:r>
          </a:p>
        </p:txBody>
      </p:sp>
      <p:sp>
        <p:nvSpPr>
          <p:cNvPr id="615" name="Rettangolo 6"/>
          <p:cNvSpPr/>
          <p:nvPr/>
        </p:nvSpPr>
        <p:spPr>
          <a:xfrm>
            <a:off x="6119867" y="5038976"/>
            <a:ext cx="4249084" cy="1708209"/>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nSpc>
                <a:spcPct val="114000"/>
              </a:lnSpc>
              <a:defRPr sz="20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Competenza: Tribunale Monocratico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Arresto facoltativo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Fermo non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Procedibilità d’ufficio</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58</a:t>
            </a:fld>
            <a:endParaRPr/>
          </a:p>
        </p:txBody>
      </p:sp>
      <p:sp>
        <p:nvSpPr>
          <p:cNvPr id="618" name="CasellaDiTesto 8"/>
          <p:cNvSpPr txBox="1"/>
          <p:nvPr/>
        </p:nvSpPr>
        <p:spPr>
          <a:xfrm>
            <a:off x="153223" y="1030084"/>
            <a:ext cx="8837553" cy="56167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u="sng">
                <a:solidFill>
                  <a:srgbClr val="2E75B6"/>
                </a:solidFill>
                <a:latin typeface="Times New Roman"/>
                <a:ea typeface="Times New Roman"/>
                <a:cs typeface="Times New Roman"/>
                <a:sym typeface="Times New Roman"/>
              </a:defRPr>
            </a:pPr>
            <a:r>
              <a:t>ELEMENTO OGGETTIVO</a:t>
            </a:r>
            <a:r>
              <a:rPr b="0" u="none">
                <a:solidFill>
                  <a:srgbClr val="000000"/>
                </a:solidFill>
              </a:rPr>
              <a:t>: consiste in una condotta che si sostanzia nel costringere altri:</a:t>
            </a:r>
          </a:p>
          <a:p>
            <a:pPr marL="342900" indent="-342900" algn="just">
              <a:spcBef>
                <a:spcPts val="600"/>
              </a:spcBef>
              <a:buSzPct val="100000"/>
              <a:buChar char="-"/>
              <a:defRPr sz="2200" b="0">
                <a:latin typeface="Times New Roman"/>
                <a:ea typeface="Times New Roman"/>
                <a:cs typeface="Times New Roman"/>
                <a:sym typeface="Times New Roman"/>
              </a:defRPr>
            </a:pPr>
            <a:r>
              <a:t>a </a:t>
            </a:r>
            <a:r>
              <a:rPr b="1">
                <a:solidFill>
                  <a:srgbClr val="2E75B6"/>
                </a:solidFill>
              </a:rPr>
              <a:t>fare</a:t>
            </a:r>
            <a:r>
              <a:t> qualche cosa;</a:t>
            </a:r>
          </a:p>
          <a:p>
            <a:pPr marL="342900" indent="-342900" algn="just">
              <a:spcBef>
                <a:spcPts val="600"/>
              </a:spcBef>
              <a:buSzPct val="100000"/>
              <a:buChar char="-"/>
              <a:defRPr sz="2200" b="0">
                <a:latin typeface="Times New Roman"/>
                <a:ea typeface="Times New Roman"/>
                <a:cs typeface="Times New Roman"/>
                <a:sym typeface="Times New Roman"/>
              </a:defRPr>
            </a:pPr>
            <a:r>
              <a:t>a </a:t>
            </a:r>
            <a:r>
              <a:rPr b="1">
                <a:solidFill>
                  <a:srgbClr val="2E75B6"/>
                </a:solidFill>
              </a:rPr>
              <a:t>tollerare</a:t>
            </a:r>
            <a:r>
              <a:t> qualche cosa;</a:t>
            </a:r>
          </a:p>
          <a:p>
            <a:pPr marL="342900" indent="-342900" algn="just">
              <a:spcBef>
                <a:spcPts val="600"/>
              </a:spcBef>
              <a:buSzPct val="100000"/>
              <a:buChar char="-"/>
              <a:defRPr sz="2200" b="0">
                <a:latin typeface="Times New Roman"/>
                <a:ea typeface="Times New Roman"/>
                <a:cs typeface="Times New Roman"/>
                <a:sym typeface="Times New Roman"/>
              </a:defRPr>
            </a:pPr>
            <a:r>
              <a:t>ad </a:t>
            </a:r>
            <a:r>
              <a:rPr b="1">
                <a:solidFill>
                  <a:srgbClr val="2E75B6"/>
                </a:solidFill>
              </a:rPr>
              <a:t>omettere</a:t>
            </a:r>
            <a:r>
              <a:t> qualche cosa.</a:t>
            </a:r>
          </a:p>
          <a:p>
            <a:pPr marL="342900" indent="-342900" algn="just">
              <a:spcBef>
                <a:spcPts val="600"/>
              </a:spcBef>
              <a:buSzPct val="100000"/>
              <a:buChar char="-"/>
              <a:defRPr sz="800" b="0">
                <a:latin typeface="Times New Roman"/>
                <a:ea typeface="Times New Roman"/>
                <a:cs typeface="Times New Roman"/>
                <a:sym typeface="Times New Roman"/>
              </a:defRPr>
            </a:pPr>
            <a:endParaRPr/>
          </a:p>
          <a:p>
            <a:pPr algn="just">
              <a:spcBef>
                <a:spcPts val="600"/>
              </a:spcBef>
              <a:defRPr sz="2200" b="0">
                <a:latin typeface="Times New Roman"/>
                <a:ea typeface="Times New Roman"/>
                <a:cs typeface="Times New Roman"/>
                <a:sym typeface="Times New Roman"/>
              </a:defRPr>
            </a:pPr>
            <a:r>
              <a:t>La configurabilità della fattispecie criminosa in questione presuppone che la condotta sia compiuta con:</a:t>
            </a:r>
          </a:p>
          <a:p>
            <a:pPr algn="just">
              <a:spcBef>
                <a:spcPts val="600"/>
              </a:spcBef>
              <a:defRPr sz="2200" b="0">
                <a:latin typeface="Times New Roman"/>
                <a:ea typeface="Times New Roman"/>
                <a:cs typeface="Times New Roman"/>
                <a:sym typeface="Times New Roman"/>
              </a:defRPr>
            </a:pPr>
            <a:r>
              <a:t>- </a:t>
            </a:r>
            <a:r>
              <a:rPr b="1">
                <a:solidFill>
                  <a:srgbClr val="2E75B6"/>
                </a:solidFill>
              </a:rPr>
              <a:t>violenza</a:t>
            </a:r>
            <a:r>
              <a:t> fisica o morale;</a:t>
            </a:r>
          </a:p>
          <a:p>
            <a:pPr algn="just">
              <a:spcBef>
                <a:spcPts val="600"/>
              </a:spcBef>
              <a:defRPr sz="2200" b="0">
                <a:latin typeface="Times New Roman"/>
                <a:ea typeface="Times New Roman"/>
                <a:cs typeface="Times New Roman"/>
                <a:sym typeface="Times New Roman"/>
              </a:defRPr>
            </a:pPr>
            <a:r>
              <a:t>- </a:t>
            </a:r>
            <a:r>
              <a:rPr b="1">
                <a:solidFill>
                  <a:srgbClr val="2E75B6"/>
                </a:solidFill>
              </a:rPr>
              <a:t>minaccia</a:t>
            </a:r>
            <a:r>
              <a:t> intesa come la prospettazione di un male ingiusto, il cui verificarsi dipenda dall’iniziativa dell’agente.</a:t>
            </a:r>
          </a:p>
          <a:p>
            <a:pPr algn="just">
              <a:spcBef>
                <a:spcPts val="600"/>
              </a:spcBef>
              <a:defRPr sz="800" b="0">
                <a:latin typeface="Times New Roman"/>
                <a:ea typeface="Times New Roman"/>
                <a:cs typeface="Times New Roman"/>
                <a:sym typeface="Times New Roman"/>
              </a:defRPr>
            </a:pPr>
            <a:endParaRPr/>
          </a:p>
          <a:p>
            <a:pPr algn="just">
              <a:spcBef>
                <a:spcPts val="600"/>
              </a:spcBef>
              <a:defRPr sz="2200" b="0">
                <a:latin typeface="Times New Roman"/>
                <a:ea typeface="Times New Roman"/>
                <a:cs typeface="Times New Roman"/>
                <a:sym typeface="Times New Roman"/>
              </a:defRPr>
            </a:pPr>
            <a:r>
              <a:t>La </a:t>
            </a:r>
            <a:r>
              <a:rPr b="1">
                <a:solidFill>
                  <a:srgbClr val="2E75B6"/>
                </a:solidFill>
              </a:rPr>
              <a:t>violenza o minaccia devono avere l’effetto di costringere taluno a fare, tollerare od omettere una condotta determinata</a:t>
            </a:r>
            <a:r>
              <a:t>, poiché in assenza di tale determinatezza possono integrarsi i reati di minaccia, molestia, percosse, ma non quello di violenza privata.</a:t>
            </a:r>
          </a:p>
        </p:txBody>
      </p:sp>
      <p:sp>
        <p:nvSpPr>
          <p:cNvPr id="619"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Violenza privata</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Segnaposto contenuto 1"/>
          <p:cNvSpPr txBox="1">
            <a:spLocks noGrp="1"/>
          </p:cNvSpPr>
          <p:nvPr>
            <p:ph type="body" idx="1"/>
          </p:nvPr>
        </p:nvSpPr>
        <p:spPr>
          <a:xfrm>
            <a:off x="628650" y="1124745"/>
            <a:ext cx="7886700" cy="5052219"/>
          </a:xfrm>
          <a:prstGeom prst="rect">
            <a:avLst/>
          </a:prstGeom>
        </p:spPr>
        <p:txBody>
          <a:bodyPr/>
          <a:lstStyle/>
          <a:p>
            <a:pPr marL="0" indent="0" algn="just">
              <a:buSzTx/>
              <a:buNone/>
              <a:defRPr b="1">
                <a:solidFill>
                  <a:srgbClr val="FF0000"/>
                </a:solidFill>
                <a:latin typeface="Times New Roman"/>
                <a:ea typeface="Times New Roman"/>
                <a:cs typeface="Times New Roman"/>
                <a:sym typeface="Times New Roman"/>
              </a:defRPr>
            </a:pPr>
            <a:r>
              <a:t>VIOLENZA FISICA</a:t>
            </a:r>
          </a:p>
          <a:p>
            <a:pPr marL="0" indent="0" algn="just">
              <a:buSzTx/>
              <a:buNone/>
              <a:defRPr b="1">
                <a:solidFill>
                  <a:srgbClr val="FF0000"/>
                </a:solidFill>
                <a:latin typeface="Times New Roman"/>
                <a:ea typeface="Times New Roman"/>
                <a:cs typeface="Times New Roman"/>
                <a:sym typeface="Times New Roman"/>
              </a:defRPr>
            </a:pPr>
            <a:endParaRPr/>
          </a:p>
          <a:p>
            <a:pPr marL="0" indent="0" algn="just">
              <a:buSzTx/>
              <a:buNone/>
              <a:defRPr b="1" u="sng">
                <a:latin typeface="Times New Roman"/>
                <a:ea typeface="Times New Roman"/>
                <a:cs typeface="Times New Roman"/>
                <a:sym typeface="Times New Roman"/>
              </a:defRPr>
            </a:pPr>
            <a:r>
              <a:t>Violenza propria: </a:t>
            </a:r>
            <a:r>
              <a:rPr b="0" u="none"/>
              <a:t>condotte che si risolvono nell’impiego di </a:t>
            </a:r>
            <a:r>
              <a:rPr b="0"/>
              <a:t>energia fisica</a:t>
            </a:r>
            <a:r>
              <a:rPr b="0" u="none"/>
              <a:t> nei confronti di una persona. </a:t>
            </a:r>
          </a:p>
          <a:p>
            <a:pPr marL="0" indent="0" algn="just">
              <a:buSzTx/>
              <a:buNone/>
              <a:defRPr>
                <a:latin typeface="Times New Roman"/>
                <a:ea typeface="Times New Roman"/>
                <a:cs typeface="Times New Roman"/>
                <a:sym typeface="Times New Roman"/>
              </a:defRPr>
            </a:pPr>
            <a:endParaRPr b="0" u="none"/>
          </a:p>
          <a:p>
            <a:pPr marL="0" indent="0" algn="just">
              <a:buSzTx/>
              <a:buNone/>
              <a:defRPr b="1" u="sng">
                <a:latin typeface="Times New Roman"/>
                <a:ea typeface="Times New Roman"/>
                <a:cs typeface="Times New Roman"/>
                <a:sym typeface="Times New Roman"/>
              </a:defRPr>
            </a:pPr>
            <a:r>
              <a:t>Violenza impropria:  </a:t>
            </a:r>
            <a:r>
              <a:rPr b="0" u="none"/>
              <a:t>ma si identifica anche con qualsiasi mezzo che sia idoneo a privare coattivamente della libertà di autodeterminazione e di azione l’offeso che sia costretto a fare, tollerare od omettere qualche cosa contro la propria volontà.</a:t>
            </a:r>
          </a:p>
        </p:txBody>
      </p:sp>
      <p:sp>
        <p:nvSpPr>
          <p:cNvPr id="622"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59</a:t>
            </a:fld>
            <a:endParaRPr/>
          </a:p>
        </p:txBody>
      </p:sp>
      <p:sp>
        <p:nvSpPr>
          <p:cNvPr id="623" name="Titolo 3"/>
          <p:cNvSpPr txBox="1">
            <a:spLocks noGrp="1"/>
          </p:cNvSpPr>
          <p:nvPr>
            <p:ph type="title"/>
          </p:nvPr>
        </p:nvSpPr>
        <p:spPr>
          <a:xfrm>
            <a:off x="628650" y="365127"/>
            <a:ext cx="7886700" cy="759619"/>
          </a:xfrm>
          <a:prstGeom prst="rect">
            <a:avLst/>
          </a:prstGeom>
        </p:spPr>
        <p:txBody>
          <a:bodyPr/>
          <a:lstStyle/>
          <a:p>
            <a:pPr defTabSz="758951">
              <a:defRPr sz="2324">
                <a:solidFill>
                  <a:schemeClr val="accent3">
                    <a:lumOff val="44000"/>
                  </a:schemeClr>
                </a:solidFill>
                <a:effectLst/>
                <a:latin typeface="Book Antiqua"/>
                <a:ea typeface="Book Antiqua"/>
                <a:cs typeface="Book Antiqua"/>
                <a:sym typeface="Book Antiqua"/>
              </a:defRPr>
            </a:pPr>
            <a:r>
              <a:t>Violenza privata</a:t>
            </a:r>
            <a:br/>
            <a:endParaRP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60</a:t>
            </a:fld>
            <a:endParaRPr/>
          </a:p>
        </p:txBody>
      </p:sp>
      <p:sp>
        <p:nvSpPr>
          <p:cNvPr id="626" name="CasellaDiTesto 8"/>
          <p:cNvSpPr txBox="1"/>
          <p:nvPr/>
        </p:nvSpPr>
        <p:spPr>
          <a:xfrm>
            <a:off x="153223" y="1030083"/>
            <a:ext cx="8837553" cy="38387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u="sng">
                <a:solidFill>
                  <a:srgbClr val="2E75B6"/>
                </a:solidFill>
                <a:latin typeface="Times New Roman"/>
                <a:ea typeface="Times New Roman"/>
                <a:cs typeface="Times New Roman"/>
                <a:sym typeface="Times New Roman"/>
              </a:defRPr>
            </a:pPr>
            <a:r>
              <a:t>ELEMENTO SOGGETTIVO</a:t>
            </a:r>
            <a:r>
              <a:rPr b="0" u="none">
                <a:solidFill>
                  <a:srgbClr val="000000"/>
                </a:solidFill>
              </a:rPr>
              <a:t>: è il </a:t>
            </a:r>
            <a:r>
              <a:rPr u="none"/>
              <a:t>DOLO GENERICO</a:t>
            </a:r>
            <a:r>
              <a:rPr b="0" u="none">
                <a:solidFill>
                  <a:srgbClr val="000000"/>
                </a:solidFill>
              </a:rPr>
              <a:t>, inteso come coscienza e volontà di coartare la volontà altrui.</a:t>
            </a:r>
          </a:p>
          <a:p>
            <a:pPr marL="342900" indent="-342900" algn="just">
              <a:spcBef>
                <a:spcPts val="600"/>
              </a:spcBef>
              <a:buSzPct val="100000"/>
              <a:buChar char="-"/>
              <a:defRPr sz="2200" b="0">
                <a:latin typeface="Times New Roman"/>
                <a:ea typeface="Times New Roman"/>
                <a:cs typeface="Times New Roman"/>
                <a:sym typeface="Times New Roman"/>
              </a:defRPr>
            </a:pPr>
            <a:endParaRPr b="0" u="none">
              <a:solidFill>
                <a:srgbClr val="000000"/>
              </a:solidFill>
            </a:endParaRPr>
          </a:p>
          <a:p>
            <a:pPr algn="just">
              <a:spcBef>
                <a:spcPts val="600"/>
              </a:spcBef>
              <a:defRPr sz="2200" b="0">
                <a:latin typeface="Times New Roman"/>
                <a:ea typeface="Times New Roman"/>
                <a:cs typeface="Times New Roman"/>
                <a:sym typeface="Times New Roman"/>
              </a:defRPr>
            </a:pPr>
            <a:r>
              <a:t>È un </a:t>
            </a:r>
            <a:r>
              <a:rPr b="1">
                <a:solidFill>
                  <a:srgbClr val="2E75B6"/>
                </a:solidFill>
              </a:rPr>
              <a:t>REATO COMUNE, DI DANNO, DI EVENTO </a:t>
            </a:r>
            <a:r>
              <a:t>perché si perfeziona con la verificazione dell'evento dannoso (costrizione);</a:t>
            </a:r>
          </a:p>
          <a:p>
            <a:pPr algn="just">
              <a:spcBef>
                <a:spcPts val="600"/>
              </a:spcBef>
              <a:defRPr sz="2200">
                <a:solidFill>
                  <a:srgbClr val="2E75B6"/>
                </a:solidFill>
                <a:latin typeface="Times New Roman"/>
                <a:ea typeface="Times New Roman"/>
                <a:cs typeface="Times New Roman"/>
                <a:sym typeface="Times New Roman"/>
              </a:defRPr>
            </a:pPr>
            <a:r>
              <a:t>A FORMA LIBERA----</a:t>
            </a:r>
            <a:endParaRPr b="0"/>
          </a:p>
          <a:p>
            <a:pPr algn="just">
              <a:spcBef>
                <a:spcPts val="600"/>
              </a:spcBef>
              <a:defRPr sz="2200" b="0">
                <a:latin typeface="Times New Roman"/>
                <a:ea typeface="Times New Roman"/>
                <a:cs typeface="Times New Roman"/>
                <a:sym typeface="Times New Roman"/>
              </a:defRPr>
            </a:pPr>
            <a:endParaRPr b="0"/>
          </a:p>
          <a:p>
            <a:pPr algn="just">
              <a:spcBef>
                <a:spcPts val="600"/>
              </a:spcBef>
              <a:defRPr sz="2200" b="0">
                <a:latin typeface="Times New Roman"/>
                <a:ea typeface="Times New Roman"/>
                <a:cs typeface="Times New Roman"/>
                <a:sym typeface="Times New Roman"/>
              </a:defRPr>
            </a:pPr>
            <a:r>
              <a:t>Si consuma nel momento in cui si realizza la costrizione e il tentativo è configurabile.</a:t>
            </a:r>
          </a:p>
        </p:txBody>
      </p:sp>
      <p:sp>
        <p:nvSpPr>
          <p:cNvPr id="627"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Violenza privata</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Segnaposto contenuto 1"/>
          <p:cNvSpPr txBox="1">
            <a:spLocks noGrp="1"/>
          </p:cNvSpPr>
          <p:nvPr>
            <p:ph type="body" idx="1"/>
          </p:nvPr>
        </p:nvSpPr>
        <p:spPr>
          <a:xfrm>
            <a:off x="357707" y="1052735"/>
            <a:ext cx="8157644" cy="5616626"/>
          </a:xfrm>
          <a:prstGeom prst="rect">
            <a:avLst/>
          </a:prstGeom>
        </p:spPr>
        <p:txBody>
          <a:bodyPr/>
          <a:lstStyle/>
          <a:p>
            <a:pPr marL="0" indent="0" algn="just">
              <a:lnSpc>
                <a:spcPct val="72000"/>
              </a:lnSpc>
              <a:buSzTx/>
              <a:buNone/>
              <a:defRPr sz="2000" b="1">
                <a:solidFill>
                  <a:srgbClr val="FF0000"/>
                </a:solidFill>
                <a:latin typeface="Times New Roman"/>
                <a:ea typeface="Times New Roman"/>
                <a:cs typeface="Times New Roman"/>
                <a:sym typeface="Times New Roman"/>
              </a:defRPr>
            </a:pPr>
            <a:r>
              <a:t>Mancata collaborazione: </a:t>
            </a:r>
            <a:endParaRPr sz="1900"/>
          </a:p>
          <a:p>
            <a:pPr marL="0" indent="0" algn="just">
              <a:lnSpc>
                <a:spcPct val="72000"/>
              </a:lnSpc>
              <a:buSzTx/>
              <a:buNone/>
              <a:defRPr sz="2000" b="1" u="sng">
                <a:latin typeface="Times New Roman"/>
                <a:ea typeface="Times New Roman"/>
                <a:cs typeface="Times New Roman"/>
                <a:sym typeface="Times New Roman"/>
              </a:defRPr>
            </a:pPr>
            <a:r>
              <a:t>esula</a:t>
            </a:r>
            <a:r>
              <a:rPr b="0" u="none"/>
              <a:t> dal reato in questione la </a:t>
            </a:r>
            <a:r>
              <a:rPr b="0"/>
              <a:t>condotta omissiva che si risolva in una forma passiva di mancata cooperazione</a:t>
            </a:r>
            <a:r>
              <a:rPr b="0" u="none"/>
              <a:t>. </a:t>
            </a:r>
            <a:endParaRPr sz="1900"/>
          </a:p>
          <a:p>
            <a:pPr marL="0" indent="0" algn="just">
              <a:lnSpc>
                <a:spcPct val="72000"/>
              </a:lnSpc>
              <a:buSzTx/>
              <a:buNone/>
              <a:defRPr sz="2000">
                <a:latin typeface="Times New Roman"/>
                <a:ea typeface="Times New Roman"/>
                <a:cs typeface="Times New Roman"/>
                <a:sym typeface="Times New Roman"/>
              </a:defRPr>
            </a:pPr>
            <a:r>
              <a:t>In ragione di ciò si è escluso che integrasse il delitto di violenza privata la mancata consegna delle nuove chiavi dell’abitazione familiare da parte del marito alla moglie, con cui in precedenza era stata concordata la sostituzione della serratura [sez. V, n. 15651/2014]. </a:t>
            </a:r>
            <a:endParaRPr sz="1900"/>
          </a:p>
          <a:p>
            <a:pPr marL="0" indent="0" algn="just">
              <a:lnSpc>
                <a:spcPct val="72000"/>
              </a:lnSpc>
              <a:buSzTx/>
              <a:buNone/>
              <a:defRPr sz="2000">
                <a:latin typeface="Times New Roman"/>
                <a:ea typeface="Times New Roman"/>
                <a:cs typeface="Times New Roman"/>
                <a:sym typeface="Times New Roman"/>
              </a:defRPr>
            </a:pPr>
            <a:r>
              <a:t>Diverso sarebbe stato se i lavori di sostituzione della serratura fossero avvenuti per volontà di uno solo dei due conviventi, così da impedire all’altro di accedere all’appartamento. In quest’ultimo caso si sarebbe realizzata una violenza privata, rilevando il cambio “abusivo” della serratura come una forma di </a:t>
            </a:r>
            <a:r>
              <a:rPr b="1" u="sng">
                <a:solidFill>
                  <a:srgbClr val="9966FF"/>
                </a:solidFill>
              </a:rPr>
              <a:t>violenza impropia</a:t>
            </a:r>
            <a:r>
              <a:t>. Si può affermare che esula dal reato in questione la condotta meramente omissiva tenuta in relazione ad un’altrui richiesta di collaborazione</a:t>
            </a:r>
            <a:endParaRPr sz="1900"/>
          </a:p>
          <a:p>
            <a:pPr algn="just">
              <a:lnSpc>
                <a:spcPct val="72000"/>
              </a:lnSpc>
              <a:defRPr sz="2900" u="sng"/>
            </a:pPr>
            <a:endParaRPr sz="1900"/>
          </a:p>
          <a:p>
            <a:pPr marL="0" indent="0" algn="just">
              <a:lnSpc>
                <a:spcPct val="72000"/>
              </a:lnSpc>
              <a:buSzTx/>
              <a:buNone/>
              <a:defRPr sz="2000"/>
            </a:pPr>
            <a:r>
              <a:t>-c.d. </a:t>
            </a:r>
            <a:r>
              <a:rPr b="1">
                <a:solidFill>
                  <a:srgbClr val="FF0000"/>
                </a:solidFill>
              </a:rPr>
              <a:t>«PICCHETTAGGIO OSTRUZIONISTICO» </a:t>
            </a:r>
            <a:r>
              <a:t>consiste nella predisposizione di ostacoli materiali – eventualmente anche con i propri corpi – da parte degli scioperanti, al fine di impedire l’altrui ingresso nei luoghi di lavoro</a:t>
            </a:r>
            <a:endParaRPr sz="2900">
              <a:solidFill>
                <a:srgbClr val="FF0000"/>
              </a:solidFill>
            </a:endParaRPr>
          </a:p>
          <a:p>
            <a:pPr algn="just">
              <a:lnSpc>
                <a:spcPct val="72000"/>
              </a:lnSpc>
              <a:defRPr sz="2000">
                <a:solidFill>
                  <a:srgbClr val="FF0000"/>
                </a:solidFill>
              </a:defRPr>
            </a:pPr>
            <a:r>
              <a:t> </a:t>
            </a:r>
            <a:r>
              <a:rPr>
                <a:solidFill>
                  <a:srgbClr val="000000"/>
                </a:solidFill>
              </a:rPr>
              <a:t>esula dal diritto di sciopero ed è punito.</a:t>
            </a:r>
          </a:p>
        </p:txBody>
      </p:sp>
      <p:sp>
        <p:nvSpPr>
          <p:cNvPr id="630" name="Segnaposto numero diapositiva 2"/>
          <p:cNvSpPr txBox="1">
            <a:spLocks noGrp="1"/>
          </p:cNvSpPr>
          <p:nvPr>
            <p:ph type="sldNum" sz="quarter" idx="2"/>
          </p:nvPr>
        </p:nvSpPr>
        <p:spPr>
          <a:xfrm>
            <a:off x="8258809" y="6401181"/>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61</a:t>
            </a:fld>
            <a:endParaRPr/>
          </a:p>
        </p:txBody>
      </p:sp>
      <p:sp>
        <p:nvSpPr>
          <p:cNvPr id="631" name="Titolo 3"/>
          <p:cNvSpPr txBox="1">
            <a:spLocks noGrp="1"/>
          </p:cNvSpPr>
          <p:nvPr>
            <p:ph type="title"/>
          </p:nvPr>
        </p:nvSpPr>
        <p:spPr>
          <a:xfrm>
            <a:off x="899591" y="107041"/>
            <a:ext cx="7886701" cy="1325563"/>
          </a:xfrm>
          <a:prstGeom prst="rect">
            <a:avLst/>
          </a:prstGeom>
        </p:spPr>
        <p:txBody>
          <a:bodyPr/>
          <a:lstStyle/>
          <a:p>
            <a:pPr>
              <a:defRPr sz="3200">
                <a:solidFill>
                  <a:schemeClr val="accent3">
                    <a:lumOff val="44000"/>
                  </a:schemeClr>
                </a:solidFill>
                <a:effectLst/>
                <a:latin typeface="Book Antiqua"/>
                <a:ea typeface="Book Antiqua"/>
                <a:cs typeface="Book Antiqua"/>
                <a:sym typeface="Book Antiqua"/>
              </a:defRPr>
            </a:pPr>
            <a:r>
              <a:t>Violenza privata</a:t>
            </a:r>
            <a:br/>
            <a:endParaRP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62</a:t>
            </a:fld>
            <a:endParaRPr/>
          </a:p>
        </p:txBody>
      </p:sp>
      <p:sp>
        <p:nvSpPr>
          <p:cNvPr id="634" name="CasellaDiTesto 8"/>
          <p:cNvSpPr txBox="1"/>
          <p:nvPr/>
        </p:nvSpPr>
        <p:spPr>
          <a:xfrm>
            <a:off x="153223" y="1030084"/>
            <a:ext cx="8837553" cy="3880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00B0F0"/>
                </a:solidFill>
                <a:latin typeface="Times New Roman"/>
                <a:ea typeface="Times New Roman"/>
                <a:cs typeface="Times New Roman"/>
                <a:sym typeface="Times New Roman"/>
              </a:defRPr>
            </a:pPr>
            <a:r>
              <a:t>Art. 612 c.p. Minaccia</a:t>
            </a:r>
          </a:p>
          <a:p>
            <a:pPr algn="just">
              <a:spcBef>
                <a:spcPts val="600"/>
              </a:spcBef>
              <a:defRPr sz="2200" b="0" i="1">
                <a:latin typeface="Times New Roman"/>
                <a:ea typeface="Times New Roman"/>
                <a:cs typeface="Times New Roman"/>
                <a:sym typeface="Times New Roman"/>
              </a:defRPr>
            </a:pPr>
            <a:r>
              <a:t>«Chiunque </a:t>
            </a:r>
            <a:r>
              <a:rPr b="1">
                <a:solidFill>
                  <a:srgbClr val="00B0F0"/>
                </a:solidFill>
              </a:rPr>
              <a:t>minaccia ad altri un ingiusto danno </a:t>
            </a:r>
            <a:r>
              <a:t>è punito, a querela della persona offesa con la </a:t>
            </a:r>
            <a:r>
              <a:rPr b="1"/>
              <a:t>multa fino a euro 1032</a:t>
            </a:r>
            <a:r>
              <a:t>.</a:t>
            </a:r>
          </a:p>
          <a:p>
            <a:pPr algn="just">
              <a:spcBef>
                <a:spcPts val="600"/>
              </a:spcBef>
              <a:defRPr sz="2200" b="0" i="1">
                <a:latin typeface="Times New Roman"/>
                <a:ea typeface="Times New Roman"/>
                <a:cs typeface="Times New Roman"/>
                <a:sym typeface="Times New Roman"/>
              </a:defRPr>
            </a:pPr>
            <a:r>
              <a:t>Se la minaccia è grave, o è fatta in uno dei modi indicati nell'articolo 339, la pena è della </a:t>
            </a:r>
            <a:r>
              <a:rPr b="1"/>
              <a:t>reclusione fino a un anno</a:t>
            </a:r>
            <a:r>
              <a:t>.</a:t>
            </a:r>
          </a:p>
          <a:p>
            <a:pPr algn="just">
              <a:spcBef>
                <a:spcPts val="600"/>
              </a:spcBef>
              <a:defRPr sz="2200" b="0" i="1">
                <a:latin typeface="Times New Roman"/>
                <a:ea typeface="Times New Roman"/>
                <a:cs typeface="Times New Roman"/>
                <a:sym typeface="Times New Roman"/>
              </a:defRPr>
            </a:pPr>
            <a:r>
              <a:t>Si </a:t>
            </a:r>
            <a:r>
              <a:rPr>
                <a:solidFill>
                  <a:srgbClr val="FF0000"/>
                </a:solidFill>
              </a:rPr>
              <a:t>procede d'ufficio </a:t>
            </a:r>
            <a:r>
              <a:t>se la minaccia è fatta in uno dei modi indicati nell'articolo 339, ovvero se la minaccia è grave e ricorrono circostanze aggravanti ad effetto speciale diverse dalla recidiva, ovvero se la persona offesa è incapace, per età o per infermità.”  »</a:t>
            </a:r>
          </a:p>
          <a:p>
            <a:pPr algn="just">
              <a:spcBef>
                <a:spcPts val="600"/>
              </a:spcBef>
              <a:defRPr sz="1500" b="0" i="1">
                <a:latin typeface="Times New Roman"/>
                <a:ea typeface="Times New Roman"/>
                <a:cs typeface="Times New Roman"/>
                <a:sym typeface="Times New Roman"/>
              </a:defRPr>
            </a:pPr>
            <a:endParaRPr/>
          </a:p>
        </p:txBody>
      </p:sp>
      <p:sp>
        <p:nvSpPr>
          <p:cNvPr id="635"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Minaccia</a:t>
            </a:r>
          </a:p>
        </p:txBody>
      </p:sp>
      <p:sp>
        <p:nvSpPr>
          <p:cNvPr id="636" name="Rettangolo 6"/>
          <p:cNvSpPr/>
          <p:nvPr/>
        </p:nvSpPr>
        <p:spPr>
          <a:xfrm>
            <a:off x="2123727" y="4923601"/>
            <a:ext cx="6768753" cy="1708209"/>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nSpc>
                <a:spcPct val="114000"/>
              </a:lnSpc>
              <a:defRPr sz="20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Competenza: c.1 Giudice di Pace; c.2 Tribunale Monocratico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Arresto non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Fermo non consentito</a:t>
            </a:r>
          </a:p>
          <a:p>
            <a:pPr marL="171450" indent="-171450" algn="just">
              <a:lnSpc>
                <a:spcPct val="114000"/>
              </a:lnSpc>
              <a:buSzPct val="100000"/>
              <a:buFont typeface="Arial"/>
              <a:buChar char="•"/>
              <a:defRPr sz="2000" b="0">
                <a:latin typeface="Times New Roman"/>
                <a:ea typeface="Times New Roman"/>
                <a:cs typeface="Times New Roman"/>
                <a:sym typeface="Times New Roman"/>
              </a:defRPr>
            </a:pPr>
            <a:r>
              <a:t>Procedibilità: c.1 a querela; c.2 d’ufficio</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63</a:t>
            </a:fld>
            <a:endParaRPr/>
          </a:p>
        </p:txBody>
      </p:sp>
      <p:sp>
        <p:nvSpPr>
          <p:cNvPr id="639" name="CasellaDiTesto 8"/>
          <p:cNvSpPr txBox="1"/>
          <p:nvPr/>
        </p:nvSpPr>
        <p:spPr>
          <a:xfrm>
            <a:off x="153223" y="1030084"/>
            <a:ext cx="8837553" cy="5197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b="0">
                <a:latin typeface="Times New Roman"/>
                <a:ea typeface="Times New Roman"/>
                <a:cs typeface="Times New Roman"/>
                <a:sym typeface="Times New Roman"/>
              </a:defRPr>
            </a:pPr>
            <a:r>
              <a:t>L’interesse tutelato è la </a:t>
            </a:r>
            <a:r>
              <a:rPr b="1">
                <a:solidFill>
                  <a:srgbClr val="00B0F0"/>
                </a:solidFill>
              </a:rPr>
              <a:t>libera determinazione del soggetto </a:t>
            </a:r>
            <a:r>
              <a:t>e, di conseguenza, la sua </a:t>
            </a:r>
            <a:r>
              <a:rPr b="1">
                <a:solidFill>
                  <a:srgbClr val="00B0F0"/>
                </a:solidFill>
              </a:rPr>
              <a:t>libertà morale</a:t>
            </a:r>
            <a:r>
              <a:t>.</a:t>
            </a:r>
          </a:p>
          <a:p>
            <a:pPr algn="just">
              <a:spcBef>
                <a:spcPts val="600"/>
              </a:spcBef>
              <a:defRPr sz="800" b="0">
                <a:latin typeface="Times New Roman"/>
                <a:ea typeface="Times New Roman"/>
                <a:cs typeface="Times New Roman"/>
                <a:sym typeface="Times New Roman"/>
              </a:defRPr>
            </a:pPr>
            <a:endParaRPr/>
          </a:p>
          <a:p>
            <a:pPr algn="just">
              <a:spcBef>
                <a:spcPts val="600"/>
              </a:spcBef>
              <a:defRPr sz="2200" u="sng">
                <a:solidFill>
                  <a:srgbClr val="00B0F0"/>
                </a:solidFill>
                <a:latin typeface="Times New Roman"/>
                <a:ea typeface="Times New Roman"/>
                <a:cs typeface="Times New Roman"/>
                <a:sym typeface="Times New Roman"/>
              </a:defRPr>
            </a:pPr>
            <a:r>
              <a:t>ELEMENTO OGGETTIVO </a:t>
            </a:r>
            <a:r>
              <a:rPr b="0" u="none">
                <a:solidFill>
                  <a:srgbClr val="000000"/>
                </a:solidFill>
              </a:rPr>
              <a:t>consiste nel </a:t>
            </a:r>
            <a:r>
              <a:rPr u="none"/>
              <a:t>minacciare</a:t>
            </a:r>
            <a:r>
              <a:rPr b="0" u="none">
                <a:solidFill>
                  <a:srgbClr val="000000"/>
                </a:solidFill>
              </a:rPr>
              <a:t> </a:t>
            </a:r>
            <a:r>
              <a:rPr u="none"/>
              <a:t>a taluno di un danno ingiusto</a:t>
            </a:r>
            <a:r>
              <a:rPr b="0" u="none">
                <a:solidFill>
                  <a:srgbClr val="000000"/>
                </a:solidFill>
              </a:rPr>
              <a:t>: </a:t>
            </a:r>
          </a:p>
          <a:p>
            <a:pPr marL="342900" indent="-342900" algn="just">
              <a:spcBef>
                <a:spcPts val="600"/>
              </a:spcBef>
              <a:buSzPct val="100000"/>
              <a:buFont typeface="Arial"/>
              <a:buChar char="•"/>
              <a:defRPr sz="2200" b="0">
                <a:latin typeface="Times New Roman"/>
                <a:ea typeface="Times New Roman"/>
                <a:cs typeface="Times New Roman"/>
                <a:sym typeface="Times New Roman"/>
              </a:defRPr>
            </a:pPr>
            <a:r>
              <a:t>la </a:t>
            </a:r>
            <a:r>
              <a:rPr b="1">
                <a:solidFill>
                  <a:srgbClr val="00B0F0"/>
                </a:solidFill>
              </a:rPr>
              <a:t>MINACCIA</a:t>
            </a:r>
            <a:r>
              <a:t> è un qualsiasi comportamento idoneo ad incutere timore, e cioè a suscitare in altri la preoccupazione di soffrire un male ingiusto, la cui realizzazione dipenda dalla volontà del soggetto attivo, e che comunque offende o diminuisce l'altrui libertà morale.</a:t>
            </a:r>
          </a:p>
          <a:p>
            <a:pPr marL="342900" indent="-342900" algn="just">
              <a:spcBef>
                <a:spcPts val="600"/>
              </a:spcBef>
              <a:buSzPct val="100000"/>
              <a:buFont typeface="Arial"/>
              <a:buChar char="•"/>
              <a:defRPr sz="2200" b="0">
                <a:latin typeface="Times New Roman"/>
                <a:ea typeface="Times New Roman"/>
                <a:cs typeface="Times New Roman"/>
                <a:sym typeface="Times New Roman"/>
              </a:defRPr>
            </a:pPr>
            <a:r>
              <a:t>il </a:t>
            </a:r>
            <a:r>
              <a:rPr b="1">
                <a:solidFill>
                  <a:srgbClr val="00B0F0"/>
                </a:solidFill>
              </a:rPr>
              <a:t>DANNO INGIUSTO </a:t>
            </a:r>
            <a:r>
              <a:t>si identifica con qualunque lesione di un interesse giuridicamente rilevante, contrario a disposizioni di legge, alle regole di convivenza civile o provocato per perseguire scopi vietati dalla legge.</a:t>
            </a:r>
          </a:p>
          <a:p>
            <a:pPr algn="just">
              <a:spcBef>
                <a:spcPts val="600"/>
              </a:spcBef>
              <a:defRPr sz="2200" b="0">
                <a:latin typeface="Times New Roman"/>
                <a:ea typeface="Times New Roman"/>
                <a:cs typeface="Times New Roman"/>
                <a:sym typeface="Times New Roman"/>
              </a:defRPr>
            </a:pPr>
            <a:r>
              <a:t>Per la sussistenza del delitto di minaccia non è sufficiente la prospettazione di un male futuro, essendo necessario che il verificarsi del detto male dipenda dalla volontà dell’agente.</a:t>
            </a:r>
          </a:p>
        </p:txBody>
      </p:sp>
      <p:sp>
        <p:nvSpPr>
          <p:cNvPr id="640"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Minaccia</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64</a:t>
            </a:fld>
            <a:endParaRPr/>
          </a:p>
        </p:txBody>
      </p:sp>
      <p:sp>
        <p:nvSpPr>
          <p:cNvPr id="643" name="CasellaDiTesto 8"/>
          <p:cNvSpPr txBox="1"/>
          <p:nvPr/>
        </p:nvSpPr>
        <p:spPr>
          <a:xfrm>
            <a:off x="153223" y="1030084"/>
            <a:ext cx="8837553" cy="4016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b="0">
                <a:latin typeface="Times New Roman"/>
                <a:ea typeface="Times New Roman"/>
                <a:cs typeface="Times New Roman"/>
                <a:sym typeface="Times New Roman"/>
              </a:defRPr>
            </a:pPr>
            <a:r>
              <a:t>Per la configurazione del reato è necessario che il </a:t>
            </a:r>
            <a:r>
              <a:rPr b="1"/>
              <a:t>destinatario</a:t>
            </a:r>
            <a:r>
              <a:t> della minaccia sia </a:t>
            </a:r>
            <a:r>
              <a:rPr b="1">
                <a:solidFill>
                  <a:srgbClr val="00B0F0"/>
                </a:solidFill>
              </a:rPr>
              <a:t>individuabile</a:t>
            </a:r>
            <a:r>
              <a:t>.</a:t>
            </a:r>
          </a:p>
          <a:p>
            <a:pPr algn="just">
              <a:spcBef>
                <a:spcPts val="600"/>
              </a:spcBef>
              <a:defRPr sz="2200" b="0">
                <a:latin typeface="Times New Roman"/>
                <a:ea typeface="Times New Roman"/>
                <a:cs typeface="Times New Roman"/>
                <a:sym typeface="Times New Roman"/>
              </a:defRPr>
            </a:pPr>
            <a:r>
              <a:t>Non occorre che le espressioni intimidatorie siano pronunciate in presenza della persona offesa, </a:t>
            </a:r>
            <a:r>
              <a:rPr b="1">
                <a:solidFill>
                  <a:srgbClr val="00B0F0"/>
                </a:solidFill>
              </a:rPr>
              <a:t>essendo solo necessario che questa sia venuta a conoscenza</a:t>
            </a:r>
            <a:r>
              <a:t> anche tramite altre persone, a condizione che ciò avvenga in un contesto per il quale si ritenga che l’agente abbia avuto la volontà di produrre l’effetto intimidatorio.</a:t>
            </a:r>
          </a:p>
          <a:p>
            <a:pPr algn="just">
              <a:spcBef>
                <a:spcPts val="600"/>
              </a:spcBef>
              <a:defRPr sz="2200" b="0">
                <a:latin typeface="Times New Roman"/>
                <a:ea typeface="Times New Roman"/>
                <a:cs typeface="Times New Roman"/>
                <a:sym typeface="Times New Roman"/>
              </a:defRPr>
            </a:pPr>
            <a:endParaRPr/>
          </a:p>
          <a:p>
            <a:pPr algn="just">
              <a:spcBef>
                <a:spcPts val="600"/>
              </a:spcBef>
              <a:defRPr sz="2200" u="sng">
                <a:solidFill>
                  <a:srgbClr val="00B0F0"/>
                </a:solidFill>
                <a:latin typeface="Times New Roman"/>
                <a:ea typeface="Times New Roman"/>
                <a:cs typeface="Times New Roman"/>
                <a:sym typeface="Times New Roman"/>
              </a:defRPr>
            </a:pPr>
            <a:r>
              <a:t>ELEMENTO SOGGETTIVO </a:t>
            </a:r>
            <a:r>
              <a:rPr b="0" u="none">
                <a:solidFill>
                  <a:srgbClr val="000000"/>
                </a:solidFill>
              </a:rPr>
              <a:t>è il </a:t>
            </a:r>
            <a:r>
              <a:rPr u="none"/>
              <a:t>DOLO GENERICO</a:t>
            </a:r>
            <a:r>
              <a:rPr b="0" u="none">
                <a:solidFill>
                  <a:srgbClr val="000000"/>
                </a:solidFill>
              </a:rPr>
              <a:t>, inteso come coscienza e volontà di minacciare la volontà di taluno.</a:t>
            </a:r>
          </a:p>
        </p:txBody>
      </p:sp>
      <p:sp>
        <p:nvSpPr>
          <p:cNvPr id="644"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Minaccia</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65</a:t>
            </a:fld>
            <a:endParaRPr/>
          </a:p>
        </p:txBody>
      </p:sp>
      <p:sp>
        <p:nvSpPr>
          <p:cNvPr id="647" name="CasellaDiTesto 8"/>
          <p:cNvSpPr txBox="1"/>
          <p:nvPr/>
        </p:nvSpPr>
        <p:spPr>
          <a:xfrm>
            <a:off x="153223" y="1030084"/>
            <a:ext cx="8837553" cy="32932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200" b="0">
                <a:latin typeface="Times New Roman"/>
                <a:ea typeface="Times New Roman"/>
                <a:cs typeface="Times New Roman"/>
                <a:sym typeface="Times New Roman"/>
              </a:defRPr>
            </a:pPr>
            <a:r>
              <a:rPr dirty="0"/>
              <a:t>La </a:t>
            </a:r>
            <a:r>
              <a:rPr dirty="0" err="1"/>
              <a:t>giurisprudenza</a:t>
            </a:r>
            <a:r>
              <a:rPr dirty="0"/>
              <a:t> </a:t>
            </a:r>
            <a:r>
              <a:rPr dirty="0" err="1"/>
              <a:t>ritiene</a:t>
            </a:r>
            <a:r>
              <a:rPr dirty="0"/>
              <a:t> </a:t>
            </a:r>
            <a:r>
              <a:rPr dirty="0" err="1"/>
              <a:t>che</a:t>
            </a:r>
            <a:r>
              <a:rPr dirty="0"/>
              <a:t> </a:t>
            </a:r>
            <a:r>
              <a:rPr dirty="0" err="1"/>
              <a:t>il</a:t>
            </a:r>
            <a:r>
              <a:rPr dirty="0"/>
              <a:t> </a:t>
            </a:r>
            <a:r>
              <a:rPr b="1" dirty="0" err="1">
                <a:solidFill>
                  <a:srgbClr val="00B0F0"/>
                </a:solidFill>
              </a:rPr>
              <a:t>danno</a:t>
            </a:r>
            <a:r>
              <a:rPr dirty="0"/>
              <a:t> </a:t>
            </a:r>
            <a:r>
              <a:rPr dirty="0" err="1"/>
              <a:t>può</a:t>
            </a:r>
            <a:r>
              <a:rPr dirty="0"/>
              <a:t> </a:t>
            </a:r>
            <a:r>
              <a:rPr dirty="0" err="1"/>
              <a:t>considerarsi</a:t>
            </a:r>
            <a:r>
              <a:rPr dirty="0"/>
              <a:t> </a:t>
            </a:r>
            <a:r>
              <a:rPr b="1" dirty="0">
                <a:solidFill>
                  <a:srgbClr val="00B0F0"/>
                </a:solidFill>
              </a:rPr>
              <a:t>giusto</a:t>
            </a:r>
            <a:r>
              <a:rPr dirty="0"/>
              <a:t> e, </a:t>
            </a:r>
            <a:r>
              <a:rPr dirty="0" err="1"/>
              <a:t>quindi</a:t>
            </a:r>
            <a:r>
              <a:rPr dirty="0"/>
              <a:t>, </a:t>
            </a:r>
            <a:r>
              <a:rPr dirty="0" err="1"/>
              <a:t>può</a:t>
            </a:r>
            <a:r>
              <a:rPr dirty="0"/>
              <a:t> </a:t>
            </a:r>
            <a:r>
              <a:rPr dirty="0" err="1"/>
              <a:t>essere</a:t>
            </a:r>
            <a:r>
              <a:rPr dirty="0"/>
              <a:t> </a:t>
            </a:r>
            <a:r>
              <a:rPr dirty="0" err="1"/>
              <a:t>giustificata</a:t>
            </a:r>
            <a:r>
              <a:rPr dirty="0"/>
              <a:t> la </a:t>
            </a:r>
            <a:r>
              <a:rPr dirty="0" err="1"/>
              <a:t>minaccia</a:t>
            </a:r>
            <a:r>
              <a:rPr dirty="0"/>
              <a:t>, solo se </a:t>
            </a:r>
            <a:r>
              <a:rPr dirty="0" err="1"/>
              <a:t>questa</a:t>
            </a:r>
            <a:r>
              <a:rPr dirty="0"/>
              <a:t> </a:t>
            </a:r>
            <a:r>
              <a:rPr dirty="0" err="1"/>
              <a:t>rappresenta</a:t>
            </a:r>
            <a:r>
              <a:rPr dirty="0"/>
              <a:t> </a:t>
            </a:r>
            <a:r>
              <a:rPr dirty="0" err="1"/>
              <a:t>il</a:t>
            </a:r>
            <a:r>
              <a:rPr dirty="0"/>
              <a:t> mezzo </a:t>
            </a:r>
            <a:r>
              <a:rPr dirty="0" err="1"/>
              <a:t>necessario</a:t>
            </a:r>
            <a:r>
              <a:rPr dirty="0"/>
              <a:t> per </a:t>
            </a:r>
            <a:r>
              <a:rPr dirty="0" err="1"/>
              <a:t>evitare</a:t>
            </a:r>
            <a:r>
              <a:rPr dirty="0"/>
              <a:t> la </a:t>
            </a:r>
            <a:r>
              <a:rPr dirty="0" err="1"/>
              <a:t>lesione</a:t>
            </a:r>
            <a:r>
              <a:rPr dirty="0"/>
              <a:t> di un interesse, </a:t>
            </a:r>
            <a:r>
              <a:rPr dirty="0" err="1"/>
              <a:t>materiale</a:t>
            </a:r>
            <a:r>
              <a:rPr dirty="0"/>
              <a:t> o morale, </a:t>
            </a:r>
            <a:r>
              <a:rPr dirty="0" err="1"/>
              <a:t>posto</a:t>
            </a:r>
            <a:r>
              <a:rPr dirty="0"/>
              <a:t> in </a:t>
            </a:r>
            <a:r>
              <a:rPr dirty="0" err="1"/>
              <a:t>pericolo</a:t>
            </a:r>
            <a:r>
              <a:rPr dirty="0"/>
              <a:t> </a:t>
            </a:r>
            <a:r>
              <a:rPr dirty="0" err="1"/>
              <a:t>dalla</a:t>
            </a:r>
            <a:r>
              <a:rPr dirty="0"/>
              <a:t> persona </a:t>
            </a:r>
            <a:r>
              <a:rPr dirty="0" err="1"/>
              <a:t>minacciata</a:t>
            </a:r>
            <a:r>
              <a:rPr dirty="0"/>
              <a:t> (Corte </a:t>
            </a:r>
            <a:r>
              <a:rPr dirty="0" err="1"/>
              <a:t>Cassazione</a:t>
            </a:r>
            <a:r>
              <a:rPr dirty="0"/>
              <a:t> 11 </a:t>
            </a:r>
            <a:r>
              <a:rPr dirty="0" err="1"/>
              <a:t>febbraio</a:t>
            </a:r>
            <a:r>
              <a:rPr dirty="0"/>
              <a:t> 1976).</a:t>
            </a:r>
          </a:p>
          <a:p>
            <a:pPr algn="just">
              <a:spcBef>
                <a:spcPts val="600"/>
              </a:spcBef>
              <a:defRPr sz="2200" b="0">
                <a:latin typeface="Times New Roman"/>
                <a:ea typeface="Times New Roman"/>
                <a:cs typeface="Times New Roman"/>
                <a:sym typeface="Times New Roman"/>
              </a:defRPr>
            </a:pPr>
            <a:endParaRPr dirty="0"/>
          </a:p>
          <a:p>
            <a:pPr algn="just">
              <a:spcBef>
                <a:spcPts val="600"/>
              </a:spcBef>
              <a:defRPr sz="2200" b="0">
                <a:latin typeface="Times New Roman"/>
                <a:ea typeface="Times New Roman"/>
                <a:cs typeface="Times New Roman"/>
                <a:sym typeface="Times New Roman"/>
              </a:defRPr>
            </a:pPr>
            <a:r>
              <a:rPr dirty="0"/>
              <a:t>È un </a:t>
            </a:r>
            <a:r>
              <a:rPr b="1" dirty="0">
                <a:solidFill>
                  <a:srgbClr val="00B0F0"/>
                </a:solidFill>
              </a:rPr>
              <a:t>REATO COMUNE</a:t>
            </a:r>
            <a:r>
              <a:rPr dirty="0"/>
              <a:t>, </a:t>
            </a:r>
            <a:r>
              <a:rPr b="1" dirty="0">
                <a:solidFill>
                  <a:srgbClr val="00B0F0"/>
                </a:solidFill>
              </a:rPr>
              <a:t>DI PERICOLO</a:t>
            </a:r>
            <a:r>
              <a:rPr dirty="0"/>
              <a:t>, </a:t>
            </a:r>
            <a:r>
              <a:rPr dirty="0" err="1"/>
              <a:t>perché</a:t>
            </a:r>
            <a:r>
              <a:rPr dirty="0"/>
              <a:t> </a:t>
            </a:r>
            <a:r>
              <a:rPr dirty="0" err="1"/>
              <a:t>richiede</a:t>
            </a:r>
            <a:r>
              <a:rPr dirty="0"/>
              <a:t> </a:t>
            </a:r>
            <a:r>
              <a:rPr dirty="0" err="1"/>
              <a:t>l'offesa</a:t>
            </a:r>
            <a:r>
              <a:rPr dirty="0"/>
              <a:t> in </a:t>
            </a:r>
            <a:r>
              <a:rPr dirty="0" err="1"/>
              <a:t>senso</a:t>
            </a:r>
            <a:r>
              <a:rPr dirty="0"/>
              <a:t> </a:t>
            </a:r>
            <a:r>
              <a:rPr dirty="0" err="1"/>
              <a:t>giuridico</a:t>
            </a:r>
            <a:r>
              <a:rPr dirty="0"/>
              <a:t> del bene </a:t>
            </a:r>
            <a:r>
              <a:rPr dirty="0" err="1"/>
              <a:t>protetto</a:t>
            </a:r>
            <a:r>
              <a:rPr dirty="0"/>
              <a:t> (</a:t>
            </a:r>
            <a:r>
              <a:rPr dirty="0" err="1"/>
              <a:t>minaccia</a:t>
            </a:r>
            <a:r>
              <a:rPr dirty="0"/>
              <a:t>=</a:t>
            </a:r>
            <a:r>
              <a:rPr dirty="0" err="1"/>
              <a:t>prospettazione</a:t>
            </a:r>
            <a:r>
              <a:rPr dirty="0"/>
              <a:t> di un male), </a:t>
            </a:r>
            <a:br>
              <a:rPr dirty="0"/>
            </a:br>
            <a:r>
              <a:rPr b="1" dirty="0">
                <a:solidFill>
                  <a:srgbClr val="00B0F0"/>
                </a:solidFill>
              </a:rPr>
              <a:t>DI MERA CONDOTTA</a:t>
            </a:r>
            <a:r>
              <a:rPr dirty="0"/>
              <a:t>, </a:t>
            </a:r>
            <a:r>
              <a:rPr dirty="0" err="1"/>
              <a:t>perché</a:t>
            </a:r>
            <a:r>
              <a:rPr dirty="0"/>
              <a:t> </a:t>
            </a:r>
            <a:r>
              <a:rPr dirty="0" err="1"/>
              <a:t>si</a:t>
            </a:r>
            <a:r>
              <a:rPr dirty="0"/>
              <a:t> </a:t>
            </a:r>
            <a:r>
              <a:rPr dirty="0" err="1"/>
              <a:t>perfeziona</a:t>
            </a:r>
            <a:r>
              <a:rPr dirty="0"/>
              <a:t> con la semplice </a:t>
            </a:r>
            <a:r>
              <a:rPr dirty="0" err="1"/>
              <a:t>esecuzione</a:t>
            </a:r>
            <a:r>
              <a:rPr dirty="0"/>
              <a:t> </a:t>
            </a:r>
            <a:r>
              <a:rPr dirty="0" err="1"/>
              <a:t>dell'azione</a:t>
            </a:r>
            <a:r>
              <a:rPr dirty="0"/>
              <a:t> </a:t>
            </a:r>
            <a:r>
              <a:rPr dirty="0" err="1"/>
              <a:t>illecita</a:t>
            </a:r>
            <a:r>
              <a:rPr dirty="0"/>
              <a:t>, </a:t>
            </a:r>
            <a:r>
              <a:rPr b="1" dirty="0">
                <a:solidFill>
                  <a:srgbClr val="00B0F0"/>
                </a:solidFill>
              </a:rPr>
              <a:t>A FORMA </a:t>
            </a:r>
            <a:r>
              <a:rPr lang="it-IT" b="1" dirty="0">
                <a:solidFill>
                  <a:srgbClr val="00B0F0"/>
                </a:solidFill>
              </a:rPr>
              <a:t>Libera.</a:t>
            </a:r>
            <a:endParaRPr dirty="0"/>
          </a:p>
        </p:txBody>
      </p:sp>
      <p:sp>
        <p:nvSpPr>
          <p:cNvPr id="648" name="Text Box 5"/>
          <p:cNvSpPr txBox="1"/>
          <p:nvPr/>
        </p:nvSpPr>
        <p:spPr>
          <a:xfrm>
            <a:off x="872155" y="110242"/>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Minaccia</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Rectangle 6"/>
          <p:cNvSpPr txBox="1">
            <a:spLocks noGrp="1"/>
          </p:cNvSpPr>
          <p:nvPr>
            <p:ph type="sldNum" sz="quarter" idx="2"/>
          </p:nvPr>
        </p:nvSpPr>
        <p:spPr>
          <a:xfrm>
            <a:off x="8487411"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66</a:t>
            </a:fld>
            <a:endParaRPr/>
          </a:p>
        </p:txBody>
      </p:sp>
      <p:sp>
        <p:nvSpPr>
          <p:cNvPr id="651" name="CasellaDiTesto 8"/>
          <p:cNvSpPr txBox="1"/>
          <p:nvPr/>
        </p:nvSpPr>
        <p:spPr>
          <a:xfrm>
            <a:off x="153223" y="1030084"/>
            <a:ext cx="8837553" cy="4245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spcBef>
                <a:spcPts val="600"/>
              </a:spcBef>
              <a:defRPr sz="2400">
                <a:solidFill>
                  <a:srgbClr val="0712E9"/>
                </a:solidFill>
                <a:latin typeface="Times New Roman"/>
                <a:ea typeface="Times New Roman"/>
                <a:cs typeface="Times New Roman"/>
                <a:sym typeface="Times New Roman"/>
              </a:defRPr>
            </a:pPr>
            <a:r>
              <a:t>Art. 614 c.p. Violazione di domicilio</a:t>
            </a:r>
          </a:p>
          <a:p>
            <a:pPr algn="just">
              <a:spcBef>
                <a:spcPts val="600"/>
              </a:spcBef>
              <a:defRPr sz="2200" b="0" i="1">
                <a:latin typeface="Times New Roman"/>
                <a:ea typeface="Times New Roman"/>
                <a:cs typeface="Times New Roman"/>
                <a:sym typeface="Times New Roman"/>
              </a:defRPr>
            </a:pPr>
            <a:r>
              <a:t>«Chiunque </a:t>
            </a:r>
            <a:r>
              <a:rPr b="1">
                <a:solidFill>
                  <a:srgbClr val="0712E9"/>
                </a:solidFill>
              </a:rPr>
              <a:t>s'introduce </a:t>
            </a:r>
            <a:r>
              <a:t>nell'abitazione altrui, o in un altro luogo di privata dimora, o nelle appartenenze di essi, </a:t>
            </a:r>
            <a:r>
              <a:rPr b="1">
                <a:solidFill>
                  <a:srgbClr val="0712E9"/>
                </a:solidFill>
              </a:rPr>
              <a:t>contro la volontà espressa o tacita di chi ha il diritto di escluderlo</a:t>
            </a:r>
            <a:r>
              <a:t>, ovvero vi </a:t>
            </a:r>
            <a:r>
              <a:rPr b="1">
                <a:solidFill>
                  <a:srgbClr val="0712E9"/>
                </a:solidFill>
              </a:rPr>
              <a:t>s'introduce clandestinamente o con inganno</a:t>
            </a:r>
            <a:r>
              <a:t>, è punito con la reclusione da sei mesi a tre anni.</a:t>
            </a:r>
          </a:p>
          <a:p>
            <a:pPr algn="just">
              <a:spcBef>
                <a:spcPts val="600"/>
              </a:spcBef>
              <a:defRPr sz="2000" b="0" i="1">
                <a:latin typeface="Times New Roman"/>
                <a:ea typeface="Times New Roman"/>
                <a:cs typeface="Times New Roman"/>
                <a:sym typeface="Times New Roman"/>
              </a:defRPr>
            </a:pPr>
            <a:r>
              <a:t>Alla stessa pena soggiace chi </a:t>
            </a:r>
            <a:r>
              <a:rPr b="1">
                <a:solidFill>
                  <a:srgbClr val="0712E9"/>
                </a:solidFill>
              </a:rPr>
              <a:t>si trattiene </a:t>
            </a:r>
            <a:r>
              <a:t>nei detti luoghi </a:t>
            </a:r>
            <a:r>
              <a:rPr b="1">
                <a:solidFill>
                  <a:srgbClr val="0712E9"/>
                </a:solidFill>
              </a:rPr>
              <a:t>contro l'espressa volontà di chi ha diritto di escluderlo</a:t>
            </a:r>
            <a:r>
              <a:t>, ovvero vi </a:t>
            </a:r>
            <a:r>
              <a:rPr b="1">
                <a:solidFill>
                  <a:srgbClr val="0712E9"/>
                </a:solidFill>
              </a:rPr>
              <a:t>si trattiene clandestinamente o con inganno</a:t>
            </a:r>
            <a:r>
              <a:t>.</a:t>
            </a:r>
          </a:p>
          <a:p>
            <a:pPr algn="just">
              <a:spcBef>
                <a:spcPts val="600"/>
              </a:spcBef>
              <a:defRPr sz="2000" b="0" i="1">
                <a:latin typeface="Times New Roman"/>
                <a:ea typeface="Times New Roman"/>
                <a:cs typeface="Times New Roman"/>
                <a:sym typeface="Times New Roman"/>
              </a:defRPr>
            </a:pPr>
            <a:r>
              <a:t>Il delitto è punibile </a:t>
            </a:r>
            <a:r>
              <a:rPr b="1"/>
              <a:t>a querela </a:t>
            </a:r>
            <a:r>
              <a:t>della persona offesa.</a:t>
            </a:r>
          </a:p>
          <a:p>
            <a:pPr algn="just">
              <a:spcBef>
                <a:spcPts val="600"/>
              </a:spcBef>
              <a:defRPr sz="2200" b="0" i="1">
                <a:latin typeface="Times New Roman"/>
                <a:ea typeface="Times New Roman"/>
                <a:cs typeface="Times New Roman"/>
                <a:sym typeface="Times New Roman"/>
              </a:defRPr>
            </a:pPr>
            <a:r>
              <a:t>La pena è da uno a cinque anni, </a:t>
            </a:r>
            <a:r>
              <a:rPr>
                <a:solidFill>
                  <a:srgbClr val="FF0000"/>
                </a:solidFill>
              </a:rPr>
              <a:t>e </a:t>
            </a:r>
            <a:r>
              <a:rPr b="1">
                <a:solidFill>
                  <a:srgbClr val="FF0000"/>
                </a:solidFill>
              </a:rPr>
              <a:t>si procede d'ufficio </a:t>
            </a:r>
            <a:r>
              <a:t>(50 c.p.p.), se il fatto è commesso con </a:t>
            </a:r>
            <a:r>
              <a:rPr b="1"/>
              <a:t>violenza sulle cose </a:t>
            </a:r>
            <a:r>
              <a:t>(392), o </a:t>
            </a:r>
            <a:r>
              <a:rPr b="1"/>
              <a:t>alle persone </a:t>
            </a:r>
            <a:r>
              <a:t>(581, 582), ovvero se il colpevole è </a:t>
            </a:r>
            <a:r>
              <a:rPr b="1"/>
              <a:t>palesemente armato</a:t>
            </a:r>
            <a:r>
              <a:t> o se il fatto è commesso con violenza sulle cose nei confronti di persona incapace, per età o per infermità.»</a:t>
            </a:r>
          </a:p>
        </p:txBody>
      </p:sp>
      <p:sp>
        <p:nvSpPr>
          <p:cNvPr id="652" name="Text Box 5"/>
          <p:cNvSpPr txBox="1"/>
          <p:nvPr/>
        </p:nvSpPr>
        <p:spPr>
          <a:xfrm>
            <a:off x="872155" y="117474"/>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Violazione di domicilio</a:t>
            </a:r>
          </a:p>
        </p:txBody>
      </p:sp>
      <p:sp>
        <p:nvSpPr>
          <p:cNvPr id="653" name="Rettangolo 6"/>
          <p:cNvSpPr/>
          <p:nvPr/>
        </p:nvSpPr>
        <p:spPr>
          <a:xfrm>
            <a:off x="570423" y="5557065"/>
            <a:ext cx="4392490" cy="1218976"/>
          </a:xfrm>
          <a:prstGeom prst="rect">
            <a:avLst/>
          </a:prstGeom>
          <a:ln>
            <a:solidFill>
              <a:srgbClr val="000000"/>
            </a:solid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nSpc>
                <a:spcPct val="114000"/>
              </a:lnSpc>
              <a:defRPr sz="1400" b="0" u="sng">
                <a:latin typeface="Times New Roman"/>
                <a:ea typeface="Times New Roman"/>
                <a:cs typeface="Times New Roman"/>
                <a:sym typeface="Times New Roman"/>
              </a:defRPr>
            </a:pPr>
            <a:r>
              <a:t>Note</a:t>
            </a:r>
            <a:r>
              <a:rPr u="none"/>
              <a:t>:</a:t>
            </a:r>
          </a:p>
          <a:p>
            <a:pPr marL="171450" indent="-171450" algn="just">
              <a:lnSpc>
                <a:spcPct val="114000"/>
              </a:lnSpc>
              <a:buSzPct val="100000"/>
              <a:buFont typeface="Arial"/>
              <a:buChar char="•"/>
              <a:defRPr sz="1400" b="0">
                <a:latin typeface="Times New Roman"/>
                <a:ea typeface="Times New Roman"/>
                <a:cs typeface="Times New Roman"/>
                <a:sym typeface="Times New Roman"/>
              </a:defRPr>
            </a:pPr>
            <a:r>
              <a:t>Competenza: Tribunale Monocratico</a:t>
            </a:r>
          </a:p>
          <a:p>
            <a:pPr marL="171450" indent="-171450" algn="just">
              <a:lnSpc>
                <a:spcPct val="114000"/>
              </a:lnSpc>
              <a:buSzPct val="100000"/>
              <a:buFont typeface="Arial"/>
              <a:buChar char="•"/>
              <a:defRPr sz="1400" b="0">
                <a:latin typeface="Times New Roman"/>
                <a:ea typeface="Times New Roman"/>
                <a:cs typeface="Times New Roman"/>
                <a:sym typeface="Times New Roman"/>
              </a:defRPr>
            </a:pPr>
            <a:r>
              <a:t>Arresto facoltativo</a:t>
            </a:r>
          </a:p>
          <a:p>
            <a:pPr marL="171450" indent="-171450" algn="just">
              <a:lnSpc>
                <a:spcPct val="114000"/>
              </a:lnSpc>
              <a:buSzPct val="100000"/>
              <a:buFont typeface="Arial"/>
              <a:buChar char="•"/>
              <a:defRPr sz="1400" b="0">
                <a:latin typeface="Times New Roman"/>
                <a:ea typeface="Times New Roman"/>
                <a:cs typeface="Times New Roman"/>
                <a:sym typeface="Times New Roman"/>
              </a:defRPr>
            </a:pPr>
            <a:r>
              <a:t>Fermo non consentito</a:t>
            </a:r>
          </a:p>
          <a:p>
            <a:pPr marL="171450" indent="-171450" algn="just">
              <a:lnSpc>
                <a:spcPct val="114000"/>
              </a:lnSpc>
              <a:buSzPct val="100000"/>
              <a:buFont typeface="Arial"/>
              <a:buChar char="•"/>
              <a:defRPr sz="1400" b="0">
                <a:latin typeface="Times New Roman"/>
                <a:ea typeface="Times New Roman"/>
                <a:cs typeface="Times New Roman"/>
                <a:sym typeface="Times New Roman"/>
              </a:defRPr>
            </a:pPr>
            <a:r>
              <a:t>Procedibilità: c.1-2 a querela; c.4 d’ufficio</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67</a:t>
            </a:fld>
            <a:endParaRPr/>
          </a:p>
        </p:txBody>
      </p:sp>
      <p:sp>
        <p:nvSpPr>
          <p:cNvPr id="656" name="CasellaDiTesto 13"/>
          <p:cNvSpPr txBox="1"/>
          <p:nvPr/>
        </p:nvSpPr>
        <p:spPr>
          <a:xfrm>
            <a:off x="72008" y="989536"/>
            <a:ext cx="9036496" cy="3999600"/>
          </a:xfrm>
          <a:prstGeom prst="rect">
            <a:avLst/>
          </a:prstGeom>
          <a:solidFill>
            <a:srgbClr val="DEEBF7"/>
          </a:solidFill>
          <a:ln w="12700">
            <a:solidFill>
              <a:srgbClr val="42719B"/>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400" i="1">
                <a:solidFill>
                  <a:srgbClr val="002F8E"/>
                </a:solidFill>
                <a:latin typeface="Times New Roman"/>
                <a:ea typeface="Times New Roman"/>
                <a:cs typeface="Times New Roman"/>
                <a:sym typeface="Times New Roman"/>
              </a:defRPr>
            </a:pPr>
            <a:r>
              <a:rPr dirty="0"/>
              <a:t>Cosa </a:t>
            </a:r>
            <a:r>
              <a:rPr dirty="0" err="1"/>
              <a:t>si</a:t>
            </a:r>
            <a:r>
              <a:rPr dirty="0"/>
              <a:t> </a:t>
            </a:r>
            <a:r>
              <a:rPr dirty="0" err="1"/>
              <a:t>intende</a:t>
            </a:r>
            <a:r>
              <a:rPr dirty="0"/>
              <a:t> con </a:t>
            </a:r>
            <a:r>
              <a:rPr dirty="0" err="1"/>
              <a:t>il</a:t>
            </a:r>
            <a:r>
              <a:rPr dirty="0"/>
              <a:t> </a:t>
            </a:r>
            <a:r>
              <a:rPr dirty="0" err="1"/>
              <a:t>termine</a:t>
            </a:r>
            <a:r>
              <a:rPr dirty="0"/>
              <a:t> </a:t>
            </a:r>
            <a:r>
              <a:rPr dirty="0" err="1"/>
              <a:t>domicilio</a:t>
            </a:r>
            <a:r>
              <a:rPr dirty="0"/>
              <a:t>?</a:t>
            </a:r>
            <a:endParaRPr dirty="0">
              <a:solidFill>
                <a:schemeClr val="accent3">
                  <a:lumOff val="44000"/>
                </a:schemeClr>
              </a:solidFill>
              <a:latin typeface="Calibri"/>
              <a:ea typeface="Calibri"/>
              <a:cs typeface="Calibri"/>
              <a:sym typeface="Calibri"/>
            </a:endParaRPr>
          </a:p>
          <a:p>
            <a:pPr algn="ctr">
              <a:defRPr sz="800" i="1">
                <a:solidFill>
                  <a:srgbClr val="002F8E"/>
                </a:solidFill>
                <a:latin typeface="Times New Roman"/>
                <a:ea typeface="Times New Roman"/>
                <a:cs typeface="Times New Roman"/>
                <a:sym typeface="Times New Roman"/>
              </a:defRPr>
            </a:pPr>
            <a:endParaRPr dirty="0">
              <a:solidFill>
                <a:schemeClr val="accent3">
                  <a:lumOff val="44000"/>
                </a:schemeClr>
              </a:solidFill>
              <a:latin typeface="Calibri"/>
              <a:ea typeface="Calibri"/>
              <a:cs typeface="Calibri"/>
              <a:sym typeface="Calibri"/>
            </a:endParaRPr>
          </a:p>
          <a:p>
            <a:pPr algn="ctr">
              <a:defRPr sz="2400" i="1">
                <a:solidFill>
                  <a:srgbClr val="002F8E"/>
                </a:solidFill>
                <a:latin typeface="Times New Roman"/>
                <a:ea typeface="Times New Roman"/>
                <a:cs typeface="Times New Roman"/>
                <a:sym typeface="Times New Roman"/>
              </a:defRPr>
            </a:pPr>
            <a:r>
              <a:rPr dirty="0" err="1"/>
              <a:t>Nozione</a:t>
            </a:r>
            <a:r>
              <a:rPr dirty="0"/>
              <a:t> </a:t>
            </a:r>
            <a:r>
              <a:rPr dirty="0" err="1"/>
              <a:t>penalistica</a:t>
            </a:r>
            <a:r>
              <a:rPr dirty="0"/>
              <a:t> di DOMICILIO</a:t>
            </a:r>
            <a:endParaRPr dirty="0">
              <a:solidFill>
                <a:schemeClr val="accent3">
                  <a:lumOff val="44000"/>
                </a:schemeClr>
              </a:solidFill>
              <a:latin typeface="Calibri"/>
              <a:ea typeface="Calibri"/>
              <a:cs typeface="Calibri"/>
              <a:sym typeface="Calibri"/>
            </a:endParaRPr>
          </a:p>
          <a:p>
            <a:pPr algn="ctr">
              <a:defRPr sz="2200" i="1">
                <a:solidFill>
                  <a:srgbClr val="44546A"/>
                </a:solidFill>
                <a:latin typeface="Times New Roman"/>
                <a:ea typeface="Times New Roman"/>
                <a:cs typeface="Times New Roman"/>
                <a:sym typeface="Times New Roman"/>
              </a:defRPr>
            </a:pPr>
            <a:endParaRPr dirty="0">
              <a:solidFill>
                <a:schemeClr val="accent3">
                  <a:lumOff val="44000"/>
                </a:schemeClr>
              </a:solidFill>
              <a:latin typeface="Calibri"/>
              <a:ea typeface="Calibri"/>
              <a:cs typeface="Calibri"/>
              <a:sym typeface="Calibri"/>
            </a:endParaRPr>
          </a:p>
          <a:p>
            <a:pPr marL="342900" indent="-342900" algn="just">
              <a:lnSpc>
                <a:spcPct val="150000"/>
              </a:lnSpc>
              <a:buSzPct val="100000"/>
              <a:buChar char="➢"/>
              <a:defRPr sz="2200" b="0">
                <a:solidFill>
                  <a:srgbClr val="002F8E"/>
                </a:solidFill>
                <a:latin typeface="Times New Roman"/>
                <a:ea typeface="Times New Roman"/>
                <a:cs typeface="Times New Roman"/>
                <a:sym typeface="Times New Roman"/>
              </a:defRPr>
            </a:pPr>
            <a:r>
              <a:rPr dirty="0"/>
              <a:t>Secondo </a:t>
            </a:r>
            <a:r>
              <a:rPr dirty="0" err="1"/>
              <a:t>il</a:t>
            </a:r>
            <a:r>
              <a:rPr dirty="0"/>
              <a:t> </a:t>
            </a:r>
            <a:r>
              <a:rPr b="1" dirty="0" err="1"/>
              <a:t>codice</a:t>
            </a:r>
            <a:r>
              <a:rPr b="1" dirty="0"/>
              <a:t> </a:t>
            </a:r>
            <a:r>
              <a:rPr b="1" dirty="0" err="1"/>
              <a:t>civile</a:t>
            </a:r>
            <a:r>
              <a:rPr b="1" dirty="0"/>
              <a:t> </a:t>
            </a:r>
            <a:r>
              <a:rPr b="1" dirty="0" err="1"/>
              <a:t>il</a:t>
            </a:r>
            <a:r>
              <a:rPr b="1" dirty="0"/>
              <a:t> </a:t>
            </a:r>
            <a:r>
              <a:rPr b="1" dirty="0" err="1"/>
              <a:t>domicilio</a:t>
            </a:r>
            <a:r>
              <a:rPr b="1" dirty="0"/>
              <a:t> </a:t>
            </a:r>
            <a:r>
              <a:rPr dirty="0"/>
              <a:t>è </a:t>
            </a:r>
            <a:r>
              <a:rPr dirty="0" err="1"/>
              <a:t>il</a:t>
            </a:r>
            <a:r>
              <a:rPr dirty="0"/>
              <a:t> </a:t>
            </a:r>
            <a:r>
              <a:rPr dirty="0" err="1"/>
              <a:t>luogo</a:t>
            </a:r>
            <a:r>
              <a:rPr dirty="0"/>
              <a:t> </a:t>
            </a:r>
            <a:r>
              <a:rPr dirty="0" err="1"/>
              <a:t>nel</a:t>
            </a:r>
            <a:r>
              <a:rPr dirty="0"/>
              <a:t> quale una persona ha </a:t>
            </a:r>
            <a:r>
              <a:rPr dirty="0" err="1"/>
              <a:t>stabilito</a:t>
            </a:r>
            <a:r>
              <a:rPr dirty="0"/>
              <a:t> la </a:t>
            </a:r>
            <a:r>
              <a:rPr dirty="0" err="1"/>
              <a:t>sede</a:t>
            </a:r>
            <a:r>
              <a:rPr dirty="0"/>
              <a:t> </a:t>
            </a:r>
            <a:r>
              <a:rPr dirty="0" err="1"/>
              <a:t>principale</a:t>
            </a:r>
            <a:r>
              <a:rPr dirty="0"/>
              <a:t> </a:t>
            </a:r>
            <a:r>
              <a:rPr dirty="0" err="1"/>
              <a:t>dei</a:t>
            </a:r>
            <a:r>
              <a:rPr dirty="0"/>
              <a:t> </a:t>
            </a:r>
            <a:r>
              <a:rPr dirty="0" err="1"/>
              <a:t>suoi</a:t>
            </a:r>
            <a:r>
              <a:rPr dirty="0"/>
              <a:t> </a:t>
            </a:r>
            <a:r>
              <a:rPr dirty="0" err="1"/>
              <a:t>affari</a:t>
            </a:r>
            <a:r>
              <a:rPr dirty="0"/>
              <a:t> e </a:t>
            </a:r>
            <a:r>
              <a:rPr dirty="0" err="1"/>
              <a:t>interessi</a:t>
            </a:r>
            <a:r>
              <a:rPr dirty="0"/>
              <a:t>. </a:t>
            </a:r>
            <a:endParaRPr dirty="0">
              <a:solidFill>
                <a:schemeClr val="accent3">
                  <a:lumOff val="44000"/>
                </a:schemeClr>
              </a:solidFill>
              <a:latin typeface="Calibri"/>
              <a:ea typeface="Calibri"/>
              <a:cs typeface="Calibri"/>
              <a:sym typeface="Calibri"/>
            </a:endParaRPr>
          </a:p>
          <a:p>
            <a:pPr marL="342900" indent="-342900" algn="just">
              <a:lnSpc>
                <a:spcPct val="150000"/>
              </a:lnSpc>
              <a:buSzPct val="100000"/>
              <a:buChar char="➢"/>
              <a:defRPr sz="2200" u="sng">
                <a:solidFill>
                  <a:srgbClr val="0712E9"/>
                </a:solidFill>
                <a:latin typeface="Times New Roman"/>
                <a:ea typeface="Times New Roman"/>
                <a:cs typeface="Times New Roman"/>
                <a:sym typeface="Times New Roman"/>
              </a:defRPr>
            </a:pPr>
            <a:r>
              <a:rPr dirty="0"/>
              <a:t>Secondo la </a:t>
            </a:r>
            <a:r>
              <a:rPr dirty="0" err="1"/>
              <a:t>legge</a:t>
            </a:r>
            <a:r>
              <a:rPr dirty="0"/>
              <a:t> </a:t>
            </a:r>
            <a:r>
              <a:rPr dirty="0" err="1"/>
              <a:t>penale</a:t>
            </a:r>
            <a:r>
              <a:rPr u="none" dirty="0"/>
              <a:t> </a:t>
            </a:r>
            <a:r>
              <a:rPr u="none" dirty="0" err="1"/>
              <a:t>il</a:t>
            </a:r>
            <a:r>
              <a:rPr u="none" dirty="0"/>
              <a:t> </a:t>
            </a:r>
            <a:r>
              <a:rPr u="none" dirty="0" err="1"/>
              <a:t>domicilio</a:t>
            </a:r>
            <a:r>
              <a:rPr u="none" dirty="0"/>
              <a:t> </a:t>
            </a:r>
            <a:r>
              <a:rPr u="none" dirty="0" err="1"/>
              <a:t>consiste</a:t>
            </a:r>
            <a:r>
              <a:rPr u="none" dirty="0"/>
              <a:t> in </a:t>
            </a:r>
            <a:r>
              <a:rPr u="none" dirty="0" err="1"/>
              <a:t>ogni</a:t>
            </a:r>
            <a:r>
              <a:rPr u="none" dirty="0"/>
              <a:t> </a:t>
            </a:r>
            <a:r>
              <a:rPr u="none" dirty="0" err="1"/>
              <a:t>luogo</a:t>
            </a:r>
            <a:r>
              <a:rPr u="none" dirty="0"/>
              <a:t> </a:t>
            </a:r>
            <a:r>
              <a:rPr u="none" dirty="0" err="1"/>
              <a:t>privato</a:t>
            </a:r>
            <a:r>
              <a:rPr u="none" dirty="0"/>
              <a:t> dove </a:t>
            </a:r>
            <a:r>
              <a:rPr u="none" dirty="0" err="1"/>
              <a:t>si</a:t>
            </a:r>
            <a:r>
              <a:rPr u="none" dirty="0"/>
              <a:t> </a:t>
            </a:r>
            <a:r>
              <a:rPr u="none" dirty="0" err="1"/>
              <a:t>svolge</a:t>
            </a:r>
            <a:r>
              <a:rPr u="none" dirty="0"/>
              <a:t> la vita, </a:t>
            </a:r>
            <a:r>
              <a:rPr u="none" dirty="0" err="1"/>
              <a:t>lavorativa</a:t>
            </a:r>
            <a:r>
              <a:rPr u="none" dirty="0"/>
              <a:t> e non, </a:t>
            </a:r>
            <a:r>
              <a:rPr u="none" dirty="0" err="1"/>
              <a:t>dell’individuo</a:t>
            </a:r>
            <a:r>
              <a:rPr b="0" u="none" dirty="0">
                <a:solidFill>
                  <a:srgbClr val="002F8E"/>
                </a:solidFill>
              </a:rPr>
              <a:t>.</a:t>
            </a:r>
            <a:endParaRPr dirty="0">
              <a:solidFill>
                <a:schemeClr val="accent3">
                  <a:lumOff val="44000"/>
                </a:schemeClr>
              </a:solidFill>
              <a:latin typeface="Calibri"/>
              <a:ea typeface="Calibri"/>
              <a:cs typeface="Calibri"/>
              <a:sym typeface="Calibri"/>
            </a:endParaRPr>
          </a:p>
          <a:p>
            <a:pPr algn="just">
              <a:lnSpc>
                <a:spcPct val="150000"/>
              </a:lnSpc>
              <a:defRPr sz="2200" b="0">
                <a:solidFill>
                  <a:srgbClr val="002F8E"/>
                </a:solidFill>
                <a:latin typeface="Times New Roman"/>
                <a:ea typeface="Times New Roman"/>
                <a:cs typeface="Times New Roman"/>
                <a:sym typeface="Times New Roman"/>
              </a:defRPr>
            </a:pPr>
            <a:r>
              <a:rPr dirty="0"/>
              <a:t>Una </a:t>
            </a:r>
            <a:r>
              <a:rPr dirty="0" err="1"/>
              <a:t>nozione</a:t>
            </a:r>
            <a:r>
              <a:rPr dirty="0"/>
              <a:t> </a:t>
            </a:r>
            <a:r>
              <a:rPr dirty="0" err="1"/>
              <a:t>allargata</a:t>
            </a:r>
            <a:r>
              <a:rPr dirty="0"/>
              <a:t> </a:t>
            </a:r>
            <a:r>
              <a:rPr dirty="0" err="1"/>
              <a:t>che</a:t>
            </a:r>
            <a:r>
              <a:rPr dirty="0"/>
              <a:t> </a:t>
            </a:r>
            <a:r>
              <a:rPr dirty="0" err="1"/>
              <a:t>comprende</a:t>
            </a:r>
            <a:r>
              <a:rPr dirty="0"/>
              <a:t> </a:t>
            </a:r>
            <a:r>
              <a:rPr dirty="0" err="1"/>
              <a:t>anche</a:t>
            </a:r>
            <a:r>
              <a:rPr dirty="0"/>
              <a:t> </a:t>
            </a:r>
            <a:r>
              <a:rPr dirty="0" err="1"/>
              <a:t>i</a:t>
            </a:r>
            <a:r>
              <a:rPr dirty="0"/>
              <a:t> </a:t>
            </a:r>
            <a:r>
              <a:rPr dirty="0" err="1"/>
              <a:t>concetti</a:t>
            </a:r>
            <a:r>
              <a:rPr dirty="0"/>
              <a:t> di </a:t>
            </a:r>
            <a:r>
              <a:rPr dirty="0" err="1"/>
              <a:t>dimora</a:t>
            </a:r>
            <a:r>
              <a:rPr dirty="0"/>
              <a:t> e di </a:t>
            </a:r>
            <a:r>
              <a:rPr dirty="0" err="1"/>
              <a:t>residenza</a:t>
            </a:r>
            <a:r>
              <a:rPr dirty="0"/>
              <a:t> </a:t>
            </a:r>
            <a:r>
              <a:rPr dirty="0" err="1"/>
              <a:t>tipici</a:t>
            </a:r>
            <a:r>
              <a:rPr dirty="0"/>
              <a:t> del </a:t>
            </a:r>
            <a:r>
              <a:rPr dirty="0" err="1"/>
              <a:t>diritto</a:t>
            </a:r>
            <a:r>
              <a:rPr dirty="0"/>
              <a:t> </a:t>
            </a:r>
            <a:r>
              <a:rPr dirty="0" err="1"/>
              <a:t>civile</a:t>
            </a:r>
            <a:r>
              <a:rPr dirty="0"/>
              <a:t>. </a:t>
            </a:r>
          </a:p>
        </p:txBody>
      </p:sp>
      <p:sp>
        <p:nvSpPr>
          <p:cNvPr id="657" name="Text Box 5"/>
          <p:cNvSpPr txBox="1"/>
          <p:nvPr/>
        </p:nvSpPr>
        <p:spPr>
          <a:xfrm>
            <a:off x="872155" y="117474"/>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Violazione di domicilio</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68</a:t>
            </a:fld>
            <a:endParaRPr/>
          </a:p>
        </p:txBody>
      </p:sp>
      <p:sp>
        <p:nvSpPr>
          <p:cNvPr id="660" name="CasellaDiTesto 13"/>
          <p:cNvSpPr txBox="1"/>
          <p:nvPr/>
        </p:nvSpPr>
        <p:spPr>
          <a:xfrm>
            <a:off x="72008" y="989536"/>
            <a:ext cx="9036496" cy="5306902"/>
          </a:xfrm>
          <a:prstGeom prst="rect">
            <a:avLst/>
          </a:prstGeom>
          <a:solidFill>
            <a:srgbClr val="DEEBF7"/>
          </a:solidFill>
          <a:ln w="12700">
            <a:solidFill>
              <a:srgbClr val="42719B"/>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400" i="1">
                <a:solidFill>
                  <a:srgbClr val="002F8E"/>
                </a:solidFill>
                <a:latin typeface="Times New Roman"/>
                <a:ea typeface="Times New Roman"/>
                <a:cs typeface="Times New Roman"/>
                <a:sym typeface="Times New Roman"/>
              </a:defRPr>
            </a:pPr>
            <a:r>
              <a:t>Nozione penalistica di DOMICILIO</a:t>
            </a:r>
            <a:endParaRPr>
              <a:solidFill>
                <a:schemeClr val="accent3">
                  <a:lumOff val="44000"/>
                </a:schemeClr>
              </a:solidFill>
              <a:latin typeface="Calibri"/>
              <a:ea typeface="Calibri"/>
              <a:cs typeface="Calibri"/>
              <a:sym typeface="Calibri"/>
            </a:endParaRPr>
          </a:p>
          <a:p>
            <a:pPr algn="ctr">
              <a:defRPr sz="1800" i="1">
                <a:solidFill>
                  <a:srgbClr val="44546A"/>
                </a:solidFill>
                <a:latin typeface="Times New Roman"/>
                <a:ea typeface="Times New Roman"/>
                <a:cs typeface="Times New Roman"/>
                <a:sym typeface="Times New Roman"/>
              </a:defRPr>
            </a:pPr>
            <a:endParaRPr>
              <a:solidFill>
                <a:schemeClr val="accent3">
                  <a:lumOff val="44000"/>
                </a:schemeClr>
              </a:solidFill>
              <a:latin typeface="Calibri"/>
              <a:ea typeface="Calibri"/>
              <a:cs typeface="Calibri"/>
              <a:sym typeface="Calibri"/>
            </a:endParaRPr>
          </a:p>
          <a:p>
            <a:pPr algn="just">
              <a:lnSpc>
                <a:spcPct val="114000"/>
              </a:lnSpc>
              <a:defRPr sz="2200" b="0">
                <a:solidFill>
                  <a:srgbClr val="002F8E"/>
                </a:solidFill>
                <a:latin typeface="Times New Roman"/>
                <a:ea typeface="Times New Roman"/>
                <a:cs typeface="Times New Roman"/>
                <a:sym typeface="Times New Roman"/>
              </a:defRPr>
            </a:pPr>
            <a:r>
              <a:t>Secondo la giurisprudenza, in relazione al reato </a:t>
            </a:r>
            <a:r>
              <a:rPr i="1"/>
              <a:t>de quo</a:t>
            </a:r>
            <a:r>
              <a:t>,:</a:t>
            </a:r>
            <a:endParaRPr>
              <a:solidFill>
                <a:schemeClr val="accent3">
                  <a:lumOff val="44000"/>
                </a:schemeClr>
              </a:solidFill>
              <a:latin typeface="Calibri"/>
              <a:ea typeface="Calibri"/>
              <a:cs typeface="Calibri"/>
              <a:sym typeface="Calibri"/>
            </a:endParaRPr>
          </a:p>
          <a:p>
            <a:pPr marL="285750" indent="-285750" algn="just">
              <a:lnSpc>
                <a:spcPct val="114000"/>
              </a:lnSpc>
              <a:spcBef>
                <a:spcPts val="600"/>
              </a:spcBef>
              <a:buSzPct val="100000"/>
              <a:buChar char="➢"/>
              <a:defRPr sz="2200" b="0">
                <a:solidFill>
                  <a:srgbClr val="002F8E"/>
                </a:solidFill>
                <a:latin typeface="Times New Roman"/>
                <a:ea typeface="Times New Roman"/>
                <a:cs typeface="Times New Roman"/>
                <a:sym typeface="Times New Roman"/>
              </a:defRPr>
            </a:pPr>
            <a:r>
              <a:t>per </a:t>
            </a:r>
            <a:r>
              <a:rPr b="1">
                <a:solidFill>
                  <a:srgbClr val="0712E9"/>
                </a:solidFill>
              </a:rPr>
              <a:t>ABITAZIONE</a:t>
            </a:r>
            <a:r>
              <a:t> si intende il luogo adibito, in modo definitivo o temporaneo, a utilizzo domestico di una o più persone; pertanto, il domicilio viene tutelato anche se la sua occupazione è saltuaria. </a:t>
            </a:r>
            <a:endParaRPr>
              <a:solidFill>
                <a:schemeClr val="accent3">
                  <a:lumOff val="44000"/>
                </a:schemeClr>
              </a:solidFill>
              <a:latin typeface="Calibri"/>
              <a:ea typeface="Calibri"/>
              <a:cs typeface="Calibri"/>
              <a:sym typeface="Calibri"/>
            </a:endParaRPr>
          </a:p>
          <a:p>
            <a:pPr marL="285750" indent="-285750" algn="just">
              <a:lnSpc>
                <a:spcPct val="114000"/>
              </a:lnSpc>
              <a:spcBef>
                <a:spcPts val="600"/>
              </a:spcBef>
              <a:buSzPct val="100000"/>
              <a:buChar char="➢"/>
              <a:defRPr sz="2200" b="0">
                <a:solidFill>
                  <a:srgbClr val="002F8E"/>
                </a:solidFill>
                <a:latin typeface="Times New Roman"/>
                <a:ea typeface="Times New Roman"/>
                <a:cs typeface="Times New Roman"/>
                <a:sym typeface="Times New Roman"/>
              </a:defRPr>
            </a:pPr>
            <a:r>
              <a:t>Per </a:t>
            </a:r>
            <a:r>
              <a:rPr b="1">
                <a:solidFill>
                  <a:srgbClr val="0712E9"/>
                </a:solidFill>
              </a:rPr>
              <a:t>PRIVATA DIMORA </a:t>
            </a:r>
            <a:r>
              <a:t>si intende ogni luogo non pubblico, anche diverso dall’abitazione, dove si svolge qualsiasi attività della vita privata che debba esplicarsi fuori dall’ingerenza altrui (es. studio professionale, la camera di albergo, la cabina della nave).</a:t>
            </a:r>
            <a:endParaRPr>
              <a:solidFill>
                <a:schemeClr val="accent3">
                  <a:lumOff val="44000"/>
                </a:schemeClr>
              </a:solidFill>
              <a:latin typeface="Calibri"/>
              <a:ea typeface="Calibri"/>
              <a:cs typeface="Calibri"/>
              <a:sym typeface="Calibri"/>
            </a:endParaRPr>
          </a:p>
          <a:p>
            <a:pPr marL="285750" indent="-285750" algn="just">
              <a:lnSpc>
                <a:spcPct val="114000"/>
              </a:lnSpc>
              <a:buSzPct val="100000"/>
              <a:buChar char="➢"/>
              <a:defRPr sz="2200" b="0">
                <a:solidFill>
                  <a:srgbClr val="002F8E"/>
                </a:solidFill>
                <a:latin typeface="Times New Roman"/>
                <a:ea typeface="Times New Roman"/>
                <a:cs typeface="Times New Roman"/>
                <a:sym typeface="Times New Roman"/>
              </a:defRPr>
            </a:pPr>
            <a:r>
              <a:t>Le </a:t>
            </a:r>
            <a:r>
              <a:rPr b="1">
                <a:solidFill>
                  <a:srgbClr val="0712E9"/>
                </a:solidFill>
              </a:rPr>
              <a:t>APPARTENENZE</a:t>
            </a:r>
            <a:r>
              <a:t> dell’abitazione e della privata dimora sono costituite dai luoghi accessori a queste, destinati al loro servizio o al loro migliore godimento. Vi rientrano il garage, la cantina, il fienile, il giardino, il cortile, l’androne di un’abitazione.</a:t>
            </a:r>
          </a:p>
        </p:txBody>
      </p:sp>
      <p:sp>
        <p:nvSpPr>
          <p:cNvPr id="661" name="Text Box 5"/>
          <p:cNvSpPr txBox="1"/>
          <p:nvPr/>
        </p:nvSpPr>
        <p:spPr>
          <a:xfrm>
            <a:off x="872155" y="117474"/>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Violazione di domicilio</a:t>
            </a: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69</a:t>
            </a:fld>
            <a:endParaRPr/>
          </a:p>
        </p:txBody>
      </p:sp>
      <p:sp>
        <p:nvSpPr>
          <p:cNvPr id="664" name="CasellaDiTesto 13"/>
          <p:cNvSpPr txBox="1"/>
          <p:nvPr/>
        </p:nvSpPr>
        <p:spPr>
          <a:xfrm>
            <a:off x="72008" y="989536"/>
            <a:ext cx="9036496" cy="4527481"/>
          </a:xfrm>
          <a:prstGeom prst="rect">
            <a:avLst/>
          </a:prstGeom>
          <a:solidFill>
            <a:srgbClr val="DEEBF7"/>
          </a:solidFill>
          <a:ln w="12700">
            <a:solidFill>
              <a:srgbClr val="42719B"/>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400" i="1">
                <a:solidFill>
                  <a:srgbClr val="002F8E"/>
                </a:solidFill>
                <a:latin typeface="Times New Roman"/>
                <a:ea typeface="Times New Roman"/>
                <a:cs typeface="Times New Roman"/>
                <a:sym typeface="Times New Roman"/>
              </a:defRPr>
            </a:pPr>
            <a:r>
              <a:t>Nozione penalistica di DOMICILIO</a:t>
            </a:r>
            <a:endParaRPr>
              <a:solidFill>
                <a:schemeClr val="accent3">
                  <a:lumOff val="44000"/>
                </a:schemeClr>
              </a:solidFill>
              <a:latin typeface="Calibri"/>
              <a:ea typeface="Calibri"/>
              <a:cs typeface="Calibri"/>
              <a:sym typeface="Calibri"/>
            </a:endParaRPr>
          </a:p>
          <a:p>
            <a:pPr algn="ctr">
              <a:defRPr sz="1800" i="1">
                <a:solidFill>
                  <a:srgbClr val="44546A"/>
                </a:solidFill>
                <a:latin typeface="Times New Roman"/>
                <a:ea typeface="Times New Roman"/>
                <a:cs typeface="Times New Roman"/>
                <a:sym typeface="Times New Roman"/>
              </a:defRPr>
            </a:pPr>
            <a:endParaRPr>
              <a:solidFill>
                <a:schemeClr val="accent3">
                  <a:lumOff val="44000"/>
                </a:schemeClr>
              </a:solidFill>
              <a:latin typeface="Calibri"/>
              <a:ea typeface="Calibri"/>
              <a:cs typeface="Calibri"/>
              <a:sym typeface="Calibri"/>
            </a:endParaRPr>
          </a:p>
          <a:p>
            <a:pPr algn="just">
              <a:lnSpc>
                <a:spcPct val="150000"/>
              </a:lnSpc>
              <a:defRPr sz="1800" b="0">
                <a:solidFill>
                  <a:srgbClr val="002F8E"/>
                </a:solidFill>
                <a:latin typeface="Times New Roman"/>
                <a:ea typeface="Times New Roman"/>
                <a:cs typeface="Times New Roman"/>
                <a:sym typeface="Times New Roman"/>
              </a:defRPr>
            </a:pPr>
            <a:r>
              <a:t>Sia per l’abitazione che per la privata dimora è essenziale </a:t>
            </a:r>
            <a:r>
              <a:rPr b="1">
                <a:solidFill>
                  <a:srgbClr val="0712E9"/>
                </a:solidFill>
              </a:rPr>
              <a:t>L’ATTUALITÀ DELL’USO</a:t>
            </a:r>
            <a:r>
              <a:t>. L’attualità dell’uso richiede che l’abitazione sia stata occupata (non vi rientra quindi, un immobile appena acquistato e non ancora occupato) e che non versi in completo stato di abbandono.</a:t>
            </a:r>
            <a:endParaRPr>
              <a:solidFill>
                <a:schemeClr val="accent3">
                  <a:lumOff val="44000"/>
                </a:schemeClr>
              </a:solidFill>
              <a:latin typeface="Calibri"/>
              <a:ea typeface="Calibri"/>
              <a:cs typeface="Calibri"/>
              <a:sym typeface="Calibri"/>
            </a:endParaRPr>
          </a:p>
          <a:p>
            <a:pPr algn="just">
              <a:lnSpc>
                <a:spcPct val="150000"/>
              </a:lnSpc>
              <a:defRPr sz="1800" b="0">
                <a:solidFill>
                  <a:srgbClr val="002F8E"/>
                </a:solidFill>
                <a:latin typeface="Times New Roman"/>
                <a:ea typeface="Times New Roman"/>
                <a:cs typeface="Times New Roman"/>
                <a:sym typeface="Times New Roman"/>
              </a:defRPr>
            </a:pPr>
            <a:r>
              <a:t>L’attualità dell’uso non implica la sua continuità e non viene meno in ragione dell’assenza, più o meno prolungata nel tempo, dell’avente diritto.</a:t>
            </a:r>
            <a:endParaRPr>
              <a:solidFill>
                <a:schemeClr val="accent3">
                  <a:lumOff val="44000"/>
                </a:schemeClr>
              </a:solidFill>
              <a:latin typeface="Calibri"/>
              <a:ea typeface="Calibri"/>
              <a:cs typeface="Calibri"/>
              <a:sym typeface="Calibri"/>
            </a:endParaRPr>
          </a:p>
          <a:p>
            <a:pPr algn="just">
              <a:lnSpc>
                <a:spcPct val="150000"/>
              </a:lnSpc>
              <a:defRPr sz="1800" b="0">
                <a:solidFill>
                  <a:srgbClr val="002F8E"/>
                </a:solidFill>
                <a:latin typeface="Times New Roman"/>
                <a:ea typeface="Times New Roman"/>
                <a:cs typeface="Times New Roman"/>
                <a:sym typeface="Times New Roman"/>
              </a:defRPr>
            </a:pPr>
            <a:endParaRPr>
              <a:solidFill>
                <a:schemeClr val="accent3">
                  <a:lumOff val="44000"/>
                </a:schemeClr>
              </a:solidFill>
              <a:latin typeface="Calibri"/>
              <a:ea typeface="Calibri"/>
              <a:cs typeface="Calibri"/>
              <a:sym typeface="Calibri"/>
            </a:endParaRPr>
          </a:p>
          <a:p>
            <a:pPr algn="just">
              <a:lnSpc>
                <a:spcPct val="150000"/>
              </a:lnSpc>
              <a:defRPr sz="1800" i="1">
                <a:solidFill>
                  <a:srgbClr val="002F8E"/>
                </a:solidFill>
                <a:latin typeface="Times New Roman"/>
                <a:ea typeface="Times New Roman"/>
                <a:cs typeface="Times New Roman"/>
                <a:sym typeface="Times New Roman"/>
              </a:defRPr>
            </a:pPr>
            <a:r>
              <a:t>Ad es. una casa al mare oppure una casa abitata in determinate stagioni dell’anno. Al contrario quando una casa è disabitata (edificio abbandonato) non si configura la violazione di domicilio.</a:t>
            </a:r>
          </a:p>
        </p:txBody>
      </p:sp>
      <p:sp>
        <p:nvSpPr>
          <p:cNvPr id="665" name="Text Box 5"/>
          <p:cNvSpPr txBox="1"/>
          <p:nvPr/>
        </p:nvSpPr>
        <p:spPr>
          <a:xfrm>
            <a:off x="872155" y="117474"/>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Violazione di domicilio</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70</a:t>
            </a:fld>
            <a:endParaRPr/>
          </a:p>
        </p:txBody>
      </p:sp>
      <p:sp>
        <p:nvSpPr>
          <p:cNvPr id="668" name="CasellaDiTesto 13"/>
          <p:cNvSpPr txBox="1"/>
          <p:nvPr/>
        </p:nvSpPr>
        <p:spPr>
          <a:xfrm>
            <a:off x="292725" y="1057711"/>
            <a:ext cx="8626042" cy="53754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b="0">
                <a:latin typeface="Times New Roman"/>
                <a:ea typeface="Times New Roman"/>
                <a:cs typeface="Times New Roman"/>
                <a:sym typeface="Times New Roman"/>
              </a:defRPr>
            </a:pPr>
            <a:r>
              <a:t>L'interesse tutelato è la cosiddetta </a:t>
            </a:r>
            <a:r>
              <a:rPr b="1">
                <a:solidFill>
                  <a:srgbClr val="0712E9"/>
                </a:solidFill>
              </a:rPr>
              <a:t>libertà di domicilio</a:t>
            </a:r>
            <a:r>
              <a:t>, o domestica, contro tutte quelle condotte che impediscono al soggetto di estrinsecare liberamente la propria personalità all'interno della dimora.</a:t>
            </a:r>
          </a:p>
          <a:p>
            <a:pPr algn="just">
              <a:defRPr sz="800" b="0">
                <a:latin typeface="Times New Roman"/>
                <a:ea typeface="Times New Roman"/>
                <a:cs typeface="Times New Roman"/>
                <a:sym typeface="Times New Roman"/>
              </a:defRPr>
            </a:pPr>
            <a:endParaRPr/>
          </a:p>
          <a:p>
            <a:pPr algn="just">
              <a:defRPr sz="2200" u="sng">
                <a:solidFill>
                  <a:srgbClr val="0712E9"/>
                </a:solidFill>
                <a:latin typeface="Times New Roman"/>
                <a:ea typeface="Times New Roman"/>
                <a:cs typeface="Times New Roman"/>
                <a:sym typeface="Times New Roman"/>
              </a:defRPr>
            </a:pPr>
            <a:r>
              <a:t>ELEMENTO OGGETTIVO </a:t>
            </a:r>
            <a:r>
              <a:rPr b="0" u="none">
                <a:solidFill>
                  <a:srgbClr val="000000"/>
                </a:solidFill>
              </a:rPr>
              <a:t>consiste in una condotta che si sostanzia nel:</a:t>
            </a:r>
          </a:p>
          <a:p>
            <a:pPr marL="342900" indent="-342900" algn="just">
              <a:buSzPct val="100000"/>
              <a:buChar char="➢"/>
              <a:defRPr sz="2200">
                <a:solidFill>
                  <a:srgbClr val="0712E9"/>
                </a:solidFill>
                <a:latin typeface="Times New Roman"/>
                <a:ea typeface="Times New Roman"/>
                <a:cs typeface="Times New Roman"/>
                <a:sym typeface="Times New Roman"/>
              </a:defRPr>
            </a:pPr>
            <a:r>
              <a:t>introdursi o trattenersi </a:t>
            </a:r>
            <a:r>
              <a:rPr i="1"/>
              <a:t>senza la volontà espressa o tacita </a:t>
            </a:r>
            <a:r>
              <a:rPr b="0">
                <a:solidFill>
                  <a:srgbClr val="000000"/>
                </a:solidFill>
              </a:rPr>
              <a:t>di chi ha il potere di escluderlo;</a:t>
            </a:r>
          </a:p>
          <a:p>
            <a:pPr marL="342900" indent="-342900" algn="just">
              <a:buSzPct val="100000"/>
              <a:buChar char="➢"/>
              <a:defRPr sz="2200" b="0">
                <a:latin typeface="Times New Roman"/>
                <a:ea typeface="Times New Roman"/>
                <a:cs typeface="Times New Roman"/>
                <a:sym typeface="Times New Roman"/>
              </a:defRPr>
            </a:pPr>
            <a:r>
              <a:t>introdursi o trattenersi </a:t>
            </a:r>
            <a:r>
              <a:rPr b="1" i="1">
                <a:solidFill>
                  <a:srgbClr val="0712E9"/>
                </a:solidFill>
              </a:rPr>
              <a:t>clandestinamente</a:t>
            </a:r>
            <a:r>
              <a:t>;</a:t>
            </a:r>
          </a:p>
          <a:p>
            <a:pPr marL="342900" indent="-342900" algn="just">
              <a:buSzPct val="100000"/>
              <a:buChar char="➢"/>
              <a:defRPr sz="2200" b="0">
                <a:latin typeface="Times New Roman"/>
                <a:ea typeface="Times New Roman"/>
                <a:cs typeface="Times New Roman"/>
                <a:sym typeface="Times New Roman"/>
              </a:defRPr>
            </a:pPr>
            <a:r>
              <a:t>introdursi o trattenersi </a:t>
            </a:r>
            <a:r>
              <a:rPr b="1" i="1">
                <a:solidFill>
                  <a:srgbClr val="0712E9"/>
                </a:solidFill>
              </a:rPr>
              <a:t>con l'inganno</a:t>
            </a:r>
            <a:r>
              <a:t>.</a:t>
            </a:r>
          </a:p>
          <a:p>
            <a:pPr algn="just">
              <a:defRPr sz="8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La configurabilità del reato richiede che il soggetto agente si introduca e si trattenga:</a:t>
            </a:r>
          </a:p>
          <a:p>
            <a:pPr marL="342900" indent="-342900" algn="just">
              <a:buSzPct val="100000"/>
              <a:buChar char="➢"/>
              <a:defRPr sz="2200" b="0">
                <a:latin typeface="Times New Roman"/>
                <a:ea typeface="Times New Roman"/>
                <a:cs typeface="Times New Roman"/>
                <a:sym typeface="Times New Roman"/>
              </a:defRPr>
            </a:pPr>
            <a:r>
              <a:t>nell'</a:t>
            </a:r>
            <a:r>
              <a:rPr b="1"/>
              <a:t>abitazione</a:t>
            </a:r>
            <a:r>
              <a:t> altrui;</a:t>
            </a:r>
          </a:p>
          <a:p>
            <a:pPr marL="342900" indent="-342900" algn="just">
              <a:buSzPct val="100000"/>
              <a:buChar char="➢"/>
              <a:defRPr sz="2200" b="0">
                <a:latin typeface="Times New Roman"/>
                <a:ea typeface="Times New Roman"/>
                <a:cs typeface="Times New Roman"/>
                <a:sym typeface="Times New Roman"/>
              </a:defRPr>
            </a:pPr>
            <a:r>
              <a:t>in un altro luogo di </a:t>
            </a:r>
            <a:r>
              <a:rPr b="1"/>
              <a:t>privata dimora</a:t>
            </a:r>
            <a:r>
              <a:t>;</a:t>
            </a:r>
          </a:p>
          <a:p>
            <a:pPr marL="342900" indent="-342900" algn="just">
              <a:buSzPct val="100000"/>
              <a:buChar char="➢"/>
              <a:defRPr sz="2200" b="0">
                <a:latin typeface="Times New Roman"/>
                <a:ea typeface="Times New Roman"/>
                <a:cs typeface="Times New Roman"/>
                <a:sym typeface="Times New Roman"/>
              </a:defRPr>
            </a:pPr>
            <a:r>
              <a:t>nelle </a:t>
            </a:r>
            <a:r>
              <a:rPr b="1"/>
              <a:t>appartenenze</a:t>
            </a:r>
            <a:r>
              <a:t> di essi.</a:t>
            </a:r>
          </a:p>
          <a:p>
            <a:pPr algn="just">
              <a:defRPr sz="8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Costituisce </a:t>
            </a:r>
            <a:r>
              <a:rPr b="1">
                <a:solidFill>
                  <a:srgbClr val="0712E9"/>
                </a:solidFill>
              </a:rPr>
              <a:t>circostanza aggravante </a:t>
            </a:r>
            <a:r>
              <a:t>l'aver commesso il fatto con </a:t>
            </a:r>
            <a:r>
              <a:rPr b="1"/>
              <a:t>violenza sulle cose o sulle persone, l'essere palesemente armato</a:t>
            </a:r>
            <a:r>
              <a:t>.</a:t>
            </a:r>
          </a:p>
        </p:txBody>
      </p:sp>
      <p:sp>
        <p:nvSpPr>
          <p:cNvPr id="669" name="Text Box 5"/>
          <p:cNvSpPr txBox="1"/>
          <p:nvPr/>
        </p:nvSpPr>
        <p:spPr>
          <a:xfrm>
            <a:off x="872155" y="117474"/>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Violazione di domicilio</a:t>
            </a: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 name="Rectangle 6"/>
          <p:cNvSpPr txBox="1">
            <a:spLocks noGrp="1"/>
          </p:cNvSpPr>
          <p:nvPr>
            <p:ph type="sldNum" sz="quarter" idx="2"/>
          </p:nvPr>
        </p:nvSpPr>
        <p:spPr>
          <a:xfrm>
            <a:off x="8487410" y="6426579"/>
            <a:ext cx="256541" cy="27546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71</a:t>
            </a:fld>
            <a:endParaRPr/>
          </a:p>
        </p:txBody>
      </p:sp>
      <p:sp>
        <p:nvSpPr>
          <p:cNvPr id="672" name="CasellaDiTesto 13"/>
          <p:cNvSpPr txBox="1"/>
          <p:nvPr/>
        </p:nvSpPr>
        <p:spPr>
          <a:xfrm>
            <a:off x="292725" y="1057711"/>
            <a:ext cx="8626042" cy="47023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200" u="sng">
                <a:solidFill>
                  <a:srgbClr val="0712E9"/>
                </a:solidFill>
                <a:latin typeface="Times New Roman"/>
                <a:ea typeface="Times New Roman"/>
                <a:cs typeface="Times New Roman"/>
                <a:sym typeface="Times New Roman"/>
              </a:defRPr>
            </a:pPr>
            <a:r>
              <a:t>ELEMENTO SOGGETTIVO</a:t>
            </a:r>
            <a:r>
              <a:rPr b="0" u="none">
                <a:solidFill>
                  <a:srgbClr val="000000"/>
                </a:solidFill>
              </a:rPr>
              <a:t>: </a:t>
            </a:r>
            <a:r>
              <a:rPr u="none"/>
              <a:t>DOLO GENERICO</a:t>
            </a:r>
            <a:r>
              <a:rPr b="0" u="none">
                <a:solidFill>
                  <a:srgbClr val="000000"/>
                </a:solidFill>
              </a:rPr>
              <a:t>.</a:t>
            </a:r>
          </a:p>
          <a:p>
            <a:pPr algn="just">
              <a:defRPr sz="2200" b="0">
                <a:latin typeface="Times New Roman"/>
                <a:ea typeface="Times New Roman"/>
                <a:cs typeface="Times New Roman"/>
                <a:sym typeface="Times New Roman"/>
              </a:defRPr>
            </a:pPr>
            <a:endParaRPr b="0" u="none">
              <a:solidFill>
                <a:srgbClr val="000000"/>
              </a:solidFill>
            </a:endParaRPr>
          </a:p>
          <a:p>
            <a:pPr algn="just">
              <a:defRPr sz="2200">
                <a:solidFill>
                  <a:srgbClr val="0712E9"/>
                </a:solidFill>
                <a:latin typeface="Times New Roman"/>
                <a:ea typeface="Times New Roman"/>
                <a:cs typeface="Times New Roman"/>
                <a:sym typeface="Times New Roman"/>
              </a:defRPr>
            </a:pPr>
            <a:r>
              <a:t>REATO COMUNE, DI DANNO, DI MERA CONDOTTA</a:t>
            </a:r>
            <a:r>
              <a:rPr b="0">
                <a:solidFill>
                  <a:srgbClr val="000000"/>
                </a:solidFill>
              </a:rPr>
              <a:t>, perché si perfeziona con la semplice esecuzione dell'azione illecita; </a:t>
            </a:r>
            <a:r>
              <a:t>A FORMA VINCOLATA</a:t>
            </a:r>
            <a:r>
              <a:rPr b="0">
                <a:solidFill>
                  <a:srgbClr val="000000"/>
                </a:solidFill>
              </a:rPr>
              <a:t>, perché la condotta tipica è prestabilita dal legislatore.</a:t>
            </a:r>
          </a:p>
          <a:p>
            <a:pPr algn="just">
              <a:defRPr sz="2200" b="0">
                <a:latin typeface="Times New Roman"/>
                <a:ea typeface="Times New Roman"/>
                <a:cs typeface="Times New Roman"/>
                <a:sym typeface="Times New Roman"/>
              </a:defRPr>
            </a:pPr>
            <a:endParaRPr b="0">
              <a:solidFill>
                <a:srgbClr val="000000"/>
              </a:solidFill>
            </a:endParaRPr>
          </a:p>
          <a:p>
            <a:pPr algn="just">
              <a:defRPr sz="2200" b="0">
                <a:latin typeface="Times New Roman"/>
                <a:ea typeface="Times New Roman"/>
                <a:cs typeface="Times New Roman"/>
                <a:sym typeface="Times New Roman"/>
              </a:defRPr>
            </a:pPr>
            <a:r>
              <a:t>Si consuma nel momento in cui il soggetto attivo si introduce nei luoghi indicati e, secondo l'orientamento maggioritario, il tentativo è configurabile per l'ipotesi di cui al co. 1; mentre non lo è per l'ipotesi di cui al co. 2. </a:t>
            </a:r>
          </a:p>
          <a:p>
            <a:pPr algn="just">
              <a:defRPr sz="2200" b="0">
                <a:latin typeface="Times New Roman"/>
                <a:ea typeface="Times New Roman"/>
                <a:cs typeface="Times New Roman"/>
                <a:sym typeface="Times New Roman"/>
              </a:defRPr>
            </a:pPr>
            <a:endParaRPr/>
          </a:p>
          <a:p>
            <a:pPr algn="just">
              <a:defRPr sz="2200" b="0">
                <a:latin typeface="Times New Roman"/>
                <a:ea typeface="Times New Roman"/>
                <a:cs typeface="Times New Roman"/>
                <a:sym typeface="Times New Roman"/>
              </a:defRPr>
            </a:pPr>
            <a:r>
              <a:t>Il </a:t>
            </a:r>
            <a:r>
              <a:rPr b="1">
                <a:solidFill>
                  <a:srgbClr val="0712E9"/>
                </a:solidFill>
              </a:rPr>
              <a:t>soggetto passivo del reato </a:t>
            </a:r>
            <a:r>
              <a:t>in esame s’identifica con la persona che ha il diritto di vietare agli estranei l’ingresso o la permanenza nei luoghi sopra indicati, cioè con colui il quale attualmente e legittimamente dimora in un certo luogo o con colui che lo rappresenta in caso d’impedimento.</a:t>
            </a:r>
          </a:p>
        </p:txBody>
      </p:sp>
      <p:sp>
        <p:nvSpPr>
          <p:cNvPr id="673" name="Text Box 5"/>
          <p:cNvSpPr txBox="1"/>
          <p:nvPr/>
        </p:nvSpPr>
        <p:spPr>
          <a:xfrm>
            <a:off x="872155" y="117474"/>
            <a:ext cx="8227274" cy="584441"/>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569" tIns="44569" rIns="44569" bIns="44569">
            <a:spAutoFit/>
          </a:bodyPr>
          <a:lstStyle>
            <a:lvl1pPr>
              <a:defRPr sz="3200" b="0">
                <a:solidFill>
                  <a:schemeClr val="accent3">
                    <a:lumOff val="44000"/>
                  </a:schemeClr>
                </a:solidFill>
                <a:latin typeface="Book Antiqua"/>
                <a:ea typeface="Book Antiqua"/>
                <a:cs typeface="Book Antiqua"/>
                <a:sym typeface="Book Antiqua"/>
              </a:defRPr>
            </a:lvl1pPr>
          </a:lstStyle>
          <a:p>
            <a:r>
              <a:t>Violazione di domicilio</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Segnaposto contenuto 2"/>
          <p:cNvSpPr txBox="1">
            <a:spLocks noGrp="1"/>
          </p:cNvSpPr>
          <p:nvPr>
            <p:ph type="body" sz="quarter" idx="1"/>
          </p:nvPr>
        </p:nvSpPr>
        <p:spPr>
          <a:xfrm>
            <a:off x="2411759" y="980728"/>
            <a:ext cx="4717505" cy="1296145"/>
          </a:xfrm>
          <a:prstGeom prst="rect">
            <a:avLst/>
          </a:prstGeom>
        </p:spPr>
        <p:txBody>
          <a:bodyPr/>
          <a:lstStyle/>
          <a:p>
            <a:pPr marL="0" indent="0" algn="ctr" defTabSz="466344">
              <a:spcBef>
                <a:spcPts val="500"/>
              </a:spcBef>
              <a:buSzTx/>
              <a:buNone/>
              <a:defRPr sz="1428">
                <a:latin typeface="Book Antiqua"/>
                <a:ea typeface="Book Antiqua"/>
                <a:cs typeface="Book Antiqua"/>
                <a:sym typeface="Book Antiqua"/>
              </a:defRPr>
            </a:pPr>
            <a:endParaRPr/>
          </a:p>
          <a:p>
            <a:pPr marL="0" indent="0" algn="ctr" defTabSz="466344">
              <a:spcBef>
                <a:spcPts val="500"/>
              </a:spcBef>
              <a:buSzTx/>
              <a:buNone/>
              <a:defRPr sz="1428">
                <a:latin typeface="Book Antiqua"/>
                <a:ea typeface="Book Antiqua"/>
                <a:cs typeface="Book Antiqua"/>
                <a:sym typeface="Book Antiqua"/>
              </a:defRPr>
            </a:pPr>
            <a:endParaRPr/>
          </a:p>
          <a:p>
            <a:pPr marL="0" indent="0" algn="ctr" defTabSz="466344">
              <a:spcBef>
                <a:spcPts val="500"/>
              </a:spcBef>
              <a:buSzTx/>
              <a:buNone/>
              <a:defRPr sz="1428">
                <a:latin typeface="Book Antiqua"/>
                <a:ea typeface="Book Antiqua"/>
                <a:cs typeface="Book Antiqua"/>
                <a:sym typeface="Book Antiqua"/>
              </a:defRPr>
            </a:pPr>
            <a:endParaRPr/>
          </a:p>
          <a:p>
            <a:pPr marL="0" indent="0" algn="ctr" defTabSz="466344">
              <a:spcBef>
                <a:spcPts val="500"/>
              </a:spcBef>
              <a:buSzTx/>
              <a:buNone/>
              <a:defRPr sz="2754" b="1">
                <a:solidFill>
                  <a:srgbClr val="002F8E"/>
                </a:solidFill>
                <a:latin typeface="Book Antiqua"/>
                <a:ea typeface="Book Antiqua"/>
                <a:cs typeface="Book Antiqua"/>
                <a:sym typeface="Book Antiqua"/>
              </a:defRPr>
            </a:pPr>
            <a:r>
              <a:t>DOMANDE?</a:t>
            </a:r>
          </a:p>
        </p:txBody>
      </p:sp>
      <p:pic>
        <p:nvPicPr>
          <p:cNvPr id="676" name="Immagine 4" descr="Immagine 4"/>
          <p:cNvPicPr>
            <a:picLocks noChangeAspect="1"/>
          </p:cNvPicPr>
          <p:nvPr/>
        </p:nvPicPr>
        <p:blipFill>
          <a:blip r:embed="rId2">
            <a:extLst/>
          </a:blip>
          <a:stretch>
            <a:fillRect/>
          </a:stretch>
        </p:blipFill>
        <p:spPr>
          <a:xfrm>
            <a:off x="4113565" y="3916715"/>
            <a:ext cx="4879270" cy="2439635"/>
          </a:xfrm>
          <a:prstGeom prst="rect">
            <a:avLst/>
          </a:prstGeom>
          <a:ln w="12700">
            <a:miter lim="400000"/>
          </a:ln>
        </p:spPr>
      </p:pic>
      <p:pic>
        <p:nvPicPr>
          <p:cNvPr id="677" name="Immagine 3" descr="Immagine 3"/>
          <p:cNvPicPr>
            <a:picLocks noChangeAspect="1"/>
          </p:cNvPicPr>
          <p:nvPr/>
        </p:nvPicPr>
        <p:blipFill>
          <a:blip r:embed="rId3">
            <a:extLst/>
          </a:blip>
          <a:stretch>
            <a:fillRect/>
          </a:stretch>
        </p:blipFill>
        <p:spPr>
          <a:xfrm>
            <a:off x="136850" y="67098"/>
            <a:ext cx="435671" cy="753166"/>
          </a:xfrm>
          <a:prstGeom prst="rect">
            <a:avLst/>
          </a:prstGeom>
          <a:ln w="12700">
            <a:miter lim="400000"/>
          </a:ln>
        </p:spPr>
      </p:pic>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70AD701C-E296-4CDE-8EBB-55337919F1FE}"/>
              </a:ext>
            </a:extLst>
          </p:cNvPr>
          <p:cNvSpPr>
            <a:spLocks noGrp="1"/>
          </p:cNvSpPr>
          <p:nvPr>
            <p:ph type="body" idx="1"/>
          </p:nvPr>
        </p:nvSpPr>
        <p:spPr/>
        <p:txBody>
          <a:bodyPr/>
          <a:lstStyle/>
          <a:p>
            <a:endParaRPr lang="it-IT"/>
          </a:p>
        </p:txBody>
      </p:sp>
      <p:sp>
        <p:nvSpPr>
          <p:cNvPr id="3" name="Titolo 2">
            <a:extLst>
              <a:ext uri="{FF2B5EF4-FFF2-40B4-BE49-F238E27FC236}">
                <a16:creationId xmlns:a16="http://schemas.microsoft.com/office/drawing/2014/main" id="{422080AE-5DA6-4D60-9608-E04EF74AF672}"/>
              </a:ext>
            </a:extLst>
          </p:cNvPr>
          <p:cNvSpPr>
            <a:spLocks noGrp="1"/>
          </p:cNvSpPr>
          <p:nvPr>
            <p:ph type="title"/>
          </p:nvPr>
        </p:nvSpPr>
        <p:spPr/>
        <p:txBody>
          <a:bodyPr/>
          <a:lstStyle/>
          <a:p>
            <a:endParaRPr lang="it-IT"/>
          </a:p>
        </p:txBody>
      </p:sp>
    </p:spTree>
    <p:extLst>
      <p:ext uri="{BB962C8B-B14F-4D97-AF65-F5344CB8AC3E}">
        <p14:creationId xmlns:p14="http://schemas.microsoft.com/office/powerpoint/2010/main" val="375982641"/>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7F4E60C3-235A-43E7-946C-ADC55CAD3313}"/>
              </a:ext>
            </a:extLst>
          </p:cNvPr>
          <p:cNvSpPr>
            <a:spLocks noGrp="1"/>
          </p:cNvSpPr>
          <p:nvPr>
            <p:ph type="body" idx="1"/>
          </p:nvPr>
        </p:nvSpPr>
        <p:spPr/>
        <p:txBody>
          <a:bodyPr/>
          <a:lstStyle/>
          <a:p>
            <a:endParaRPr lang="it-IT"/>
          </a:p>
        </p:txBody>
      </p:sp>
      <p:sp>
        <p:nvSpPr>
          <p:cNvPr id="3" name="Titolo 2">
            <a:extLst>
              <a:ext uri="{FF2B5EF4-FFF2-40B4-BE49-F238E27FC236}">
                <a16:creationId xmlns:a16="http://schemas.microsoft.com/office/drawing/2014/main" id="{47871B81-6DCF-4B17-87E5-4FD7DE458A8B}"/>
              </a:ext>
            </a:extLst>
          </p:cNvPr>
          <p:cNvSpPr>
            <a:spLocks noGrp="1"/>
          </p:cNvSpPr>
          <p:nvPr>
            <p:ph type="title"/>
          </p:nvPr>
        </p:nvSpPr>
        <p:spPr/>
        <p:txBody>
          <a:bodyPr/>
          <a:lstStyle/>
          <a:p>
            <a:endParaRPr lang="it-IT"/>
          </a:p>
        </p:txBody>
      </p:sp>
    </p:spTree>
    <p:extLst>
      <p:ext uri="{BB962C8B-B14F-4D97-AF65-F5344CB8AC3E}">
        <p14:creationId xmlns:p14="http://schemas.microsoft.com/office/powerpoint/2010/main" val="4206703540"/>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BBE2F0BE-B723-49E7-92C1-F5FDDFED3EBB}"/>
              </a:ext>
            </a:extLst>
          </p:cNvPr>
          <p:cNvSpPr>
            <a:spLocks noGrp="1"/>
          </p:cNvSpPr>
          <p:nvPr>
            <p:ph type="body" idx="1"/>
          </p:nvPr>
        </p:nvSpPr>
        <p:spPr/>
        <p:txBody>
          <a:bodyPr/>
          <a:lstStyle/>
          <a:p>
            <a:endParaRPr lang="it-IT"/>
          </a:p>
        </p:txBody>
      </p:sp>
      <p:sp>
        <p:nvSpPr>
          <p:cNvPr id="3" name="Titolo 2">
            <a:extLst>
              <a:ext uri="{FF2B5EF4-FFF2-40B4-BE49-F238E27FC236}">
                <a16:creationId xmlns:a16="http://schemas.microsoft.com/office/drawing/2014/main" id="{D456472D-14CB-4136-8518-8FAC268F5C4A}"/>
              </a:ext>
            </a:extLst>
          </p:cNvPr>
          <p:cNvSpPr>
            <a:spLocks noGrp="1"/>
          </p:cNvSpPr>
          <p:nvPr>
            <p:ph type="title"/>
          </p:nvPr>
        </p:nvSpPr>
        <p:spPr/>
        <p:txBody>
          <a:bodyPr/>
          <a:lstStyle/>
          <a:p>
            <a:endParaRPr lang="it-IT"/>
          </a:p>
        </p:txBody>
      </p:sp>
    </p:spTree>
    <p:extLst>
      <p:ext uri="{BB962C8B-B14F-4D97-AF65-F5344CB8AC3E}">
        <p14:creationId xmlns:p14="http://schemas.microsoft.com/office/powerpoint/2010/main" val="944810010"/>
      </p:ext>
    </p:extLst>
  </p:cSld>
  <p:clrMapOvr>
    <a:masterClrMapping/>
  </p:clrMapOvr>
  <p:transition spd="med"/>
</p:sld>
</file>

<file path=ppt/theme/theme1.xml><?xml version="1.0" encoding="utf-8"?>
<a:theme xmlns:a="http://schemas.openxmlformats.org/drawingml/2006/main" name="1_Personalizza struttura">
  <a:themeElements>
    <a:clrScheme name="1_Personalizza struttura">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1_Personalizza struttura">
      <a:majorFont>
        <a:latin typeface="Helvetica"/>
        <a:ea typeface="Helvetica"/>
        <a:cs typeface="Helvetica"/>
      </a:majorFont>
      <a:minorFont>
        <a:latin typeface="Arial"/>
        <a:ea typeface="Arial"/>
        <a:cs typeface="Arial"/>
      </a:minorFont>
    </a:fontScheme>
    <a:fmtScheme name="1_Personalizza struttur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ctr"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Personalizza struttura">
  <a:themeElements>
    <a:clrScheme name="1_Personalizza struttura">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1_Personalizza struttura">
      <a:majorFont>
        <a:latin typeface="Helvetica"/>
        <a:ea typeface="Helvetica"/>
        <a:cs typeface="Helvetica"/>
      </a:majorFont>
      <a:minorFont>
        <a:latin typeface="Arial"/>
        <a:ea typeface="Arial"/>
        <a:cs typeface="Arial"/>
      </a:minorFont>
    </a:fontScheme>
    <a:fmtScheme name="1_Personalizza struttur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ctr"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176</TotalTime>
  <Words>9995</Words>
  <Application>Microsoft Office PowerPoint</Application>
  <PresentationFormat>Presentazione su schermo (4:3)</PresentationFormat>
  <Paragraphs>722</Paragraphs>
  <Slides>75</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75</vt:i4>
      </vt:variant>
    </vt:vector>
  </HeadingPairs>
  <TitlesOfParts>
    <vt:vector size="82" baseType="lpstr">
      <vt:lpstr>Arial</vt:lpstr>
      <vt:lpstr>Book Antiqua</vt:lpstr>
      <vt:lpstr>Calibri</vt:lpstr>
      <vt:lpstr>Calibri Light</vt:lpstr>
      <vt:lpstr>Courier New</vt:lpstr>
      <vt:lpstr>Times New Roman</vt:lpstr>
      <vt:lpstr>1_Personalizza struttura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Omicidio doloso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Percosse</vt:lpstr>
      <vt:lpstr>Percosse</vt:lpstr>
      <vt:lpstr>Presentazione standard di PowerPoint</vt:lpstr>
      <vt:lpstr>Presentazione standard di PowerPoint</vt:lpstr>
      <vt:lpstr>Lesioni personali dolose </vt:lpstr>
      <vt:lpstr>Presentazione standard di PowerPoint</vt:lpstr>
      <vt:lpstr>Presentazione standard di PowerPoint</vt:lpstr>
      <vt:lpstr>Presentazione standard di PowerPoint</vt:lpstr>
      <vt:lpstr>Presentazione standard di PowerPoint</vt:lpstr>
      <vt:lpstr>Presentazione standard di PowerPoint</vt:lpstr>
      <vt:lpstr>Rissa</vt:lpstr>
      <vt:lpstr>Rissa</vt:lpstr>
      <vt:lpstr>Presentazione standard di PowerPoint</vt:lpstr>
      <vt:lpstr>Rissa </vt:lpstr>
      <vt:lpstr>Rissa </vt:lpstr>
      <vt:lpstr>Presentazione standard di PowerPoint</vt:lpstr>
      <vt:lpstr>Presentazione standard di PowerPoint</vt:lpstr>
      <vt:lpstr>Omicidio stradale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Violenza privata </vt:lpstr>
      <vt:lpstr>Presentazione standard di PowerPoint</vt:lpstr>
      <vt:lpstr>Violenza privata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cp:lastModifiedBy>Aula</cp:lastModifiedBy>
  <cp:revision>12</cp:revision>
  <dcterms:modified xsi:type="dcterms:W3CDTF">2024-11-26T08:11:17Z</dcterms:modified>
</cp:coreProperties>
</file>